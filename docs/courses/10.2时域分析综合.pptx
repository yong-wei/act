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53" r:id="rId2"/>
    <p:sldId id="510" r:id="rId3"/>
    <p:sldId id="511" r:id="rId4"/>
    <p:sldId id="488" r:id="rId5"/>
    <p:sldId id="489" r:id="rId6"/>
    <p:sldId id="527" r:id="rId7"/>
    <p:sldId id="525" r:id="rId8"/>
    <p:sldId id="526" r:id="rId9"/>
    <p:sldId id="528" r:id="rId10"/>
    <p:sldId id="521" r:id="rId11"/>
    <p:sldId id="520" r:id="rId12"/>
    <p:sldId id="529" r:id="rId13"/>
    <p:sldId id="486" r:id="rId14"/>
    <p:sldId id="531" r:id="rId15"/>
    <p:sldId id="532" r:id="rId16"/>
    <p:sldId id="533" r:id="rId17"/>
    <p:sldId id="534" r:id="rId18"/>
    <p:sldId id="535" r:id="rId19"/>
    <p:sldId id="536" r:id="rId20"/>
    <p:sldId id="537" r:id="rId21"/>
    <p:sldId id="546" r:id="rId22"/>
    <p:sldId id="538" r:id="rId23"/>
    <p:sldId id="539" r:id="rId24"/>
    <p:sldId id="540" r:id="rId25"/>
    <p:sldId id="541" r:id="rId26"/>
    <p:sldId id="547" r:id="rId27"/>
    <p:sldId id="542" r:id="rId28"/>
    <p:sldId id="543" r:id="rId29"/>
    <p:sldId id="544" r:id="rId30"/>
    <p:sldId id="545" r:id="rId31"/>
    <p:sldId id="548" r:id="rId32"/>
    <p:sldId id="512" r:id="rId33"/>
    <p:sldId id="513" r:id="rId34"/>
    <p:sldId id="517" r:id="rId35"/>
    <p:sldId id="518" r:id="rId36"/>
    <p:sldId id="519" r:id="rId37"/>
  </p:sldIdLst>
  <p:sldSz cx="12190413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0B9"/>
    <a:srgbClr val="A2CEEA"/>
    <a:srgbClr val="E44860"/>
    <a:srgbClr val="159F84"/>
    <a:srgbClr val="F29B11"/>
    <a:srgbClr val="00B0F0"/>
    <a:srgbClr val="FFC000"/>
    <a:srgbClr val="9BBB59"/>
    <a:srgbClr val="768395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93451" autoAdjust="0"/>
  </p:normalViewPr>
  <p:slideViewPr>
    <p:cSldViewPr>
      <p:cViewPr varScale="1">
        <p:scale>
          <a:sx n="110" d="100"/>
          <a:sy n="110" d="100"/>
        </p:scale>
        <p:origin x="544" y="184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2024/6/23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05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049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73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15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203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738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4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60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553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957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81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881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1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848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940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902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72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7093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137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2076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9533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314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7239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2436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222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149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765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绿条地图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基本情况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设计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创新效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教学成果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05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1618718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3" r:id="rId2"/>
    <p:sldLayoutId id="2147483659" r:id="rId3"/>
    <p:sldLayoutId id="2147483667" r:id="rId4"/>
    <p:sldLayoutId id="2147483668" r:id="rId5"/>
    <p:sldLayoutId id="2147483671" r:id="rId6"/>
    <p:sldLayoutId id="2147483669" r:id="rId7"/>
    <p:sldLayoutId id="2147483670" r:id="rId8"/>
    <p:sldLayoutId id="2147483672" r:id="rId9"/>
    <p:sldLayoutId id="2147483673" r:id="rId1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0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7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8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50.png"/><Relationship Id="rId7" Type="http://schemas.openxmlformats.org/officeDocument/2006/relationships/image" Target="NUL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60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5" Type="http://schemas.openxmlformats.org/officeDocument/2006/relationships/image" Target="../media/image78.png"/><Relationship Id="rId4" Type="http://schemas.openxmlformats.org/officeDocument/2006/relationships/image" Target="../media/image77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7A72020-F212-7A4F-9886-409A4930D7B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B67B0DA-556A-0B89-6384-3FFC1D7F4C6D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29F12436-5FDB-A05F-74CE-A6E67966B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3D0DB62-DA3B-26C7-4CF1-126A7C384299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ABEB3BDD-5767-C862-7180-BEE323DFC8ED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AC8A9ADA-7042-7A8C-27C9-EE7B11A6D6FD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8BF7BF1A-4852-74BB-2974-C4A9C80F33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B0019ED-199B-2F82-139A-9D04905AE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748F2B10-28CE-7E8E-B3EB-7DEB9DFA88A3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3FB0EDDA-D0B7-9400-8A9B-9BC792A8F5CA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能够设定实际对象性能指标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能够综合运用时域分析手段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能够合理选择校正装置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807902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能够运用计算机辅助验证校正效果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06813"/>
              </p:ext>
            </p:extLst>
          </p:nvPr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4069200" y="-11987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1824" y="5463087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448084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0">
            <a:extLst>
              <a:ext uri="{FF2B5EF4-FFF2-40B4-BE49-F238E27FC236}">
                <a16:creationId xmlns:a16="http://schemas.microsoft.com/office/drawing/2014/main" id="{0C3F0A37-EF04-7DE5-232B-106245237D96}"/>
              </a:ext>
            </a:extLst>
          </p:cNvPr>
          <p:cNvSpPr/>
          <p:nvPr/>
        </p:nvSpPr>
        <p:spPr bwMode="auto">
          <a:xfrm>
            <a:off x="693606" y="1281397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时域分析综合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航向系统模型</a:t>
            </a:r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95DDF8B5-76AF-0A15-D583-698462E85322}"/>
              </a:ext>
            </a:extLst>
          </p:cNvPr>
          <p:cNvCxnSpPr>
            <a:cxnSpLocks/>
            <a:stCxn id="42" idx="3"/>
            <a:endCxn id="10" idx="1"/>
          </p:cNvCxnSpPr>
          <p:nvPr/>
        </p:nvCxnSpPr>
        <p:spPr>
          <a:xfrm>
            <a:off x="3373833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96E8C5F-6746-A750-8281-A7FB887BBDFB}"/>
                  </a:ext>
                </a:extLst>
              </p:cNvPr>
              <p:cNvSpPr/>
              <p:nvPr/>
            </p:nvSpPr>
            <p:spPr>
              <a:xfrm>
                <a:off x="6814620" y="3039410"/>
                <a:ext cx="1105924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96E8C5F-6746-A750-8281-A7FB887BB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620" y="3039410"/>
                <a:ext cx="1105924" cy="8257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A7D7D5-E4D5-3C34-3854-B389D5B33C4F}"/>
                  </a:ext>
                </a:extLst>
              </p:cNvPr>
              <p:cNvSpPr txBox="1"/>
              <p:nvPr/>
            </p:nvSpPr>
            <p:spPr>
              <a:xfrm>
                <a:off x="8501174" y="2817198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2A7D7D5-E4D5-3C34-3854-B389D5B33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174" y="2817198"/>
                <a:ext cx="50526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A6E7D5E-5A42-B9F0-5491-072F96DACC18}"/>
                  </a:ext>
                </a:extLst>
              </p:cNvPr>
              <p:cNvSpPr txBox="1"/>
              <p:nvPr/>
            </p:nvSpPr>
            <p:spPr>
              <a:xfrm>
                <a:off x="8553283" y="2371319"/>
                <a:ext cx="17501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A6E7D5E-5A42-B9F0-5491-072F96DAC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283" y="2371319"/>
                <a:ext cx="1750159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56699B0-464D-4DF1-F898-FB4F28D8EC17}"/>
                  </a:ext>
                </a:extLst>
              </p:cNvPr>
              <p:cNvSpPr/>
              <p:nvPr/>
            </p:nvSpPr>
            <p:spPr>
              <a:xfrm>
                <a:off x="3748202" y="3039410"/>
                <a:ext cx="2692049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56699B0-464D-4DF1-F898-FB4F28D8EC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202" y="3039410"/>
                <a:ext cx="2692049" cy="825702"/>
              </a:xfrm>
              <a:prstGeom prst="rect">
                <a:avLst/>
              </a:prstGeom>
              <a:blipFill>
                <a:blip r:embed="rId6"/>
                <a:stretch>
                  <a:fillRect b="-10294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>
            <a:extLst>
              <a:ext uri="{FF2B5EF4-FFF2-40B4-BE49-F238E27FC236}">
                <a16:creationId xmlns:a16="http://schemas.microsoft.com/office/drawing/2014/main" id="{31ABDA02-5431-94DA-BA14-5121CF1983C7}"/>
              </a:ext>
            </a:extLst>
          </p:cNvPr>
          <p:cNvSpPr/>
          <p:nvPr/>
        </p:nvSpPr>
        <p:spPr>
          <a:xfrm>
            <a:off x="8294913" y="3271522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31AA36D-9DAD-C3C1-FEB5-F40C51AFDF64}"/>
              </a:ext>
            </a:extLst>
          </p:cNvPr>
          <p:cNvCxnSpPr>
            <a:cxnSpLocks/>
            <a:stCxn id="41" idx="6"/>
            <a:endCxn id="42" idx="1"/>
          </p:cNvCxnSpPr>
          <p:nvPr/>
        </p:nvCxnSpPr>
        <p:spPr>
          <a:xfrm>
            <a:off x="1811448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9ACDF45-1A26-331E-24EA-F77A5406AF4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75652" y="2362874"/>
            <a:ext cx="0" cy="908648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3A85128-ED20-1F58-A208-032723FC3459}"/>
              </a:ext>
            </a:extLst>
          </p:cNvPr>
          <p:cNvCxnSpPr>
            <a:cxnSpLocks/>
            <a:stCxn id="11" idx="6"/>
            <a:endCxn id="34" idx="1"/>
          </p:cNvCxnSpPr>
          <p:nvPr/>
        </p:nvCxnSpPr>
        <p:spPr>
          <a:xfrm>
            <a:off x="8656391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06D5810-A2A0-7737-EEDC-285C2A789FC6}"/>
                  </a:ext>
                </a:extLst>
              </p:cNvPr>
              <p:cNvSpPr/>
              <p:nvPr/>
            </p:nvSpPr>
            <p:spPr>
              <a:xfrm>
                <a:off x="5626604" y="4277963"/>
                <a:ext cx="1188016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06D5810-A2A0-7737-EEDC-285C2A789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604" y="4277963"/>
                <a:ext cx="1188016" cy="8257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9EE16D6-51E8-A518-AE35-E0DC62847308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0332435" y="3452261"/>
            <a:ext cx="924526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B40CE69-79C7-14AF-30F7-FED3C2E9FAD2}"/>
              </a:ext>
            </a:extLst>
          </p:cNvPr>
          <p:cNvCxnSpPr>
            <a:cxnSpLocks/>
            <a:stCxn id="3" idx="3"/>
            <a:endCxn id="11" idx="2"/>
          </p:cNvCxnSpPr>
          <p:nvPr/>
        </p:nvCxnSpPr>
        <p:spPr>
          <a:xfrm>
            <a:off x="7920544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108FEEC-D3DC-9D87-751F-607DADE18953}"/>
                  </a:ext>
                </a:extLst>
              </p:cNvPr>
              <p:cNvSpPr txBox="1"/>
              <p:nvPr/>
            </p:nvSpPr>
            <p:spPr>
              <a:xfrm>
                <a:off x="720327" y="2889531"/>
                <a:ext cx="751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108FEEC-D3DC-9D87-751F-607DADE1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27" y="2889531"/>
                <a:ext cx="751643" cy="461665"/>
              </a:xfrm>
              <a:prstGeom prst="rect">
                <a:avLst/>
              </a:prstGeom>
              <a:blipFill>
                <a:blip r:embed="rId8"/>
                <a:stretch>
                  <a:fillRect l="-1667" r="-11667"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06A7307-BA64-7847-EE5A-369643028C15}"/>
                  </a:ext>
                </a:extLst>
              </p:cNvPr>
              <p:cNvSpPr txBox="1"/>
              <p:nvPr/>
            </p:nvSpPr>
            <p:spPr>
              <a:xfrm>
                <a:off x="10381072" y="2875820"/>
                <a:ext cx="9023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06A7307-BA64-7847-EE5A-369643028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072" y="2875820"/>
                <a:ext cx="902363" cy="461665"/>
              </a:xfrm>
              <a:prstGeom prst="rect">
                <a:avLst/>
              </a:prstGeom>
              <a:blipFill>
                <a:blip r:embed="rId9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E88CF54-2AEF-9DE5-D466-43529FD2B310}"/>
                  </a:ext>
                </a:extLst>
              </p:cNvPr>
              <p:cNvSpPr/>
              <p:nvPr/>
            </p:nvSpPr>
            <p:spPr>
              <a:xfrm>
                <a:off x="9030760" y="3039410"/>
                <a:ext cx="1301675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E88CF54-2AEF-9DE5-D466-43529FD2B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760" y="3039410"/>
                <a:ext cx="1301675" cy="82570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椭圆 40">
            <a:extLst>
              <a:ext uri="{FF2B5EF4-FFF2-40B4-BE49-F238E27FC236}">
                <a16:creationId xmlns:a16="http://schemas.microsoft.com/office/drawing/2014/main" id="{94AD0258-B8F1-A3E1-FE6B-06ECBD06EA66}"/>
              </a:ext>
            </a:extLst>
          </p:cNvPr>
          <p:cNvSpPr/>
          <p:nvPr/>
        </p:nvSpPr>
        <p:spPr>
          <a:xfrm>
            <a:off x="1449970" y="3271522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727A52E-FDDE-0163-9FF5-5ED306AF64B1}"/>
              </a:ext>
            </a:extLst>
          </p:cNvPr>
          <p:cNvSpPr/>
          <p:nvPr/>
        </p:nvSpPr>
        <p:spPr>
          <a:xfrm>
            <a:off x="2185817" y="3039410"/>
            <a:ext cx="1188016" cy="8257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1"/>
          <a:lstStyle/>
          <a:p>
            <a:pPr algn="ctr"/>
            <a:r>
              <a:rPr kumimoji="1" lang="zh-CN" altLang="en-US" sz="2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航向控制器</a:t>
            </a:r>
          </a:p>
        </p:txBody>
      </p: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C811F877-0C67-747D-83DD-7A55A8622A5E}"/>
              </a:ext>
            </a:extLst>
          </p:cNvPr>
          <p:cNvCxnSpPr>
            <a:cxnSpLocks/>
            <a:stCxn id="44" idx="4"/>
            <a:endCxn id="25" idx="3"/>
          </p:cNvCxnSpPr>
          <p:nvPr/>
        </p:nvCxnSpPr>
        <p:spPr>
          <a:xfrm rot="5400000">
            <a:off x="8229330" y="2125446"/>
            <a:ext cx="1150658" cy="3980078"/>
          </a:xfrm>
          <a:prstGeom prst="bentConnector2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61C84E51-2919-306F-230F-EE97F5F61F78}"/>
              </a:ext>
            </a:extLst>
          </p:cNvPr>
          <p:cNvSpPr/>
          <p:nvPr/>
        </p:nvSpPr>
        <p:spPr>
          <a:xfrm>
            <a:off x="10706803" y="3364366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7D5DA8D9-4F56-643A-E403-F3FC1D1EB4FA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>
            <a:off x="6440251" y="3452261"/>
            <a:ext cx="374369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53488E9-835F-5FD8-A427-455ADF5B96F0}"/>
                  </a:ext>
                </a:extLst>
              </p:cNvPr>
              <p:cNvSpPr txBox="1"/>
              <p:nvPr/>
            </p:nvSpPr>
            <p:spPr>
              <a:xfrm>
                <a:off x="1713003" y="354015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53488E9-835F-5FD8-A427-455ADF5B9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003" y="3540156"/>
                <a:ext cx="50526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0B065556-1F76-BCE4-AA86-83AC2983AFD7}"/>
              </a:ext>
            </a:extLst>
          </p:cNvPr>
          <p:cNvCxnSpPr>
            <a:cxnSpLocks/>
            <a:endCxn id="41" idx="2"/>
          </p:cNvCxnSpPr>
          <p:nvPr/>
        </p:nvCxnSpPr>
        <p:spPr>
          <a:xfrm>
            <a:off x="657012" y="3452261"/>
            <a:ext cx="7929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2B5D57BA-CA2A-D723-0725-5C9EF2DD1823}"/>
              </a:ext>
            </a:extLst>
          </p:cNvPr>
          <p:cNvCxnSpPr>
            <a:cxnSpLocks/>
            <a:stCxn id="25" idx="1"/>
            <a:endCxn id="41" idx="4"/>
          </p:cNvCxnSpPr>
          <p:nvPr/>
        </p:nvCxnSpPr>
        <p:spPr>
          <a:xfrm rot="10800000">
            <a:off x="1630710" y="3633000"/>
            <a:ext cx="3995895" cy="1057814"/>
          </a:xfrm>
          <a:prstGeom prst="bentConnector2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F0C502DE-CCAF-BC11-FF05-5F1C041C5331}"/>
              </a:ext>
            </a:extLst>
          </p:cNvPr>
          <p:cNvCxnSpPr>
            <a:cxnSpLocks/>
          </p:cNvCxnSpPr>
          <p:nvPr/>
        </p:nvCxnSpPr>
        <p:spPr>
          <a:xfrm>
            <a:off x="4295006" y="2060848"/>
            <a:ext cx="0" cy="75635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B0E83C16-8E0A-BF71-FAA6-397184C3C02D}"/>
              </a:ext>
            </a:extLst>
          </p:cNvPr>
          <p:cNvSpPr txBox="1"/>
          <p:nvPr/>
        </p:nvSpPr>
        <p:spPr>
          <a:xfrm>
            <a:off x="3545811" y="14494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伺服系统</a:t>
            </a:r>
          </a:p>
        </p:txBody>
      </p: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AFDF55F4-1600-D993-36C9-C8CDD092B081}"/>
              </a:ext>
            </a:extLst>
          </p:cNvPr>
          <p:cNvCxnSpPr>
            <a:cxnSpLocks/>
          </p:cNvCxnSpPr>
          <p:nvPr/>
        </p:nvCxnSpPr>
        <p:spPr>
          <a:xfrm>
            <a:off x="6647807" y="2439023"/>
            <a:ext cx="0" cy="75635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C088F8B-82C5-D4EC-8623-A12E4468991E}"/>
                  </a:ext>
                </a:extLst>
              </p:cNvPr>
              <p:cNvSpPr txBox="1"/>
              <p:nvPr/>
            </p:nvSpPr>
            <p:spPr>
              <a:xfrm>
                <a:off x="5802511" y="1762530"/>
                <a:ext cx="16905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舵偏角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C088F8B-82C5-D4EC-8623-A12E44689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511" y="1762530"/>
                <a:ext cx="1690591" cy="461665"/>
              </a:xfrm>
              <a:prstGeom prst="rect">
                <a:avLst/>
              </a:prstGeom>
              <a:blipFill>
                <a:blip r:embed="rId12"/>
                <a:stretch>
                  <a:fillRect l="-5224" t="-10526" r="-2239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B76DACEC-1FF4-D68C-581A-7A18EC11754A}"/>
              </a:ext>
            </a:extLst>
          </p:cNvPr>
          <p:cNvCxnSpPr>
            <a:cxnSpLocks/>
          </p:cNvCxnSpPr>
          <p:nvPr/>
        </p:nvCxnSpPr>
        <p:spPr>
          <a:xfrm>
            <a:off x="10303442" y="1984699"/>
            <a:ext cx="0" cy="75635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8A014CA9-4E22-06D4-AF87-F00D3E515863}"/>
              </a:ext>
            </a:extLst>
          </p:cNvPr>
          <p:cNvSpPr txBox="1"/>
          <p:nvPr/>
        </p:nvSpPr>
        <p:spPr>
          <a:xfrm>
            <a:off x="9903332" y="140825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船体</a:t>
            </a: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8F86862D-C15F-35C7-8B2B-E1BC782349E8}"/>
              </a:ext>
            </a:extLst>
          </p:cNvPr>
          <p:cNvCxnSpPr>
            <a:cxnSpLocks/>
          </p:cNvCxnSpPr>
          <p:nvPr/>
        </p:nvCxnSpPr>
        <p:spPr>
          <a:xfrm>
            <a:off x="9191550" y="1384355"/>
            <a:ext cx="0" cy="75635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BAC105D1-72D5-BBF1-2183-791FED05C3CA}"/>
              </a:ext>
            </a:extLst>
          </p:cNvPr>
          <p:cNvSpPr txBox="1"/>
          <p:nvPr/>
        </p:nvSpPr>
        <p:spPr>
          <a:xfrm>
            <a:off x="8218300" y="753283"/>
            <a:ext cx="2162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横荡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艏摇扰动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2B80BAF1-733C-6408-B180-B8C6026FAEAA}"/>
                  </a:ext>
                </a:extLst>
              </p:cNvPr>
              <p:cNvSpPr txBox="1"/>
              <p:nvPr/>
            </p:nvSpPr>
            <p:spPr>
              <a:xfrm>
                <a:off x="3414183" y="5578355"/>
                <a:ext cx="6093994" cy="708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𝐺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1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  <m:d>
                          <m:d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𝜓</m:t>
                                </m:r>
                              </m:sub>
                            </m:s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zh-CN" sz="2400" kern="100" dirty="0">
                    <a:solidFill>
                      <a:schemeClr val="tx1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  <a:cs typeface="Times New Roman (正文 CS 字体)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𝐺</m:t>
                        </m:r>
                      </m:e>
                      <m: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</m:e>
                    </m:d>
                    <m:r>
                      <a:rPr lang="en-US" altLang="zh-CN" sz="24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 (正文 CS 字体)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+1</m:t>
                        </m:r>
                      </m:num>
                      <m:den>
                        <m:r>
                          <a:rPr lang="en-US" altLang="zh-CN" sz="24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 (正文 CS 字体)"/>
                          </a:rPr>
                          <m:t>𝑠</m:t>
                        </m:r>
                        <m:d>
                          <m:d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altLang="zh-CN" sz="24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 (正文 CS 字体)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𝑠</m:t>
                            </m:r>
                            <m:r>
                              <a:rPr lang="en-US" altLang="zh-CN" sz="24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 (正文 CS 字体)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</a:rPr>
                  <a:t> 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2B80BAF1-733C-6408-B180-B8C6026FA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183" y="5578355"/>
                <a:ext cx="6093994" cy="708592"/>
              </a:xfrm>
              <a:prstGeom prst="rect">
                <a:avLst/>
              </a:prstGeom>
              <a:blipFill>
                <a:blip r:embed="rId13"/>
                <a:stretch>
                  <a:fillRect l="-208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3395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简化模型</a:t>
            </a:r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6EF28B3D-5822-CA5F-C3BC-68214702EE11}"/>
              </a:ext>
            </a:extLst>
          </p:cNvPr>
          <p:cNvCxnSpPr>
            <a:cxnSpLocks/>
            <a:stCxn id="3" idx="6"/>
            <a:endCxn id="6" idx="1"/>
          </p:cNvCxnSpPr>
          <p:nvPr/>
        </p:nvCxnSpPr>
        <p:spPr>
          <a:xfrm>
            <a:off x="2147970" y="2229005"/>
            <a:ext cx="4372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2E1532E7-434F-346F-A106-0DA05C45C752}"/>
              </a:ext>
            </a:extLst>
          </p:cNvPr>
          <p:cNvSpPr/>
          <p:nvPr/>
        </p:nvSpPr>
        <p:spPr>
          <a:xfrm>
            <a:off x="1786492" y="2048266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F528F8D-21DE-ABE2-1F64-F16AC0163CC0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040025" y="2229005"/>
            <a:ext cx="746467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F86D3BF8-2D4A-C026-D00C-C6DE240C18DE}"/>
              </a:ext>
            </a:extLst>
          </p:cNvPr>
          <p:cNvCxnSpPr>
            <a:cxnSpLocks/>
            <a:stCxn id="19" idx="4"/>
            <a:endCxn id="3" idx="4"/>
          </p:cNvCxnSpPr>
          <p:nvPr/>
        </p:nvCxnSpPr>
        <p:spPr>
          <a:xfrm rot="5400000">
            <a:off x="6072308" y="-1788176"/>
            <a:ext cx="92844" cy="8302997"/>
          </a:xfrm>
          <a:prstGeom prst="bentConnector3">
            <a:avLst>
              <a:gd name="adj1" fmla="val 1013396"/>
            </a:avLst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B067297-1239-5D53-252C-4DA2CD091ADF}"/>
                  </a:ext>
                </a:extLst>
              </p:cNvPr>
              <p:cNvSpPr/>
              <p:nvPr/>
            </p:nvSpPr>
            <p:spPr>
              <a:xfrm>
                <a:off x="2585228" y="1816154"/>
                <a:ext cx="1199252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放大器</a:t>
                </a:r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B067297-1239-5D53-252C-4DA2CD091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228" y="1816154"/>
                <a:ext cx="1199252" cy="825702"/>
              </a:xfrm>
              <a:prstGeom prst="rect">
                <a:avLst/>
              </a:prstGeom>
              <a:blipFill>
                <a:blip r:embed="rId3"/>
                <a:stretch>
                  <a:fillRect t="-2899" r="-6122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43D117-7A79-4EAD-3839-93E021734BEF}"/>
                  </a:ext>
                </a:extLst>
              </p:cNvPr>
              <p:cNvSpPr txBox="1"/>
              <p:nvPr/>
            </p:nvSpPr>
            <p:spPr>
              <a:xfrm>
                <a:off x="9833762" y="1651720"/>
                <a:ext cx="8729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43D117-7A79-4EAD-3839-93E02173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762" y="1651720"/>
                <a:ext cx="872931" cy="461665"/>
              </a:xfrm>
              <a:prstGeom prst="rect">
                <a:avLst/>
              </a:prstGeom>
              <a:blipFill>
                <a:blip r:embed="rId4"/>
                <a:stretch>
                  <a:fillRect r="-1449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A2EC39-CA5A-9FE7-6D52-31C79DE1A4BB}"/>
                  </a:ext>
                </a:extLst>
              </p:cNvPr>
              <p:cNvSpPr txBox="1"/>
              <p:nvPr/>
            </p:nvSpPr>
            <p:spPr>
              <a:xfrm>
                <a:off x="6892000" y="152038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A2EC39-CA5A-9FE7-6D52-31C79DE1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00" y="1520386"/>
                <a:ext cx="50526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B58BDC-9AD0-56DA-3544-C35232173813}"/>
                  </a:ext>
                </a:extLst>
              </p:cNvPr>
              <p:cNvSpPr txBox="1"/>
              <p:nvPr/>
            </p:nvSpPr>
            <p:spPr>
              <a:xfrm>
                <a:off x="7332353" y="910785"/>
                <a:ext cx="9075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B58BDC-9AD0-56DA-3544-C35232173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353" y="910785"/>
                <a:ext cx="90755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54D169-923E-C6A0-37C6-480568490516}"/>
                  </a:ext>
                </a:extLst>
              </p:cNvPr>
              <p:cNvSpPr txBox="1"/>
              <p:nvPr/>
            </p:nvSpPr>
            <p:spPr>
              <a:xfrm>
                <a:off x="2011153" y="2277907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54D169-923E-C6A0-37C6-480568490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153" y="2277907"/>
                <a:ext cx="50526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9CF58A-2280-16C4-CC69-B50A2DC1DCE8}"/>
                  </a:ext>
                </a:extLst>
              </p:cNvPr>
              <p:cNvSpPr txBox="1"/>
              <p:nvPr/>
            </p:nvSpPr>
            <p:spPr>
              <a:xfrm>
                <a:off x="925046" y="1660021"/>
                <a:ext cx="8796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9CF58A-2280-16C4-CC69-B50A2DC1D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46" y="1660021"/>
                <a:ext cx="879664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4B265BB-ED44-A248-15BB-661E3BE82AC3}"/>
                  </a:ext>
                </a:extLst>
              </p:cNvPr>
              <p:cNvSpPr/>
              <p:nvPr/>
            </p:nvSpPr>
            <p:spPr>
              <a:xfrm>
                <a:off x="4212151" y="1605075"/>
                <a:ext cx="2472705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舵伺服系统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3.43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+2.14375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4B265BB-ED44-A248-15BB-661E3BE82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51" y="1605075"/>
                <a:ext cx="2472705" cy="1247861"/>
              </a:xfrm>
              <a:prstGeom prst="rect">
                <a:avLst/>
              </a:prstGeom>
              <a:blipFill>
                <a:blip r:embed="rId9"/>
                <a:stretch>
                  <a:fillRect l="-505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3C7B67-A92A-EF10-BBAA-9B4CC38196B8}"/>
                  </a:ext>
                </a:extLst>
              </p:cNvPr>
              <p:cNvSpPr/>
              <p:nvPr/>
            </p:nvSpPr>
            <p:spPr>
              <a:xfrm>
                <a:off x="7979849" y="1605075"/>
                <a:ext cx="1764276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0.005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+0.1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3C7B67-A92A-EF10-BBAA-9B4CC38196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49" y="1605075"/>
                <a:ext cx="1764276" cy="12478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0DE08891-A89D-8D95-E9E7-93F674B78B7E}"/>
              </a:ext>
            </a:extLst>
          </p:cNvPr>
          <p:cNvSpPr/>
          <p:nvPr/>
        </p:nvSpPr>
        <p:spPr>
          <a:xfrm>
            <a:off x="7151614" y="2048266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F4BEB76-076C-7DEB-F137-040125DAF296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3784480" y="2229005"/>
            <a:ext cx="427671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DC8A289-7830-18C2-EA94-1A7474CC4055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6684856" y="2229005"/>
            <a:ext cx="4667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03242FE-6F7A-9854-8A93-859C5478F90B}"/>
              </a:ext>
            </a:extLst>
          </p:cNvPr>
          <p:cNvCxnSpPr>
            <a:cxnSpLocks/>
            <a:stCxn id="14" idx="6"/>
            <a:endCxn id="13" idx="1"/>
          </p:cNvCxnSpPr>
          <p:nvPr/>
        </p:nvCxnSpPr>
        <p:spPr>
          <a:xfrm>
            <a:off x="7513092" y="2229005"/>
            <a:ext cx="466757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67A501E-94C5-149F-E8C5-A6CE7881261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9744125" y="2229005"/>
            <a:ext cx="11765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B25E6254-3697-8726-C9BC-301596DB01DF}"/>
              </a:ext>
            </a:extLst>
          </p:cNvPr>
          <p:cNvSpPr/>
          <p:nvPr/>
        </p:nvSpPr>
        <p:spPr>
          <a:xfrm>
            <a:off x="10182333" y="2141110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D0A6AE7-EE1B-2D6A-6923-D5D876C3942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332353" y="931589"/>
            <a:ext cx="0" cy="1116677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0F05F6-4C0D-0C25-C2F8-FF8920ACF213}"/>
                  </a:ext>
                </a:extLst>
              </p:cNvPr>
              <p:cNvSpPr txBox="1"/>
              <p:nvPr/>
            </p:nvSpPr>
            <p:spPr>
              <a:xfrm>
                <a:off x="6663400" y="179978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0F05F6-4C0D-0C25-C2F8-FF8920ACF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00" y="1799786"/>
                <a:ext cx="50526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43E017D6-79DA-B9F4-EF31-C5B595E8EF16}"/>
              </a:ext>
            </a:extLst>
          </p:cNvPr>
          <p:cNvSpPr txBox="1"/>
          <p:nvPr/>
        </p:nvSpPr>
        <p:spPr>
          <a:xfrm>
            <a:off x="549095" y="103213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给定航向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CDAFC27-0DEF-B207-4314-9BBBEF346533}"/>
              </a:ext>
            </a:extLst>
          </p:cNvPr>
          <p:cNvSpPr txBox="1"/>
          <p:nvPr/>
        </p:nvSpPr>
        <p:spPr>
          <a:xfrm>
            <a:off x="10182333" y="102826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期望方向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1CE50A-9BDC-DD4D-2FDB-7D9BB0686501}"/>
              </a:ext>
            </a:extLst>
          </p:cNvPr>
          <p:cNvSpPr txBox="1"/>
          <p:nvPr/>
        </p:nvSpPr>
        <p:spPr>
          <a:xfrm>
            <a:off x="6663400" y="25167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外部扰动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01F0D2D-EE55-30FB-7131-EBB55E55F05D}"/>
              </a:ext>
            </a:extLst>
          </p:cNvPr>
          <p:cNvSpPr txBox="1"/>
          <p:nvPr/>
        </p:nvSpPr>
        <p:spPr>
          <a:xfrm>
            <a:off x="1348408" y="3604547"/>
            <a:ext cx="10367937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输入信号有哪些形式？代表什么物理含义？如何减小稳态误差？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1935E2-ACF2-AE4D-874B-2A2EAD292696}"/>
              </a:ext>
            </a:extLst>
          </p:cNvPr>
          <p:cNvSpPr txBox="1"/>
          <p:nvPr/>
        </p:nvSpPr>
        <p:spPr>
          <a:xfrm>
            <a:off x="1364878" y="4687201"/>
            <a:ext cx="10351468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扰动信号有哪些形式？代表什么物理含义？对船体产生的影响要如何分析？</a:t>
            </a:r>
          </a:p>
        </p:txBody>
      </p:sp>
      <p:sp>
        <p:nvSpPr>
          <p:cNvPr id="32" name="ï$ľiďê">
            <a:extLst>
              <a:ext uri="{FF2B5EF4-FFF2-40B4-BE49-F238E27FC236}">
                <a16:creationId xmlns:a16="http://schemas.microsoft.com/office/drawing/2014/main" id="{87A096EC-1E2E-506C-3A13-62C9646A4098}"/>
              </a:ext>
            </a:extLst>
          </p:cNvPr>
          <p:cNvSpPr/>
          <p:nvPr/>
        </p:nvSpPr>
        <p:spPr bwMode="auto">
          <a:xfrm>
            <a:off x="531696" y="350100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3" name="ï$ľiďê">
            <a:extLst>
              <a:ext uri="{FF2B5EF4-FFF2-40B4-BE49-F238E27FC236}">
                <a16:creationId xmlns:a16="http://schemas.microsoft.com/office/drawing/2014/main" id="{B5F5F03E-A42E-5023-1948-5A36E3A193BC}"/>
              </a:ext>
            </a:extLst>
          </p:cNvPr>
          <p:cNvSpPr/>
          <p:nvPr/>
        </p:nvSpPr>
        <p:spPr bwMode="auto">
          <a:xfrm>
            <a:off x="523429" y="458109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CC0E02D-130E-D2B5-CB4F-6D9CD2E869E6}"/>
              </a:ext>
            </a:extLst>
          </p:cNvPr>
          <p:cNvSpPr txBox="1"/>
          <p:nvPr/>
        </p:nvSpPr>
        <p:spPr>
          <a:xfrm>
            <a:off x="1364878" y="5781274"/>
            <a:ext cx="10351468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典型工况下输入和扰动分别使用什么信号模拟？</a:t>
            </a:r>
          </a:p>
        </p:txBody>
      </p:sp>
      <p:sp>
        <p:nvSpPr>
          <p:cNvPr id="21" name="ï$ľiďê">
            <a:extLst>
              <a:ext uri="{FF2B5EF4-FFF2-40B4-BE49-F238E27FC236}">
                <a16:creationId xmlns:a16="http://schemas.microsoft.com/office/drawing/2014/main" id="{EB1DF66F-6995-F12F-82D5-08AFA2FAF172}"/>
              </a:ext>
            </a:extLst>
          </p:cNvPr>
          <p:cNvSpPr/>
          <p:nvPr/>
        </p:nvSpPr>
        <p:spPr bwMode="auto">
          <a:xfrm>
            <a:off x="556322" y="5656151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556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简化模型</a:t>
            </a:r>
          </a:p>
        </p:txBody>
      </p:sp>
      <p:cxnSp>
        <p:nvCxnSpPr>
          <p:cNvPr id="2" name="直线箭头连接符 1">
            <a:extLst>
              <a:ext uri="{FF2B5EF4-FFF2-40B4-BE49-F238E27FC236}">
                <a16:creationId xmlns:a16="http://schemas.microsoft.com/office/drawing/2014/main" id="{6EF28B3D-5822-CA5F-C3BC-68214702EE11}"/>
              </a:ext>
            </a:extLst>
          </p:cNvPr>
          <p:cNvCxnSpPr>
            <a:cxnSpLocks/>
            <a:stCxn id="3" idx="6"/>
            <a:endCxn id="6" idx="1"/>
          </p:cNvCxnSpPr>
          <p:nvPr/>
        </p:nvCxnSpPr>
        <p:spPr>
          <a:xfrm>
            <a:off x="2147970" y="2229005"/>
            <a:ext cx="4372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2E1532E7-434F-346F-A106-0DA05C45C752}"/>
              </a:ext>
            </a:extLst>
          </p:cNvPr>
          <p:cNvSpPr/>
          <p:nvPr/>
        </p:nvSpPr>
        <p:spPr>
          <a:xfrm>
            <a:off x="1786492" y="2048266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F528F8D-21DE-ABE2-1F64-F16AC0163CC0}"/>
              </a:ext>
            </a:extLst>
          </p:cNvPr>
          <p:cNvCxnSpPr>
            <a:cxnSpLocks/>
            <a:endCxn id="3" idx="2"/>
          </p:cNvCxnSpPr>
          <p:nvPr/>
        </p:nvCxnSpPr>
        <p:spPr>
          <a:xfrm>
            <a:off x="1040025" y="2229005"/>
            <a:ext cx="746467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F86D3BF8-2D4A-C026-D00C-C6DE240C18DE}"/>
              </a:ext>
            </a:extLst>
          </p:cNvPr>
          <p:cNvCxnSpPr>
            <a:cxnSpLocks/>
            <a:stCxn id="19" idx="4"/>
            <a:endCxn id="3" idx="4"/>
          </p:cNvCxnSpPr>
          <p:nvPr/>
        </p:nvCxnSpPr>
        <p:spPr>
          <a:xfrm rot="5400000">
            <a:off x="6072308" y="-1788176"/>
            <a:ext cx="92844" cy="8302997"/>
          </a:xfrm>
          <a:prstGeom prst="bentConnector3">
            <a:avLst>
              <a:gd name="adj1" fmla="val 1013396"/>
            </a:avLst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B067297-1239-5D53-252C-4DA2CD091ADF}"/>
                  </a:ext>
                </a:extLst>
              </p:cNvPr>
              <p:cNvSpPr/>
              <p:nvPr/>
            </p:nvSpPr>
            <p:spPr>
              <a:xfrm>
                <a:off x="2585228" y="1816154"/>
                <a:ext cx="1199252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放大器</a:t>
                </a:r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B067297-1239-5D53-252C-4DA2CD091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228" y="1816154"/>
                <a:ext cx="1199252" cy="825702"/>
              </a:xfrm>
              <a:prstGeom prst="rect">
                <a:avLst/>
              </a:prstGeom>
              <a:blipFill>
                <a:blip r:embed="rId3"/>
                <a:stretch>
                  <a:fillRect t="-2899" r="-6122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43D117-7A79-4EAD-3839-93E021734BEF}"/>
                  </a:ext>
                </a:extLst>
              </p:cNvPr>
              <p:cNvSpPr txBox="1"/>
              <p:nvPr/>
            </p:nvSpPr>
            <p:spPr>
              <a:xfrm>
                <a:off x="9833762" y="1651720"/>
                <a:ext cx="8729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143D117-7A79-4EAD-3839-93E02173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762" y="1651720"/>
                <a:ext cx="872931" cy="461665"/>
              </a:xfrm>
              <a:prstGeom prst="rect">
                <a:avLst/>
              </a:prstGeom>
              <a:blipFill>
                <a:blip r:embed="rId4"/>
                <a:stretch>
                  <a:fillRect r="-1449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A2EC39-CA5A-9FE7-6D52-31C79DE1A4BB}"/>
                  </a:ext>
                </a:extLst>
              </p:cNvPr>
              <p:cNvSpPr txBox="1"/>
              <p:nvPr/>
            </p:nvSpPr>
            <p:spPr>
              <a:xfrm>
                <a:off x="6892000" y="152038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FA2EC39-CA5A-9FE7-6D52-31C79DE1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00" y="1520386"/>
                <a:ext cx="50526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B58BDC-9AD0-56DA-3544-C35232173813}"/>
                  </a:ext>
                </a:extLst>
              </p:cNvPr>
              <p:cNvSpPr txBox="1"/>
              <p:nvPr/>
            </p:nvSpPr>
            <p:spPr>
              <a:xfrm>
                <a:off x="7332353" y="910785"/>
                <a:ext cx="9075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0B58BDC-9AD0-56DA-3544-C35232173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353" y="910785"/>
                <a:ext cx="90755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54D169-923E-C6A0-37C6-480568490516}"/>
                  </a:ext>
                </a:extLst>
              </p:cNvPr>
              <p:cNvSpPr txBox="1"/>
              <p:nvPr/>
            </p:nvSpPr>
            <p:spPr>
              <a:xfrm>
                <a:off x="2011153" y="2277907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C54D169-923E-C6A0-37C6-480568490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153" y="2277907"/>
                <a:ext cx="50526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9CF58A-2280-16C4-CC69-B50A2DC1DCE8}"/>
                  </a:ext>
                </a:extLst>
              </p:cNvPr>
              <p:cNvSpPr txBox="1"/>
              <p:nvPr/>
            </p:nvSpPr>
            <p:spPr>
              <a:xfrm>
                <a:off x="925046" y="1660021"/>
                <a:ext cx="8796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99CF58A-2280-16C4-CC69-B50A2DC1D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46" y="1660021"/>
                <a:ext cx="879664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4B265BB-ED44-A248-15BB-661E3BE82AC3}"/>
                  </a:ext>
                </a:extLst>
              </p:cNvPr>
              <p:cNvSpPr/>
              <p:nvPr/>
            </p:nvSpPr>
            <p:spPr>
              <a:xfrm>
                <a:off x="4212151" y="1605075"/>
                <a:ext cx="2472705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舵伺服系统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3.43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+2.14375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4B265BB-ED44-A248-15BB-661E3BE82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51" y="1605075"/>
                <a:ext cx="2472705" cy="1247861"/>
              </a:xfrm>
              <a:prstGeom prst="rect">
                <a:avLst/>
              </a:prstGeom>
              <a:blipFill>
                <a:blip r:embed="rId9"/>
                <a:stretch>
                  <a:fillRect l="-505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3C7B67-A92A-EF10-BBAA-9B4CC38196B8}"/>
                  </a:ext>
                </a:extLst>
              </p:cNvPr>
              <p:cNvSpPr/>
              <p:nvPr/>
            </p:nvSpPr>
            <p:spPr>
              <a:xfrm>
                <a:off x="7979849" y="1605075"/>
                <a:ext cx="1764276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0.005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+0.1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3C7B67-A92A-EF10-BBAA-9B4CC38196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49" y="1605075"/>
                <a:ext cx="1764276" cy="12478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0DE08891-A89D-8D95-E9E7-93F674B78B7E}"/>
              </a:ext>
            </a:extLst>
          </p:cNvPr>
          <p:cNvSpPr/>
          <p:nvPr/>
        </p:nvSpPr>
        <p:spPr>
          <a:xfrm>
            <a:off x="7151614" y="2048266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F4BEB76-076C-7DEB-F137-040125DAF296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3784480" y="2229005"/>
            <a:ext cx="427671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DC8A289-7830-18C2-EA94-1A7474CC4055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6684856" y="2229005"/>
            <a:ext cx="4667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03242FE-6F7A-9854-8A93-859C5478F90B}"/>
              </a:ext>
            </a:extLst>
          </p:cNvPr>
          <p:cNvCxnSpPr>
            <a:cxnSpLocks/>
            <a:stCxn id="14" idx="6"/>
            <a:endCxn id="13" idx="1"/>
          </p:cNvCxnSpPr>
          <p:nvPr/>
        </p:nvCxnSpPr>
        <p:spPr>
          <a:xfrm>
            <a:off x="7513092" y="2229005"/>
            <a:ext cx="466757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D67A501E-94C5-149F-E8C5-A6CE78812610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9744125" y="2229005"/>
            <a:ext cx="11765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B25E6254-3697-8726-C9BC-301596DB01DF}"/>
              </a:ext>
            </a:extLst>
          </p:cNvPr>
          <p:cNvSpPr/>
          <p:nvPr/>
        </p:nvSpPr>
        <p:spPr>
          <a:xfrm>
            <a:off x="10182333" y="2141110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3D0A6AE7-EE1B-2D6A-6923-D5D876C3942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332353" y="931589"/>
            <a:ext cx="0" cy="1116677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0F05F6-4C0D-0C25-C2F8-FF8920ACF213}"/>
                  </a:ext>
                </a:extLst>
              </p:cNvPr>
              <p:cNvSpPr txBox="1"/>
              <p:nvPr/>
            </p:nvSpPr>
            <p:spPr>
              <a:xfrm>
                <a:off x="6663400" y="1799786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30F05F6-4C0D-0C25-C2F8-FF8920ACF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00" y="1799786"/>
                <a:ext cx="505267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43E017D6-79DA-B9F4-EF31-C5B595E8EF16}"/>
              </a:ext>
            </a:extLst>
          </p:cNvPr>
          <p:cNvSpPr txBox="1"/>
          <p:nvPr/>
        </p:nvSpPr>
        <p:spPr>
          <a:xfrm>
            <a:off x="549095" y="103213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给定航向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CDAFC27-0DEF-B207-4314-9BBBEF346533}"/>
              </a:ext>
            </a:extLst>
          </p:cNvPr>
          <p:cNvSpPr txBox="1"/>
          <p:nvPr/>
        </p:nvSpPr>
        <p:spPr>
          <a:xfrm>
            <a:off x="10182333" y="102826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期望方向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1CE50A-9BDC-DD4D-2FDB-7D9BB0686501}"/>
              </a:ext>
            </a:extLst>
          </p:cNvPr>
          <p:cNvSpPr txBox="1"/>
          <p:nvPr/>
        </p:nvSpPr>
        <p:spPr>
          <a:xfrm>
            <a:off x="6663400" y="25167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外部扰动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57A7CB8-3905-5054-4D8E-2E524BB5DD66}"/>
                  </a:ext>
                </a:extLst>
              </p:cNvPr>
              <p:cNvSpPr txBox="1"/>
              <p:nvPr/>
            </p:nvSpPr>
            <p:spPr>
              <a:xfrm>
                <a:off x="1348408" y="3604547"/>
                <a:ext cx="10367937" cy="919401"/>
              </a:xfrm>
              <a:prstGeom prst="flowChartAlternateProcess">
                <a:avLst/>
              </a:pr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分析参数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对闭环系统性能的影响，选择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使斜坡输入和阶跃扰动下的稳态误差较小。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57A7CB8-3905-5054-4D8E-2E524BB5D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408" y="3604547"/>
                <a:ext cx="10367937" cy="919401"/>
              </a:xfrm>
              <a:prstGeom prst="flowChartAlternateProcess">
                <a:avLst/>
              </a:prstGeom>
              <a:blipFill>
                <a:blip r:embed="rId12"/>
                <a:stretch>
                  <a:fillRect l="-366" b="-6579"/>
                </a:stretch>
              </a:blipFill>
              <a:ln>
                <a:solidFill>
                  <a:schemeClr val="accent1"/>
                </a:solidFill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8C91DF3D-E72F-322A-8AA0-F57F67FE23E3}"/>
              </a:ext>
            </a:extLst>
          </p:cNvPr>
          <p:cNvSpPr txBox="1"/>
          <p:nvPr/>
        </p:nvSpPr>
        <p:spPr>
          <a:xfrm>
            <a:off x="1364878" y="4687201"/>
            <a:ext cx="10351468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分析单位阶跃扰动和正弦扰动下的开环输出响应。</a:t>
            </a:r>
          </a:p>
        </p:txBody>
      </p:sp>
      <p:sp>
        <p:nvSpPr>
          <p:cNvPr id="25" name="ï$ľiďê">
            <a:extLst>
              <a:ext uri="{FF2B5EF4-FFF2-40B4-BE49-F238E27FC236}">
                <a16:creationId xmlns:a16="http://schemas.microsoft.com/office/drawing/2014/main" id="{DCCBB379-F361-CA16-CA37-A1229F7E873C}"/>
              </a:ext>
            </a:extLst>
          </p:cNvPr>
          <p:cNvSpPr/>
          <p:nvPr/>
        </p:nvSpPr>
        <p:spPr bwMode="auto">
          <a:xfrm>
            <a:off x="531696" y="350100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1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27" name="ï$ľiďê">
            <a:extLst>
              <a:ext uri="{FF2B5EF4-FFF2-40B4-BE49-F238E27FC236}">
                <a16:creationId xmlns:a16="http://schemas.microsoft.com/office/drawing/2014/main" id="{56533EFF-1E03-9A88-BC09-A4BC5A39FAD5}"/>
              </a:ext>
            </a:extLst>
          </p:cNvPr>
          <p:cNvSpPr/>
          <p:nvPr/>
        </p:nvSpPr>
        <p:spPr bwMode="auto">
          <a:xfrm>
            <a:off x="523429" y="4581098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95AEEB5-4D7F-E62E-0685-946A34F2CEF5}"/>
              </a:ext>
            </a:extLst>
          </p:cNvPr>
          <p:cNvSpPr txBox="1"/>
          <p:nvPr/>
        </p:nvSpPr>
        <p:spPr>
          <a:xfrm>
            <a:off x="1364878" y="5781274"/>
            <a:ext cx="10351468" cy="510778"/>
          </a:xfrm>
          <a:prstGeom prst="flowChartAlternateProcess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chemeClr val="accent1"/>
                </a:solidFill>
              </a:rPr>
              <a:t>分析单位阶跃输入和正弦扰动共同作用下的输出响应。</a:t>
            </a:r>
          </a:p>
        </p:txBody>
      </p:sp>
      <p:sp>
        <p:nvSpPr>
          <p:cNvPr id="34" name="ï$ľiďê">
            <a:extLst>
              <a:ext uri="{FF2B5EF4-FFF2-40B4-BE49-F238E27FC236}">
                <a16:creationId xmlns:a16="http://schemas.microsoft.com/office/drawing/2014/main" id="{96AE2841-139E-06CA-136F-9A7C6E2A1E4B}"/>
              </a:ext>
            </a:extLst>
          </p:cNvPr>
          <p:cNvSpPr/>
          <p:nvPr/>
        </p:nvSpPr>
        <p:spPr bwMode="auto">
          <a:xfrm>
            <a:off x="556322" y="5656151"/>
            <a:ext cx="725177" cy="725177"/>
          </a:xfrm>
          <a:prstGeom prst="ellipse">
            <a:avLst/>
          </a:prstGeom>
          <a:solidFill>
            <a:schemeClr val="accent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131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稳定性分析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3E017D6-79DA-B9F4-EF31-C5B595E8EF16}"/>
                  </a:ext>
                </a:extLst>
              </p:cNvPr>
              <p:cNvSpPr txBox="1"/>
              <p:nvPr/>
            </p:nvSpPr>
            <p:spPr>
              <a:xfrm>
                <a:off x="3184854" y="3203294"/>
                <a:ext cx="4525919" cy="869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26670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𝛷</m:t>
                      </m:r>
                      <m:d>
                        <m:d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𝑅</m:t>
                          </m:r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400" i="1" kern="1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 (正文 CS 字体)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 (正文 CS 字体)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𝐾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1+</m:t>
                          </m:r>
                          <m:r>
                            <a:rPr lang="en-US" altLang="zh-CN" sz="24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 (正文 CS 字体)"/>
                            </a:rPr>
                            <m:t>𝐾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 (正文 CS 字体)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 (正文 CS 字体)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3E017D6-79DA-B9F4-EF31-C5B595E8E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854" y="3203294"/>
                <a:ext cx="4525919" cy="869533"/>
              </a:xfrm>
              <a:prstGeom prst="rect">
                <a:avLst/>
              </a:prstGeom>
              <a:blipFill>
                <a:blip r:embed="rId3"/>
                <a:stretch>
                  <a:fillRect r="-1117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892F6A42-0EF1-678D-D177-2A035919DDCE}"/>
              </a:ext>
            </a:extLst>
          </p:cNvPr>
          <p:cNvSpPr txBox="1"/>
          <p:nvPr/>
        </p:nvSpPr>
        <p:spPr>
          <a:xfrm>
            <a:off x="1092406" y="341834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闭环传函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443314A-E8CC-BCC5-D38D-D5E6719CB51A}"/>
              </a:ext>
            </a:extLst>
          </p:cNvPr>
          <p:cNvCxnSpPr>
            <a:cxnSpLocks/>
            <a:stCxn id="25" idx="6"/>
            <a:endCxn id="34" idx="1"/>
          </p:cNvCxnSpPr>
          <p:nvPr/>
        </p:nvCxnSpPr>
        <p:spPr>
          <a:xfrm>
            <a:off x="2147970" y="1733922"/>
            <a:ext cx="437258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0DAFF8E9-55D7-35BB-6B4F-B688E88D2E0D}"/>
              </a:ext>
            </a:extLst>
          </p:cNvPr>
          <p:cNvSpPr/>
          <p:nvPr/>
        </p:nvSpPr>
        <p:spPr>
          <a:xfrm>
            <a:off x="1786492" y="1553183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D24F4ED8-5F78-9BAC-3E8F-0125FBE5F8FD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1040025" y="1733922"/>
            <a:ext cx="746467" cy="0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>
            <a:extLst>
              <a:ext uri="{FF2B5EF4-FFF2-40B4-BE49-F238E27FC236}">
                <a16:creationId xmlns:a16="http://schemas.microsoft.com/office/drawing/2014/main" id="{E7CF6E59-44BF-E959-EBE1-D0174416440D}"/>
              </a:ext>
            </a:extLst>
          </p:cNvPr>
          <p:cNvCxnSpPr>
            <a:cxnSpLocks/>
            <a:stCxn id="48" idx="4"/>
            <a:endCxn id="25" idx="4"/>
          </p:cNvCxnSpPr>
          <p:nvPr/>
        </p:nvCxnSpPr>
        <p:spPr>
          <a:xfrm rot="5400000">
            <a:off x="6072308" y="-2283259"/>
            <a:ext cx="92844" cy="8302997"/>
          </a:xfrm>
          <a:prstGeom prst="bentConnector3">
            <a:avLst>
              <a:gd name="adj1" fmla="val 1013396"/>
            </a:avLst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CEF5979C-A947-184C-D37E-6AE22E73B2DD}"/>
                  </a:ext>
                </a:extLst>
              </p:cNvPr>
              <p:cNvSpPr/>
              <p:nvPr/>
            </p:nvSpPr>
            <p:spPr>
              <a:xfrm>
                <a:off x="2585228" y="1321071"/>
                <a:ext cx="1199252" cy="82570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放大器</a:t>
                </a:r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CEF5979C-A947-184C-D37E-6AE22E73B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228" y="1321071"/>
                <a:ext cx="1199252" cy="825702"/>
              </a:xfrm>
              <a:prstGeom prst="rect">
                <a:avLst/>
              </a:prstGeom>
              <a:blipFill>
                <a:blip r:embed="rId4"/>
                <a:stretch>
                  <a:fillRect t="-2899" r="-6122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7A3C008-A882-7E0E-1A16-74F94F0968EC}"/>
                  </a:ext>
                </a:extLst>
              </p:cNvPr>
              <p:cNvSpPr txBox="1"/>
              <p:nvPr/>
            </p:nvSpPr>
            <p:spPr>
              <a:xfrm>
                <a:off x="9833762" y="1156637"/>
                <a:ext cx="8729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7A3C008-A882-7E0E-1A16-74F94F096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762" y="1156637"/>
                <a:ext cx="872931" cy="461665"/>
              </a:xfrm>
              <a:prstGeom prst="rect">
                <a:avLst/>
              </a:prstGeom>
              <a:blipFill>
                <a:blip r:embed="rId5"/>
                <a:stretch>
                  <a:fillRect r="-1449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91953F8-5EAA-5C43-D350-CDB947838464}"/>
                  </a:ext>
                </a:extLst>
              </p:cNvPr>
              <p:cNvSpPr txBox="1"/>
              <p:nvPr/>
            </p:nvSpPr>
            <p:spPr>
              <a:xfrm>
                <a:off x="6892000" y="1025303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91953F8-5EAA-5C43-D350-CDB947838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00" y="1025303"/>
                <a:ext cx="50526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9079D3C-27E8-F63D-31E5-B668C70AFC7B}"/>
                  </a:ext>
                </a:extLst>
              </p:cNvPr>
              <p:cNvSpPr txBox="1"/>
              <p:nvPr/>
            </p:nvSpPr>
            <p:spPr>
              <a:xfrm>
                <a:off x="7332353" y="415702"/>
                <a:ext cx="9075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9079D3C-27E8-F63D-31E5-B668C70AF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353" y="415702"/>
                <a:ext cx="907556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6E8BF03-58F8-6223-FDC6-9F33A0FB9751}"/>
                  </a:ext>
                </a:extLst>
              </p:cNvPr>
              <p:cNvSpPr txBox="1"/>
              <p:nvPr/>
            </p:nvSpPr>
            <p:spPr>
              <a:xfrm>
                <a:off x="2011153" y="1782824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6E8BF03-58F8-6223-FDC6-9F33A0FB9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153" y="1782824"/>
                <a:ext cx="50526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40B3F2F-C272-3B4B-401A-FB5F3FBEFB34}"/>
                  </a:ext>
                </a:extLst>
              </p:cNvPr>
              <p:cNvSpPr txBox="1"/>
              <p:nvPr/>
            </p:nvSpPr>
            <p:spPr>
              <a:xfrm>
                <a:off x="925046" y="1164938"/>
                <a:ext cx="8796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40B3F2F-C272-3B4B-401A-FB5F3FBE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46" y="1164938"/>
                <a:ext cx="879664" cy="461665"/>
              </a:xfrm>
              <a:prstGeom prst="rect">
                <a:avLst/>
              </a:prstGeom>
              <a:blipFill>
                <a:blip r:embed="rId9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802BE08-2527-9E42-66A9-6A1DEB0949C3}"/>
                  </a:ext>
                </a:extLst>
              </p:cNvPr>
              <p:cNvSpPr/>
              <p:nvPr/>
            </p:nvSpPr>
            <p:spPr>
              <a:xfrm>
                <a:off x="4212151" y="1109992"/>
                <a:ext cx="2472705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舵伺服系统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3.43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+2.14375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802BE08-2527-9E42-66A9-6A1DEB094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151" y="1109992"/>
                <a:ext cx="2472705" cy="1247861"/>
              </a:xfrm>
              <a:prstGeom prst="rect">
                <a:avLst/>
              </a:prstGeom>
              <a:blipFill>
                <a:blip r:embed="rId10"/>
                <a:stretch>
                  <a:fillRect l="-505"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D9685E7-D47C-B6CC-486E-63597A2215ED}"/>
                  </a:ext>
                </a:extLst>
              </p:cNvPr>
              <p:cNvSpPr/>
              <p:nvPr/>
            </p:nvSpPr>
            <p:spPr>
              <a:xfrm>
                <a:off x="7979849" y="1109992"/>
                <a:ext cx="1764276" cy="124786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 anchorCtr="1"/>
              <a:lstStyle/>
              <a:p>
                <a:pPr algn="ctr"/>
                <a:r>
                  <a:rPr kumimoji="1" lang="zh-CN" altLang="en-US" sz="24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舵船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1"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kumimoji="1" lang="en-US" altLang="zh-CN" sz="24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0.005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+0.1</m:t>
                          </m:r>
                          <m:r>
                            <a:rPr kumimoji="1"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kumimoji="1" lang="zh-CN" altLang="en-US" sz="2400" i="1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D9685E7-D47C-B6CC-486E-63597A221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849" y="1109992"/>
                <a:ext cx="1764276" cy="12478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椭圆 41">
            <a:extLst>
              <a:ext uri="{FF2B5EF4-FFF2-40B4-BE49-F238E27FC236}">
                <a16:creationId xmlns:a16="http://schemas.microsoft.com/office/drawing/2014/main" id="{89D9EEDD-9CFE-546C-DE33-0A244D6AC8D4}"/>
              </a:ext>
            </a:extLst>
          </p:cNvPr>
          <p:cNvSpPr/>
          <p:nvPr/>
        </p:nvSpPr>
        <p:spPr>
          <a:xfrm>
            <a:off x="7151614" y="1553183"/>
            <a:ext cx="361478" cy="36147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3CBDD2EF-6A34-4D3B-5A25-86E9FA308D91}"/>
              </a:ext>
            </a:extLst>
          </p:cNvPr>
          <p:cNvCxnSpPr>
            <a:cxnSpLocks/>
            <a:stCxn id="34" idx="3"/>
            <a:endCxn id="40" idx="1"/>
          </p:cNvCxnSpPr>
          <p:nvPr/>
        </p:nvCxnSpPr>
        <p:spPr>
          <a:xfrm>
            <a:off x="3784480" y="1733922"/>
            <a:ext cx="427671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2BB335C8-81AE-6AB6-A5EC-A0191ED9ABF1}"/>
              </a:ext>
            </a:extLst>
          </p:cNvPr>
          <p:cNvCxnSpPr>
            <a:cxnSpLocks/>
            <a:stCxn id="40" idx="3"/>
            <a:endCxn id="42" idx="2"/>
          </p:cNvCxnSpPr>
          <p:nvPr/>
        </p:nvCxnSpPr>
        <p:spPr>
          <a:xfrm flipV="1">
            <a:off x="6684856" y="1733922"/>
            <a:ext cx="4667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1EAD8EAE-B8EA-427C-41B2-EA078A58D168}"/>
              </a:ext>
            </a:extLst>
          </p:cNvPr>
          <p:cNvCxnSpPr>
            <a:cxnSpLocks/>
            <a:stCxn id="42" idx="6"/>
            <a:endCxn id="41" idx="1"/>
          </p:cNvCxnSpPr>
          <p:nvPr/>
        </p:nvCxnSpPr>
        <p:spPr>
          <a:xfrm>
            <a:off x="7513092" y="1733922"/>
            <a:ext cx="466757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ADA4CE85-9E89-4F9A-7720-B01BC2EF464A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9744125" y="1733922"/>
            <a:ext cx="1176558" cy="1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>
            <a:extLst>
              <a:ext uri="{FF2B5EF4-FFF2-40B4-BE49-F238E27FC236}">
                <a16:creationId xmlns:a16="http://schemas.microsoft.com/office/drawing/2014/main" id="{8207F042-584D-39B1-2381-55B5C1702DE8}"/>
              </a:ext>
            </a:extLst>
          </p:cNvPr>
          <p:cNvSpPr/>
          <p:nvPr/>
        </p:nvSpPr>
        <p:spPr>
          <a:xfrm>
            <a:off x="10182333" y="1646027"/>
            <a:ext cx="175790" cy="175790"/>
          </a:xfrm>
          <a:prstGeom prst="ellipse">
            <a:avLst/>
          </a:prstGeom>
          <a:solidFill>
            <a:schemeClr val="accent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1F220EE-E1E8-DC35-BC64-5AA48D695955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7332353" y="436506"/>
            <a:ext cx="0" cy="1116677"/>
          </a:xfrm>
          <a:prstGeom prst="straightConnector1">
            <a:avLst/>
          </a:prstGeom>
          <a:ln w="38100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1F07364-B981-2607-3931-E471CAD5F9B1}"/>
                  </a:ext>
                </a:extLst>
              </p:cNvPr>
              <p:cNvSpPr txBox="1"/>
              <p:nvPr/>
            </p:nvSpPr>
            <p:spPr>
              <a:xfrm>
                <a:off x="6663400" y="1304703"/>
                <a:ext cx="50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1F07364-B981-2607-3931-E471CAD5F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00" y="1304703"/>
                <a:ext cx="50526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4D9EC8B-F1A9-7BE2-FD20-9FF6443958A7}"/>
                  </a:ext>
                </a:extLst>
              </p:cNvPr>
              <p:cNvSpPr txBox="1"/>
              <p:nvPr/>
            </p:nvSpPr>
            <p:spPr>
              <a:xfrm>
                <a:off x="3410171" y="4281623"/>
                <a:ext cx="5507405" cy="859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0.01715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e>
                          </m:d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+2.14375)</m:t>
                          </m:r>
                        </m:den>
                      </m:f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94D9EC8B-F1A9-7BE2-FD20-9FF644395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171" y="4281623"/>
                <a:ext cx="5507405" cy="859210"/>
              </a:xfrm>
              <a:prstGeom prst="rect">
                <a:avLst/>
              </a:prstGeom>
              <a:blipFill>
                <a:blip r:embed="rId12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16BAB221-2A41-2FA6-167F-FEAF3261BF0D}"/>
              </a:ext>
            </a:extLst>
          </p:cNvPr>
          <p:cNvSpPr txBox="1"/>
          <p:nvPr/>
        </p:nvSpPr>
        <p:spPr>
          <a:xfrm>
            <a:off x="1067165" y="448167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开环传函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27160F9-C41B-81BD-8EC3-EBE7FC4FA6E7}"/>
              </a:ext>
            </a:extLst>
          </p:cNvPr>
          <p:cNvSpPr txBox="1"/>
          <p:nvPr/>
        </p:nvSpPr>
        <p:spPr>
          <a:xfrm>
            <a:off x="476853" y="557845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闭环特征方程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4FD3EAB-CF80-E3DF-8E94-1A48E7F73C18}"/>
                  </a:ext>
                </a:extLst>
              </p:cNvPr>
              <p:cNvSpPr txBox="1"/>
              <p:nvPr/>
            </p:nvSpPr>
            <p:spPr>
              <a:xfrm>
                <a:off x="3424953" y="5361461"/>
                <a:ext cx="8176277" cy="859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0.01715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e>
                          </m:d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+2.14375)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4FD3EAB-CF80-E3DF-8E94-1A48E7F73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953" y="5361461"/>
                <a:ext cx="8176277" cy="859210"/>
              </a:xfrm>
              <a:prstGeom prst="rect">
                <a:avLst/>
              </a:prstGeom>
              <a:blipFill>
                <a:blip r:embed="rId1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267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无扰动情况分析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27160F9-C41B-81BD-8EC3-EBE7FC4FA6E7}"/>
              </a:ext>
            </a:extLst>
          </p:cNvPr>
          <p:cNvSpPr txBox="1"/>
          <p:nvPr/>
        </p:nvSpPr>
        <p:spPr>
          <a:xfrm>
            <a:off x="476853" y="105370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闭环特征方程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4FD3EAB-CF80-E3DF-8E94-1A48E7F73C18}"/>
                  </a:ext>
                </a:extLst>
              </p:cNvPr>
              <p:cNvSpPr txBox="1"/>
              <p:nvPr/>
            </p:nvSpPr>
            <p:spPr>
              <a:xfrm>
                <a:off x="3424953" y="836712"/>
                <a:ext cx="8176277" cy="859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0.01715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e>
                          </m:d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+2.14375)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4FD3EAB-CF80-E3DF-8E94-1A48E7F73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953" y="836712"/>
                <a:ext cx="8176277" cy="859210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6A02894-B6DF-0376-2DDD-6B659AB51B04}"/>
                  </a:ext>
                </a:extLst>
              </p:cNvPr>
              <p:cNvSpPr txBox="1"/>
              <p:nvPr/>
            </p:nvSpPr>
            <p:spPr>
              <a:xfrm>
                <a:off x="3214886" y="1969145"/>
                <a:ext cx="78006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+2.24375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+0.214375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+0.01715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6A02894-B6DF-0376-2DDD-6B659AB51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86" y="1969145"/>
                <a:ext cx="780069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9778EC3-8B89-DBFE-7DDE-3AF74597A0FD}"/>
                  </a:ext>
                </a:extLst>
              </p:cNvPr>
              <p:cNvSpPr txBox="1"/>
              <p:nvPr/>
            </p:nvSpPr>
            <p:spPr>
              <a:xfrm>
                <a:off x="3424953" y="2492896"/>
                <a:ext cx="6094070" cy="1477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0.214375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2.24375</m:t>
                            </m:r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0.01715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0.214375−0.007643454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0.01715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9778EC3-8B89-DBFE-7DDE-3AF74597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953" y="2492896"/>
                <a:ext cx="6094070" cy="1477199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83C4B7F9-E0B9-8CAC-AA70-E8F322A82AB3}"/>
              </a:ext>
            </a:extLst>
          </p:cNvPr>
          <p:cNvSpPr txBox="1"/>
          <p:nvPr/>
        </p:nvSpPr>
        <p:spPr>
          <a:xfrm>
            <a:off x="476852" y="249289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劳斯表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8A7693-833E-CAFA-6A0B-94806CABB20E}"/>
              </a:ext>
            </a:extLst>
          </p:cNvPr>
          <p:cNvSpPr txBox="1"/>
          <p:nvPr/>
        </p:nvSpPr>
        <p:spPr>
          <a:xfrm>
            <a:off x="465292" y="41894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稳定的充要条件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05601A0-DBB5-4AC1-733F-C9AF761DCB03}"/>
                  </a:ext>
                </a:extLst>
              </p:cNvPr>
              <p:cNvSpPr txBox="1"/>
              <p:nvPr/>
            </p:nvSpPr>
            <p:spPr>
              <a:xfrm>
                <a:off x="3023318" y="4196358"/>
                <a:ext cx="37045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&lt;28.046875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05601A0-DBB5-4AC1-733F-C9AF761DC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318" y="4196358"/>
                <a:ext cx="37045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B347EB-67E6-E9F2-612A-7B5D5E051780}"/>
                  </a:ext>
                </a:extLst>
              </p:cNvPr>
              <p:cNvSpPr txBox="1"/>
              <p:nvPr/>
            </p:nvSpPr>
            <p:spPr>
              <a:xfrm>
                <a:off x="465292" y="4848899"/>
                <a:ext cx="32727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𝑁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𝑠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)=0</m:t>
                    </m:r>
                  </m:oMath>
                </a14:m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𝑟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𝑡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)=</m:t>
                    </m:r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𝑅𝑡</m:t>
                    </m:r>
                  </m:oMath>
                </a14:m>
                <a:endParaRPr kumimoji="1" lang="zh-CN" altLang="en-US" sz="24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EB347EB-67E6-E9F2-612A-7B5D5E051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92" y="4848899"/>
                <a:ext cx="3272755" cy="461665"/>
              </a:xfrm>
              <a:prstGeom prst="rect">
                <a:avLst/>
              </a:prstGeom>
              <a:blipFill>
                <a:blip r:embed="rId7"/>
                <a:stretch>
                  <a:fillRect l="-270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1744EEF-8ECB-F75F-7FE9-3FC988F96EA1}"/>
                  </a:ext>
                </a:extLst>
              </p:cNvPr>
              <p:cNvSpPr txBox="1"/>
              <p:nvPr/>
            </p:nvSpPr>
            <p:spPr>
              <a:xfrm>
                <a:off x="6946746" y="4615127"/>
                <a:ext cx="2016224" cy="783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1744EEF-8ECB-F75F-7FE9-3FC988F96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46" y="4615127"/>
                <a:ext cx="2016224" cy="783933"/>
              </a:xfrm>
              <a:prstGeom prst="rect">
                <a:avLst/>
              </a:prstGeom>
              <a:blipFill>
                <a:blip r:embed="rId8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72F45DC-BFF4-E67E-26A0-68CE23E54C0C}"/>
              </a:ext>
            </a:extLst>
          </p:cNvPr>
          <p:cNvSpPr txBox="1"/>
          <p:nvPr/>
        </p:nvSpPr>
        <p:spPr>
          <a:xfrm>
            <a:off x="465292" y="554684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斜坡作用下的稳态误差为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A2D8EC-3DA0-EC38-B92F-4E8F4CB4DE90}"/>
                  </a:ext>
                </a:extLst>
              </p:cNvPr>
              <p:cNvSpPr txBox="1"/>
              <p:nvPr/>
            </p:nvSpPr>
            <p:spPr>
              <a:xfrm>
                <a:off x="5719710" y="5303055"/>
                <a:ext cx="2016224" cy="845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A2D8EC-3DA0-EC38-B92F-4E8F4CB4D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710" y="5303055"/>
                <a:ext cx="2016224" cy="8452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294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无扰动情况分析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8A7693-833E-CAFA-6A0B-94806CABB20E}"/>
              </a:ext>
            </a:extLst>
          </p:cNvPr>
          <p:cNvSpPr txBox="1"/>
          <p:nvPr/>
        </p:nvSpPr>
        <p:spPr>
          <a:xfrm>
            <a:off x="465292" y="9807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稳定的充要条件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05601A0-DBB5-4AC1-733F-C9AF761DCB03}"/>
                  </a:ext>
                </a:extLst>
              </p:cNvPr>
              <p:cNvSpPr txBox="1"/>
              <p:nvPr/>
            </p:nvSpPr>
            <p:spPr>
              <a:xfrm>
                <a:off x="3023318" y="987678"/>
                <a:ext cx="37045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&lt;28.046875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05601A0-DBB5-4AC1-733F-C9AF761DC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318" y="987678"/>
                <a:ext cx="370450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172F45DC-BFF4-E67E-26A0-68CE23E54C0C}"/>
              </a:ext>
            </a:extLst>
          </p:cNvPr>
          <p:cNvSpPr txBox="1"/>
          <p:nvPr/>
        </p:nvSpPr>
        <p:spPr>
          <a:xfrm>
            <a:off x="465292" y="1616238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斜坡作用下的稳态误差为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A2D8EC-3DA0-EC38-B92F-4E8F4CB4DE90}"/>
                  </a:ext>
                </a:extLst>
              </p:cNvPr>
              <p:cNvSpPr txBox="1"/>
              <p:nvPr/>
            </p:nvSpPr>
            <p:spPr>
              <a:xfrm>
                <a:off x="5719710" y="1372448"/>
                <a:ext cx="2016224" cy="845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DA2D8EC-3DA0-EC38-B92F-4E8F4CB4D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710" y="1372448"/>
                <a:ext cx="2016224" cy="845296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DDD6856-BB02-EF48-25CC-D8F621B07257}"/>
              </a:ext>
            </a:extLst>
          </p:cNvPr>
          <p:cNvSpPr txBox="1"/>
          <p:nvPr/>
        </p:nvSpPr>
        <p:spPr>
          <a:xfrm>
            <a:off x="465292" y="222862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静态误差系数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DB1A704-B21E-0A61-6243-8664F8FA55B0}"/>
                  </a:ext>
                </a:extLst>
              </p:cNvPr>
              <p:cNvSpPr txBox="1"/>
              <p:nvPr/>
            </p:nvSpPr>
            <p:spPr>
              <a:xfrm>
                <a:off x="2745011" y="1992328"/>
                <a:ext cx="8784975" cy="845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𝑠𝐾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0.01715</m:t>
                              </m:r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d>
                                <m:d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+0.1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+2.14375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=0.08</m:t>
                      </m:r>
                      <m:r>
                        <a:rPr lang="zh-CN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DB1A704-B21E-0A61-6243-8664F8FA5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011" y="1992328"/>
                <a:ext cx="8784975" cy="8459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1BAC305-8BFD-2289-DFB4-F44C32BBC177}"/>
                  </a:ext>
                </a:extLst>
              </p:cNvPr>
              <p:cNvSpPr txBox="1"/>
              <p:nvPr/>
            </p:nvSpPr>
            <p:spPr>
              <a:xfrm>
                <a:off x="1402257" y="2989379"/>
                <a:ext cx="2400098" cy="78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0.08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1BAC305-8BFD-2289-DFB4-F44C32BBC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257" y="2989379"/>
                <a:ext cx="2400098" cy="783741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箭头 15">
            <a:extLst>
              <a:ext uri="{FF2B5EF4-FFF2-40B4-BE49-F238E27FC236}">
                <a16:creationId xmlns:a16="http://schemas.microsoft.com/office/drawing/2014/main" id="{5A4DDC19-4EA4-AF13-88B8-C41A1B3EE668}"/>
              </a:ext>
            </a:extLst>
          </p:cNvPr>
          <p:cNvSpPr/>
          <p:nvPr/>
        </p:nvSpPr>
        <p:spPr>
          <a:xfrm>
            <a:off x="636996" y="3249669"/>
            <a:ext cx="652205" cy="358661"/>
          </a:xfrm>
          <a:prstGeom prst="rightArrow">
            <a:avLst/>
          </a:prstGeom>
          <a:solidFill>
            <a:srgbClr val="2980B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F8A2D56-E02D-BF00-0293-9E540BD1B32A}"/>
                  </a:ext>
                </a:extLst>
              </p:cNvPr>
              <p:cNvSpPr txBox="1"/>
              <p:nvPr/>
            </p:nvSpPr>
            <p:spPr>
              <a:xfrm>
                <a:off x="504923" y="4167706"/>
                <a:ext cx="53046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稳定的前提下，</a:t>
                </a:r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</m:oMath>
                </a14:m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越大，稳态误差越小</a:t>
                </a: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F8A2D56-E02D-BF00-0293-9E540BD1B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23" y="4167706"/>
                <a:ext cx="5304657" cy="461665"/>
              </a:xfrm>
              <a:prstGeom prst="rect">
                <a:avLst/>
              </a:prstGeom>
              <a:blipFill>
                <a:blip r:embed="rId7"/>
                <a:stretch>
                  <a:fillRect l="-1671" t="-10811" r="-1432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865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单位斜坡响应</a:t>
            </a:r>
          </a:p>
        </p:txBody>
      </p:sp>
      <p:grpSp>
        <p:nvGrpSpPr>
          <p:cNvPr id="28" name="代码框">
            <a:extLst>
              <a:ext uri="{FF2B5EF4-FFF2-40B4-BE49-F238E27FC236}">
                <a16:creationId xmlns:a16="http://schemas.microsoft.com/office/drawing/2014/main" id="{418B0756-A419-E6DB-7CB5-D4BF81BA83C9}"/>
              </a:ext>
            </a:extLst>
          </p:cNvPr>
          <p:cNvGrpSpPr/>
          <p:nvPr/>
        </p:nvGrpSpPr>
        <p:grpSpPr>
          <a:xfrm>
            <a:off x="235858" y="891531"/>
            <a:ext cx="6867460" cy="4706349"/>
            <a:chOff x="2515563" y="3741795"/>
            <a:chExt cx="6867460" cy="4706349"/>
          </a:xfrm>
        </p:grpSpPr>
        <p:sp>
          <p:nvSpPr>
            <p:cNvPr id="29" name="代码">
              <a:extLst>
                <a:ext uri="{FF2B5EF4-FFF2-40B4-BE49-F238E27FC236}">
                  <a16:creationId xmlns:a16="http://schemas.microsoft.com/office/drawing/2014/main" id="{916EF970-D979-3C2A-8B46-8AB1C348939F}"/>
                </a:ext>
              </a:extLst>
            </p:cNvPr>
            <p:cNvSpPr txBox="1"/>
            <p:nvPr/>
          </p:nvSpPr>
          <p:spPr>
            <a:xfrm>
              <a:off x="2515563" y="4101629"/>
              <a:ext cx="6867460" cy="4346515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s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's'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K = 28;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3.43/(s+2.14375);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Phi = K*G1*G2/(1+K*G1*G2);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t = 0:100;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Phi,t,t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plot(t,[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xlabel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时间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seconds)'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幅值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legend({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响应信号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,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输入信号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},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" altLang="zh-CN" b="0" i="0" dirty="0" err="1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Location'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,</a:t>
              </a:r>
              <a:r>
                <a:rPr lang="en" altLang="zh-CN" b="0" i="0" dirty="0" err="1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'best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grid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on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ax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gca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ax.GridLineStyle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"--"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ax.GridLineWidth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2;</a:t>
              </a:r>
              <a:r>
                <a:rPr lang="zh-CN" altLang="en-US" b="0" i="0" dirty="0">
                  <a:effectLst/>
                  <a:latin typeface="Menlo" panose="020B0609030804020204" pitchFamily="49" charset="0"/>
                </a:rPr>
                <a:t>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R2023a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30" name="标题">
              <a:extLst>
                <a:ext uri="{FF2B5EF4-FFF2-40B4-BE49-F238E27FC236}">
                  <a16:creationId xmlns:a16="http://schemas.microsoft.com/office/drawing/2014/main" id="{81357204-EDAA-1BFF-A4DD-BAF13F61739D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3606E3A5-4D3E-44D5-CC05-8E2883FC1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02" y="1178530"/>
            <a:ext cx="5511646" cy="413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93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串联校正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6B745F9-4E3D-CBAF-540F-9A99A3A97B8C}"/>
                  </a:ext>
                </a:extLst>
              </p:cNvPr>
              <p:cNvSpPr txBox="1"/>
              <p:nvPr/>
            </p:nvSpPr>
            <p:spPr>
              <a:xfrm>
                <a:off x="1486694" y="1661608"/>
                <a:ext cx="10873208" cy="869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0.005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+2.14375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+0.1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+2.14375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+0.01715</m:t>
                          </m:r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6B745F9-4E3D-CBAF-540F-9A99A3A97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694" y="1661608"/>
                <a:ext cx="10873208" cy="869533"/>
              </a:xfrm>
              <a:prstGeom prst="rect">
                <a:avLst/>
              </a:prstGeom>
              <a:blipFill>
                <a:blip r:embed="rId3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C96B155C-A415-587B-08F1-EB104A3BAABF}"/>
              </a:ext>
            </a:extLst>
          </p:cNvPr>
          <p:cNvSpPr txBox="1"/>
          <p:nvPr/>
        </p:nvSpPr>
        <p:spPr>
          <a:xfrm>
            <a:off x="190550" y="103792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扰动作用下闭环传函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D4CAE1-D841-CD5D-5A31-214C3861C5FA}"/>
                  </a:ext>
                </a:extLst>
              </p:cNvPr>
              <p:cNvSpPr txBox="1"/>
              <p:nvPr/>
            </p:nvSpPr>
            <p:spPr>
              <a:xfrm>
                <a:off x="3214886" y="2669117"/>
                <a:ext cx="6180880" cy="791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𝑠𝐾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0.625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D4CAE1-D841-CD5D-5A31-214C3861C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886" y="2669117"/>
                <a:ext cx="6180880" cy="791307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BDEB8851-FAD8-80C1-2C40-470974EBA0AA}"/>
              </a:ext>
            </a:extLst>
          </p:cNvPr>
          <p:cNvSpPr txBox="1"/>
          <p:nvPr/>
        </p:nvSpPr>
        <p:spPr>
          <a:xfrm>
            <a:off x="190549" y="285293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阶跃扰动下稳态输出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B98484F-428B-F14F-688F-186D576A030D}"/>
                  </a:ext>
                </a:extLst>
              </p:cNvPr>
              <p:cNvSpPr txBox="1"/>
              <p:nvPr/>
            </p:nvSpPr>
            <p:spPr>
              <a:xfrm>
                <a:off x="190548" y="3624415"/>
                <a:ext cx="13865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</m:oMath>
                </a14:m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取</a:t>
                </a:r>
                <a:r>
                  <a:rPr kumimoji="1" lang="en-US" altLang="zh-CN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28</a:t>
                </a:r>
                <a:r>
                  <a:rPr kumimoji="1" lang="zh-CN" altLang="en-US" sz="24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时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B98484F-428B-F14F-688F-186D576A0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48" y="3624415"/>
                <a:ext cx="1386598" cy="461665"/>
              </a:xfrm>
              <a:prstGeom prst="rect">
                <a:avLst/>
              </a:prstGeom>
              <a:blipFill>
                <a:blip r:embed="rId5"/>
                <a:stretch>
                  <a:fillRect l="-901" t="-10811" r="-5405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27B92A-6F91-4DAF-F46F-230DD2AF2A1B}"/>
                  </a:ext>
                </a:extLst>
              </p:cNvPr>
              <p:cNvSpPr txBox="1"/>
              <p:nvPr/>
            </p:nvSpPr>
            <p:spPr>
              <a:xfrm>
                <a:off x="3718942" y="3624415"/>
                <a:ext cx="28744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d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≤0.0233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27B92A-6F91-4DAF-F46F-230DD2AF2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942" y="3624415"/>
                <a:ext cx="287441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391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单位阶跃扰动响应</a:t>
            </a:r>
          </a:p>
        </p:txBody>
      </p:sp>
      <p:grpSp>
        <p:nvGrpSpPr>
          <p:cNvPr id="28" name="代码框">
            <a:extLst>
              <a:ext uri="{FF2B5EF4-FFF2-40B4-BE49-F238E27FC236}">
                <a16:creationId xmlns:a16="http://schemas.microsoft.com/office/drawing/2014/main" id="{418B0756-A419-E6DB-7CB5-D4BF81BA83C9}"/>
              </a:ext>
            </a:extLst>
          </p:cNvPr>
          <p:cNvGrpSpPr/>
          <p:nvPr/>
        </p:nvGrpSpPr>
        <p:grpSpPr>
          <a:xfrm>
            <a:off x="235858" y="891531"/>
            <a:ext cx="6867460" cy="4706349"/>
            <a:chOff x="2515563" y="3741795"/>
            <a:chExt cx="6867460" cy="4706349"/>
          </a:xfrm>
        </p:grpSpPr>
        <p:sp>
          <p:nvSpPr>
            <p:cNvPr id="29" name="代码">
              <a:extLst>
                <a:ext uri="{FF2B5EF4-FFF2-40B4-BE49-F238E27FC236}">
                  <a16:creationId xmlns:a16="http://schemas.microsoft.com/office/drawing/2014/main" id="{916EF970-D979-3C2A-8B46-8AB1C348939F}"/>
                </a:ext>
              </a:extLst>
            </p:cNvPr>
            <p:cNvSpPr txBox="1"/>
            <p:nvPr/>
          </p:nvSpPr>
          <p:spPr>
            <a:xfrm>
              <a:off x="2515563" y="4101629"/>
              <a:ext cx="6867460" cy="4346515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K = 28;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Phi = 0.005*(s+2.14375)/(s*(s+0.1)*(s+2.14375)+0.01715*K);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 = step(Phi,100);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t,y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hold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on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t,ones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(size(t))*0.0233,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'LineStyle'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,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':'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xlabel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时间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seconds)'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幅值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grid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on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ax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gca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ax.GridLineStyle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"--"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ax.GridLineWidth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2;</a:t>
              </a:r>
              <a:r>
                <a:rPr lang="zh-CN" altLang="en-US" b="0" i="0" dirty="0">
                  <a:effectLst/>
                  <a:latin typeface="Menlo" panose="020B0609030804020204" pitchFamily="49" charset="0"/>
                </a:rPr>
                <a:t>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R2023a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([-0.01,0.1]);</a:t>
              </a:r>
            </a:p>
          </p:txBody>
        </p:sp>
        <p:sp>
          <p:nvSpPr>
            <p:cNvPr id="30" name="标题">
              <a:extLst>
                <a:ext uri="{FF2B5EF4-FFF2-40B4-BE49-F238E27FC236}">
                  <a16:creationId xmlns:a16="http://schemas.microsoft.com/office/drawing/2014/main" id="{81357204-EDAA-1BFF-A4DD-BAF13F61739D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E3ECC6E-386A-4A3D-D681-19A649500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35" y="188640"/>
            <a:ext cx="4486986" cy="33640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52FD67-B70A-6DBE-F6D7-72C4975B3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35" y="3304170"/>
            <a:ext cx="4486920" cy="33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1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开环扰动分析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9A015F-525A-4C77-25DD-534814C82C81}"/>
              </a:ext>
            </a:extLst>
          </p:cNvPr>
          <p:cNvSpPr txBox="1"/>
          <p:nvPr/>
        </p:nvSpPr>
        <p:spPr>
          <a:xfrm>
            <a:off x="6383238" y="294704"/>
            <a:ext cx="4032448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采用等效正弦模拟海浪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28CF5E-AAF4-CC0C-AA5A-AD0FFA291550}"/>
              </a:ext>
            </a:extLst>
          </p:cNvPr>
          <p:cNvSpPr txBox="1"/>
          <p:nvPr/>
        </p:nvSpPr>
        <p:spPr>
          <a:xfrm>
            <a:off x="327932" y="1102127"/>
            <a:ext cx="57672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海浪</a:t>
            </a:r>
            <a:r>
              <a:rPr kumimoji="1" lang="zh-CN" altLang="en-US" sz="24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有义波高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2.5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kumimoji="1" lang="e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时，海浪主要能量集中频段频率为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0.25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～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2.0 </a:t>
            </a:r>
            <a:r>
              <a:rPr kumimoji="1" lang="e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rad/s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D6D6AE-A24A-0724-F857-C45985D21443}"/>
              </a:ext>
            </a:extLst>
          </p:cNvPr>
          <p:cNvSpPr txBox="1"/>
          <p:nvPr/>
        </p:nvSpPr>
        <p:spPr>
          <a:xfrm>
            <a:off x="342134" y="2047765"/>
            <a:ext cx="5767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significant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wave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height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：最高的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1/3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波浪的平均波高。人们在海上目测的波高很接近有义波高。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678E61-07E1-A9D0-583F-EE95A3F0C469}"/>
              </a:ext>
            </a:extLst>
          </p:cNvPr>
          <p:cNvSpPr txBox="1"/>
          <p:nvPr/>
        </p:nvSpPr>
        <p:spPr>
          <a:xfrm>
            <a:off x="306806" y="3429000"/>
            <a:ext cx="51059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选择扰动因素信号频率为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1.6 rad/s</a:t>
            </a: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，即信号周期为</a:t>
            </a:r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kumimoji="1" lang="e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E69C8BD-36B3-2296-DE30-DAB5E4F08007}"/>
                  </a:ext>
                </a:extLst>
              </p:cNvPr>
              <p:cNvSpPr txBox="1"/>
              <p:nvPr/>
            </p:nvSpPr>
            <p:spPr>
              <a:xfrm>
                <a:off x="838622" y="4472066"/>
                <a:ext cx="3350195" cy="794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E69C8BD-36B3-2296-DE30-DAB5E4F08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4472066"/>
                <a:ext cx="3350195" cy="794064"/>
              </a:xfrm>
              <a:prstGeom prst="rect">
                <a:avLst/>
              </a:prstGeom>
              <a:blipFill>
                <a:blip r:embed="rId3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A381FCC7-9323-40F6-D5A4-2CF8FCA1A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029" y="1189034"/>
            <a:ext cx="5492782" cy="41181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68E9AA-F780-8104-C7C9-0D089A51C813}"/>
              </a:ext>
            </a:extLst>
          </p:cNvPr>
          <p:cNvSpPr txBox="1"/>
          <p:nvPr/>
        </p:nvSpPr>
        <p:spPr>
          <a:xfrm>
            <a:off x="7463358" y="5517232"/>
            <a:ext cx="353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开环系统在单位阶跃扰动信号作用下的响应曲线</a:t>
            </a:r>
          </a:p>
        </p:txBody>
      </p:sp>
    </p:spTree>
    <p:extLst>
      <p:ext uri="{BB962C8B-B14F-4D97-AF65-F5344CB8AC3E}">
        <p14:creationId xmlns:p14="http://schemas.microsoft.com/office/powerpoint/2010/main" val="2556150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开环扰动分析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9A015F-525A-4C77-25DD-534814C82C81}"/>
              </a:ext>
            </a:extLst>
          </p:cNvPr>
          <p:cNvSpPr txBox="1"/>
          <p:nvPr/>
        </p:nvSpPr>
        <p:spPr>
          <a:xfrm>
            <a:off x="6383238" y="294704"/>
            <a:ext cx="4032448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采用等效正弦模拟海浪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81FCC7-9323-40F6-D5A4-2CF8FCA1A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29" y="1189034"/>
            <a:ext cx="5492782" cy="41181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068E9AA-F780-8104-C7C9-0D089A51C813}"/>
              </a:ext>
            </a:extLst>
          </p:cNvPr>
          <p:cNvSpPr txBox="1"/>
          <p:nvPr/>
        </p:nvSpPr>
        <p:spPr>
          <a:xfrm>
            <a:off x="7463358" y="5517232"/>
            <a:ext cx="353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开环系统在单位阶跃扰动信号作用下的响应曲线</a:t>
            </a:r>
          </a:p>
        </p:txBody>
      </p:sp>
      <p:grpSp>
        <p:nvGrpSpPr>
          <p:cNvPr id="5" name="代码框">
            <a:extLst>
              <a:ext uri="{FF2B5EF4-FFF2-40B4-BE49-F238E27FC236}">
                <a16:creationId xmlns:a16="http://schemas.microsoft.com/office/drawing/2014/main" id="{8470A537-642B-6736-0331-4E374D0D4E2F}"/>
              </a:ext>
            </a:extLst>
          </p:cNvPr>
          <p:cNvGrpSpPr/>
          <p:nvPr/>
        </p:nvGrpSpPr>
        <p:grpSpPr>
          <a:xfrm>
            <a:off x="235858" y="891531"/>
            <a:ext cx="4851236" cy="3294565"/>
            <a:chOff x="2515563" y="3741795"/>
            <a:chExt cx="4851236" cy="3294565"/>
          </a:xfrm>
        </p:grpSpPr>
        <p:sp>
          <p:nvSpPr>
            <p:cNvPr id="9" name="代码">
              <a:extLst>
                <a:ext uri="{FF2B5EF4-FFF2-40B4-BE49-F238E27FC236}">
                  <a16:creationId xmlns:a16="http://schemas.microsoft.com/office/drawing/2014/main" id="{87A2F1FE-36FD-D7EA-A83E-7AFB8B9E89C6}"/>
                </a:ext>
              </a:extLst>
            </p:cNvPr>
            <p:cNvSpPr txBox="1"/>
            <p:nvPr/>
          </p:nvSpPr>
          <p:spPr>
            <a:xfrm>
              <a:off x="2515563" y="4101629"/>
              <a:ext cx="4851236" cy="2934731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 = step(G2,200);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t,y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xlabel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时间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seconds)'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幅值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grid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on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ax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gca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ax.GridLineStyle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"--"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ax.GridLineWidth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2;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R2023a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0D6BA612-E98C-B23F-9849-CA85C51D8AFC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361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开环扰动分析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49A015F-525A-4C77-25DD-534814C82C81}"/>
              </a:ext>
            </a:extLst>
          </p:cNvPr>
          <p:cNvSpPr txBox="1"/>
          <p:nvPr/>
        </p:nvSpPr>
        <p:spPr>
          <a:xfrm>
            <a:off x="6383238" y="294704"/>
            <a:ext cx="4032448" cy="599123"/>
          </a:xfrm>
          <a:prstGeom prst="roundRect">
            <a:avLst>
              <a:gd name="adj" fmla="val 2266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schemeClr val="bg1"/>
                </a:solidFill>
              </a:rPr>
              <a:t>采用等效正弦模拟海浪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8E9AA-F780-8104-C7C9-0D089A51C813}"/>
              </a:ext>
            </a:extLst>
          </p:cNvPr>
          <p:cNvSpPr txBox="1"/>
          <p:nvPr/>
        </p:nvSpPr>
        <p:spPr>
          <a:xfrm>
            <a:off x="7463358" y="5517232"/>
            <a:ext cx="353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开环系统在等效正弦扰动信号作用下的响应曲线</a:t>
            </a:r>
          </a:p>
        </p:txBody>
      </p:sp>
      <p:grpSp>
        <p:nvGrpSpPr>
          <p:cNvPr id="5" name="代码框">
            <a:extLst>
              <a:ext uri="{FF2B5EF4-FFF2-40B4-BE49-F238E27FC236}">
                <a16:creationId xmlns:a16="http://schemas.microsoft.com/office/drawing/2014/main" id="{8470A537-642B-6736-0331-4E374D0D4E2F}"/>
              </a:ext>
            </a:extLst>
          </p:cNvPr>
          <p:cNvGrpSpPr/>
          <p:nvPr/>
        </p:nvGrpSpPr>
        <p:grpSpPr>
          <a:xfrm>
            <a:off x="235858" y="891531"/>
            <a:ext cx="4851236" cy="3859279"/>
            <a:chOff x="2515563" y="3741795"/>
            <a:chExt cx="4851236" cy="3859279"/>
          </a:xfrm>
        </p:grpSpPr>
        <p:sp>
          <p:nvSpPr>
            <p:cNvPr id="9" name="代码">
              <a:extLst>
                <a:ext uri="{FF2B5EF4-FFF2-40B4-BE49-F238E27FC236}">
                  <a16:creationId xmlns:a16="http://schemas.microsoft.com/office/drawing/2014/main" id="{87A2F1FE-36FD-D7EA-A83E-7AFB8B9E89C6}"/>
                </a:ext>
              </a:extLst>
            </p:cNvPr>
            <p:cNvSpPr txBox="1"/>
            <p:nvPr/>
          </p:nvSpPr>
          <p:spPr>
            <a:xfrm>
              <a:off x="2515563" y="4101629"/>
              <a:ext cx="4851236" cy="3499445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t = 0:200;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 = sin(2*pi/10.*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t+pi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/6);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(G2,u,t);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t,y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xlabel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时间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seconds)'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幅值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grid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on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ax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gca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ax.GridLineStyle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"--"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ax.GridLineWidth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2;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R2023a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0D6BA612-E98C-B23F-9849-CA85C51D8AFC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F6EF406E-5D29-633D-CF58-1A1E4013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49" y="1052736"/>
            <a:ext cx="5349984" cy="40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3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7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976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输入和扰动共同作用下的响应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8E9AA-F780-8104-C7C9-0D089A51C813}"/>
              </a:ext>
            </a:extLst>
          </p:cNvPr>
          <p:cNvSpPr txBox="1"/>
          <p:nvPr/>
        </p:nvSpPr>
        <p:spPr>
          <a:xfrm>
            <a:off x="6691580" y="5613953"/>
            <a:ext cx="49952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单位阶跃输入和等效正弦扰动信号共同作用下的闭环系统响应曲线</a:t>
            </a:r>
          </a:p>
        </p:txBody>
      </p:sp>
      <p:grpSp>
        <p:nvGrpSpPr>
          <p:cNvPr id="5" name="代码框">
            <a:extLst>
              <a:ext uri="{FF2B5EF4-FFF2-40B4-BE49-F238E27FC236}">
                <a16:creationId xmlns:a16="http://schemas.microsoft.com/office/drawing/2014/main" id="{8470A537-642B-6736-0331-4E374D0D4E2F}"/>
              </a:ext>
            </a:extLst>
          </p:cNvPr>
          <p:cNvGrpSpPr/>
          <p:nvPr/>
        </p:nvGrpSpPr>
        <p:grpSpPr>
          <a:xfrm>
            <a:off x="235858" y="891531"/>
            <a:ext cx="4851236" cy="5553419"/>
            <a:chOff x="2515563" y="3741795"/>
            <a:chExt cx="4851236" cy="5553419"/>
          </a:xfrm>
        </p:grpSpPr>
        <p:sp>
          <p:nvSpPr>
            <p:cNvPr id="9" name="代码">
              <a:extLst>
                <a:ext uri="{FF2B5EF4-FFF2-40B4-BE49-F238E27FC236}">
                  <a16:creationId xmlns:a16="http://schemas.microsoft.com/office/drawing/2014/main" id="{87A2F1FE-36FD-D7EA-A83E-7AFB8B9E89C6}"/>
                </a:ext>
              </a:extLst>
            </p:cNvPr>
            <p:cNvSpPr txBox="1"/>
            <p:nvPr/>
          </p:nvSpPr>
          <p:spPr>
            <a:xfrm>
              <a:off x="2515563" y="4101629"/>
              <a:ext cx="4851236" cy="5193585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K = 28;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3.43/(s+2.14375);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PhiR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K*G1*G2/(1+K*G1*G2);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PhiN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G2/(1+K*G1*G2);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t = 0:200;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 = 1*ones(size(t));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[y1,t]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PhiR,u,t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 = sin(2*pi/10.*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t+pi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/6);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[y2,t]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PhiN,u,t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plot(t,y1+y2);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xlabel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时间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seconds)'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幅值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grid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on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ax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gca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ax.GridLineStyle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"--"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ax.GridLineWidth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2;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R2023a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0D6BA612-E98C-B23F-9849-CA85C51D8AFC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E166722-96C5-FEA1-F4CF-D62C5BFE2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08" y="926479"/>
            <a:ext cx="6169798" cy="462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46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直角转向性能（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=28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r="-879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D192DD72-CE1C-0F84-FCF9-BB51A218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38" y="1268760"/>
            <a:ext cx="10422359" cy="49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3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直角转向性能（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=10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r="-879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59A81DEF-7E34-62EC-D895-C1ADDB055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44" y="1196752"/>
            <a:ext cx="10551980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3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直角转向性能（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r="-208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09EACD47-3A3F-32B2-3680-7C263143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20" y="1196752"/>
            <a:ext cx="10437571" cy="49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96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直角转向性能（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r="-208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275DD1ED-2BB9-6198-025E-C1CD33B99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43" y="1268760"/>
            <a:ext cx="10246125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81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976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直角转向性能</a:t>
            </a:r>
          </a:p>
        </p:txBody>
      </p:sp>
      <p:grpSp>
        <p:nvGrpSpPr>
          <p:cNvPr id="5" name="代码框">
            <a:extLst>
              <a:ext uri="{FF2B5EF4-FFF2-40B4-BE49-F238E27FC236}">
                <a16:creationId xmlns:a16="http://schemas.microsoft.com/office/drawing/2014/main" id="{8470A537-642B-6736-0331-4E374D0D4E2F}"/>
              </a:ext>
            </a:extLst>
          </p:cNvPr>
          <p:cNvGrpSpPr/>
          <p:nvPr/>
        </p:nvGrpSpPr>
        <p:grpSpPr>
          <a:xfrm>
            <a:off x="235858" y="891531"/>
            <a:ext cx="4851236" cy="5835776"/>
            <a:chOff x="2515563" y="3741795"/>
            <a:chExt cx="4851236" cy="5835776"/>
          </a:xfrm>
        </p:grpSpPr>
        <p:sp>
          <p:nvSpPr>
            <p:cNvPr id="9" name="代码">
              <a:extLst>
                <a:ext uri="{FF2B5EF4-FFF2-40B4-BE49-F238E27FC236}">
                  <a16:creationId xmlns:a16="http://schemas.microsoft.com/office/drawing/2014/main" id="{87A2F1FE-36FD-D7EA-A83E-7AFB8B9E89C6}"/>
                </a:ext>
              </a:extLst>
            </p:cNvPr>
            <p:cNvSpPr txBox="1"/>
            <p:nvPr/>
          </p:nvSpPr>
          <p:spPr>
            <a:xfrm>
              <a:off x="2515563" y="4101629"/>
              <a:ext cx="4851236" cy="5475942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K = 1;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V = 15/3600;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Knots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dt = 0.1;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Time interval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3.43/(s+2.14375);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PhiR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K*G1*G2/(1+K*G1*G2);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PhiN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G2/(1+K*G1*G2);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t = 0:dt:60;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 = 90*ones(size(t));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[y1,t]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PhiR,u,t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 = sin(2*pi/10.*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t+pi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/6);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[y2,t]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PhiN,u,t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y = y1 + y2;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tiledlayout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(1,2);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fig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fig.Position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[75,349,892,420];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nexttile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plot(t,y1+y2);</a:t>
              </a:r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0D6BA612-E98C-B23F-9849-CA85C51D8AFC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2" name="代码">
            <a:extLst>
              <a:ext uri="{FF2B5EF4-FFF2-40B4-BE49-F238E27FC236}">
                <a16:creationId xmlns:a16="http://schemas.microsoft.com/office/drawing/2014/main" id="{43459C09-588A-11A4-03E7-0CA8C2A86490}"/>
              </a:ext>
            </a:extLst>
          </p:cNvPr>
          <p:cNvSpPr txBox="1"/>
          <p:nvPr/>
        </p:nvSpPr>
        <p:spPr>
          <a:xfrm>
            <a:off x="5951190" y="969009"/>
            <a:ext cx="4851236" cy="5758298"/>
          </a:xfrm>
          <a:prstGeom prst="roundRect">
            <a:avLst>
              <a:gd name="adj" fmla="val 4505"/>
            </a:avLst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108000" bIns="0" rtlCol="0">
            <a:spAutoFit/>
          </a:bodyPr>
          <a:lstStyle/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时间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seconds)'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ylabel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幅值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grid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gca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ax.GridLineStyle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"--"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nexttile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x0 = [0,0];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[V*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cosd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(y),V*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sind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(y)]*dt;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 = x0 +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cumsum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plot(x(:,1),x(:,2));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hold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plot(x0(1),x0(2),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'Marker'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'+'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'MarkerSize'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,18);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东西方向（海里）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ylabel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南北方向（海里）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axis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equal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grid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gca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ax.GridLineStyle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"--"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ax.GridLineWidth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2; </a:t>
            </a:r>
            <a:r>
              <a:rPr lang="en" altLang="zh-CN" b="0" i="0" dirty="0">
                <a:solidFill>
                  <a:srgbClr val="028009"/>
                </a:solidFill>
                <a:effectLst/>
                <a:latin typeface="Menlo" panose="020B0609030804020204" pitchFamily="49" charset="0"/>
              </a:rPr>
              <a:t>% R2023a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842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回转性能（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=28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837F183E-7FE3-2458-03D4-78543BEA8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26" y="1340768"/>
            <a:ext cx="10446647" cy="491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9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回转性能（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=10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23F44F71-1FF7-C298-D535-E99A017EB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98" y="1196752"/>
            <a:ext cx="10592766" cy="49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05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回转性能（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BC1BE71F-E98F-1AA9-3CE9-368E61A71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07" y="1340768"/>
            <a:ext cx="10552259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8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回转性能（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50703D0-2DCE-3C54-2B1E-0D79B718F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42" y="1268760"/>
            <a:ext cx="1070519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9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976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回转性能</a:t>
            </a:r>
          </a:p>
        </p:txBody>
      </p:sp>
      <p:grpSp>
        <p:nvGrpSpPr>
          <p:cNvPr id="5" name="代码框">
            <a:extLst>
              <a:ext uri="{FF2B5EF4-FFF2-40B4-BE49-F238E27FC236}">
                <a16:creationId xmlns:a16="http://schemas.microsoft.com/office/drawing/2014/main" id="{8470A537-642B-6736-0331-4E374D0D4E2F}"/>
              </a:ext>
            </a:extLst>
          </p:cNvPr>
          <p:cNvGrpSpPr/>
          <p:nvPr/>
        </p:nvGrpSpPr>
        <p:grpSpPr>
          <a:xfrm>
            <a:off x="235858" y="891531"/>
            <a:ext cx="4851236" cy="5835776"/>
            <a:chOff x="2515563" y="3741795"/>
            <a:chExt cx="4851236" cy="5835776"/>
          </a:xfrm>
        </p:grpSpPr>
        <p:sp>
          <p:nvSpPr>
            <p:cNvPr id="9" name="代码">
              <a:extLst>
                <a:ext uri="{FF2B5EF4-FFF2-40B4-BE49-F238E27FC236}">
                  <a16:creationId xmlns:a16="http://schemas.microsoft.com/office/drawing/2014/main" id="{87A2F1FE-36FD-D7EA-A83E-7AFB8B9E89C6}"/>
                </a:ext>
              </a:extLst>
            </p:cNvPr>
            <p:cNvSpPr txBox="1"/>
            <p:nvPr/>
          </p:nvSpPr>
          <p:spPr>
            <a:xfrm>
              <a:off x="2515563" y="4101629"/>
              <a:ext cx="4851236" cy="5475942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close 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all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V = 15/3600;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Knots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K = 28;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3.43/(s+2.14375);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Phi = feedback(K*G1*G2,1);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dt = 0.1;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t = 0:dt:60;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 = t'*6;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Phi,u,t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x0 = [0,0];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tiledlayout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(1,2);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fig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fig.Position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[75,349,892,420];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nexttile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plot(t,[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y,u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]);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xlabel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时间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seconds)'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ylabel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zh-CN" altLang="en-US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幅值</a:t>
              </a:r>
              <a:r>
                <a:rPr lang="en-US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</a:t>
              </a:r>
              <a:r>
                <a:rPr lang="en-US" altLang="zh-CN" b="0" i="0" dirty="0">
                  <a:effectLst/>
                  <a:latin typeface="Menlo" panose="020B0609030804020204" pitchFamily="49" charset="0"/>
                </a:rPr>
                <a:t>);</a:t>
              </a:r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0D6BA612-E98C-B23F-9849-CA85C51D8AFC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2" name="代码">
            <a:extLst>
              <a:ext uri="{FF2B5EF4-FFF2-40B4-BE49-F238E27FC236}">
                <a16:creationId xmlns:a16="http://schemas.microsoft.com/office/drawing/2014/main" id="{43459C09-588A-11A4-03E7-0CA8C2A86490}"/>
              </a:ext>
            </a:extLst>
          </p:cNvPr>
          <p:cNvSpPr txBox="1"/>
          <p:nvPr/>
        </p:nvSpPr>
        <p:spPr>
          <a:xfrm>
            <a:off x="6066963" y="116632"/>
            <a:ext cx="4851236" cy="7102055"/>
          </a:xfrm>
          <a:prstGeom prst="roundRect">
            <a:avLst>
              <a:gd name="adj" fmla="val 4505"/>
            </a:avLst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108000" bIns="0" rtlCol="0">
            <a:spAutoFit/>
          </a:bodyPr>
          <a:lstStyle/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grid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gca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ax.GridLineStyle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"--"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legend({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航向响应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给定航向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},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b="0" i="0" dirty="0" err="1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Location'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 err="1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'best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nexttile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[V*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cosd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(y),V*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sind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(y)]*dt;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 = x0 +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cumsum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plot(x(:,1),x(:,2));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hold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[V*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cosd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(u),V*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sind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(u)]*dt;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 = x0 +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cumsum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plot(x(:,1),x(:,2));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plot(x0(1),x0(2),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'Marker'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'+'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'MarkerSize'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,18);</a:t>
            </a:r>
          </a:p>
          <a:p>
            <a:r>
              <a:rPr lang="en" altLang="zh-CN" b="0" i="0" dirty="0">
                <a:solidFill>
                  <a:srgbClr val="028009"/>
                </a:solidFill>
                <a:effectLst/>
                <a:latin typeface="Menlo" panose="020B0609030804020204" pitchFamily="49" charset="0"/>
              </a:rPr>
              <a:t>% patch([1,1.1,1.1,1]-0.85,[0.05,0.05,-0.05,-0.05],'b');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东西方向（海里）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ylabel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南北方向（海里）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axis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equal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grid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gca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ax.GridLineStyle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"--"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38498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避障性能（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=28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44498CC-C12B-2253-BFB9-1B8037512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686" y="1484784"/>
            <a:ext cx="9996612" cy="470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避障性能（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=10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4AE5E0D8-9F08-8D04-86A5-CA3BB7411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18" y="1340768"/>
            <a:ext cx="10032975" cy="472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5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避障性能（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5C44805-1900-D30D-DB42-0847EB3BB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662" y="1268760"/>
            <a:ext cx="10491756" cy="494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90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避障性能（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𝑲</m:t>
                    </m:r>
                  </m:oMath>
                </a14:m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V=15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节）</a:t>
                </a:r>
              </a:p>
            </p:txBody>
          </p:sp>
        </mc:Choice>
        <mc:Fallback xmlns="">
          <p:sp>
            <p:nvSpPr>
              <p:cNvPr id="45" name="TextBox 3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2656"/>
                <a:ext cx="5472608" cy="523220"/>
              </a:xfrm>
              <a:prstGeom prst="rect">
                <a:avLst/>
              </a:prstGeom>
              <a:blipFill>
                <a:blip r:embed="rId3"/>
                <a:stretch>
                  <a:fillRect l="-2315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4F57B18D-EF81-AB1B-FFAF-6FE1C2B82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64" y="1268760"/>
            <a:ext cx="10644684" cy="501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16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976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避障性能</a:t>
            </a:r>
          </a:p>
        </p:txBody>
      </p:sp>
      <p:grpSp>
        <p:nvGrpSpPr>
          <p:cNvPr id="5" name="代码框">
            <a:extLst>
              <a:ext uri="{FF2B5EF4-FFF2-40B4-BE49-F238E27FC236}">
                <a16:creationId xmlns:a16="http://schemas.microsoft.com/office/drawing/2014/main" id="{8470A537-642B-6736-0331-4E374D0D4E2F}"/>
              </a:ext>
            </a:extLst>
          </p:cNvPr>
          <p:cNvGrpSpPr/>
          <p:nvPr/>
        </p:nvGrpSpPr>
        <p:grpSpPr>
          <a:xfrm>
            <a:off x="235858" y="891531"/>
            <a:ext cx="4851236" cy="5835776"/>
            <a:chOff x="2515563" y="3741795"/>
            <a:chExt cx="4851236" cy="5835776"/>
          </a:xfrm>
        </p:grpSpPr>
        <p:sp>
          <p:nvSpPr>
            <p:cNvPr id="9" name="代码">
              <a:extLst>
                <a:ext uri="{FF2B5EF4-FFF2-40B4-BE49-F238E27FC236}">
                  <a16:creationId xmlns:a16="http://schemas.microsoft.com/office/drawing/2014/main" id="{87A2F1FE-36FD-D7EA-A83E-7AFB8B9E89C6}"/>
                </a:ext>
              </a:extLst>
            </p:cNvPr>
            <p:cNvSpPr txBox="1"/>
            <p:nvPr/>
          </p:nvSpPr>
          <p:spPr>
            <a:xfrm>
              <a:off x="2515563" y="4101629"/>
              <a:ext cx="4851236" cy="5475942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K = 1;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V = 15/3600;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Knots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dt = 0.1;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Time interval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3.43/(s+2.14375);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0.005/(s*(s+0.1));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PhiR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K*G1*G2/(1+K*G1*G2);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PhiN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G2/(1+K*G1*G2);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t = 0:dt:100;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u1 = zeros(size(t))';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u1(101:450) = 45;</a:t>
              </a:r>
            </a:p>
            <a:p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u1(301:end) = -45;</a:t>
              </a:r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[y1,t]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(PhiR,u1,t);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u2 = sin(2*pi/10.*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t+pi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/6);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[y2,t]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lsim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(PhiN,u2,t);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y = y1 + y2;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tiledlayout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(1,2);</a:t>
              </a: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fig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gcf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fig.Position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 = [75,349,892,420];</a:t>
              </a:r>
            </a:p>
          </p:txBody>
        </p:sp>
        <p:sp>
          <p:nvSpPr>
            <p:cNvPr id="10" name="标题">
              <a:extLst>
                <a:ext uri="{FF2B5EF4-FFF2-40B4-BE49-F238E27FC236}">
                  <a16:creationId xmlns:a16="http://schemas.microsoft.com/office/drawing/2014/main" id="{0D6BA612-E98C-B23F-9849-CA85C51D8AFC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sp>
        <p:nvSpPr>
          <p:cNvPr id="2" name="代码">
            <a:extLst>
              <a:ext uri="{FF2B5EF4-FFF2-40B4-BE49-F238E27FC236}">
                <a16:creationId xmlns:a16="http://schemas.microsoft.com/office/drawing/2014/main" id="{43459C09-588A-11A4-03E7-0CA8C2A86490}"/>
              </a:ext>
            </a:extLst>
          </p:cNvPr>
          <p:cNvSpPr txBox="1"/>
          <p:nvPr/>
        </p:nvSpPr>
        <p:spPr>
          <a:xfrm>
            <a:off x="6066963" y="116632"/>
            <a:ext cx="4851236" cy="7102055"/>
          </a:xfrm>
          <a:prstGeom prst="roundRect">
            <a:avLst>
              <a:gd name="adj" fmla="val 4505"/>
            </a:avLst>
          </a:prstGeom>
          <a:noFill/>
          <a:ln>
            <a:solidFill>
              <a:srgbClr val="E44860"/>
            </a:solidFill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tIns="108000" bIns="0" rtlCol="0">
            <a:spAutoFit/>
          </a:bodyPr>
          <a:lstStyle/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nexttile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plot(t,[y,u1]);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时间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seconds)'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ylabel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幅值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grid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gca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ax.GridLineStyle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"--"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nexttile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x0 = [0,0];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[V*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cosd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(y),V*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sind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(y)]*dt;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x = x0 +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cumsum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xd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plot(x(:,1),x(:,2));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hold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plot(x0(1),x0(2),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'Marker'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'+'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'MarkerSize'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,18);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patch([1,1.1,1.1,1]-0.85,[0.05,0.05,-0.05,-0.05],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'b'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xlabel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东西方向（海里）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ylabel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(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南北方向（海里）</a:t>
            </a:r>
            <a:r>
              <a:rPr lang="en-US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altLang="zh-CN" b="0" i="0" dirty="0"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axis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equal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grid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on</a:t>
            </a:r>
            <a:endParaRPr lang="en" altLang="zh-CN" b="0" i="0" dirty="0">
              <a:effectLst/>
              <a:latin typeface="Menlo" panose="020B0609030804020204" pitchFamily="49" charset="0"/>
            </a:endParaRPr>
          </a:p>
          <a:p>
            <a:r>
              <a:rPr lang="en" altLang="zh-CN" b="0" i="0" dirty="0">
                <a:effectLst/>
                <a:latin typeface="Menlo" panose="020B0609030804020204" pitchFamily="49" charset="0"/>
              </a:rPr>
              <a:t>ax = </a:t>
            </a:r>
            <a:r>
              <a:rPr lang="en" altLang="zh-CN" b="0" i="0" dirty="0" err="1">
                <a:effectLst/>
                <a:latin typeface="Menlo" panose="020B0609030804020204" pitchFamily="49" charset="0"/>
              </a:rPr>
              <a:t>gca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" altLang="zh-CN" b="0" i="0" dirty="0" err="1">
                <a:effectLst/>
                <a:latin typeface="Menlo" panose="020B0609030804020204" pitchFamily="49" charset="0"/>
              </a:rPr>
              <a:t>ax.GridLineStyle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 = </a:t>
            </a:r>
            <a:r>
              <a:rPr lang="en" altLang="zh-CN" b="0" i="0" dirty="0">
                <a:solidFill>
                  <a:srgbClr val="AA04F9"/>
                </a:solidFill>
                <a:effectLst/>
                <a:latin typeface="Menlo" panose="020B0609030804020204" pitchFamily="49" charset="0"/>
              </a:rPr>
              <a:t>"--"</a:t>
            </a:r>
            <a:r>
              <a:rPr lang="en" altLang="zh-CN" b="0" i="0" dirty="0"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12530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3658172" cy="725177"/>
            <a:chOff x="4943078" y="1700704"/>
            <a:chExt cx="3658172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3098432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比例微分校正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3658172" cy="725177"/>
            <a:chOff x="4943078" y="1700704"/>
            <a:chExt cx="3658172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3183560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输出反馈校正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3670343" cy="725177"/>
            <a:chOff x="4943078" y="1700704"/>
            <a:chExt cx="3670343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3153561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按扰动补偿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3658171" cy="725177"/>
            <a:chOff x="4943078" y="1700704"/>
            <a:chExt cx="3658171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3183560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前馈补偿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4222998" y="1056897"/>
            <a:ext cx="6624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增大阻尼，增加零点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4222998" y="1880312"/>
            <a:ext cx="6624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增大阻尼，不增加零点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4222858" y="2703727"/>
            <a:ext cx="6624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微分时间常数影响稳态误差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4222857" y="3414329"/>
            <a:ext cx="6624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可有效提高稳态精度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因地制宜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殊途同归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5110600" cy="1142595"/>
            <a:chOff x="5348307" y="5538470"/>
            <a:chExt cx="5110600" cy="1142595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6264" y="5726958"/>
              <a:ext cx="415264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试分析比例微分控制中比例增益对系统性能的影响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">
                  <a:extLst>
                    <a:ext uri="{FF2B5EF4-FFF2-40B4-BE49-F238E27FC236}">
                      <a16:creationId xmlns:a16="http://schemas.microsoft.com/office/drawing/2014/main" id="{68096BCF-DEFA-1880-5BBB-61F51FEEEE7E}"/>
                    </a:ext>
                  </a:extLst>
                </p:cNvPr>
                <p:cNvSpPr txBox="1"/>
                <p:nvPr/>
              </p:nvSpPr>
              <p:spPr>
                <a:xfrm>
                  <a:off x="6307597" y="5538470"/>
                  <a:ext cx="5235375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选择合适的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𝐾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𝑑</m:t>
                          </m:r>
                        </m:sub>
                      </m:sSub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使得此系统综合性能指标较好。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" name="文本">
                  <a:extLst>
                    <a:ext uri="{FF2B5EF4-FFF2-40B4-BE49-F238E27FC236}">
                      <a16:creationId xmlns:a16="http://schemas.microsoft.com/office/drawing/2014/main" id="{68096BCF-DEFA-1880-5BBB-61F51FEEE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7597" y="5538470"/>
                  <a:ext cx="5235375" cy="954107"/>
                </a:xfrm>
                <a:prstGeom prst="rect">
                  <a:avLst/>
                </a:prstGeom>
                <a:blipFill>
                  <a:blip r:embed="rId3"/>
                  <a:stretch>
                    <a:fillRect l="-2427" t="-6579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CE3EA84-1866-5BC5-928B-30C7B139FBA6}"/>
              </a:ext>
            </a:extLst>
          </p:cNvPr>
          <p:cNvGrpSpPr/>
          <p:nvPr/>
        </p:nvGrpSpPr>
        <p:grpSpPr>
          <a:xfrm>
            <a:off x="5735166" y="1508900"/>
            <a:ext cx="5950374" cy="1410493"/>
            <a:chOff x="6235915" y="423690"/>
            <a:chExt cx="5950374" cy="14104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8BB89BBB-DAD7-B564-FE7A-47E885979261}"/>
                    </a:ext>
                  </a:extLst>
                </p:cNvPr>
                <p:cNvSpPr/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ctr"/>
                <a:lstStyle/>
                <a:p>
                  <a:pPr algn="ctr"/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r>
                    <a:rPr kumimoji="1" lang="zh-CN" altLang="en-US" sz="28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56C05BF0-1BED-4426-80EB-9A719F9DEC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4536" y="586910"/>
                  <a:ext cx="1614136" cy="720000"/>
                </a:xfrm>
                <a:prstGeom prst="rect">
                  <a:avLst/>
                </a:prstGeom>
                <a:blipFill>
                  <a:blip r:embed="rId4"/>
                  <a:stretch>
                    <a:fillRect b="-11864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1直线箭头连接符3">
              <a:extLst>
                <a:ext uri="{FF2B5EF4-FFF2-40B4-BE49-F238E27FC236}">
                  <a16:creationId xmlns:a16="http://schemas.microsoft.com/office/drawing/2014/main" id="{ADFDED28-8BE0-C84B-84AA-216D1201E5E8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6426328" y="946910"/>
              <a:ext cx="59844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920E15E3-2375-8EA7-54E3-9F4964477A5D}"/>
                    </a:ext>
                  </a:extLst>
                </p:cNvPr>
                <p:cNvSpPr txBox="1"/>
                <p:nvPr/>
              </p:nvSpPr>
              <p:spPr>
                <a:xfrm>
                  <a:off x="6235915" y="425644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3AE8E295-7444-6399-BE41-97601F7D05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915" y="425644"/>
                  <a:ext cx="936104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1直线箭头连接符3">
              <a:extLst>
                <a:ext uri="{FF2B5EF4-FFF2-40B4-BE49-F238E27FC236}">
                  <a16:creationId xmlns:a16="http://schemas.microsoft.com/office/drawing/2014/main" id="{66041928-2931-B6E2-E963-4DA9517D8A40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1108672" y="946910"/>
              <a:ext cx="107761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CD85FB1A-388B-260D-7D1B-B3ADD55BA9FB}"/>
                    </a:ext>
                  </a:extLst>
                </p:cNvPr>
                <p:cNvSpPr txBox="1"/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5FEAADC-FC07-B1C7-CB06-F4C7A5347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8672" y="427797"/>
                  <a:ext cx="93610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8DFFA9E-0D12-8865-970B-EAD46500455E}"/>
                </a:ext>
              </a:extLst>
            </p:cNvPr>
            <p:cNvSpPr/>
            <p:nvPr/>
          </p:nvSpPr>
          <p:spPr>
            <a:xfrm>
              <a:off x="7024769" y="802910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1Ui">
                  <a:extLst>
                    <a:ext uri="{FF2B5EF4-FFF2-40B4-BE49-F238E27FC236}">
                      <a16:creationId xmlns:a16="http://schemas.microsoft.com/office/drawing/2014/main" id="{E7AA867D-1E27-B58E-9ADB-9287537F3C2B}"/>
                    </a:ext>
                  </a:extLst>
                </p:cNvPr>
                <p:cNvSpPr txBox="1"/>
                <p:nvPr/>
              </p:nvSpPr>
              <p:spPr>
                <a:xfrm>
                  <a:off x="6758350" y="906459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1Ui">
                  <a:extLst>
                    <a:ext uri="{FF2B5EF4-FFF2-40B4-BE49-F238E27FC236}">
                      <a16:creationId xmlns:a16="http://schemas.microsoft.com/office/drawing/2014/main" id="{475D9CDB-412A-B932-5D7E-8BB424F8F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350" y="906459"/>
                  <a:ext cx="244144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40000" r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4肘形连接符">
              <a:extLst>
                <a:ext uri="{FF2B5EF4-FFF2-40B4-BE49-F238E27FC236}">
                  <a16:creationId xmlns:a16="http://schemas.microsoft.com/office/drawing/2014/main" id="{3A4F7955-7D4C-9F1A-6B59-96B804703B38}"/>
                </a:ext>
              </a:extLst>
            </p:cNvPr>
            <p:cNvCxnSpPr>
              <a:cxnSpLocks/>
              <a:stCxn id="15" idx="2"/>
              <a:endCxn id="16" idx="4"/>
            </p:cNvCxnSpPr>
            <p:nvPr/>
          </p:nvCxnSpPr>
          <p:spPr>
            <a:xfrm rot="5400000">
              <a:off x="9302801" y="-1183014"/>
              <a:ext cx="139893" cy="4407955"/>
            </a:xfrm>
            <a:prstGeom prst="bentConnector3">
              <a:avLst>
                <a:gd name="adj1" fmla="val 70864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直线箭头连接符3">
              <a:extLst>
                <a:ext uri="{FF2B5EF4-FFF2-40B4-BE49-F238E27FC236}">
                  <a16:creationId xmlns:a16="http://schemas.microsoft.com/office/drawing/2014/main" id="{DD737A85-C433-45EC-0277-D055BD8F94EE}"/>
                </a:ext>
              </a:extLst>
            </p:cNvPr>
            <p:cNvCxnSpPr>
              <a:cxnSpLocks/>
              <a:stCxn id="16" idx="6"/>
              <a:endCxn id="22" idx="1"/>
            </p:cNvCxnSpPr>
            <p:nvPr/>
          </p:nvCxnSpPr>
          <p:spPr>
            <a:xfrm>
              <a:off x="7312769" y="946910"/>
              <a:ext cx="843775" cy="205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F0B8DDE2-423D-0714-7037-24B5A35E54E9}"/>
                    </a:ext>
                  </a:extLst>
                </p:cNvPr>
                <p:cNvSpPr/>
                <p:nvPr/>
              </p:nvSpPr>
              <p:spPr>
                <a:xfrm>
                  <a:off x="7976424" y="1330184"/>
                  <a:ext cx="900000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99C592B3-C500-E065-6658-E80B8DA2C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424" y="1330184"/>
                  <a:ext cx="900000" cy="503999"/>
                </a:xfrm>
                <a:prstGeom prst="rect">
                  <a:avLst/>
                </a:prstGeom>
                <a:blipFill>
                  <a:blip r:embed="rId8"/>
                  <a:stretch>
                    <a:fillRect b="-2326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31B573-14B0-7170-375B-D1E0CA1E9C8E}"/>
                    </a:ext>
                  </a:extLst>
                </p:cNvPr>
                <p:cNvSpPr txBox="1"/>
                <p:nvPr/>
              </p:nvSpPr>
              <p:spPr>
                <a:xfrm>
                  <a:off x="7257975" y="423690"/>
                  <a:ext cx="93610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800" b="0" i="1" smtClean="0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solidFill>
                                  <a:srgbClr val="E448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zh-CN" altLang="en-US" sz="2800" dirty="0">
                    <a:solidFill>
                      <a:srgbClr val="E4486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CAE8739-A05D-6770-4712-AD1E67367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7975" y="423690"/>
                  <a:ext cx="936104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7EE69F8-B60D-5374-2481-0846740E6A7E}"/>
                    </a:ext>
                  </a:extLst>
                </p:cNvPr>
                <p:cNvSpPr/>
                <p:nvPr/>
              </p:nvSpPr>
              <p:spPr>
                <a:xfrm>
                  <a:off x="8156544" y="696964"/>
                  <a:ext cx="400317" cy="50399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57EE69F8-B60D-5374-2481-0846740E6A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544" y="696964"/>
                  <a:ext cx="400317" cy="503999"/>
                </a:xfrm>
                <a:prstGeom prst="rect">
                  <a:avLst/>
                </a:prstGeom>
                <a:blipFill>
                  <a:blip r:embed="rId10"/>
                  <a:stretch>
                    <a:fillRect l="-11429" r="-2857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30BE159-1FAE-5E51-6DD9-2F1792DB6B1A}"/>
                </a:ext>
              </a:extLst>
            </p:cNvPr>
            <p:cNvSpPr/>
            <p:nvPr/>
          </p:nvSpPr>
          <p:spPr>
            <a:xfrm>
              <a:off x="8864442" y="803633"/>
              <a:ext cx="288000" cy="288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24" name="1直线箭头连接符3">
              <a:extLst>
                <a:ext uri="{FF2B5EF4-FFF2-40B4-BE49-F238E27FC236}">
                  <a16:creationId xmlns:a16="http://schemas.microsoft.com/office/drawing/2014/main" id="{0985D216-9672-70B1-BFFE-F41B41871C95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flipV="1">
              <a:off x="9152442" y="946910"/>
              <a:ext cx="342094" cy="72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1直线箭头连接符3">
              <a:extLst>
                <a:ext uri="{FF2B5EF4-FFF2-40B4-BE49-F238E27FC236}">
                  <a16:creationId xmlns:a16="http://schemas.microsoft.com/office/drawing/2014/main" id="{6C42ED4C-059B-95B7-5468-C3CA433F0D23}"/>
                </a:ext>
              </a:extLst>
            </p:cNvPr>
            <p:cNvCxnSpPr>
              <a:cxnSpLocks/>
              <a:stCxn id="22" idx="3"/>
              <a:endCxn id="23" idx="2"/>
            </p:cNvCxnSpPr>
            <p:nvPr/>
          </p:nvCxnSpPr>
          <p:spPr>
            <a:xfrm flipV="1">
              <a:off x="8556861" y="947633"/>
              <a:ext cx="307581" cy="1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4肘形连接符">
              <a:extLst>
                <a:ext uri="{FF2B5EF4-FFF2-40B4-BE49-F238E27FC236}">
                  <a16:creationId xmlns:a16="http://schemas.microsoft.com/office/drawing/2014/main" id="{A4818240-844A-2A5B-FA62-45080B05E7E6}"/>
                </a:ext>
              </a:extLst>
            </p:cNvPr>
            <p:cNvCxnSpPr>
              <a:cxnSpLocks/>
              <a:stCxn id="21" idx="2"/>
              <a:endCxn id="20" idx="1"/>
            </p:cNvCxnSpPr>
            <p:nvPr/>
          </p:nvCxnSpPr>
          <p:spPr>
            <a:xfrm rot="16200000" flipH="1">
              <a:off x="7533588" y="1139348"/>
              <a:ext cx="635274" cy="250397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4肘形连接符">
              <a:extLst>
                <a:ext uri="{FF2B5EF4-FFF2-40B4-BE49-F238E27FC236}">
                  <a16:creationId xmlns:a16="http://schemas.microsoft.com/office/drawing/2014/main" id="{05FC6DE9-80C6-92E9-853B-2A8296132046}"/>
                </a:ext>
              </a:extLst>
            </p:cNvPr>
            <p:cNvCxnSpPr>
              <a:cxnSpLocks/>
              <a:stCxn id="20" idx="3"/>
              <a:endCxn id="23" idx="4"/>
            </p:cNvCxnSpPr>
            <p:nvPr/>
          </p:nvCxnSpPr>
          <p:spPr>
            <a:xfrm flipV="1">
              <a:off x="8876424" y="1091633"/>
              <a:ext cx="132018" cy="49055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1Ui">
                  <a:extLst>
                    <a:ext uri="{FF2B5EF4-FFF2-40B4-BE49-F238E27FC236}">
                      <a16:creationId xmlns:a16="http://schemas.microsoft.com/office/drawing/2014/main" id="{5E5AA452-DD49-6618-39E0-4517ECC38C24}"/>
                    </a:ext>
                  </a:extLst>
                </p:cNvPr>
                <p:cNvSpPr txBox="1"/>
                <p:nvPr/>
              </p:nvSpPr>
              <p:spPr>
                <a:xfrm>
                  <a:off x="8699506" y="883070"/>
                  <a:ext cx="24414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1Ui">
                  <a:extLst>
                    <a:ext uri="{FF2B5EF4-FFF2-40B4-BE49-F238E27FC236}">
                      <a16:creationId xmlns:a16="http://schemas.microsoft.com/office/drawing/2014/main" id="{7DB097F0-99CC-B038-D2FD-70503602A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9506" y="883070"/>
                  <a:ext cx="244144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65000" r="-3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Mosconi, D., Silva, M. M., &amp; Siqueira, A. A. G. (2021). Optimal tuning of a proportional controller for DC motor position control via Fibonacci Search Method. Journal of Mechatronics Engineering, 4(1), 12-21.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426D03C-BBE9-8DAC-0521-98526A9F9A6A}"/>
              </a:ext>
            </a:extLst>
          </p:cNvPr>
          <p:cNvGrpSpPr/>
          <p:nvPr/>
        </p:nvGrpSpPr>
        <p:grpSpPr>
          <a:xfrm>
            <a:off x="811877" y="1275502"/>
            <a:ext cx="10587630" cy="3573116"/>
            <a:chOff x="811877" y="1275502"/>
            <a:chExt cx="10587630" cy="3573116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比例控制器</a:t>
              </a:r>
              <a:r>
                <a:rPr lang="en-US" altLang="zh-CN" sz="2800" dirty="0"/>
                <a:t>_</a:t>
              </a:r>
              <a:r>
                <a:rPr lang="zh-CN" altLang="en-US" sz="2800" dirty="0"/>
                <a:t>燃烧卡路里：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/video/BV16441117hJ?share_source=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示&#10;&#10;低可信度描述已自动生成">
              <a:extLst>
                <a:ext uri="{FF2B5EF4-FFF2-40B4-BE49-F238E27FC236}">
                  <a16:creationId xmlns:a16="http://schemas.microsoft.com/office/drawing/2014/main" id="{595B131C-724C-D992-A34F-4C83FFAE1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877" y="1411489"/>
              <a:ext cx="2082800" cy="1409700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0780C245-9F2B-3E6C-3CC7-2574CCF4C2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027" y="3134118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7591D0-8AEE-34B0-C96E-803AC09ABDA9}"/>
              </a:ext>
            </a:extLst>
          </p:cNvPr>
          <p:cNvGrpSpPr/>
          <p:nvPr/>
        </p:nvGrpSpPr>
        <p:grpSpPr>
          <a:xfrm>
            <a:off x="4654550" y="4409892"/>
            <a:ext cx="6183313" cy="1625600"/>
            <a:chOff x="4654550" y="4409892"/>
            <a:chExt cx="6183313" cy="16256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057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文本&#10;&#10;描述已自动生成">
              <a:extLst>
                <a:ext uri="{FF2B5EF4-FFF2-40B4-BE49-F238E27FC236}">
                  <a16:creationId xmlns:a16="http://schemas.microsoft.com/office/drawing/2014/main" id="{1C9A6513-50E1-5639-5B2F-84542CA1B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1863" y="4409892"/>
              <a:ext cx="2286000" cy="162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pic>
        <p:nvPicPr>
          <p:cNvPr id="1026" name="Picture 2" descr="playstation evolution GIF">
            <a:extLst>
              <a:ext uri="{FF2B5EF4-FFF2-40B4-BE49-F238E27FC236}">
                <a16:creationId xmlns:a16="http://schemas.microsoft.com/office/drawing/2014/main" id="{A38AEB7E-0774-3B31-A4C8-3C955CBD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435" y="2050264"/>
            <a:ext cx="4876579" cy="318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说明1">
            <a:extLst>
              <a:ext uri="{FF2B5EF4-FFF2-40B4-BE49-F238E27FC236}">
                <a16:creationId xmlns:a16="http://schemas.microsoft.com/office/drawing/2014/main" id="{699FF084-A4A1-B768-366C-4324F3819F65}"/>
              </a:ext>
            </a:extLst>
          </p:cNvPr>
          <p:cNvSpPr txBox="1"/>
          <p:nvPr/>
        </p:nvSpPr>
        <p:spPr>
          <a:xfrm>
            <a:off x="7082248" y="5517232"/>
            <a:ext cx="3786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My favorite controllers</a:t>
            </a:r>
            <a:endParaRPr lang="zh-CN" altLang="en-US" sz="2800" dirty="0"/>
          </a:p>
        </p:txBody>
      </p:sp>
      <p:sp>
        <p:nvSpPr>
          <p:cNvPr id="7" name="节段10">
            <a:extLst>
              <a:ext uri="{FF2B5EF4-FFF2-40B4-BE49-F238E27FC236}">
                <a16:creationId xmlns:a16="http://schemas.microsoft.com/office/drawing/2014/main" id="{7EF857BA-F2EA-2705-0CBE-AE1B76AEEBDC}"/>
              </a:ext>
            </a:extLst>
          </p:cNvPr>
          <p:cNvSpPr/>
          <p:nvPr/>
        </p:nvSpPr>
        <p:spPr bwMode="auto">
          <a:xfrm>
            <a:off x="693606" y="1281397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28313</TotalTime>
  <Words>2595</Words>
  <Application>Microsoft Macintosh PowerPoint</Application>
  <PresentationFormat>自定义</PresentationFormat>
  <Paragraphs>450</Paragraphs>
  <Slides>36</Slides>
  <Notes>35</Notes>
  <HiddenSlides>6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等线</vt:lpstr>
      <vt:lpstr>汉仪菱心体简</vt:lpstr>
      <vt:lpstr>微软雅黑</vt:lpstr>
      <vt:lpstr>微软雅黑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582</cp:revision>
  <dcterms:created xsi:type="dcterms:W3CDTF">2012-09-21T08:06:35Z</dcterms:created>
  <dcterms:modified xsi:type="dcterms:W3CDTF">2024-06-23T10:28:02Z</dcterms:modified>
  <cp:category/>
</cp:coreProperties>
</file>