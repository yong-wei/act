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353" r:id="rId2"/>
    <p:sldId id="510" r:id="rId3"/>
    <p:sldId id="511" r:id="rId4"/>
    <p:sldId id="500" r:id="rId5"/>
    <p:sldId id="525" r:id="rId6"/>
    <p:sldId id="526" r:id="rId7"/>
    <p:sldId id="527" r:id="rId8"/>
    <p:sldId id="528" r:id="rId9"/>
    <p:sldId id="529" r:id="rId10"/>
    <p:sldId id="535" r:id="rId11"/>
    <p:sldId id="530" r:id="rId12"/>
    <p:sldId id="536" r:id="rId13"/>
    <p:sldId id="532" r:id="rId14"/>
    <p:sldId id="537" r:id="rId15"/>
    <p:sldId id="531" r:id="rId16"/>
    <p:sldId id="538" r:id="rId17"/>
    <p:sldId id="533" r:id="rId18"/>
    <p:sldId id="539" r:id="rId19"/>
    <p:sldId id="540" r:id="rId20"/>
    <p:sldId id="534" r:id="rId21"/>
    <p:sldId id="541" r:id="rId22"/>
    <p:sldId id="542" r:id="rId23"/>
    <p:sldId id="512" r:id="rId24"/>
    <p:sldId id="513" r:id="rId25"/>
    <p:sldId id="517" r:id="rId26"/>
    <p:sldId id="518" r:id="rId27"/>
    <p:sldId id="519" r:id="rId28"/>
  </p:sldIdLst>
  <p:sldSz cx="12190413"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706" userDrawn="1">
          <p15:clr>
            <a:srgbClr val="A4A3A4"/>
          </p15:clr>
        </p15:guide>
        <p15:guide id="3" pos="4747" userDrawn="1">
          <p15:clr>
            <a:srgbClr val="A4A3A4"/>
          </p15:clr>
        </p15:guide>
        <p15:guide id="4" pos="211" userDrawn="1">
          <p15:clr>
            <a:srgbClr val="A4A3A4"/>
          </p15:clr>
        </p15:guide>
        <p15:guide id="5" pos="7468" userDrawn="1">
          <p15:clr>
            <a:srgbClr val="A4A3A4"/>
          </p15:clr>
        </p15:guide>
        <p15:guide id="6" pos="3386" userDrawn="1">
          <p15:clr>
            <a:srgbClr val="A4A3A4"/>
          </p15:clr>
        </p15:guide>
        <p15:guide id="7" pos="7015" userDrawn="1">
          <p15:clr>
            <a:srgbClr val="A4A3A4"/>
          </p15:clr>
        </p15:guide>
        <p15:guide id="8" pos="4293" userDrawn="1">
          <p15:clr>
            <a:srgbClr val="A4A3A4"/>
          </p15:clr>
        </p15:guide>
        <p15:guide id="9" pos="3840" userDrawn="1">
          <p15:clr>
            <a:srgbClr val="A4A3A4"/>
          </p15:clr>
        </p15:guide>
        <p15:guide id="10" pos="5200" userDrawn="1">
          <p15:clr>
            <a:srgbClr val="A4A3A4"/>
          </p15:clr>
        </p15:guide>
        <p15:guide id="11" pos="5654" userDrawn="1">
          <p15:clr>
            <a:srgbClr val="A4A3A4"/>
          </p15:clr>
        </p15:guide>
        <p15:guide id="12" pos="6107" userDrawn="1">
          <p15:clr>
            <a:srgbClr val="A4A3A4"/>
          </p15:clr>
        </p15:guide>
        <p15:guide id="13" pos="6561" userDrawn="1">
          <p15:clr>
            <a:srgbClr val="A4A3A4"/>
          </p15:clr>
        </p15:guide>
        <p15:guide id="14" orient="horz" pos="2614" userDrawn="1">
          <p15:clr>
            <a:srgbClr val="A4A3A4"/>
          </p15:clr>
        </p15:guide>
        <p15:guide id="15" orient="horz" pos="3067" userDrawn="1">
          <p15:clr>
            <a:srgbClr val="A4A3A4"/>
          </p15:clr>
        </p15:guide>
        <p15:guide id="16" orient="horz" pos="3521" userDrawn="1">
          <p15:clr>
            <a:srgbClr val="A4A3A4"/>
          </p15:clr>
        </p15:guide>
        <p15:guide id="17" orient="horz" pos="3974" userDrawn="1">
          <p15:clr>
            <a:srgbClr val="A4A3A4"/>
          </p15:clr>
        </p15:guide>
        <p15:guide id="18" orient="horz" pos="1253" userDrawn="1">
          <p15:clr>
            <a:srgbClr val="A4A3A4"/>
          </p15:clr>
        </p15:guide>
        <p15:guide id="19" orient="horz" pos="799" userDrawn="1">
          <p15:clr>
            <a:srgbClr val="A4A3A4"/>
          </p15:clr>
        </p15:guide>
        <p15:guide id="20" orient="horz" pos="346" userDrawn="1">
          <p15:clr>
            <a:srgbClr val="A4A3A4"/>
          </p15:clr>
        </p15:guide>
        <p15:guide id="21" pos="2932" userDrawn="1">
          <p15:clr>
            <a:srgbClr val="A4A3A4"/>
          </p15:clr>
        </p15:guide>
        <p15:guide id="22" pos="2479" userDrawn="1">
          <p15:clr>
            <a:srgbClr val="A4A3A4"/>
          </p15:clr>
        </p15:guide>
        <p15:guide id="23" pos="2025" userDrawn="1">
          <p15:clr>
            <a:srgbClr val="A4A3A4"/>
          </p15:clr>
        </p15:guide>
        <p15:guide id="24" pos="1572" userDrawn="1">
          <p15:clr>
            <a:srgbClr val="A4A3A4"/>
          </p15:clr>
        </p15:guide>
        <p15:guide id="25" pos="1118" userDrawn="1">
          <p15:clr>
            <a:srgbClr val="A4A3A4"/>
          </p15:clr>
        </p15:guide>
        <p15:guide id="26" pos="6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F84"/>
    <a:srgbClr val="E44860"/>
    <a:srgbClr val="F29B11"/>
    <a:srgbClr val="00B0F0"/>
    <a:srgbClr val="FFC000"/>
    <a:srgbClr val="9BBB59"/>
    <a:srgbClr val="768395"/>
    <a:srgbClr val="1C1C1C"/>
    <a:srgbClr val="2980B9"/>
    <a:srgbClr val="F697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3" autoAdjust="0"/>
    <p:restoredTop sz="87305" autoAdjust="0"/>
  </p:normalViewPr>
  <p:slideViewPr>
    <p:cSldViewPr>
      <p:cViewPr varScale="1">
        <p:scale>
          <a:sx n="88" d="100"/>
          <a:sy n="88" d="100"/>
        </p:scale>
        <p:origin x="1552" y="472"/>
      </p:cViewPr>
      <p:guideLst>
        <p:guide orient="horz" pos="2160"/>
        <p:guide orient="horz" pos="1706"/>
        <p:guide pos="4747"/>
        <p:guide pos="211"/>
        <p:guide pos="7468"/>
        <p:guide pos="3386"/>
        <p:guide pos="7015"/>
        <p:guide pos="4293"/>
        <p:guide pos="3840"/>
        <p:guide pos="5200"/>
        <p:guide pos="5654"/>
        <p:guide pos="6107"/>
        <p:guide pos="6561"/>
        <p:guide orient="horz" pos="2614"/>
        <p:guide orient="horz" pos="3067"/>
        <p:guide orient="horz" pos="3521"/>
        <p:guide orient="horz" pos="3974"/>
        <p:guide orient="horz" pos="1253"/>
        <p:guide orient="horz" pos="799"/>
        <p:guide orient="horz" pos="346"/>
        <p:guide pos="2932"/>
        <p:guide pos="2479"/>
        <p:guide pos="2025"/>
        <p:guide pos="1572"/>
        <p:guide pos="1118"/>
        <p:guide pos="664"/>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336"/>
    </p:cViewPr>
  </p:sorterViewPr>
  <p:notesViewPr>
    <p:cSldViewPr>
      <p:cViewPr varScale="1">
        <p:scale>
          <a:sx n="118" d="100"/>
          <a:sy n="118" d="100"/>
        </p:scale>
        <p:origin x="375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8805445-DD02-4A4D-85F2-00571D19ED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FE41B0AF-3333-FD46-B79E-50FD8A79D1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2A9F75-F87F-124E-A6E0-5AA7D52145C2}" type="datetimeFigureOut">
              <a:rPr kumimoji="1" lang="zh-CN" altLang="en-US" smtClean="0"/>
              <a:t>2025/3/7</a:t>
            </a:fld>
            <a:endParaRPr kumimoji="1" lang="zh-CN" altLang="en-US"/>
          </a:p>
        </p:txBody>
      </p:sp>
      <p:sp>
        <p:nvSpPr>
          <p:cNvPr id="4" name="页脚占位符 3">
            <a:extLst>
              <a:ext uri="{FF2B5EF4-FFF2-40B4-BE49-F238E27FC236}">
                <a16:creationId xmlns:a16="http://schemas.microsoft.com/office/drawing/2014/main" id="{8BF8CD6C-5D36-1743-972A-01D811956D4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5D92A2E0-40E1-5149-9E4A-F475CD689D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2A3159-7C85-5C48-9D59-18AED36800EB}" type="slidenum">
              <a:rPr kumimoji="1" lang="zh-CN" altLang="en-US" smtClean="0"/>
              <a:t>‹#›</a:t>
            </a:fld>
            <a:endParaRPr kumimoji="1" lang="zh-CN" altLang="en-US"/>
          </a:p>
        </p:txBody>
      </p:sp>
    </p:spTree>
    <p:extLst>
      <p:ext uri="{BB962C8B-B14F-4D97-AF65-F5344CB8AC3E}">
        <p14:creationId xmlns:p14="http://schemas.microsoft.com/office/powerpoint/2010/main" val="4216331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DCC928-7A32-4383-8C66-886F513D06F6}" type="datetimeFigureOut">
              <a:rPr lang="zh-CN" altLang="en-US" smtClean="0"/>
              <a:t>2025/3/7</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936B7B-B83E-48FC-9145-C5D7D2DAFA4C}" type="slidenum">
              <a:rPr lang="zh-CN" altLang="en-US" smtClean="0"/>
              <a:t>‹#›</a:t>
            </a:fld>
            <a:endParaRPr lang="zh-CN" altLang="en-US"/>
          </a:p>
        </p:txBody>
      </p:sp>
    </p:spTree>
    <p:extLst>
      <p:ext uri="{BB962C8B-B14F-4D97-AF65-F5344CB8AC3E}">
        <p14:creationId xmlns:p14="http://schemas.microsoft.com/office/powerpoint/2010/main" val="391940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r>
              <a:rPr lang="en-US" altLang="zh-CN"/>
              <a:t>1</a:t>
            </a:r>
            <a:endParaRPr lang="zh-CN" altLang="en-US"/>
          </a:p>
        </p:txBody>
      </p:sp>
    </p:spTree>
    <p:extLst>
      <p:ext uri="{BB962C8B-B14F-4D97-AF65-F5344CB8AC3E}">
        <p14:creationId xmlns:p14="http://schemas.microsoft.com/office/powerpoint/2010/main" val="3456931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a:t>
            </a:fld>
            <a:endParaRPr lang="zh-CN" altLang="en-US"/>
          </a:p>
        </p:txBody>
      </p:sp>
    </p:spTree>
    <p:extLst>
      <p:ext uri="{BB962C8B-B14F-4D97-AF65-F5344CB8AC3E}">
        <p14:creationId xmlns:p14="http://schemas.microsoft.com/office/powerpoint/2010/main" val="827018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4</a:t>
            </a:fld>
            <a:endParaRPr lang="zh-CN" altLang="en-US"/>
          </a:p>
        </p:txBody>
      </p:sp>
    </p:spTree>
    <p:extLst>
      <p:ext uri="{BB962C8B-B14F-4D97-AF65-F5344CB8AC3E}">
        <p14:creationId xmlns:p14="http://schemas.microsoft.com/office/powerpoint/2010/main" val="1143703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5</a:t>
            </a:fld>
            <a:endParaRPr lang="zh-CN" altLang="en-US"/>
          </a:p>
        </p:txBody>
      </p:sp>
    </p:spTree>
    <p:extLst>
      <p:ext uri="{BB962C8B-B14F-4D97-AF65-F5344CB8AC3E}">
        <p14:creationId xmlns:p14="http://schemas.microsoft.com/office/powerpoint/2010/main" val="3587264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6</a:t>
            </a:fld>
            <a:endParaRPr lang="zh-CN" altLang="en-US"/>
          </a:p>
        </p:txBody>
      </p:sp>
    </p:spTree>
    <p:extLst>
      <p:ext uri="{BB962C8B-B14F-4D97-AF65-F5344CB8AC3E}">
        <p14:creationId xmlns:p14="http://schemas.microsoft.com/office/powerpoint/2010/main" val="1887282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7</a:t>
            </a:fld>
            <a:endParaRPr lang="zh-CN" altLang="en-US"/>
          </a:p>
        </p:txBody>
      </p:sp>
    </p:spTree>
    <p:extLst>
      <p:ext uri="{BB962C8B-B14F-4D97-AF65-F5344CB8AC3E}">
        <p14:creationId xmlns:p14="http://schemas.microsoft.com/office/powerpoint/2010/main" val="2917602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8</a:t>
            </a:fld>
            <a:endParaRPr lang="zh-CN" altLang="en-US"/>
          </a:p>
        </p:txBody>
      </p:sp>
    </p:spTree>
    <p:extLst>
      <p:ext uri="{BB962C8B-B14F-4D97-AF65-F5344CB8AC3E}">
        <p14:creationId xmlns:p14="http://schemas.microsoft.com/office/powerpoint/2010/main" val="3368805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9</a:t>
            </a:fld>
            <a:endParaRPr lang="zh-CN" altLang="en-US"/>
          </a:p>
        </p:txBody>
      </p:sp>
    </p:spTree>
    <p:extLst>
      <p:ext uri="{BB962C8B-B14F-4D97-AF65-F5344CB8AC3E}">
        <p14:creationId xmlns:p14="http://schemas.microsoft.com/office/powerpoint/2010/main" val="2094399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10</a:t>
            </a:fld>
            <a:endParaRPr lang="zh-CN" altLang="en-US"/>
          </a:p>
        </p:txBody>
      </p:sp>
    </p:spTree>
    <p:extLst>
      <p:ext uri="{BB962C8B-B14F-4D97-AF65-F5344CB8AC3E}">
        <p14:creationId xmlns:p14="http://schemas.microsoft.com/office/powerpoint/2010/main" val="3641427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11</a:t>
            </a:fld>
            <a:endParaRPr lang="zh-CN" altLang="en-US"/>
          </a:p>
        </p:txBody>
      </p:sp>
    </p:spTree>
    <p:extLst>
      <p:ext uri="{BB962C8B-B14F-4D97-AF65-F5344CB8AC3E}">
        <p14:creationId xmlns:p14="http://schemas.microsoft.com/office/powerpoint/2010/main" val="231705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12</a:t>
            </a:fld>
            <a:endParaRPr lang="zh-CN" altLang="en-US"/>
          </a:p>
        </p:txBody>
      </p:sp>
    </p:spTree>
    <p:extLst>
      <p:ext uri="{BB962C8B-B14F-4D97-AF65-F5344CB8AC3E}">
        <p14:creationId xmlns:p14="http://schemas.microsoft.com/office/powerpoint/2010/main" val="2509074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13</a:t>
            </a:fld>
            <a:endParaRPr lang="zh-CN" altLang="en-US"/>
          </a:p>
        </p:txBody>
      </p:sp>
    </p:spTree>
    <p:extLst>
      <p:ext uri="{BB962C8B-B14F-4D97-AF65-F5344CB8AC3E}">
        <p14:creationId xmlns:p14="http://schemas.microsoft.com/office/powerpoint/2010/main" val="663418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14</a:t>
            </a:fld>
            <a:endParaRPr lang="zh-CN" altLang="en-US"/>
          </a:p>
        </p:txBody>
      </p:sp>
    </p:spTree>
    <p:extLst>
      <p:ext uri="{BB962C8B-B14F-4D97-AF65-F5344CB8AC3E}">
        <p14:creationId xmlns:p14="http://schemas.microsoft.com/office/powerpoint/2010/main" val="4110886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15</a:t>
            </a:fld>
            <a:endParaRPr lang="zh-CN" altLang="en-US"/>
          </a:p>
        </p:txBody>
      </p:sp>
    </p:spTree>
    <p:extLst>
      <p:ext uri="{BB962C8B-B14F-4D97-AF65-F5344CB8AC3E}">
        <p14:creationId xmlns:p14="http://schemas.microsoft.com/office/powerpoint/2010/main" val="212069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16</a:t>
            </a:fld>
            <a:endParaRPr lang="zh-CN" altLang="en-US"/>
          </a:p>
        </p:txBody>
      </p:sp>
    </p:spTree>
    <p:extLst>
      <p:ext uri="{BB962C8B-B14F-4D97-AF65-F5344CB8AC3E}">
        <p14:creationId xmlns:p14="http://schemas.microsoft.com/office/powerpoint/2010/main" val="2002580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17</a:t>
            </a:fld>
            <a:endParaRPr lang="zh-CN" altLang="en-US"/>
          </a:p>
        </p:txBody>
      </p:sp>
    </p:spTree>
    <p:extLst>
      <p:ext uri="{BB962C8B-B14F-4D97-AF65-F5344CB8AC3E}">
        <p14:creationId xmlns:p14="http://schemas.microsoft.com/office/powerpoint/2010/main" val="3796472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18</a:t>
            </a:fld>
            <a:endParaRPr lang="zh-CN" altLang="en-US"/>
          </a:p>
        </p:txBody>
      </p:sp>
    </p:spTree>
    <p:extLst>
      <p:ext uri="{BB962C8B-B14F-4D97-AF65-F5344CB8AC3E}">
        <p14:creationId xmlns:p14="http://schemas.microsoft.com/office/powerpoint/2010/main" val="517373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19</a:t>
            </a:fld>
            <a:endParaRPr lang="zh-CN" altLang="en-US"/>
          </a:p>
        </p:txBody>
      </p:sp>
    </p:spTree>
    <p:extLst>
      <p:ext uri="{BB962C8B-B14F-4D97-AF65-F5344CB8AC3E}">
        <p14:creationId xmlns:p14="http://schemas.microsoft.com/office/powerpoint/2010/main" val="2920049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20</a:t>
            </a:fld>
            <a:endParaRPr lang="zh-CN" altLang="en-US"/>
          </a:p>
        </p:txBody>
      </p:sp>
    </p:spTree>
    <p:extLst>
      <p:ext uri="{BB962C8B-B14F-4D97-AF65-F5344CB8AC3E}">
        <p14:creationId xmlns:p14="http://schemas.microsoft.com/office/powerpoint/2010/main" val="1686315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21</a:t>
            </a:fld>
            <a:endParaRPr lang="zh-CN" altLang="en-US"/>
          </a:p>
        </p:txBody>
      </p:sp>
    </p:spTree>
    <p:extLst>
      <p:ext uri="{BB962C8B-B14F-4D97-AF65-F5344CB8AC3E}">
        <p14:creationId xmlns:p14="http://schemas.microsoft.com/office/powerpoint/2010/main" val="1076751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22</a:t>
            </a:fld>
            <a:endParaRPr lang="zh-CN" altLang="en-US"/>
          </a:p>
        </p:txBody>
      </p:sp>
    </p:spTree>
    <p:extLst>
      <p:ext uri="{BB962C8B-B14F-4D97-AF65-F5344CB8AC3E}">
        <p14:creationId xmlns:p14="http://schemas.microsoft.com/office/powerpoint/2010/main" val="2778846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系统稳定性的工程问题已经转化成了一个代数方程根的纯数学问题。幸运的是，数学家在控制论出现之前就已经帮我们解决了这个问题，而解决这个问题的人就是</a:t>
            </a:r>
            <a:r>
              <a:rPr lang="en-US" altLang="zh-CN" sz="1200" kern="1200" dirty="0">
                <a:solidFill>
                  <a:schemeClr val="tx1"/>
                </a:solidFill>
                <a:effectLst/>
                <a:latin typeface="+mn-lt"/>
                <a:ea typeface="+mn-ea"/>
                <a:cs typeface="+mn-cs"/>
              </a:rPr>
              <a:t>Edward John Routh</a:t>
            </a:r>
            <a:r>
              <a:rPr lang="zh-CN" altLang="zh-CN" sz="1200" kern="1200" dirty="0">
                <a:solidFill>
                  <a:schemeClr val="tx1"/>
                </a:solidFill>
                <a:effectLst/>
                <a:latin typeface="+mn-lt"/>
                <a:ea typeface="+mn-ea"/>
                <a:cs typeface="+mn-cs"/>
              </a:rPr>
              <a:t>以及</a:t>
            </a:r>
            <a:r>
              <a:rPr lang="en-US" altLang="zh-CN" sz="1200" kern="1200" dirty="0">
                <a:solidFill>
                  <a:schemeClr val="tx1"/>
                </a:solidFill>
                <a:effectLst/>
                <a:latin typeface="+mn-lt"/>
                <a:ea typeface="+mn-ea"/>
                <a:cs typeface="+mn-cs"/>
              </a:rPr>
              <a:t>Adolf Hurwitz</a:t>
            </a:r>
            <a:r>
              <a:rPr lang="zh-CN" altLang="zh-CN" sz="1200" kern="1200" dirty="0">
                <a:solidFill>
                  <a:schemeClr val="tx1"/>
                </a:solidFill>
                <a:effectLst/>
                <a:latin typeface="+mn-lt"/>
                <a:ea typeface="+mn-ea"/>
                <a:cs typeface="+mn-cs"/>
              </a:rPr>
              <a:t>。</a:t>
            </a:r>
            <a:r>
              <a:rPr lang="zh-CN" altLang="zh-CN" dirty="0">
                <a:effectLst/>
              </a:rPr>
              <a:t> </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科学也不是一蹴而就的，即使</a:t>
            </a:r>
            <a:r>
              <a:rPr lang="en-US" altLang="zh-CN" sz="1200" kern="1200" dirty="0">
                <a:solidFill>
                  <a:schemeClr val="tx1"/>
                </a:solidFill>
                <a:effectLst/>
                <a:latin typeface="+mn-lt"/>
                <a:ea typeface="+mn-ea"/>
                <a:cs typeface="+mn-cs"/>
              </a:rPr>
              <a:t>Routh</a:t>
            </a:r>
            <a:r>
              <a:rPr lang="zh-CN" altLang="zh-CN" sz="1200" kern="1200" dirty="0">
                <a:solidFill>
                  <a:schemeClr val="tx1"/>
                </a:solidFill>
                <a:effectLst/>
                <a:latin typeface="+mn-lt"/>
                <a:ea typeface="+mn-ea"/>
                <a:cs typeface="+mn-cs"/>
              </a:rPr>
              <a:t>这样的</a:t>
            </a:r>
            <a:r>
              <a:rPr lang="en-US" altLang="zh-CN" sz="1200" kern="1200" dirty="0">
                <a:solidFill>
                  <a:schemeClr val="tx1"/>
                </a:solidFill>
                <a:effectLst/>
                <a:latin typeface="+mn-lt"/>
                <a:ea typeface="+mn-ea"/>
                <a:cs typeface="+mn-cs"/>
              </a:rPr>
              <a:t>Senior Wrangler</a:t>
            </a:r>
            <a:r>
              <a:rPr lang="zh-CN" altLang="zh-CN" sz="1200" kern="1200" dirty="0">
                <a:solidFill>
                  <a:schemeClr val="tx1"/>
                </a:solidFill>
                <a:effectLst/>
                <a:latin typeface="+mn-lt"/>
                <a:ea typeface="+mn-ea"/>
                <a:cs typeface="+mn-cs"/>
              </a:rPr>
              <a:t>，其提出的稳定性判据也是建立在欧拉算法、斯特姆定理和柯西指数基础上的，正如牛顿所言“站在巨人的肩膀上”。从</a:t>
            </a:r>
            <a:r>
              <a:rPr lang="en-US" altLang="zh-CN" sz="1200" kern="1200" dirty="0">
                <a:solidFill>
                  <a:schemeClr val="tx1"/>
                </a:solidFill>
                <a:effectLst/>
                <a:latin typeface="+mn-lt"/>
                <a:ea typeface="+mn-ea"/>
                <a:cs typeface="+mn-cs"/>
              </a:rPr>
              <a:t>1877</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Routh</a:t>
            </a:r>
            <a:r>
              <a:rPr lang="zh-CN" altLang="zh-CN" sz="1200" kern="1200" dirty="0">
                <a:solidFill>
                  <a:schemeClr val="tx1"/>
                </a:solidFill>
                <a:effectLst/>
                <a:latin typeface="+mn-lt"/>
                <a:ea typeface="+mn-ea"/>
                <a:cs typeface="+mn-cs"/>
              </a:rPr>
              <a:t>给出稳定性判据的</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年间，</a:t>
            </a:r>
            <a:r>
              <a:rPr lang="en-US" altLang="zh-CN" sz="1200" kern="1200" dirty="0">
                <a:solidFill>
                  <a:schemeClr val="tx1"/>
                </a:solidFill>
                <a:effectLst/>
                <a:latin typeface="+mn-lt"/>
                <a:ea typeface="+mn-ea"/>
                <a:cs typeface="+mn-cs"/>
              </a:rPr>
              <a:t>Routh-Hurwitz</a:t>
            </a:r>
            <a:r>
              <a:rPr lang="zh-CN" altLang="zh-CN" sz="1200" kern="1200" dirty="0">
                <a:solidFill>
                  <a:schemeClr val="tx1"/>
                </a:solidFill>
                <a:effectLst/>
                <a:latin typeface="+mn-lt"/>
                <a:ea typeface="+mn-ea"/>
                <a:cs typeface="+mn-cs"/>
              </a:rPr>
              <a:t>判据从数学家的理论研究变成了经典控制论的核心概念，而在计算机普及之后又逐渐式微，这个过程也正是人类工程技术发展的缩影。新的技术不断出现，老的技术不断淘汰，而且这个过程会越来越快。作为一名合格的工程师，不断更新知识储备，关注并应用最新技术解决问题，才能在技术的浪潮中生存下来。</a:t>
            </a:r>
          </a:p>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23</a:t>
            </a:fld>
            <a:endParaRPr lang="zh-CN" altLang="en-US"/>
          </a:p>
        </p:txBody>
      </p:sp>
    </p:spTree>
    <p:extLst>
      <p:ext uri="{BB962C8B-B14F-4D97-AF65-F5344CB8AC3E}">
        <p14:creationId xmlns:p14="http://schemas.microsoft.com/office/powerpoint/2010/main" val="3006498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24</a:t>
            </a:fld>
            <a:endParaRPr lang="zh-CN" altLang="en-US"/>
          </a:p>
        </p:txBody>
      </p:sp>
    </p:spTree>
    <p:extLst>
      <p:ext uri="{BB962C8B-B14F-4D97-AF65-F5344CB8AC3E}">
        <p14:creationId xmlns:p14="http://schemas.microsoft.com/office/powerpoint/2010/main" val="1619316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25</a:t>
            </a:fld>
            <a:endParaRPr lang="zh-CN" altLang="en-US"/>
          </a:p>
        </p:txBody>
      </p:sp>
    </p:spTree>
    <p:extLst>
      <p:ext uri="{BB962C8B-B14F-4D97-AF65-F5344CB8AC3E}">
        <p14:creationId xmlns:p14="http://schemas.microsoft.com/office/powerpoint/2010/main" val="1768533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26</a:t>
            </a:fld>
            <a:endParaRPr lang="zh-CN" altLang="en-US"/>
          </a:p>
        </p:txBody>
      </p:sp>
    </p:spTree>
    <p:extLst>
      <p:ext uri="{BB962C8B-B14F-4D97-AF65-F5344CB8AC3E}">
        <p14:creationId xmlns:p14="http://schemas.microsoft.com/office/powerpoint/2010/main" val="20641930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27</a:t>
            </a:fld>
            <a:endParaRPr lang="zh-CN" altLang="en-US"/>
          </a:p>
        </p:txBody>
      </p:sp>
    </p:spTree>
    <p:extLst>
      <p:ext uri="{BB962C8B-B14F-4D97-AF65-F5344CB8AC3E}">
        <p14:creationId xmlns:p14="http://schemas.microsoft.com/office/powerpoint/2010/main" val="2347301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42475"/>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7CCF719-0B4D-4198-B5BC-2D0F73DC26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3" name="矩形: 圆角 2">
            <a:extLst>
              <a:ext uri="{FF2B5EF4-FFF2-40B4-BE49-F238E27FC236}">
                <a16:creationId xmlns:a16="http://schemas.microsoft.com/office/drawing/2014/main" id="{141282B4-7D1A-4CA4-B97C-AECB47C3A3B9}"/>
              </a:ext>
            </a:extLst>
          </p:cNvPr>
          <p:cNvSpPr/>
          <p:nvPr userDrawn="1"/>
        </p:nvSpPr>
        <p:spPr>
          <a:xfrm>
            <a:off x="118541" y="356166"/>
            <a:ext cx="1512168"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基本情况</a:t>
            </a:r>
          </a:p>
        </p:txBody>
      </p:sp>
      <p:sp>
        <p:nvSpPr>
          <p:cNvPr id="18" name="矩形: 圆角 17">
            <a:extLst>
              <a:ext uri="{FF2B5EF4-FFF2-40B4-BE49-F238E27FC236}">
                <a16:creationId xmlns:a16="http://schemas.microsoft.com/office/drawing/2014/main" id="{56B3B556-EBE2-4F68-9A8E-D8E9A97279D5}"/>
              </a:ext>
            </a:extLst>
          </p:cNvPr>
          <p:cNvSpPr/>
          <p:nvPr userDrawn="1"/>
        </p:nvSpPr>
        <p:spPr>
          <a:xfrm>
            <a:off x="1677453" y="356166"/>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292817539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7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AD0CA0-9EB6-46FD-A5D1-35CBE479CB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674869" y="353986"/>
            <a:ext cx="5059282"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 name="矩形: 圆角 18">
            <a:extLst>
              <a:ext uri="{FF2B5EF4-FFF2-40B4-BE49-F238E27FC236}">
                <a16:creationId xmlns:a16="http://schemas.microsoft.com/office/drawing/2014/main" id="{536B85F6-A5BC-46DF-8D38-ACEA958A78FA}"/>
              </a:ext>
            </a:extLst>
          </p:cNvPr>
          <p:cNvSpPr/>
          <p:nvPr userDrawn="1"/>
        </p:nvSpPr>
        <p:spPr>
          <a:xfrm>
            <a:off x="129898" y="356166"/>
            <a:ext cx="1512168"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创新设计</a:t>
            </a:r>
          </a:p>
        </p:txBody>
      </p:sp>
      <p:sp>
        <p:nvSpPr>
          <p:cNvPr id="8" name="矩形: 圆角 17">
            <a:extLst>
              <a:ext uri="{FF2B5EF4-FFF2-40B4-BE49-F238E27FC236}">
                <a16:creationId xmlns:a16="http://schemas.microsoft.com/office/drawing/2014/main" id="{2C7DE445-257D-1547-A5A3-2C9ECB3DCED5}"/>
              </a:ext>
            </a:extLst>
          </p:cNvPr>
          <p:cNvSpPr/>
          <p:nvPr userDrawn="1"/>
        </p:nvSpPr>
        <p:spPr>
          <a:xfrm>
            <a:off x="6773974" y="353986"/>
            <a:ext cx="5286541"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73640857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8FC1B26-5F6B-454B-B6A7-6C43341F23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9234"/>
            <a:ext cx="5616623"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 name="矩形: 圆角 19">
            <a:extLst>
              <a:ext uri="{FF2B5EF4-FFF2-40B4-BE49-F238E27FC236}">
                <a16:creationId xmlns:a16="http://schemas.microsoft.com/office/drawing/2014/main" id="{AC4C1D17-F9AA-4AA7-B29E-EA7C89094028}"/>
              </a:ext>
            </a:extLst>
          </p:cNvPr>
          <p:cNvSpPr/>
          <p:nvPr userDrawn="1"/>
        </p:nvSpPr>
        <p:spPr>
          <a:xfrm>
            <a:off x="121965" y="359235"/>
            <a:ext cx="1512168"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创新效果</a:t>
            </a:r>
          </a:p>
        </p:txBody>
      </p:sp>
    </p:spTree>
    <p:extLst>
      <p:ext uri="{BB962C8B-B14F-4D97-AF65-F5344CB8AC3E}">
        <p14:creationId xmlns:p14="http://schemas.microsoft.com/office/powerpoint/2010/main" val="200589872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E375F02-5481-4F79-8E14-2A5CA78A8E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91"/>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6166"/>
            <a:ext cx="5616623"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 name="矩形: 圆角 20">
            <a:extLst>
              <a:ext uri="{FF2B5EF4-FFF2-40B4-BE49-F238E27FC236}">
                <a16:creationId xmlns:a16="http://schemas.microsoft.com/office/drawing/2014/main" id="{53C5F6E7-E625-494B-89C2-3D62A6B97957}"/>
              </a:ext>
            </a:extLst>
          </p:cNvPr>
          <p:cNvSpPr/>
          <p:nvPr userDrawn="1"/>
        </p:nvSpPr>
        <p:spPr>
          <a:xfrm>
            <a:off x="118541" y="356166"/>
            <a:ext cx="1512168"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教学成果</a:t>
            </a:r>
          </a:p>
        </p:txBody>
      </p:sp>
    </p:spTree>
    <p:extLst>
      <p:ext uri="{BB962C8B-B14F-4D97-AF65-F5344CB8AC3E}">
        <p14:creationId xmlns:p14="http://schemas.microsoft.com/office/powerpoint/2010/main" val="2493030061"/>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003EC96-1FAD-E241-A4B7-1ED9CE341E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4" name="矩形: 圆角 17">
            <a:extLst>
              <a:ext uri="{FF2B5EF4-FFF2-40B4-BE49-F238E27FC236}">
                <a16:creationId xmlns:a16="http://schemas.microsoft.com/office/drawing/2014/main" id="{1EA45D98-DEC5-264D-BA21-59DABF9CB484}"/>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571413893"/>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271709193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071863972"/>
      </p:ext>
    </p:extLst>
  </p:cSld>
  <p:clrMapOvr>
    <a:masterClrMapping/>
  </p:clrMapOvr>
  <p:transition spd="slow">
    <p:strips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教学分析">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840991"/>
      </p:ext>
    </p:extLst>
  </p:cSld>
  <p:clrMapOvr>
    <a:masterClrMapping/>
  </p:clrMapOvr>
  <p:transition spd="slow">
    <p:strips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教学分析">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152828"/>
      </p:ext>
    </p:extLst>
  </p:cSld>
  <p:clrMapOvr>
    <a:masterClrMapping/>
  </p:clrMapOvr>
  <p:transition spd="slow">
    <p:strips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教学策略">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762767"/>
      </p:ext>
    </p:extLst>
  </p:cSld>
  <p:clrMapOvr>
    <a:masterClrMapping/>
  </p:clrMapOvr>
  <p:transition spd="slow">
    <p:strips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教学策略">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231392"/>
      </p:ext>
    </p:extLst>
  </p:cSld>
  <p:clrMapOvr>
    <a:masterClrMapping/>
  </p:clrMapOvr>
  <p:transition spd="slow">
    <p:strips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教学过程">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435023"/>
      </p:ext>
    </p:extLst>
  </p:cSld>
  <p:clrMapOvr>
    <a:masterClrMapping/>
  </p:clrMapOvr>
  <p:transition spd="slow">
    <p:strips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教学过程">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532170"/>
      </p:ext>
    </p:extLst>
  </p:cSld>
  <p:clrMapOvr>
    <a:masterClrMapping/>
  </p:clrMapOvr>
  <p:transition spd="slow">
    <p:strips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教学效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9634117"/>
      </p:ext>
    </p:extLst>
  </p:cSld>
  <p:clrMapOvr>
    <a:masterClrMapping/>
  </p:clrMapOvr>
  <p:transition spd="slow">
    <p:strips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17031"/>
      </p:ext>
    </p:extLst>
  </p:cSld>
  <p:clrMapOvr>
    <a:masterClrMapping/>
  </p:clrMapOvr>
  <p:transition spd="slow">
    <p:strips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D4A263-5145-4800-9735-38896831F9DE}"/>
              </a:ext>
            </a:extLst>
          </p:cNvPr>
          <p:cNvSpPr>
            <a:spLocks noGrp="1"/>
          </p:cNvSpPr>
          <p:nvPr>
            <p:ph type="title"/>
          </p:nvPr>
        </p:nvSpPr>
        <p:spPr>
          <a:xfrm>
            <a:off x="838200" y="365125"/>
            <a:ext cx="10514013"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93926514"/>
      </p:ext>
    </p:extLst>
  </p:cSld>
  <p:clrMapOvr>
    <a:masterClrMapping/>
  </p:clrMapOvr>
  <p:transition spd="slow">
    <p:strips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教学效果">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516710"/>
      </p:ext>
    </p:extLst>
  </p:cSld>
  <p:clrMapOvr>
    <a:masterClrMapping/>
  </p:clrMapOvr>
  <p:transition spd="slow">
    <p:strips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空白地图背景">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364479942"/>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绿条空白">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2988767802"/>
      </p:ext>
    </p:extLst>
  </p:cSld>
  <p:clrMapOvr>
    <a:masterClrMapping/>
  </p:clrMapOvr>
  <p:transition spd="slow">
    <p:strips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4" y="-14371"/>
            <a:ext cx="2299539" cy="584775"/>
          </a:xfrm>
          <a:prstGeom prst="rect">
            <a:avLst/>
          </a:prstGeom>
          <a:noFill/>
        </p:spPr>
        <p:txBody>
          <a:bodyPr wrap="square" rtlCol="0">
            <a:spAutoFit/>
          </a:bodyPr>
          <a:lstStyle/>
          <a:p>
            <a:r>
              <a:rPr lang="en-US" altLang="zh-CN" sz="3200">
                <a:solidFill>
                  <a:srgbClr val="333333"/>
                </a:solidFill>
                <a:latin typeface="Gill Sans Ultra Bold" pitchFamily="34" charset="0"/>
              </a:rPr>
              <a:t>LOGO</a:t>
            </a:r>
            <a:endParaRPr lang="zh-CN" altLang="en-US" sz="3200" dirty="0">
              <a:solidFill>
                <a:srgbClr val="333333"/>
              </a:solidFill>
              <a:latin typeface="Gill Sans Ultra Bold" pitchFamily="34" charset="0"/>
            </a:endParaRPr>
          </a:p>
        </p:txBody>
      </p:sp>
    </p:spTree>
    <p:extLst>
      <p:ext uri="{BB962C8B-B14F-4D97-AF65-F5344CB8AC3E}">
        <p14:creationId xmlns:p14="http://schemas.microsoft.com/office/powerpoint/2010/main" val="1571502896"/>
      </p:ext>
    </p:extLst>
  </p:cSld>
  <p:clrMap bg1="lt1" tx1="dk1" bg2="lt2" tx2="dk2" accent1="accent1" accent2="accent2" accent3="accent3" accent4="accent4" accent5="accent5" accent6="accent6" hlink="hlink" folHlink="folHlink"/>
  <p:sldLayoutIdLst>
    <p:sldLayoutId id="2147483664" r:id="rId1"/>
    <p:sldLayoutId id="2147483668" r:id="rId2"/>
    <p:sldLayoutId id="2147483671" r:id="rId3"/>
    <p:sldLayoutId id="2147483669" r:id="rId4"/>
    <p:sldLayoutId id="2147483670" r:id="rId5"/>
    <p:sldLayoutId id="2147483654" r:id="rId6"/>
    <p:sldLayoutId id="2147483663" r:id="rId7"/>
    <p:sldLayoutId id="2147483659" r:id="rId8"/>
    <p:sldLayoutId id="2147483667" r:id="rId9"/>
    <p:sldLayoutId id="2147483655" r:id="rId10"/>
    <p:sldLayoutId id="2147483651" r:id="rId11"/>
    <p:sldLayoutId id="2147483656" r:id="rId12"/>
    <p:sldLayoutId id="2147483652" r:id="rId13"/>
    <p:sldLayoutId id="2147483657" r:id="rId14"/>
    <p:sldLayoutId id="2147483653" r:id="rId15"/>
    <p:sldLayoutId id="2147483666" r:id="rId16"/>
    <p:sldLayoutId id="2147483665" r:id="rId17"/>
    <p:sldLayoutId id="2147483658" r:id="rId18"/>
    <p:sldLayoutId id="2147483672" r:id="rId19"/>
    <p:sldLayoutId id="2147483673" r:id="rId20"/>
  </p:sldLayoutIdLst>
  <p:transition spd="slow">
    <p:strips dir="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10.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0.png"/><Relationship Id="rId4" Type="http://schemas.openxmlformats.org/officeDocument/2006/relationships/image" Target="../media/image52.png"/></Relationships>
</file>

<file path=ppt/slides/_rels/slide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80.png"/></Relationships>
</file>

<file path=ppt/slides/_rels/slide7.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7.jpg"/><Relationship Id="rId7"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0.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4.png"/></Relationships>
</file>

<file path=ppt/slides/_rels/slide16.xml.rels><?xml version="1.0" encoding="UTF-8" standalone="yes"?>
<Relationships xmlns="http://schemas.openxmlformats.org/package/2006/relationships"><Relationship Id="rId7" Type="http://schemas.openxmlformats.org/officeDocument/2006/relationships/image" Target="../media/image20.emf"/><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0.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svg"/></Relationships>
</file>

<file path=ppt/slides/_rels/slide27.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ontrol, feedback, management, systems icon - Download on Iconfinder">
            <a:extLst>
              <a:ext uri="{FF2B5EF4-FFF2-40B4-BE49-F238E27FC236}">
                <a16:creationId xmlns:a16="http://schemas.microsoft.com/office/drawing/2014/main" id="{B897A1C7-629A-B247-B7B1-EA7AC3797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644" y="828695"/>
            <a:ext cx="5139557" cy="513955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E323DC9A-B9F0-664E-8D8B-4D4B3CB163A9}"/>
              </a:ext>
            </a:extLst>
          </p:cNvPr>
          <p:cNvGrpSpPr/>
          <p:nvPr/>
        </p:nvGrpSpPr>
        <p:grpSpPr>
          <a:xfrm>
            <a:off x="3386174" y="828695"/>
            <a:ext cx="9221717" cy="3766808"/>
            <a:chOff x="1559098" y="1196752"/>
            <a:chExt cx="9221717" cy="3766808"/>
          </a:xfrm>
        </p:grpSpPr>
        <p:pic>
          <p:nvPicPr>
            <p:cNvPr id="139" name="图片 138">
              <a:extLst>
                <a:ext uri="{FF2B5EF4-FFF2-40B4-BE49-F238E27FC236}">
                  <a16:creationId xmlns:a16="http://schemas.microsoft.com/office/drawing/2014/main" id="{6C5D6197-A7EB-4453-845C-A17502C9F71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559098" y="1196752"/>
              <a:ext cx="9221717" cy="3766808"/>
            </a:xfrm>
            <a:prstGeom prst="rect">
              <a:avLst/>
            </a:prstGeom>
          </p:spPr>
        </p:pic>
        <p:sp>
          <p:nvSpPr>
            <p:cNvPr id="126" name="矩形 125">
              <a:extLst>
                <a:ext uri="{FF2B5EF4-FFF2-40B4-BE49-F238E27FC236}">
                  <a16:creationId xmlns:a16="http://schemas.microsoft.com/office/drawing/2014/main" id="{FD70EB58-BC11-49B8-8525-EF7D1AAA3845}"/>
                </a:ext>
              </a:extLst>
            </p:cNvPr>
            <p:cNvSpPr/>
            <p:nvPr/>
          </p:nvSpPr>
          <p:spPr>
            <a:xfrm>
              <a:off x="3186339" y="2802637"/>
              <a:ext cx="5818976" cy="1015663"/>
            </a:xfrm>
            <a:prstGeom prst="rect">
              <a:avLst/>
            </a:prstGeom>
            <a:solidFill>
              <a:schemeClr val="accent2"/>
            </a:solidFill>
          </p:spPr>
          <p:txBody>
            <a:bodyPr wrap="square" anchor="ctr">
              <a:spAutoFit/>
            </a:bodyPr>
            <a:lstStyle/>
            <a:p>
              <a:pPr algn="ctr"/>
              <a:r>
                <a:rPr lang="zh-CN" altLang="en-US" sz="6000" dirty="0">
                  <a:solidFill>
                    <a:schemeClr val="bg1"/>
                  </a:solidFill>
                  <a:effectLst/>
                  <a:latin typeface="汉仪菱心体简" panose="02010609000101010101" pitchFamily="49" charset="-122"/>
                  <a:ea typeface="汉仪菱心体简" panose="02010609000101010101" pitchFamily="49" charset="-122"/>
                </a:rPr>
                <a:t>自动控制</a:t>
              </a:r>
              <a:r>
                <a:rPr lang="zh-CN" altLang="en-US" sz="6000" dirty="0">
                  <a:solidFill>
                    <a:schemeClr val="bg1"/>
                  </a:solidFill>
                  <a:latin typeface="汉仪菱心体简" panose="02010609000101010101" pitchFamily="49" charset="-122"/>
                  <a:ea typeface="汉仪菱心体简" panose="02010609000101010101" pitchFamily="49" charset="-122"/>
                </a:rPr>
                <a:t>原理</a:t>
              </a:r>
              <a:endParaRPr lang="zh-CN" altLang="en-US" sz="6000" dirty="0">
                <a:solidFill>
                  <a:schemeClr val="bg1"/>
                </a:solidFill>
                <a:effectLst/>
                <a:latin typeface="汉仪菱心体简" panose="02010609000101010101" pitchFamily="49" charset="-122"/>
                <a:ea typeface="汉仪菱心体简" panose="02010609000101010101" pitchFamily="49" charset="-122"/>
              </a:endParaRPr>
            </a:p>
          </p:txBody>
        </p:sp>
      </p:grpSp>
      <p:grpSp>
        <p:nvGrpSpPr>
          <p:cNvPr id="2" name="组合 1">
            <a:extLst>
              <a:ext uri="{FF2B5EF4-FFF2-40B4-BE49-F238E27FC236}">
                <a16:creationId xmlns:a16="http://schemas.microsoft.com/office/drawing/2014/main" id="{55B9A884-D290-7CD5-ED7E-B3B0DF22F419}"/>
              </a:ext>
            </a:extLst>
          </p:cNvPr>
          <p:cNvGrpSpPr/>
          <p:nvPr/>
        </p:nvGrpSpPr>
        <p:grpSpPr>
          <a:xfrm>
            <a:off x="6454025" y="320863"/>
            <a:ext cx="5300128" cy="1015663"/>
            <a:chOff x="6454025" y="320863"/>
            <a:chExt cx="5300128" cy="1015663"/>
          </a:xfrm>
        </p:grpSpPr>
        <p:grpSp>
          <p:nvGrpSpPr>
            <p:cNvPr id="3" name="组合 2">
              <a:extLst>
                <a:ext uri="{FF2B5EF4-FFF2-40B4-BE49-F238E27FC236}">
                  <a16:creationId xmlns:a16="http://schemas.microsoft.com/office/drawing/2014/main" id="{BE3F3718-1F67-A1D6-F6C6-4B107BA6E8B2}"/>
                </a:ext>
              </a:extLst>
            </p:cNvPr>
            <p:cNvGrpSpPr/>
            <p:nvPr/>
          </p:nvGrpSpPr>
          <p:grpSpPr>
            <a:xfrm>
              <a:off x="6454025" y="320863"/>
              <a:ext cx="4143411" cy="1015663"/>
              <a:chOff x="8681781" y="504363"/>
              <a:chExt cx="3090550" cy="757578"/>
            </a:xfrm>
          </p:grpSpPr>
          <p:cxnSp>
            <p:nvCxnSpPr>
              <p:cNvPr id="5" name="直接连接符 12">
                <a:extLst>
                  <a:ext uri="{FF2B5EF4-FFF2-40B4-BE49-F238E27FC236}">
                    <a16:creationId xmlns:a16="http://schemas.microsoft.com/office/drawing/2014/main" id="{3915E61B-A58D-437C-16BC-ADA091AF1DAB}"/>
                  </a:ext>
                </a:extLst>
              </p:cNvPr>
              <p:cNvCxnSpPr>
                <a:cxnSpLocks/>
              </p:cNvCxnSpPr>
              <p:nvPr/>
            </p:nvCxnSpPr>
            <p:spPr>
              <a:xfrm>
                <a:off x="9534041" y="528966"/>
                <a:ext cx="0" cy="702644"/>
              </a:xfrm>
              <a:prstGeom prst="line">
                <a:avLst/>
              </a:prstGeom>
              <a:ln w="76200">
                <a:solidFill>
                  <a:srgbClr val="F09524"/>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E9676223-873E-518F-36C3-A766F4EE5E86}"/>
                  </a:ext>
                </a:extLst>
              </p:cNvPr>
              <p:cNvGrpSpPr/>
              <p:nvPr/>
            </p:nvGrpSpPr>
            <p:grpSpPr>
              <a:xfrm>
                <a:off x="8681781" y="504363"/>
                <a:ext cx="763836" cy="757578"/>
                <a:chOff x="8364926" y="513787"/>
                <a:chExt cx="817174" cy="810479"/>
              </a:xfrm>
            </p:grpSpPr>
            <p:sp>
              <p:nvSpPr>
                <p:cNvPr id="10" name="椭圆 9">
                  <a:extLst>
                    <a:ext uri="{FF2B5EF4-FFF2-40B4-BE49-F238E27FC236}">
                      <a16:creationId xmlns:a16="http://schemas.microsoft.com/office/drawing/2014/main" id="{8969627D-1697-8B6F-6102-00668C5354AE}"/>
                    </a:ext>
                  </a:extLst>
                </p:cNvPr>
                <p:cNvSpPr/>
                <p:nvPr/>
              </p:nvSpPr>
              <p:spPr>
                <a:xfrm>
                  <a:off x="8400771" y="544432"/>
                  <a:ext cx="756000" cy="75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object 5">
                  <a:extLst>
                    <a:ext uri="{FF2B5EF4-FFF2-40B4-BE49-F238E27FC236}">
                      <a16:creationId xmlns:a16="http://schemas.microsoft.com/office/drawing/2014/main" id="{188BBE90-B348-6A43-88E6-319D9A18CE99}"/>
                    </a:ext>
                  </a:extLst>
                </p:cNvPr>
                <p:cNvSpPr/>
                <p:nvPr/>
              </p:nvSpPr>
              <p:spPr>
                <a:xfrm>
                  <a:off x="8364926" y="513787"/>
                  <a:ext cx="817174" cy="810479"/>
                </a:xfrm>
                <a:prstGeom prst="rect">
                  <a:avLst/>
                </a:prstGeom>
                <a:blipFill>
                  <a:blip r:embed="rId5" cstate="print"/>
                  <a:stretch>
                    <a:fillRect l="-73502" t="-34930" r="-66194" b="-35851"/>
                  </a:stretch>
                </a:blipFill>
              </p:spPr>
              <p:txBody>
                <a:bodyPr wrap="square" lIns="0" tIns="0" rIns="0" bIns="0" rtlCol="0"/>
                <a:lstStyle/>
                <a:p>
                  <a:endParaRPr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8" name="图片 7">
                <a:extLst>
                  <a:ext uri="{FF2B5EF4-FFF2-40B4-BE49-F238E27FC236}">
                    <a16:creationId xmlns:a16="http://schemas.microsoft.com/office/drawing/2014/main" id="{236DE1B4-CA4B-54F8-64F1-217D13606E8E}"/>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l="23280"/>
              <a:stretch/>
            </p:blipFill>
            <p:spPr>
              <a:xfrm>
                <a:off x="9632991" y="593311"/>
                <a:ext cx="2139340" cy="571505"/>
              </a:xfrm>
              <a:prstGeom prst="rect">
                <a:avLst/>
              </a:prstGeom>
            </p:spPr>
          </p:pic>
        </p:grpSp>
        <p:pic>
          <p:nvPicPr>
            <p:cNvPr id="4" name="图片 3" descr="图片包含 房间, 标志, 桌子, 游戏机&#10;&#10;描述已自动生成">
              <a:extLst>
                <a:ext uri="{FF2B5EF4-FFF2-40B4-BE49-F238E27FC236}">
                  <a16:creationId xmlns:a16="http://schemas.microsoft.com/office/drawing/2014/main" id="{3D6C987F-3CE6-C232-9728-06DBC90004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29775" y="338055"/>
              <a:ext cx="1024378" cy="998471"/>
            </a:xfrm>
            <a:prstGeom prst="rect">
              <a:avLst/>
            </a:prstGeom>
          </p:spPr>
        </p:pic>
      </p:grpSp>
    </p:spTree>
    <p:extLst>
      <p:ext uri="{BB962C8B-B14F-4D97-AF65-F5344CB8AC3E}">
        <p14:creationId xmlns:p14="http://schemas.microsoft.com/office/powerpoint/2010/main" val="1443650723"/>
      </p:ext>
    </p:extLst>
  </p:cSld>
  <p:clrMapOvr>
    <a:masterClrMapping/>
  </p:clrMapOvr>
  <p:transition spd="slow">
    <p:strips dir="ru"/>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节段1">
            <a:extLst>
              <a:ext uri="{FF2B5EF4-FFF2-40B4-BE49-F238E27FC236}">
                <a16:creationId xmlns:a16="http://schemas.microsoft.com/office/drawing/2014/main" id="{326390C7-593C-216D-15DE-BC137E98C6F2}"/>
              </a:ext>
            </a:extLst>
          </p:cNvPr>
          <p:cNvSpPr/>
          <p:nvPr/>
        </p:nvSpPr>
        <p:spPr bwMode="auto">
          <a:xfrm>
            <a:off x="334963" y="259834"/>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a:t>
            </a:r>
            <a:r>
              <a:rPr lang="zh-CN" altLang="en-US" sz="2800" b="1" dirty="0">
                <a:solidFill>
                  <a:schemeClr val="bg1"/>
                </a:solidFill>
                <a:latin typeface="Stencil" panose="040409050D0802020404" pitchFamily="82" charset="0"/>
              </a:rPr>
              <a:t>   反馈：控制原理的核心思想</a:t>
            </a:r>
          </a:p>
        </p:txBody>
      </p:sp>
      <p:sp>
        <p:nvSpPr>
          <p:cNvPr id="3" name="节段2">
            <a:extLst>
              <a:ext uri="{FF2B5EF4-FFF2-40B4-BE49-F238E27FC236}">
                <a16:creationId xmlns:a16="http://schemas.microsoft.com/office/drawing/2014/main" id="{6D0DC964-4888-22F0-0529-3ADBE19BCAC7}"/>
              </a:ext>
            </a:extLst>
          </p:cNvPr>
          <p:cNvSpPr/>
          <p:nvPr/>
        </p:nvSpPr>
        <p:spPr bwMode="auto">
          <a:xfrm>
            <a:off x="334963" y="904947"/>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2.</a:t>
            </a:r>
            <a:r>
              <a:rPr lang="zh-CN" altLang="en-US" sz="2800" b="1" dirty="0">
                <a:solidFill>
                  <a:schemeClr val="bg1"/>
                </a:solidFill>
                <a:latin typeface="Stencil" panose="040409050D0802020404" pitchFamily="82" charset="0"/>
              </a:rPr>
              <a:t>   传递函数：控制系统数学模型</a:t>
            </a:r>
          </a:p>
        </p:txBody>
      </p:sp>
      <p:sp>
        <p:nvSpPr>
          <p:cNvPr id="4" name="节段3">
            <a:extLst>
              <a:ext uri="{FF2B5EF4-FFF2-40B4-BE49-F238E27FC236}">
                <a16:creationId xmlns:a16="http://schemas.microsoft.com/office/drawing/2014/main" id="{2ED134D8-4396-5957-E553-8ABF4E57D6EF}"/>
              </a:ext>
            </a:extLst>
          </p:cNvPr>
          <p:cNvSpPr/>
          <p:nvPr/>
        </p:nvSpPr>
        <p:spPr bwMode="auto">
          <a:xfrm>
            <a:off x="334965" y="1550060"/>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3.</a:t>
            </a:r>
            <a:r>
              <a:rPr lang="zh-CN" altLang="en-US" sz="2800" b="1" dirty="0">
                <a:solidFill>
                  <a:schemeClr val="bg1"/>
                </a:solidFill>
                <a:latin typeface="Stencil" panose="040409050D0802020404" pitchFamily="82" charset="0"/>
              </a:rPr>
              <a:t>   方框图：控制系统结构</a:t>
            </a:r>
          </a:p>
        </p:txBody>
      </p:sp>
      <p:sp>
        <p:nvSpPr>
          <p:cNvPr id="5" name="节段4">
            <a:extLst>
              <a:ext uri="{FF2B5EF4-FFF2-40B4-BE49-F238E27FC236}">
                <a16:creationId xmlns:a16="http://schemas.microsoft.com/office/drawing/2014/main" id="{4C7CB016-BBEE-BDEA-03F5-5613FC7FAF97}"/>
              </a:ext>
            </a:extLst>
          </p:cNvPr>
          <p:cNvSpPr/>
          <p:nvPr/>
        </p:nvSpPr>
        <p:spPr bwMode="auto">
          <a:xfrm>
            <a:off x="334965" y="2195173"/>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4.</a:t>
            </a:r>
            <a:r>
              <a:rPr lang="zh-CN" altLang="en-US" sz="2800" b="1" dirty="0">
                <a:solidFill>
                  <a:schemeClr val="bg1"/>
                </a:solidFill>
                <a:latin typeface="Stencil" panose="040409050D0802020404" pitchFamily="82" charset="0"/>
              </a:rPr>
              <a:t>   信号流图：控制系统拓扑结</a:t>
            </a:r>
          </a:p>
        </p:txBody>
      </p:sp>
      <p:sp>
        <p:nvSpPr>
          <p:cNvPr id="6" name="节段5">
            <a:extLst>
              <a:ext uri="{FF2B5EF4-FFF2-40B4-BE49-F238E27FC236}">
                <a16:creationId xmlns:a16="http://schemas.microsoft.com/office/drawing/2014/main" id="{9B528F5E-5B56-04D6-8D5E-5117B2A82704}"/>
              </a:ext>
            </a:extLst>
          </p:cNvPr>
          <p:cNvSpPr/>
          <p:nvPr/>
        </p:nvSpPr>
        <p:spPr bwMode="auto">
          <a:xfrm>
            <a:off x="334965" y="2840286"/>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5.</a:t>
            </a:r>
            <a:r>
              <a:rPr lang="zh-CN" altLang="en-US" sz="2800" b="1" dirty="0">
                <a:solidFill>
                  <a:schemeClr val="bg1"/>
                </a:solidFill>
                <a:latin typeface="Stencil" panose="040409050D0802020404" pitchFamily="82" charset="0"/>
              </a:rPr>
              <a:t>   梅森公式：数圈圈与消消乐</a:t>
            </a:r>
          </a:p>
        </p:txBody>
      </p:sp>
      <p:sp>
        <p:nvSpPr>
          <p:cNvPr id="7" name="节段6">
            <a:extLst>
              <a:ext uri="{FF2B5EF4-FFF2-40B4-BE49-F238E27FC236}">
                <a16:creationId xmlns:a16="http://schemas.microsoft.com/office/drawing/2014/main" id="{90E00070-848F-4C0E-5B96-BFE9A9C47D9C}"/>
              </a:ext>
            </a:extLst>
          </p:cNvPr>
          <p:cNvSpPr/>
          <p:nvPr/>
        </p:nvSpPr>
        <p:spPr bwMode="auto">
          <a:xfrm>
            <a:off x="334965" y="3485399"/>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6.</a:t>
            </a:r>
            <a:r>
              <a:rPr lang="zh-CN" altLang="en-US" sz="2800" b="1" dirty="0">
                <a:solidFill>
                  <a:schemeClr val="bg1"/>
                </a:solidFill>
                <a:latin typeface="Stencil" panose="040409050D0802020404" pitchFamily="82" charset="0"/>
              </a:rPr>
              <a:t>   性能指标：控制效果评价</a:t>
            </a:r>
          </a:p>
        </p:txBody>
      </p:sp>
      <p:sp>
        <p:nvSpPr>
          <p:cNvPr id="8" name="节段7">
            <a:extLst>
              <a:ext uri="{FF2B5EF4-FFF2-40B4-BE49-F238E27FC236}">
                <a16:creationId xmlns:a16="http://schemas.microsoft.com/office/drawing/2014/main" id="{B1007742-24A6-63C8-03B7-1F283F0F1CF9}"/>
              </a:ext>
            </a:extLst>
          </p:cNvPr>
          <p:cNvSpPr/>
          <p:nvPr/>
        </p:nvSpPr>
        <p:spPr bwMode="auto">
          <a:xfrm>
            <a:off x="334965" y="4130512"/>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7.</a:t>
            </a:r>
            <a:r>
              <a:rPr lang="zh-CN" altLang="en-US" sz="2800" b="1" dirty="0">
                <a:solidFill>
                  <a:schemeClr val="bg1"/>
                </a:solidFill>
                <a:latin typeface="Stencil" panose="040409050D0802020404" pitchFamily="82" charset="0"/>
              </a:rPr>
              <a:t>   衰减振荡：欠阻尼二阶系统</a:t>
            </a:r>
          </a:p>
        </p:txBody>
      </p:sp>
      <p:sp>
        <p:nvSpPr>
          <p:cNvPr id="9" name="节段8">
            <a:extLst>
              <a:ext uri="{FF2B5EF4-FFF2-40B4-BE49-F238E27FC236}">
                <a16:creationId xmlns:a16="http://schemas.microsoft.com/office/drawing/2014/main" id="{B78CDD92-DB86-441A-13AD-955229A45886}"/>
              </a:ext>
            </a:extLst>
          </p:cNvPr>
          <p:cNvSpPr/>
          <p:nvPr/>
        </p:nvSpPr>
        <p:spPr bwMode="auto">
          <a:xfrm>
            <a:off x="334965" y="4775625"/>
            <a:ext cx="5551200" cy="578882"/>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8.</a:t>
            </a:r>
            <a:r>
              <a:rPr lang="zh-CN" altLang="en-US" sz="2800" b="1" dirty="0">
                <a:solidFill>
                  <a:schemeClr val="bg1"/>
                </a:solidFill>
                <a:latin typeface="Stencil" panose="040409050D0802020404" pitchFamily="82" charset="0"/>
              </a:rPr>
              <a:t>   稳定：控制系统首要任务</a:t>
            </a:r>
          </a:p>
        </p:txBody>
      </p:sp>
      <p:sp>
        <p:nvSpPr>
          <p:cNvPr id="10" name="节段9">
            <a:extLst>
              <a:ext uri="{FF2B5EF4-FFF2-40B4-BE49-F238E27FC236}">
                <a16:creationId xmlns:a16="http://schemas.microsoft.com/office/drawing/2014/main" id="{0F46DBF7-59DB-8E9C-851E-C9935EA9B4C8}"/>
              </a:ext>
            </a:extLst>
          </p:cNvPr>
          <p:cNvSpPr/>
          <p:nvPr/>
        </p:nvSpPr>
        <p:spPr bwMode="auto">
          <a:xfrm>
            <a:off x="334965" y="542073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9.</a:t>
            </a:r>
            <a:r>
              <a:rPr lang="zh-CN" altLang="en-US" sz="2800" b="1" dirty="0">
                <a:solidFill>
                  <a:schemeClr val="bg1"/>
                </a:solidFill>
                <a:latin typeface="Stencil" panose="040409050D0802020404" pitchFamily="82" charset="0"/>
              </a:rPr>
              <a:t>   稳态误差：准确性的度量</a:t>
            </a:r>
          </a:p>
        </p:txBody>
      </p:sp>
      <p:sp>
        <p:nvSpPr>
          <p:cNvPr id="11" name="节段10">
            <a:extLst>
              <a:ext uri="{FF2B5EF4-FFF2-40B4-BE49-F238E27FC236}">
                <a16:creationId xmlns:a16="http://schemas.microsoft.com/office/drawing/2014/main" id="{557367C6-4C24-FCB2-4C28-DA0D4AAC94D9}"/>
              </a:ext>
            </a:extLst>
          </p:cNvPr>
          <p:cNvSpPr/>
          <p:nvPr/>
        </p:nvSpPr>
        <p:spPr bwMode="auto">
          <a:xfrm>
            <a:off x="334965" y="606584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10.</a:t>
            </a:r>
            <a:r>
              <a:rPr lang="zh-CN" altLang="en-US" sz="2800" b="1" dirty="0">
                <a:solidFill>
                  <a:schemeClr val="bg1"/>
                </a:solidFill>
                <a:latin typeface="Stencil" panose="040409050D0802020404" pitchFamily="82" charset="0"/>
              </a:rPr>
              <a:t> 校正：实现控制的手段</a:t>
            </a:r>
          </a:p>
        </p:txBody>
      </p:sp>
      <p:sp>
        <p:nvSpPr>
          <p:cNvPr id="12" name="节段11">
            <a:extLst>
              <a:ext uri="{FF2B5EF4-FFF2-40B4-BE49-F238E27FC236}">
                <a16:creationId xmlns:a16="http://schemas.microsoft.com/office/drawing/2014/main" id="{4730885B-C9BD-725C-5B54-A3B36C6A83E6}"/>
              </a:ext>
            </a:extLst>
          </p:cNvPr>
          <p:cNvSpPr/>
          <p:nvPr/>
        </p:nvSpPr>
        <p:spPr bwMode="auto">
          <a:xfrm>
            <a:off x="6304250" y="259834"/>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11.</a:t>
            </a:r>
            <a:r>
              <a:rPr lang="zh-CN" altLang="en-US" sz="2800" b="1" dirty="0">
                <a:solidFill>
                  <a:schemeClr val="bg1"/>
                </a:solidFill>
                <a:latin typeface="Stencil" panose="040409050D0802020404" pitchFamily="82" charset="0"/>
              </a:rPr>
              <a:t> 放眼大局：根轨迹法</a:t>
            </a:r>
          </a:p>
        </p:txBody>
      </p:sp>
      <p:sp>
        <p:nvSpPr>
          <p:cNvPr id="13" name="节段12">
            <a:extLst>
              <a:ext uri="{FF2B5EF4-FFF2-40B4-BE49-F238E27FC236}">
                <a16:creationId xmlns:a16="http://schemas.microsoft.com/office/drawing/2014/main" id="{05520C60-051F-B4C9-EB2A-308DC70F4BFA}"/>
              </a:ext>
            </a:extLst>
          </p:cNvPr>
          <p:cNvSpPr/>
          <p:nvPr/>
        </p:nvSpPr>
        <p:spPr bwMode="auto">
          <a:xfrm>
            <a:off x="6304250" y="904947"/>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12.</a:t>
            </a:r>
            <a:r>
              <a:rPr lang="zh-CN" altLang="en-US" sz="2800" b="1" dirty="0">
                <a:solidFill>
                  <a:schemeClr val="bg1"/>
                </a:solidFill>
                <a:latin typeface="Stencil" panose="040409050D0802020404" pitchFamily="82" charset="0"/>
              </a:rPr>
              <a:t> 根轨迹：基本形态</a:t>
            </a:r>
          </a:p>
        </p:txBody>
      </p:sp>
      <p:sp>
        <p:nvSpPr>
          <p:cNvPr id="14" name="节段13">
            <a:extLst>
              <a:ext uri="{FF2B5EF4-FFF2-40B4-BE49-F238E27FC236}">
                <a16:creationId xmlns:a16="http://schemas.microsoft.com/office/drawing/2014/main" id="{27219438-65AD-FDC9-1DA8-7FFE9BA859DA}"/>
              </a:ext>
            </a:extLst>
          </p:cNvPr>
          <p:cNvSpPr/>
          <p:nvPr/>
        </p:nvSpPr>
        <p:spPr bwMode="auto">
          <a:xfrm>
            <a:off x="6304250" y="1550060"/>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13.</a:t>
            </a:r>
            <a:r>
              <a:rPr lang="zh-CN" altLang="en-US" sz="2800" b="1" dirty="0">
                <a:solidFill>
                  <a:schemeClr val="bg1"/>
                </a:solidFill>
                <a:latin typeface="Stencil" panose="040409050D0802020404" pitchFamily="82" charset="0"/>
              </a:rPr>
              <a:t> 根轨迹：细节修正</a:t>
            </a:r>
          </a:p>
        </p:txBody>
      </p:sp>
      <p:sp>
        <p:nvSpPr>
          <p:cNvPr id="15" name="节段14">
            <a:extLst>
              <a:ext uri="{FF2B5EF4-FFF2-40B4-BE49-F238E27FC236}">
                <a16:creationId xmlns:a16="http://schemas.microsoft.com/office/drawing/2014/main" id="{3FE30DB7-AAE2-AC3E-BDA2-5E92E22FCAFC}"/>
              </a:ext>
            </a:extLst>
          </p:cNvPr>
          <p:cNvSpPr/>
          <p:nvPr/>
        </p:nvSpPr>
        <p:spPr bwMode="auto">
          <a:xfrm>
            <a:off x="6304250" y="2195173"/>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14.</a:t>
            </a:r>
            <a:r>
              <a:rPr lang="zh-CN" altLang="en-US" sz="2800" b="1" dirty="0">
                <a:solidFill>
                  <a:schemeClr val="bg1"/>
                </a:solidFill>
                <a:latin typeface="Stencil" panose="040409050D0802020404" pitchFamily="82" charset="0"/>
              </a:rPr>
              <a:t> 参数根轨迹：广义定义</a:t>
            </a:r>
          </a:p>
        </p:txBody>
      </p:sp>
      <p:sp>
        <p:nvSpPr>
          <p:cNvPr id="16" name="节段15">
            <a:extLst>
              <a:ext uri="{FF2B5EF4-FFF2-40B4-BE49-F238E27FC236}">
                <a16:creationId xmlns:a16="http://schemas.microsoft.com/office/drawing/2014/main" id="{44E77EBF-CB85-6E3D-429B-345397FD531D}"/>
              </a:ext>
            </a:extLst>
          </p:cNvPr>
          <p:cNvSpPr/>
          <p:nvPr/>
        </p:nvSpPr>
        <p:spPr bwMode="auto">
          <a:xfrm>
            <a:off x="6304250" y="2840286"/>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15.</a:t>
            </a:r>
            <a:r>
              <a:rPr lang="zh-CN" altLang="en-US" sz="2800" b="1" dirty="0">
                <a:solidFill>
                  <a:schemeClr val="bg1"/>
                </a:solidFill>
                <a:latin typeface="Stencil" panose="040409050D0802020404" pitchFamily="82" charset="0"/>
              </a:rPr>
              <a:t> 根轨迹法：图形化思考</a:t>
            </a:r>
          </a:p>
        </p:txBody>
      </p:sp>
      <p:sp>
        <p:nvSpPr>
          <p:cNvPr id="17" name="节段16">
            <a:extLst>
              <a:ext uri="{FF2B5EF4-FFF2-40B4-BE49-F238E27FC236}">
                <a16:creationId xmlns:a16="http://schemas.microsoft.com/office/drawing/2014/main" id="{4FFAB4B2-AD9B-7207-955C-82823BE1A7DC}"/>
              </a:ext>
            </a:extLst>
          </p:cNvPr>
          <p:cNvSpPr/>
          <p:nvPr/>
        </p:nvSpPr>
        <p:spPr bwMode="auto">
          <a:xfrm>
            <a:off x="6304250" y="3485399"/>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16.</a:t>
            </a:r>
            <a:r>
              <a:rPr lang="zh-CN" altLang="en-US" sz="2800" b="1" dirty="0">
                <a:solidFill>
                  <a:schemeClr val="bg1"/>
                </a:solidFill>
                <a:latin typeface="Stencil" panose="040409050D0802020404" pitchFamily="82" charset="0"/>
              </a:rPr>
              <a:t> 频率特性：换个角度看控制</a:t>
            </a:r>
          </a:p>
        </p:txBody>
      </p:sp>
      <p:sp>
        <p:nvSpPr>
          <p:cNvPr id="20" name="节段19">
            <a:extLst>
              <a:ext uri="{FF2B5EF4-FFF2-40B4-BE49-F238E27FC236}">
                <a16:creationId xmlns:a16="http://schemas.microsoft.com/office/drawing/2014/main" id="{DF2ADB47-5AEA-CD80-150C-0162DF80BE07}"/>
              </a:ext>
            </a:extLst>
          </p:cNvPr>
          <p:cNvSpPr/>
          <p:nvPr/>
        </p:nvSpPr>
        <p:spPr bwMode="auto">
          <a:xfrm>
            <a:off x="6304250" y="542073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19.</a:t>
            </a:r>
            <a:r>
              <a:rPr lang="zh-CN" altLang="en-US" sz="2800" b="1" dirty="0">
                <a:solidFill>
                  <a:schemeClr val="bg1"/>
                </a:solidFill>
                <a:latin typeface="Stencil" panose="040409050D0802020404" pitchFamily="82" charset="0"/>
              </a:rPr>
              <a:t> 幅相特性：换个角度看频域</a:t>
            </a:r>
          </a:p>
        </p:txBody>
      </p:sp>
      <p:sp>
        <p:nvSpPr>
          <p:cNvPr id="21" name="节段20">
            <a:extLst>
              <a:ext uri="{FF2B5EF4-FFF2-40B4-BE49-F238E27FC236}">
                <a16:creationId xmlns:a16="http://schemas.microsoft.com/office/drawing/2014/main" id="{F9A31E65-9F86-1A47-9B88-A7D69C156BFC}"/>
              </a:ext>
            </a:extLst>
          </p:cNvPr>
          <p:cNvSpPr/>
          <p:nvPr/>
        </p:nvSpPr>
        <p:spPr bwMode="auto">
          <a:xfrm>
            <a:off x="6304250" y="6065848"/>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20.</a:t>
            </a:r>
            <a:r>
              <a:rPr lang="zh-CN" altLang="en-US" sz="2800" b="1" dirty="0">
                <a:solidFill>
                  <a:schemeClr val="bg1"/>
                </a:solidFill>
                <a:latin typeface="Stencil" panose="040409050D0802020404" pitchFamily="82" charset="0"/>
              </a:rPr>
              <a:t> 宽备窄用：稳定裕度</a:t>
            </a:r>
          </a:p>
        </p:txBody>
      </p:sp>
      <p:pic>
        <p:nvPicPr>
          <p:cNvPr id="22" name="Picture 2" descr="Control, feedback, management, systems icon - Download on Iconfinder">
            <a:extLst>
              <a:ext uri="{FF2B5EF4-FFF2-40B4-BE49-F238E27FC236}">
                <a16:creationId xmlns:a16="http://schemas.microsoft.com/office/drawing/2014/main" id="{CB8E2FDB-E3D1-C271-FF75-70A28B3C03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8928" y="1579946"/>
            <a:ext cx="5139557" cy="5139557"/>
          </a:xfrm>
          <a:prstGeom prst="rect">
            <a:avLst/>
          </a:prstGeom>
          <a:noFill/>
          <a:extLst>
            <a:ext uri="{909E8E84-426E-40DD-AFC4-6F175D3DCCD1}">
              <a14:hiddenFill xmlns:a14="http://schemas.microsoft.com/office/drawing/2010/main">
                <a:solidFill>
                  <a:srgbClr val="FFFFFF"/>
                </a:solidFill>
              </a14:hiddenFill>
            </a:ext>
          </a:extLst>
        </p:spPr>
      </p:pic>
      <p:sp>
        <p:nvSpPr>
          <p:cNvPr id="23" name="节段17">
            <a:extLst>
              <a:ext uri="{FF2B5EF4-FFF2-40B4-BE49-F238E27FC236}">
                <a16:creationId xmlns:a16="http://schemas.microsoft.com/office/drawing/2014/main" id="{F8BED6DC-7BF2-DF6C-6951-A775D830E545}"/>
              </a:ext>
            </a:extLst>
          </p:cNvPr>
          <p:cNvSpPr/>
          <p:nvPr/>
        </p:nvSpPr>
        <p:spPr bwMode="auto">
          <a:xfrm>
            <a:off x="6304250" y="4130512"/>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17.</a:t>
            </a:r>
            <a:r>
              <a:rPr lang="zh-CN" altLang="en-US" sz="2800" b="1" dirty="0">
                <a:solidFill>
                  <a:schemeClr val="bg1"/>
                </a:solidFill>
                <a:latin typeface="Stencil" panose="040409050D0802020404" pitchFamily="82" charset="0"/>
              </a:rPr>
              <a:t> 近似叠加：绘制伯德图</a:t>
            </a:r>
          </a:p>
        </p:txBody>
      </p:sp>
      <p:sp>
        <p:nvSpPr>
          <p:cNvPr id="24" name="节段18">
            <a:extLst>
              <a:ext uri="{FF2B5EF4-FFF2-40B4-BE49-F238E27FC236}">
                <a16:creationId xmlns:a16="http://schemas.microsoft.com/office/drawing/2014/main" id="{B5243129-842A-CD2A-F2AB-497073CE5114}"/>
              </a:ext>
            </a:extLst>
          </p:cNvPr>
          <p:cNvSpPr/>
          <p:nvPr/>
        </p:nvSpPr>
        <p:spPr bwMode="auto">
          <a:xfrm>
            <a:off x="6304250" y="4775625"/>
            <a:ext cx="5551200" cy="578882"/>
          </a:xfrm>
          <a:prstGeom prst="roundRect">
            <a:avLst/>
          </a:prstGeom>
          <a:solidFill>
            <a:srgbClr val="159F84">
              <a:alpha val="50000"/>
            </a:srgb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2800" b="1" dirty="0">
                <a:solidFill>
                  <a:schemeClr val="bg1"/>
                </a:solidFill>
                <a:latin typeface="Stencil" panose="040409050D0802020404" pitchFamily="82" charset="0"/>
              </a:rPr>
              <a:t>18.</a:t>
            </a:r>
            <a:r>
              <a:rPr lang="zh-CN" altLang="en-US" sz="2800" b="1" dirty="0">
                <a:solidFill>
                  <a:schemeClr val="bg1"/>
                </a:solidFill>
                <a:latin typeface="Stencil" panose="040409050D0802020404" pitchFamily="82" charset="0"/>
              </a:rPr>
              <a:t> 按图索骥：伯德图求传递函数</a:t>
            </a:r>
          </a:p>
        </p:txBody>
      </p:sp>
    </p:spTree>
    <p:extLst>
      <p:ext uri="{BB962C8B-B14F-4D97-AF65-F5344CB8AC3E}">
        <p14:creationId xmlns:p14="http://schemas.microsoft.com/office/powerpoint/2010/main" val="1078458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ontrol, feedback, management, systems icon - Download on Iconfinder">
            <a:extLst>
              <a:ext uri="{FF2B5EF4-FFF2-40B4-BE49-F238E27FC236}">
                <a16:creationId xmlns:a16="http://schemas.microsoft.com/office/drawing/2014/main" id="{DF15CB57-691D-80E9-32D3-AD4DADA3F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7" y="1592972"/>
            <a:ext cx="5139557" cy="513955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步骤1">
            <a:extLst>
              <a:ext uri="{FF2B5EF4-FFF2-40B4-BE49-F238E27FC236}">
                <a16:creationId xmlns:a16="http://schemas.microsoft.com/office/drawing/2014/main" id="{2334E117-E373-0616-6D0E-DD1101F13686}"/>
              </a:ext>
            </a:extLst>
          </p:cNvPr>
          <p:cNvGrpSpPr/>
          <p:nvPr/>
        </p:nvGrpSpPr>
        <p:grpSpPr>
          <a:xfrm>
            <a:off x="5735166" y="2516366"/>
            <a:ext cx="6120284" cy="725177"/>
            <a:chOff x="4943078" y="1700704"/>
            <a:chExt cx="6120284" cy="725177"/>
          </a:xfrm>
        </p:grpSpPr>
        <p:sp>
          <p:nvSpPr>
            <p:cNvPr id="6" name="标题">
              <a:extLst>
                <a:ext uri="{FF2B5EF4-FFF2-40B4-BE49-F238E27FC236}">
                  <a16:creationId xmlns:a16="http://schemas.microsoft.com/office/drawing/2014/main" id="{DCCBC4C8-E173-BC5A-8A28-F389626E647F}"/>
                </a:ext>
              </a:extLst>
            </p:cNvPr>
            <p:cNvSpPr/>
            <p:nvPr/>
          </p:nvSpPr>
          <p:spPr bwMode="auto">
            <a:xfrm>
              <a:off x="5459860" y="1773851"/>
              <a:ext cx="5603502" cy="578882"/>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800" b="1" dirty="0">
                  <a:solidFill>
                    <a:schemeClr val="bg1"/>
                  </a:solidFill>
                  <a:latin typeface="Stencil" panose="040409050D0802020404" pitchFamily="82" charset="0"/>
                </a:rPr>
                <a:t>列举稳定性的充分和必要条件</a:t>
              </a:r>
            </a:p>
          </p:txBody>
        </p:sp>
        <p:sp>
          <p:nvSpPr>
            <p:cNvPr id="7" name="序号">
              <a:extLst>
                <a:ext uri="{FF2B5EF4-FFF2-40B4-BE49-F238E27FC236}">
                  <a16:creationId xmlns:a16="http://schemas.microsoft.com/office/drawing/2014/main" id="{232BA269-03F5-04FE-0B57-13EFF01505B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01</a:t>
              </a:r>
              <a:endParaRPr lang="zh-CN" altLang="en-US" sz="3200" dirty="0">
                <a:solidFill>
                  <a:schemeClr val="bg1"/>
                </a:solidFill>
                <a:latin typeface="Stencil" panose="040409050D0802020404" pitchFamily="82" charset="0"/>
              </a:endParaRPr>
            </a:p>
          </p:txBody>
        </p:sp>
      </p:grpSp>
      <p:grpSp>
        <p:nvGrpSpPr>
          <p:cNvPr id="11" name="步骤2">
            <a:extLst>
              <a:ext uri="{FF2B5EF4-FFF2-40B4-BE49-F238E27FC236}">
                <a16:creationId xmlns:a16="http://schemas.microsoft.com/office/drawing/2014/main" id="{25C68FF5-996A-6B65-D290-8429DAC47274}"/>
              </a:ext>
            </a:extLst>
          </p:cNvPr>
          <p:cNvGrpSpPr/>
          <p:nvPr/>
        </p:nvGrpSpPr>
        <p:grpSpPr>
          <a:xfrm>
            <a:off x="5735166" y="3498606"/>
            <a:ext cx="6120284" cy="725177"/>
            <a:chOff x="4943078" y="1700704"/>
            <a:chExt cx="6120284" cy="725177"/>
          </a:xfrm>
        </p:grpSpPr>
        <p:sp>
          <p:nvSpPr>
            <p:cNvPr id="12" name="标题">
              <a:extLst>
                <a:ext uri="{FF2B5EF4-FFF2-40B4-BE49-F238E27FC236}">
                  <a16:creationId xmlns:a16="http://schemas.microsoft.com/office/drawing/2014/main" id="{173CCDD5-9C46-591E-DB05-E8BCD41337D0}"/>
                </a:ext>
              </a:extLst>
            </p:cNvPr>
            <p:cNvSpPr/>
            <p:nvPr/>
          </p:nvSpPr>
          <p:spPr bwMode="auto">
            <a:xfrm>
              <a:off x="5459860" y="1773851"/>
              <a:ext cx="5603502" cy="578882"/>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800" b="1" dirty="0">
                  <a:solidFill>
                    <a:schemeClr val="bg1"/>
                  </a:solidFill>
                  <a:latin typeface="Stencil" panose="040409050D0802020404" pitchFamily="82" charset="0"/>
                </a:rPr>
                <a:t>能应用劳斯判据判断稳定性</a:t>
              </a:r>
            </a:p>
          </p:txBody>
        </p:sp>
        <p:sp>
          <p:nvSpPr>
            <p:cNvPr id="13" name="序号">
              <a:extLst>
                <a:ext uri="{FF2B5EF4-FFF2-40B4-BE49-F238E27FC236}">
                  <a16:creationId xmlns:a16="http://schemas.microsoft.com/office/drawing/2014/main" id="{4512248E-BA27-4F3B-BB37-D47B5145239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02</a:t>
              </a:r>
              <a:endParaRPr lang="zh-CN" altLang="en-US" sz="3200" dirty="0">
                <a:solidFill>
                  <a:schemeClr val="bg1"/>
                </a:solidFill>
                <a:latin typeface="Stencil" panose="040409050D0802020404" pitchFamily="82" charset="0"/>
              </a:endParaRPr>
            </a:p>
          </p:txBody>
        </p:sp>
      </p:grpSp>
      <p:grpSp>
        <p:nvGrpSpPr>
          <p:cNvPr id="14" name="步骤3">
            <a:extLst>
              <a:ext uri="{FF2B5EF4-FFF2-40B4-BE49-F238E27FC236}">
                <a16:creationId xmlns:a16="http://schemas.microsoft.com/office/drawing/2014/main" id="{B96B03B9-B2AB-DA88-5522-8E71F1F384AA}"/>
              </a:ext>
            </a:extLst>
          </p:cNvPr>
          <p:cNvGrpSpPr/>
          <p:nvPr/>
        </p:nvGrpSpPr>
        <p:grpSpPr>
          <a:xfrm>
            <a:off x="5735166" y="4480846"/>
            <a:ext cx="6120284" cy="725177"/>
            <a:chOff x="4943078" y="1700704"/>
            <a:chExt cx="6120284" cy="725177"/>
          </a:xfrm>
        </p:grpSpPr>
        <p:sp>
          <p:nvSpPr>
            <p:cNvPr id="15" name="标题">
              <a:extLst>
                <a:ext uri="{FF2B5EF4-FFF2-40B4-BE49-F238E27FC236}">
                  <a16:creationId xmlns:a16="http://schemas.microsoft.com/office/drawing/2014/main" id="{EB9E02EF-7D2B-02DA-3C74-5B28CE440FEB}"/>
                </a:ext>
              </a:extLst>
            </p:cNvPr>
            <p:cNvSpPr/>
            <p:nvPr/>
          </p:nvSpPr>
          <p:spPr bwMode="auto">
            <a:xfrm>
              <a:off x="5459860" y="1773851"/>
              <a:ext cx="5603502" cy="578882"/>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800" b="1" dirty="0">
                  <a:solidFill>
                    <a:schemeClr val="bg1"/>
                  </a:solidFill>
                  <a:latin typeface="Stencil" panose="040409050D0802020404" pitchFamily="82" charset="0"/>
                </a:rPr>
                <a:t>能处理劳斯判据特殊情况</a:t>
              </a:r>
            </a:p>
          </p:txBody>
        </p:sp>
        <p:sp>
          <p:nvSpPr>
            <p:cNvPr id="16" name="序号">
              <a:extLst>
                <a:ext uri="{FF2B5EF4-FFF2-40B4-BE49-F238E27FC236}">
                  <a16:creationId xmlns:a16="http://schemas.microsoft.com/office/drawing/2014/main" id="{E749324C-E86E-7EF5-6347-DDC3A7346693}"/>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03</a:t>
              </a:r>
              <a:endParaRPr lang="zh-CN" altLang="en-US" sz="3200" dirty="0">
                <a:solidFill>
                  <a:schemeClr val="bg1"/>
                </a:solidFill>
                <a:latin typeface="Stencil" panose="040409050D0802020404" pitchFamily="82" charset="0"/>
              </a:endParaRPr>
            </a:p>
          </p:txBody>
        </p:sp>
      </p:grpSp>
      <p:grpSp>
        <p:nvGrpSpPr>
          <p:cNvPr id="17" name="步骤4">
            <a:extLst>
              <a:ext uri="{FF2B5EF4-FFF2-40B4-BE49-F238E27FC236}">
                <a16:creationId xmlns:a16="http://schemas.microsoft.com/office/drawing/2014/main" id="{74A91B15-9FD5-97BB-0766-BB3812A25282}"/>
              </a:ext>
            </a:extLst>
          </p:cNvPr>
          <p:cNvGrpSpPr/>
          <p:nvPr/>
        </p:nvGrpSpPr>
        <p:grpSpPr>
          <a:xfrm>
            <a:off x="5735166" y="5463087"/>
            <a:ext cx="6120284" cy="725177"/>
            <a:chOff x="4943078" y="1700704"/>
            <a:chExt cx="6120284" cy="725177"/>
          </a:xfrm>
        </p:grpSpPr>
        <p:sp>
          <p:nvSpPr>
            <p:cNvPr id="18" name="标题">
              <a:extLst>
                <a:ext uri="{FF2B5EF4-FFF2-40B4-BE49-F238E27FC236}">
                  <a16:creationId xmlns:a16="http://schemas.microsoft.com/office/drawing/2014/main" id="{8DEA9CB0-0441-88E1-21D6-8155790CAB78}"/>
                </a:ext>
              </a:extLst>
            </p:cNvPr>
            <p:cNvSpPr/>
            <p:nvPr/>
          </p:nvSpPr>
          <p:spPr bwMode="auto">
            <a:xfrm>
              <a:off x="5459860" y="1807902"/>
              <a:ext cx="5603502" cy="510778"/>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2400" b="1" dirty="0">
                  <a:solidFill>
                    <a:schemeClr val="bg1"/>
                  </a:solidFill>
                  <a:latin typeface="Stencil" panose="040409050D0802020404" pitchFamily="82" charset="0"/>
                </a:rPr>
                <a:t>能运用劳斯判据确定参数稳定范围</a:t>
              </a:r>
            </a:p>
          </p:txBody>
        </p:sp>
        <p:sp>
          <p:nvSpPr>
            <p:cNvPr id="19" name="序号">
              <a:extLst>
                <a:ext uri="{FF2B5EF4-FFF2-40B4-BE49-F238E27FC236}">
                  <a16:creationId xmlns:a16="http://schemas.microsoft.com/office/drawing/2014/main" id="{8221103E-E915-9992-911C-50C0B81E40C4}"/>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04</a:t>
              </a:r>
              <a:endParaRPr lang="zh-CN" altLang="en-US" sz="3200" dirty="0">
                <a:solidFill>
                  <a:schemeClr val="bg1"/>
                </a:solidFill>
                <a:latin typeface="Stencil" panose="040409050D0802020404" pitchFamily="82" charset="0"/>
              </a:endParaRPr>
            </a:p>
          </p:txBody>
        </p:sp>
      </p:grpSp>
      <p:sp>
        <p:nvSpPr>
          <p:cNvPr id="26" name="学习目标">
            <a:extLst>
              <a:ext uri="{FF2B5EF4-FFF2-40B4-BE49-F238E27FC236}">
                <a16:creationId xmlns:a16="http://schemas.microsoft.com/office/drawing/2014/main" id="{75F2FD80-C54D-CDC7-7E54-494CB4F6BFF0}"/>
              </a:ext>
            </a:extLst>
          </p:cNvPr>
          <p:cNvSpPr/>
          <p:nvPr/>
        </p:nvSpPr>
        <p:spPr bwMode="auto">
          <a:xfrm>
            <a:off x="8257290" y="1279325"/>
            <a:ext cx="1888036"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zh-CN" altLang="en-US" sz="3200" b="1" dirty="0">
                <a:solidFill>
                  <a:schemeClr val="bg1"/>
                </a:solidFill>
                <a:latin typeface="Stencil" panose="040409050D0802020404" pitchFamily="82" charset="0"/>
              </a:rPr>
              <a:t>学习目标</a:t>
            </a:r>
          </a:p>
        </p:txBody>
      </p:sp>
      <p:sp>
        <p:nvSpPr>
          <p:cNvPr id="2" name="燕尾形 1">
            <a:extLst>
              <a:ext uri="{FF2B5EF4-FFF2-40B4-BE49-F238E27FC236}">
                <a16:creationId xmlns:a16="http://schemas.microsoft.com/office/drawing/2014/main" id="{870C4953-2275-A95B-BFD3-F6796FC19636}"/>
              </a:ext>
            </a:extLst>
          </p:cNvPr>
          <p:cNvSpPr/>
          <p:nvPr/>
        </p:nvSpPr>
        <p:spPr>
          <a:xfrm>
            <a:off x="7097877" y="1350973"/>
            <a:ext cx="316556" cy="503689"/>
          </a:xfrm>
          <a:prstGeom prst="chevron">
            <a:avLst>
              <a:gd name="adj" fmla="val 48030"/>
            </a:avLst>
          </a:prstGeom>
          <a:solidFill>
            <a:schemeClr val="accent2"/>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solidFill>
                <a:schemeClr val="tx1"/>
              </a:solidFill>
            </a:endParaRPr>
          </a:p>
        </p:txBody>
      </p:sp>
      <p:graphicFrame>
        <p:nvGraphicFramePr>
          <p:cNvPr id="23" name="章节">
            <a:extLst>
              <a:ext uri="{FF2B5EF4-FFF2-40B4-BE49-F238E27FC236}">
                <a16:creationId xmlns:a16="http://schemas.microsoft.com/office/drawing/2014/main" id="{6816B119-56A5-89AC-69AF-B75726CA019A}"/>
              </a:ext>
            </a:extLst>
          </p:cNvPr>
          <p:cNvGraphicFramePr>
            <a:graphicFrameLocks noGrp="1"/>
          </p:cNvGraphicFramePr>
          <p:nvPr/>
        </p:nvGraphicFramePr>
        <p:xfrm>
          <a:off x="-1" y="0"/>
          <a:ext cx="12190416" cy="1036320"/>
        </p:xfrm>
        <a:graphic>
          <a:graphicData uri="http://schemas.openxmlformats.org/drawingml/2006/table">
            <a:tbl>
              <a:tblPr firstRow="1" bandRow="1">
                <a:tableStyleId>{2D5ABB26-0587-4C30-8999-92F81FD0307C}</a:tableStyleId>
              </a:tblPr>
              <a:tblGrid>
                <a:gridCol w="2031736">
                  <a:extLst>
                    <a:ext uri="{9D8B030D-6E8A-4147-A177-3AD203B41FA5}">
                      <a16:colId xmlns:a16="http://schemas.microsoft.com/office/drawing/2014/main" val="3932476852"/>
                    </a:ext>
                  </a:extLst>
                </a:gridCol>
                <a:gridCol w="2031736">
                  <a:extLst>
                    <a:ext uri="{9D8B030D-6E8A-4147-A177-3AD203B41FA5}">
                      <a16:colId xmlns:a16="http://schemas.microsoft.com/office/drawing/2014/main" val="820694549"/>
                    </a:ext>
                  </a:extLst>
                </a:gridCol>
                <a:gridCol w="2031736">
                  <a:extLst>
                    <a:ext uri="{9D8B030D-6E8A-4147-A177-3AD203B41FA5}">
                      <a16:colId xmlns:a16="http://schemas.microsoft.com/office/drawing/2014/main" val="1219869502"/>
                    </a:ext>
                  </a:extLst>
                </a:gridCol>
                <a:gridCol w="2031736">
                  <a:extLst>
                    <a:ext uri="{9D8B030D-6E8A-4147-A177-3AD203B41FA5}">
                      <a16:colId xmlns:a16="http://schemas.microsoft.com/office/drawing/2014/main" val="3167948240"/>
                    </a:ext>
                  </a:extLst>
                </a:gridCol>
                <a:gridCol w="2031736">
                  <a:extLst>
                    <a:ext uri="{9D8B030D-6E8A-4147-A177-3AD203B41FA5}">
                      <a16:colId xmlns:a16="http://schemas.microsoft.com/office/drawing/2014/main" val="4246396411"/>
                    </a:ext>
                  </a:extLst>
                </a:gridCol>
                <a:gridCol w="2031736">
                  <a:extLst>
                    <a:ext uri="{9D8B030D-6E8A-4147-A177-3AD203B41FA5}">
                      <a16:colId xmlns:a16="http://schemas.microsoft.com/office/drawing/2014/main" val="527655691"/>
                    </a:ext>
                  </a:extLst>
                </a:gridCol>
              </a:tblGrid>
              <a:tr h="370840">
                <a:tc>
                  <a:txBody>
                    <a:bodyPr/>
                    <a:lstStyle/>
                    <a:p>
                      <a:pPr algn="ctr"/>
                      <a:r>
                        <a:rPr lang="zh-CN" altLang="en-US" sz="2800" dirty="0">
                          <a:solidFill>
                            <a:srgbClr val="002060"/>
                          </a:solidFill>
                        </a:rPr>
                        <a:t>第一章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第二章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第三章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第四章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第五章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solidFill>
                            <a:srgbClr val="002060"/>
                          </a:solidFill>
                        </a:rPr>
                        <a:t>第六章</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extLst>
                  <a:ext uri="{0D108BD9-81ED-4DB2-BD59-A6C34878D82A}">
                    <a16:rowId xmlns:a16="http://schemas.microsoft.com/office/drawing/2014/main" val="1851994583"/>
                  </a:ext>
                </a:extLst>
              </a:tr>
              <a:tr h="370840">
                <a:tc>
                  <a:txBody>
                    <a:bodyPr/>
                    <a:lstStyle/>
                    <a:p>
                      <a:pPr algn="ctr"/>
                      <a:r>
                        <a:rPr lang="zh-CN" altLang="en-US" sz="2800" dirty="0">
                          <a:solidFill>
                            <a:srgbClr val="002060"/>
                          </a:solidFill>
                        </a:rPr>
                        <a:t>基本概念</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数学模型</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时域分析法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根轨迹法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频域分析法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tc>
                  <a:txBody>
                    <a:bodyPr/>
                    <a:lstStyle/>
                    <a:p>
                      <a:pPr algn="ctr"/>
                      <a:r>
                        <a:rPr lang="zh-CN" altLang="en-US" sz="2800" dirty="0">
                          <a:solidFill>
                            <a:srgbClr val="002060"/>
                          </a:solidFill>
                        </a:rPr>
                        <a:t>校正方法</a:t>
                      </a:r>
                    </a:p>
                  </a:txBody>
                  <a:tcPr>
                    <a:lnL w="12700" cap="flat" cmpd="sng" algn="ctr">
                      <a:solidFill>
                        <a:srgbClr val="002060"/>
                      </a:solidFill>
                      <a:prstDash val="sysDash"/>
                      <a:round/>
                      <a:headEnd type="none" w="med" len="med"/>
                      <a:tailEnd type="none" w="med" len="med"/>
                    </a:lnL>
                    <a:lnR w="12700" cap="flat" cmpd="sng" algn="ctr">
                      <a:solidFill>
                        <a:srgbClr val="002060"/>
                      </a:solidFill>
                      <a:prstDash val="sysDash"/>
                      <a:round/>
                      <a:headEnd type="none" w="med" len="med"/>
                      <a:tailEnd type="none" w="med" len="med"/>
                    </a:lnR>
                    <a:lnT w="12700" cap="flat" cmpd="sng" algn="ctr">
                      <a:solidFill>
                        <a:srgbClr val="002060"/>
                      </a:solidFill>
                      <a:prstDash val="sysDash"/>
                      <a:round/>
                      <a:headEnd type="none" w="med" len="med"/>
                      <a:tailEnd type="none" w="med" len="med"/>
                    </a:lnT>
                    <a:lnB w="12700" cap="flat" cmpd="sng" algn="ctr">
                      <a:solidFill>
                        <a:srgbClr val="002060"/>
                      </a:solidFill>
                      <a:prstDash val="sysDash"/>
                      <a:round/>
                      <a:headEnd type="none" w="med" len="med"/>
                      <a:tailEnd type="none" w="med" len="med"/>
                    </a:lnB>
                  </a:tcPr>
                </a:tc>
                <a:extLst>
                  <a:ext uri="{0D108BD9-81ED-4DB2-BD59-A6C34878D82A}">
                    <a16:rowId xmlns:a16="http://schemas.microsoft.com/office/drawing/2014/main" val="1535605781"/>
                  </a:ext>
                </a:extLst>
              </a:tr>
            </a:tbl>
          </a:graphicData>
        </a:graphic>
      </p:graphicFrame>
      <p:sp>
        <p:nvSpPr>
          <p:cNvPr id="25" name="强调">
            <a:extLst>
              <a:ext uri="{FF2B5EF4-FFF2-40B4-BE49-F238E27FC236}">
                <a16:creationId xmlns:a16="http://schemas.microsoft.com/office/drawing/2014/main" id="{7A050445-FC6D-0973-47D8-556F335924C5}"/>
              </a:ext>
            </a:extLst>
          </p:cNvPr>
          <p:cNvSpPr/>
          <p:nvPr/>
        </p:nvSpPr>
        <p:spPr>
          <a:xfrm>
            <a:off x="4059510" y="-7954"/>
            <a:ext cx="2026800" cy="1036320"/>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重点">
            <a:extLst>
              <a:ext uri="{FF2B5EF4-FFF2-40B4-BE49-F238E27FC236}">
                <a16:creationId xmlns:a16="http://schemas.microsoft.com/office/drawing/2014/main" id="{E7AF913B-94CD-0D9E-9D1E-15E41E75B3A9}"/>
              </a:ext>
            </a:extLst>
          </p:cNvPr>
          <p:cNvSpPr/>
          <p:nvPr/>
        </p:nvSpPr>
        <p:spPr bwMode="auto">
          <a:xfrm>
            <a:off x="5735166" y="3498606"/>
            <a:ext cx="725177" cy="725177"/>
          </a:xfrm>
          <a:prstGeom prst="ellipse">
            <a:avLst/>
          </a:prstGeom>
          <a:solidFill>
            <a:srgbClr val="E44860"/>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zh-CN" altLang="en-US" sz="3200" b="1" dirty="0">
                <a:solidFill>
                  <a:schemeClr val="bg1"/>
                </a:solidFill>
                <a:latin typeface="Stencil" panose="040409050D0802020404" pitchFamily="82" charset="0"/>
              </a:rPr>
              <a:t>重</a:t>
            </a:r>
          </a:p>
        </p:txBody>
      </p:sp>
      <p:sp>
        <p:nvSpPr>
          <p:cNvPr id="30" name="难点">
            <a:extLst>
              <a:ext uri="{FF2B5EF4-FFF2-40B4-BE49-F238E27FC236}">
                <a16:creationId xmlns:a16="http://schemas.microsoft.com/office/drawing/2014/main" id="{76867F75-98E0-71CE-4432-9B760E5E57B4}"/>
              </a:ext>
            </a:extLst>
          </p:cNvPr>
          <p:cNvSpPr/>
          <p:nvPr/>
        </p:nvSpPr>
        <p:spPr bwMode="auto">
          <a:xfrm>
            <a:off x="5731824" y="5463085"/>
            <a:ext cx="725177" cy="725177"/>
          </a:xfrm>
          <a:prstGeom prst="ellipse">
            <a:avLst/>
          </a:prstGeom>
          <a:solidFill>
            <a:schemeClr val="tx1"/>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zh-CN" altLang="en-US" sz="3200" b="1" dirty="0">
                <a:solidFill>
                  <a:schemeClr val="bg1"/>
                </a:solidFill>
                <a:latin typeface="Stencil" panose="040409050D0802020404" pitchFamily="82" charset="0"/>
              </a:rPr>
              <a:t>难</a:t>
            </a:r>
          </a:p>
        </p:txBody>
      </p:sp>
      <p:sp>
        <p:nvSpPr>
          <p:cNvPr id="22" name="节段8">
            <a:extLst>
              <a:ext uri="{FF2B5EF4-FFF2-40B4-BE49-F238E27FC236}">
                <a16:creationId xmlns:a16="http://schemas.microsoft.com/office/drawing/2014/main" id="{B52767D9-4897-237C-2F3B-B73D5AC47A32}"/>
              </a:ext>
            </a:extLst>
          </p:cNvPr>
          <p:cNvSpPr/>
          <p:nvPr/>
        </p:nvSpPr>
        <p:spPr bwMode="auto">
          <a:xfrm>
            <a:off x="520016" y="1285430"/>
            <a:ext cx="5551200"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3200" b="1" dirty="0">
                <a:solidFill>
                  <a:schemeClr val="bg1"/>
                </a:solidFill>
                <a:latin typeface="Stencil" panose="040409050D0802020404" pitchFamily="82" charset="0"/>
              </a:rPr>
              <a:t>8.</a:t>
            </a:r>
            <a:r>
              <a:rPr lang="zh-CN" altLang="en-US" sz="3200" b="1" dirty="0">
                <a:solidFill>
                  <a:schemeClr val="bg1"/>
                </a:solidFill>
                <a:latin typeface="Stencil" panose="040409050D0802020404" pitchFamily="82" charset="0"/>
              </a:rPr>
              <a:t>   稳定：控制系统首要任务</a:t>
            </a:r>
          </a:p>
        </p:txBody>
      </p:sp>
    </p:spTree>
    <p:extLst>
      <p:ext uri="{BB962C8B-B14F-4D97-AF65-F5344CB8AC3E}">
        <p14:creationId xmlns:p14="http://schemas.microsoft.com/office/powerpoint/2010/main" val="2826082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0-#ppt_w/2"/>
                                          </p:val>
                                        </p:tav>
                                        <p:tav tm="100000">
                                          <p:val>
                                            <p:strVal val="#ppt_x"/>
                                          </p:val>
                                        </p:tav>
                                      </p:tavLst>
                                    </p:anim>
                                    <p:anim calcmode="lin" valueType="num">
                                      <p:cBhvr additive="base">
                                        <p:cTn id="14" dur="500" fill="hold"/>
                                        <p:tgtEl>
                                          <p:spTgt spid="25"/>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12" presetClass="entr" presetSubtype="8"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ppt_x</p:attrName>
                                        </p:attrNameLst>
                                      </p:cBhvr>
                                      <p:tavLst>
                                        <p:tav tm="0">
                                          <p:val>
                                            <p:strVal val="#ppt_x-#ppt_w*1.125000"/>
                                          </p:val>
                                        </p:tav>
                                        <p:tav tm="100000">
                                          <p:val>
                                            <p:strVal val="#ppt_x"/>
                                          </p:val>
                                        </p:tav>
                                      </p:tavLst>
                                    </p:anim>
                                    <p:animEffect transition="in" filter="wipe(right)">
                                      <p:cBhvr>
                                        <p:cTn id="19" dur="500"/>
                                        <p:tgtEl>
                                          <p:spTgt spid="2"/>
                                        </p:tgtEl>
                                      </p:cBhvr>
                                    </p:animEffect>
                                  </p:childTnLst>
                                </p:cTn>
                              </p:par>
                            </p:childTnLst>
                          </p:cTn>
                        </p:par>
                        <p:par>
                          <p:cTn id="20" fill="hold">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p:tgtEl>
                                          <p:spTgt spid="26"/>
                                        </p:tgtEl>
                                        <p:attrNameLst>
                                          <p:attrName>ppt_x</p:attrName>
                                        </p:attrNameLst>
                                      </p:cBhvr>
                                      <p:tavLst>
                                        <p:tav tm="0">
                                          <p:val>
                                            <p:strVal val="#ppt_x-#ppt_w*1.125000"/>
                                          </p:val>
                                        </p:tav>
                                        <p:tav tm="100000">
                                          <p:val>
                                            <p:strVal val="#ppt_x"/>
                                          </p:val>
                                        </p:tav>
                                      </p:tavLst>
                                    </p:anim>
                                    <p:animEffect transition="in" filter="wipe(right)">
                                      <p:cBhvr>
                                        <p:cTn id="24" dur="500"/>
                                        <p:tgtEl>
                                          <p:spTgt spid="26"/>
                                        </p:tgtEl>
                                      </p:cBhvr>
                                    </p:animEffect>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par>
                          <p:cTn id="33" fill="hold">
                            <p:stCondLst>
                              <p:cond delay="3500"/>
                            </p:stCondLst>
                            <p:childTnLst>
                              <p:par>
                                <p:cTn id="34" presetID="22" presetClass="entr" presetSubtype="8"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par>
                          <p:cTn id="37" fill="hold">
                            <p:stCondLst>
                              <p:cond delay="4000"/>
                            </p:stCondLst>
                            <p:childTnLst>
                              <p:par>
                                <p:cTn id="38" presetID="22" presetClass="entr" presetSubtype="8" fill="hold"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32"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500" fill="hold"/>
                                        <p:tgtEl>
                                          <p:spTgt spid="29"/>
                                        </p:tgtEl>
                                        <p:attrNameLst>
                                          <p:attrName>ppt_w</p:attrName>
                                        </p:attrNameLst>
                                      </p:cBhvr>
                                      <p:tavLst>
                                        <p:tav tm="0">
                                          <p:val>
                                            <p:strVal val="4*#ppt_w"/>
                                          </p:val>
                                        </p:tav>
                                        <p:tav tm="100000">
                                          <p:val>
                                            <p:strVal val="#ppt_w"/>
                                          </p:val>
                                        </p:tav>
                                      </p:tavLst>
                                    </p:anim>
                                    <p:anim calcmode="lin" valueType="num">
                                      <p:cBhvr>
                                        <p:cTn id="46" dur="500" fill="hold"/>
                                        <p:tgtEl>
                                          <p:spTgt spid="29"/>
                                        </p:tgtEl>
                                        <p:attrNameLst>
                                          <p:attrName>ppt_h</p:attrName>
                                        </p:attrNameLst>
                                      </p:cBhvr>
                                      <p:tavLst>
                                        <p:tav tm="0">
                                          <p:val>
                                            <p:strVal val="4*#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32"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p:cTn id="51" dur="500" fill="hold"/>
                                        <p:tgtEl>
                                          <p:spTgt spid="30"/>
                                        </p:tgtEl>
                                        <p:attrNameLst>
                                          <p:attrName>ppt_w</p:attrName>
                                        </p:attrNameLst>
                                      </p:cBhvr>
                                      <p:tavLst>
                                        <p:tav tm="0">
                                          <p:val>
                                            <p:strVal val="4*#ppt_w"/>
                                          </p:val>
                                        </p:tav>
                                        <p:tav tm="100000">
                                          <p:val>
                                            <p:strVal val="#ppt_w"/>
                                          </p:val>
                                        </p:tav>
                                      </p:tavLst>
                                    </p:anim>
                                    <p:anim calcmode="lin" valueType="num">
                                      <p:cBhvr>
                                        <p:cTn id="52" dur="500" fill="hold"/>
                                        <p:tgtEl>
                                          <p:spTgt spid="30"/>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 grpId="0" animBg="1"/>
      <p:bldP spid="25"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78582" y="355727"/>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稳定性的概念</a:t>
            </a:r>
          </a:p>
        </p:txBody>
      </p:sp>
      <p:sp>
        <p:nvSpPr>
          <p:cNvPr id="44" name="文本框 43">
            <a:extLst>
              <a:ext uri="{FF2B5EF4-FFF2-40B4-BE49-F238E27FC236}">
                <a16:creationId xmlns:a16="http://schemas.microsoft.com/office/drawing/2014/main" id="{96B64494-A803-E6E6-3633-8E23BF6ED6B0}"/>
              </a:ext>
            </a:extLst>
          </p:cNvPr>
          <p:cNvSpPr txBox="1"/>
          <p:nvPr/>
        </p:nvSpPr>
        <p:spPr>
          <a:xfrm>
            <a:off x="334963" y="1052737"/>
            <a:ext cx="10512771" cy="954107"/>
          </a:xfrm>
          <a:prstGeom prst="rect">
            <a:avLst/>
          </a:prstGeom>
          <a:noFill/>
        </p:spPr>
        <p:txBody>
          <a:bodyPr wrap="square">
            <a:spAutoFit/>
          </a:bodyPr>
          <a:lstStyle/>
          <a:p>
            <a:r>
              <a:rPr lang="zh-CN" altLang="en-US" sz="2800" dirty="0"/>
              <a:t>稳定是控制系统正常工作的首要条件。分析、判定系统的稳定性，并提出确保系统稳定的条件是自动控制理论的基本任务之一。</a:t>
            </a:r>
          </a:p>
        </p:txBody>
      </p:sp>
      <p:sp>
        <p:nvSpPr>
          <p:cNvPr id="49" name="任意形状 48">
            <a:extLst>
              <a:ext uri="{FF2B5EF4-FFF2-40B4-BE49-F238E27FC236}">
                <a16:creationId xmlns:a16="http://schemas.microsoft.com/office/drawing/2014/main" id="{932CD110-5C11-6747-4BEF-093653E886E4}"/>
              </a:ext>
            </a:extLst>
          </p:cNvPr>
          <p:cNvSpPr/>
          <p:nvPr/>
        </p:nvSpPr>
        <p:spPr>
          <a:xfrm>
            <a:off x="1846734" y="2492896"/>
            <a:ext cx="2016224" cy="1296144"/>
          </a:xfrm>
          <a:custGeom>
            <a:avLst/>
            <a:gdLst>
              <a:gd name="connsiteX0" fmla="*/ 0 w 2016224"/>
              <a:gd name="connsiteY0" fmla="*/ 0 h 1296144"/>
              <a:gd name="connsiteX1" fmla="*/ 1008112 w 2016224"/>
              <a:gd name="connsiteY1" fmla="*/ 720080 h 1296144"/>
              <a:gd name="connsiteX2" fmla="*/ 2016224 w 2016224"/>
              <a:gd name="connsiteY2" fmla="*/ 0 h 1296144"/>
              <a:gd name="connsiteX3" fmla="*/ 2016224 w 2016224"/>
              <a:gd name="connsiteY3" fmla="*/ 1296144 h 1296144"/>
              <a:gd name="connsiteX4" fmla="*/ 0 w 2016224"/>
              <a:gd name="connsiteY4" fmla="*/ 1296144 h 129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6224" h="1296144">
                <a:moveTo>
                  <a:pt x="0" y="0"/>
                </a:moveTo>
                <a:cubicBezTo>
                  <a:pt x="0" y="397689"/>
                  <a:pt x="451347" y="720080"/>
                  <a:pt x="1008112" y="720080"/>
                </a:cubicBezTo>
                <a:cubicBezTo>
                  <a:pt x="1564877" y="720080"/>
                  <a:pt x="2016224" y="397689"/>
                  <a:pt x="2016224" y="0"/>
                </a:cubicBezTo>
                <a:lnTo>
                  <a:pt x="2016224" y="1296144"/>
                </a:lnTo>
                <a:lnTo>
                  <a:pt x="0" y="1296144"/>
                </a:lnTo>
                <a:close/>
              </a:path>
            </a:pathLst>
          </a:custGeom>
          <a:pattFill prst="wdUpDiag">
            <a:fgClr>
              <a:srgbClr val="1E6787"/>
            </a:fgClr>
            <a:bgClr>
              <a:schemeClr val="bg1"/>
            </a:bgClr>
          </a:pattFill>
          <a:ln>
            <a:solidFill>
              <a:srgbClr val="1E6787"/>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2800"/>
          </a:p>
        </p:txBody>
      </p:sp>
      <p:sp>
        <p:nvSpPr>
          <p:cNvPr id="47" name="矩形 46">
            <a:extLst>
              <a:ext uri="{FF2B5EF4-FFF2-40B4-BE49-F238E27FC236}">
                <a16:creationId xmlns:a16="http://schemas.microsoft.com/office/drawing/2014/main" id="{08B37156-457E-90E5-8A5B-149231C61355}"/>
              </a:ext>
            </a:extLst>
          </p:cNvPr>
          <p:cNvSpPr/>
          <p:nvPr/>
        </p:nvSpPr>
        <p:spPr>
          <a:xfrm>
            <a:off x="5087094" y="3068960"/>
            <a:ext cx="2016224" cy="720080"/>
          </a:xfrm>
          <a:prstGeom prst="rect">
            <a:avLst/>
          </a:prstGeom>
          <a:pattFill prst="wdUpDiag">
            <a:fgClr>
              <a:srgbClr val="1E6787"/>
            </a:fgClr>
            <a:bgClr>
              <a:schemeClr val="bg1"/>
            </a:bgClr>
          </a:pattFill>
          <a:ln>
            <a:solidFill>
              <a:srgbClr val="1E67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58" name="任意形状 57">
            <a:extLst>
              <a:ext uri="{FF2B5EF4-FFF2-40B4-BE49-F238E27FC236}">
                <a16:creationId xmlns:a16="http://schemas.microsoft.com/office/drawing/2014/main" id="{D31EBBE4-5D55-2D7C-F39F-9CC9BB1B9859}"/>
              </a:ext>
            </a:extLst>
          </p:cNvPr>
          <p:cNvSpPr/>
          <p:nvPr/>
        </p:nvSpPr>
        <p:spPr>
          <a:xfrm>
            <a:off x="8327454" y="3068960"/>
            <a:ext cx="2016224" cy="720080"/>
          </a:xfrm>
          <a:custGeom>
            <a:avLst/>
            <a:gdLst>
              <a:gd name="connsiteX0" fmla="*/ 1008112 w 2016224"/>
              <a:gd name="connsiteY0" fmla="*/ 0 h 720080"/>
              <a:gd name="connsiteX1" fmla="*/ 2016224 w 2016224"/>
              <a:gd name="connsiteY1" fmla="*/ 720080 h 720080"/>
              <a:gd name="connsiteX2" fmla="*/ 0 w 2016224"/>
              <a:gd name="connsiteY2" fmla="*/ 720080 h 720080"/>
              <a:gd name="connsiteX3" fmla="*/ 1008112 w 2016224"/>
              <a:gd name="connsiteY3" fmla="*/ 0 h 720080"/>
            </a:gdLst>
            <a:ahLst/>
            <a:cxnLst>
              <a:cxn ang="0">
                <a:pos x="connsiteX0" y="connsiteY0"/>
              </a:cxn>
              <a:cxn ang="0">
                <a:pos x="connsiteX1" y="connsiteY1"/>
              </a:cxn>
              <a:cxn ang="0">
                <a:pos x="connsiteX2" y="connsiteY2"/>
              </a:cxn>
              <a:cxn ang="0">
                <a:pos x="connsiteX3" y="connsiteY3"/>
              </a:cxn>
            </a:cxnLst>
            <a:rect l="l" t="t" r="r" b="b"/>
            <a:pathLst>
              <a:path w="2016224" h="720080">
                <a:moveTo>
                  <a:pt x="1008112" y="0"/>
                </a:moveTo>
                <a:cubicBezTo>
                  <a:pt x="1564877" y="0"/>
                  <a:pt x="2016224" y="322391"/>
                  <a:pt x="2016224" y="720080"/>
                </a:cubicBezTo>
                <a:lnTo>
                  <a:pt x="0" y="720080"/>
                </a:lnTo>
                <a:cubicBezTo>
                  <a:pt x="0" y="322391"/>
                  <a:pt x="451347" y="0"/>
                  <a:pt x="1008112" y="0"/>
                </a:cubicBezTo>
                <a:close/>
              </a:path>
            </a:pathLst>
          </a:custGeom>
          <a:pattFill prst="wdUpDiag">
            <a:fgClr>
              <a:srgbClr val="1E6787"/>
            </a:fgClr>
            <a:bgClr>
              <a:schemeClr val="bg1"/>
            </a:bgClr>
          </a:pattFill>
          <a:ln>
            <a:solidFill>
              <a:srgbClr val="1E6787"/>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2800"/>
          </a:p>
        </p:txBody>
      </p:sp>
      <p:sp>
        <p:nvSpPr>
          <p:cNvPr id="5" name="椭圆 4">
            <a:extLst>
              <a:ext uri="{FF2B5EF4-FFF2-40B4-BE49-F238E27FC236}">
                <a16:creationId xmlns:a16="http://schemas.microsoft.com/office/drawing/2014/main" id="{B3129B2F-7B99-05B5-16E2-3009F2026938}"/>
              </a:ext>
            </a:extLst>
          </p:cNvPr>
          <p:cNvSpPr/>
          <p:nvPr/>
        </p:nvSpPr>
        <p:spPr>
          <a:xfrm>
            <a:off x="2710830" y="2924944"/>
            <a:ext cx="288032" cy="288032"/>
          </a:xfrm>
          <a:prstGeom prst="ellipse">
            <a:avLst/>
          </a:prstGeom>
          <a:solidFill>
            <a:srgbClr val="E448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60" name="椭圆 59">
            <a:extLst>
              <a:ext uri="{FF2B5EF4-FFF2-40B4-BE49-F238E27FC236}">
                <a16:creationId xmlns:a16="http://schemas.microsoft.com/office/drawing/2014/main" id="{4C93F27B-8E4B-CFFD-EBDF-2415BF309095}"/>
              </a:ext>
            </a:extLst>
          </p:cNvPr>
          <p:cNvSpPr/>
          <p:nvPr/>
        </p:nvSpPr>
        <p:spPr>
          <a:xfrm>
            <a:off x="5951072" y="2780928"/>
            <a:ext cx="288032" cy="288032"/>
          </a:xfrm>
          <a:prstGeom prst="ellipse">
            <a:avLst/>
          </a:prstGeom>
          <a:solidFill>
            <a:srgbClr val="E448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63" name="椭圆 62">
            <a:extLst>
              <a:ext uri="{FF2B5EF4-FFF2-40B4-BE49-F238E27FC236}">
                <a16:creationId xmlns:a16="http://schemas.microsoft.com/office/drawing/2014/main" id="{8D5AFD83-9199-B8A5-2C2A-F3846FA6CC48}"/>
              </a:ext>
            </a:extLst>
          </p:cNvPr>
          <p:cNvSpPr/>
          <p:nvPr/>
        </p:nvSpPr>
        <p:spPr>
          <a:xfrm>
            <a:off x="9191432" y="2780928"/>
            <a:ext cx="288032" cy="288032"/>
          </a:xfrm>
          <a:prstGeom prst="ellipse">
            <a:avLst/>
          </a:prstGeom>
          <a:solidFill>
            <a:srgbClr val="E448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64" name="文本框 63">
            <a:extLst>
              <a:ext uri="{FF2B5EF4-FFF2-40B4-BE49-F238E27FC236}">
                <a16:creationId xmlns:a16="http://schemas.microsoft.com/office/drawing/2014/main" id="{F876A7E6-F084-7AC2-3E93-64DD2127062A}"/>
              </a:ext>
            </a:extLst>
          </p:cNvPr>
          <p:cNvSpPr txBox="1"/>
          <p:nvPr/>
        </p:nvSpPr>
        <p:spPr>
          <a:xfrm>
            <a:off x="2332260" y="3990256"/>
            <a:ext cx="1045173" cy="523220"/>
          </a:xfrm>
          <a:prstGeom prst="rect">
            <a:avLst/>
          </a:prstGeom>
          <a:noFill/>
        </p:spPr>
        <p:txBody>
          <a:bodyPr wrap="square">
            <a:spAutoFit/>
          </a:bodyPr>
          <a:lstStyle/>
          <a:p>
            <a:pPr algn="ctr"/>
            <a:r>
              <a:rPr lang="zh-CN" altLang="en-US" sz="2800" dirty="0"/>
              <a:t>稳定</a:t>
            </a:r>
          </a:p>
        </p:txBody>
      </p:sp>
      <p:sp>
        <p:nvSpPr>
          <p:cNvPr id="67" name="文本框 66">
            <a:extLst>
              <a:ext uri="{FF2B5EF4-FFF2-40B4-BE49-F238E27FC236}">
                <a16:creationId xmlns:a16="http://schemas.microsoft.com/office/drawing/2014/main" id="{039EB284-8953-C31E-2DB0-B75F5FF88C9F}"/>
              </a:ext>
            </a:extLst>
          </p:cNvPr>
          <p:cNvSpPr txBox="1"/>
          <p:nvPr/>
        </p:nvSpPr>
        <p:spPr>
          <a:xfrm>
            <a:off x="5280314" y="3962284"/>
            <a:ext cx="1701395" cy="523220"/>
          </a:xfrm>
          <a:prstGeom prst="rect">
            <a:avLst/>
          </a:prstGeom>
          <a:noFill/>
        </p:spPr>
        <p:txBody>
          <a:bodyPr wrap="square">
            <a:spAutoFit/>
          </a:bodyPr>
          <a:lstStyle/>
          <a:p>
            <a:pPr algn="ctr"/>
            <a:r>
              <a:rPr lang="zh-CN" altLang="en-US" sz="2800" dirty="0"/>
              <a:t> 临界稳定</a:t>
            </a:r>
          </a:p>
        </p:txBody>
      </p:sp>
      <p:sp>
        <p:nvSpPr>
          <p:cNvPr id="68" name="文本框 67">
            <a:extLst>
              <a:ext uri="{FF2B5EF4-FFF2-40B4-BE49-F238E27FC236}">
                <a16:creationId xmlns:a16="http://schemas.microsoft.com/office/drawing/2014/main" id="{AF8E8FBC-0002-DA8A-8770-4613F3A4EFC7}"/>
              </a:ext>
            </a:extLst>
          </p:cNvPr>
          <p:cNvSpPr txBox="1"/>
          <p:nvPr/>
        </p:nvSpPr>
        <p:spPr>
          <a:xfrm>
            <a:off x="8678052" y="3990255"/>
            <a:ext cx="1314793" cy="523220"/>
          </a:xfrm>
          <a:prstGeom prst="rect">
            <a:avLst/>
          </a:prstGeom>
          <a:noFill/>
        </p:spPr>
        <p:txBody>
          <a:bodyPr wrap="square">
            <a:spAutoFit/>
          </a:bodyPr>
          <a:lstStyle/>
          <a:p>
            <a:pPr algn="ctr"/>
            <a:r>
              <a:rPr lang="zh-CN" altLang="en-US" sz="2800" dirty="0"/>
              <a:t>不稳定</a:t>
            </a:r>
          </a:p>
        </p:txBody>
      </p:sp>
      <p:sp>
        <p:nvSpPr>
          <p:cNvPr id="69" name="ïṡľíḑé">
            <a:extLst>
              <a:ext uri="{FF2B5EF4-FFF2-40B4-BE49-F238E27FC236}">
                <a16:creationId xmlns:a16="http://schemas.microsoft.com/office/drawing/2014/main" id="{D79641F9-8A13-FD0E-BDEB-556F23D4BF4F}"/>
              </a:ext>
            </a:extLst>
          </p:cNvPr>
          <p:cNvSpPr/>
          <p:nvPr/>
        </p:nvSpPr>
        <p:spPr bwMode="auto">
          <a:xfrm>
            <a:off x="507548" y="4725144"/>
            <a:ext cx="1440160" cy="555706"/>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270036"/>
            <a:r>
              <a:rPr lang="zh-CN" altLang="en-US" sz="2800" b="1" dirty="0">
                <a:solidFill>
                  <a:schemeClr val="bg1"/>
                </a:solidFill>
                <a:latin typeface="Stencil" panose="040409050D0802020404" pitchFamily="82" charset="0"/>
              </a:rPr>
              <a:t>定义</a:t>
            </a:r>
          </a:p>
        </p:txBody>
      </p:sp>
      <p:sp>
        <p:nvSpPr>
          <p:cNvPr id="70" name="文本框 69">
            <a:extLst>
              <a:ext uri="{FF2B5EF4-FFF2-40B4-BE49-F238E27FC236}">
                <a16:creationId xmlns:a16="http://schemas.microsoft.com/office/drawing/2014/main" id="{65566193-D953-FAA1-308D-C41A2B4DCD0A}"/>
              </a:ext>
            </a:extLst>
          </p:cNvPr>
          <p:cNvSpPr txBox="1"/>
          <p:nvPr/>
        </p:nvSpPr>
        <p:spPr>
          <a:xfrm>
            <a:off x="406574" y="5409264"/>
            <a:ext cx="11448876" cy="1384995"/>
          </a:xfrm>
          <a:prstGeom prst="rect">
            <a:avLst/>
          </a:prstGeom>
          <a:noFill/>
        </p:spPr>
        <p:txBody>
          <a:bodyPr wrap="square">
            <a:spAutoFit/>
          </a:bodyPr>
          <a:lstStyle/>
          <a:p>
            <a:r>
              <a:rPr lang="zh-CN" altLang="en-US" sz="2800" dirty="0"/>
              <a:t>如果在扰动作用下系统偏离了原来的平衡状态，当扰动消失后，系统能够以足够的准确度恢复到原来的平衡状态，则系统是稳定的；否则，系统不稳定。</a:t>
            </a:r>
          </a:p>
        </p:txBody>
      </p:sp>
    </p:spTree>
    <p:extLst>
      <p:ext uri="{BB962C8B-B14F-4D97-AF65-F5344CB8AC3E}">
        <p14:creationId xmlns:p14="http://schemas.microsoft.com/office/powerpoint/2010/main" val="23000771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grpId="0" nodeType="clickEffect">
                                  <p:stCondLst>
                                    <p:cond delay="0"/>
                                  </p:stCondLst>
                                  <p:endCondLst>
                                    <p:cond evt="onNext" delay="0">
                                      <p:tgtEl>
                                        <p:sldTgt/>
                                      </p:tgtEl>
                                    </p:cond>
                                  </p:endCondLst>
                                  <p:childTnLst>
                                    <p:animMotion origin="layout" path="M 4.92903E-6 -3.7037E-6 C 0.02409 -0.00347 0.04089 -0.01759 0.05274 -0.02986 C 0.06394 -0.04953 0.06719 -0.06504 0.06901 -0.08171 " pathEditMode="relative" rAng="0" ptsTypes="AAA">
                                      <p:cBhvr>
                                        <p:cTn id="12" dur="2000" spd="-100000" fill="hold"/>
                                        <p:tgtEl>
                                          <p:spTgt spid="5"/>
                                        </p:tgtEl>
                                        <p:attrNameLst>
                                          <p:attrName>ppt_x</p:attrName>
                                          <p:attrName>ppt_y</p:attrName>
                                        </p:attrNameLst>
                                      </p:cBhvr>
                                      <p:rCtr x="3451" y="-4097"/>
                                    </p:animMotion>
                                  </p:childTnLst>
                                </p:cTn>
                              </p:par>
                            </p:childTnLst>
                          </p:cTn>
                        </p:par>
                      </p:childTnLst>
                    </p:cTn>
                  </p:par>
                  <p:par>
                    <p:cTn id="13" fill="hold">
                      <p:stCondLst>
                        <p:cond delay="indefinite"/>
                      </p:stCondLst>
                      <p:childTnLst>
                        <p:par>
                          <p:cTn id="14" fill="hold">
                            <p:stCondLst>
                              <p:cond delay="0"/>
                            </p:stCondLst>
                            <p:childTnLst>
                              <p:par>
                                <p:cTn id="15" presetID="0" presetClass="path" presetSubtype="0" repeatCount="indefinite" accel="50000" decel="50000" fill="hold" grpId="0" nodeType="clickEffect">
                                  <p:stCondLst>
                                    <p:cond delay="0"/>
                                  </p:stCondLst>
                                  <p:endCondLst>
                                    <p:cond evt="onNext" delay="0">
                                      <p:tgtEl>
                                        <p:sldTgt/>
                                      </p:tgtEl>
                                    </p:cond>
                                  </p:endCondLst>
                                  <p:childTnLst>
                                    <p:animMotion origin="layout" path="M 0 0 L 0.08269 0 " pathEditMode="relative" ptsTypes="AA">
                                      <p:cBhvr>
                                        <p:cTn id="16" dur="2000" fill="hold"/>
                                        <p:tgtEl>
                                          <p:spTgt spid="60"/>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0" presetClass="path" presetSubtype="0" repeatCount="indefinite" accel="50000" decel="50000" fill="hold" grpId="0" nodeType="clickEffect">
                                  <p:stCondLst>
                                    <p:cond delay="0"/>
                                  </p:stCondLst>
                                  <p:endCondLst>
                                    <p:cond evt="onNext" delay="0">
                                      <p:tgtEl>
                                        <p:sldTgt/>
                                      </p:tgtEl>
                                    </p:cond>
                                  </p:endCondLst>
                                  <p:childTnLst>
                                    <p:animMotion origin="layout" path="M 0 0 C 0.02435 0.00486 0.0487 0.00995 0.0642 0.03079 C 0.07982 0.05139 0.0866 0.08773 0.09337 0.12431 " pathEditMode="relative" ptsTypes="AAA">
                                      <p:cBhvr>
                                        <p:cTn id="20" dur="2000" fill="hold"/>
                                        <p:tgtEl>
                                          <p:spTgt spid="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 grpId="0" animBg="1"/>
      <p:bldP spid="60" grpId="0" animBg="1"/>
      <p:bldP spid="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350591" y="362338"/>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稳定的充要条件</a:t>
            </a: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96B64494-A803-E6E6-3633-8E23BF6ED6B0}"/>
                  </a:ext>
                </a:extLst>
              </p:cNvPr>
              <p:cNvSpPr txBox="1"/>
              <p:nvPr/>
            </p:nvSpPr>
            <p:spPr>
              <a:xfrm>
                <a:off x="478582" y="1052736"/>
                <a:ext cx="9937104" cy="653256"/>
              </a:xfrm>
              <a:prstGeom prst="rect">
                <a:avLst/>
              </a:prstGeom>
              <a:noFill/>
            </p:spPr>
            <p:txBody>
              <a:bodyPr wrap="square">
                <a:spAutoFit/>
              </a:bodyPr>
              <a:lstStyle/>
              <a:p>
                <a:r>
                  <a:rPr lang="zh-CN" altLang="en-US" sz="2800" dirty="0"/>
                  <a:t>根据系统稳定的定义，若 </a:t>
                </a:r>
                <a14:m>
                  <m:oMath xmlns:m="http://schemas.openxmlformats.org/officeDocument/2006/math">
                    <m:func>
                      <m:funcPr>
                        <m:ctrlPr>
                          <a:rPr lang="en" altLang="zh-CN" sz="2800" i="1">
                            <a:latin typeface="Cambria Math" panose="02040503050406030204" pitchFamily="18" charset="0"/>
                          </a:rPr>
                        </m:ctrlPr>
                      </m:funcPr>
                      <m:fName>
                        <m:limLow>
                          <m:limLowPr>
                            <m:ctrlPr>
                              <a:rPr lang="en" altLang="zh-CN" sz="2800" i="1">
                                <a:latin typeface="Cambria Math" panose="02040503050406030204" pitchFamily="18" charset="0"/>
                              </a:rPr>
                            </m:ctrlPr>
                          </m:limLowPr>
                          <m:e>
                            <m:r>
                              <m:rPr>
                                <m:sty m:val="p"/>
                              </m:rPr>
                              <a:rPr lang="en" altLang="zh-CN" sz="2800">
                                <a:latin typeface="Cambria Math" panose="02040503050406030204" pitchFamily="18" charset="0"/>
                              </a:rPr>
                              <m:t>lim</m:t>
                            </m:r>
                          </m:e>
                          <m:lim>
                            <m:r>
                              <a:rPr lang="en-US" altLang="zh-CN" sz="2800" i="1">
                                <a:latin typeface="Cambria Math" panose="02040503050406030204" pitchFamily="18" charset="0"/>
                              </a:rPr>
                              <m:t>𝑡</m:t>
                            </m:r>
                            <m:r>
                              <a:rPr lang="en-US" altLang="zh-CN" sz="2800" i="1">
                                <a:latin typeface="Cambria Math" panose="02040503050406030204" pitchFamily="18" charset="0"/>
                              </a:rPr>
                              <m:t>→∞</m:t>
                            </m:r>
                          </m:lim>
                        </m:limLow>
                      </m:fName>
                      <m:e>
                        <m:r>
                          <a:rPr lang="en-US" altLang="zh-CN" sz="2800" i="1">
                            <a:latin typeface="Cambria Math" panose="02040503050406030204" pitchFamily="18" charset="0"/>
                          </a:rPr>
                          <m:t>𝑘</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𝑡</m:t>
                            </m:r>
                          </m:e>
                        </m:d>
                        <m:r>
                          <a:rPr lang="en-US" altLang="zh-CN" sz="2800" i="1">
                            <a:latin typeface="Cambria Math" panose="02040503050406030204" pitchFamily="18" charset="0"/>
                          </a:rPr>
                          <m:t>=0</m:t>
                        </m:r>
                      </m:e>
                    </m:func>
                  </m:oMath>
                </a14:m>
                <a:r>
                  <a:rPr lang="zh-CN" altLang="en-US" sz="2800" dirty="0"/>
                  <a:t>，则系统是稳定的。</a:t>
                </a:r>
              </a:p>
            </p:txBody>
          </p:sp>
        </mc:Choice>
        <mc:Fallback xmlns="">
          <p:sp>
            <p:nvSpPr>
              <p:cNvPr id="44" name="文本框 43">
                <a:extLst>
                  <a:ext uri="{FF2B5EF4-FFF2-40B4-BE49-F238E27FC236}">
                    <a16:creationId xmlns:a16="http://schemas.microsoft.com/office/drawing/2014/main" id="{96B64494-A803-E6E6-3633-8E23BF6ED6B0}"/>
                  </a:ext>
                </a:extLst>
              </p:cNvPr>
              <p:cNvSpPr txBox="1">
                <a:spLocks noRot="1" noChangeAspect="1" noMove="1" noResize="1" noEditPoints="1" noAdjustHandles="1" noChangeArrowheads="1" noChangeShapeType="1" noTextEdit="1"/>
              </p:cNvSpPr>
              <p:nvPr/>
            </p:nvSpPr>
            <p:spPr>
              <a:xfrm>
                <a:off x="478582" y="1052736"/>
                <a:ext cx="9937104" cy="653256"/>
              </a:xfrm>
              <a:prstGeom prst="rect">
                <a:avLst/>
              </a:prstGeom>
              <a:blipFill>
                <a:blip r:embed="rId3"/>
                <a:stretch>
                  <a:fillRect l="-1276" t="-11538"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公式1">
                <a:extLst>
                  <a:ext uri="{FF2B5EF4-FFF2-40B4-BE49-F238E27FC236}">
                    <a16:creationId xmlns:a16="http://schemas.microsoft.com/office/drawing/2014/main" id="{270343DD-BF54-5065-0DE1-18A9B67E4743}"/>
                  </a:ext>
                </a:extLst>
              </p:cNvPr>
              <p:cNvSpPr txBox="1"/>
              <p:nvPr/>
            </p:nvSpPr>
            <p:spPr>
              <a:xfrm>
                <a:off x="1702718" y="1807662"/>
                <a:ext cx="9474200" cy="789832"/>
              </a:xfrm>
              <a:prstGeom prst="rect">
                <a:avLst/>
              </a:prstGeom>
              <a:noFill/>
            </p:spPr>
            <p:txBody>
              <a:bodyPr wrap="square">
                <a:spAutoFit/>
              </a:bodyPr>
              <a:lstStyle/>
              <a:p>
                <a14:m>
                  <m:oMath xmlns:m="http://schemas.openxmlformats.org/officeDocument/2006/math">
                    <m:r>
                      <m:rPr>
                        <m:sty m:val="p"/>
                      </m:rPr>
                      <a:rPr lang="el-GR" altLang="zh-CN" sz="2800" i="1">
                        <a:latin typeface="Cambria Math" panose="02040503050406030204" pitchFamily="18" charset="0"/>
                        <a:ea typeface="Cambria Math" panose="02040503050406030204" pitchFamily="18" charset="0"/>
                      </a:rPr>
                      <m:t>Φ</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rPr>
                          <m:t>𝑁</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num>
                      <m:den>
                        <m:r>
                          <a:rPr lang="en-US" altLang="zh-CN" sz="2800" i="1">
                            <a:latin typeface="Cambria Math" panose="02040503050406030204" pitchFamily="18" charset="0"/>
                          </a:rPr>
                          <m:t>𝐷</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den>
                    </m:f>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𝑚</m:t>
                            </m:r>
                          </m:sub>
                        </m:sSub>
                        <m:r>
                          <a:rPr lang="en-US" altLang="zh-CN" sz="2800" i="1">
                            <a:latin typeface="Cambria Math" panose="02040503050406030204" pitchFamily="18" charset="0"/>
                          </a:rPr>
                          <m:t>(</m:t>
                        </m:r>
                        <m:r>
                          <a:rPr lang="en-US" altLang="zh-CN" sz="2800" i="1">
                            <a:latin typeface="Cambria Math" panose="02040503050406030204" pitchFamily="18" charset="0"/>
                          </a:rPr>
                          <m:t>𝑠</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𝑧</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r>
                          <a:rPr lang="en-US" altLang="zh-CN" sz="2800" i="1">
                            <a:latin typeface="Cambria Math" panose="02040503050406030204" pitchFamily="18" charset="0"/>
                          </a:rPr>
                          <m:t>𝑠</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𝑧</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𝑧</m:t>
                            </m:r>
                          </m:e>
                          <m:sub>
                            <m:r>
                              <a:rPr lang="en-US" altLang="zh-CN" sz="2800" i="1">
                                <a:latin typeface="Cambria Math" panose="02040503050406030204" pitchFamily="18" charset="0"/>
                                <a:ea typeface="Cambria Math" panose="02040503050406030204" pitchFamily="18" charset="0"/>
                              </a:rPr>
                              <m:t>𝑚</m:t>
                            </m:r>
                          </m:sub>
                        </m:sSub>
                        <m:r>
                          <a:rPr lang="en-US" altLang="zh-CN" sz="2800" i="1">
                            <a:latin typeface="Cambria Math" panose="02040503050406030204" pitchFamily="18" charset="0"/>
                            <a:ea typeface="Cambria Math" panose="02040503050406030204" pitchFamily="18" charset="0"/>
                          </a:rPr>
                          <m:t>)</m:t>
                        </m:r>
                      </m:num>
                      <m:den>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𝑛</m:t>
                            </m:r>
                          </m:sub>
                        </m:sSub>
                        <m:r>
                          <a:rPr lang="en-US" altLang="zh-CN" sz="2800" i="1">
                            <a:latin typeface="Cambria Math" panose="02040503050406030204" pitchFamily="18" charset="0"/>
                          </a:rPr>
                          <m:t>(</m:t>
                        </m:r>
                        <m:r>
                          <a:rPr lang="en-US" altLang="zh-CN" sz="2800" i="1">
                            <a:latin typeface="Cambria Math" panose="02040503050406030204" pitchFamily="18" charset="0"/>
                          </a:rPr>
                          <m:t>𝑠</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𝑝</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r>
                          <a:rPr lang="en-US" altLang="zh-CN" sz="2800" i="1">
                            <a:latin typeface="Cambria Math" panose="02040503050406030204" pitchFamily="18" charset="0"/>
                          </a:rPr>
                          <m:t>𝑠</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𝑝</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𝑝</m:t>
                            </m:r>
                          </m:e>
                          <m:sub>
                            <m:r>
                              <a:rPr lang="en-US" altLang="zh-CN" sz="2800" i="1">
                                <a:latin typeface="Cambria Math" panose="02040503050406030204" pitchFamily="18" charset="0"/>
                                <a:ea typeface="Cambria Math" panose="02040503050406030204" pitchFamily="18" charset="0"/>
                              </a:rPr>
                              <m:t>𝑚</m:t>
                            </m:r>
                          </m:sub>
                        </m:sSub>
                        <m:r>
                          <a:rPr lang="en-US" altLang="zh-CN" sz="2800" i="1">
                            <a:latin typeface="Cambria Math" panose="02040503050406030204" pitchFamily="18" charset="0"/>
                            <a:ea typeface="Cambria Math" panose="02040503050406030204" pitchFamily="18" charset="0"/>
                          </a:rPr>
                          <m:t>)</m:t>
                        </m:r>
                      </m:den>
                    </m:f>
                  </m:oMath>
                </a14:m>
                <a:r>
                  <a:rPr lang="en-US" altLang="zh-CN" sz="2800" i="1" dirty="0">
                    <a:latin typeface="Cambria Math" panose="02040503050406030204" pitchFamily="18" charset="0"/>
                    <a:ea typeface="Cambria Math" panose="02040503050406030204" pitchFamily="18" charset="0"/>
                  </a:rPr>
                  <a:t> </a:t>
                </a:r>
                <a:endParaRPr lang="zh-CN" altLang="en-US" sz="2800" i="1" dirty="0"/>
              </a:p>
            </p:txBody>
          </p:sp>
        </mc:Choice>
        <mc:Fallback xmlns="">
          <p:sp>
            <p:nvSpPr>
              <p:cNvPr id="16" name="公式1">
                <a:extLst>
                  <a:ext uri="{FF2B5EF4-FFF2-40B4-BE49-F238E27FC236}">
                    <a16:creationId xmlns:a16="http://schemas.microsoft.com/office/drawing/2014/main" id="{270343DD-BF54-5065-0DE1-18A9B67E4743}"/>
                  </a:ext>
                </a:extLst>
              </p:cNvPr>
              <p:cNvSpPr txBox="1">
                <a:spLocks noRot="1" noChangeAspect="1" noMove="1" noResize="1" noEditPoints="1" noAdjustHandles="1" noChangeArrowheads="1" noChangeShapeType="1" noTextEdit="1"/>
              </p:cNvSpPr>
              <p:nvPr/>
            </p:nvSpPr>
            <p:spPr>
              <a:xfrm>
                <a:off x="1702718" y="1807662"/>
                <a:ext cx="9474200" cy="789832"/>
              </a:xfrm>
              <a:prstGeom prst="rect">
                <a:avLst/>
              </a:prstGeom>
              <a:blipFill>
                <a:blip r:embed="rId4"/>
                <a:stretch>
                  <a:fillRect l="-268" b="-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DAB68B5-0225-B2F3-761E-F8C123B5C7F4}"/>
                  </a:ext>
                </a:extLst>
              </p:cNvPr>
              <p:cNvSpPr txBox="1"/>
              <p:nvPr/>
            </p:nvSpPr>
            <p:spPr>
              <a:xfrm>
                <a:off x="2042404" y="5118663"/>
                <a:ext cx="7628236" cy="677045"/>
              </a:xfrm>
              <a:prstGeom prst="rect">
                <a:avLst/>
              </a:prstGeom>
              <a:noFill/>
            </p:spPr>
            <p:txBody>
              <a:bodyPr wrap="square">
                <a:spAutoFit/>
              </a:bodyPr>
              <a:lstStyle/>
              <a:p>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𝑝</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&lt;0</m:t>
                    </m:r>
                    <m:r>
                      <a:rPr lang="zh-CN" altLang="en-US" sz="2800" i="1">
                        <a:latin typeface="Cambria Math" panose="02040503050406030204" pitchFamily="18" charset="0"/>
                      </a:rPr>
                      <m:t>   </m:t>
                    </m:r>
                    <m: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=1,2,⋯,</m:t>
                    </m:r>
                    <m:r>
                      <a:rPr lang="en-US" altLang="zh-CN" sz="2800" i="1" dirty="0">
                        <a:latin typeface="Cambria Math" panose="02040503050406030204" pitchFamily="18" charset="0"/>
                        <a:ea typeface="Cambria Math" panose="02040503050406030204" pitchFamily="18" charset="0"/>
                      </a:rPr>
                      <m:t>𝑛</m:t>
                    </m:r>
                    <m:r>
                      <a:rPr lang="en-US" altLang="zh-CN" sz="2800" i="1" dirty="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ea typeface="Cambria Math" panose="02040503050406030204" pitchFamily="18" charset="0"/>
                      </a:rPr>
                      <m:t>𝑘</m:t>
                    </m:r>
                    <m:d>
                      <m:dPr>
                        <m:ctrlPr>
                          <a:rPr lang="en-US" altLang="zh-CN" sz="2800" i="1" dirty="0">
                            <a:latin typeface="Cambria Math" panose="02040503050406030204" pitchFamily="18" charset="0"/>
                            <a:ea typeface="Cambria Math" panose="02040503050406030204" pitchFamily="18" charset="0"/>
                          </a:rPr>
                        </m:ctrlPr>
                      </m:dPr>
                      <m:e>
                        <m:r>
                          <a:rPr lang="en-US" altLang="zh-CN" sz="2800" i="1" dirty="0">
                            <a:latin typeface="Cambria Math" panose="02040503050406030204" pitchFamily="18" charset="0"/>
                            <a:ea typeface="Cambria Math" panose="02040503050406030204" pitchFamily="18" charset="0"/>
                          </a:rPr>
                          <m:t>𝑡</m:t>
                        </m:r>
                      </m:e>
                    </m:d>
                    <m:r>
                      <a:rPr lang="en-US" altLang="zh-CN" sz="2800" i="1" dirty="0">
                        <a:latin typeface="Cambria Math" panose="02040503050406030204" pitchFamily="18" charset="0"/>
                        <a:ea typeface="Cambria Math" panose="02040503050406030204" pitchFamily="18" charset="0"/>
                      </a:rPr>
                      <m:t>=</m:t>
                    </m:r>
                    <m:nary>
                      <m:naryPr>
                        <m:chr m:val="∑"/>
                        <m:limLoc m:val="subSup"/>
                        <m:ctrlPr>
                          <a:rPr lang="en-US" altLang="zh-CN" sz="2800" i="1" dirty="0">
                            <a:latin typeface="Cambria Math" panose="02040503050406030204" pitchFamily="18" charset="0"/>
                            <a:ea typeface="Cambria Math" panose="02040503050406030204" pitchFamily="18" charset="0"/>
                          </a:rPr>
                        </m:ctrlPr>
                      </m:naryPr>
                      <m:sub>
                        <m:r>
                          <m:rPr>
                            <m:brk m:alnAt="25"/>
                          </m:rP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m:t>
                        </m:r>
                      </m:sub>
                      <m:sup>
                        <m:r>
                          <a:rPr lang="en-US" altLang="zh-CN" sz="2800" i="1" dirty="0">
                            <a:latin typeface="Cambria Math" panose="02040503050406030204" pitchFamily="18" charset="0"/>
                            <a:ea typeface="Cambria Math" panose="02040503050406030204" pitchFamily="18" charset="0"/>
                          </a:rPr>
                          <m:t>𝑛</m:t>
                        </m:r>
                      </m:sup>
                      <m:e>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𝑖</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𝑖</m:t>
                                </m:r>
                              </m:sub>
                            </m:sSub>
                            <m:r>
                              <a:rPr lang="en-US" altLang="zh-CN" sz="2800" i="1" dirty="0">
                                <a:latin typeface="Cambria Math" panose="02040503050406030204" pitchFamily="18" charset="0"/>
                                <a:ea typeface="Cambria Math" panose="02040503050406030204" pitchFamily="18" charset="0"/>
                              </a:rPr>
                              <m:t>𝑡</m:t>
                            </m:r>
                          </m:sup>
                        </m:sSup>
                      </m:e>
                    </m:nary>
                    <m:groupChr>
                      <m:groupChrPr>
                        <m:chr m:val="→"/>
                        <m:vertJc m:val="bot"/>
                        <m:ctrlPr>
                          <a:rPr lang="en-US" altLang="zh-CN" sz="2800" i="1" dirty="0">
                            <a:latin typeface="Cambria Math" panose="02040503050406030204" pitchFamily="18" charset="0"/>
                            <a:ea typeface="Cambria Math" panose="02040503050406030204" pitchFamily="18" charset="0"/>
                          </a:rPr>
                        </m:ctrlPr>
                      </m:groupChrPr>
                      <m:e>
                        <m:r>
                          <m:rPr>
                            <m:brk m:alnAt="2"/>
                          </m:rPr>
                          <a:rPr lang="en-US" altLang="zh-CN" sz="2800" i="1" dirty="0">
                            <a:latin typeface="Cambria Math" panose="02040503050406030204" pitchFamily="18" charset="0"/>
                            <a:ea typeface="Cambria Math" panose="02040503050406030204" pitchFamily="18" charset="0"/>
                          </a:rPr>
                          <m:t>𝑡</m:t>
                        </m:r>
                        <m:r>
                          <a:rPr lang="en-US" altLang="zh-CN" sz="2800" i="1" dirty="0">
                            <a:latin typeface="Cambria Math" panose="02040503050406030204" pitchFamily="18" charset="0"/>
                            <a:ea typeface="Cambria Math" panose="02040503050406030204" pitchFamily="18" charset="0"/>
                          </a:rPr>
                          <m:t>→∞</m:t>
                        </m:r>
                      </m:e>
                    </m:groupChr>
                    <m:r>
                      <a:rPr lang="en-US" altLang="zh-CN" sz="2800" i="1" dirty="0">
                        <a:latin typeface="Cambria Math" panose="02040503050406030204" pitchFamily="18" charset="0"/>
                        <a:ea typeface="Cambria Math" panose="02040503050406030204" pitchFamily="18" charset="0"/>
                      </a:rPr>
                      <m:t>0</m:t>
                    </m:r>
                  </m:oMath>
                </a14:m>
                <a:r>
                  <a:rPr lang="en-US" altLang="zh-CN" sz="2800" dirty="0"/>
                  <a:t> </a:t>
                </a:r>
                <a:endParaRPr lang="zh-CN" altLang="en-US" sz="2800" dirty="0"/>
              </a:p>
            </p:txBody>
          </p:sp>
        </mc:Choice>
        <mc:Fallback xmlns="">
          <p:sp>
            <p:nvSpPr>
              <p:cNvPr id="19" name="文本框 18">
                <a:extLst>
                  <a:ext uri="{FF2B5EF4-FFF2-40B4-BE49-F238E27FC236}">
                    <a16:creationId xmlns:a16="http://schemas.microsoft.com/office/drawing/2014/main" id="{ADAB68B5-0225-B2F3-761E-F8C123B5C7F4}"/>
                  </a:ext>
                </a:extLst>
              </p:cNvPr>
              <p:cNvSpPr txBox="1">
                <a:spLocks noRot="1" noChangeAspect="1" noMove="1" noResize="1" noEditPoints="1" noAdjustHandles="1" noChangeArrowheads="1" noChangeShapeType="1" noTextEdit="1"/>
              </p:cNvSpPr>
              <p:nvPr/>
            </p:nvSpPr>
            <p:spPr>
              <a:xfrm>
                <a:off x="2042404" y="5118663"/>
                <a:ext cx="7628236" cy="677045"/>
              </a:xfrm>
              <a:prstGeom prst="rect">
                <a:avLst/>
              </a:prstGeom>
              <a:blipFill>
                <a:blip r:embed="rId5"/>
                <a:stretch>
                  <a:fillRect l="-332" t="-77778" b="-148148"/>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B7F00BB4-E538-8FA4-0D99-FB06ADB86D80}"/>
              </a:ext>
            </a:extLst>
          </p:cNvPr>
          <p:cNvSpPr txBox="1"/>
          <p:nvPr/>
        </p:nvSpPr>
        <p:spPr>
          <a:xfrm>
            <a:off x="1520603" y="5805264"/>
            <a:ext cx="8720284" cy="954107"/>
          </a:xfrm>
          <a:prstGeom prst="rect">
            <a:avLst/>
          </a:prstGeom>
          <a:noFill/>
        </p:spPr>
        <p:txBody>
          <a:bodyPr wrap="square">
            <a:spAutoFit/>
          </a:bodyPr>
          <a:lstStyle/>
          <a:p>
            <a:r>
              <a:rPr lang="zh-CN" altLang="en-US" sz="2800" dirty="0">
                <a:solidFill>
                  <a:srgbClr val="169F84"/>
                </a:solidFill>
              </a:rPr>
              <a:t>系统稳定的充要条件：</a:t>
            </a:r>
            <a:r>
              <a:rPr lang="zh-CN" altLang="en-US" sz="2800" dirty="0">
                <a:solidFill>
                  <a:srgbClr val="E44860"/>
                </a:solidFill>
              </a:rPr>
              <a:t>系统所有闭环特征根均具有负的实部，或所有闭环特征根均位于左半 </a:t>
            </a:r>
            <a:r>
              <a:rPr lang="en" altLang="zh-CN" sz="2800" dirty="0">
                <a:solidFill>
                  <a:srgbClr val="E44860"/>
                </a:solidFill>
              </a:rPr>
              <a:t>s </a:t>
            </a:r>
            <a:r>
              <a:rPr lang="zh-CN" altLang="en-US" sz="2800" dirty="0">
                <a:solidFill>
                  <a:srgbClr val="E44860"/>
                </a:solidFill>
              </a:rPr>
              <a:t>平面。</a:t>
            </a:r>
          </a:p>
        </p:txBody>
      </p:sp>
      <mc:AlternateContent xmlns:mc="http://schemas.openxmlformats.org/markup-compatibility/2006" xmlns:a14="http://schemas.microsoft.com/office/drawing/2010/main">
        <mc:Choice Requires="a14">
          <p:sp>
            <p:nvSpPr>
              <p:cNvPr id="9" name="公式2">
                <a:extLst>
                  <a:ext uri="{FF2B5EF4-FFF2-40B4-BE49-F238E27FC236}">
                    <a16:creationId xmlns:a16="http://schemas.microsoft.com/office/drawing/2014/main" id="{3EF56BA0-2904-4463-4F5D-AA15298C56AF}"/>
                  </a:ext>
                </a:extLst>
              </p:cNvPr>
              <p:cNvSpPr txBox="1"/>
              <p:nvPr/>
            </p:nvSpPr>
            <p:spPr>
              <a:xfrm>
                <a:off x="1806713" y="2460039"/>
                <a:ext cx="9474200" cy="762516"/>
              </a:xfrm>
              <a:prstGeom prst="rect">
                <a:avLst/>
              </a:prstGeom>
              <a:noFill/>
            </p:spPr>
            <p:txBody>
              <a:bodyPr wrap="square">
                <a:spAutoFit/>
              </a:bodyPr>
              <a:lstStyle/>
              <a:p>
                <a14:m>
                  <m:oMath xmlns:m="http://schemas.openxmlformats.org/officeDocument/2006/math">
                    <m:r>
                      <a:rPr lang="en-US" altLang="zh-CN" sz="2800" i="1" dirty="0">
                        <a:latin typeface="Cambria Math" panose="02040503050406030204" pitchFamily="18" charset="0"/>
                        <a:ea typeface="Cambria Math" panose="02040503050406030204" pitchFamily="18" charset="0"/>
                      </a:rPr>
                      <m:t>𝐶</m:t>
                    </m:r>
                    <m:d>
                      <m:dPr>
                        <m:ctrlPr>
                          <a:rPr lang="en-US" altLang="zh-CN" sz="2800" i="1" dirty="0">
                            <a:latin typeface="Cambria Math" panose="02040503050406030204" pitchFamily="18" charset="0"/>
                            <a:ea typeface="Cambria Math" panose="02040503050406030204" pitchFamily="18" charset="0"/>
                          </a:rPr>
                        </m:ctrlPr>
                      </m:dPr>
                      <m:e>
                        <m:r>
                          <a:rPr lang="en-US" altLang="zh-CN" sz="2800" i="1" dirty="0">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ea typeface="Cambria Math" panose="02040503050406030204" pitchFamily="18" charset="0"/>
                      </a:rPr>
                      <m:t>=</m:t>
                    </m:r>
                    <m:r>
                      <m:rPr>
                        <m:sty m:val="p"/>
                      </m:rPr>
                      <a:rPr lang="el-GR" altLang="zh-CN" sz="2800" i="1">
                        <a:latin typeface="Cambria Math" panose="02040503050406030204" pitchFamily="18" charset="0"/>
                        <a:ea typeface="Cambria Math" panose="02040503050406030204" pitchFamily="18" charset="0"/>
                      </a:rPr>
                      <m:t>Φ</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𝐴</m:t>
                            </m:r>
                          </m:e>
                          <m:sub>
                            <m:r>
                              <a:rPr lang="en-US" altLang="zh-CN" sz="2800" i="1">
                                <a:latin typeface="Cambria Math" panose="02040503050406030204" pitchFamily="18" charset="0"/>
                                <a:ea typeface="Cambria Math" panose="02040503050406030204" pitchFamily="18" charset="0"/>
                              </a:rPr>
                              <m:t>1</m:t>
                            </m:r>
                          </m:sub>
                        </m:sSub>
                      </m:num>
                      <m:den>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𝑝</m:t>
                            </m:r>
                          </m:e>
                          <m:sub>
                            <m:r>
                              <a:rPr lang="en-US" altLang="zh-CN" sz="2800" i="1">
                                <a:latin typeface="Cambria Math" panose="02040503050406030204" pitchFamily="18" charset="0"/>
                                <a:ea typeface="Cambria Math" panose="02040503050406030204" pitchFamily="18" charset="0"/>
                              </a:rPr>
                              <m:t>1</m:t>
                            </m:r>
                          </m:sub>
                        </m:sSub>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𝐴</m:t>
                            </m:r>
                          </m:e>
                          <m:sub>
                            <m:r>
                              <a:rPr lang="en-US" altLang="zh-CN" sz="2800" i="1">
                                <a:latin typeface="Cambria Math" panose="02040503050406030204" pitchFamily="18" charset="0"/>
                                <a:ea typeface="Cambria Math" panose="02040503050406030204" pitchFamily="18" charset="0"/>
                              </a:rPr>
                              <m:t>2</m:t>
                            </m:r>
                          </m:sub>
                        </m:sSub>
                      </m:num>
                      <m:den>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𝑝</m:t>
                            </m:r>
                          </m:e>
                          <m:sub>
                            <m:r>
                              <a:rPr lang="en-US" altLang="zh-CN" sz="2800" i="1">
                                <a:latin typeface="Cambria Math" panose="02040503050406030204" pitchFamily="18" charset="0"/>
                                <a:ea typeface="Cambria Math" panose="02040503050406030204" pitchFamily="18" charset="0"/>
                              </a:rPr>
                              <m:t>2</m:t>
                            </m:r>
                          </m:sub>
                        </m:sSub>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𝐴</m:t>
                            </m:r>
                          </m:e>
                          <m:sub>
                            <m:r>
                              <a:rPr lang="en-US" altLang="zh-CN" sz="2800" i="1">
                                <a:latin typeface="Cambria Math" panose="02040503050406030204" pitchFamily="18" charset="0"/>
                                <a:ea typeface="Cambria Math" panose="02040503050406030204" pitchFamily="18" charset="0"/>
                              </a:rPr>
                              <m:t>2</m:t>
                            </m:r>
                          </m:sub>
                        </m:sSub>
                      </m:num>
                      <m:den>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𝑝</m:t>
                            </m:r>
                          </m:e>
                          <m:sub>
                            <m:r>
                              <a:rPr lang="en-US" altLang="zh-CN" sz="2800" i="1">
                                <a:latin typeface="Cambria Math" panose="02040503050406030204" pitchFamily="18" charset="0"/>
                                <a:ea typeface="Cambria Math" panose="02040503050406030204" pitchFamily="18" charset="0"/>
                              </a:rPr>
                              <m:t>2</m:t>
                            </m:r>
                          </m:sub>
                        </m:sSub>
                      </m:den>
                    </m:f>
                    <m:r>
                      <a:rPr lang="en-US" altLang="zh-CN" sz="2800" i="1">
                        <a:latin typeface="Cambria Math" panose="02040503050406030204" pitchFamily="18" charset="0"/>
                        <a:ea typeface="Cambria Math" panose="02040503050406030204" pitchFamily="18" charset="0"/>
                      </a:rPr>
                      <m:t>=</m:t>
                    </m:r>
                    <m:nary>
                      <m:naryPr>
                        <m:chr m:val="∑"/>
                        <m:ctrlPr>
                          <a:rPr lang="en-US" altLang="zh-CN" sz="2800" i="1">
                            <a:latin typeface="Cambria Math" panose="02040503050406030204" pitchFamily="18" charset="0"/>
                            <a:ea typeface="Cambria Math" panose="02040503050406030204" pitchFamily="18" charset="0"/>
                          </a:rPr>
                        </m:ctrlPr>
                      </m:naryPr>
                      <m:sub>
                        <m:r>
                          <m:rPr>
                            <m:brk m:alnAt="23"/>
                          </m:rPr>
                          <a:rPr lang="en-US" altLang="zh-CN" sz="2800" i="1">
                            <a:latin typeface="Cambria Math" panose="02040503050406030204" pitchFamily="18" charset="0"/>
                            <a:ea typeface="Cambria Math" panose="02040503050406030204" pitchFamily="18" charset="0"/>
                          </a:rPr>
                          <m:t>𝑖</m:t>
                        </m:r>
                        <m:r>
                          <a:rPr lang="en-US" altLang="zh-CN" sz="2800" i="1">
                            <a:latin typeface="Cambria Math" panose="02040503050406030204" pitchFamily="18" charset="0"/>
                            <a:ea typeface="Cambria Math" panose="02040503050406030204" pitchFamily="18" charset="0"/>
                          </a:rPr>
                          <m:t>=1</m:t>
                        </m:r>
                      </m:sub>
                      <m:sup>
                        <m:r>
                          <a:rPr lang="en-US" altLang="zh-CN" sz="2800" i="1">
                            <a:latin typeface="Cambria Math" panose="02040503050406030204" pitchFamily="18" charset="0"/>
                            <a:ea typeface="Cambria Math" panose="02040503050406030204" pitchFamily="18" charset="0"/>
                          </a:rPr>
                          <m:t>𝑛</m:t>
                        </m:r>
                      </m:sup>
                      <m:e>
                        <m:f>
                          <m:fPr>
                            <m:ctrlPr>
                              <a:rPr lang="en-US" altLang="zh-CN" sz="2800" i="1">
                                <a:latin typeface="Cambria Math" panose="02040503050406030204" pitchFamily="18" charset="0"/>
                                <a:ea typeface="Cambria Math" panose="02040503050406030204" pitchFamily="18" charset="0"/>
                              </a:rPr>
                            </m:ctrlPr>
                          </m:fPr>
                          <m:num>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𝐴</m:t>
                                </m:r>
                              </m:e>
                              <m:sub>
                                <m:r>
                                  <a:rPr lang="en-US" altLang="zh-CN" sz="2800" i="1">
                                    <a:latin typeface="Cambria Math" panose="02040503050406030204" pitchFamily="18" charset="0"/>
                                    <a:ea typeface="Cambria Math" panose="02040503050406030204" pitchFamily="18" charset="0"/>
                                  </a:rPr>
                                  <m:t>𝑖</m:t>
                                </m:r>
                              </m:sub>
                            </m:sSub>
                          </m:num>
                          <m:den>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𝑝</m:t>
                                </m:r>
                              </m:e>
                              <m:sub>
                                <m:r>
                                  <a:rPr lang="en-US" altLang="zh-CN" sz="2800" i="1">
                                    <a:latin typeface="Cambria Math" panose="02040503050406030204" pitchFamily="18" charset="0"/>
                                    <a:ea typeface="Cambria Math" panose="02040503050406030204" pitchFamily="18" charset="0"/>
                                  </a:rPr>
                                  <m:t>𝑖</m:t>
                                </m:r>
                              </m:sub>
                            </m:sSub>
                          </m:den>
                        </m:f>
                      </m:e>
                    </m:nary>
                  </m:oMath>
                </a14:m>
                <a:r>
                  <a:rPr lang="en-US" altLang="zh-CN" sz="2800" i="1" dirty="0">
                    <a:latin typeface="Cambria Math" panose="02040503050406030204" pitchFamily="18" charset="0"/>
                    <a:ea typeface="Cambria Math" panose="02040503050406030204" pitchFamily="18" charset="0"/>
                  </a:rPr>
                  <a:t> </a:t>
                </a:r>
                <a:endParaRPr lang="zh-CN" altLang="en-US" sz="2800" i="1" dirty="0"/>
              </a:p>
            </p:txBody>
          </p:sp>
        </mc:Choice>
        <mc:Fallback xmlns="">
          <p:sp>
            <p:nvSpPr>
              <p:cNvPr id="9" name="公式2">
                <a:extLst>
                  <a:ext uri="{FF2B5EF4-FFF2-40B4-BE49-F238E27FC236}">
                    <a16:creationId xmlns:a16="http://schemas.microsoft.com/office/drawing/2014/main" id="{3EF56BA0-2904-4463-4F5D-AA15298C56AF}"/>
                  </a:ext>
                </a:extLst>
              </p:cNvPr>
              <p:cNvSpPr txBox="1">
                <a:spLocks noRot="1" noChangeAspect="1" noMove="1" noResize="1" noEditPoints="1" noAdjustHandles="1" noChangeArrowheads="1" noChangeShapeType="1" noTextEdit="1"/>
              </p:cNvSpPr>
              <p:nvPr/>
            </p:nvSpPr>
            <p:spPr>
              <a:xfrm>
                <a:off x="1806713" y="2460039"/>
                <a:ext cx="9474200" cy="762516"/>
              </a:xfrm>
              <a:prstGeom prst="rect">
                <a:avLst/>
              </a:prstGeom>
              <a:blipFill>
                <a:blip r:embed="rId6"/>
                <a:stretch>
                  <a:fillRect l="-402" t="-75410" b="-1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公式3">
                <a:extLst>
                  <a:ext uri="{FF2B5EF4-FFF2-40B4-BE49-F238E27FC236}">
                    <a16:creationId xmlns:a16="http://schemas.microsoft.com/office/drawing/2014/main" id="{2AF92FD6-5968-F9EF-8F8B-F00F1C00588D}"/>
                  </a:ext>
                </a:extLst>
              </p:cNvPr>
              <p:cNvSpPr txBox="1"/>
              <p:nvPr/>
            </p:nvSpPr>
            <p:spPr>
              <a:xfrm>
                <a:off x="1806713" y="3204252"/>
                <a:ext cx="8198483" cy="528030"/>
              </a:xfrm>
              <a:prstGeom prst="rect">
                <a:avLst/>
              </a:prstGeom>
              <a:noFill/>
            </p:spPr>
            <p:txBody>
              <a:bodyPr wrap="square">
                <a:spAutoFit/>
              </a:bodyPr>
              <a:lstStyle/>
              <a:p>
                <a14:m>
                  <m:oMath xmlns:m="http://schemas.openxmlformats.org/officeDocument/2006/math">
                    <m:r>
                      <a:rPr lang="en-US" altLang="zh-CN" sz="2800" i="1" dirty="0">
                        <a:latin typeface="Cambria Math" panose="02040503050406030204" pitchFamily="18" charset="0"/>
                        <a:ea typeface="Cambria Math" panose="02040503050406030204" pitchFamily="18" charset="0"/>
                      </a:rPr>
                      <m:t>𝑘</m:t>
                    </m:r>
                    <m:d>
                      <m:dPr>
                        <m:ctrlPr>
                          <a:rPr lang="en-US" altLang="zh-CN" sz="2800" i="1" dirty="0">
                            <a:latin typeface="Cambria Math" panose="02040503050406030204" pitchFamily="18" charset="0"/>
                            <a:ea typeface="Cambria Math" panose="02040503050406030204" pitchFamily="18" charset="0"/>
                          </a:rPr>
                        </m:ctrlPr>
                      </m:dPr>
                      <m:e>
                        <m:r>
                          <a:rPr lang="en-US" altLang="zh-CN" sz="2800" i="1" dirty="0">
                            <a:latin typeface="Cambria Math" panose="02040503050406030204" pitchFamily="18" charset="0"/>
                            <a:ea typeface="Cambria Math" panose="02040503050406030204" pitchFamily="18" charset="0"/>
                          </a:rPr>
                          <m:t>𝑡</m:t>
                        </m:r>
                      </m:e>
                    </m:d>
                    <m:r>
                      <m:rPr>
                        <m:aln/>
                      </m:rP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1</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1</m:t>
                            </m:r>
                          </m:sub>
                        </m:sSub>
                        <m:r>
                          <a:rPr lang="en-US" altLang="zh-CN" sz="2800" i="1" dirty="0">
                            <a:latin typeface="Cambria Math" panose="02040503050406030204" pitchFamily="18" charset="0"/>
                            <a:ea typeface="Cambria Math" panose="02040503050406030204" pitchFamily="18" charset="0"/>
                          </a:rPr>
                          <m:t>𝑡</m:t>
                        </m:r>
                      </m:sup>
                    </m:sSup>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2</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2</m:t>
                            </m:r>
                          </m:sub>
                        </m:sSub>
                        <m:r>
                          <a:rPr lang="en-US" altLang="zh-CN" sz="2800" i="1" dirty="0">
                            <a:latin typeface="Cambria Math" panose="02040503050406030204" pitchFamily="18" charset="0"/>
                            <a:ea typeface="Cambria Math" panose="02040503050406030204" pitchFamily="18" charset="0"/>
                          </a:rPr>
                          <m:t>𝑡</m:t>
                        </m:r>
                      </m:sup>
                    </m:sSup>
                    <m:r>
                      <a:rPr lang="en-US" altLang="zh-CN" sz="2800" i="1">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𝑛</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𝑛</m:t>
                            </m:r>
                          </m:sub>
                        </m:sSub>
                        <m:r>
                          <a:rPr lang="en-US" altLang="zh-CN" sz="2800" i="1" dirty="0">
                            <a:latin typeface="Cambria Math" panose="02040503050406030204" pitchFamily="18" charset="0"/>
                            <a:ea typeface="Cambria Math" panose="02040503050406030204" pitchFamily="18" charset="0"/>
                          </a:rPr>
                          <m:t>𝑡</m:t>
                        </m:r>
                      </m:sup>
                    </m:sSup>
                    <m:r>
                      <a:rPr lang="en-US" altLang="zh-CN" sz="2800" i="1" dirty="0">
                        <a:latin typeface="Cambria Math" panose="02040503050406030204" pitchFamily="18" charset="0"/>
                        <a:ea typeface="Cambria Math" panose="02040503050406030204" pitchFamily="18" charset="0"/>
                      </a:rPr>
                      <m:t>=</m:t>
                    </m:r>
                    <m:nary>
                      <m:naryPr>
                        <m:chr m:val="∑"/>
                        <m:limLoc m:val="subSup"/>
                        <m:ctrlPr>
                          <a:rPr lang="en-US" altLang="zh-CN" sz="2800" i="1" dirty="0">
                            <a:latin typeface="Cambria Math" panose="02040503050406030204" pitchFamily="18" charset="0"/>
                            <a:ea typeface="Cambria Math" panose="02040503050406030204" pitchFamily="18" charset="0"/>
                          </a:rPr>
                        </m:ctrlPr>
                      </m:naryPr>
                      <m:sub>
                        <m:r>
                          <m:rPr>
                            <m:brk m:alnAt="25"/>
                          </m:rP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m:t>
                        </m:r>
                      </m:sub>
                      <m:sup>
                        <m:r>
                          <a:rPr lang="en-US" altLang="zh-CN" sz="2800" i="1" dirty="0">
                            <a:latin typeface="Cambria Math" panose="02040503050406030204" pitchFamily="18" charset="0"/>
                            <a:ea typeface="Cambria Math" panose="02040503050406030204" pitchFamily="18" charset="0"/>
                          </a:rPr>
                          <m:t>𝑛</m:t>
                        </m:r>
                      </m:sup>
                      <m:e>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𝑖</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𝑖</m:t>
                                </m:r>
                              </m:sub>
                            </m:sSub>
                            <m:r>
                              <a:rPr lang="en-US" altLang="zh-CN" sz="2800" i="1" dirty="0">
                                <a:latin typeface="Cambria Math" panose="02040503050406030204" pitchFamily="18" charset="0"/>
                                <a:ea typeface="Cambria Math" panose="02040503050406030204" pitchFamily="18" charset="0"/>
                              </a:rPr>
                              <m:t>𝑡</m:t>
                            </m:r>
                          </m:sup>
                        </m:sSup>
                      </m:e>
                    </m:nary>
                  </m:oMath>
                </a14:m>
                <a:r>
                  <a:rPr lang="en-US" altLang="zh-CN" sz="2800" i="1" dirty="0">
                    <a:latin typeface="Cambria Math" panose="02040503050406030204" pitchFamily="18" charset="0"/>
                    <a:ea typeface="Cambria Math" panose="02040503050406030204" pitchFamily="18" charset="0"/>
                  </a:rPr>
                  <a:t> </a:t>
                </a:r>
                <a:endParaRPr lang="zh-CN" altLang="en-US" sz="2800" i="1" dirty="0"/>
              </a:p>
            </p:txBody>
          </p:sp>
        </mc:Choice>
        <mc:Fallback xmlns="">
          <p:sp>
            <p:nvSpPr>
              <p:cNvPr id="10" name="公式3">
                <a:extLst>
                  <a:ext uri="{FF2B5EF4-FFF2-40B4-BE49-F238E27FC236}">
                    <a16:creationId xmlns:a16="http://schemas.microsoft.com/office/drawing/2014/main" id="{2AF92FD6-5968-F9EF-8F8B-F00F1C00588D}"/>
                  </a:ext>
                </a:extLst>
              </p:cNvPr>
              <p:cNvSpPr txBox="1">
                <a:spLocks noRot="1" noChangeAspect="1" noMove="1" noResize="1" noEditPoints="1" noAdjustHandles="1" noChangeArrowheads="1" noChangeShapeType="1" noTextEdit="1"/>
              </p:cNvSpPr>
              <p:nvPr/>
            </p:nvSpPr>
            <p:spPr>
              <a:xfrm>
                <a:off x="1806713" y="3204252"/>
                <a:ext cx="8198483" cy="528030"/>
              </a:xfrm>
              <a:prstGeom prst="rect">
                <a:avLst/>
              </a:prstGeom>
              <a:blipFill>
                <a:blip r:embed="rId7"/>
                <a:stretch>
                  <a:fillRect l="-464" t="-126190" b="-192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公式4">
                <a:extLst>
                  <a:ext uri="{FF2B5EF4-FFF2-40B4-BE49-F238E27FC236}">
                    <a16:creationId xmlns:a16="http://schemas.microsoft.com/office/drawing/2014/main" id="{34F5A159-D42A-31CE-863A-607C47632182}"/>
                  </a:ext>
                </a:extLst>
              </p:cNvPr>
              <p:cNvSpPr txBox="1"/>
              <p:nvPr/>
            </p:nvSpPr>
            <p:spPr>
              <a:xfrm>
                <a:off x="1499299" y="3893838"/>
                <a:ext cx="9474200" cy="656655"/>
              </a:xfrm>
              <a:prstGeom prst="rect">
                <a:avLst/>
              </a:prstGeom>
              <a:noFill/>
            </p:spPr>
            <p:txBody>
              <a:bodyPr wrap="square">
                <a:spAutoFit/>
              </a:bodyPr>
              <a:lstStyle/>
              <a:p>
                <a14:m>
                  <m:oMath xmlns:m="http://schemas.openxmlformats.org/officeDocument/2006/math">
                    <m:func>
                      <m:funcPr>
                        <m:ctrlPr>
                          <a:rPr lang="en-US" altLang="zh-CN" sz="2800" i="1">
                            <a:latin typeface="Cambria Math" panose="02040503050406030204" pitchFamily="18" charset="0"/>
                            <a:ea typeface="Cambria Math" panose="02040503050406030204" pitchFamily="18" charset="0"/>
                          </a:rPr>
                        </m:ctrlPr>
                      </m:funcPr>
                      <m:fName>
                        <m:limLow>
                          <m:limLowPr>
                            <m:ctrlPr>
                              <a:rPr lang="en-US" altLang="zh-CN" sz="2800" i="1">
                                <a:latin typeface="Cambria Math" panose="02040503050406030204" pitchFamily="18" charset="0"/>
                                <a:ea typeface="Cambria Math" panose="02040503050406030204" pitchFamily="18" charset="0"/>
                              </a:rPr>
                            </m:ctrlPr>
                          </m:limLowPr>
                          <m:e>
                            <m:r>
                              <m:rPr>
                                <m:sty m:val="p"/>
                              </m:rPr>
                              <a:rPr lang="en-US" altLang="zh-CN" sz="2800">
                                <a:latin typeface="Cambria Math" panose="02040503050406030204" pitchFamily="18" charset="0"/>
                                <a:ea typeface="Cambria Math" panose="02040503050406030204" pitchFamily="18" charset="0"/>
                              </a:rPr>
                              <m:t>lim</m:t>
                            </m:r>
                          </m:e>
                          <m:lim>
                            <m:r>
                              <a:rPr lang="en-US" altLang="zh-CN" sz="2800" i="1">
                                <a:latin typeface="Cambria Math" panose="02040503050406030204" pitchFamily="18" charset="0"/>
                                <a:ea typeface="Cambria Math" panose="02040503050406030204" pitchFamily="18" charset="0"/>
                              </a:rPr>
                              <m:t>𝑡</m:t>
                            </m:r>
                            <m:r>
                              <a:rPr lang="en-US" altLang="zh-CN" sz="2800" i="1">
                                <a:latin typeface="Cambria Math" panose="02040503050406030204" pitchFamily="18" charset="0"/>
                                <a:ea typeface="Cambria Math" panose="02040503050406030204" pitchFamily="18" charset="0"/>
                              </a:rPr>
                              <m:t>→∞</m:t>
                            </m:r>
                          </m:lim>
                        </m:limLow>
                      </m:fName>
                      <m:e>
                        <m:r>
                          <a:rPr lang="en-US" altLang="zh-CN" sz="2800" i="1">
                            <a:latin typeface="Cambria Math" panose="02040503050406030204" pitchFamily="18" charset="0"/>
                            <a:ea typeface="Cambria Math" panose="02040503050406030204" pitchFamily="18" charset="0"/>
                          </a:rPr>
                          <m:t>𝑘</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𝑡</m:t>
                            </m:r>
                          </m:e>
                        </m:d>
                      </m:e>
                    </m:func>
                    <m:r>
                      <m:rPr>
                        <m:aln/>
                      </m:rPr>
                      <a:rPr lang="en-US" altLang="zh-CN" sz="2800" i="1">
                        <a:latin typeface="Cambria Math" panose="02040503050406030204" pitchFamily="18" charset="0"/>
                        <a:ea typeface="Cambria Math" panose="02040503050406030204" pitchFamily="18" charset="0"/>
                      </a:rPr>
                      <m:t>=</m:t>
                    </m:r>
                    <m:func>
                      <m:funcPr>
                        <m:ctrlPr>
                          <a:rPr lang="en-US" altLang="zh-CN" sz="2800" i="1">
                            <a:latin typeface="Cambria Math" panose="02040503050406030204" pitchFamily="18" charset="0"/>
                            <a:ea typeface="Cambria Math" panose="02040503050406030204" pitchFamily="18" charset="0"/>
                          </a:rPr>
                        </m:ctrlPr>
                      </m:funcPr>
                      <m:fName>
                        <m:limLow>
                          <m:limLowPr>
                            <m:ctrlPr>
                              <a:rPr lang="en-US" altLang="zh-CN" sz="2800" i="1">
                                <a:latin typeface="Cambria Math" panose="02040503050406030204" pitchFamily="18" charset="0"/>
                                <a:ea typeface="Cambria Math" panose="02040503050406030204" pitchFamily="18" charset="0"/>
                              </a:rPr>
                            </m:ctrlPr>
                          </m:limLowPr>
                          <m:e>
                            <m:r>
                              <m:rPr>
                                <m:sty m:val="p"/>
                              </m:rPr>
                              <a:rPr lang="en-US" altLang="zh-CN" sz="2800">
                                <a:latin typeface="Cambria Math" panose="02040503050406030204" pitchFamily="18" charset="0"/>
                                <a:ea typeface="Cambria Math" panose="02040503050406030204" pitchFamily="18" charset="0"/>
                              </a:rPr>
                              <m:t>lim</m:t>
                            </m:r>
                          </m:e>
                          <m:lim>
                            <m:r>
                              <a:rPr lang="en-US" altLang="zh-CN" sz="2800" i="1">
                                <a:latin typeface="Cambria Math" panose="02040503050406030204" pitchFamily="18" charset="0"/>
                                <a:ea typeface="Cambria Math" panose="02040503050406030204" pitchFamily="18" charset="0"/>
                              </a:rPr>
                              <m:t>𝑡</m:t>
                            </m:r>
                            <m:r>
                              <a:rPr lang="en-US" altLang="zh-CN" sz="2800" i="1">
                                <a:latin typeface="Cambria Math" panose="02040503050406030204" pitchFamily="18" charset="0"/>
                                <a:ea typeface="Cambria Math" panose="02040503050406030204" pitchFamily="18" charset="0"/>
                              </a:rPr>
                              <m:t>→∞</m:t>
                            </m:r>
                          </m:lim>
                        </m:limLow>
                      </m:fName>
                      <m:e>
                        <m:nary>
                          <m:naryPr>
                            <m:chr m:val="∑"/>
                            <m:limLoc m:val="subSup"/>
                            <m:ctrlPr>
                              <a:rPr lang="en-US" altLang="zh-CN" sz="2800" i="1" dirty="0">
                                <a:latin typeface="Cambria Math" panose="02040503050406030204" pitchFamily="18" charset="0"/>
                                <a:ea typeface="Cambria Math" panose="02040503050406030204" pitchFamily="18" charset="0"/>
                              </a:rPr>
                            </m:ctrlPr>
                          </m:naryPr>
                          <m:sub>
                            <m:r>
                              <m:rPr>
                                <m:brk m:alnAt="25"/>
                              </m:rP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m:t>
                            </m:r>
                          </m:sub>
                          <m:sup>
                            <m:r>
                              <a:rPr lang="en-US" altLang="zh-CN" sz="2800" i="1" dirty="0">
                                <a:latin typeface="Cambria Math" panose="02040503050406030204" pitchFamily="18" charset="0"/>
                                <a:ea typeface="Cambria Math" panose="02040503050406030204" pitchFamily="18" charset="0"/>
                              </a:rPr>
                              <m:t>𝑛</m:t>
                            </m:r>
                          </m:sup>
                          <m:e>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𝐴</m:t>
                                </m:r>
                              </m:e>
                              <m:sub>
                                <m:r>
                                  <a:rPr lang="en-US" altLang="zh-CN" sz="2800" i="1" dirty="0">
                                    <a:latin typeface="Cambria Math" panose="02040503050406030204" pitchFamily="18" charset="0"/>
                                    <a:ea typeface="Cambria Math" panose="02040503050406030204" pitchFamily="18" charset="0"/>
                                  </a:rPr>
                                  <m:t>𝑖</m:t>
                                </m:r>
                              </m:sub>
                            </m:sSub>
                            <m:sSup>
                              <m:sSupPr>
                                <m:ctrlPr>
                                  <a:rPr lang="en-US" altLang="zh-CN" sz="2800" i="1" dirty="0">
                                    <a:latin typeface="Cambria Math" panose="02040503050406030204" pitchFamily="18" charset="0"/>
                                    <a:ea typeface="Cambria Math" panose="02040503050406030204" pitchFamily="18" charset="0"/>
                                  </a:rPr>
                                </m:ctrlPr>
                              </m:sSupPr>
                              <m:e>
                                <m:r>
                                  <a:rPr lang="en-US" altLang="zh-CN" sz="2800" i="1" dirty="0">
                                    <a:latin typeface="Cambria Math" panose="02040503050406030204" pitchFamily="18" charset="0"/>
                                    <a:ea typeface="Cambria Math" panose="02040503050406030204" pitchFamily="18" charset="0"/>
                                  </a:rPr>
                                  <m:t>𝑒</m:t>
                                </m:r>
                              </m:e>
                              <m:sup>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𝑖</m:t>
                                    </m:r>
                                  </m:sub>
                                </m:sSub>
                                <m:r>
                                  <a:rPr lang="en-US" altLang="zh-CN" sz="2800" i="1" dirty="0">
                                    <a:latin typeface="Cambria Math" panose="02040503050406030204" pitchFamily="18" charset="0"/>
                                    <a:ea typeface="Cambria Math" panose="02040503050406030204" pitchFamily="18" charset="0"/>
                                  </a:rPr>
                                  <m:t>𝑡</m:t>
                                </m:r>
                              </m:sup>
                            </m:sSup>
                          </m:e>
                        </m:nary>
                      </m:e>
                    </m:func>
                    <m:r>
                      <a:rPr lang="en-US" altLang="zh-CN" sz="2800" i="1" dirty="0">
                        <a:latin typeface="Cambria Math" panose="02040503050406030204" pitchFamily="18" charset="0"/>
                        <a:ea typeface="Cambria Math" panose="02040503050406030204" pitchFamily="18" charset="0"/>
                      </a:rPr>
                      <m:t>=0⇒</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𝑝</m:t>
                        </m:r>
                      </m:e>
                      <m:sub>
                        <m:r>
                          <a:rPr lang="en-US" altLang="zh-CN" sz="2800" i="1" dirty="0">
                            <a:latin typeface="Cambria Math" panose="02040503050406030204" pitchFamily="18" charset="0"/>
                            <a:ea typeface="Cambria Math" panose="02040503050406030204" pitchFamily="18" charset="0"/>
                          </a:rPr>
                          <m:t>𝑖</m:t>
                        </m:r>
                      </m:sub>
                    </m:sSub>
                    <m:r>
                      <a:rPr lang="en-US" altLang="zh-CN" sz="2800" i="1" dirty="0">
                        <a:latin typeface="Cambria Math" panose="02040503050406030204" pitchFamily="18" charset="0"/>
                        <a:ea typeface="Cambria Math" panose="02040503050406030204" pitchFamily="18" charset="0"/>
                      </a:rPr>
                      <m:t>&lt;0</m:t>
                    </m:r>
                    <m:r>
                      <a:rPr lang="zh-CN" altLang="en-US" sz="2800" i="1" dirty="0">
                        <a:latin typeface="Cambria Math" panose="02040503050406030204" pitchFamily="18" charset="0"/>
                        <a:ea typeface="Cambria Math" panose="02040503050406030204" pitchFamily="18" charset="0"/>
                      </a:rPr>
                      <m:t>    </m:t>
                    </m:r>
                    <m:r>
                      <a:rPr lang="en-US" altLang="zh-CN" sz="2800" i="1" dirty="0">
                        <a:latin typeface="Cambria Math" panose="02040503050406030204" pitchFamily="18" charset="0"/>
                        <a:ea typeface="Cambria Math" panose="02040503050406030204" pitchFamily="18" charset="0"/>
                      </a:rPr>
                      <m:t>𝑖</m:t>
                    </m:r>
                    <m:r>
                      <a:rPr lang="en-US" altLang="zh-CN" sz="2800" i="1" dirty="0">
                        <a:latin typeface="Cambria Math" panose="02040503050406030204" pitchFamily="18" charset="0"/>
                        <a:ea typeface="Cambria Math" panose="02040503050406030204" pitchFamily="18" charset="0"/>
                      </a:rPr>
                      <m:t>=1,2,⋯,</m:t>
                    </m:r>
                    <m:r>
                      <a:rPr lang="en-US" altLang="zh-CN" sz="2800" i="1" dirty="0">
                        <a:latin typeface="Cambria Math" panose="02040503050406030204" pitchFamily="18" charset="0"/>
                        <a:ea typeface="Cambria Math" panose="02040503050406030204" pitchFamily="18" charset="0"/>
                      </a:rPr>
                      <m:t>𝑛</m:t>
                    </m:r>
                  </m:oMath>
                </a14:m>
                <a:r>
                  <a:rPr lang="en-US" altLang="zh-CN" sz="2800" i="1" dirty="0"/>
                  <a:t> </a:t>
                </a:r>
                <a:endParaRPr lang="zh-CN" altLang="en-US" sz="2800" i="1" dirty="0"/>
              </a:p>
            </p:txBody>
          </p:sp>
        </mc:Choice>
        <mc:Fallback xmlns="">
          <p:sp>
            <p:nvSpPr>
              <p:cNvPr id="11" name="公式4">
                <a:extLst>
                  <a:ext uri="{FF2B5EF4-FFF2-40B4-BE49-F238E27FC236}">
                    <a16:creationId xmlns:a16="http://schemas.microsoft.com/office/drawing/2014/main" id="{34F5A159-D42A-31CE-863A-607C47632182}"/>
                  </a:ext>
                </a:extLst>
              </p:cNvPr>
              <p:cNvSpPr txBox="1">
                <a:spLocks noRot="1" noChangeAspect="1" noMove="1" noResize="1" noEditPoints="1" noAdjustHandles="1" noChangeArrowheads="1" noChangeShapeType="1" noTextEdit="1"/>
              </p:cNvSpPr>
              <p:nvPr/>
            </p:nvSpPr>
            <p:spPr>
              <a:xfrm>
                <a:off x="1499299" y="3893838"/>
                <a:ext cx="9474200" cy="656655"/>
              </a:xfrm>
              <a:prstGeom prst="rect">
                <a:avLst/>
              </a:prstGeom>
              <a:blipFill>
                <a:blip r:embed="rId8"/>
                <a:stretch>
                  <a:fillRect t="-100000" b="-133962"/>
                </a:stretch>
              </a:blipFill>
            </p:spPr>
            <p:txBody>
              <a:bodyPr/>
              <a:lstStyle/>
              <a:p>
                <a:r>
                  <a:rPr lang="zh-CN" altLang="en-US">
                    <a:noFill/>
                  </a:rPr>
                  <a:t> </a:t>
                </a:r>
              </a:p>
            </p:txBody>
          </p:sp>
        </mc:Fallback>
      </mc:AlternateContent>
      <p:sp>
        <p:nvSpPr>
          <p:cNvPr id="12" name="íŝlïďê">
            <a:extLst>
              <a:ext uri="{FF2B5EF4-FFF2-40B4-BE49-F238E27FC236}">
                <a16:creationId xmlns:a16="http://schemas.microsoft.com/office/drawing/2014/main" id="{BCE74962-4446-A374-C6BA-776B01F845A1}"/>
              </a:ext>
            </a:extLst>
          </p:cNvPr>
          <p:cNvSpPr/>
          <p:nvPr/>
        </p:nvSpPr>
        <p:spPr bwMode="auto">
          <a:xfrm>
            <a:off x="132525" y="1582914"/>
            <a:ext cx="1402061" cy="578882"/>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zh-CN" altLang="en-US" sz="2800" b="1" dirty="0">
                <a:solidFill>
                  <a:schemeClr val="bg1"/>
                </a:solidFill>
                <a:latin typeface="Stencil" panose="040409050D0802020404" pitchFamily="82" charset="0"/>
              </a:rPr>
              <a:t>必要性</a:t>
            </a:r>
          </a:p>
        </p:txBody>
      </p:sp>
      <p:sp>
        <p:nvSpPr>
          <p:cNvPr id="13" name="íŝlïďê">
            <a:extLst>
              <a:ext uri="{FF2B5EF4-FFF2-40B4-BE49-F238E27FC236}">
                <a16:creationId xmlns:a16="http://schemas.microsoft.com/office/drawing/2014/main" id="{1FE889D8-550F-C922-C545-23058E044397}"/>
              </a:ext>
            </a:extLst>
          </p:cNvPr>
          <p:cNvSpPr/>
          <p:nvPr/>
        </p:nvSpPr>
        <p:spPr bwMode="auto">
          <a:xfrm>
            <a:off x="97238" y="4868863"/>
            <a:ext cx="1402061" cy="578882"/>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zh-CN" altLang="en-US" sz="2800" b="1" dirty="0">
                <a:solidFill>
                  <a:schemeClr val="bg1"/>
                </a:solidFill>
                <a:latin typeface="Stencil" panose="040409050D0802020404" pitchFamily="82" charset="0"/>
              </a:rPr>
              <a:t>充分性</a:t>
            </a:r>
          </a:p>
        </p:txBody>
      </p:sp>
    </p:spTree>
    <p:extLst>
      <p:ext uri="{BB962C8B-B14F-4D97-AF65-F5344CB8AC3E}">
        <p14:creationId xmlns:p14="http://schemas.microsoft.com/office/powerpoint/2010/main" val="10362360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16" grpId="0"/>
      <p:bldP spid="19" grpId="0"/>
      <p:bldP spid="20" grpId="0"/>
      <p:bldP spid="9" grpId="0"/>
      <p:bldP spid="10" grpId="0"/>
      <p:bldP spid="11" grpId="0"/>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78582" y="32854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70343DD-BF54-5065-0DE1-18A9B67E4743}"/>
                  </a:ext>
                </a:extLst>
              </p:cNvPr>
              <p:cNvSpPr txBox="1"/>
              <p:nvPr/>
            </p:nvSpPr>
            <p:spPr>
              <a:xfrm>
                <a:off x="1578089" y="1196753"/>
                <a:ext cx="9034235"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sub>
                      </m:sSub>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𝑛</m:t>
                          </m:r>
                        </m:sup>
                      </m:sSup>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−1</m:t>
                          </m:r>
                        </m:sub>
                      </m:sSub>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−1</m:t>
                          </m:r>
                        </m:sup>
                      </m:sSup>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1</m:t>
                          </m:r>
                        </m:sub>
                      </m:sSub>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0</m:t>
                          </m:r>
                        </m:sub>
                      </m:sSub>
                      <m:r>
                        <a:rPr lang="en-US" altLang="zh-CN" sz="2800" i="1">
                          <a:latin typeface="Cambria Math" panose="02040503050406030204" pitchFamily="18" charset="0"/>
                          <a:ea typeface="Cambria Math" panose="02040503050406030204" pitchFamily="18" charset="0"/>
                        </a:rPr>
                        <m:t>=0</m:t>
                      </m:r>
                      <m:r>
                        <a:rPr lang="zh-CN" altLang="en-US" sz="2800" i="1">
                          <a:latin typeface="Cambria Math" panose="02040503050406030204" pitchFamily="18" charset="0"/>
                          <a:ea typeface="Cambria Math" panose="02040503050406030204" pitchFamily="18" charset="0"/>
                        </a:rPr>
                        <m:t>   </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sub>
                      </m:sSub>
                      <m:r>
                        <a:rPr lang="en-US" altLang="zh-CN" sz="2800" i="1">
                          <a:latin typeface="Cambria Math" panose="02040503050406030204" pitchFamily="18" charset="0"/>
                          <a:ea typeface="Cambria Math" panose="02040503050406030204" pitchFamily="18" charset="0"/>
                        </a:rPr>
                        <m:t>&gt;0)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16" name="文本框 15">
                <a:extLst>
                  <a:ext uri="{FF2B5EF4-FFF2-40B4-BE49-F238E27FC236}">
                    <a16:creationId xmlns:a16="http://schemas.microsoft.com/office/drawing/2014/main" id="{270343DD-BF54-5065-0DE1-18A9B67E4743}"/>
                  </a:ext>
                </a:extLst>
              </p:cNvPr>
              <p:cNvSpPr txBox="1">
                <a:spLocks noRot="1" noChangeAspect="1" noMove="1" noResize="1" noEditPoints="1" noAdjustHandles="1" noChangeArrowheads="1" noChangeShapeType="1" noTextEdit="1"/>
              </p:cNvSpPr>
              <p:nvPr/>
            </p:nvSpPr>
            <p:spPr>
              <a:xfrm>
                <a:off x="1578089" y="1196753"/>
                <a:ext cx="9034235" cy="523285"/>
              </a:xfrm>
              <a:prstGeom prst="rect">
                <a:avLst/>
              </a:prstGeom>
              <a:blipFill>
                <a:blip r:embed="rId3"/>
                <a:stretch>
                  <a:fillRect b="-21429"/>
                </a:stretch>
              </a:blipFill>
            </p:spPr>
            <p:txBody>
              <a:bodyPr/>
              <a:lstStyle/>
              <a:p>
                <a:r>
                  <a:rPr lang="zh-CN" altLang="en-US">
                    <a:noFill/>
                  </a:rPr>
                  <a:t> </a:t>
                </a:r>
              </a:p>
            </p:txBody>
          </p:sp>
        </mc:Fallback>
      </mc:AlternateContent>
      <p:grpSp>
        <p:nvGrpSpPr>
          <p:cNvPr id="9" name="困难1">
            <a:extLst>
              <a:ext uri="{FF2B5EF4-FFF2-40B4-BE49-F238E27FC236}">
                <a16:creationId xmlns:a16="http://schemas.microsoft.com/office/drawing/2014/main" id="{8DCA566A-4202-4804-1B6C-950479661E43}"/>
              </a:ext>
            </a:extLst>
          </p:cNvPr>
          <p:cNvGrpSpPr/>
          <p:nvPr/>
        </p:nvGrpSpPr>
        <p:grpSpPr>
          <a:xfrm>
            <a:off x="594821" y="1891225"/>
            <a:ext cx="2360007" cy="759849"/>
            <a:chOff x="4943078" y="1556792"/>
            <a:chExt cx="3146266" cy="1013000"/>
          </a:xfrm>
        </p:grpSpPr>
        <p:sp>
          <p:nvSpPr>
            <p:cNvPr id="10" name="íŝlïďê">
              <a:extLst>
                <a:ext uri="{FF2B5EF4-FFF2-40B4-BE49-F238E27FC236}">
                  <a16:creationId xmlns:a16="http://schemas.microsoft.com/office/drawing/2014/main" id="{E95879D7-BE71-7C56-ED5F-820802C8EB8D}"/>
                </a:ext>
              </a:extLst>
            </p:cNvPr>
            <p:cNvSpPr/>
            <p:nvPr/>
          </p:nvSpPr>
          <p:spPr bwMode="auto">
            <a:xfrm>
              <a:off x="5305665" y="1556792"/>
              <a:ext cx="2783679" cy="1013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270036"/>
              <a:r>
                <a:rPr lang="zh-CN" altLang="en-US" sz="2800" b="1" dirty="0">
                  <a:solidFill>
                    <a:schemeClr val="bg1"/>
                  </a:solidFill>
                  <a:latin typeface="Stencil" panose="040409050D0802020404" pitchFamily="82" charset="0"/>
                </a:rPr>
                <a:t>必要条件</a:t>
              </a:r>
            </a:p>
          </p:txBody>
        </p:sp>
        <p:sp>
          <p:nvSpPr>
            <p:cNvPr id="11" name="ï$ľiďê">
              <a:extLst>
                <a:ext uri="{FF2B5EF4-FFF2-40B4-BE49-F238E27FC236}">
                  <a16:creationId xmlns:a16="http://schemas.microsoft.com/office/drawing/2014/main" id="{1008AE9F-748A-372E-817E-49189776E2A5}"/>
                </a:ext>
              </a:extLst>
            </p:cNvPr>
            <p:cNvSpPr/>
            <p:nvPr/>
          </p:nvSpPr>
          <p:spPr bwMode="auto">
            <a:xfrm>
              <a:off x="4943078" y="1700704"/>
              <a:ext cx="725177" cy="725177"/>
            </a:xfrm>
            <a:prstGeom prst="ellipse">
              <a:avLst/>
            </a:prstGeom>
            <a:solidFill>
              <a:schemeClr val="accent4"/>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77500" lnSpcReduction="20000"/>
            </a:bodyPr>
            <a:lstStyle/>
            <a:p>
              <a:pPr algn="ctr"/>
              <a:r>
                <a:rPr lang="en-US" altLang="zh-CN" sz="2800" dirty="0">
                  <a:solidFill>
                    <a:schemeClr val="bg1"/>
                  </a:solidFill>
                  <a:latin typeface="Stencil" panose="040409050D0802020404" pitchFamily="82" charset="0"/>
                </a:rPr>
                <a:t>01</a:t>
              </a:r>
              <a:endParaRPr lang="zh-CN" altLang="en-US" sz="2800" dirty="0">
                <a:solidFill>
                  <a:schemeClr val="bg1"/>
                </a:solidFill>
                <a:latin typeface="Stencil" panose="040409050D0802020404" pitchFamily="82" charset="0"/>
              </a:endParaRPr>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58C6C2F-75AD-CC96-556A-04286C75BE53}"/>
                  </a:ext>
                </a:extLst>
              </p:cNvPr>
              <p:cNvSpPr txBox="1"/>
              <p:nvPr/>
            </p:nvSpPr>
            <p:spPr>
              <a:xfrm>
                <a:off x="3390752" y="2004097"/>
                <a:ext cx="1263798" cy="523220"/>
              </a:xfrm>
              <a:prstGeom prst="rect">
                <a:avLst/>
              </a:prstGeom>
              <a:solidFill>
                <a:schemeClr val="accent1">
                  <a:lumMod val="60000"/>
                  <a:lumOff val="40000"/>
                </a:schemeClr>
              </a:solidFill>
              <a:effectLst>
                <a:outerShdw blurRad="50800" dist="38100" dir="2700000" algn="tl" rotWithShape="0">
                  <a:prstClr val="black">
                    <a:alpha val="40000"/>
                  </a:prstClr>
                </a:outerShdw>
              </a:effectLst>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𝑖</m:t>
                          </m:r>
                        </m:sub>
                      </m:sSub>
                      <m:r>
                        <a:rPr lang="en-US" altLang="zh-CN" sz="2800" i="1">
                          <a:latin typeface="Cambria Math" panose="02040503050406030204" pitchFamily="18" charset="0"/>
                          <a:ea typeface="Cambria Math" panose="02040503050406030204" pitchFamily="18" charset="0"/>
                        </a:rPr>
                        <m:t>&gt;0</m:t>
                      </m:r>
                    </m:oMath>
                  </m:oMathPara>
                </a14:m>
                <a:endParaRPr lang="zh-CN" altLang="en-US" sz="2800" i="1" dirty="0"/>
              </a:p>
            </p:txBody>
          </p:sp>
        </mc:Choice>
        <mc:Fallback xmlns="">
          <p:sp>
            <p:nvSpPr>
              <p:cNvPr id="12" name="文本框 11">
                <a:extLst>
                  <a:ext uri="{FF2B5EF4-FFF2-40B4-BE49-F238E27FC236}">
                    <a16:creationId xmlns:a16="http://schemas.microsoft.com/office/drawing/2014/main" id="{958C6C2F-75AD-CC96-556A-04286C75BE53}"/>
                  </a:ext>
                </a:extLst>
              </p:cNvPr>
              <p:cNvSpPr txBox="1">
                <a:spLocks noRot="1" noChangeAspect="1" noMove="1" noResize="1" noEditPoints="1" noAdjustHandles="1" noChangeArrowheads="1" noChangeShapeType="1" noTextEdit="1"/>
              </p:cNvSpPr>
              <p:nvPr/>
            </p:nvSpPr>
            <p:spPr>
              <a:xfrm>
                <a:off x="3390752" y="2004097"/>
                <a:ext cx="1263798" cy="523220"/>
              </a:xfrm>
              <a:prstGeom prst="rect">
                <a:avLst/>
              </a:prstGeom>
              <a:blipFill>
                <a:blip r:embed="rId4"/>
                <a:stretch>
                  <a:fillRect/>
                </a:stretch>
              </a:blipFill>
              <a:effectLst>
                <a:outerShdw blurRad="50800" dist="38100" dir="2700000" algn="tl"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1222753-8CDF-7133-D631-851F576A71E8}"/>
                  </a:ext>
                </a:extLst>
              </p:cNvPr>
              <p:cNvSpPr txBox="1"/>
              <p:nvPr/>
            </p:nvSpPr>
            <p:spPr>
              <a:xfrm>
                <a:off x="5575800" y="2009540"/>
                <a:ext cx="321170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𝑖</m:t>
                      </m:r>
                      <m:r>
                        <a:rPr lang="en-US" altLang="zh-CN" sz="2800" i="1">
                          <a:latin typeface="Cambria Math" panose="02040503050406030204" pitchFamily="18" charset="0"/>
                          <a:ea typeface="Cambria Math" panose="02040503050406030204" pitchFamily="18" charset="0"/>
                        </a:rPr>
                        <m:t>=1,2,⋯,</m:t>
                      </m:r>
                      <m:r>
                        <a:rPr lang="en-US" altLang="zh-CN" sz="2800" i="1" dirty="0">
                          <a:latin typeface="Cambria Math" panose="02040503050406030204" pitchFamily="18" charset="0"/>
                          <a:ea typeface="Cambria Math" panose="02040503050406030204" pitchFamily="18" charset="0"/>
                        </a:rPr>
                        <m:t>𝑛</m:t>
                      </m:r>
                    </m:oMath>
                  </m:oMathPara>
                </a14:m>
                <a:endParaRPr lang="zh-CN" altLang="en-US" sz="2800" i="1" dirty="0"/>
              </a:p>
            </p:txBody>
          </p:sp>
        </mc:Choice>
        <mc:Fallback xmlns="">
          <p:sp>
            <p:nvSpPr>
              <p:cNvPr id="13" name="文本框 12">
                <a:extLst>
                  <a:ext uri="{FF2B5EF4-FFF2-40B4-BE49-F238E27FC236}">
                    <a16:creationId xmlns:a16="http://schemas.microsoft.com/office/drawing/2014/main" id="{41222753-8CDF-7133-D631-851F576A71E8}"/>
                  </a:ext>
                </a:extLst>
              </p:cNvPr>
              <p:cNvSpPr txBox="1">
                <a:spLocks noRot="1" noChangeAspect="1" noMove="1" noResize="1" noEditPoints="1" noAdjustHandles="1" noChangeArrowheads="1" noChangeShapeType="1" noTextEdit="1"/>
              </p:cNvSpPr>
              <p:nvPr/>
            </p:nvSpPr>
            <p:spPr>
              <a:xfrm>
                <a:off x="5575800" y="2009540"/>
                <a:ext cx="3211705" cy="523220"/>
              </a:xfrm>
              <a:prstGeom prst="rect">
                <a:avLst/>
              </a:prstGeom>
              <a:blipFill>
                <a:blip r:embed="rId5"/>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EEC077CE-F5EB-B3BC-0BB6-F27139356626}"/>
              </a:ext>
            </a:extLst>
          </p:cNvPr>
          <p:cNvGrpSpPr/>
          <p:nvPr/>
        </p:nvGrpSpPr>
        <p:grpSpPr>
          <a:xfrm>
            <a:off x="2134766" y="2822263"/>
            <a:ext cx="6120680" cy="1384995"/>
            <a:chOff x="2134766" y="2822263"/>
            <a:chExt cx="6120680" cy="1384995"/>
          </a:xfrm>
        </p:grpSpPr>
        <p:sp>
          <p:nvSpPr>
            <p:cNvPr id="15" name="文本框 14">
              <a:extLst>
                <a:ext uri="{FF2B5EF4-FFF2-40B4-BE49-F238E27FC236}">
                  <a16:creationId xmlns:a16="http://schemas.microsoft.com/office/drawing/2014/main" id="{E7BCBCD4-61E9-6740-3286-AA3F2B0DD262}"/>
                </a:ext>
              </a:extLst>
            </p:cNvPr>
            <p:cNvSpPr txBox="1"/>
            <p:nvPr/>
          </p:nvSpPr>
          <p:spPr>
            <a:xfrm>
              <a:off x="2134766" y="2822265"/>
              <a:ext cx="1263798" cy="523220"/>
            </a:xfrm>
            <a:prstGeom prst="rect">
              <a:avLst/>
            </a:prstGeom>
            <a:noFill/>
          </p:spPr>
          <p:txBody>
            <a:bodyPr wrap="square">
              <a:spAutoFit/>
            </a:bodyPr>
            <a:lstStyle/>
            <a:p>
              <a:r>
                <a:rPr lang="zh-CN" altLang="en-US" sz="2800" dirty="0"/>
                <a:t>说明：</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F1FEC44-5FA1-7476-97D2-9A76A6E52D2C}"/>
                    </a:ext>
                  </a:extLst>
                </p:cNvPr>
                <p:cNvSpPr txBox="1"/>
                <p:nvPr/>
              </p:nvSpPr>
              <p:spPr>
                <a:xfrm>
                  <a:off x="2494806" y="2822263"/>
                  <a:ext cx="5760640" cy="13849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ea typeface="Cambria Math" panose="02040503050406030204" pitchFamily="18" charset="0"/>
                          </a:rPr>
                          <m:t>=</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m:t>
                            </m:r>
                          </m:e>
                        </m:d>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m:t>
                            </m:r>
                          </m:e>
                        </m:d>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+3</m:t>
                            </m:r>
                          </m:e>
                        </m:d>
                      </m:oMath>
                      <m:oMath xmlns:m="http://schemas.openxmlformats.org/officeDocument/2006/math">
                        <m:r>
                          <m:rPr>
                            <m:aln/>
                          </m:rPr>
                          <a:rPr lang="en-US" altLang="zh-CN" sz="2800" i="1">
                            <a:latin typeface="Cambria Math" panose="02040503050406030204" pitchFamily="18" charset="0"/>
                          </a:rPr>
                          <m:t>=</m:t>
                        </m:r>
                        <m:d>
                          <m:dPr>
                            <m:begChr m:val="（"/>
                            <m:endChr m:val="）"/>
                            <m:ctrlPr>
                              <a:rPr lang="zh-CN" altLang="en-US" sz="2800" i="1">
                                <a:latin typeface="Cambria Math" panose="02040503050406030204" pitchFamily="18" charset="0"/>
                              </a:rPr>
                            </m:ctrlPr>
                          </m:dPr>
                          <m:e>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𝑠</m:t>
                                </m:r>
                              </m:e>
                              <m:sup>
                                <m:r>
                                  <a:rPr lang="en-US" altLang="zh-CN" sz="2800" i="1">
                                    <a:latin typeface="Cambria Math" panose="02040503050406030204" pitchFamily="18" charset="0"/>
                                  </a:rPr>
                                  <m:t>2</m:t>
                                </m:r>
                              </m:sup>
                            </m:sSup>
                            <m:r>
                              <a:rPr lang="en-US" altLang="zh-CN" sz="2800" i="1">
                                <a:latin typeface="Cambria Math" panose="02040503050406030204" pitchFamily="18" charset="0"/>
                              </a:rPr>
                              <m:t>+3</m:t>
                            </m:r>
                            <m:r>
                              <a:rPr lang="en-US" altLang="zh-CN" sz="2800" i="1">
                                <a:latin typeface="Cambria Math" panose="02040503050406030204" pitchFamily="18" charset="0"/>
                              </a:rPr>
                              <m:t>𝑠</m:t>
                            </m:r>
                            <m:r>
                              <a:rPr lang="en-US" altLang="zh-CN" sz="2800" i="1">
                                <a:latin typeface="Cambria Math" panose="02040503050406030204" pitchFamily="18" charset="0"/>
                              </a:rPr>
                              <m:t>+2</m:t>
                            </m:r>
                          </m:e>
                        </m:d>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r>
                              <a:rPr lang="en-US" altLang="zh-CN" sz="2800" i="1">
                                <a:latin typeface="Cambria Math" panose="02040503050406030204" pitchFamily="18" charset="0"/>
                              </a:rPr>
                              <m:t>+3</m:t>
                            </m:r>
                          </m:e>
                        </m:d>
                      </m:oMath>
                      <m:oMath xmlns:m="http://schemas.openxmlformats.org/officeDocument/2006/math">
                        <m:r>
                          <m:rPr>
                            <m:aln/>
                          </m:rP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𝑠</m:t>
                            </m:r>
                          </m:e>
                          <m:sup>
                            <m:r>
                              <a:rPr lang="en-US" altLang="zh-CN" sz="2800" i="1">
                                <a:latin typeface="Cambria Math" panose="02040503050406030204" pitchFamily="18" charset="0"/>
                              </a:rPr>
                              <m:t>3</m:t>
                            </m:r>
                          </m:sup>
                        </m:sSup>
                        <m:r>
                          <a:rPr lang="en-US" altLang="zh-CN" sz="2800" i="1">
                            <a:latin typeface="Cambria Math" panose="02040503050406030204" pitchFamily="18" charset="0"/>
                          </a:rPr>
                          <m:t>+6</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𝑠</m:t>
                            </m:r>
                          </m:e>
                          <m:sup>
                            <m:r>
                              <a:rPr lang="en-US" altLang="zh-CN" sz="2800" i="1">
                                <a:latin typeface="Cambria Math" panose="02040503050406030204" pitchFamily="18" charset="0"/>
                              </a:rPr>
                              <m:t>2</m:t>
                            </m:r>
                          </m:sup>
                        </m:sSup>
                        <m:r>
                          <a:rPr lang="en-US" altLang="zh-CN" sz="2800" i="1">
                            <a:latin typeface="Cambria Math" panose="02040503050406030204" pitchFamily="18" charset="0"/>
                          </a:rPr>
                          <m:t>+11</m:t>
                        </m:r>
                        <m:r>
                          <a:rPr lang="en-US" altLang="zh-CN" sz="2800" i="1">
                            <a:latin typeface="Cambria Math" panose="02040503050406030204" pitchFamily="18" charset="0"/>
                          </a:rPr>
                          <m:t>𝑠</m:t>
                        </m:r>
                        <m:r>
                          <a:rPr lang="en-US" altLang="zh-CN" sz="2800" i="1">
                            <a:latin typeface="Cambria Math" panose="02040503050406030204" pitchFamily="18" charset="0"/>
                          </a:rPr>
                          <m:t>+6</m:t>
                        </m:r>
                      </m:oMath>
                    </m:oMathPara>
                  </a14:m>
                  <a:endParaRPr lang="zh-CN" altLang="en-US" sz="2800" i="1" dirty="0"/>
                </a:p>
              </p:txBody>
            </p:sp>
          </mc:Choice>
          <mc:Fallback xmlns="">
            <p:sp>
              <p:nvSpPr>
                <p:cNvPr id="14" name="文本框 13">
                  <a:extLst>
                    <a:ext uri="{FF2B5EF4-FFF2-40B4-BE49-F238E27FC236}">
                      <a16:creationId xmlns:a16="http://schemas.microsoft.com/office/drawing/2014/main" id="{CF1FEC44-5FA1-7476-97D2-9A76A6E52D2C}"/>
                    </a:ext>
                  </a:extLst>
                </p:cNvPr>
                <p:cNvSpPr txBox="1">
                  <a:spLocks noRot="1" noChangeAspect="1" noMove="1" noResize="1" noEditPoints="1" noAdjustHandles="1" noChangeArrowheads="1" noChangeShapeType="1" noTextEdit="1"/>
                </p:cNvSpPr>
                <p:nvPr/>
              </p:nvSpPr>
              <p:spPr>
                <a:xfrm>
                  <a:off x="2494806" y="2822263"/>
                  <a:ext cx="5760640" cy="1384995"/>
                </a:xfrm>
                <a:prstGeom prst="rect">
                  <a:avLst/>
                </a:prstGeom>
                <a:blipFill>
                  <a:blip r:embed="rId6"/>
                  <a:stretch>
                    <a:fillRect/>
                  </a:stretch>
                </a:blipFill>
              </p:spPr>
              <p:txBody>
                <a:bodyPr/>
                <a:lstStyle/>
                <a:p>
                  <a:r>
                    <a:rPr lang="zh-CN" altLang="en-US">
                      <a:noFill/>
                    </a:rPr>
                    <a:t> </a:t>
                  </a:r>
                </a:p>
              </p:txBody>
            </p:sp>
          </mc:Fallback>
        </mc:AlternateContent>
      </p:grpSp>
      <p:grpSp>
        <p:nvGrpSpPr>
          <p:cNvPr id="3" name="组合 2">
            <a:extLst>
              <a:ext uri="{FF2B5EF4-FFF2-40B4-BE49-F238E27FC236}">
                <a16:creationId xmlns:a16="http://schemas.microsoft.com/office/drawing/2014/main" id="{267C9F08-109E-30DB-C1F3-07069809FCF9}"/>
              </a:ext>
            </a:extLst>
          </p:cNvPr>
          <p:cNvGrpSpPr/>
          <p:nvPr/>
        </p:nvGrpSpPr>
        <p:grpSpPr>
          <a:xfrm>
            <a:off x="1810730" y="4797151"/>
            <a:ext cx="9574296" cy="1687834"/>
            <a:chOff x="1810730" y="4797151"/>
            <a:chExt cx="9574296" cy="1687834"/>
          </a:xfrm>
        </p:grpSpPr>
        <p:sp>
          <p:nvSpPr>
            <p:cNvPr id="18" name="文本框 17">
              <a:extLst>
                <a:ext uri="{FF2B5EF4-FFF2-40B4-BE49-F238E27FC236}">
                  <a16:creationId xmlns:a16="http://schemas.microsoft.com/office/drawing/2014/main" id="{26D0951F-FB0E-E77B-4820-6FC237FA9AC7}"/>
                </a:ext>
              </a:extLst>
            </p:cNvPr>
            <p:cNvSpPr txBox="1"/>
            <p:nvPr/>
          </p:nvSpPr>
          <p:spPr>
            <a:xfrm>
              <a:off x="1810730" y="5296263"/>
              <a:ext cx="648072" cy="523220"/>
            </a:xfrm>
            <a:prstGeom prst="rect">
              <a:avLst/>
            </a:prstGeom>
            <a:noFill/>
          </p:spPr>
          <p:txBody>
            <a:bodyPr wrap="square">
              <a:spAutoFit/>
            </a:bodyPr>
            <a:lstStyle/>
            <a:p>
              <a:r>
                <a:rPr lang="zh-CN" altLang="en-US" sz="2800" dirty="0"/>
                <a:t>例</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F7A5AE94-E63A-D5AE-D87F-0CA93FC9A6A0}"/>
                    </a:ext>
                  </a:extLst>
                </p:cNvPr>
                <p:cNvSpPr txBox="1"/>
                <p:nvPr/>
              </p:nvSpPr>
              <p:spPr>
                <a:xfrm>
                  <a:off x="2350791" y="4797151"/>
                  <a:ext cx="9034235" cy="16878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800" i="1">
                                <a:latin typeface="Cambria Math" panose="02040503050406030204" pitchFamily="18" charset="0"/>
                                <a:ea typeface="Cambria Math" panose="02040503050406030204" pitchFamily="18" charset="0"/>
                              </a:rPr>
                            </m:ctrlPr>
                          </m:dPr>
                          <m:e>
                            <m:m>
                              <m:mPr>
                                <m:mcs>
                                  <m:mc>
                                    <m:mcPr>
                                      <m:count m:val="2"/>
                                      <m:mcJc m:val="center"/>
                                    </m:mcPr>
                                  </m:mc>
                                </m:mcs>
                                <m:ctrlPr>
                                  <a:rPr lang="en-US" altLang="zh-CN" sz="2800" i="1">
                                    <a:latin typeface="Cambria Math" panose="02040503050406030204" pitchFamily="18" charset="0"/>
                                    <a:ea typeface="Cambria Math" panose="02040503050406030204" pitchFamily="18" charset="0"/>
                                  </a:rPr>
                                </m:ctrlPr>
                              </m:mPr>
                              <m:mr>
                                <m:e>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+6</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+9</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−2</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+8</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+12=0</m:t>
                                  </m:r>
                                </m:e>
                                <m:e>
                                  <m:r>
                                    <a:rPr lang="zh-CN" altLang="en-US" sz="2800" i="1">
                                      <a:solidFill>
                                        <a:srgbClr val="E44860"/>
                                      </a:solidFill>
                                      <a:latin typeface="Cambria Math" panose="02040503050406030204" pitchFamily="18" charset="0"/>
                                    </a:rPr>
                                    <m:t>不稳定</m:t>
                                  </m:r>
                                </m:e>
                              </m:mr>
                              <m:mr>
                                <m:e>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+4</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+6</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+9</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+8=0</m:t>
                                  </m:r>
                                </m:e>
                                <m:e>
                                  <m:r>
                                    <a:rPr lang="zh-CN" altLang="en-US" sz="2800" i="1">
                                      <a:solidFill>
                                        <a:srgbClr val="E44860"/>
                                      </a:solidFill>
                                      <a:latin typeface="Cambria Math" panose="02040503050406030204" pitchFamily="18" charset="0"/>
                                    </a:rPr>
                                    <m:t>不稳定</m:t>
                                  </m:r>
                                </m:e>
                              </m:mr>
                              <m:mr>
                                <m:e>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m:rPr>
                                      <m:aln/>
                                    </m:rP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−4</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−6</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−7</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−2</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−10=0</m:t>
                                  </m:r>
                                </m:e>
                                <m:e>
                                  <m:r>
                                    <a:rPr lang="zh-CN" altLang="en-US" sz="2800" i="1">
                                      <a:solidFill>
                                        <a:srgbClr val="E44860"/>
                                      </a:solidFill>
                                      <a:latin typeface="Cambria Math" panose="02040503050406030204" pitchFamily="18" charset="0"/>
                                    </a:rPr>
                                    <m:t>可能稳定</m:t>
                                  </m:r>
                                </m:e>
                              </m:mr>
                            </m:m>
                          </m:e>
                        </m:d>
                      </m:oMath>
                    </m:oMathPara>
                  </a14:m>
                  <a:endParaRPr lang="zh-CN" altLang="en-US" sz="2800" i="1" dirty="0"/>
                </a:p>
              </p:txBody>
            </p:sp>
          </mc:Choice>
          <mc:Fallback xmlns="">
            <p:sp>
              <p:nvSpPr>
                <p:cNvPr id="21" name="文本框 20">
                  <a:extLst>
                    <a:ext uri="{FF2B5EF4-FFF2-40B4-BE49-F238E27FC236}">
                      <a16:creationId xmlns:a16="http://schemas.microsoft.com/office/drawing/2014/main" id="{F7A5AE94-E63A-D5AE-D87F-0CA93FC9A6A0}"/>
                    </a:ext>
                  </a:extLst>
                </p:cNvPr>
                <p:cNvSpPr txBox="1">
                  <a:spLocks noRot="1" noChangeAspect="1" noMove="1" noResize="1" noEditPoints="1" noAdjustHandles="1" noChangeArrowheads="1" noChangeShapeType="1" noTextEdit="1"/>
                </p:cNvSpPr>
                <p:nvPr/>
              </p:nvSpPr>
              <p:spPr>
                <a:xfrm>
                  <a:off x="2350791" y="4797151"/>
                  <a:ext cx="9034235" cy="1687834"/>
                </a:xfrm>
                <a:prstGeom prst="rect">
                  <a:avLst/>
                </a:prstGeom>
                <a:blipFill>
                  <a:blip r:embed="rId7"/>
                  <a:stretch>
                    <a:fillRect l="-32725" t="-218657" b="-309701"/>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556306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p:tgtEl>
                                          <p:spTgt spid="9"/>
                                        </p:tgtEl>
                                        <p:attrNameLst>
                                          <p:attrName>ppt_y</p:attrName>
                                        </p:attrNameLst>
                                      </p:cBhvr>
                                      <p:tavLst>
                                        <p:tav tm="0">
                                          <p:val>
                                            <p:strVal val="#ppt_y-#ppt_h*1.125000"/>
                                          </p:val>
                                        </p:tav>
                                        <p:tav tm="100000">
                                          <p:val>
                                            <p:strVal val="#ppt_y"/>
                                          </p:val>
                                        </p:tav>
                                      </p:tavLst>
                                    </p:anim>
                                    <p:animEffect transition="in" filter="wipe(down)">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par>
                          <p:cTn id="20" fill="hold">
                            <p:stCondLst>
                              <p:cond delay="500"/>
                            </p:stCondLst>
                            <p:childTnLst>
                              <p:par>
                                <p:cTn id="21" presetID="22" presetClass="entr" presetSubtype="4"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06574" y="356814"/>
            <a:ext cx="3895747" cy="523220"/>
          </a:xfrm>
          <a:prstGeom prst="rect">
            <a:avLst/>
          </a:prstGeom>
          <a:noFill/>
        </p:spPr>
        <p:txBody>
          <a:bodyPr wrap="square" rtlCol="0">
            <a:spAutoFit/>
          </a:bodyPr>
          <a:lstStyle/>
          <a:p>
            <a:r>
              <a:rPr lang="en" altLang="zh-CN" sz="2800" b="1" dirty="0">
                <a:solidFill>
                  <a:schemeClr val="bg1"/>
                </a:solidFill>
                <a:latin typeface="微软雅黑" panose="020B0503020204020204" pitchFamily="34" charset="-122"/>
                <a:ea typeface="微软雅黑" panose="020B0503020204020204" pitchFamily="34" charset="-122"/>
              </a:rPr>
              <a:t>Routh-Hurwitz </a:t>
            </a:r>
            <a:r>
              <a:rPr lang="zh-CN" altLang="en-US" sz="2800" b="1" dirty="0">
                <a:solidFill>
                  <a:schemeClr val="bg1"/>
                </a:solidFill>
                <a:latin typeface="微软雅黑" panose="020B0503020204020204" pitchFamily="34" charset="-122"/>
                <a:ea typeface="微软雅黑" panose="020B0503020204020204" pitchFamily="34" charset="-122"/>
              </a:rPr>
              <a:t>判据</a:t>
            </a:r>
          </a:p>
        </p:txBody>
      </p:sp>
      <p:grpSp>
        <p:nvGrpSpPr>
          <p:cNvPr id="2" name="组合 1">
            <a:extLst>
              <a:ext uri="{FF2B5EF4-FFF2-40B4-BE49-F238E27FC236}">
                <a16:creationId xmlns:a16="http://schemas.microsoft.com/office/drawing/2014/main" id="{477C3D44-63B2-3855-42CD-C964E19E489B}"/>
              </a:ext>
            </a:extLst>
          </p:cNvPr>
          <p:cNvGrpSpPr/>
          <p:nvPr/>
        </p:nvGrpSpPr>
        <p:grpSpPr>
          <a:xfrm>
            <a:off x="612302" y="930554"/>
            <a:ext cx="3857574" cy="2714470"/>
            <a:chOff x="612302" y="930554"/>
            <a:chExt cx="3857574" cy="2714470"/>
          </a:xfrm>
        </p:grpSpPr>
        <p:pic>
          <p:nvPicPr>
            <p:cNvPr id="3" name="图片 2" descr="穿着西装笔挺的男子黑白照&#10;&#10;描述已自动生成">
              <a:extLst>
                <a:ext uri="{FF2B5EF4-FFF2-40B4-BE49-F238E27FC236}">
                  <a16:creationId xmlns:a16="http://schemas.microsoft.com/office/drawing/2014/main" id="{42655879-4817-CC06-2440-F81254BDF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302" y="930554"/>
              <a:ext cx="2123281" cy="2714470"/>
            </a:xfrm>
            <a:prstGeom prst="ellipse">
              <a:avLst/>
            </a:prstGeom>
            <a:ln>
              <a:noFill/>
            </a:ln>
            <a:effectLst>
              <a:softEdge rad="112500"/>
            </a:effectLst>
          </p:spPr>
        </p:pic>
        <p:sp>
          <p:nvSpPr>
            <p:cNvPr id="25" name="文本框 24">
              <a:extLst>
                <a:ext uri="{FF2B5EF4-FFF2-40B4-BE49-F238E27FC236}">
                  <a16:creationId xmlns:a16="http://schemas.microsoft.com/office/drawing/2014/main" id="{A394B338-1F9A-B4DC-44F5-9CBAA8F33172}"/>
                </a:ext>
              </a:extLst>
            </p:cNvPr>
            <p:cNvSpPr txBox="1"/>
            <p:nvPr/>
          </p:nvSpPr>
          <p:spPr>
            <a:xfrm>
              <a:off x="2493175" y="2454861"/>
              <a:ext cx="1976701" cy="1015663"/>
            </a:xfrm>
            <a:prstGeom prst="rect">
              <a:avLst/>
            </a:prstGeom>
            <a:noFill/>
          </p:spPr>
          <p:txBody>
            <a:bodyPr wrap="square">
              <a:spAutoFit/>
            </a:bodyPr>
            <a:lstStyle/>
            <a:p>
              <a:pPr algn="ctr"/>
              <a:r>
                <a:rPr lang="en" altLang="zh-CN" sz="1200" dirty="0"/>
                <a:t>Edward John Routh</a:t>
              </a:r>
            </a:p>
            <a:p>
              <a:pPr algn="ctr"/>
              <a:r>
                <a:rPr lang="en" altLang="zh-CN" sz="1200" dirty="0"/>
                <a:t> (1831-1907) </a:t>
              </a:r>
            </a:p>
            <a:p>
              <a:pPr algn="ctr"/>
              <a:r>
                <a:rPr lang="en" altLang="zh-CN" sz="1200" dirty="0"/>
                <a:t>FRS, Senior Wrangler </a:t>
              </a:r>
            </a:p>
            <a:p>
              <a:pPr algn="ctr"/>
              <a:r>
                <a:rPr lang="en" altLang="zh-CN" sz="1200" dirty="0"/>
                <a:t>”Let us consider</a:t>
              </a:r>
            </a:p>
            <a:p>
              <a:pPr algn="ctr"/>
              <a:r>
                <a:rPr lang="en" altLang="zh-CN" sz="1200" dirty="0"/>
                <a:t>a spherical ship”</a:t>
              </a:r>
              <a:endParaRPr lang="zh-CN" altLang="en-US" sz="1200" dirty="0"/>
            </a:p>
          </p:txBody>
        </p:sp>
      </p:grpSp>
      <p:grpSp>
        <p:nvGrpSpPr>
          <p:cNvPr id="6" name="组合 5">
            <a:extLst>
              <a:ext uri="{FF2B5EF4-FFF2-40B4-BE49-F238E27FC236}">
                <a16:creationId xmlns:a16="http://schemas.microsoft.com/office/drawing/2014/main" id="{A9165D1C-DCB0-AD99-2C70-8BBC84C14578}"/>
              </a:ext>
            </a:extLst>
          </p:cNvPr>
          <p:cNvGrpSpPr/>
          <p:nvPr/>
        </p:nvGrpSpPr>
        <p:grpSpPr>
          <a:xfrm>
            <a:off x="4269686" y="930554"/>
            <a:ext cx="4176714" cy="2809610"/>
            <a:chOff x="4269686" y="930554"/>
            <a:chExt cx="4176714" cy="2809610"/>
          </a:xfrm>
        </p:grpSpPr>
        <p:pic>
          <p:nvPicPr>
            <p:cNvPr id="5" name="图片 4" descr="穿着西装笔挺的男子黑白照&#10;&#10;描述已自动生成">
              <a:extLst>
                <a:ext uri="{FF2B5EF4-FFF2-40B4-BE49-F238E27FC236}">
                  <a16:creationId xmlns:a16="http://schemas.microsoft.com/office/drawing/2014/main" id="{BA1E6ABB-71F8-0BA0-D8F6-D2D3419304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9686" y="930554"/>
              <a:ext cx="2329576" cy="2809610"/>
            </a:xfrm>
            <a:prstGeom prst="ellipse">
              <a:avLst/>
            </a:prstGeom>
            <a:ln>
              <a:noFill/>
            </a:ln>
            <a:effectLst>
              <a:softEdge rad="112500"/>
            </a:effectLst>
          </p:spPr>
        </p:pic>
        <p:sp>
          <p:nvSpPr>
            <p:cNvPr id="26" name="文本框 25">
              <a:extLst>
                <a:ext uri="{FF2B5EF4-FFF2-40B4-BE49-F238E27FC236}">
                  <a16:creationId xmlns:a16="http://schemas.microsoft.com/office/drawing/2014/main" id="{6BD56BA8-CE36-8C15-9C54-1AF1464F3026}"/>
                </a:ext>
              </a:extLst>
            </p:cNvPr>
            <p:cNvSpPr txBox="1"/>
            <p:nvPr/>
          </p:nvSpPr>
          <p:spPr>
            <a:xfrm>
              <a:off x="6350900" y="2446557"/>
              <a:ext cx="2095500" cy="1015663"/>
            </a:xfrm>
            <a:prstGeom prst="rect">
              <a:avLst/>
            </a:prstGeom>
            <a:noFill/>
          </p:spPr>
          <p:txBody>
            <a:bodyPr wrap="square">
              <a:spAutoFit/>
            </a:bodyPr>
            <a:lstStyle/>
            <a:p>
              <a:pPr algn="ctr"/>
              <a:r>
                <a:rPr lang="en" altLang="zh-CN" sz="1200" dirty="0"/>
                <a:t>James Clerk Maxwell </a:t>
              </a:r>
            </a:p>
            <a:p>
              <a:pPr algn="ctr"/>
              <a:r>
                <a:rPr lang="en" altLang="zh-CN" sz="1200" dirty="0"/>
                <a:t>(1831-1879)</a:t>
              </a:r>
            </a:p>
            <a:p>
              <a:pPr algn="ctr"/>
              <a:r>
                <a:rPr lang="en" altLang="zh-CN" sz="1200" dirty="0"/>
                <a:t>FRS, FRSE, Second Wrangler Einstein: I stand on</a:t>
              </a:r>
            </a:p>
            <a:p>
              <a:pPr algn="ctr"/>
              <a:r>
                <a:rPr lang="en" altLang="zh-CN" sz="1200" dirty="0"/>
                <a:t>the shoulders of Maxwell</a:t>
              </a:r>
              <a:endParaRPr lang="zh-CN" altLang="en-US" sz="1200" dirty="0"/>
            </a:p>
          </p:txBody>
        </p:sp>
      </p:grpSp>
      <p:grpSp>
        <p:nvGrpSpPr>
          <p:cNvPr id="9" name="组合 8">
            <a:extLst>
              <a:ext uri="{FF2B5EF4-FFF2-40B4-BE49-F238E27FC236}">
                <a16:creationId xmlns:a16="http://schemas.microsoft.com/office/drawing/2014/main" id="{6BA82991-8E0F-BE3D-4A86-A0C512AE8638}"/>
              </a:ext>
            </a:extLst>
          </p:cNvPr>
          <p:cNvGrpSpPr/>
          <p:nvPr/>
        </p:nvGrpSpPr>
        <p:grpSpPr>
          <a:xfrm>
            <a:off x="8469620" y="779525"/>
            <a:ext cx="3754612" cy="2847078"/>
            <a:chOff x="8469620" y="779525"/>
            <a:chExt cx="3754612" cy="2847078"/>
          </a:xfrm>
        </p:grpSpPr>
        <p:pic>
          <p:nvPicPr>
            <p:cNvPr id="23" name="图片 22" descr="穿着西装笔挺的男子黑白照&#10;&#10;描述已自动生成">
              <a:extLst>
                <a:ext uri="{FF2B5EF4-FFF2-40B4-BE49-F238E27FC236}">
                  <a16:creationId xmlns:a16="http://schemas.microsoft.com/office/drawing/2014/main" id="{A02B4795-9998-2328-3B96-EFF9DA2ABE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9620" y="779525"/>
              <a:ext cx="2095500" cy="2847078"/>
            </a:xfrm>
            <a:prstGeom prst="ellipse">
              <a:avLst/>
            </a:prstGeom>
            <a:ln>
              <a:noFill/>
            </a:ln>
            <a:effectLst>
              <a:softEdge rad="112500"/>
            </a:effectLst>
          </p:spPr>
        </p:pic>
        <p:sp>
          <p:nvSpPr>
            <p:cNvPr id="27" name="文本框 26">
              <a:extLst>
                <a:ext uri="{FF2B5EF4-FFF2-40B4-BE49-F238E27FC236}">
                  <a16:creationId xmlns:a16="http://schemas.microsoft.com/office/drawing/2014/main" id="{CE6C618C-C177-9D39-208E-A0EE5B12A654}"/>
                </a:ext>
              </a:extLst>
            </p:cNvPr>
            <p:cNvSpPr txBox="1"/>
            <p:nvPr/>
          </p:nvSpPr>
          <p:spPr>
            <a:xfrm>
              <a:off x="10128732" y="2897675"/>
              <a:ext cx="2095500" cy="646331"/>
            </a:xfrm>
            <a:prstGeom prst="rect">
              <a:avLst/>
            </a:prstGeom>
            <a:noFill/>
          </p:spPr>
          <p:txBody>
            <a:bodyPr wrap="square">
              <a:spAutoFit/>
            </a:bodyPr>
            <a:lstStyle/>
            <a:p>
              <a:pPr algn="ctr"/>
              <a:r>
                <a:rPr lang="en" altLang="zh-CN" sz="1200" dirty="0"/>
                <a:t>Sir George Gabriel Stokes (1819-1903)</a:t>
              </a:r>
            </a:p>
            <a:p>
              <a:pPr algn="ctr"/>
              <a:r>
                <a:rPr lang="en" altLang="zh-CN" sz="1200" dirty="0"/>
                <a:t>PRS, Senior Wrangler</a:t>
              </a:r>
              <a:endParaRPr lang="zh-CN" altLang="en-US" sz="1200" dirty="0"/>
            </a:p>
          </p:txBody>
        </p:sp>
      </p:grpSp>
      <p:grpSp>
        <p:nvGrpSpPr>
          <p:cNvPr id="8" name="组合 7">
            <a:extLst>
              <a:ext uri="{FF2B5EF4-FFF2-40B4-BE49-F238E27FC236}">
                <a16:creationId xmlns:a16="http://schemas.microsoft.com/office/drawing/2014/main" id="{FAAA21D0-9096-CD95-D7BD-741EB251A035}"/>
              </a:ext>
            </a:extLst>
          </p:cNvPr>
          <p:cNvGrpSpPr/>
          <p:nvPr/>
        </p:nvGrpSpPr>
        <p:grpSpPr>
          <a:xfrm>
            <a:off x="4240772" y="3725535"/>
            <a:ext cx="4126905" cy="2918587"/>
            <a:chOff x="4240772" y="3725535"/>
            <a:chExt cx="4126905" cy="2918587"/>
          </a:xfrm>
        </p:grpSpPr>
        <p:pic>
          <p:nvPicPr>
            <p:cNvPr id="17" name="图片 16" descr="穿着西装笔挺的男子黑白照&#10;&#10;描述已自动生成">
              <a:extLst>
                <a:ext uri="{FF2B5EF4-FFF2-40B4-BE49-F238E27FC236}">
                  <a16:creationId xmlns:a16="http://schemas.microsoft.com/office/drawing/2014/main" id="{0BAD831A-3E51-11F3-B143-2CAD25D68A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0772" y="3725535"/>
              <a:ext cx="2329576" cy="2918587"/>
            </a:xfrm>
            <a:prstGeom prst="ellipse">
              <a:avLst/>
            </a:prstGeom>
            <a:ln>
              <a:noFill/>
            </a:ln>
            <a:effectLst>
              <a:softEdge rad="112500"/>
            </a:effectLst>
          </p:spPr>
        </p:pic>
        <p:sp>
          <p:nvSpPr>
            <p:cNvPr id="28" name="文本框 27">
              <a:extLst>
                <a:ext uri="{FF2B5EF4-FFF2-40B4-BE49-F238E27FC236}">
                  <a16:creationId xmlns:a16="http://schemas.microsoft.com/office/drawing/2014/main" id="{B2CAC0FB-4CA1-5D39-2F48-64A10C6327CC}"/>
                </a:ext>
              </a:extLst>
            </p:cNvPr>
            <p:cNvSpPr txBox="1"/>
            <p:nvPr/>
          </p:nvSpPr>
          <p:spPr>
            <a:xfrm>
              <a:off x="6272177" y="5711615"/>
              <a:ext cx="2095500" cy="646331"/>
            </a:xfrm>
            <a:prstGeom prst="rect">
              <a:avLst/>
            </a:prstGeom>
            <a:noFill/>
          </p:spPr>
          <p:txBody>
            <a:bodyPr wrap="square">
              <a:spAutoFit/>
            </a:bodyPr>
            <a:lstStyle/>
            <a:p>
              <a:pPr algn="ctr"/>
              <a:r>
                <a:rPr lang="en" altLang="zh-CN" sz="1200" dirty="0"/>
                <a:t>Lord Kelvin</a:t>
              </a:r>
            </a:p>
            <a:p>
              <a:pPr algn="ctr"/>
              <a:r>
                <a:rPr lang="en" altLang="zh-CN" sz="1200" dirty="0"/>
                <a:t>(1824-1907)</a:t>
              </a:r>
            </a:p>
            <a:p>
              <a:pPr algn="ctr"/>
              <a:r>
                <a:rPr lang="en" altLang="zh-CN" sz="1200" dirty="0"/>
                <a:t>PRS, FRSE, Second Wrangler</a:t>
              </a:r>
              <a:endParaRPr lang="zh-CN" altLang="en-US" sz="1200" dirty="0"/>
            </a:p>
          </p:txBody>
        </p:sp>
      </p:grpSp>
      <p:grpSp>
        <p:nvGrpSpPr>
          <p:cNvPr id="4" name="组合 3">
            <a:extLst>
              <a:ext uri="{FF2B5EF4-FFF2-40B4-BE49-F238E27FC236}">
                <a16:creationId xmlns:a16="http://schemas.microsoft.com/office/drawing/2014/main" id="{C2931DB6-9EDE-DB0E-CAD9-9900DE5162A5}"/>
              </a:ext>
            </a:extLst>
          </p:cNvPr>
          <p:cNvGrpSpPr/>
          <p:nvPr/>
        </p:nvGrpSpPr>
        <p:grpSpPr>
          <a:xfrm>
            <a:off x="685591" y="3695544"/>
            <a:ext cx="3472667" cy="2948578"/>
            <a:chOff x="685591" y="3695544"/>
            <a:chExt cx="3472667" cy="2948578"/>
          </a:xfrm>
        </p:grpSpPr>
        <p:pic>
          <p:nvPicPr>
            <p:cNvPr id="20" name="图片 19" descr="穿着西装笔挺的男子黑白照&#10;&#10;描述已自动生成">
              <a:extLst>
                <a:ext uri="{FF2B5EF4-FFF2-40B4-BE49-F238E27FC236}">
                  <a16:creationId xmlns:a16="http://schemas.microsoft.com/office/drawing/2014/main" id="{47F399D5-D145-7659-7532-AB975187D3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591" y="3695544"/>
              <a:ext cx="1976701" cy="2948578"/>
            </a:xfrm>
            <a:prstGeom prst="ellipse">
              <a:avLst/>
            </a:prstGeom>
            <a:ln>
              <a:noFill/>
            </a:ln>
            <a:effectLst>
              <a:softEdge rad="112500"/>
            </a:effectLst>
          </p:spPr>
        </p:pic>
        <p:sp>
          <p:nvSpPr>
            <p:cNvPr id="29" name="文本框 28">
              <a:extLst>
                <a:ext uri="{FF2B5EF4-FFF2-40B4-BE49-F238E27FC236}">
                  <a16:creationId xmlns:a16="http://schemas.microsoft.com/office/drawing/2014/main" id="{0FFB772D-8C21-4798-0F95-AF925B7763EF}"/>
                </a:ext>
              </a:extLst>
            </p:cNvPr>
            <p:cNvSpPr txBox="1"/>
            <p:nvPr/>
          </p:nvSpPr>
          <p:spPr>
            <a:xfrm>
              <a:off x="2062758" y="5927446"/>
              <a:ext cx="2095500" cy="461665"/>
            </a:xfrm>
            <a:prstGeom prst="rect">
              <a:avLst/>
            </a:prstGeom>
            <a:noFill/>
          </p:spPr>
          <p:txBody>
            <a:bodyPr wrap="square">
              <a:spAutoFit/>
            </a:bodyPr>
            <a:lstStyle/>
            <a:p>
              <a:pPr algn="ctr"/>
              <a:r>
                <a:rPr lang="en" altLang="zh-CN" sz="1200" dirty="0"/>
                <a:t>Adolf Hurwitz</a:t>
              </a:r>
            </a:p>
            <a:p>
              <a:pPr algn="ctr"/>
              <a:r>
                <a:rPr lang="en" altLang="zh-CN" sz="1200" dirty="0"/>
                <a:t> (1859-1919)</a:t>
              </a:r>
              <a:endParaRPr lang="zh-CN" altLang="en-US" sz="1200" dirty="0"/>
            </a:p>
          </p:txBody>
        </p:sp>
      </p:grpSp>
      <p:grpSp>
        <p:nvGrpSpPr>
          <p:cNvPr id="10" name="组合 9">
            <a:extLst>
              <a:ext uri="{FF2B5EF4-FFF2-40B4-BE49-F238E27FC236}">
                <a16:creationId xmlns:a16="http://schemas.microsoft.com/office/drawing/2014/main" id="{C57577C1-139B-C438-2B5A-542E740F83E7}"/>
              </a:ext>
            </a:extLst>
          </p:cNvPr>
          <p:cNvGrpSpPr/>
          <p:nvPr/>
        </p:nvGrpSpPr>
        <p:grpSpPr>
          <a:xfrm>
            <a:off x="8407406" y="3778958"/>
            <a:ext cx="3838534" cy="2887611"/>
            <a:chOff x="8407406" y="3778958"/>
            <a:chExt cx="3838534" cy="2887611"/>
          </a:xfrm>
        </p:grpSpPr>
        <p:pic>
          <p:nvPicPr>
            <p:cNvPr id="7" name="图片 6" descr="穿着西装笔挺的男子黑白照&#10;&#10;描述已自动生成">
              <a:extLst>
                <a:ext uri="{FF2B5EF4-FFF2-40B4-BE49-F238E27FC236}">
                  <a16:creationId xmlns:a16="http://schemas.microsoft.com/office/drawing/2014/main" id="{163721D7-4C49-2FEB-E091-026792E70E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7406" y="3778958"/>
              <a:ext cx="2329576" cy="2887611"/>
            </a:xfrm>
            <a:prstGeom prst="ellipse">
              <a:avLst/>
            </a:prstGeom>
            <a:ln>
              <a:noFill/>
            </a:ln>
            <a:effectLst>
              <a:softEdge rad="112500"/>
            </a:effectLst>
          </p:spPr>
        </p:pic>
        <p:sp>
          <p:nvSpPr>
            <p:cNvPr id="30" name="文本框 29">
              <a:extLst>
                <a:ext uri="{FF2B5EF4-FFF2-40B4-BE49-F238E27FC236}">
                  <a16:creationId xmlns:a16="http://schemas.microsoft.com/office/drawing/2014/main" id="{6DD70D74-C1C8-986D-F444-57FB46B072AF}"/>
                </a:ext>
              </a:extLst>
            </p:cNvPr>
            <p:cNvSpPr txBox="1"/>
            <p:nvPr/>
          </p:nvSpPr>
          <p:spPr>
            <a:xfrm>
              <a:off x="10150440" y="5898294"/>
              <a:ext cx="2095500" cy="646331"/>
            </a:xfrm>
            <a:prstGeom prst="rect">
              <a:avLst/>
            </a:prstGeom>
            <a:noFill/>
          </p:spPr>
          <p:txBody>
            <a:bodyPr wrap="square">
              <a:spAutoFit/>
            </a:bodyPr>
            <a:lstStyle/>
            <a:p>
              <a:pPr algn="ctr"/>
              <a:r>
                <a:rPr lang="en" altLang="zh-CN" sz="1200" dirty="0"/>
                <a:t>William Hopkins</a:t>
              </a:r>
            </a:p>
            <a:p>
              <a:pPr algn="ctr"/>
              <a:r>
                <a:rPr lang="en" altLang="zh-CN" sz="1200" dirty="0"/>
                <a:t> (1793-1866) </a:t>
              </a:r>
            </a:p>
            <a:p>
              <a:pPr algn="ctr"/>
              <a:r>
                <a:rPr lang="en" altLang="zh-CN" sz="1200" dirty="0"/>
                <a:t>FRS, Wrangler maker</a:t>
              </a:r>
              <a:endParaRPr lang="zh-CN" altLang="en-US" sz="1200" dirty="0"/>
            </a:p>
          </p:txBody>
        </p:sp>
      </p:grpSp>
    </p:spTree>
    <p:extLst>
      <p:ext uri="{BB962C8B-B14F-4D97-AF65-F5344CB8AC3E}">
        <p14:creationId xmlns:p14="http://schemas.microsoft.com/office/powerpoint/2010/main" val="3663363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par>
                          <p:cTn id="9" fill="hold">
                            <p:stCondLst>
                              <p:cond delay="1200"/>
                            </p:stCondLst>
                            <p:childTnLst>
                              <p:par>
                                <p:cTn id="10" presetID="1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p:tgtEl>
                                          <p:spTgt spid="2"/>
                                        </p:tgtEl>
                                        <p:attrNameLst>
                                          <p:attrName>ppt_y</p:attrName>
                                        </p:attrNameLst>
                                      </p:cBhvr>
                                      <p:tavLst>
                                        <p:tav tm="0">
                                          <p:val>
                                            <p:strVal val="#ppt_y+#ppt_h*1.125000"/>
                                          </p:val>
                                        </p:tav>
                                        <p:tav tm="100000">
                                          <p:val>
                                            <p:strVal val="#ppt_y"/>
                                          </p:val>
                                        </p:tav>
                                      </p:tavLst>
                                    </p:anim>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p:tgtEl>
                                          <p:spTgt spid="4"/>
                                        </p:tgtEl>
                                        <p:attrNameLst>
                                          <p:attrName>ppt_y</p:attrName>
                                        </p:attrNameLst>
                                      </p:cBhvr>
                                      <p:tavLst>
                                        <p:tav tm="0">
                                          <p:val>
                                            <p:strVal val="#ppt_y+#ppt_h*1.125000"/>
                                          </p:val>
                                        </p:tav>
                                        <p:tav tm="100000">
                                          <p:val>
                                            <p:strVal val="#ppt_y"/>
                                          </p:val>
                                        </p:tav>
                                      </p:tavLst>
                                    </p:anim>
                                    <p:animEffect transition="in" filter="wipe(up)">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p:tgtEl>
                                          <p:spTgt spid="8"/>
                                        </p:tgtEl>
                                        <p:attrNameLst>
                                          <p:attrName>ppt_y</p:attrName>
                                        </p:attrNameLst>
                                      </p:cBhvr>
                                      <p:tavLst>
                                        <p:tav tm="0">
                                          <p:val>
                                            <p:strVal val="#ppt_y+#ppt_h*1.125000"/>
                                          </p:val>
                                        </p:tav>
                                        <p:tav tm="100000">
                                          <p:val>
                                            <p:strVal val="#ppt_y"/>
                                          </p:val>
                                        </p:tav>
                                      </p:tavLst>
                                    </p:anim>
                                    <p:animEffect transition="in" filter="wipe(up)">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p:tgtEl>
                                          <p:spTgt spid="9"/>
                                        </p:tgtEl>
                                        <p:attrNameLst>
                                          <p:attrName>ppt_y</p:attrName>
                                        </p:attrNameLst>
                                      </p:cBhvr>
                                      <p:tavLst>
                                        <p:tav tm="0">
                                          <p:val>
                                            <p:strVal val="#ppt_y+#ppt_h*1.125000"/>
                                          </p:val>
                                        </p:tav>
                                        <p:tav tm="100000">
                                          <p:val>
                                            <p:strVal val="#ppt_y"/>
                                          </p:val>
                                        </p:tav>
                                      </p:tavLst>
                                    </p:anim>
                                    <p:animEffect transition="in" filter="wipe(up)">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p:tgtEl>
                                          <p:spTgt spid="10"/>
                                        </p:tgtEl>
                                        <p:attrNameLst>
                                          <p:attrName>ppt_y</p:attrName>
                                        </p:attrNameLst>
                                      </p:cBhvr>
                                      <p:tavLst>
                                        <p:tav tm="0">
                                          <p:val>
                                            <p:strVal val="#ppt_y+#ppt_h*1.125000"/>
                                          </p:val>
                                        </p:tav>
                                        <p:tav tm="100000">
                                          <p:val>
                                            <p:strVal val="#ppt_y"/>
                                          </p:val>
                                        </p:tav>
                                      </p:tavLst>
                                    </p:anim>
                                    <p:animEffect transition="in" filter="wipe(up)">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78582" y="369637"/>
            <a:ext cx="3895747" cy="523220"/>
          </a:xfrm>
          <a:prstGeom prst="rect">
            <a:avLst/>
          </a:prstGeom>
          <a:noFill/>
        </p:spPr>
        <p:txBody>
          <a:bodyPr wrap="square" rtlCol="0">
            <a:spAutoFit/>
          </a:bodyPr>
          <a:lstStyle/>
          <a:p>
            <a:r>
              <a:rPr lang="en" altLang="zh-CN" sz="2800" b="1" dirty="0">
                <a:solidFill>
                  <a:schemeClr val="bg1"/>
                </a:solidFill>
                <a:latin typeface="微软雅黑" panose="020B0503020204020204" pitchFamily="34" charset="-122"/>
                <a:ea typeface="微软雅黑" panose="020B0503020204020204" pitchFamily="34" charset="-122"/>
              </a:rPr>
              <a:t>Routh-Hurwitz </a:t>
            </a:r>
            <a:r>
              <a:rPr lang="zh-CN" altLang="en-US" sz="2800" b="1" dirty="0">
                <a:solidFill>
                  <a:schemeClr val="bg1"/>
                </a:solidFill>
                <a:latin typeface="微软雅黑" panose="020B0503020204020204" pitchFamily="34" charset="-122"/>
                <a:ea typeface="微软雅黑" panose="020B0503020204020204" pitchFamily="34" charset="-122"/>
              </a:rPr>
              <a:t>判据</a:t>
            </a:r>
          </a:p>
        </p:txBody>
      </p:sp>
      <p:grpSp>
        <p:nvGrpSpPr>
          <p:cNvPr id="15" name="组合 14">
            <a:extLst>
              <a:ext uri="{FF2B5EF4-FFF2-40B4-BE49-F238E27FC236}">
                <a16:creationId xmlns:a16="http://schemas.microsoft.com/office/drawing/2014/main" id="{F2AEA148-1431-3936-5500-3B140881B2C1}"/>
              </a:ext>
            </a:extLst>
          </p:cNvPr>
          <p:cNvGrpSpPr/>
          <p:nvPr/>
        </p:nvGrpSpPr>
        <p:grpSpPr>
          <a:xfrm>
            <a:off x="372494" y="997868"/>
            <a:ext cx="2053961" cy="759849"/>
            <a:chOff x="5072033" y="3027297"/>
            <a:chExt cx="2738258" cy="1013002"/>
          </a:xfrm>
        </p:grpSpPr>
        <p:sp>
          <p:nvSpPr>
            <p:cNvPr id="16" name="ïṡľíḑé">
              <a:extLst>
                <a:ext uri="{FF2B5EF4-FFF2-40B4-BE49-F238E27FC236}">
                  <a16:creationId xmlns:a16="http://schemas.microsoft.com/office/drawing/2014/main" id="{BAD696E2-2B61-A7C4-92E2-08EC2F7EE67C}"/>
                </a:ext>
              </a:extLst>
            </p:cNvPr>
            <p:cNvSpPr/>
            <p:nvPr/>
          </p:nvSpPr>
          <p:spPr bwMode="auto">
            <a:xfrm>
              <a:off x="5434623" y="3027297"/>
              <a:ext cx="2375668" cy="1013002"/>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270036"/>
              <a:r>
                <a:rPr lang="zh-CN" altLang="en-US" sz="2800" b="1" dirty="0">
                  <a:solidFill>
                    <a:schemeClr val="bg1"/>
                  </a:solidFill>
                  <a:latin typeface="Stencil" panose="040409050D0802020404" pitchFamily="82" charset="0"/>
                </a:rPr>
                <a:t>劳斯表</a:t>
              </a:r>
            </a:p>
          </p:txBody>
        </p:sp>
        <p:sp>
          <p:nvSpPr>
            <p:cNvPr id="18" name="ï$ḷiďè">
              <a:extLst>
                <a:ext uri="{FF2B5EF4-FFF2-40B4-BE49-F238E27FC236}">
                  <a16:creationId xmlns:a16="http://schemas.microsoft.com/office/drawing/2014/main" id="{95BB5E28-A488-9F3C-37D2-1E90FA4E6E2C}"/>
                </a:ext>
              </a:extLst>
            </p:cNvPr>
            <p:cNvSpPr/>
            <p:nvPr/>
          </p:nvSpPr>
          <p:spPr bwMode="auto">
            <a:xfrm>
              <a:off x="5072033" y="3174538"/>
              <a:ext cx="725178" cy="725176"/>
            </a:xfrm>
            <a:prstGeom prst="ellipse">
              <a:avLst/>
            </a:prstGeom>
            <a:solidFill>
              <a:srgbClr val="E44860"/>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77500" lnSpcReduction="20000"/>
            </a:bodyPr>
            <a:lstStyle/>
            <a:p>
              <a:pPr algn="ctr"/>
              <a:r>
                <a:rPr lang="en-US" altLang="zh-CN" sz="2800" dirty="0">
                  <a:solidFill>
                    <a:schemeClr val="bg1"/>
                  </a:solidFill>
                  <a:latin typeface="Stencil" panose="040409050D0802020404" pitchFamily="82" charset="0"/>
                </a:rPr>
                <a:t>02</a:t>
              </a:r>
              <a:endParaRPr lang="zh-CN" altLang="en-US" sz="2800" dirty="0">
                <a:solidFill>
                  <a:schemeClr val="bg1"/>
                </a:solidFill>
                <a:latin typeface="Stencil" panose="040409050D0802020404" pitchFamily="82" charset="0"/>
              </a:endParaRPr>
            </a:p>
          </p:txBody>
        </p:sp>
      </p:gr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86DC9A0-62AD-8786-6D65-60BA6E3A415F}"/>
                  </a:ext>
                </a:extLst>
              </p:cNvPr>
              <p:cNvSpPr txBox="1"/>
              <p:nvPr/>
            </p:nvSpPr>
            <p:spPr>
              <a:xfrm>
                <a:off x="2516808" y="1109660"/>
                <a:ext cx="9034235"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sub>
                      </m:sSub>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𝑛</m:t>
                          </m:r>
                        </m:sup>
                      </m:sSup>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−1</m:t>
                          </m:r>
                        </m:sub>
                      </m:sSub>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𝑛</m:t>
                          </m:r>
                          <m:r>
                            <a:rPr lang="en-US" altLang="zh-CN" sz="2800" i="1">
                              <a:solidFill>
                                <a:srgbClr val="169F84"/>
                              </a:solidFill>
                              <a:latin typeface="Cambria Math" panose="02040503050406030204" pitchFamily="18" charset="0"/>
                              <a:ea typeface="Cambria Math" panose="02040503050406030204" pitchFamily="18" charset="0"/>
                            </a:rPr>
                            <m:t>−1</m:t>
                          </m:r>
                        </m:sup>
                      </m:sSup>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1</m:t>
                          </m:r>
                        </m:sub>
                      </m:sSub>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0</m:t>
                          </m:r>
                        </m:sub>
                      </m:sSub>
                      <m:r>
                        <a:rPr lang="en-US" altLang="zh-CN" sz="2800" i="1">
                          <a:latin typeface="Cambria Math" panose="02040503050406030204" pitchFamily="18" charset="0"/>
                          <a:ea typeface="Cambria Math" panose="02040503050406030204" pitchFamily="18" charset="0"/>
                        </a:rPr>
                        <m:t>=0</m:t>
                      </m:r>
                      <m:r>
                        <a:rPr lang="zh-CN" altLang="en-US" sz="2800" i="1">
                          <a:latin typeface="Cambria Math" panose="02040503050406030204" pitchFamily="18" charset="0"/>
                          <a:ea typeface="Cambria Math" panose="02040503050406030204" pitchFamily="18" charset="0"/>
                        </a:rPr>
                        <m:t>   </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sub>
                      </m:sSub>
                      <m:r>
                        <a:rPr lang="en-US" altLang="zh-CN" sz="2800" i="1">
                          <a:latin typeface="Cambria Math" panose="02040503050406030204" pitchFamily="18" charset="0"/>
                          <a:ea typeface="Cambria Math" panose="02040503050406030204" pitchFamily="18" charset="0"/>
                        </a:rPr>
                        <m:t>&gt;0)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19" name="文本框 18">
                <a:extLst>
                  <a:ext uri="{FF2B5EF4-FFF2-40B4-BE49-F238E27FC236}">
                    <a16:creationId xmlns:a16="http://schemas.microsoft.com/office/drawing/2014/main" id="{186DC9A0-62AD-8786-6D65-60BA6E3A415F}"/>
                  </a:ext>
                </a:extLst>
              </p:cNvPr>
              <p:cNvSpPr txBox="1">
                <a:spLocks noRot="1" noChangeAspect="1" noMove="1" noResize="1" noEditPoints="1" noAdjustHandles="1" noChangeArrowheads="1" noChangeShapeType="1" noTextEdit="1"/>
              </p:cNvSpPr>
              <p:nvPr/>
            </p:nvSpPr>
            <p:spPr>
              <a:xfrm>
                <a:off x="2516808" y="1109660"/>
                <a:ext cx="9034235" cy="523285"/>
              </a:xfrm>
              <a:prstGeom prst="rect">
                <a:avLst/>
              </a:prstGeom>
              <a:blipFill>
                <a:blip r:embed="rId3"/>
                <a:stretch>
                  <a:fillRect b="-21429"/>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B5356D91-4758-AC6F-CE15-A66299202EFC}"/>
              </a:ext>
            </a:extLst>
          </p:cNvPr>
          <p:cNvSpPr txBox="1"/>
          <p:nvPr/>
        </p:nvSpPr>
        <p:spPr>
          <a:xfrm>
            <a:off x="484638" y="5662098"/>
            <a:ext cx="11017224" cy="954107"/>
          </a:xfrm>
          <a:prstGeom prst="rect">
            <a:avLst/>
          </a:prstGeom>
          <a:noFill/>
        </p:spPr>
        <p:txBody>
          <a:bodyPr wrap="square">
            <a:spAutoFit/>
          </a:bodyPr>
          <a:lstStyle/>
          <a:p>
            <a:r>
              <a:rPr lang="zh-CN" altLang="en-US" sz="2800" dirty="0"/>
              <a:t>劳斯表第一列元素均大于零时系统稳定，否则系统不稳定且第一列元素符号改变的次数就是特征方程中正实部根的个数</a:t>
            </a:r>
          </a:p>
        </p:txBody>
      </p:sp>
      <p:grpSp>
        <p:nvGrpSpPr>
          <p:cNvPr id="50" name="组合 49">
            <a:extLst>
              <a:ext uri="{FF2B5EF4-FFF2-40B4-BE49-F238E27FC236}">
                <a16:creationId xmlns:a16="http://schemas.microsoft.com/office/drawing/2014/main" id="{49A65D42-0B82-43CB-D7EF-1E44CDF012DD}"/>
              </a:ext>
            </a:extLst>
          </p:cNvPr>
          <p:cNvGrpSpPr/>
          <p:nvPr/>
        </p:nvGrpSpPr>
        <p:grpSpPr>
          <a:xfrm>
            <a:off x="1126654" y="1974520"/>
            <a:ext cx="9034235" cy="3496022"/>
            <a:chOff x="-81843" y="2519131"/>
            <a:chExt cx="9034235" cy="3496022"/>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81843" y="2519131"/>
                  <a:ext cx="9034235" cy="34960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6"/>
                                  <m:mcJc m:val="center"/>
                                </m:mcPr>
                              </m:mc>
                            </m:mcs>
                            <m:ctrlPr>
                              <a:rPr lang="en-US" altLang="zh-CN" sz="2800" i="1">
                                <a:latin typeface="Cambria Math" panose="02040503050406030204" pitchFamily="18" charset="0"/>
                                <a:ea typeface="Cambria Math" panose="02040503050406030204" pitchFamily="18" charset="0"/>
                              </a:rPr>
                            </m:ctrlPr>
                          </m:mP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m:rPr>
                                      <m:brk m:alnAt="7"/>
                                    </m:rPr>
                                    <a:rPr lang="en-US" altLang="zh-CN" sz="2800" i="1">
                                      <a:solidFill>
                                        <a:srgbClr val="169F84"/>
                                      </a:solidFill>
                                      <a:latin typeface="Cambria Math" panose="02040503050406030204" pitchFamily="18" charset="0"/>
                                      <a:ea typeface="Cambria Math" panose="02040503050406030204" pitchFamily="18" charset="0"/>
                                    </a:rPr>
                                    <m:t>𝑠</m:t>
                                  </m:r>
                                </m:e>
                                <m:sup>
                                  <m:r>
                                    <m:rPr>
                                      <m:brk m:alnAt="7"/>
                                    </m:rPr>
                                    <a:rPr lang="en-US" altLang="zh-CN" sz="2800" i="1">
                                      <a:solidFill>
                                        <a:srgbClr val="169F84"/>
                                      </a:solidFill>
                                      <a:latin typeface="Cambria Math" panose="02040503050406030204" pitchFamily="18" charset="0"/>
                                      <a:ea typeface="Cambria Math" panose="02040503050406030204" pitchFamily="18" charset="0"/>
                                    </a:rPr>
                                    <m:t>𝑛</m:t>
                                  </m:r>
                                </m:sup>
                              </m:sSup>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−2</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−4</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−6</m:t>
                                  </m:r>
                                </m:sub>
                              </m:sSub>
                            </m:e>
                            <m:e>
                              <m:r>
                                <a:rPr lang="en-US" altLang="zh-CN" sz="2800" i="1">
                                  <a:latin typeface="Cambria Math" panose="02040503050406030204" pitchFamily="18" charset="0"/>
                                  <a:ea typeface="Cambria Math" panose="02040503050406030204" pitchFamily="18" charset="0"/>
                                </a:rPr>
                                <m:t>⋯</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𝑛</m:t>
                                  </m:r>
                                  <m:r>
                                    <a:rPr lang="en-US" altLang="zh-CN" sz="2800" i="1">
                                      <a:solidFill>
                                        <a:srgbClr val="169F84"/>
                                      </a:solidFill>
                                      <a:latin typeface="Cambria Math" panose="02040503050406030204" pitchFamily="18" charset="0"/>
                                      <a:ea typeface="Cambria Math" panose="02040503050406030204" pitchFamily="18" charset="0"/>
                                    </a:rPr>
                                    <m:t>−1</m:t>
                                  </m:r>
                                </m:sup>
                              </m:sSup>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−1</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−3</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−5</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𝑛</m:t>
                                  </m:r>
                                  <m:r>
                                    <a:rPr lang="en-US" altLang="zh-CN" sz="2800" i="1">
                                      <a:latin typeface="Cambria Math" panose="02040503050406030204" pitchFamily="18" charset="0"/>
                                      <a:ea typeface="Cambria Math" panose="02040503050406030204" pitchFamily="18" charset="0"/>
                                    </a:rPr>
                                    <m:t>−7</m:t>
                                  </m:r>
                                </m:sub>
                              </m:sSub>
                            </m:e>
                            <m:e>
                              <m:r>
                                <a:rPr lang="en-US" altLang="zh-CN" sz="2800" i="1">
                                  <a:latin typeface="Cambria Math" panose="02040503050406030204" pitchFamily="18" charset="0"/>
                                  <a:ea typeface="Cambria Math" panose="02040503050406030204" pitchFamily="18" charset="0"/>
                                </a:rPr>
                                <m:t>⋯</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𝑛</m:t>
                                  </m:r>
                                  <m:r>
                                    <a:rPr lang="en-US" altLang="zh-CN" sz="2800" i="1">
                                      <a:solidFill>
                                        <a:srgbClr val="169F84"/>
                                      </a:solidFill>
                                      <a:latin typeface="Cambria Math" panose="02040503050406030204" pitchFamily="18" charset="0"/>
                                      <a:ea typeface="Cambria Math" panose="02040503050406030204" pitchFamily="18" charset="0"/>
                                    </a:rPr>
                                    <m:t>−2</m:t>
                                  </m:r>
                                </m:sup>
                              </m:sSup>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𝑏</m:t>
                                  </m:r>
                                </m:e>
                                <m:sub>
                                  <m:r>
                                    <a:rPr lang="en-US" altLang="zh-CN" sz="2800" i="1">
                                      <a:latin typeface="Cambria Math" panose="02040503050406030204" pitchFamily="18" charset="0"/>
                                      <a:ea typeface="Cambria Math" panose="02040503050406030204" pitchFamily="18" charset="0"/>
                                    </a:rPr>
                                    <m:t>1</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𝑏</m:t>
                                  </m:r>
                                </m:e>
                                <m:sub>
                                  <m:r>
                                    <a:rPr lang="en-US" altLang="zh-CN" sz="2800" i="1">
                                      <a:latin typeface="Cambria Math" panose="02040503050406030204" pitchFamily="18" charset="0"/>
                                      <a:ea typeface="Cambria Math" panose="02040503050406030204" pitchFamily="18" charset="0"/>
                                    </a:rPr>
                                    <m:t>2</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𝑏</m:t>
                                  </m:r>
                                </m:e>
                                <m:sub>
                                  <m:r>
                                    <a:rPr lang="en-US" altLang="zh-CN" sz="2800" i="1">
                                      <a:latin typeface="Cambria Math" panose="02040503050406030204" pitchFamily="18" charset="0"/>
                                      <a:ea typeface="Cambria Math" panose="02040503050406030204" pitchFamily="18" charset="0"/>
                                    </a:rPr>
                                    <m:t>3</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𝑏</m:t>
                                  </m:r>
                                </m:e>
                                <m:sub>
                                  <m:r>
                                    <a:rPr lang="en-US" altLang="zh-CN" sz="2800" i="1">
                                      <a:latin typeface="Cambria Math" panose="02040503050406030204" pitchFamily="18" charset="0"/>
                                      <a:ea typeface="Cambria Math" panose="02040503050406030204" pitchFamily="18" charset="0"/>
                                    </a:rPr>
                                    <m:t>4</m:t>
                                  </m:r>
                                </m:sub>
                              </m:sSub>
                            </m:e>
                            <m:e>
                              <m:r>
                                <a:rPr lang="en-US" altLang="zh-CN" sz="2800" i="1">
                                  <a:latin typeface="Cambria Math" panose="02040503050406030204" pitchFamily="18" charset="0"/>
                                  <a:ea typeface="Cambria Math" panose="02040503050406030204" pitchFamily="18" charset="0"/>
                                </a:rPr>
                                <m:t>⋯</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𝑛</m:t>
                                  </m:r>
                                  <m:r>
                                    <a:rPr lang="en-US" altLang="zh-CN" sz="2800" i="1">
                                      <a:solidFill>
                                        <a:srgbClr val="169F84"/>
                                      </a:solidFill>
                                      <a:latin typeface="Cambria Math" panose="02040503050406030204" pitchFamily="18" charset="0"/>
                                      <a:ea typeface="Cambria Math" panose="02040503050406030204" pitchFamily="18" charset="0"/>
                                    </a:rPr>
                                    <m:t>−3</m:t>
                                  </m:r>
                                </m:sup>
                              </m:sSup>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𝑐</m:t>
                                  </m:r>
                                </m:e>
                                <m:sub>
                                  <m:r>
                                    <a:rPr lang="en-US" altLang="zh-CN" sz="2800" i="1">
                                      <a:latin typeface="Cambria Math" panose="02040503050406030204" pitchFamily="18" charset="0"/>
                                      <a:ea typeface="Cambria Math" panose="02040503050406030204" pitchFamily="18" charset="0"/>
                                    </a:rPr>
                                    <m:t>1</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𝑐</m:t>
                                  </m:r>
                                </m:e>
                                <m:sub>
                                  <m:r>
                                    <a:rPr lang="en-US" altLang="zh-CN" sz="2800" i="1">
                                      <a:latin typeface="Cambria Math" panose="02040503050406030204" pitchFamily="18" charset="0"/>
                                      <a:ea typeface="Cambria Math" panose="02040503050406030204" pitchFamily="18" charset="0"/>
                                    </a:rPr>
                                    <m:t>2</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𝑐</m:t>
                                  </m:r>
                                </m:e>
                                <m:sub>
                                  <m:r>
                                    <a:rPr lang="en-US" altLang="zh-CN" sz="2800" i="1">
                                      <a:latin typeface="Cambria Math" panose="02040503050406030204" pitchFamily="18" charset="0"/>
                                      <a:ea typeface="Cambria Math" panose="02040503050406030204" pitchFamily="18" charset="0"/>
                                    </a:rPr>
                                    <m:t>3</m:t>
                                  </m:r>
                                </m:sub>
                              </m:sSub>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𝑐</m:t>
                                  </m:r>
                                </m:e>
                                <m:sub>
                                  <m:r>
                                    <a:rPr lang="en-US" altLang="zh-CN" sz="2800" i="1">
                                      <a:latin typeface="Cambria Math" panose="02040503050406030204" pitchFamily="18" charset="0"/>
                                      <a:ea typeface="Cambria Math" panose="02040503050406030204" pitchFamily="18" charset="0"/>
                                    </a:rPr>
                                    <m:t>4</m:t>
                                  </m:r>
                                </m:sub>
                              </m:sSub>
                            </m:e>
                            <m:e>
                              <m:r>
                                <a:rPr lang="en-US" altLang="zh-CN" sz="2800" i="1">
                                  <a:latin typeface="Cambria Math" panose="02040503050406030204" pitchFamily="18" charset="0"/>
                                  <a:ea typeface="Cambria Math" panose="02040503050406030204" pitchFamily="18" charset="0"/>
                                </a:rPr>
                                <m:t>⋯</m:t>
                              </m:r>
                            </m:e>
                          </m:mr>
                          <m:mr>
                            <m:e>
                              <m:r>
                                <a:rPr lang="en-US" altLang="zh-CN" sz="2800" i="1">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𝑎</m:t>
                                  </m:r>
                                </m:e>
                                <m:sub>
                                  <m:r>
                                    <a:rPr lang="en-US" altLang="zh-CN" sz="2800" i="1">
                                      <a:latin typeface="Cambria Math" panose="02040503050406030204" pitchFamily="18" charset="0"/>
                                      <a:ea typeface="Cambria Math" panose="02040503050406030204" pitchFamily="18" charset="0"/>
                                    </a:rPr>
                                    <m:t>0</m:t>
                                  </m:r>
                                </m:sub>
                              </m:sSub>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81843" y="2519131"/>
                  <a:ext cx="9034235" cy="3496022"/>
                </a:xfrm>
                <a:prstGeom prst="rect">
                  <a:avLst/>
                </a:prstGeom>
                <a:blipFill>
                  <a:blip r:embed="rId4"/>
                  <a:stretch>
                    <a:fillRect b="-3261"/>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38BFDB9F-D9C7-7610-CE7B-F6AF1402F368}"/>
                </a:ext>
              </a:extLst>
            </p:cNvPr>
            <p:cNvCxnSpPr/>
            <p:nvPr/>
          </p:nvCxnSpPr>
          <p:spPr>
            <a:xfrm flipV="1">
              <a:off x="3203848" y="2924944"/>
              <a:ext cx="720080"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7BC9030-E170-249F-A6DC-DF0FB23BA6F8}"/>
                </a:ext>
              </a:extLst>
            </p:cNvPr>
            <p:cNvCxnSpPr>
              <a:cxnSpLocks/>
            </p:cNvCxnSpPr>
            <p:nvPr/>
          </p:nvCxnSpPr>
          <p:spPr>
            <a:xfrm>
              <a:off x="3203848" y="2924944"/>
              <a:ext cx="648072"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DE935EC7-B216-7E03-8EA3-2951BB3C09B4}"/>
                </a:ext>
              </a:extLst>
            </p:cNvPr>
            <p:cNvCxnSpPr>
              <a:cxnSpLocks/>
            </p:cNvCxnSpPr>
            <p:nvPr/>
          </p:nvCxnSpPr>
          <p:spPr>
            <a:xfrm flipV="1">
              <a:off x="3203848" y="2924944"/>
              <a:ext cx="1728192" cy="504056"/>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DACC113B-4219-6F05-5CB3-F0336D535BBC}"/>
                </a:ext>
              </a:extLst>
            </p:cNvPr>
            <p:cNvCxnSpPr>
              <a:cxnSpLocks/>
            </p:cNvCxnSpPr>
            <p:nvPr/>
          </p:nvCxnSpPr>
          <p:spPr>
            <a:xfrm>
              <a:off x="3203848" y="2924944"/>
              <a:ext cx="1656184" cy="453401"/>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连接符 34">
              <a:extLst>
                <a:ext uri="{FF2B5EF4-FFF2-40B4-BE49-F238E27FC236}">
                  <a16:creationId xmlns:a16="http://schemas.microsoft.com/office/drawing/2014/main" id="{AE257D46-D600-170F-B0F0-06CA2AD9969A}"/>
                </a:ext>
              </a:extLst>
            </p:cNvPr>
            <p:cNvCxnSpPr>
              <a:cxnSpLocks/>
            </p:cNvCxnSpPr>
            <p:nvPr/>
          </p:nvCxnSpPr>
          <p:spPr>
            <a:xfrm flipV="1">
              <a:off x="3203848" y="2924944"/>
              <a:ext cx="2664296" cy="504056"/>
            </a:xfrm>
            <a:prstGeom prst="line">
              <a:avLst/>
            </a:prstGeom>
            <a:ln w="25400">
              <a:solidFill>
                <a:srgbClr val="F6973B"/>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5063C4CE-5484-ED5C-2B1D-975B0D38FBFC}"/>
                </a:ext>
              </a:extLst>
            </p:cNvPr>
            <p:cNvCxnSpPr>
              <a:cxnSpLocks/>
            </p:cNvCxnSpPr>
            <p:nvPr/>
          </p:nvCxnSpPr>
          <p:spPr>
            <a:xfrm>
              <a:off x="3203848" y="2924944"/>
              <a:ext cx="2664296" cy="438061"/>
            </a:xfrm>
            <a:prstGeom prst="line">
              <a:avLst/>
            </a:prstGeom>
            <a:ln w="25400">
              <a:solidFill>
                <a:srgbClr val="F6973B"/>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719EA859-E7D4-0278-D518-2565C522B8AC}"/>
                </a:ext>
              </a:extLst>
            </p:cNvPr>
            <p:cNvCxnSpPr/>
            <p:nvPr/>
          </p:nvCxnSpPr>
          <p:spPr>
            <a:xfrm flipV="1">
              <a:off x="3209658" y="3615782"/>
              <a:ext cx="720080"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675B99F6-BC2D-6FBC-63CB-053FD8FD5C5B}"/>
                </a:ext>
              </a:extLst>
            </p:cNvPr>
            <p:cNvCxnSpPr>
              <a:cxnSpLocks/>
            </p:cNvCxnSpPr>
            <p:nvPr/>
          </p:nvCxnSpPr>
          <p:spPr>
            <a:xfrm>
              <a:off x="3209658" y="3615782"/>
              <a:ext cx="714270"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33F832F8-1449-3310-7BC1-87FD90055249}"/>
                </a:ext>
              </a:extLst>
            </p:cNvPr>
            <p:cNvCxnSpPr>
              <a:cxnSpLocks/>
            </p:cNvCxnSpPr>
            <p:nvPr/>
          </p:nvCxnSpPr>
          <p:spPr>
            <a:xfrm flipV="1">
              <a:off x="3209658" y="3615782"/>
              <a:ext cx="1728192" cy="504056"/>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383D8761-794D-1A3F-255D-8B95530E7494}"/>
                </a:ext>
              </a:extLst>
            </p:cNvPr>
            <p:cNvCxnSpPr>
              <a:cxnSpLocks/>
            </p:cNvCxnSpPr>
            <p:nvPr/>
          </p:nvCxnSpPr>
          <p:spPr>
            <a:xfrm>
              <a:off x="3209658" y="3615782"/>
              <a:ext cx="1650374" cy="504056"/>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连接符 46">
              <a:extLst>
                <a:ext uri="{FF2B5EF4-FFF2-40B4-BE49-F238E27FC236}">
                  <a16:creationId xmlns:a16="http://schemas.microsoft.com/office/drawing/2014/main" id="{E006965C-5D5D-2458-37E2-2A85C4B82292}"/>
                </a:ext>
              </a:extLst>
            </p:cNvPr>
            <p:cNvCxnSpPr>
              <a:cxnSpLocks/>
            </p:cNvCxnSpPr>
            <p:nvPr/>
          </p:nvCxnSpPr>
          <p:spPr>
            <a:xfrm flipV="1">
              <a:off x="3209658" y="3615782"/>
              <a:ext cx="2664296" cy="504056"/>
            </a:xfrm>
            <a:prstGeom prst="line">
              <a:avLst/>
            </a:prstGeom>
            <a:ln w="25400">
              <a:solidFill>
                <a:srgbClr val="F6973B"/>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连接符 47">
              <a:extLst>
                <a:ext uri="{FF2B5EF4-FFF2-40B4-BE49-F238E27FC236}">
                  <a16:creationId xmlns:a16="http://schemas.microsoft.com/office/drawing/2014/main" id="{C655EA38-9E74-045C-672D-75C1E7CE8D0D}"/>
                </a:ext>
              </a:extLst>
            </p:cNvPr>
            <p:cNvCxnSpPr>
              <a:cxnSpLocks/>
            </p:cNvCxnSpPr>
            <p:nvPr/>
          </p:nvCxnSpPr>
          <p:spPr>
            <a:xfrm>
              <a:off x="3209658" y="3615782"/>
              <a:ext cx="2664296" cy="438061"/>
            </a:xfrm>
            <a:prstGeom prst="line">
              <a:avLst/>
            </a:prstGeom>
            <a:ln w="25400">
              <a:solidFill>
                <a:srgbClr val="F6973B"/>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09151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291365" y="329232"/>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86DC9A0-62AD-8786-6D65-60BA6E3A415F}"/>
                  </a:ext>
                </a:extLst>
              </p:cNvPr>
              <p:cNvSpPr txBox="1"/>
              <p:nvPr/>
            </p:nvSpPr>
            <p:spPr>
              <a:xfrm>
                <a:off x="5879182" y="401001"/>
                <a:ext cx="6120680"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+5</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+7</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2</m:t>
                      </m:r>
                      <m:r>
                        <a:rPr lang="en-US" altLang="zh-CN" sz="2800" b="0" i="1" smtClean="0">
                          <a:solidFill>
                            <a:srgbClr val="159F84"/>
                          </a:solidFill>
                          <a:latin typeface="Cambria Math" panose="02040503050406030204" pitchFamily="18" charset="0"/>
                          <a:ea typeface="Cambria Math" panose="02040503050406030204" pitchFamily="18" charset="0"/>
                        </a:rPr>
                        <m:t>𝑠</m:t>
                      </m:r>
                      <m:r>
                        <a:rPr lang="en-US" altLang="zh-CN" sz="2800" b="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10=0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19" name="文本框 18">
                <a:extLst>
                  <a:ext uri="{FF2B5EF4-FFF2-40B4-BE49-F238E27FC236}">
                    <a16:creationId xmlns:a16="http://schemas.microsoft.com/office/drawing/2014/main" id="{186DC9A0-62AD-8786-6D65-60BA6E3A415F}"/>
                  </a:ext>
                </a:extLst>
              </p:cNvPr>
              <p:cNvSpPr txBox="1">
                <a:spLocks noRot="1" noChangeAspect="1" noMove="1" noResize="1" noEditPoints="1" noAdjustHandles="1" noChangeArrowheads="1" noChangeShapeType="1" noTextEdit="1"/>
              </p:cNvSpPr>
              <p:nvPr/>
            </p:nvSpPr>
            <p:spPr>
              <a:xfrm>
                <a:off x="5879182" y="401001"/>
                <a:ext cx="6120680" cy="523285"/>
              </a:xfrm>
              <a:prstGeom prst="rect">
                <a:avLst/>
              </a:prstGeom>
              <a:blipFill>
                <a:blip r:embed="rId3"/>
                <a:stretch>
                  <a:fillRect/>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B5356D91-4758-AC6F-CE15-A66299202EFC}"/>
              </a:ext>
            </a:extLst>
          </p:cNvPr>
          <p:cNvSpPr txBox="1"/>
          <p:nvPr/>
        </p:nvSpPr>
        <p:spPr>
          <a:xfrm>
            <a:off x="1239780" y="5306270"/>
            <a:ext cx="9889147" cy="954107"/>
          </a:xfrm>
          <a:prstGeom prst="rect">
            <a:avLst/>
          </a:prstGeom>
          <a:noFill/>
        </p:spPr>
        <p:txBody>
          <a:bodyPr wrap="square">
            <a:spAutoFit/>
          </a:bodyPr>
          <a:lstStyle/>
          <a:p>
            <a:r>
              <a:rPr lang="zh-CN" altLang="en-US" sz="2800" dirty="0"/>
              <a:t>劳斯表第一列元素均大于零时系统稳定，否则系统不稳定且第一列元素符号改变的次数就是特征方程中正实部根的个数</a:t>
            </a:r>
          </a:p>
        </p:txBody>
      </p:sp>
      <p:grpSp>
        <p:nvGrpSpPr>
          <p:cNvPr id="13" name="组合 12">
            <a:extLst>
              <a:ext uri="{FF2B5EF4-FFF2-40B4-BE49-F238E27FC236}">
                <a16:creationId xmlns:a16="http://schemas.microsoft.com/office/drawing/2014/main" id="{D556D369-6A32-B067-293A-81BBD540AC75}"/>
              </a:ext>
            </a:extLst>
          </p:cNvPr>
          <p:cNvGrpSpPr/>
          <p:nvPr/>
        </p:nvGrpSpPr>
        <p:grpSpPr>
          <a:xfrm>
            <a:off x="910630" y="1124744"/>
            <a:ext cx="3924070" cy="3836115"/>
            <a:chOff x="1467164" y="2000851"/>
            <a:chExt cx="3924070" cy="3836115"/>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1467164" y="2000851"/>
                  <a:ext cx="3924070" cy="38361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a:latin typeface="Cambria Math" panose="02040503050406030204" pitchFamily="18" charset="0"/>
                                <a:ea typeface="Cambria Math" panose="02040503050406030204" pitchFamily="18" charset="0"/>
                              </a:rPr>
                            </m:ctrlPr>
                          </m:mP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m:rPr>
                                      <m:brk m:alnAt="7"/>
                                    </m:rP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7</m:t>
                              </m:r>
                            </m:e>
                            <m:e>
                              <m:r>
                                <a:rPr lang="en-US" altLang="zh-CN" sz="2800" i="1">
                                  <a:latin typeface="Cambria Math" panose="02040503050406030204" pitchFamily="18" charset="0"/>
                                  <a:ea typeface="Cambria Math" panose="02040503050406030204" pitchFamily="18" charset="0"/>
                                </a:rPr>
                                <m:t>10</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e>
                            <m:e>
                              <m:r>
                                <a:rPr lang="en-US" altLang="zh-CN" sz="2800" i="1">
                                  <a:latin typeface="Cambria Math" panose="02040503050406030204" pitchFamily="18" charset="0"/>
                                  <a:ea typeface="Cambria Math" panose="02040503050406030204" pitchFamily="18" charset="0"/>
                                </a:rPr>
                                <m:t>5</m:t>
                              </m:r>
                            </m:e>
                            <m:e>
                              <m:r>
                                <a:rPr lang="en-US" altLang="zh-CN" sz="2800" i="1">
                                  <a:latin typeface="Cambria Math" panose="02040503050406030204" pitchFamily="18" charset="0"/>
                                  <a:ea typeface="Cambria Math" panose="02040503050406030204" pitchFamily="18" charset="0"/>
                                </a:rPr>
                                <m:t>2</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e>
                            <m:e>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33</m:t>
                                      </m:r>
                                    </m:num>
                                    <m:den>
                                      <m:r>
                                        <a:rPr lang="en-US" altLang="zh-CN" sz="2800" i="1">
                                          <a:latin typeface="Cambria Math" panose="02040503050406030204" pitchFamily="18" charset="0"/>
                                          <a:ea typeface="Cambria Math" panose="02040503050406030204" pitchFamily="18" charset="0"/>
                                        </a:rPr>
                                        <m:t>5</m:t>
                                      </m:r>
                                    </m:den>
                                  </m:f>
                                </m:e>
                              </m:box>
                            </m:e>
                            <m:e>
                              <m:r>
                                <a:rPr lang="en-US" altLang="zh-CN" sz="2800" i="1">
                                  <a:latin typeface="Cambria Math" panose="02040503050406030204" pitchFamily="18" charset="0"/>
                                  <a:ea typeface="Cambria Math" panose="02040503050406030204" pitchFamily="18" charset="0"/>
                                </a:rPr>
                                <m:t>10</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1</m:t>
                                  </m:r>
                                </m:sup>
                              </m:sSup>
                            </m:e>
                            <m:e>
                              <m:r>
                                <a:rPr lang="en-US" altLang="zh-CN" sz="2800" i="1">
                                  <a:latin typeface="Cambria Math" panose="02040503050406030204" pitchFamily="18" charset="0"/>
                                  <a:ea typeface="Cambria Math" panose="02040503050406030204" pitchFamily="18" charset="0"/>
                                </a:rPr>
                                <m:t>−</m:t>
                              </m:r>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184</m:t>
                                      </m:r>
                                    </m:num>
                                    <m:den>
                                      <m:r>
                                        <a:rPr lang="en-US" altLang="zh-CN" sz="2800" i="1">
                                          <a:latin typeface="Cambria Math" panose="02040503050406030204" pitchFamily="18" charset="0"/>
                                          <a:ea typeface="Cambria Math" panose="02040503050406030204" pitchFamily="18" charset="0"/>
                                        </a:rPr>
                                        <m:t>33</m:t>
                                      </m:r>
                                    </m:den>
                                  </m:f>
                                </m:e>
                              </m:box>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10</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1467164" y="2000851"/>
                  <a:ext cx="3924070" cy="3836115"/>
                </a:xfrm>
                <a:prstGeom prst="rect">
                  <a:avLst/>
                </a:prstGeom>
                <a:blipFill>
                  <a:blip r:embed="rId4"/>
                  <a:stretch>
                    <a:fillRect b="-4620"/>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38BFDB9F-D9C7-7610-CE7B-F6AF1402F368}"/>
                </a:ext>
              </a:extLst>
            </p:cNvPr>
            <p:cNvCxnSpPr>
              <a:cxnSpLocks/>
            </p:cNvCxnSpPr>
            <p:nvPr/>
          </p:nvCxnSpPr>
          <p:spPr>
            <a:xfrm flipV="1">
              <a:off x="3105163" y="2361095"/>
              <a:ext cx="720080" cy="453401"/>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7BC9030-E170-249F-A6DC-DF0FB23BA6F8}"/>
                </a:ext>
              </a:extLst>
            </p:cNvPr>
            <p:cNvCxnSpPr>
              <a:cxnSpLocks/>
            </p:cNvCxnSpPr>
            <p:nvPr/>
          </p:nvCxnSpPr>
          <p:spPr>
            <a:xfrm>
              <a:off x="3105163" y="2370281"/>
              <a:ext cx="648072"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DE935EC7-B216-7E03-8EA3-2951BB3C09B4}"/>
                </a:ext>
              </a:extLst>
            </p:cNvPr>
            <p:cNvCxnSpPr>
              <a:cxnSpLocks/>
            </p:cNvCxnSpPr>
            <p:nvPr/>
          </p:nvCxnSpPr>
          <p:spPr>
            <a:xfrm flipV="1">
              <a:off x="3105163" y="2392735"/>
              <a:ext cx="1466837" cy="421761"/>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DACC113B-4219-6F05-5CB3-F0336D535BBC}"/>
                </a:ext>
              </a:extLst>
            </p:cNvPr>
            <p:cNvCxnSpPr>
              <a:cxnSpLocks/>
            </p:cNvCxnSpPr>
            <p:nvPr/>
          </p:nvCxnSpPr>
          <p:spPr>
            <a:xfrm>
              <a:off x="3105163" y="2361095"/>
              <a:ext cx="1394829" cy="375340"/>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719EA859-E7D4-0278-D518-2565C522B8AC}"/>
                </a:ext>
              </a:extLst>
            </p:cNvPr>
            <p:cNvCxnSpPr>
              <a:cxnSpLocks/>
            </p:cNvCxnSpPr>
            <p:nvPr/>
          </p:nvCxnSpPr>
          <p:spPr>
            <a:xfrm flipV="1">
              <a:off x="3105163" y="3051933"/>
              <a:ext cx="725890" cy="446628"/>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675B99F6-BC2D-6FBC-63CB-053FD8FD5C5B}"/>
                </a:ext>
              </a:extLst>
            </p:cNvPr>
            <p:cNvCxnSpPr>
              <a:cxnSpLocks/>
            </p:cNvCxnSpPr>
            <p:nvPr/>
          </p:nvCxnSpPr>
          <p:spPr>
            <a:xfrm>
              <a:off x="3110973" y="3051933"/>
              <a:ext cx="714270"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连接符 26">
              <a:extLst>
                <a:ext uri="{FF2B5EF4-FFF2-40B4-BE49-F238E27FC236}">
                  <a16:creationId xmlns:a16="http://schemas.microsoft.com/office/drawing/2014/main" id="{7A82615F-69A7-205A-BA48-940F6EFA9175}"/>
                </a:ext>
              </a:extLst>
            </p:cNvPr>
            <p:cNvCxnSpPr>
              <a:cxnSpLocks/>
            </p:cNvCxnSpPr>
            <p:nvPr/>
          </p:nvCxnSpPr>
          <p:spPr>
            <a:xfrm flipV="1">
              <a:off x="3411380" y="3838128"/>
              <a:ext cx="413863" cy="610995"/>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C9DDB7BC-3C6D-E59F-5C10-055F07F44A81}"/>
                </a:ext>
              </a:extLst>
            </p:cNvPr>
            <p:cNvCxnSpPr>
              <a:cxnSpLocks/>
            </p:cNvCxnSpPr>
            <p:nvPr/>
          </p:nvCxnSpPr>
          <p:spPr>
            <a:xfrm>
              <a:off x="3275856" y="3807964"/>
              <a:ext cx="648072" cy="557140"/>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D9266DB-35AC-2DF0-FAA8-E837FD9C96C1}"/>
                  </a:ext>
                </a:extLst>
              </p:cNvPr>
              <p:cNvSpPr txBox="1"/>
              <p:nvPr/>
            </p:nvSpPr>
            <p:spPr>
              <a:xfrm>
                <a:off x="4924922" y="2584371"/>
                <a:ext cx="6480175" cy="27218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5×7−2</m:t>
                          </m:r>
                        </m:num>
                        <m:den>
                          <m:r>
                            <a:rPr lang="en-US" altLang="zh-CN" sz="2800" i="1">
                              <a:latin typeface="Cambria Math" panose="02040503050406030204" pitchFamily="18" charset="0"/>
                              <a:ea typeface="Cambria Math" panose="02040503050406030204" pitchFamily="18" charset="0"/>
                            </a:rPr>
                            <m:t>5</m:t>
                          </m:r>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33</m:t>
                          </m:r>
                        </m:num>
                        <m:den>
                          <m:r>
                            <a:rPr lang="en-US" altLang="zh-CN" sz="2800" i="1">
                              <a:latin typeface="Cambria Math" panose="02040503050406030204" pitchFamily="18" charset="0"/>
                              <a:ea typeface="Cambria Math" panose="02040503050406030204" pitchFamily="18" charset="0"/>
                            </a:rPr>
                            <m:t>5</m:t>
                          </m:r>
                        </m:den>
                      </m:f>
                      <m:r>
                        <a:rPr lang="zh-CN" altLang="en-US" sz="2800" i="1">
                          <a:latin typeface="Cambria Math" panose="02040503050406030204" pitchFamily="18" charset="0"/>
                          <a:ea typeface="Cambria Math" panose="02040503050406030204" pitchFamily="18" charset="0"/>
                        </a:rPr>
                        <m:t>    </m:t>
                      </m: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5×10−1×0</m:t>
                          </m:r>
                        </m:num>
                        <m:den>
                          <m:r>
                            <a:rPr lang="en-US" altLang="zh-CN" sz="2800" i="1">
                              <a:latin typeface="Cambria Math" panose="02040503050406030204" pitchFamily="18" charset="0"/>
                              <a:ea typeface="Cambria Math" panose="02040503050406030204" pitchFamily="18" charset="0"/>
                            </a:rPr>
                            <m:t>5</m:t>
                          </m:r>
                        </m:den>
                      </m:f>
                      <m:r>
                        <a:rPr lang="en-US" altLang="zh-CN" sz="2800" i="1">
                          <a:latin typeface="Cambria Math" panose="02040503050406030204" pitchFamily="18" charset="0"/>
                          <a:ea typeface="Cambria Math" panose="02040503050406030204" pitchFamily="18" charset="0"/>
                        </a:rPr>
                        <m:t>=10</m:t>
                      </m:r>
                    </m:oMath>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f>
                            <m:fPr>
                              <m:type m:val="lin"/>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33</m:t>
                              </m:r>
                            </m:num>
                            <m:den>
                              <m:r>
                                <a:rPr lang="en-US" altLang="zh-CN" sz="2800" i="1">
                                  <a:latin typeface="Cambria Math" panose="02040503050406030204" pitchFamily="18" charset="0"/>
                                  <a:ea typeface="Cambria Math" panose="02040503050406030204" pitchFamily="18" charset="0"/>
                                </a:rPr>
                                <m:t>5</m:t>
                              </m:r>
                            </m:den>
                          </m:f>
                          <m:r>
                            <a:rPr lang="en-US" altLang="zh-CN" sz="2800" i="1">
                              <a:latin typeface="Cambria Math" panose="02040503050406030204" pitchFamily="18" charset="0"/>
                              <a:ea typeface="Cambria Math" panose="02040503050406030204" pitchFamily="18" charset="0"/>
                            </a:rPr>
                            <m:t>×2−5×10</m:t>
                          </m:r>
                        </m:num>
                        <m:den>
                          <m:r>
                            <a:rPr lang="en-US" altLang="zh-CN" sz="2800" i="1">
                              <a:latin typeface="Cambria Math" panose="02040503050406030204" pitchFamily="18" charset="0"/>
                              <a:ea typeface="Cambria Math" panose="02040503050406030204" pitchFamily="18" charset="0"/>
                            </a:rPr>
                            <m:t>33/5</m:t>
                          </m:r>
                        </m:den>
                      </m:f>
                      <m:r>
                        <a:rPr lang="en-US" altLang="zh-CN" sz="2800" i="1">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184</m:t>
                          </m:r>
                        </m:num>
                        <m:den>
                          <m:r>
                            <a:rPr lang="en-US" altLang="zh-CN" sz="2800" i="1">
                              <a:latin typeface="Cambria Math" panose="02040503050406030204" pitchFamily="18" charset="0"/>
                              <a:ea typeface="Cambria Math" panose="02040503050406030204" pitchFamily="18" charset="0"/>
                            </a:rPr>
                            <m:t>33</m:t>
                          </m:r>
                        </m:den>
                      </m:f>
                    </m:oMath>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m:t>
                          </m:r>
                          <m:f>
                            <m:fPr>
                              <m:type m:val="lin"/>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184</m:t>
                              </m:r>
                            </m:num>
                            <m:den>
                              <m:r>
                                <a:rPr lang="en-US" altLang="zh-CN" sz="2800" i="1">
                                  <a:latin typeface="Cambria Math" panose="02040503050406030204" pitchFamily="18" charset="0"/>
                                  <a:ea typeface="Cambria Math" panose="02040503050406030204" pitchFamily="18" charset="0"/>
                                </a:rPr>
                                <m:t>33</m:t>
                              </m:r>
                            </m:den>
                          </m:f>
                          <m:r>
                            <a:rPr lang="en-US" altLang="zh-CN" sz="2800" i="1">
                              <a:latin typeface="Cambria Math" panose="02040503050406030204" pitchFamily="18" charset="0"/>
                              <a:ea typeface="Cambria Math" panose="02040503050406030204" pitchFamily="18" charset="0"/>
                            </a:rPr>
                            <m:t>×10−0</m:t>
                          </m:r>
                        </m:num>
                        <m:den>
                          <m:r>
                            <a:rPr lang="en-US" altLang="zh-CN" sz="2800" i="1">
                              <a:latin typeface="Cambria Math" panose="02040503050406030204" pitchFamily="18" charset="0"/>
                              <a:ea typeface="Cambria Math" panose="02040503050406030204" pitchFamily="18" charset="0"/>
                            </a:rPr>
                            <m:t>−184/33</m:t>
                          </m:r>
                        </m:den>
                      </m:f>
                      <m:r>
                        <a:rPr lang="en-US" altLang="zh-CN" sz="2800" i="1">
                          <a:latin typeface="Cambria Math" panose="02040503050406030204" pitchFamily="18" charset="0"/>
                          <a:ea typeface="Cambria Math" panose="02040503050406030204" pitchFamily="18" charset="0"/>
                        </a:rPr>
                        <m:t>=10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34" name="文本框 33">
                <a:extLst>
                  <a:ext uri="{FF2B5EF4-FFF2-40B4-BE49-F238E27FC236}">
                    <a16:creationId xmlns:a16="http://schemas.microsoft.com/office/drawing/2014/main" id="{ED9266DB-35AC-2DF0-FAA8-E837FD9C96C1}"/>
                  </a:ext>
                </a:extLst>
              </p:cNvPr>
              <p:cNvSpPr txBox="1">
                <a:spLocks noRot="1" noChangeAspect="1" noMove="1" noResize="1" noEditPoints="1" noAdjustHandles="1" noChangeArrowheads="1" noChangeShapeType="1" noTextEdit="1"/>
              </p:cNvSpPr>
              <p:nvPr/>
            </p:nvSpPr>
            <p:spPr>
              <a:xfrm>
                <a:off x="4924922" y="2584371"/>
                <a:ext cx="6480175" cy="2721899"/>
              </a:xfrm>
              <a:prstGeom prst="rect">
                <a:avLst/>
              </a:prstGeom>
              <a:blipFill>
                <a:blip r:embed="rId5"/>
                <a:stretch>
                  <a:fillRect b="-186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6392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down)">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4"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291365" y="329232"/>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4" name="代码框">
            <a:extLst>
              <a:ext uri="{FF2B5EF4-FFF2-40B4-BE49-F238E27FC236}">
                <a16:creationId xmlns:a16="http://schemas.microsoft.com/office/drawing/2014/main" id="{A2F90FAC-0B69-A039-58EF-5438304B9CF8}"/>
              </a:ext>
            </a:extLst>
          </p:cNvPr>
          <p:cNvGrpSpPr/>
          <p:nvPr/>
        </p:nvGrpSpPr>
        <p:grpSpPr>
          <a:xfrm>
            <a:off x="344175" y="990527"/>
            <a:ext cx="8620750" cy="2438473"/>
            <a:chOff x="2515563" y="3741795"/>
            <a:chExt cx="8620750" cy="2438473"/>
          </a:xfrm>
        </p:grpSpPr>
        <p:sp>
          <p:nvSpPr>
            <p:cNvPr id="23" name="代码">
              <a:extLst>
                <a:ext uri="{FF2B5EF4-FFF2-40B4-BE49-F238E27FC236}">
                  <a16:creationId xmlns:a16="http://schemas.microsoft.com/office/drawing/2014/main" id="{3A1F607C-5859-F587-EC0D-02BE07A79623}"/>
                </a:ext>
              </a:extLst>
            </p:cNvPr>
            <p:cNvSpPr txBox="1"/>
            <p:nvPr/>
          </p:nvSpPr>
          <p:spPr>
            <a:xfrm>
              <a:off x="2515563" y="4101629"/>
              <a:ext cx="8620750" cy="2078639"/>
            </a:xfrm>
            <a:prstGeom prst="flowChartAlternateProcess">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a:latin typeface="Menlo" panose="020B0609030804020204" pitchFamily="49" charset="0"/>
                </a:rPr>
                <a:t>p = ([1,5,7,</a:t>
              </a:r>
              <a:r>
                <a:rPr lang="en-US" altLang="zh-CN" sz="2800" dirty="0">
                  <a:latin typeface="Menlo" panose="020B0609030804020204" pitchFamily="49" charset="0"/>
                </a:rPr>
                <a:t>2</a:t>
              </a:r>
              <a:r>
                <a:rPr lang="en" altLang="zh-CN" sz="2800" dirty="0">
                  <a:latin typeface="Menlo" panose="020B0609030804020204" pitchFamily="49" charset="0"/>
                </a:rPr>
                <a:t>,10]);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多项式系数</a:t>
              </a:r>
              <a:endParaRPr lang="zh-CN" altLang="en-US" sz="2800" dirty="0">
                <a:latin typeface="Menlo" panose="020B0609030804020204" pitchFamily="49" charset="0"/>
              </a:endParaRPr>
            </a:p>
            <a:p>
              <a:r>
                <a:rPr lang="en" altLang="zh-CN" sz="2800" dirty="0">
                  <a:latin typeface="Menlo" panose="020B0609030804020204" pitchFamily="49" charset="0"/>
                </a:rPr>
                <a:t>roots(p)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多项式求根</a:t>
              </a:r>
              <a:endParaRPr lang="zh-CN" altLang="en-US" sz="2800" dirty="0">
                <a:latin typeface="Menlo" panose="020B0609030804020204" pitchFamily="49" charset="0"/>
              </a:endParaRPr>
            </a:p>
            <a:p>
              <a:r>
                <a:rPr lang="en" altLang="zh-CN" sz="2800" dirty="0">
                  <a:latin typeface="Menlo" panose="020B0609030804020204" pitchFamily="49" charset="0"/>
                </a:rPr>
                <a:t>G = </a:t>
              </a:r>
              <a:r>
                <a:rPr lang="en" altLang="zh-CN" sz="2800" dirty="0" err="1">
                  <a:latin typeface="Menlo" panose="020B0609030804020204" pitchFamily="49" charset="0"/>
                </a:rPr>
                <a:t>tf</a:t>
              </a:r>
              <a:r>
                <a:rPr lang="en" altLang="zh-CN" sz="2800" dirty="0">
                  <a:latin typeface="Menlo" panose="020B0609030804020204" pitchFamily="49" charset="0"/>
                </a:rPr>
                <a:t>(1,p);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建立传递函数</a:t>
              </a:r>
              <a:endParaRPr lang="zh-CN" altLang="en-US" sz="2800" dirty="0">
                <a:latin typeface="Menlo" panose="020B0609030804020204" pitchFamily="49" charset="0"/>
              </a:endParaRPr>
            </a:p>
            <a:p>
              <a:r>
                <a:rPr lang="en" altLang="zh-CN" sz="2800" dirty="0">
                  <a:latin typeface="Menlo" panose="020B0609030804020204" pitchFamily="49" charset="0"/>
                </a:rPr>
                <a:t>step(G,10) 			</a:t>
              </a:r>
              <a:r>
                <a:rPr lang="en" altLang="zh-CN" sz="2800" dirty="0">
                  <a:solidFill>
                    <a:srgbClr val="028009"/>
                  </a:solidFill>
                  <a:latin typeface="Menlo" panose="020B0609030804020204" pitchFamily="49" charset="0"/>
                </a:rPr>
                <a:t>% 10</a:t>
              </a:r>
              <a:r>
                <a:rPr lang="zh-CN" altLang="en-US" sz="2800" dirty="0">
                  <a:solidFill>
                    <a:srgbClr val="028009"/>
                  </a:solidFill>
                  <a:latin typeface="Menlo" panose="020B0609030804020204" pitchFamily="49" charset="0"/>
                </a:rPr>
                <a:t>秒单位阶跃响应</a:t>
              </a:r>
              <a:endParaRPr lang="zh-CN" altLang="en-US" sz="2800" dirty="0">
                <a:latin typeface="Menlo" panose="020B0609030804020204" pitchFamily="49" charset="0"/>
              </a:endParaRPr>
            </a:p>
          </p:txBody>
        </p:sp>
        <p:sp>
          <p:nvSpPr>
            <p:cNvPr id="22" name="标题">
              <a:extLst>
                <a:ext uri="{FF2B5EF4-FFF2-40B4-BE49-F238E27FC236}">
                  <a16:creationId xmlns:a16="http://schemas.microsoft.com/office/drawing/2014/main" id="{BFC63C78-2EEF-9DFB-2F16-3B702755802B}"/>
                </a:ext>
              </a:extLst>
            </p:cNvPr>
            <p:cNvSpPr/>
            <p:nvPr/>
          </p:nvSpPr>
          <p:spPr bwMode="auto">
            <a:xfrm>
              <a:off x="2783285" y="3741795"/>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grpSp>
        <p:nvGrpSpPr>
          <p:cNvPr id="25" name="代码框">
            <a:extLst>
              <a:ext uri="{FF2B5EF4-FFF2-40B4-BE49-F238E27FC236}">
                <a16:creationId xmlns:a16="http://schemas.microsoft.com/office/drawing/2014/main" id="{FD04BCF7-69DA-14FF-3FB2-7404A4337B1C}"/>
              </a:ext>
            </a:extLst>
          </p:cNvPr>
          <p:cNvGrpSpPr/>
          <p:nvPr/>
        </p:nvGrpSpPr>
        <p:grpSpPr>
          <a:xfrm>
            <a:off x="358575" y="3717032"/>
            <a:ext cx="4656511" cy="2915199"/>
            <a:chOff x="2515563" y="3741795"/>
            <a:chExt cx="4656511" cy="2915199"/>
          </a:xfrm>
        </p:grpSpPr>
        <p:sp>
          <p:nvSpPr>
            <p:cNvPr id="26" name="代码">
              <a:extLst>
                <a:ext uri="{FF2B5EF4-FFF2-40B4-BE49-F238E27FC236}">
                  <a16:creationId xmlns:a16="http://schemas.microsoft.com/office/drawing/2014/main" id="{33FE55AD-A8E2-196D-431A-48B1BCE77CFD}"/>
                </a:ext>
              </a:extLst>
            </p:cNvPr>
            <p:cNvSpPr txBox="1"/>
            <p:nvPr/>
          </p:nvSpPr>
          <p:spPr>
            <a:xfrm>
              <a:off x="2515563" y="4101629"/>
              <a:ext cx="4656511" cy="2555365"/>
            </a:xfrm>
            <a:prstGeom prst="flowChartAlternateProcess">
              <a:avLst/>
            </a:prstGeom>
            <a:noFill/>
            <a:ln>
              <a:solidFill>
                <a:schemeClr val="accent4"/>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err="1">
                  <a:latin typeface="Menlo" panose="020B0609030804020204" pitchFamily="49" charset="0"/>
                </a:rPr>
                <a:t>ans</a:t>
              </a:r>
              <a:r>
                <a:rPr lang="en" altLang="zh-CN" sz="2800" dirty="0">
                  <a:latin typeface="Menlo" panose="020B0609030804020204" pitchFamily="49" charset="0"/>
                </a:rPr>
                <a:t> =</a:t>
              </a:r>
            </a:p>
            <a:p>
              <a:r>
                <a:rPr lang="en" altLang="zh-CN" sz="2800" dirty="0">
                  <a:latin typeface="Menlo" panose="020B0609030804020204" pitchFamily="49" charset="0"/>
                </a:rPr>
                <a:t>  -2.7535 + 1.0258i</a:t>
              </a:r>
            </a:p>
            <a:p>
              <a:r>
                <a:rPr lang="en" altLang="zh-CN" sz="2800" dirty="0">
                  <a:latin typeface="Menlo" panose="020B0609030804020204" pitchFamily="49" charset="0"/>
                </a:rPr>
                <a:t>  -2.7535 - 1.0258i</a:t>
              </a:r>
            </a:p>
            <a:p>
              <a:r>
                <a:rPr lang="en" altLang="zh-CN" sz="2800" dirty="0">
                  <a:latin typeface="Menlo" panose="020B0609030804020204" pitchFamily="49" charset="0"/>
                </a:rPr>
                <a:t>   0.2535 + 1.0459i</a:t>
              </a:r>
            </a:p>
            <a:p>
              <a:r>
                <a:rPr lang="en" altLang="zh-CN" sz="2800" dirty="0">
                  <a:latin typeface="Menlo" panose="020B0609030804020204" pitchFamily="49" charset="0"/>
                </a:rPr>
                <a:t>   0.2535 - 1.0459i</a:t>
              </a:r>
              <a:endParaRPr lang="zh-CN" altLang="en-US" sz="2800" dirty="0">
                <a:latin typeface="Menlo" panose="020B0609030804020204" pitchFamily="49" charset="0"/>
              </a:endParaRPr>
            </a:p>
          </p:txBody>
        </p:sp>
        <p:sp>
          <p:nvSpPr>
            <p:cNvPr id="28" name="标题">
              <a:extLst>
                <a:ext uri="{FF2B5EF4-FFF2-40B4-BE49-F238E27FC236}">
                  <a16:creationId xmlns:a16="http://schemas.microsoft.com/office/drawing/2014/main" id="{C023859D-B66A-3D09-9855-9620F2877E50}"/>
                </a:ext>
              </a:extLst>
            </p:cNvPr>
            <p:cNvSpPr/>
            <p:nvPr/>
          </p:nvSpPr>
          <p:spPr bwMode="auto">
            <a:xfrm>
              <a:off x="2783285" y="3741795"/>
              <a:ext cx="115212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输出</a:t>
              </a:r>
            </a:p>
          </p:txBody>
        </p: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0588060-AA4A-83C2-CBF2-577375B3842F}"/>
                  </a:ext>
                </a:extLst>
              </p:cNvPr>
              <p:cNvSpPr txBox="1"/>
              <p:nvPr/>
            </p:nvSpPr>
            <p:spPr>
              <a:xfrm>
                <a:off x="5879182" y="401001"/>
                <a:ext cx="6120680"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+5</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+7</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2</m:t>
                      </m:r>
                      <m:r>
                        <a:rPr lang="en-US" altLang="zh-CN" sz="2800" b="0" i="1" smtClean="0">
                          <a:solidFill>
                            <a:srgbClr val="159F84"/>
                          </a:solidFill>
                          <a:latin typeface="Cambria Math" panose="02040503050406030204" pitchFamily="18" charset="0"/>
                          <a:ea typeface="Cambria Math" panose="02040503050406030204" pitchFamily="18" charset="0"/>
                        </a:rPr>
                        <m:t>𝑠</m:t>
                      </m:r>
                      <m:r>
                        <a:rPr lang="en-US" altLang="zh-CN" sz="2800" b="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10=0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 name="文本框 1">
                <a:extLst>
                  <a:ext uri="{FF2B5EF4-FFF2-40B4-BE49-F238E27FC236}">
                    <a16:creationId xmlns:a16="http://schemas.microsoft.com/office/drawing/2014/main" id="{00588060-AA4A-83C2-CBF2-577375B3842F}"/>
                  </a:ext>
                </a:extLst>
              </p:cNvPr>
              <p:cNvSpPr txBox="1">
                <a:spLocks noRot="1" noChangeAspect="1" noMove="1" noResize="1" noEditPoints="1" noAdjustHandles="1" noChangeArrowheads="1" noChangeShapeType="1" noTextEdit="1"/>
              </p:cNvSpPr>
              <p:nvPr/>
            </p:nvSpPr>
            <p:spPr>
              <a:xfrm>
                <a:off x="5879182" y="401001"/>
                <a:ext cx="6120680" cy="523285"/>
              </a:xfrm>
              <a:prstGeom prst="rect">
                <a:avLst/>
              </a:prstGeom>
              <a:blipFill>
                <a:blip r:embed="rId3"/>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9E514B94-11CE-9C98-7DF8-17857922F151}"/>
              </a:ext>
            </a:extLst>
          </p:cNvPr>
          <p:cNvPicPr>
            <a:picLocks noChangeAspect="1"/>
          </p:cNvPicPr>
          <p:nvPr/>
        </p:nvPicPr>
        <p:blipFill>
          <a:blip r:embed="rId4"/>
          <a:stretch>
            <a:fillRect/>
          </a:stretch>
        </p:blipFill>
        <p:spPr>
          <a:xfrm>
            <a:off x="6820363" y="3635146"/>
            <a:ext cx="4289123" cy="3216842"/>
          </a:xfrm>
          <a:prstGeom prst="rect">
            <a:avLst/>
          </a:prstGeom>
        </p:spPr>
      </p:pic>
    </p:spTree>
    <p:extLst>
      <p:ext uri="{BB962C8B-B14F-4D97-AF65-F5344CB8AC3E}">
        <p14:creationId xmlns:p14="http://schemas.microsoft.com/office/powerpoint/2010/main" val="2907806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76594" y="331527"/>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86DC9A0-62AD-8786-6D65-60BA6E3A415F}"/>
                  </a:ext>
                </a:extLst>
              </p:cNvPr>
              <p:cNvSpPr txBox="1"/>
              <p:nvPr/>
            </p:nvSpPr>
            <p:spPr>
              <a:xfrm>
                <a:off x="4610508" y="1043941"/>
                <a:ext cx="5428361"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−3</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19" name="文本框 18">
                <a:extLst>
                  <a:ext uri="{FF2B5EF4-FFF2-40B4-BE49-F238E27FC236}">
                    <a16:creationId xmlns:a16="http://schemas.microsoft.com/office/drawing/2014/main" id="{186DC9A0-62AD-8786-6D65-60BA6E3A415F}"/>
                  </a:ext>
                </a:extLst>
              </p:cNvPr>
              <p:cNvSpPr txBox="1">
                <a:spLocks noRot="1" noChangeAspect="1" noMove="1" noResize="1" noEditPoints="1" noAdjustHandles="1" noChangeArrowheads="1" noChangeShapeType="1" noTextEdit="1"/>
              </p:cNvSpPr>
              <p:nvPr/>
            </p:nvSpPr>
            <p:spPr>
              <a:xfrm>
                <a:off x="4610508" y="1043941"/>
                <a:ext cx="5428361" cy="523285"/>
              </a:xfrm>
              <a:prstGeom prst="rect">
                <a:avLst/>
              </a:prstGeom>
              <a:blipFill>
                <a:blip r:embed="rId3"/>
                <a:stretch>
                  <a:fillRect/>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B5356D91-4758-AC6F-CE15-A66299202EFC}"/>
              </a:ext>
            </a:extLst>
          </p:cNvPr>
          <p:cNvSpPr txBox="1"/>
          <p:nvPr/>
        </p:nvSpPr>
        <p:spPr>
          <a:xfrm>
            <a:off x="5529622" y="1508292"/>
            <a:ext cx="4310000" cy="523220"/>
          </a:xfrm>
          <a:prstGeom prst="rect">
            <a:avLst/>
          </a:prstGeom>
          <a:noFill/>
        </p:spPr>
        <p:txBody>
          <a:bodyPr wrap="square">
            <a:spAutoFit/>
          </a:bodyPr>
          <a:lstStyle/>
          <a:p>
            <a:r>
              <a:rPr lang="zh-CN" altLang="en-US" sz="2800" dirty="0"/>
              <a:t>判定在右半平面的极点数。</a:t>
            </a:r>
          </a:p>
        </p:txBody>
      </p:sp>
      <p:grpSp>
        <p:nvGrpSpPr>
          <p:cNvPr id="13" name="组合 12">
            <a:extLst>
              <a:ext uri="{FF2B5EF4-FFF2-40B4-BE49-F238E27FC236}">
                <a16:creationId xmlns:a16="http://schemas.microsoft.com/office/drawing/2014/main" id="{D556D369-6A32-B067-293A-81BBD540AC75}"/>
              </a:ext>
            </a:extLst>
          </p:cNvPr>
          <p:cNvGrpSpPr/>
          <p:nvPr/>
        </p:nvGrpSpPr>
        <p:grpSpPr>
          <a:xfrm>
            <a:off x="495807" y="1976200"/>
            <a:ext cx="3924070" cy="3094565"/>
            <a:chOff x="1467164" y="2000851"/>
            <a:chExt cx="3924070" cy="3094565"/>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1467164" y="2000851"/>
                  <a:ext cx="3924070" cy="30945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a:latin typeface="Cambria Math" panose="02040503050406030204" pitchFamily="18" charset="0"/>
                                <a:ea typeface="Cambria Math" panose="02040503050406030204" pitchFamily="18" charset="0"/>
                              </a:rPr>
                            </m:ctrlPr>
                          </m:mP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−3</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e>
                            <m:e>
                              <m:box>
                                <m:boxPr>
                                  <m:ctrlPr>
                                    <a:rPr lang="en-US" altLang="zh-CN" sz="2800" i="1">
                                      <a:latin typeface="Cambria Math" panose="02040503050406030204" pitchFamily="18" charset="0"/>
                                      <a:ea typeface="Cambria Math" panose="02040503050406030204" pitchFamily="18" charset="0"/>
                                    </a:rPr>
                                  </m:ctrlPr>
                                </m:boxPr>
                                <m:e>
                                  <m:argPr>
                                    <m:argSz m:val="-1"/>
                                  </m:argPr>
                                  <m:r>
                                    <m:rPr>
                                      <m:brk m:alnAt="63"/>
                                    </m:rPr>
                                    <a:rPr lang="en-US" altLang="zh-CN" sz="2800" i="1">
                                      <a:latin typeface="Cambria Math" panose="02040503050406030204" pitchFamily="18" charset="0"/>
                                      <a:ea typeface="Cambria Math" panose="02040503050406030204" pitchFamily="18" charset="0"/>
                                    </a:rPr>
                                    <m:t>𝜖</m:t>
                                  </m:r>
                                </m:e>
                              </m:box>
                            </m:e>
                            <m:e>
                              <m:r>
                                <a:rPr lang="en-US" altLang="zh-CN" sz="2800" i="1">
                                  <a:latin typeface="Cambria Math" panose="02040503050406030204" pitchFamily="18" charset="0"/>
                                  <a:ea typeface="Cambria Math" panose="02040503050406030204" pitchFamily="18" charset="0"/>
                                </a:rPr>
                                <m:t>2</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1</m:t>
                                  </m:r>
                                </m:sup>
                              </m:sSup>
                            </m:e>
                            <m:e>
                              <m:r>
                                <a:rPr lang="en-US" altLang="zh-CN" sz="2800" i="1">
                                  <a:highlight>
                                    <a:srgbClr val="F6973B"/>
                                  </a:highlight>
                                  <a:latin typeface="Cambria Math" panose="02040503050406030204" pitchFamily="18" charset="0"/>
                                  <a:ea typeface="Cambria Math" panose="02040503050406030204" pitchFamily="18" charset="0"/>
                                </a:rPr>
                                <m:t>−∞</m:t>
                              </m:r>
                            </m:e>
                            <m:e>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2</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1467164" y="2000851"/>
                  <a:ext cx="3924070" cy="3094565"/>
                </a:xfrm>
                <a:prstGeom prst="rect">
                  <a:avLst/>
                </a:prstGeom>
                <a:blipFill>
                  <a:blip r:embed="rId4"/>
                  <a:stretch>
                    <a:fillRect t="-8571" b="-5714"/>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38BFDB9F-D9C7-7610-CE7B-F6AF1402F368}"/>
                </a:ext>
              </a:extLst>
            </p:cNvPr>
            <p:cNvCxnSpPr>
              <a:cxnSpLocks/>
            </p:cNvCxnSpPr>
            <p:nvPr/>
          </p:nvCxnSpPr>
          <p:spPr>
            <a:xfrm flipV="1">
              <a:off x="3230994" y="2480964"/>
              <a:ext cx="594249" cy="513541"/>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7BC9030-E170-249F-A6DC-DF0FB23BA6F8}"/>
                </a:ext>
              </a:extLst>
            </p:cNvPr>
            <p:cNvCxnSpPr>
              <a:cxnSpLocks/>
            </p:cNvCxnSpPr>
            <p:nvPr/>
          </p:nvCxnSpPr>
          <p:spPr>
            <a:xfrm>
              <a:off x="3230994" y="2480964"/>
              <a:ext cx="594249" cy="513541"/>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719EA859-E7D4-0278-D518-2565C522B8AC}"/>
                </a:ext>
              </a:extLst>
            </p:cNvPr>
            <p:cNvCxnSpPr>
              <a:cxnSpLocks/>
            </p:cNvCxnSpPr>
            <p:nvPr/>
          </p:nvCxnSpPr>
          <p:spPr>
            <a:xfrm flipV="1">
              <a:off x="3230994" y="3190313"/>
              <a:ext cx="594249" cy="423104"/>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675B99F6-BC2D-6FBC-63CB-053FD8FD5C5B}"/>
                </a:ext>
              </a:extLst>
            </p:cNvPr>
            <p:cNvCxnSpPr>
              <a:cxnSpLocks/>
            </p:cNvCxnSpPr>
            <p:nvPr/>
          </p:nvCxnSpPr>
          <p:spPr>
            <a:xfrm>
              <a:off x="3230994" y="3190313"/>
              <a:ext cx="594249" cy="483108"/>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D9266DB-35AC-2DF0-FAA8-E837FD9C96C1}"/>
                  </a:ext>
                </a:extLst>
              </p:cNvPr>
              <p:cNvSpPr txBox="1"/>
              <p:nvPr/>
            </p:nvSpPr>
            <p:spPr>
              <a:xfrm>
                <a:off x="3224114" y="3688226"/>
                <a:ext cx="3168352" cy="17084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−3</m:t>
                          </m:r>
                          <m:r>
                            <a:rPr lang="en-US" altLang="zh-CN" sz="2800" i="1">
                              <a:latin typeface="Cambria Math" panose="02040503050406030204" pitchFamily="18" charset="0"/>
                              <a:ea typeface="Cambria Math" panose="02040503050406030204" pitchFamily="18" charset="0"/>
                            </a:rPr>
                            <m:t>𝜖</m:t>
                          </m:r>
                          <m:r>
                            <a:rPr lang="en-US" altLang="zh-CN" sz="2800" i="1">
                              <a:latin typeface="Cambria Math" panose="02040503050406030204" pitchFamily="18" charset="0"/>
                              <a:ea typeface="Cambria Math" panose="02040503050406030204" pitchFamily="18" charset="0"/>
                            </a:rPr>
                            <m:t>−2</m:t>
                          </m:r>
                        </m:num>
                        <m:den>
                          <m:r>
                            <a:rPr lang="en-US" altLang="zh-CN" sz="2800" i="1">
                              <a:latin typeface="Cambria Math" panose="02040503050406030204" pitchFamily="18" charset="0"/>
                              <a:ea typeface="Cambria Math" panose="02040503050406030204" pitchFamily="18" charset="0"/>
                            </a:rPr>
                            <m:t>𝜖</m:t>
                          </m:r>
                        </m:den>
                      </m:f>
                      <m:r>
                        <a:rPr lang="en-US" altLang="zh-CN" sz="2800" i="1">
                          <a:latin typeface="Cambria Math" panose="02040503050406030204" pitchFamily="18" charset="0"/>
                          <a:ea typeface="Cambria Math" panose="02040503050406030204" pitchFamily="18" charset="0"/>
                        </a:rPr>
                        <m:t>=−∞</m:t>
                      </m:r>
                    </m:oMath>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−2×∞−0</m:t>
                          </m:r>
                        </m:num>
                        <m:den>
                          <m:r>
                            <a:rPr lang="en-US" altLang="zh-CN" sz="2800" i="1">
                              <a:latin typeface="Cambria Math" panose="02040503050406030204" pitchFamily="18" charset="0"/>
                              <a:ea typeface="Cambria Math" panose="02040503050406030204" pitchFamily="18" charset="0"/>
                            </a:rPr>
                            <m:t>−∞</m:t>
                          </m:r>
                        </m:den>
                      </m:f>
                      <m:r>
                        <a:rPr lang="en-US" altLang="zh-CN" sz="2800" i="1">
                          <a:latin typeface="Cambria Math" panose="02040503050406030204" pitchFamily="18" charset="0"/>
                          <a:ea typeface="Cambria Math" panose="02040503050406030204" pitchFamily="18" charset="0"/>
                        </a:rPr>
                        <m:t>=2</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34" name="文本框 33">
                <a:extLst>
                  <a:ext uri="{FF2B5EF4-FFF2-40B4-BE49-F238E27FC236}">
                    <a16:creationId xmlns:a16="http://schemas.microsoft.com/office/drawing/2014/main" id="{ED9266DB-35AC-2DF0-FAA8-E837FD9C96C1}"/>
                  </a:ext>
                </a:extLst>
              </p:cNvPr>
              <p:cNvSpPr txBox="1">
                <a:spLocks noRot="1" noChangeAspect="1" noMove="1" noResize="1" noEditPoints="1" noAdjustHandles="1" noChangeArrowheads="1" noChangeShapeType="1" noTextEdit="1"/>
              </p:cNvSpPr>
              <p:nvPr/>
            </p:nvSpPr>
            <p:spPr>
              <a:xfrm>
                <a:off x="3224114" y="3688226"/>
                <a:ext cx="3168352" cy="1708416"/>
              </a:xfrm>
              <a:prstGeom prst="rect">
                <a:avLst/>
              </a:prstGeom>
              <a:blipFill>
                <a:blip r:embed="rId5"/>
                <a:stretch>
                  <a:fillRect b="-1481"/>
                </a:stretch>
              </a:blipFill>
            </p:spPr>
            <p:txBody>
              <a:bodyPr/>
              <a:lstStyle/>
              <a:p>
                <a:r>
                  <a:rPr lang="zh-CN" altLang="en-US">
                    <a:noFill/>
                  </a:rPr>
                  <a:t> </a:t>
                </a:r>
              </a:p>
            </p:txBody>
          </p:sp>
        </mc:Fallback>
      </mc:AlternateContent>
      <p:grpSp>
        <p:nvGrpSpPr>
          <p:cNvPr id="16" name="困难1">
            <a:extLst>
              <a:ext uri="{FF2B5EF4-FFF2-40B4-BE49-F238E27FC236}">
                <a16:creationId xmlns:a16="http://schemas.microsoft.com/office/drawing/2014/main" id="{23C80D1D-7302-68D3-8FA7-7A5140ABBD15}"/>
              </a:ext>
            </a:extLst>
          </p:cNvPr>
          <p:cNvGrpSpPr/>
          <p:nvPr/>
        </p:nvGrpSpPr>
        <p:grpSpPr>
          <a:xfrm>
            <a:off x="330860" y="990347"/>
            <a:ext cx="3063930" cy="759849"/>
            <a:chOff x="4943078" y="1556792"/>
            <a:chExt cx="4084708" cy="1013000"/>
          </a:xfrm>
        </p:grpSpPr>
        <p:sp>
          <p:nvSpPr>
            <p:cNvPr id="17" name="íŝlïďê">
              <a:extLst>
                <a:ext uri="{FF2B5EF4-FFF2-40B4-BE49-F238E27FC236}">
                  <a16:creationId xmlns:a16="http://schemas.microsoft.com/office/drawing/2014/main" id="{828639CA-67E7-3B14-5EF0-71001E797855}"/>
                </a:ext>
              </a:extLst>
            </p:cNvPr>
            <p:cNvSpPr/>
            <p:nvPr/>
          </p:nvSpPr>
          <p:spPr bwMode="auto">
            <a:xfrm>
              <a:off x="5305664" y="1556792"/>
              <a:ext cx="3722122" cy="1013000"/>
            </a:xfrm>
            <a:prstGeom prst="roundRect">
              <a:avLst/>
            </a:prstGeom>
            <a:solidFill>
              <a:srgbClr val="758395"/>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270036"/>
              <a:r>
                <a:rPr lang="zh-CN" altLang="en-US" sz="2800" b="1" dirty="0">
                  <a:solidFill>
                    <a:schemeClr val="bg1"/>
                  </a:solidFill>
                  <a:latin typeface="Stencil" panose="040409050D0802020404" pitchFamily="82" charset="0"/>
                </a:rPr>
                <a:t>特殊情况处理</a:t>
              </a:r>
            </a:p>
          </p:txBody>
        </p:sp>
        <p:sp>
          <p:nvSpPr>
            <p:cNvPr id="18" name="ï$ľiďê">
              <a:extLst>
                <a:ext uri="{FF2B5EF4-FFF2-40B4-BE49-F238E27FC236}">
                  <a16:creationId xmlns:a16="http://schemas.microsoft.com/office/drawing/2014/main" id="{DC9812B8-89D7-95EC-648A-8B6297A3339C}"/>
                </a:ext>
              </a:extLst>
            </p:cNvPr>
            <p:cNvSpPr/>
            <p:nvPr/>
          </p:nvSpPr>
          <p:spPr bwMode="auto">
            <a:xfrm>
              <a:off x="4943078" y="1700704"/>
              <a:ext cx="725177" cy="725177"/>
            </a:xfrm>
            <a:prstGeom prst="ellipse">
              <a:avLst/>
            </a:prstGeom>
            <a:solidFill>
              <a:srgbClr val="758395"/>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ctr" anchorCtr="1">
              <a:noAutofit/>
            </a:bodyPr>
            <a:lstStyle/>
            <a:p>
              <a:pPr algn="ctr"/>
              <a:r>
                <a:rPr lang="en-US" altLang="zh-CN" sz="2800" dirty="0">
                  <a:solidFill>
                    <a:schemeClr val="bg1"/>
                  </a:solidFill>
                  <a:latin typeface="Stencil" panose="040409050D0802020404" pitchFamily="82" charset="0"/>
                </a:rPr>
                <a:t>03</a:t>
              </a:r>
              <a:endParaRPr lang="zh-CN" altLang="en-US" sz="2800" dirty="0">
                <a:solidFill>
                  <a:schemeClr val="bg1"/>
                </a:solidFill>
                <a:latin typeface="Stencil" panose="040409050D0802020404" pitchFamily="82" charset="0"/>
              </a:endParaRPr>
            </a:p>
          </p:txBody>
        </p:sp>
      </p:gr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6FB7ADD-B80C-6944-27DC-F088912C9D6F}"/>
                  </a:ext>
                </a:extLst>
              </p:cNvPr>
              <p:cNvSpPr txBox="1"/>
              <p:nvPr/>
            </p:nvSpPr>
            <p:spPr>
              <a:xfrm>
                <a:off x="6969504" y="3828948"/>
                <a:ext cx="4382285" cy="1532334"/>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chemeClr val="accent1"/>
                    </a:solidFill>
                  </a:rPr>
                  <a:t>某行第一列元素为 </a:t>
                </a:r>
                <a:r>
                  <a:rPr kumimoji="1" lang="en-US" altLang="zh-CN" sz="2800" dirty="0">
                    <a:solidFill>
                      <a:schemeClr val="accent1"/>
                    </a:solidFill>
                  </a:rPr>
                  <a:t>0</a:t>
                </a:r>
                <a:r>
                  <a:rPr kumimoji="1" lang="zh-CN" altLang="en-US" sz="2800" dirty="0">
                    <a:solidFill>
                      <a:schemeClr val="accent1"/>
                    </a:solidFill>
                  </a:rPr>
                  <a:t>，而 该行元素不全为 </a:t>
                </a:r>
                <a:r>
                  <a:rPr kumimoji="1" lang="en-US" altLang="zh-CN" sz="2800" dirty="0">
                    <a:solidFill>
                      <a:schemeClr val="accent1"/>
                    </a:solidFill>
                  </a:rPr>
                  <a:t>0 </a:t>
                </a:r>
                <a:r>
                  <a:rPr kumimoji="1" lang="zh-CN" altLang="en-US" sz="2800" dirty="0">
                    <a:solidFill>
                      <a:schemeClr val="accent1"/>
                    </a:solidFill>
                  </a:rPr>
                  <a:t>时：将 此 </a:t>
                </a:r>
                <a:r>
                  <a:rPr kumimoji="1" lang="en-US" altLang="zh-CN" sz="2800" dirty="0">
                    <a:solidFill>
                      <a:schemeClr val="accent1"/>
                    </a:solidFill>
                  </a:rPr>
                  <a:t>0 </a:t>
                </a:r>
                <a:r>
                  <a:rPr kumimoji="1" lang="zh-CN" altLang="en-US" sz="2800" dirty="0">
                    <a:solidFill>
                      <a:schemeClr val="accent1"/>
                    </a:solidFill>
                  </a:rPr>
                  <a:t>改为 </a:t>
                </a:r>
                <a14:m>
                  <m:oMath xmlns:m="http://schemas.openxmlformats.org/officeDocument/2006/math">
                    <m:r>
                      <a:rPr kumimoji="1" lang="zh-CN" altLang="en-US" sz="2800" i="1">
                        <a:solidFill>
                          <a:schemeClr val="accent1"/>
                        </a:solidFill>
                        <a:latin typeface="Cambria Math" panose="02040503050406030204" pitchFamily="18" charset="0"/>
                      </a:rPr>
                      <m:t>𝜖</m:t>
                    </m:r>
                  </m:oMath>
                </a14:m>
                <a:r>
                  <a:rPr kumimoji="1" lang="zh-CN" altLang="el-GR" sz="2800" dirty="0">
                    <a:solidFill>
                      <a:schemeClr val="accent1"/>
                    </a:solidFill>
                  </a:rPr>
                  <a:t>，</a:t>
                </a:r>
                <a:r>
                  <a:rPr kumimoji="1" lang="zh-CN" altLang="en-US" sz="2800" dirty="0">
                    <a:solidFill>
                      <a:schemeClr val="accent1"/>
                    </a:solidFill>
                  </a:rPr>
                  <a:t>继续运算。</a:t>
                </a:r>
              </a:p>
            </p:txBody>
          </p:sp>
        </mc:Choice>
        <mc:Fallback xmlns="">
          <p:sp>
            <p:nvSpPr>
              <p:cNvPr id="28" name="文本框 27">
                <a:extLst>
                  <a:ext uri="{FF2B5EF4-FFF2-40B4-BE49-F238E27FC236}">
                    <a16:creationId xmlns:a16="http://schemas.microsoft.com/office/drawing/2014/main" id="{96FB7ADD-B80C-6944-27DC-F088912C9D6F}"/>
                  </a:ext>
                </a:extLst>
              </p:cNvPr>
              <p:cNvSpPr txBox="1">
                <a:spLocks noRot="1" noChangeAspect="1" noMove="1" noResize="1" noEditPoints="1" noAdjustHandles="1" noChangeArrowheads="1" noChangeShapeType="1" noTextEdit="1"/>
              </p:cNvSpPr>
              <p:nvPr/>
            </p:nvSpPr>
            <p:spPr>
              <a:xfrm>
                <a:off x="6969504" y="3828948"/>
                <a:ext cx="4382285" cy="1532334"/>
              </a:xfrm>
              <a:prstGeom prst="flowChartAlternateProcess">
                <a:avLst/>
              </a:prstGeom>
              <a:blipFill>
                <a:blip r:embed="rId6"/>
                <a:stretch>
                  <a:fillRect l="-862" b="-5691"/>
                </a:stretch>
              </a:blipFill>
              <a:ln>
                <a:prstDash val="sysDot"/>
              </a:ln>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D2D13405-5D88-7360-06C8-6DAECC276762}"/>
              </a:ext>
            </a:extLst>
          </p:cNvPr>
          <p:cNvSpPr txBox="1"/>
          <p:nvPr/>
        </p:nvSpPr>
        <p:spPr>
          <a:xfrm>
            <a:off x="1912636" y="5786165"/>
            <a:ext cx="9007106" cy="523220"/>
          </a:xfrm>
          <a:prstGeom prst="rect">
            <a:avLst/>
          </a:prstGeom>
          <a:noFill/>
        </p:spPr>
        <p:txBody>
          <a:bodyPr wrap="square">
            <a:spAutoFit/>
          </a:bodyPr>
          <a:lstStyle/>
          <a:p>
            <a:r>
              <a:rPr lang="zh-CN" altLang="en-US" sz="2800" dirty="0"/>
              <a:t>劳斯表第一列元素变号 </a:t>
            </a:r>
            <a:r>
              <a:rPr lang="en-US" altLang="zh-CN" sz="2800" dirty="0"/>
              <a:t>2 </a:t>
            </a:r>
            <a:r>
              <a:rPr lang="zh-CN" altLang="en-US" sz="2800" dirty="0"/>
              <a:t>次，有 </a:t>
            </a:r>
            <a:r>
              <a:rPr lang="en-US" altLang="zh-CN" sz="2800" dirty="0"/>
              <a:t>2 </a:t>
            </a:r>
            <a:r>
              <a:rPr lang="zh-CN" altLang="en-US" sz="2800" dirty="0"/>
              <a:t>个正根，系统</a:t>
            </a:r>
            <a:r>
              <a:rPr lang="zh-CN" altLang="en-US" sz="2800" dirty="0">
                <a:solidFill>
                  <a:srgbClr val="E44860"/>
                </a:solidFill>
              </a:rPr>
              <a:t>不稳定</a:t>
            </a:r>
            <a:r>
              <a:rPr lang="zh-CN" altLang="en-US" sz="2800" dirty="0"/>
              <a:t>。</a:t>
            </a:r>
          </a:p>
        </p:txBody>
      </p:sp>
    </p:spTree>
    <p:extLst>
      <p:ext uri="{BB962C8B-B14F-4D97-AF65-F5344CB8AC3E}">
        <p14:creationId xmlns:p14="http://schemas.microsoft.com/office/powerpoint/2010/main" val="3135666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ppt_y</p:attrName>
                                        </p:attrNameLst>
                                      </p:cBhvr>
                                      <p:tavLst>
                                        <p:tav tm="0">
                                          <p:val>
                                            <p:strVal val="#ppt_y-#ppt_h*1.125000"/>
                                          </p:val>
                                        </p:tav>
                                        <p:tav tm="100000">
                                          <p:val>
                                            <p:strVal val="#ppt_y"/>
                                          </p:val>
                                        </p:tav>
                                      </p:tavLst>
                                    </p:anim>
                                    <p:animEffect transition="in" filter="wipe(down)">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down)">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34" grpId="0"/>
      <p:bldP spid="28" grpId="0" animBg="1"/>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76594" y="331527"/>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86DC9A0-62AD-8786-6D65-60BA6E3A415F}"/>
                  </a:ext>
                </a:extLst>
              </p:cNvPr>
              <p:cNvSpPr txBox="1"/>
              <p:nvPr/>
            </p:nvSpPr>
            <p:spPr>
              <a:xfrm>
                <a:off x="5447134" y="351675"/>
                <a:ext cx="5428361"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−3</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19" name="文本框 18">
                <a:extLst>
                  <a:ext uri="{FF2B5EF4-FFF2-40B4-BE49-F238E27FC236}">
                    <a16:creationId xmlns:a16="http://schemas.microsoft.com/office/drawing/2014/main" id="{186DC9A0-62AD-8786-6D65-60BA6E3A415F}"/>
                  </a:ext>
                </a:extLst>
              </p:cNvPr>
              <p:cNvSpPr txBox="1">
                <a:spLocks noRot="1" noChangeAspect="1" noMove="1" noResize="1" noEditPoints="1" noAdjustHandles="1" noChangeArrowheads="1" noChangeShapeType="1" noTextEdit="1"/>
              </p:cNvSpPr>
              <p:nvPr/>
            </p:nvSpPr>
            <p:spPr>
              <a:xfrm>
                <a:off x="5447134" y="351675"/>
                <a:ext cx="5428361" cy="523285"/>
              </a:xfrm>
              <a:prstGeom prst="rect">
                <a:avLst/>
              </a:prstGeom>
              <a:blipFill>
                <a:blip r:embed="rId3"/>
                <a:stretch>
                  <a:fillRect/>
                </a:stretch>
              </a:blipFill>
            </p:spPr>
            <p:txBody>
              <a:bodyPr/>
              <a:lstStyle/>
              <a:p>
                <a:r>
                  <a:rPr lang="zh-CN" altLang="en-US">
                    <a:noFill/>
                  </a:rPr>
                  <a:t> </a:t>
                </a:r>
              </a:p>
            </p:txBody>
          </p:sp>
        </mc:Fallback>
      </mc:AlternateContent>
      <p:grpSp>
        <p:nvGrpSpPr>
          <p:cNvPr id="20" name="代码框">
            <a:extLst>
              <a:ext uri="{FF2B5EF4-FFF2-40B4-BE49-F238E27FC236}">
                <a16:creationId xmlns:a16="http://schemas.microsoft.com/office/drawing/2014/main" id="{6E96DB50-4BDD-CF51-32F4-2285A1EF34AB}"/>
              </a:ext>
            </a:extLst>
          </p:cNvPr>
          <p:cNvGrpSpPr/>
          <p:nvPr/>
        </p:nvGrpSpPr>
        <p:grpSpPr>
          <a:xfrm>
            <a:off x="344175" y="990527"/>
            <a:ext cx="8620750" cy="2438473"/>
            <a:chOff x="2515563" y="3741795"/>
            <a:chExt cx="8620750" cy="2438473"/>
          </a:xfrm>
        </p:grpSpPr>
        <p:sp>
          <p:nvSpPr>
            <p:cNvPr id="22" name="代码">
              <a:extLst>
                <a:ext uri="{FF2B5EF4-FFF2-40B4-BE49-F238E27FC236}">
                  <a16:creationId xmlns:a16="http://schemas.microsoft.com/office/drawing/2014/main" id="{BD09645E-0066-010E-6A43-3393EE2B949E}"/>
                </a:ext>
              </a:extLst>
            </p:cNvPr>
            <p:cNvSpPr txBox="1"/>
            <p:nvPr/>
          </p:nvSpPr>
          <p:spPr>
            <a:xfrm>
              <a:off x="2515563" y="4101629"/>
              <a:ext cx="8620750" cy="2078639"/>
            </a:xfrm>
            <a:prstGeom prst="flowChartAlternateProcess">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a:latin typeface="Menlo" panose="020B0609030804020204" pitchFamily="49" charset="0"/>
                </a:rPr>
                <a:t>p = ([1,</a:t>
              </a:r>
              <a:r>
                <a:rPr lang="en-US" altLang="zh-CN" sz="2800" dirty="0">
                  <a:latin typeface="Menlo" panose="020B0609030804020204" pitchFamily="49" charset="0"/>
                </a:rPr>
                <a:t>0</a:t>
              </a:r>
              <a:r>
                <a:rPr lang="en" altLang="zh-CN" sz="2800" dirty="0">
                  <a:latin typeface="Menlo" panose="020B0609030804020204" pitchFamily="49" charset="0"/>
                </a:rPr>
                <a:t>,</a:t>
              </a:r>
              <a:r>
                <a:rPr lang="en-US" altLang="zh-CN" sz="2800" dirty="0">
                  <a:latin typeface="Menlo" panose="020B0609030804020204" pitchFamily="49" charset="0"/>
                </a:rPr>
                <a:t>-3</a:t>
              </a:r>
              <a:r>
                <a:rPr lang="en" altLang="zh-CN" sz="2800" dirty="0">
                  <a:latin typeface="Menlo" panose="020B0609030804020204" pitchFamily="49" charset="0"/>
                </a:rPr>
                <a:t>,</a:t>
              </a:r>
              <a:r>
                <a:rPr lang="en-US" altLang="zh-CN" sz="2800" dirty="0">
                  <a:latin typeface="Menlo" panose="020B0609030804020204" pitchFamily="49" charset="0"/>
                </a:rPr>
                <a:t>2</a:t>
              </a:r>
              <a:r>
                <a:rPr lang="en" altLang="zh-CN" sz="2800" dirty="0">
                  <a:latin typeface="Menlo" panose="020B0609030804020204" pitchFamily="49" charset="0"/>
                </a:rPr>
                <a:t>]);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多项式系数</a:t>
              </a:r>
              <a:endParaRPr lang="zh-CN" altLang="en-US" sz="2800" dirty="0">
                <a:latin typeface="Menlo" panose="020B0609030804020204" pitchFamily="49" charset="0"/>
              </a:endParaRPr>
            </a:p>
            <a:p>
              <a:r>
                <a:rPr lang="en" altLang="zh-CN" sz="2800" dirty="0">
                  <a:latin typeface="Menlo" panose="020B0609030804020204" pitchFamily="49" charset="0"/>
                </a:rPr>
                <a:t>roots(p)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多项式求根</a:t>
              </a:r>
              <a:endParaRPr lang="zh-CN" altLang="en-US" sz="2800" dirty="0">
                <a:latin typeface="Menlo" panose="020B0609030804020204" pitchFamily="49" charset="0"/>
              </a:endParaRPr>
            </a:p>
            <a:p>
              <a:r>
                <a:rPr lang="en" altLang="zh-CN" sz="2800" dirty="0">
                  <a:latin typeface="Menlo" panose="020B0609030804020204" pitchFamily="49" charset="0"/>
                </a:rPr>
                <a:t>G = </a:t>
              </a:r>
              <a:r>
                <a:rPr lang="en" altLang="zh-CN" sz="2800" dirty="0" err="1">
                  <a:latin typeface="Menlo" panose="020B0609030804020204" pitchFamily="49" charset="0"/>
                </a:rPr>
                <a:t>tf</a:t>
              </a:r>
              <a:r>
                <a:rPr lang="en" altLang="zh-CN" sz="2800" dirty="0">
                  <a:latin typeface="Menlo" panose="020B0609030804020204" pitchFamily="49" charset="0"/>
                </a:rPr>
                <a:t>(1,p); 		</a:t>
              </a:r>
              <a:r>
                <a:rPr lang="en" altLang="zh-CN" sz="2800" dirty="0">
                  <a:solidFill>
                    <a:srgbClr val="028009"/>
                  </a:solidFill>
                  <a:latin typeface="Menlo" panose="020B0609030804020204" pitchFamily="49" charset="0"/>
                </a:rPr>
                <a:t>% </a:t>
              </a:r>
              <a:r>
                <a:rPr lang="zh-CN" altLang="en-US" sz="2800" dirty="0">
                  <a:solidFill>
                    <a:srgbClr val="028009"/>
                  </a:solidFill>
                  <a:latin typeface="Menlo" panose="020B0609030804020204" pitchFamily="49" charset="0"/>
                </a:rPr>
                <a:t>建立传递函数</a:t>
              </a:r>
              <a:endParaRPr lang="zh-CN" altLang="en-US" sz="2800" dirty="0">
                <a:latin typeface="Menlo" panose="020B0609030804020204" pitchFamily="49" charset="0"/>
              </a:endParaRPr>
            </a:p>
            <a:p>
              <a:r>
                <a:rPr lang="en" altLang="zh-CN" sz="2800" dirty="0">
                  <a:latin typeface="Menlo" panose="020B0609030804020204" pitchFamily="49" charset="0"/>
                </a:rPr>
                <a:t>step(G,10) 			</a:t>
              </a:r>
              <a:r>
                <a:rPr lang="en" altLang="zh-CN" sz="2800" dirty="0">
                  <a:solidFill>
                    <a:srgbClr val="028009"/>
                  </a:solidFill>
                  <a:latin typeface="Menlo" panose="020B0609030804020204" pitchFamily="49" charset="0"/>
                </a:rPr>
                <a:t>% 10</a:t>
              </a:r>
              <a:r>
                <a:rPr lang="zh-CN" altLang="en-US" sz="2800" dirty="0">
                  <a:solidFill>
                    <a:srgbClr val="028009"/>
                  </a:solidFill>
                  <a:latin typeface="Menlo" panose="020B0609030804020204" pitchFamily="49" charset="0"/>
                </a:rPr>
                <a:t>秒单位阶跃响应</a:t>
              </a:r>
              <a:endParaRPr lang="zh-CN" altLang="en-US" sz="2800" dirty="0">
                <a:latin typeface="Menlo" panose="020B0609030804020204" pitchFamily="49" charset="0"/>
              </a:endParaRPr>
            </a:p>
          </p:txBody>
        </p:sp>
        <p:sp>
          <p:nvSpPr>
            <p:cNvPr id="23" name="标题">
              <a:extLst>
                <a:ext uri="{FF2B5EF4-FFF2-40B4-BE49-F238E27FC236}">
                  <a16:creationId xmlns:a16="http://schemas.microsoft.com/office/drawing/2014/main" id="{87532B49-3740-9E16-A63D-CBC0681275CF}"/>
                </a:ext>
              </a:extLst>
            </p:cNvPr>
            <p:cNvSpPr/>
            <p:nvPr/>
          </p:nvSpPr>
          <p:spPr bwMode="auto">
            <a:xfrm>
              <a:off x="2783285" y="3741795"/>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grpSp>
        <p:nvGrpSpPr>
          <p:cNvPr id="25" name="代码框">
            <a:extLst>
              <a:ext uri="{FF2B5EF4-FFF2-40B4-BE49-F238E27FC236}">
                <a16:creationId xmlns:a16="http://schemas.microsoft.com/office/drawing/2014/main" id="{619E8941-1991-EC9F-88B1-472A3812B843}"/>
              </a:ext>
            </a:extLst>
          </p:cNvPr>
          <p:cNvGrpSpPr/>
          <p:nvPr/>
        </p:nvGrpSpPr>
        <p:grpSpPr>
          <a:xfrm>
            <a:off x="358575" y="3717032"/>
            <a:ext cx="4656511" cy="2438473"/>
            <a:chOff x="2515563" y="3741795"/>
            <a:chExt cx="4656511" cy="2438473"/>
          </a:xfrm>
        </p:grpSpPr>
        <p:sp>
          <p:nvSpPr>
            <p:cNvPr id="26" name="代码">
              <a:extLst>
                <a:ext uri="{FF2B5EF4-FFF2-40B4-BE49-F238E27FC236}">
                  <a16:creationId xmlns:a16="http://schemas.microsoft.com/office/drawing/2014/main" id="{533E065D-4FD5-56EF-4295-7B1E059B1D3E}"/>
                </a:ext>
              </a:extLst>
            </p:cNvPr>
            <p:cNvSpPr txBox="1"/>
            <p:nvPr/>
          </p:nvSpPr>
          <p:spPr>
            <a:xfrm>
              <a:off x="2515563" y="4101629"/>
              <a:ext cx="4656511" cy="2078639"/>
            </a:xfrm>
            <a:prstGeom prst="flowChartAlternateProcess">
              <a:avLst/>
            </a:prstGeom>
            <a:noFill/>
            <a:ln>
              <a:solidFill>
                <a:schemeClr val="accent4"/>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err="1">
                  <a:latin typeface="Menlo" panose="020B0609030804020204" pitchFamily="49" charset="0"/>
                </a:rPr>
                <a:t>ans</a:t>
              </a:r>
              <a:r>
                <a:rPr lang="en" altLang="zh-CN" sz="2800" dirty="0">
                  <a:latin typeface="Menlo" panose="020B0609030804020204" pitchFamily="49" charset="0"/>
                </a:rPr>
                <a:t> =</a:t>
              </a:r>
            </a:p>
            <a:p>
              <a:r>
                <a:rPr lang="en" altLang="zh-CN" sz="2800" dirty="0">
                  <a:latin typeface="Menlo" panose="020B0609030804020204" pitchFamily="49" charset="0"/>
                </a:rPr>
                <a:t>   -2.0000</a:t>
              </a:r>
            </a:p>
            <a:p>
              <a:r>
                <a:rPr lang="en" altLang="zh-CN" sz="2800" dirty="0">
                  <a:latin typeface="Menlo" panose="020B0609030804020204" pitchFamily="49" charset="0"/>
                </a:rPr>
                <a:t>    1.0000</a:t>
              </a:r>
            </a:p>
            <a:p>
              <a:r>
                <a:rPr lang="en" altLang="zh-CN" sz="2800" dirty="0">
                  <a:latin typeface="Menlo" panose="020B0609030804020204" pitchFamily="49" charset="0"/>
                </a:rPr>
                <a:t>    1.0000</a:t>
              </a:r>
              <a:endParaRPr lang="zh-CN" altLang="en-US" sz="2800" dirty="0">
                <a:latin typeface="Menlo" panose="020B0609030804020204" pitchFamily="49" charset="0"/>
              </a:endParaRPr>
            </a:p>
          </p:txBody>
        </p:sp>
        <p:sp>
          <p:nvSpPr>
            <p:cNvPr id="27" name="标题">
              <a:extLst>
                <a:ext uri="{FF2B5EF4-FFF2-40B4-BE49-F238E27FC236}">
                  <a16:creationId xmlns:a16="http://schemas.microsoft.com/office/drawing/2014/main" id="{211B7569-510B-46A3-C942-620455D9BBD4}"/>
                </a:ext>
              </a:extLst>
            </p:cNvPr>
            <p:cNvSpPr/>
            <p:nvPr/>
          </p:nvSpPr>
          <p:spPr bwMode="auto">
            <a:xfrm>
              <a:off x="2783285" y="3741795"/>
              <a:ext cx="115212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输出</a:t>
              </a:r>
            </a:p>
          </p:txBody>
        </p:sp>
      </p:grpSp>
      <p:pic>
        <p:nvPicPr>
          <p:cNvPr id="2" name="图片 1">
            <a:extLst>
              <a:ext uri="{FF2B5EF4-FFF2-40B4-BE49-F238E27FC236}">
                <a16:creationId xmlns:a16="http://schemas.microsoft.com/office/drawing/2014/main" id="{6E946AF1-770A-EFF5-8779-B3B7B29D7831}"/>
              </a:ext>
            </a:extLst>
          </p:cNvPr>
          <p:cNvPicPr>
            <a:picLocks noChangeAspect="1"/>
          </p:cNvPicPr>
          <p:nvPr/>
        </p:nvPicPr>
        <p:blipFill>
          <a:blip r:embed="rId4"/>
          <a:stretch>
            <a:fillRect/>
          </a:stretch>
        </p:blipFill>
        <p:spPr>
          <a:xfrm>
            <a:off x="6815138" y="3510044"/>
            <a:ext cx="3995041" cy="2996281"/>
          </a:xfrm>
          <a:prstGeom prst="rect">
            <a:avLst/>
          </a:prstGeom>
        </p:spPr>
      </p:pic>
    </p:spTree>
    <p:extLst>
      <p:ext uri="{BB962C8B-B14F-4D97-AF65-F5344CB8AC3E}">
        <p14:creationId xmlns:p14="http://schemas.microsoft.com/office/powerpoint/2010/main" val="2012636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06574" y="30805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B5356D91-4758-AC6F-CE15-A66299202EFC}"/>
              </a:ext>
            </a:extLst>
          </p:cNvPr>
          <p:cNvSpPr txBox="1"/>
          <p:nvPr/>
        </p:nvSpPr>
        <p:spPr>
          <a:xfrm>
            <a:off x="838622" y="5855142"/>
            <a:ext cx="9511162" cy="954107"/>
          </a:xfrm>
          <a:prstGeom prst="rect">
            <a:avLst/>
          </a:prstGeom>
          <a:noFill/>
        </p:spPr>
        <p:txBody>
          <a:bodyPr wrap="square">
            <a:spAutoFit/>
          </a:bodyPr>
          <a:lstStyle/>
          <a:p>
            <a:r>
              <a:rPr lang="zh-CN" altLang="en-US" sz="2800" dirty="0"/>
              <a:t>出现全零行时，系统可能出现一对共轭虚根；或一对符号相反的实根；或两对实部符号相异、虚部相同的复根。</a:t>
            </a:r>
          </a:p>
        </p:txBody>
      </p:sp>
      <p:grpSp>
        <p:nvGrpSpPr>
          <p:cNvPr id="13" name="组合 12">
            <a:extLst>
              <a:ext uri="{FF2B5EF4-FFF2-40B4-BE49-F238E27FC236}">
                <a16:creationId xmlns:a16="http://schemas.microsoft.com/office/drawing/2014/main" id="{D556D369-6A32-B067-293A-81BBD540AC75}"/>
              </a:ext>
            </a:extLst>
          </p:cNvPr>
          <p:cNvGrpSpPr/>
          <p:nvPr/>
        </p:nvGrpSpPr>
        <p:grpSpPr>
          <a:xfrm>
            <a:off x="305757" y="1576360"/>
            <a:ext cx="3924070" cy="4252446"/>
            <a:chOff x="1467164" y="2000851"/>
            <a:chExt cx="3924070" cy="4252446"/>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1467164" y="2000851"/>
                  <a:ext cx="3924070" cy="42524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smtClean="0">
                                <a:latin typeface="Cambria Math" panose="02040503050406030204" pitchFamily="18" charset="0"/>
                                <a:ea typeface="Cambria Math" panose="02040503050406030204" pitchFamily="18" charset="0"/>
                              </a:rPr>
                            </m:ctrlPr>
                          </m:mP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m:rPr>
                                      <m:brk m:alnAt="7"/>
                                    </m:rP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12</m:t>
                              </m:r>
                            </m:e>
                            <m:e>
                              <m:r>
                                <a:rPr lang="en-US" altLang="zh-CN" sz="2800" i="1">
                                  <a:latin typeface="Cambria Math" panose="02040503050406030204" pitchFamily="18" charset="0"/>
                                  <a:ea typeface="Cambria Math" panose="02040503050406030204" pitchFamily="18" charset="0"/>
                                </a:rPr>
                                <m:t>35</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e>
                            <m:e>
                              <m:r>
                                <a:rPr lang="en-US" altLang="zh-CN" sz="2800" i="1">
                                  <a:latin typeface="Cambria Math" panose="02040503050406030204" pitchFamily="18" charset="0"/>
                                  <a:ea typeface="Cambria Math" panose="02040503050406030204" pitchFamily="18" charset="0"/>
                                </a:rPr>
                                <m:t>3</m:t>
                              </m:r>
                            </m:e>
                            <m:e>
                              <m:r>
                                <a:rPr lang="en-US" altLang="zh-CN" sz="2800" i="1">
                                  <a:latin typeface="Cambria Math" panose="02040503050406030204" pitchFamily="18" charset="0"/>
                                  <a:ea typeface="Cambria Math" panose="02040503050406030204" pitchFamily="18" charset="0"/>
                                </a:rPr>
                                <m:t>20</m:t>
                              </m:r>
                            </m:e>
                            <m:e>
                              <m:r>
                                <a:rPr lang="en-US" altLang="zh-CN" sz="2800" i="1">
                                  <a:latin typeface="Cambria Math" panose="02040503050406030204" pitchFamily="18" charset="0"/>
                                  <a:ea typeface="Cambria Math" panose="02040503050406030204" pitchFamily="18" charset="0"/>
                                </a:rPr>
                                <m:t>25</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e>
                            <m:e>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16</m:t>
                                      </m:r>
                                    </m:num>
                                    <m:den>
                                      <m:r>
                                        <a:rPr lang="en-US" altLang="zh-CN" sz="2800" b="0" i="1" smtClean="0">
                                          <a:latin typeface="Cambria Math" panose="02040503050406030204" pitchFamily="18" charset="0"/>
                                          <a:ea typeface="Cambria Math" panose="02040503050406030204" pitchFamily="18" charset="0"/>
                                        </a:rPr>
                                        <m:t>3</m:t>
                                      </m:r>
                                    </m:den>
                                  </m:f>
                                </m:e>
                              </m:box>
                            </m:e>
                            <m:e>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80</m:t>
                                      </m:r>
                                    </m:num>
                                    <m:den>
                                      <m:r>
                                        <a:rPr lang="en-US" altLang="zh-CN" sz="2800" i="1">
                                          <a:latin typeface="Cambria Math" panose="02040503050406030204" pitchFamily="18" charset="0"/>
                                          <a:ea typeface="Cambria Math" panose="02040503050406030204" pitchFamily="18" charset="0"/>
                                        </a:rPr>
                                        <m:t>3</m:t>
                                      </m:r>
                                    </m:den>
                                  </m:f>
                                </m:e>
                              </m:box>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E44860"/>
                                      </a:solidFill>
                                      <a:latin typeface="Cambria Math" panose="02040503050406030204" pitchFamily="18" charset="0"/>
                                      <a:ea typeface="Cambria Math" panose="02040503050406030204" pitchFamily="18" charset="0"/>
                                    </a:rPr>
                                  </m:ctrlPr>
                                </m:sSupPr>
                                <m:e>
                                  <m:r>
                                    <a:rPr lang="en-US" altLang="zh-CN" sz="2800" i="1">
                                      <a:solidFill>
                                        <a:srgbClr val="E44860"/>
                                      </a:solidFill>
                                      <a:latin typeface="Cambria Math" panose="02040503050406030204" pitchFamily="18" charset="0"/>
                                      <a:ea typeface="Cambria Math" panose="02040503050406030204" pitchFamily="18" charset="0"/>
                                    </a:rPr>
                                    <m:t>𝑠</m:t>
                                  </m:r>
                                </m:e>
                                <m:sup>
                                  <m:r>
                                    <a:rPr lang="en-US" altLang="zh-CN" sz="2800" i="1">
                                      <a:solidFill>
                                        <a:srgbClr val="E44860"/>
                                      </a:solidFill>
                                      <a:latin typeface="Cambria Math" panose="02040503050406030204" pitchFamily="18" charset="0"/>
                                      <a:ea typeface="Cambria Math" panose="02040503050406030204" pitchFamily="18" charset="0"/>
                                    </a:rPr>
                                    <m:t>2</m:t>
                                  </m:r>
                                </m:sup>
                              </m:sSup>
                            </m:e>
                            <m:e>
                              <m:r>
                                <a:rPr lang="en-US" altLang="zh-CN" sz="2800" i="1">
                                  <a:latin typeface="Cambria Math" panose="02040503050406030204" pitchFamily="18" charset="0"/>
                                  <a:ea typeface="Cambria Math" panose="02040503050406030204" pitchFamily="18" charset="0"/>
                                </a:rPr>
                                <m:t>5</m:t>
                              </m:r>
                            </m:e>
                            <m:e>
                              <m:r>
                                <a:rPr lang="en-US" altLang="zh-CN" sz="2800" i="1">
                                  <a:latin typeface="Cambria Math" panose="02040503050406030204" pitchFamily="18" charset="0"/>
                                  <a:ea typeface="Cambria Math" panose="02040503050406030204" pitchFamily="18" charset="0"/>
                                </a:rPr>
                                <m:t>25</m:t>
                              </m:r>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1</m:t>
                                  </m:r>
                                </m:sup>
                              </m:sSup>
                            </m:e>
                            <m:e>
                              <m:r>
                                <a:rPr lang="en-US" altLang="zh-CN" sz="2800" i="1">
                                  <a:highlight>
                                    <a:srgbClr val="F6973B"/>
                                  </a:highlight>
                                  <a:latin typeface="Cambria Math" panose="02040503050406030204" pitchFamily="18" charset="0"/>
                                  <a:ea typeface="Cambria Math" panose="02040503050406030204" pitchFamily="18" charset="0"/>
                                </a:rPr>
                                <m:t>10</m:t>
                              </m:r>
                            </m:e>
                            <m:e>
                              <m:r>
                                <a:rPr lang="en-US" altLang="zh-CN" sz="2800" i="1">
                                  <a:highlight>
                                    <a:srgbClr val="F6973B"/>
                                  </a:highlight>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25</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1467164" y="2000851"/>
                  <a:ext cx="3924070" cy="4252446"/>
                </a:xfrm>
                <a:prstGeom prst="rect">
                  <a:avLst/>
                </a:prstGeom>
                <a:blipFill>
                  <a:blip r:embed="rId3"/>
                  <a:stretch>
                    <a:fillRect b="-4179"/>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38BFDB9F-D9C7-7610-CE7B-F6AF1402F368}"/>
                </a:ext>
              </a:extLst>
            </p:cNvPr>
            <p:cNvCxnSpPr>
              <a:cxnSpLocks/>
            </p:cNvCxnSpPr>
            <p:nvPr/>
          </p:nvCxnSpPr>
          <p:spPr>
            <a:xfrm flipV="1">
              <a:off x="3105163" y="2361095"/>
              <a:ext cx="720080" cy="453401"/>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7BC9030-E170-249F-A6DC-DF0FB23BA6F8}"/>
                </a:ext>
              </a:extLst>
            </p:cNvPr>
            <p:cNvCxnSpPr>
              <a:cxnSpLocks/>
            </p:cNvCxnSpPr>
            <p:nvPr/>
          </p:nvCxnSpPr>
          <p:spPr>
            <a:xfrm>
              <a:off x="3105163" y="2370281"/>
              <a:ext cx="648072"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DE935EC7-B216-7E03-8EA3-2951BB3C09B4}"/>
                </a:ext>
              </a:extLst>
            </p:cNvPr>
            <p:cNvCxnSpPr>
              <a:cxnSpLocks/>
            </p:cNvCxnSpPr>
            <p:nvPr/>
          </p:nvCxnSpPr>
          <p:spPr>
            <a:xfrm flipV="1">
              <a:off x="3105163" y="2370281"/>
              <a:ext cx="1179040" cy="444215"/>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DACC113B-4219-6F05-5CB3-F0336D535BBC}"/>
                </a:ext>
              </a:extLst>
            </p:cNvPr>
            <p:cNvCxnSpPr>
              <a:cxnSpLocks/>
            </p:cNvCxnSpPr>
            <p:nvPr/>
          </p:nvCxnSpPr>
          <p:spPr>
            <a:xfrm>
              <a:off x="3105163" y="2361095"/>
              <a:ext cx="1179040" cy="453317"/>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773FEEDC-ABA5-9720-3234-8E8878E5F2B7}"/>
              </a:ext>
            </a:extLst>
          </p:cNvPr>
          <p:cNvGrpSpPr/>
          <p:nvPr/>
        </p:nvGrpSpPr>
        <p:grpSpPr>
          <a:xfrm>
            <a:off x="5960066" y="1512369"/>
            <a:ext cx="5428434" cy="2674276"/>
            <a:chOff x="5960066" y="1512369"/>
            <a:chExt cx="5428434" cy="2674276"/>
          </a:xfrm>
        </p:grpSpPr>
        <p:sp>
          <p:nvSpPr>
            <p:cNvPr id="18" name="文本框 17">
              <a:extLst>
                <a:ext uri="{FF2B5EF4-FFF2-40B4-BE49-F238E27FC236}">
                  <a16:creationId xmlns:a16="http://schemas.microsoft.com/office/drawing/2014/main" id="{A8343977-89B5-350B-2021-46AF688F15CB}"/>
                </a:ext>
              </a:extLst>
            </p:cNvPr>
            <p:cNvSpPr txBox="1"/>
            <p:nvPr/>
          </p:nvSpPr>
          <p:spPr>
            <a:xfrm>
              <a:off x="6005904" y="1512369"/>
              <a:ext cx="2537573" cy="578882"/>
            </a:xfrm>
            <a:prstGeom prst="flowChartAlternateProcess">
              <a:avLst/>
            </a:prstGeom>
            <a:solidFill>
              <a:srgbClr val="E44860"/>
            </a:solidFill>
            <a:ln>
              <a:noFill/>
              <a:prstDash val="sysDot"/>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b="1" dirty="0">
                  <a:solidFill>
                    <a:schemeClr val="bg2"/>
                  </a:solidFill>
                </a:rPr>
                <a:t>出现全零行时：</a:t>
              </a:r>
            </a:p>
          </p:txBody>
        </p:sp>
        <p:sp>
          <p:nvSpPr>
            <p:cNvPr id="20" name="文本框 19">
              <a:extLst>
                <a:ext uri="{FF2B5EF4-FFF2-40B4-BE49-F238E27FC236}">
                  <a16:creationId xmlns:a16="http://schemas.microsoft.com/office/drawing/2014/main" id="{CEEAA354-03EE-080C-6905-8870DA326F4F}"/>
                </a:ext>
              </a:extLst>
            </p:cNvPr>
            <p:cNvSpPr txBox="1"/>
            <p:nvPr/>
          </p:nvSpPr>
          <p:spPr>
            <a:xfrm>
              <a:off x="5960066" y="2177584"/>
              <a:ext cx="5428434"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chemeClr val="accent1"/>
                  </a:solidFill>
                </a:rPr>
                <a:t>用上一行元素组成辅助方程，将其对 </a:t>
              </a:r>
              <a:r>
                <a:rPr kumimoji="1" lang="en" altLang="zh-CN" sz="2800" dirty="0">
                  <a:solidFill>
                    <a:schemeClr val="accent1"/>
                  </a:solidFill>
                </a:rPr>
                <a:t>s </a:t>
              </a:r>
              <a:r>
                <a:rPr kumimoji="1" lang="zh-CN" altLang="en-US" sz="2800" dirty="0">
                  <a:solidFill>
                    <a:schemeClr val="accent1"/>
                  </a:solidFill>
                </a:rPr>
                <a:t>求导 一次，用新方程的系数代替全零行系数，之后继续运算。</a:t>
              </a:r>
            </a:p>
          </p:txBody>
        </p:sp>
      </p:grpSp>
      <p:sp>
        <p:nvSpPr>
          <p:cNvPr id="22" name="文本框 21">
            <a:extLst>
              <a:ext uri="{FF2B5EF4-FFF2-40B4-BE49-F238E27FC236}">
                <a16:creationId xmlns:a16="http://schemas.microsoft.com/office/drawing/2014/main" id="{0E5F87F5-C49A-91E0-5294-486CE1A966FE}"/>
              </a:ext>
            </a:extLst>
          </p:cNvPr>
          <p:cNvSpPr txBox="1"/>
          <p:nvPr/>
        </p:nvSpPr>
        <p:spPr>
          <a:xfrm>
            <a:off x="3143027" y="3217338"/>
            <a:ext cx="2088232" cy="523220"/>
          </a:xfrm>
          <a:prstGeom prst="rect">
            <a:avLst/>
          </a:prstGeom>
          <a:noFill/>
        </p:spPr>
        <p:txBody>
          <a:bodyPr wrap="square">
            <a:spAutoFit/>
          </a:bodyPr>
          <a:lstStyle/>
          <a:p>
            <a:r>
              <a:rPr lang="zh-CN" altLang="en-US" sz="2800" dirty="0"/>
              <a:t>列辅助方程：</a:t>
            </a:r>
          </a:p>
        </p:txBody>
      </p:sp>
      <p:grpSp>
        <p:nvGrpSpPr>
          <p:cNvPr id="4" name="组合 3">
            <a:extLst>
              <a:ext uri="{FF2B5EF4-FFF2-40B4-BE49-F238E27FC236}">
                <a16:creationId xmlns:a16="http://schemas.microsoft.com/office/drawing/2014/main" id="{512FA19A-380B-4C1E-EFC2-420AD75A90D0}"/>
              </a:ext>
            </a:extLst>
          </p:cNvPr>
          <p:cNvGrpSpPr/>
          <p:nvPr/>
        </p:nvGrpSpPr>
        <p:grpSpPr>
          <a:xfrm>
            <a:off x="3200482" y="4132125"/>
            <a:ext cx="3920092" cy="523285"/>
            <a:chOff x="3200482" y="4132125"/>
            <a:chExt cx="3920092" cy="523285"/>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D9266DB-35AC-2DF0-FAA8-E837FD9C96C1}"/>
                    </a:ext>
                  </a:extLst>
                </p:cNvPr>
                <p:cNvSpPr txBox="1"/>
                <p:nvPr/>
              </p:nvSpPr>
              <p:spPr>
                <a:xfrm>
                  <a:off x="4320414" y="4132125"/>
                  <a:ext cx="2800160"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5</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+25=0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34" name="文本框 33">
                  <a:extLst>
                    <a:ext uri="{FF2B5EF4-FFF2-40B4-BE49-F238E27FC236}">
                      <a16:creationId xmlns:a16="http://schemas.microsoft.com/office/drawing/2014/main" id="{ED9266DB-35AC-2DF0-FAA8-E837FD9C96C1}"/>
                    </a:ext>
                  </a:extLst>
                </p:cNvPr>
                <p:cNvSpPr txBox="1">
                  <a:spLocks noRot="1" noChangeAspect="1" noMove="1" noResize="1" noEditPoints="1" noAdjustHandles="1" noChangeArrowheads="1" noChangeShapeType="1" noTextEdit="1"/>
                </p:cNvSpPr>
                <p:nvPr/>
              </p:nvSpPr>
              <p:spPr>
                <a:xfrm>
                  <a:off x="4320414" y="4132125"/>
                  <a:ext cx="2800160" cy="523285"/>
                </a:xfrm>
                <a:prstGeom prst="rect">
                  <a:avLst/>
                </a:prstGeom>
                <a:blipFill>
                  <a:blip r:embed="rId4"/>
                  <a:stretch>
                    <a:fillRect/>
                  </a:stretch>
                </a:blipFill>
              </p:spPr>
              <p:txBody>
                <a:bodyPr/>
                <a:lstStyle/>
                <a:p>
                  <a:r>
                    <a:rPr lang="zh-CN" altLang="en-US">
                      <a:noFill/>
                    </a:rPr>
                    <a:t> </a:t>
                  </a:r>
                </a:p>
              </p:txBody>
            </p:sp>
          </mc:Fallback>
        </mc:AlternateContent>
        <p:sp>
          <p:nvSpPr>
            <p:cNvPr id="2" name="右箭头 1">
              <a:extLst>
                <a:ext uri="{FF2B5EF4-FFF2-40B4-BE49-F238E27FC236}">
                  <a16:creationId xmlns:a16="http://schemas.microsoft.com/office/drawing/2014/main" id="{DE6DA737-8616-1925-F8C8-285E57482196}"/>
                </a:ext>
              </a:extLst>
            </p:cNvPr>
            <p:cNvSpPr/>
            <p:nvPr/>
          </p:nvSpPr>
          <p:spPr>
            <a:xfrm rot="320762">
              <a:off x="3200482" y="4222483"/>
              <a:ext cx="1187766" cy="203491"/>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p:sp>
        <p:nvSpPr>
          <p:cNvPr id="26" name="右箭头 25">
            <a:extLst>
              <a:ext uri="{FF2B5EF4-FFF2-40B4-BE49-F238E27FC236}">
                <a16:creationId xmlns:a16="http://schemas.microsoft.com/office/drawing/2014/main" id="{C7615EA6-AE5D-4CA9-800A-E2F8BA1BBFFB}"/>
              </a:ext>
            </a:extLst>
          </p:cNvPr>
          <p:cNvSpPr/>
          <p:nvPr/>
        </p:nvSpPr>
        <p:spPr>
          <a:xfrm rot="5400000">
            <a:off x="5905997" y="4747130"/>
            <a:ext cx="380004" cy="180187"/>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p:nvGrpSpPr>
          <p:cNvPr id="5" name="组合 4">
            <a:extLst>
              <a:ext uri="{FF2B5EF4-FFF2-40B4-BE49-F238E27FC236}">
                <a16:creationId xmlns:a16="http://schemas.microsoft.com/office/drawing/2014/main" id="{8DA075A1-E486-4499-B7B1-97DF1ED5C942}"/>
              </a:ext>
            </a:extLst>
          </p:cNvPr>
          <p:cNvGrpSpPr/>
          <p:nvPr/>
        </p:nvGrpSpPr>
        <p:grpSpPr>
          <a:xfrm>
            <a:off x="3280334" y="4852679"/>
            <a:ext cx="5588954" cy="910762"/>
            <a:chOff x="3280334" y="4852679"/>
            <a:chExt cx="5588954" cy="910762"/>
          </a:xfrm>
        </p:grpSpPr>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D4957B8-8481-9C5E-0764-99E44E2FE9DF}"/>
                    </a:ext>
                  </a:extLst>
                </p:cNvPr>
                <p:cNvSpPr txBox="1"/>
                <p:nvPr/>
              </p:nvSpPr>
              <p:spPr>
                <a:xfrm>
                  <a:off x="4263422" y="4852679"/>
                  <a:ext cx="4605866" cy="9107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m:rPr>
                                <m:sty m:val="p"/>
                              </m:rPr>
                              <a:rPr lang="en-US" altLang="zh-CN" sz="2800">
                                <a:latin typeface="Cambria Math" panose="02040503050406030204" pitchFamily="18" charset="0"/>
                                <a:ea typeface="Cambria Math" panose="02040503050406030204" pitchFamily="18" charset="0"/>
                              </a:rPr>
                              <m:t>d</m:t>
                            </m:r>
                          </m:num>
                          <m:den>
                            <m:r>
                              <m:rPr>
                                <m:sty m:val="p"/>
                              </m:rPr>
                              <a:rPr lang="en-US" altLang="zh-CN" sz="2800">
                                <a:latin typeface="Cambria Math" panose="02040503050406030204" pitchFamily="18" charset="0"/>
                                <a:ea typeface="Cambria Math" panose="02040503050406030204" pitchFamily="18" charset="0"/>
                              </a:rPr>
                              <m:t>d</m:t>
                            </m:r>
                            <m:r>
                              <a:rPr lang="en-US" altLang="zh-CN" sz="2800" i="1">
                                <a:latin typeface="Cambria Math" panose="02040503050406030204" pitchFamily="18" charset="0"/>
                                <a:ea typeface="Cambria Math" panose="02040503050406030204" pitchFamily="18" charset="0"/>
                              </a:rPr>
                              <m:t>𝑠</m:t>
                            </m:r>
                          </m:den>
                        </m:f>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5</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+25</m:t>
                            </m:r>
                          </m:e>
                        </m:d>
                        <m:r>
                          <a:rPr lang="en-US" altLang="zh-CN" sz="2800" i="1">
                            <a:latin typeface="Cambria Math" panose="02040503050406030204" pitchFamily="18" charset="0"/>
                            <a:ea typeface="Cambria Math" panose="02040503050406030204" pitchFamily="18" charset="0"/>
                          </a:rPr>
                          <m:t>=10</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+0</m:t>
                        </m:r>
                      </m:oMath>
                    </m:oMathPara>
                  </a14:m>
                  <a:br>
                    <a:rPr lang="en-US" altLang="zh-CN" sz="2800" i="1" dirty="0">
                      <a:latin typeface="Cambria Math" panose="02040503050406030204" pitchFamily="18" charset="0"/>
                      <a:ea typeface="Cambria Math" panose="02040503050406030204" pitchFamily="18" charset="0"/>
                    </a:rPr>
                  </a:br>
                  <a:endParaRPr lang="zh-CN" altLang="en-US" sz="2800" dirty="0"/>
                </a:p>
              </p:txBody>
            </p:sp>
          </mc:Choice>
          <mc:Fallback xmlns="">
            <p:sp>
              <p:nvSpPr>
                <p:cNvPr id="17" name="文本框 16">
                  <a:extLst>
                    <a:ext uri="{FF2B5EF4-FFF2-40B4-BE49-F238E27FC236}">
                      <a16:creationId xmlns:a16="http://schemas.microsoft.com/office/drawing/2014/main" id="{8D4957B8-8481-9C5E-0764-99E44E2FE9DF}"/>
                    </a:ext>
                  </a:extLst>
                </p:cNvPr>
                <p:cNvSpPr txBox="1">
                  <a:spLocks noRot="1" noChangeAspect="1" noMove="1" noResize="1" noEditPoints="1" noAdjustHandles="1" noChangeArrowheads="1" noChangeShapeType="1" noTextEdit="1"/>
                </p:cNvSpPr>
                <p:nvPr/>
              </p:nvSpPr>
              <p:spPr>
                <a:xfrm>
                  <a:off x="4263422" y="4852679"/>
                  <a:ext cx="4605866" cy="910762"/>
                </a:xfrm>
                <a:prstGeom prst="rect">
                  <a:avLst/>
                </a:prstGeom>
                <a:blipFill>
                  <a:blip r:embed="rId5"/>
                  <a:stretch>
                    <a:fillRect b="-8333"/>
                  </a:stretch>
                </a:blipFill>
              </p:spPr>
              <p:txBody>
                <a:bodyPr/>
                <a:lstStyle/>
                <a:p>
                  <a:r>
                    <a:rPr lang="zh-CN" altLang="en-US">
                      <a:noFill/>
                    </a:rPr>
                    <a:t> </a:t>
                  </a:r>
                </a:p>
              </p:txBody>
            </p:sp>
          </mc:Fallback>
        </mc:AlternateContent>
        <p:sp>
          <p:nvSpPr>
            <p:cNvPr id="27" name="右箭头 26">
              <a:extLst>
                <a:ext uri="{FF2B5EF4-FFF2-40B4-BE49-F238E27FC236}">
                  <a16:creationId xmlns:a16="http://schemas.microsoft.com/office/drawing/2014/main" id="{E7CC784D-4824-A331-0EE3-17FDFF294471}"/>
                </a:ext>
              </a:extLst>
            </p:cNvPr>
            <p:cNvSpPr/>
            <p:nvPr/>
          </p:nvSpPr>
          <p:spPr>
            <a:xfrm rot="11087753">
              <a:off x="3280334" y="5045683"/>
              <a:ext cx="1187766" cy="203491"/>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FE1C399-1720-7B5C-E457-6992E72A2E82}"/>
                  </a:ext>
                </a:extLst>
              </p:cNvPr>
              <p:cNvSpPr txBox="1"/>
              <p:nvPr/>
            </p:nvSpPr>
            <p:spPr>
              <a:xfrm>
                <a:off x="1668041" y="1015888"/>
                <a:ext cx="9034235" cy="5281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+3</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+12</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+20</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+35</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+25=0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8" name="文本框 27">
                <a:extLst>
                  <a:ext uri="{FF2B5EF4-FFF2-40B4-BE49-F238E27FC236}">
                    <a16:creationId xmlns:a16="http://schemas.microsoft.com/office/drawing/2014/main" id="{8FE1C399-1720-7B5C-E457-6992E72A2E82}"/>
                  </a:ext>
                </a:extLst>
              </p:cNvPr>
              <p:cNvSpPr txBox="1">
                <a:spLocks noRot="1" noChangeAspect="1" noMove="1" noResize="1" noEditPoints="1" noAdjustHandles="1" noChangeArrowheads="1" noChangeShapeType="1" noTextEdit="1"/>
              </p:cNvSpPr>
              <p:nvPr/>
            </p:nvSpPr>
            <p:spPr>
              <a:xfrm>
                <a:off x="1668041" y="1015888"/>
                <a:ext cx="9034235" cy="528158"/>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036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down)">
                                      <p:cBhvr>
                                        <p:cTn id="23" dur="500"/>
                                        <p:tgtEl>
                                          <p:spTgt spid="22"/>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up)">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4" grpId="0"/>
      <p:bldP spid="22" grpId="0"/>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06574" y="30805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FE1C399-1720-7B5C-E457-6992E72A2E82}"/>
                  </a:ext>
                </a:extLst>
              </p:cNvPr>
              <p:cNvSpPr txBox="1"/>
              <p:nvPr/>
            </p:nvSpPr>
            <p:spPr>
              <a:xfrm>
                <a:off x="4654550" y="822203"/>
                <a:ext cx="7594373" cy="5281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+3</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+12</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r>
                        <a:rPr lang="en-US" altLang="zh-CN" sz="2800" i="1">
                          <a:latin typeface="Cambria Math" panose="02040503050406030204" pitchFamily="18" charset="0"/>
                          <a:ea typeface="Cambria Math" panose="02040503050406030204" pitchFamily="18" charset="0"/>
                        </a:rPr>
                        <m:t>+20</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+35</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+25=0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8" name="文本框 27">
                <a:extLst>
                  <a:ext uri="{FF2B5EF4-FFF2-40B4-BE49-F238E27FC236}">
                    <a16:creationId xmlns:a16="http://schemas.microsoft.com/office/drawing/2014/main" id="{8FE1C399-1720-7B5C-E457-6992E72A2E82}"/>
                  </a:ext>
                </a:extLst>
              </p:cNvPr>
              <p:cNvSpPr txBox="1">
                <a:spLocks noRot="1" noChangeAspect="1" noMove="1" noResize="1" noEditPoints="1" noAdjustHandles="1" noChangeArrowheads="1" noChangeShapeType="1" noTextEdit="1"/>
              </p:cNvSpPr>
              <p:nvPr/>
            </p:nvSpPr>
            <p:spPr>
              <a:xfrm>
                <a:off x="4654550" y="822203"/>
                <a:ext cx="7594373" cy="528158"/>
              </a:xfrm>
              <a:prstGeom prst="rect">
                <a:avLst/>
              </a:prstGeom>
              <a:blipFill>
                <a:blip r:embed="rId3"/>
                <a:stretch>
                  <a:fillRect/>
                </a:stretch>
              </a:blipFill>
            </p:spPr>
            <p:txBody>
              <a:bodyPr/>
              <a:lstStyle/>
              <a:p>
                <a:r>
                  <a:rPr lang="zh-CN" altLang="en-US">
                    <a:noFill/>
                  </a:rPr>
                  <a:t> </a:t>
                </a:r>
              </a:p>
            </p:txBody>
          </p:sp>
        </mc:Fallback>
      </mc:AlternateContent>
      <p:grpSp>
        <p:nvGrpSpPr>
          <p:cNvPr id="19" name="代码框">
            <a:extLst>
              <a:ext uri="{FF2B5EF4-FFF2-40B4-BE49-F238E27FC236}">
                <a16:creationId xmlns:a16="http://schemas.microsoft.com/office/drawing/2014/main" id="{C624B107-F76E-531C-B421-8A37F52A2133}"/>
              </a:ext>
            </a:extLst>
          </p:cNvPr>
          <p:cNvGrpSpPr/>
          <p:nvPr/>
        </p:nvGrpSpPr>
        <p:grpSpPr>
          <a:xfrm>
            <a:off x="344175" y="990527"/>
            <a:ext cx="9279424" cy="2438473"/>
            <a:chOff x="2515563" y="3741795"/>
            <a:chExt cx="9279424" cy="2438473"/>
          </a:xfrm>
        </p:grpSpPr>
        <p:sp>
          <p:nvSpPr>
            <p:cNvPr id="23" name="代码">
              <a:extLst>
                <a:ext uri="{FF2B5EF4-FFF2-40B4-BE49-F238E27FC236}">
                  <a16:creationId xmlns:a16="http://schemas.microsoft.com/office/drawing/2014/main" id="{5340CB5F-9D8A-65D1-33B9-80539EE2DF3F}"/>
                </a:ext>
              </a:extLst>
            </p:cNvPr>
            <p:cNvSpPr txBox="1"/>
            <p:nvPr/>
          </p:nvSpPr>
          <p:spPr>
            <a:xfrm>
              <a:off x="2515563" y="4101629"/>
              <a:ext cx="9279424" cy="2078639"/>
            </a:xfrm>
            <a:prstGeom prst="flowChartAlternateProcess">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a:latin typeface="Menlo" panose="020B0609030804020204" pitchFamily="49" charset="0"/>
                </a:rPr>
                <a:t>p = ([1,3,12,20,35,25]);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多项式系数</a:t>
              </a:r>
            </a:p>
            <a:p>
              <a:r>
                <a:rPr lang="en" altLang="zh-CN" sz="2800" dirty="0">
                  <a:latin typeface="Menlo" panose="020B0609030804020204" pitchFamily="49" charset="0"/>
                </a:rPr>
                <a:t>roots(p)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多项式求根</a:t>
              </a:r>
            </a:p>
            <a:p>
              <a:r>
                <a:rPr lang="en" altLang="zh-CN" sz="2800" dirty="0">
                  <a:latin typeface="Menlo" panose="020B0609030804020204" pitchFamily="49" charset="0"/>
                </a:rPr>
                <a:t>G = </a:t>
              </a:r>
              <a:r>
                <a:rPr lang="en" altLang="zh-CN" sz="2800" dirty="0" err="1">
                  <a:latin typeface="Menlo" panose="020B0609030804020204" pitchFamily="49" charset="0"/>
                </a:rPr>
                <a:t>tf</a:t>
              </a:r>
              <a:r>
                <a:rPr lang="en" altLang="zh-CN" sz="2800" dirty="0">
                  <a:latin typeface="Menlo" panose="020B0609030804020204" pitchFamily="49" charset="0"/>
                </a:rPr>
                <a:t>(1,p);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建立传递函数</a:t>
              </a:r>
            </a:p>
            <a:p>
              <a:r>
                <a:rPr lang="en" altLang="zh-CN" sz="2800" dirty="0">
                  <a:latin typeface="Menlo" panose="020B0609030804020204" pitchFamily="49" charset="0"/>
                </a:rPr>
                <a:t>step(G,20)              	</a:t>
              </a:r>
              <a:r>
                <a:rPr lang="en" altLang="zh-CN" sz="2800" dirty="0">
                  <a:solidFill>
                    <a:srgbClr val="159F84"/>
                  </a:solidFill>
                  <a:latin typeface="Menlo" panose="020B0609030804020204" pitchFamily="49" charset="0"/>
                </a:rPr>
                <a:t>% 10</a:t>
              </a:r>
              <a:r>
                <a:rPr lang="zh-CN" altLang="en-US" sz="2800" dirty="0">
                  <a:solidFill>
                    <a:srgbClr val="159F84"/>
                  </a:solidFill>
                  <a:latin typeface="Menlo" panose="020B0609030804020204" pitchFamily="49" charset="0"/>
                </a:rPr>
                <a:t>秒单位阶跃响应</a:t>
              </a:r>
            </a:p>
          </p:txBody>
        </p:sp>
        <p:sp>
          <p:nvSpPr>
            <p:cNvPr id="25" name="标题">
              <a:extLst>
                <a:ext uri="{FF2B5EF4-FFF2-40B4-BE49-F238E27FC236}">
                  <a16:creationId xmlns:a16="http://schemas.microsoft.com/office/drawing/2014/main" id="{014C449D-FFE2-5447-71C4-344FA18CD481}"/>
                </a:ext>
              </a:extLst>
            </p:cNvPr>
            <p:cNvSpPr/>
            <p:nvPr/>
          </p:nvSpPr>
          <p:spPr bwMode="auto">
            <a:xfrm>
              <a:off x="2783285" y="3741795"/>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grpSp>
        <p:nvGrpSpPr>
          <p:cNvPr id="29" name="代码框">
            <a:extLst>
              <a:ext uri="{FF2B5EF4-FFF2-40B4-BE49-F238E27FC236}">
                <a16:creationId xmlns:a16="http://schemas.microsoft.com/office/drawing/2014/main" id="{D5C99715-11FA-8DE1-5191-BB2882D609C6}"/>
              </a:ext>
            </a:extLst>
          </p:cNvPr>
          <p:cNvGrpSpPr/>
          <p:nvPr/>
        </p:nvGrpSpPr>
        <p:grpSpPr>
          <a:xfrm>
            <a:off x="344175" y="3573016"/>
            <a:ext cx="4656511" cy="2983303"/>
            <a:chOff x="2515563" y="3741795"/>
            <a:chExt cx="4656511" cy="2983303"/>
          </a:xfrm>
        </p:grpSpPr>
        <p:sp>
          <p:nvSpPr>
            <p:cNvPr id="30" name="代码">
              <a:extLst>
                <a:ext uri="{FF2B5EF4-FFF2-40B4-BE49-F238E27FC236}">
                  <a16:creationId xmlns:a16="http://schemas.microsoft.com/office/drawing/2014/main" id="{A8BD7F24-3B1B-1E3C-2EE3-C7BA237BEDB6}"/>
                </a:ext>
              </a:extLst>
            </p:cNvPr>
            <p:cNvSpPr txBox="1"/>
            <p:nvPr/>
          </p:nvSpPr>
          <p:spPr>
            <a:xfrm>
              <a:off x="2515563" y="4101629"/>
              <a:ext cx="4656511" cy="2623469"/>
            </a:xfrm>
            <a:prstGeom prst="flowChartAlternateProcess">
              <a:avLst/>
            </a:prstGeom>
            <a:noFill/>
            <a:ln>
              <a:solidFill>
                <a:schemeClr val="accent4"/>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400" dirty="0" err="1">
                  <a:latin typeface="Menlo" panose="020B0609030804020204" pitchFamily="49" charset="0"/>
                </a:rPr>
                <a:t>ans</a:t>
              </a:r>
              <a:r>
                <a:rPr lang="en" altLang="zh-CN" sz="2400" dirty="0">
                  <a:latin typeface="Menlo" panose="020B0609030804020204" pitchFamily="49" charset="0"/>
                </a:rPr>
                <a:t> =</a:t>
              </a:r>
            </a:p>
            <a:p>
              <a:r>
                <a:rPr lang="en" altLang="zh-CN" sz="2400" dirty="0">
                  <a:latin typeface="Menlo" panose="020B0609030804020204" pitchFamily="49" charset="0"/>
                </a:rPr>
                <a:t>  -0.0000 + 2.2361i</a:t>
              </a:r>
            </a:p>
            <a:p>
              <a:r>
                <a:rPr lang="en" altLang="zh-CN" sz="2400" dirty="0">
                  <a:latin typeface="Menlo" panose="020B0609030804020204" pitchFamily="49" charset="0"/>
                </a:rPr>
                <a:t>  -0.0000 - 2.2361i</a:t>
              </a:r>
            </a:p>
            <a:p>
              <a:r>
                <a:rPr lang="en" altLang="zh-CN" sz="2400" dirty="0">
                  <a:latin typeface="Menlo" panose="020B0609030804020204" pitchFamily="49" charset="0"/>
                </a:rPr>
                <a:t>  -1.0000 + 2.0000i</a:t>
              </a:r>
            </a:p>
            <a:p>
              <a:r>
                <a:rPr lang="en" altLang="zh-CN" sz="2400" dirty="0">
                  <a:latin typeface="Menlo" panose="020B0609030804020204" pitchFamily="49" charset="0"/>
                </a:rPr>
                <a:t>  -1.0000 - 2.0000i</a:t>
              </a:r>
            </a:p>
            <a:p>
              <a:r>
                <a:rPr lang="en" altLang="zh-CN" sz="2400" dirty="0">
                  <a:latin typeface="Menlo" panose="020B0609030804020204" pitchFamily="49" charset="0"/>
                </a:rPr>
                <a:t>  -1.0000 + 0.0000i</a:t>
              </a:r>
              <a:endParaRPr lang="zh-CN" altLang="en-US" sz="2400" dirty="0">
                <a:latin typeface="Menlo" panose="020B0609030804020204" pitchFamily="49" charset="0"/>
              </a:endParaRPr>
            </a:p>
          </p:txBody>
        </p:sp>
        <p:sp>
          <p:nvSpPr>
            <p:cNvPr id="35" name="标题">
              <a:extLst>
                <a:ext uri="{FF2B5EF4-FFF2-40B4-BE49-F238E27FC236}">
                  <a16:creationId xmlns:a16="http://schemas.microsoft.com/office/drawing/2014/main" id="{D88C62E6-A819-E82E-DDCD-FF380CF09F32}"/>
                </a:ext>
              </a:extLst>
            </p:cNvPr>
            <p:cNvSpPr/>
            <p:nvPr/>
          </p:nvSpPr>
          <p:spPr bwMode="auto">
            <a:xfrm>
              <a:off x="2783285" y="3741795"/>
              <a:ext cx="115212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输出</a:t>
              </a:r>
            </a:p>
          </p:txBody>
        </p:sp>
      </p:grpSp>
      <p:pic>
        <p:nvPicPr>
          <p:cNvPr id="4" name="图片 3">
            <a:extLst>
              <a:ext uri="{FF2B5EF4-FFF2-40B4-BE49-F238E27FC236}">
                <a16:creationId xmlns:a16="http://schemas.microsoft.com/office/drawing/2014/main" id="{B4D3D5EB-CD75-E993-88B9-61057097EF27}"/>
              </a:ext>
            </a:extLst>
          </p:cNvPr>
          <p:cNvPicPr>
            <a:picLocks noChangeAspect="1"/>
          </p:cNvPicPr>
          <p:nvPr/>
        </p:nvPicPr>
        <p:blipFill>
          <a:blip r:embed="rId4"/>
          <a:stretch>
            <a:fillRect/>
          </a:stretch>
        </p:blipFill>
        <p:spPr>
          <a:xfrm>
            <a:off x="6932999" y="3552732"/>
            <a:ext cx="4085452" cy="3064089"/>
          </a:xfrm>
          <a:prstGeom prst="rect">
            <a:avLst/>
          </a:prstGeom>
        </p:spPr>
      </p:pic>
    </p:spTree>
    <p:extLst>
      <p:ext uri="{BB962C8B-B14F-4D97-AF65-F5344CB8AC3E}">
        <p14:creationId xmlns:p14="http://schemas.microsoft.com/office/powerpoint/2010/main" val="2959588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06574" y="352373"/>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B5356D91-4758-AC6F-CE15-A66299202EFC}"/>
              </a:ext>
            </a:extLst>
          </p:cNvPr>
          <p:cNvSpPr txBox="1"/>
          <p:nvPr/>
        </p:nvSpPr>
        <p:spPr>
          <a:xfrm>
            <a:off x="1870541" y="5747171"/>
            <a:ext cx="8545047" cy="523220"/>
          </a:xfrm>
          <a:prstGeom prst="rect">
            <a:avLst/>
          </a:prstGeom>
          <a:noFill/>
        </p:spPr>
        <p:txBody>
          <a:bodyPr wrap="square">
            <a:spAutoFit/>
          </a:bodyPr>
          <a:lstStyle/>
          <a:p>
            <a:r>
              <a:rPr lang="zh-CN" altLang="en-US" sz="2800" dirty="0"/>
              <a:t>第一列元素变号一次，有一个正根，系统不稳定</a:t>
            </a:r>
          </a:p>
        </p:txBody>
      </p:sp>
      <p:grpSp>
        <p:nvGrpSpPr>
          <p:cNvPr id="13" name="组合 12">
            <a:extLst>
              <a:ext uri="{FF2B5EF4-FFF2-40B4-BE49-F238E27FC236}">
                <a16:creationId xmlns:a16="http://schemas.microsoft.com/office/drawing/2014/main" id="{D556D369-6A32-B067-293A-81BBD540AC75}"/>
              </a:ext>
            </a:extLst>
          </p:cNvPr>
          <p:cNvGrpSpPr/>
          <p:nvPr/>
        </p:nvGrpSpPr>
        <p:grpSpPr>
          <a:xfrm>
            <a:off x="262570" y="1196752"/>
            <a:ext cx="3924070" cy="4306051"/>
            <a:chOff x="1467164" y="2000851"/>
            <a:chExt cx="3924070" cy="4306051"/>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1467164" y="2000851"/>
                  <a:ext cx="3924070" cy="43060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a:latin typeface="Cambria Math" panose="02040503050406030204" pitchFamily="18" charset="0"/>
                                <a:ea typeface="Cambria Math" panose="02040503050406030204" pitchFamily="18" charset="0"/>
                              </a:rPr>
                            </m:ctrlPr>
                          </m:mP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m:rPr>
                                      <m:brk m:alnAt="7"/>
                                    </m:rP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0</m:t>
                              </m:r>
                            </m:e>
                            <m:e>
                              <m:r>
                                <a:rPr lang="en-US" altLang="zh-CN" sz="2800" i="1">
                                  <a:latin typeface="Cambria Math" panose="02040503050406030204" pitchFamily="18" charset="0"/>
                                  <a:ea typeface="Cambria Math" panose="02040503050406030204" pitchFamily="18" charset="0"/>
                                </a:rPr>
                                <m:t>−1</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e>
                            <m:e>
                              <m:r>
                                <a:rPr lang="en-US" altLang="zh-CN" sz="2800" i="1">
                                  <a:latin typeface="Cambria Math" panose="02040503050406030204" pitchFamily="18" charset="0"/>
                                  <a:ea typeface="Cambria Math" panose="02040503050406030204" pitchFamily="18" charset="0"/>
                                </a:rPr>
                                <m:t>2</m:t>
                              </m:r>
                            </m:e>
                            <m:e>
                              <m:r>
                                <a:rPr lang="en-US" altLang="zh-CN" sz="2800" i="1">
                                  <a:latin typeface="Cambria Math" panose="02040503050406030204" pitchFamily="18" charset="0"/>
                                  <a:ea typeface="Cambria Math" panose="02040503050406030204" pitchFamily="18" charset="0"/>
                                </a:rPr>
                                <m:t>0</m:t>
                              </m:r>
                            </m:e>
                            <m:e>
                              <m:r>
                                <a:rPr lang="en-US" altLang="zh-CN" sz="2800" i="1">
                                  <a:latin typeface="Cambria Math" panose="02040503050406030204" pitchFamily="18" charset="0"/>
                                  <a:ea typeface="Cambria Math" panose="02040503050406030204" pitchFamily="18" charset="0"/>
                                </a:rPr>
                                <m:t>−2</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E44860"/>
                                      </a:solidFill>
                                      <a:latin typeface="Cambria Math" panose="02040503050406030204" pitchFamily="18" charset="0"/>
                                      <a:ea typeface="Cambria Math" panose="02040503050406030204" pitchFamily="18" charset="0"/>
                                    </a:rPr>
                                  </m:ctrlPr>
                                </m:sSupPr>
                                <m:e>
                                  <m:r>
                                    <a:rPr lang="en-US" altLang="zh-CN" sz="2800" i="1">
                                      <a:solidFill>
                                        <a:srgbClr val="E44860"/>
                                      </a:solidFill>
                                      <a:latin typeface="Cambria Math" panose="02040503050406030204" pitchFamily="18" charset="0"/>
                                      <a:ea typeface="Cambria Math" panose="02040503050406030204" pitchFamily="18" charset="0"/>
                                    </a:rPr>
                                    <m:t>𝑠</m:t>
                                  </m:r>
                                </m:e>
                                <m:sup>
                                  <m:r>
                                    <a:rPr lang="en-US" altLang="zh-CN" sz="2800" i="1">
                                      <a:solidFill>
                                        <a:srgbClr val="E44860"/>
                                      </a:solidFill>
                                      <a:latin typeface="Cambria Math" panose="02040503050406030204" pitchFamily="18" charset="0"/>
                                      <a:ea typeface="Cambria Math" panose="02040503050406030204" pitchFamily="18" charset="0"/>
                                    </a:rPr>
                                    <m:t>3</m:t>
                                  </m:r>
                                </m:sup>
                              </m:sSup>
                            </m:e>
                            <m:e>
                              <m:r>
                                <a:rPr lang="en-US" altLang="zh-CN" sz="2800" i="1">
                                  <a:highlight>
                                    <a:srgbClr val="F6973B"/>
                                  </a:highlight>
                                  <a:latin typeface="Cambria Math" panose="02040503050406030204" pitchFamily="18" charset="0"/>
                                  <a:ea typeface="Cambria Math" panose="02040503050406030204" pitchFamily="18" charset="0"/>
                                </a:rPr>
                                <m:t>8</m:t>
                              </m:r>
                            </m:e>
                            <m:e>
                              <m:r>
                                <a:rPr lang="en-US" altLang="zh-CN" sz="2800" i="1">
                                  <a:highlight>
                                    <a:srgbClr val="F6973B"/>
                                  </a:highlight>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e>
                            <m:e>
                              <m:r>
                                <a:rPr lang="en-US" altLang="zh-CN" sz="2800" i="1">
                                  <a:highlight>
                                    <a:srgbClr val="F6973B"/>
                                  </a:highlight>
                                  <a:latin typeface="Cambria Math" panose="02040503050406030204" pitchFamily="18" charset="0"/>
                                  <a:ea typeface="Cambria Math" panose="02040503050406030204" pitchFamily="18" charset="0"/>
                                </a:rPr>
                                <m:t>𝜖</m:t>
                              </m:r>
                            </m:e>
                            <m:e>
                              <m:r>
                                <a:rPr lang="en-US" altLang="zh-CN" sz="2800" i="1">
                                  <a:latin typeface="Cambria Math" panose="02040503050406030204" pitchFamily="18" charset="0"/>
                                  <a:ea typeface="Cambria Math" panose="02040503050406030204" pitchFamily="18" charset="0"/>
                                </a:rPr>
                                <m:t>−2</m:t>
                              </m:r>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1</m:t>
                                  </m:r>
                                </m:sup>
                              </m:sSup>
                            </m:e>
                            <m:e>
                              <m:r>
                                <a:rPr lang="en-US" altLang="zh-CN" sz="2800" i="1">
                                  <a:latin typeface="Cambria Math" panose="02040503050406030204" pitchFamily="18" charset="0"/>
                                  <a:ea typeface="Cambria Math" panose="02040503050406030204" pitchFamily="18" charset="0"/>
                                </a:rPr>
                                <m:t>16/</m:t>
                              </m:r>
                              <m:r>
                                <a:rPr lang="en-US" altLang="zh-CN" sz="2800" i="1">
                                  <a:latin typeface="Cambria Math" panose="02040503050406030204" pitchFamily="18" charset="0"/>
                                  <a:ea typeface="Cambria Math" panose="02040503050406030204" pitchFamily="18" charset="0"/>
                                </a:rPr>
                                <m:t>𝜖</m:t>
                              </m:r>
                            </m:e>
                            <m:e>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−2</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1467164" y="2000851"/>
                  <a:ext cx="3924070" cy="4306051"/>
                </a:xfrm>
                <a:prstGeom prst="rect">
                  <a:avLst/>
                </a:prstGeom>
                <a:blipFill>
                  <a:blip r:embed="rId3"/>
                  <a:stretch>
                    <a:fillRect b="-3824"/>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38BFDB9F-D9C7-7610-CE7B-F6AF1402F368}"/>
                </a:ext>
              </a:extLst>
            </p:cNvPr>
            <p:cNvCxnSpPr>
              <a:cxnSpLocks/>
            </p:cNvCxnSpPr>
            <p:nvPr/>
          </p:nvCxnSpPr>
          <p:spPr>
            <a:xfrm flipV="1">
              <a:off x="3105163" y="2361095"/>
              <a:ext cx="720080" cy="453401"/>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7BC9030-E170-249F-A6DC-DF0FB23BA6F8}"/>
                </a:ext>
              </a:extLst>
            </p:cNvPr>
            <p:cNvCxnSpPr>
              <a:cxnSpLocks/>
            </p:cNvCxnSpPr>
            <p:nvPr/>
          </p:nvCxnSpPr>
          <p:spPr>
            <a:xfrm>
              <a:off x="3105163" y="2370281"/>
              <a:ext cx="648072" cy="504056"/>
            </a:xfrm>
            <a:prstGeom prst="line">
              <a:avLst/>
            </a:prstGeom>
            <a:ln w="25400">
              <a:solidFill>
                <a:srgbClr val="E448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DE935EC7-B216-7E03-8EA3-2951BB3C09B4}"/>
                </a:ext>
              </a:extLst>
            </p:cNvPr>
            <p:cNvCxnSpPr>
              <a:cxnSpLocks/>
            </p:cNvCxnSpPr>
            <p:nvPr/>
          </p:nvCxnSpPr>
          <p:spPr>
            <a:xfrm flipV="1">
              <a:off x="3105163" y="2361011"/>
              <a:ext cx="1275225" cy="453485"/>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DACC113B-4219-6F05-5CB3-F0336D535BBC}"/>
                </a:ext>
              </a:extLst>
            </p:cNvPr>
            <p:cNvCxnSpPr>
              <a:cxnSpLocks/>
            </p:cNvCxnSpPr>
            <p:nvPr/>
          </p:nvCxnSpPr>
          <p:spPr>
            <a:xfrm>
              <a:off x="3105163" y="2361095"/>
              <a:ext cx="1275225" cy="604318"/>
            </a:xfrm>
            <a:prstGeom prst="line">
              <a:avLst/>
            </a:prstGeom>
            <a:ln w="25400">
              <a:solidFill>
                <a:srgbClr val="169F8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D7EA49FE-EA33-DCFA-1B64-A59D94FA76B5}"/>
              </a:ext>
            </a:extLst>
          </p:cNvPr>
          <p:cNvGrpSpPr/>
          <p:nvPr/>
        </p:nvGrpSpPr>
        <p:grpSpPr>
          <a:xfrm>
            <a:off x="4384850" y="3429000"/>
            <a:ext cx="7687020" cy="2009061"/>
            <a:chOff x="4384850" y="3429000"/>
            <a:chExt cx="7687020" cy="2009061"/>
          </a:xfrm>
        </p:grpSpPr>
        <p:sp>
          <p:nvSpPr>
            <p:cNvPr id="18" name="文本框 17">
              <a:extLst>
                <a:ext uri="{FF2B5EF4-FFF2-40B4-BE49-F238E27FC236}">
                  <a16:creationId xmlns:a16="http://schemas.microsoft.com/office/drawing/2014/main" id="{A8343977-89B5-350B-2021-46AF688F15CB}"/>
                </a:ext>
              </a:extLst>
            </p:cNvPr>
            <p:cNvSpPr txBox="1"/>
            <p:nvPr/>
          </p:nvSpPr>
          <p:spPr>
            <a:xfrm>
              <a:off x="4384850" y="3570162"/>
              <a:ext cx="2430288" cy="578882"/>
            </a:xfrm>
            <a:prstGeom prst="flowChartAlternateProcess">
              <a:avLst/>
            </a:prstGeom>
            <a:solidFill>
              <a:srgbClr val="E44860"/>
            </a:solidFill>
            <a:ln>
              <a:noFill/>
              <a:prstDash val="sysDot"/>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b="1" dirty="0">
                  <a:solidFill>
                    <a:schemeClr val="bg2"/>
                  </a:solidFill>
                </a:rPr>
                <a:t>出现全零行时：</a:t>
              </a:r>
            </a:p>
          </p:txBody>
        </p:sp>
        <p:sp>
          <p:nvSpPr>
            <p:cNvPr id="20" name="文本框 19">
              <a:extLst>
                <a:ext uri="{FF2B5EF4-FFF2-40B4-BE49-F238E27FC236}">
                  <a16:creationId xmlns:a16="http://schemas.microsoft.com/office/drawing/2014/main" id="{CEEAA354-03EE-080C-6905-8870DA326F4F}"/>
                </a:ext>
              </a:extLst>
            </p:cNvPr>
            <p:cNvSpPr txBox="1"/>
            <p:nvPr/>
          </p:nvSpPr>
          <p:spPr>
            <a:xfrm>
              <a:off x="7175326" y="3429000"/>
              <a:ext cx="4896544" cy="2009061"/>
            </a:xfrm>
            <a:prstGeom prst="flowChartAlternateProcess">
              <a:avLst/>
            </a:prstGeom>
            <a:noFill/>
            <a:ln>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CN" altLang="en-US" sz="2800" dirty="0">
                  <a:solidFill>
                    <a:schemeClr val="accent1"/>
                  </a:solidFill>
                </a:rPr>
                <a:t>用上一行元素组成辅助方程，将其对 </a:t>
              </a:r>
              <a:r>
                <a:rPr kumimoji="1" lang="en" altLang="zh-CN" sz="2800" dirty="0">
                  <a:solidFill>
                    <a:schemeClr val="accent1"/>
                  </a:solidFill>
                </a:rPr>
                <a:t>s </a:t>
              </a:r>
              <a:r>
                <a:rPr kumimoji="1" lang="zh-CN" altLang="en-US" sz="2800" dirty="0">
                  <a:solidFill>
                    <a:schemeClr val="accent1"/>
                  </a:solidFill>
                </a:rPr>
                <a:t>求导 一次，用新方程的系数代替全零行系数，之后继续运算。</a:t>
              </a:r>
            </a:p>
          </p:txBody>
        </p:sp>
      </p:grpSp>
      <p:sp>
        <p:nvSpPr>
          <p:cNvPr id="22" name="文本框 21">
            <a:extLst>
              <a:ext uri="{FF2B5EF4-FFF2-40B4-BE49-F238E27FC236}">
                <a16:creationId xmlns:a16="http://schemas.microsoft.com/office/drawing/2014/main" id="{0E5F87F5-C49A-91E0-5294-486CE1A966FE}"/>
              </a:ext>
            </a:extLst>
          </p:cNvPr>
          <p:cNvSpPr txBox="1"/>
          <p:nvPr/>
        </p:nvSpPr>
        <p:spPr>
          <a:xfrm>
            <a:off x="5824639" y="1603227"/>
            <a:ext cx="2088232" cy="523220"/>
          </a:xfrm>
          <a:prstGeom prst="rect">
            <a:avLst/>
          </a:prstGeom>
          <a:noFill/>
        </p:spPr>
        <p:txBody>
          <a:bodyPr wrap="square">
            <a:spAutoFit/>
          </a:bodyPr>
          <a:lstStyle/>
          <a:p>
            <a:r>
              <a:rPr lang="zh-CN" altLang="en-US" sz="2800" dirty="0"/>
              <a:t>列辅助方程：</a:t>
            </a: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DA45C8EC-C24F-352B-12A6-A68D2DF235D2}"/>
                  </a:ext>
                </a:extLst>
              </p:cNvPr>
              <p:cNvSpPr txBox="1"/>
              <p:nvPr/>
            </p:nvSpPr>
            <p:spPr>
              <a:xfrm>
                <a:off x="4583038" y="204135"/>
                <a:ext cx="9034235" cy="959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+2</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−2=0=(</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+2)(</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+1)(</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−1)(</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𝑗</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𝑗</m:t>
                      </m:r>
                      <m:r>
                        <a:rPr lang="en-US" altLang="zh-CN" sz="2800" i="1">
                          <a:solidFill>
                            <a:srgbClr val="E44860"/>
                          </a:solidFill>
                          <a:latin typeface="Cambria Math" panose="02040503050406030204" pitchFamily="18" charset="0"/>
                          <a:ea typeface="Cambria Math" panose="02040503050406030204" pitchFamily="18" charset="0"/>
                        </a:rPr>
                        <m:t>)</m:t>
                      </m:r>
                    </m:oMath>
                  </m:oMathPara>
                </a14:m>
                <a:br>
                  <a:rPr lang="en-US" altLang="zh-CN" sz="2800" i="1" dirty="0">
                    <a:solidFill>
                      <a:srgbClr val="E44860"/>
                    </a:solidFill>
                    <a:latin typeface="Cambria Math" panose="02040503050406030204" pitchFamily="18" charset="0"/>
                    <a:ea typeface="Cambria Math" panose="02040503050406030204" pitchFamily="18" charset="0"/>
                  </a:rPr>
                </a:br>
                <a:endParaRPr lang="zh-CN" altLang="en-US" sz="2800" i="1" dirty="0"/>
              </a:p>
            </p:txBody>
          </p:sp>
        </mc:Choice>
        <mc:Fallback xmlns="">
          <p:sp>
            <p:nvSpPr>
              <p:cNvPr id="36" name="文本框 35">
                <a:extLst>
                  <a:ext uri="{FF2B5EF4-FFF2-40B4-BE49-F238E27FC236}">
                    <a16:creationId xmlns:a16="http://schemas.microsoft.com/office/drawing/2014/main" id="{DA45C8EC-C24F-352B-12A6-A68D2DF235D2}"/>
                  </a:ext>
                </a:extLst>
              </p:cNvPr>
              <p:cNvSpPr txBox="1">
                <a:spLocks noRot="1" noChangeAspect="1" noMove="1" noResize="1" noEditPoints="1" noAdjustHandles="1" noChangeArrowheads="1" noChangeShapeType="1" noTextEdit="1"/>
              </p:cNvSpPr>
              <p:nvPr/>
            </p:nvSpPr>
            <p:spPr>
              <a:xfrm>
                <a:off x="4583038" y="204135"/>
                <a:ext cx="9034235" cy="959045"/>
              </a:xfrm>
              <a:prstGeom prst="rect">
                <a:avLst/>
              </a:prstGeom>
              <a:blipFill>
                <a:blip r:embed="rId6"/>
                <a:stretch>
                  <a:fillRect b="-9091"/>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F5A20FB4-2C2F-4DA4-1AAA-1CEBC3F36CF1}"/>
              </a:ext>
            </a:extLst>
          </p:cNvPr>
          <p:cNvGrpSpPr/>
          <p:nvPr/>
        </p:nvGrpSpPr>
        <p:grpSpPr>
          <a:xfrm>
            <a:off x="4606289" y="2092858"/>
            <a:ext cx="3154704" cy="523285"/>
            <a:chOff x="4606289" y="2092858"/>
            <a:chExt cx="3154704" cy="523285"/>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D9266DB-35AC-2DF0-FAA8-E837FD9C96C1}"/>
                    </a:ext>
                  </a:extLst>
                </p:cNvPr>
                <p:cNvSpPr txBox="1"/>
                <p:nvPr/>
              </p:nvSpPr>
              <p:spPr>
                <a:xfrm>
                  <a:off x="5672761" y="2092858"/>
                  <a:ext cx="2088232" cy="523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2</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−2=0</m:t>
                        </m:r>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34" name="文本框 33">
                  <a:extLst>
                    <a:ext uri="{FF2B5EF4-FFF2-40B4-BE49-F238E27FC236}">
                      <a16:creationId xmlns:a16="http://schemas.microsoft.com/office/drawing/2014/main" id="{ED9266DB-35AC-2DF0-FAA8-E837FD9C96C1}"/>
                    </a:ext>
                  </a:extLst>
                </p:cNvPr>
                <p:cNvSpPr txBox="1">
                  <a:spLocks noRot="1" noChangeAspect="1" noMove="1" noResize="1" noEditPoints="1" noAdjustHandles="1" noChangeArrowheads="1" noChangeShapeType="1" noTextEdit="1"/>
                </p:cNvSpPr>
                <p:nvPr/>
              </p:nvSpPr>
              <p:spPr>
                <a:xfrm>
                  <a:off x="5672761" y="2092858"/>
                  <a:ext cx="2088232" cy="523285"/>
                </a:xfrm>
                <a:prstGeom prst="rect">
                  <a:avLst/>
                </a:prstGeom>
                <a:blipFill>
                  <a:blip r:embed="rId7"/>
                  <a:stretch>
                    <a:fillRect/>
                  </a:stretch>
                </a:blipFill>
              </p:spPr>
              <p:txBody>
                <a:bodyPr/>
                <a:lstStyle/>
                <a:p>
                  <a:r>
                    <a:rPr lang="zh-CN" altLang="en-US">
                      <a:noFill/>
                    </a:rPr>
                    <a:t> </a:t>
                  </a:r>
                </a:p>
              </p:txBody>
            </p:sp>
          </mc:Fallback>
        </mc:AlternateContent>
        <p:sp>
          <p:nvSpPr>
            <p:cNvPr id="39" name="右箭头 38">
              <a:extLst>
                <a:ext uri="{FF2B5EF4-FFF2-40B4-BE49-F238E27FC236}">
                  <a16:creationId xmlns:a16="http://schemas.microsoft.com/office/drawing/2014/main" id="{F8E9F6BA-9BC4-D655-0568-8C2D2267E1EF}"/>
                </a:ext>
              </a:extLst>
            </p:cNvPr>
            <p:cNvSpPr/>
            <p:nvPr/>
          </p:nvSpPr>
          <p:spPr>
            <a:xfrm>
              <a:off x="4606289" y="2212016"/>
              <a:ext cx="1187766" cy="203491"/>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p:sp>
        <p:nvSpPr>
          <p:cNvPr id="40" name="右箭头 39">
            <a:extLst>
              <a:ext uri="{FF2B5EF4-FFF2-40B4-BE49-F238E27FC236}">
                <a16:creationId xmlns:a16="http://schemas.microsoft.com/office/drawing/2014/main" id="{A59FB757-038E-3D0E-9CC3-E85DAC62EA0A}"/>
              </a:ext>
            </a:extLst>
          </p:cNvPr>
          <p:cNvSpPr/>
          <p:nvPr/>
        </p:nvSpPr>
        <p:spPr>
          <a:xfrm rot="5400000">
            <a:off x="6515680" y="2543355"/>
            <a:ext cx="295466" cy="14518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p:nvGrpSpPr>
          <p:cNvPr id="3" name="组合 2">
            <a:extLst>
              <a:ext uri="{FF2B5EF4-FFF2-40B4-BE49-F238E27FC236}">
                <a16:creationId xmlns:a16="http://schemas.microsoft.com/office/drawing/2014/main" id="{2F263031-2CFD-32A3-B353-7BAA1E204574}"/>
              </a:ext>
            </a:extLst>
          </p:cNvPr>
          <p:cNvGrpSpPr/>
          <p:nvPr/>
        </p:nvGrpSpPr>
        <p:grpSpPr>
          <a:xfrm>
            <a:off x="4162214" y="2596893"/>
            <a:ext cx="5049941" cy="910699"/>
            <a:chOff x="4162214" y="2596893"/>
            <a:chExt cx="5049941" cy="910699"/>
          </a:xfrm>
        </p:grpSpPr>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D4957B8-8481-9C5E-0764-99E44E2FE9DF}"/>
                    </a:ext>
                  </a:extLst>
                </p:cNvPr>
                <p:cNvSpPr txBox="1"/>
                <p:nvPr/>
              </p:nvSpPr>
              <p:spPr>
                <a:xfrm>
                  <a:off x="4606289" y="2596893"/>
                  <a:ext cx="4605866"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i="1">
                                <a:latin typeface="Cambria Math" panose="02040503050406030204" pitchFamily="18" charset="0"/>
                                <a:ea typeface="Cambria Math" panose="02040503050406030204" pitchFamily="18" charset="0"/>
                              </a:rPr>
                            </m:ctrlPr>
                          </m:fPr>
                          <m:num>
                            <m:r>
                              <m:rPr>
                                <m:sty m:val="p"/>
                              </m:rPr>
                              <a:rPr lang="en-US" altLang="zh-CN" sz="2800">
                                <a:latin typeface="Cambria Math" panose="02040503050406030204" pitchFamily="18" charset="0"/>
                                <a:ea typeface="Cambria Math" panose="02040503050406030204" pitchFamily="18" charset="0"/>
                              </a:rPr>
                              <m:t>d</m:t>
                            </m:r>
                          </m:num>
                          <m:den>
                            <m:r>
                              <m:rPr>
                                <m:sty m:val="p"/>
                              </m:rPr>
                              <a:rPr lang="en-US" altLang="zh-CN" sz="2800">
                                <a:latin typeface="Cambria Math" panose="02040503050406030204" pitchFamily="18" charset="0"/>
                                <a:ea typeface="Cambria Math" panose="02040503050406030204" pitchFamily="18" charset="0"/>
                              </a:rPr>
                              <m:t>d</m:t>
                            </m:r>
                            <m:r>
                              <a:rPr lang="en-US" altLang="zh-CN" sz="2800" i="1">
                                <a:latin typeface="Cambria Math" panose="02040503050406030204" pitchFamily="18" charset="0"/>
                                <a:ea typeface="Cambria Math" panose="02040503050406030204" pitchFamily="18" charset="0"/>
                              </a:rPr>
                              <m:t>𝑠</m:t>
                            </m:r>
                          </m:den>
                        </m:f>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2</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−2</m:t>
                            </m:r>
                          </m:e>
                        </m:d>
                        <m:r>
                          <a:rPr lang="en-US" altLang="zh-CN" sz="2800" i="1">
                            <a:latin typeface="Cambria Math" panose="02040503050406030204" pitchFamily="18" charset="0"/>
                            <a:ea typeface="Cambria Math" panose="02040503050406030204" pitchFamily="18" charset="0"/>
                          </a:rPr>
                          <m:t>=8</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3</m:t>
                            </m:r>
                          </m:sup>
                        </m:sSup>
                      </m:oMath>
                    </m:oMathPara>
                  </a14:m>
                  <a:endParaRPr lang="zh-CN" altLang="en-US" sz="2800" dirty="0"/>
                </a:p>
              </p:txBody>
            </p:sp>
          </mc:Choice>
          <mc:Fallback xmlns="">
            <p:sp>
              <p:nvSpPr>
                <p:cNvPr id="17" name="文本框 16">
                  <a:extLst>
                    <a:ext uri="{FF2B5EF4-FFF2-40B4-BE49-F238E27FC236}">
                      <a16:creationId xmlns:a16="http://schemas.microsoft.com/office/drawing/2014/main" id="{8D4957B8-8481-9C5E-0764-99E44E2FE9DF}"/>
                    </a:ext>
                  </a:extLst>
                </p:cNvPr>
                <p:cNvSpPr txBox="1">
                  <a:spLocks noRot="1" noChangeAspect="1" noMove="1" noResize="1" noEditPoints="1" noAdjustHandles="1" noChangeArrowheads="1" noChangeShapeType="1" noTextEdit="1"/>
                </p:cNvSpPr>
                <p:nvPr/>
              </p:nvSpPr>
              <p:spPr>
                <a:xfrm>
                  <a:off x="4606289" y="2596893"/>
                  <a:ext cx="4605866" cy="910699"/>
                </a:xfrm>
                <a:prstGeom prst="rect">
                  <a:avLst/>
                </a:prstGeom>
                <a:blipFill>
                  <a:blip r:embed="rId8"/>
                  <a:stretch>
                    <a:fillRect b="-8333"/>
                  </a:stretch>
                </a:blipFill>
              </p:spPr>
              <p:txBody>
                <a:bodyPr/>
                <a:lstStyle/>
                <a:p>
                  <a:r>
                    <a:rPr lang="zh-CN" altLang="en-US">
                      <a:noFill/>
                    </a:rPr>
                    <a:t> </a:t>
                  </a:r>
                </a:p>
              </p:txBody>
            </p:sp>
          </mc:Fallback>
        </mc:AlternateContent>
        <p:sp>
          <p:nvSpPr>
            <p:cNvPr id="41" name="右箭头 40">
              <a:extLst>
                <a:ext uri="{FF2B5EF4-FFF2-40B4-BE49-F238E27FC236}">
                  <a16:creationId xmlns:a16="http://schemas.microsoft.com/office/drawing/2014/main" id="{8443BCEB-FF1C-FB3A-3440-CFA3D2F32E15}"/>
                </a:ext>
              </a:extLst>
            </p:cNvPr>
            <p:cNvSpPr/>
            <p:nvPr/>
          </p:nvSpPr>
          <p:spPr>
            <a:xfrm rot="10800000">
              <a:off x="4162214" y="2930289"/>
              <a:ext cx="1187766" cy="203491"/>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grpSp>
    </p:spTree>
    <p:extLst>
      <p:ext uri="{BB962C8B-B14F-4D97-AF65-F5344CB8AC3E}">
        <p14:creationId xmlns:p14="http://schemas.microsoft.com/office/powerpoint/2010/main" val="816153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down)">
                                      <p:cBhvr>
                                        <p:cTn id="23" dur="500"/>
                                        <p:tgtEl>
                                          <p:spTgt spid="22"/>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up)">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righ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4" grpId="0"/>
      <p:bldP spid="22" grpId="0"/>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06574" y="352373"/>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DA45C8EC-C24F-352B-12A6-A68D2DF235D2}"/>
                  </a:ext>
                </a:extLst>
              </p:cNvPr>
              <p:cNvSpPr txBox="1"/>
              <p:nvPr/>
            </p:nvSpPr>
            <p:spPr>
              <a:xfrm>
                <a:off x="4583038" y="204135"/>
                <a:ext cx="9034235" cy="959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Cambria Math" panose="02040503050406030204" pitchFamily="18" charset="0"/>
                        </a:rPr>
                        <m:t>𝐷</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𝑠</m:t>
                          </m:r>
                        </m:e>
                      </m:d>
                      <m:r>
                        <a:rPr lang="en-US" altLang="zh-CN" sz="2800" i="1">
                          <a:latin typeface="Cambria Math" panose="02040503050406030204" pitchFamily="18" charset="0"/>
                          <a:ea typeface="Cambria Math" panose="02040503050406030204" pitchFamily="18" charset="0"/>
                        </a:rPr>
                        <m:t>=</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5</m:t>
                          </m:r>
                        </m:sup>
                      </m:sSup>
                      <m:r>
                        <a:rPr lang="en-US" altLang="zh-CN" sz="2800" i="1">
                          <a:latin typeface="Cambria Math" panose="02040503050406030204" pitchFamily="18" charset="0"/>
                          <a:ea typeface="Cambria Math" panose="02040503050406030204" pitchFamily="18" charset="0"/>
                        </a:rPr>
                        <m:t>+2</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4</m:t>
                          </m:r>
                        </m:sup>
                      </m:sSup>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−2=0=(</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+2)(</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+1)(</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−1)(</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𝑗</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𝑠</m:t>
                      </m:r>
                      <m:r>
                        <a:rPr lang="en-US" altLang="zh-CN" sz="2800" i="1">
                          <a:solidFill>
                            <a:srgbClr val="E44860"/>
                          </a:solidFill>
                          <a:latin typeface="Cambria Math" panose="02040503050406030204" pitchFamily="18" charset="0"/>
                          <a:ea typeface="Cambria Math" panose="02040503050406030204" pitchFamily="18" charset="0"/>
                        </a:rPr>
                        <m:t>−</m:t>
                      </m:r>
                      <m:r>
                        <a:rPr lang="en-US" altLang="zh-CN" sz="2800" i="1">
                          <a:solidFill>
                            <a:srgbClr val="E44860"/>
                          </a:solidFill>
                          <a:latin typeface="Cambria Math" panose="02040503050406030204" pitchFamily="18" charset="0"/>
                          <a:ea typeface="Cambria Math" panose="02040503050406030204" pitchFamily="18" charset="0"/>
                        </a:rPr>
                        <m:t>𝑗</m:t>
                      </m:r>
                      <m:r>
                        <a:rPr lang="en-US" altLang="zh-CN" sz="2800" i="1">
                          <a:solidFill>
                            <a:srgbClr val="E44860"/>
                          </a:solidFill>
                          <a:latin typeface="Cambria Math" panose="02040503050406030204" pitchFamily="18" charset="0"/>
                          <a:ea typeface="Cambria Math" panose="02040503050406030204" pitchFamily="18" charset="0"/>
                        </a:rPr>
                        <m:t>)</m:t>
                      </m:r>
                    </m:oMath>
                  </m:oMathPara>
                </a14:m>
                <a:br>
                  <a:rPr lang="en-US" altLang="zh-CN" sz="2800" i="1" dirty="0">
                    <a:solidFill>
                      <a:srgbClr val="E44860"/>
                    </a:solidFill>
                    <a:latin typeface="Cambria Math" panose="02040503050406030204" pitchFamily="18" charset="0"/>
                    <a:ea typeface="Cambria Math" panose="02040503050406030204" pitchFamily="18" charset="0"/>
                  </a:rPr>
                </a:br>
                <a:endParaRPr lang="zh-CN" altLang="en-US" sz="2800" i="1" dirty="0"/>
              </a:p>
            </p:txBody>
          </p:sp>
        </mc:Choice>
        <mc:Fallback xmlns="">
          <p:sp>
            <p:nvSpPr>
              <p:cNvPr id="36" name="文本框 35">
                <a:extLst>
                  <a:ext uri="{FF2B5EF4-FFF2-40B4-BE49-F238E27FC236}">
                    <a16:creationId xmlns:a16="http://schemas.microsoft.com/office/drawing/2014/main" id="{DA45C8EC-C24F-352B-12A6-A68D2DF235D2}"/>
                  </a:ext>
                </a:extLst>
              </p:cNvPr>
              <p:cNvSpPr txBox="1">
                <a:spLocks noRot="1" noChangeAspect="1" noMove="1" noResize="1" noEditPoints="1" noAdjustHandles="1" noChangeArrowheads="1" noChangeShapeType="1" noTextEdit="1"/>
              </p:cNvSpPr>
              <p:nvPr/>
            </p:nvSpPr>
            <p:spPr>
              <a:xfrm>
                <a:off x="4583038" y="204135"/>
                <a:ext cx="9034235" cy="959045"/>
              </a:xfrm>
              <a:prstGeom prst="rect">
                <a:avLst/>
              </a:prstGeom>
              <a:blipFill>
                <a:blip r:embed="rId6"/>
                <a:stretch>
                  <a:fillRect b="-9091"/>
                </a:stretch>
              </a:blipFill>
            </p:spPr>
            <p:txBody>
              <a:bodyPr/>
              <a:lstStyle/>
              <a:p>
                <a:r>
                  <a:rPr lang="zh-CN" altLang="en-US">
                    <a:noFill/>
                  </a:rPr>
                  <a:t> </a:t>
                </a:r>
              </a:p>
            </p:txBody>
          </p:sp>
        </mc:Fallback>
      </mc:AlternateContent>
      <p:grpSp>
        <p:nvGrpSpPr>
          <p:cNvPr id="19" name="代码框">
            <a:extLst>
              <a:ext uri="{FF2B5EF4-FFF2-40B4-BE49-F238E27FC236}">
                <a16:creationId xmlns:a16="http://schemas.microsoft.com/office/drawing/2014/main" id="{FB2BAD15-0D3F-A70D-9D50-C7EB28BC6AA3}"/>
              </a:ext>
            </a:extLst>
          </p:cNvPr>
          <p:cNvGrpSpPr/>
          <p:nvPr/>
        </p:nvGrpSpPr>
        <p:grpSpPr>
          <a:xfrm>
            <a:off x="344175" y="990527"/>
            <a:ext cx="9279424" cy="2438473"/>
            <a:chOff x="2515563" y="3741795"/>
            <a:chExt cx="9279424" cy="2438473"/>
          </a:xfrm>
        </p:grpSpPr>
        <p:sp>
          <p:nvSpPr>
            <p:cNvPr id="23" name="代码">
              <a:extLst>
                <a:ext uri="{FF2B5EF4-FFF2-40B4-BE49-F238E27FC236}">
                  <a16:creationId xmlns:a16="http://schemas.microsoft.com/office/drawing/2014/main" id="{C59F0CAF-AAFB-99D8-51E7-261DC1F385A0}"/>
                </a:ext>
              </a:extLst>
            </p:cNvPr>
            <p:cNvSpPr txBox="1"/>
            <p:nvPr/>
          </p:nvSpPr>
          <p:spPr>
            <a:xfrm>
              <a:off x="2515563" y="4101629"/>
              <a:ext cx="9279424" cy="2078639"/>
            </a:xfrm>
            <a:prstGeom prst="flowChartAlternateProcess">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800" dirty="0">
                  <a:latin typeface="Menlo" panose="020B0609030804020204" pitchFamily="49" charset="0"/>
                </a:rPr>
                <a:t>p = ([1,2,0,0,-1,-2]);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多项式系数</a:t>
              </a:r>
            </a:p>
            <a:p>
              <a:r>
                <a:rPr lang="en" altLang="zh-CN" sz="2800" dirty="0">
                  <a:latin typeface="Menlo" panose="020B0609030804020204" pitchFamily="49" charset="0"/>
                </a:rPr>
                <a:t>roots(p)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多项式求根</a:t>
              </a:r>
            </a:p>
            <a:p>
              <a:r>
                <a:rPr lang="en" altLang="zh-CN" sz="2800" dirty="0">
                  <a:latin typeface="Menlo" panose="020B0609030804020204" pitchFamily="49" charset="0"/>
                </a:rPr>
                <a:t>G = </a:t>
              </a:r>
              <a:r>
                <a:rPr lang="en" altLang="zh-CN" sz="2800" dirty="0" err="1">
                  <a:latin typeface="Menlo" panose="020B0609030804020204" pitchFamily="49" charset="0"/>
                </a:rPr>
                <a:t>tf</a:t>
              </a:r>
              <a:r>
                <a:rPr lang="en" altLang="zh-CN" sz="2800" dirty="0">
                  <a:latin typeface="Menlo" panose="020B0609030804020204" pitchFamily="49" charset="0"/>
                </a:rPr>
                <a:t>(1,p);				</a:t>
              </a:r>
              <a:r>
                <a:rPr lang="en" altLang="zh-CN" sz="2800" dirty="0">
                  <a:solidFill>
                    <a:srgbClr val="159F84"/>
                  </a:solidFill>
                  <a:latin typeface="Menlo" panose="020B0609030804020204" pitchFamily="49" charset="0"/>
                </a:rPr>
                <a:t>% </a:t>
              </a:r>
              <a:r>
                <a:rPr lang="zh-CN" altLang="en-US" sz="2800" dirty="0">
                  <a:solidFill>
                    <a:srgbClr val="159F84"/>
                  </a:solidFill>
                  <a:latin typeface="Menlo" panose="020B0609030804020204" pitchFamily="49" charset="0"/>
                </a:rPr>
                <a:t>建立传递函数</a:t>
              </a:r>
            </a:p>
            <a:p>
              <a:r>
                <a:rPr lang="en" altLang="zh-CN" sz="2800" dirty="0">
                  <a:latin typeface="Menlo" panose="020B0609030804020204" pitchFamily="49" charset="0"/>
                </a:rPr>
                <a:t>step(G,5)				</a:t>
              </a:r>
              <a:r>
                <a:rPr lang="en" altLang="zh-CN" sz="2800" dirty="0">
                  <a:solidFill>
                    <a:srgbClr val="159F84"/>
                  </a:solidFill>
                  <a:latin typeface="Menlo" panose="020B0609030804020204" pitchFamily="49" charset="0"/>
                </a:rPr>
                <a:t>% 5</a:t>
              </a:r>
              <a:r>
                <a:rPr lang="zh-CN" altLang="en-US" sz="2800" dirty="0">
                  <a:solidFill>
                    <a:srgbClr val="159F84"/>
                  </a:solidFill>
                  <a:latin typeface="Menlo" panose="020B0609030804020204" pitchFamily="49" charset="0"/>
                </a:rPr>
                <a:t>秒单位阶跃响应</a:t>
              </a:r>
            </a:p>
          </p:txBody>
        </p:sp>
        <p:sp>
          <p:nvSpPr>
            <p:cNvPr id="25" name="标题">
              <a:extLst>
                <a:ext uri="{FF2B5EF4-FFF2-40B4-BE49-F238E27FC236}">
                  <a16:creationId xmlns:a16="http://schemas.microsoft.com/office/drawing/2014/main" id="{B41A5F0D-E4AA-5757-14B5-B61B31129D79}"/>
                </a:ext>
              </a:extLst>
            </p:cNvPr>
            <p:cNvSpPr/>
            <p:nvPr/>
          </p:nvSpPr>
          <p:spPr bwMode="auto">
            <a:xfrm>
              <a:off x="2783285" y="3741795"/>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grpSp>
        <p:nvGrpSpPr>
          <p:cNvPr id="26" name="代码框">
            <a:extLst>
              <a:ext uri="{FF2B5EF4-FFF2-40B4-BE49-F238E27FC236}">
                <a16:creationId xmlns:a16="http://schemas.microsoft.com/office/drawing/2014/main" id="{CF106A57-42DE-2430-8717-9C745E5366CB}"/>
              </a:ext>
            </a:extLst>
          </p:cNvPr>
          <p:cNvGrpSpPr/>
          <p:nvPr/>
        </p:nvGrpSpPr>
        <p:grpSpPr>
          <a:xfrm>
            <a:off x="344175" y="3573016"/>
            <a:ext cx="4656511" cy="2983303"/>
            <a:chOff x="2515563" y="3741795"/>
            <a:chExt cx="4656511" cy="2983303"/>
          </a:xfrm>
        </p:grpSpPr>
        <p:sp>
          <p:nvSpPr>
            <p:cNvPr id="27" name="代码">
              <a:extLst>
                <a:ext uri="{FF2B5EF4-FFF2-40B4-BE49-F238E27FC236}">
                  <a16:creationId xmlns:a16="http://schemas.microsoft.com/office/drawing/2014/main" id="{F2D6F102-9695-47F0-7A20-46908A4E493A}"/>
                </a:ext>
              </a:extLst>
            </p:cNvPr>
            <p:cNvSpPr txBox="1"/>
            <p:nvPr/>
          </p:nvSpPr>
          <p:spPr>
            <a:xfrm>
              <a:off x="2515563" y="4101629"/>
              <a:ext cx="4656511" cy="2623469"/>
            </a:xfrm>
            <a:prstGeom prst="flowChartAlternateProcess">
              <a:avLst/>
            </a:prstGeom>
            <a:noFill/>
            <a:ln>
              <a:solidFill>
                <a:schemeClr val="accent4"/>
              </a:solidFill>
              <a:prstDash val="sysDot"/>
            </a:ln>
          </p:spPr>
          <p:style>
            <a:lnRef idx="2">
              <a:schemeClr val="accent1"/>
            </a:lnRef>
            <a:fillRef idx="1">
              <a:schemeClr val="lt1"/>
            </a:fillRef>
            <a:effectRef idx="0">
              <a:schemeClr val="accent1"/>
            </a:effectRef>
            <a:fontRef idx="minor">
              <a:schemeClr val="dk1"/>
            </a:fontRef>
          </p:style>
          <p:txBody>
            <a:bodyPr wrap="square" tIns="108000" rtlCol="0">
              <a:spAutoFit/>
            </a:bodyPr>
            <a:lstStyle/>
            <a:p>
              <a:r>
                <a:rPr lang="en" altLang="zh-CN" sz="2400" dirty="0" err="1">
                  <a:latin typeface="Menlo" panose="020B0609030804020204" pitchFamily="49" charset="0"/>
                </a:rPr>
                <a:t>ans</a:t>
              </a:r>
              <a:r>
                <a:rPr lang="en" altLang="zh-CN" sz="2400" dirty="0">
                  <a:latin typeface="Menlo" panose="020B0609030804020204" pitchFamily="49" charset="0"/>
                </a:rPr>
                <a:t> =</a:t>
              </a:r>
            </a:p>
            <a:p>
              <a:r>
                <a:rPr lang="en" altLang="zh-CN" sz="2400" dirty="0">
                  <a:latin typeface="Menlo" panose="020B0609030804020204" pitchFamily="49" charset="0"/>
                </a:rPr>
                <a:t>  -2.0000 + 0.0000i</a:t>
              </a:r>
            </a:p>
            <a:p>
              <a:r>
                <a:rPr lang="en" altLang="zh-CN" sz="2400" dirty="0">
                  <a:latin typeface="Menlo" panose="020B0609030804020204" pitchFamily="49" charset="0"/>
                </a:rPr>
                <a:t>   1.0000 + 0.0000i</a:t>
              </a:r>
            </a:p>
            <a:p>
              <a:r>
                <a:rPr lang="en" altLang="zh-CN" sz="2400" dirty="0">
                  <a:latin typeface="Menlo" panose="020B0609030804020204" pitchFamily="49" charset="0"/>
                </a:rPr>
                <a:t>   0.0000 + 1.0000i</a:t>
              </a:r>
            </a:p>
            <a:p>
              <a:r>
                <a:rPr lang="en" altLang="zh-CN" sz="2400" dirty="0">
                  <a:latin typeface="Menlo" panose="020B0609030804020204" pitchFamily="49" charset="0"/>
                </a:rPr>
                <a:t>   0.0000 - 1.0000i</a:t>
              </a:r>
            </a:p>
            <a:p>
              <a:r>
                <a:rPr lang="en" altLang="zh-CN" sz="2400" dirty="0">
                  <a:latin typeface="Menlo" panose="020B0609030804020204" pitchFamily="49" charset="0"/>
                </a:rPr>
                <a:t>  -1.0000 + 0.0000i</a:t>
              </a:r>
              <a:endParaRPr lang="zh-CN" altLang="en-US" sz="2400" dirty="0">
                <a:latin typeface="Menlo" panose="020B0609030804020204" pitchFamily="49" charset="0"/>
              </a:endParaRPr>
            </a:p>
          </p:txBody>
        </p:sp>
        <p:sp>
          <p:nvSpPr>
            <p:cNvPr id="28" name="标题">
              <a:extLst>
                <a:ext uri="{FF2B5EF4-FFF2-40B4-BE49-F238E27FC236}">
                  <a16:creationId xmlns:a16="http://schemas.microsoft.com/office/drawing/2014/main" id="{7C343E5F-F579-B239-6F88-34B31D4C930F}"/>
                </a:ext>
              </a:extLst>
            </p:cNvPr>
            <p:cNvSpPr/>
            <p:nvPr/>
          </p:nvSpPr>
          <p:spPr bwMode="auto">
            <a:xfrm>
              <a:off x="2783285" y="3741795"/>
              <a:ext cx="1152128"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输出</a:t>
              </a:r>
            </a:p>
          </p:txBody>
        </p:sp>
      </p:grpSp>
      <p:pic>
        <p:nvPicPr>
          <p:cNvPr id="2" name="图片 1">
            <a:extLst>
              <a:ext uri="{FF2B5EF4-FFF2-40B4-BE49-F238E27FC236}">
                <a16:creationId xmlns:a16="http://schemas.microsoft.com/office/drawing/2014/main" id="{3DE9C045-6EEE-985B-A723-6D31B82B1FE0}"/>
              </a:ext>
            </a:extLst>
          </p:cNvPr>
          <p:cNvPicPr>
            <a:picLocks noChangeAspect="1"/>
          </p:cNvPicPr>
          <p:nvPr/>
        </p:nvPicPr>
        <p:blipFill>
          <a:blip r:embed="rId7"/>
          <a:stretch>
            <a:fillRect/>
          </a:stretch>
        </p:blipFill>
        <p:spPr>
          <a:xfrm>
            <a:off x="6671270" y="3455843"/>
            <a:ext cx="4248472" cy="3186354"/>
          </a:xfrm>
          <a:prstGeom prst="rect">
            <a:avLst/>
          </a:prstGeom>
        </p:spPr>
      </p:pic>
    </p:spTree>
    <p:extLst>
      <p:ext uri="{BB962C8B-B14F-4D97-AF65-F5344CB8AC3E}">
        <p14:creationId xmlns:p14="http://schemas.microsoft.com/office/powerpoint/2010/main" val="1612547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down)">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60575" y="348252"/>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BE63F0-A580-F668-6E57-A74CAE0744B9}"/>
                  </a:ext>
                </a:extLst>
              </p:cNvPr>
              <p:cNvSpPr txBox="1"/>
              <p:nvPr/>
            </p:nvSpPr>
            <p:spPr>
              <a:xfrm>
                <a:off x="910630" y="4138784"/>
                <a:ext cx="2937290" cy="21150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a:latin typeface="Cambria Math" panose="02040503050406030204" pitchFamily="18" charset="0"/>
                              <a:ea typeface="Cambria Math" panose="02040503050406030204" pitchFamily="18" charset="0"/>
                            </a:rPr>
                          </m:ctrlPr>
                        </m:mP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3</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100</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e>
                          <m:e>
                            <m:r>
                              <a:rPr lang="en-US" altLang="zh-CN" sz="2800" i="1">
                                <a:latin typeface="Cambria Math" panose="02040503050406030204" pitchFamily="18" charset="0"/>
                                <a:ea typeface="Cambria Math" panose="02040503050406030204" pitchFamily="18" charset="0"/>
                              </a:rPr>
                              <m:t>20</m:t>
                            </m:r>
                            <m:r>
                              <a:rPr lang="en-US" altLang="zh-CN" sz="2800" i="1">
                                <a:latin typeface="Cambria Math" panose="02040503050406030204" pitchFamily="18" charset="0"/>
                                <a:ea typeface="Cambria Math" panose="02040503050406030204" pitchFamily="18" charset="0"/>
                              </a:rPr>
                              <m:t>𝜁</m:t>
                            </m:r>
                          </m:e>
                          <m:e>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1</m:t>
                                </m:r>
                              </m:sup>
                            </m:sSup>
                          </m:e>
                          <m:e>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2000</m:t>
                                    </m:r>
                                    <m:r>
                                      <a:rPr lang="en-US" altLang="zh-CN" sz="2800" i="1">
                                        <a:latin typeface="Cambria Math" panose="02040503050406030204" pitchFamily="18" charset="0"/>
                                        <a:ea typeface="Cambria Math" panose="02040503050406030204" pitchFamily="18" charset="0"/>
                                      </a:rPr>
                                      <m:t>𝜁</m:t>
                                    </m:r>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num>
                                  <m:den>
                                    <m:r>
                                      <a:rPr lang="en-US" altLang="zh-CN" sz="2800" i="1">
                                        <a:latin typeface="Cambria Math" panose="02040503050406030204" pitchFamily="18" charset="0"/>
                                        <a:ea typeface="Cambria Math" panose="02040503050406030204" pitchFamily="18" charset="0"/>
                                      </a:rPr>
                                      <m:t>20</m:t>
                                    </m:r>
                                    <m:r>
                                      <a:rPr lang="en-US" altLang="zh-CN" sz="2800" i="1">
                                        <a:latin typeface="Cambria Math" panose="02040503050406030204" pitchFamily="18" charset="0"/>
                                        <a:ea typeface="Cambria Math" panose="02040503050406030204" pitchFamily="18" charset="0"/>
                                      </a:rPr>
                                      <m:t>𝜁</m:t>
                                    </m:r>
                                  </m:den>
                                </m:f>
                              </m:e>
                            </m:box>
                          </m:e>
                          <m:e>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21" name="文本框 20">
                <a:extLst>
                  <a:ext uri="{FF2B5EF4-FFF2-40B4-BE49-F238E27FC236}">
                    <a16:creationId xmlns:a16="http://schemas.microsoft.com/office/drawing/2014/main" id="{5BBE63F0-A580-F668-6E57-A74CAE0744B9}"/>
                  </a:ext>
                </a:extLst>
              </p:cNvPr>
              <p:cNvSpPr txBox="1">
                <a:spLocks noRot="1" noChangeAspect="1" noMove="1" noResize="1" noEditPoints="1" noAdjustHandles="1" noChangeArrowheads="1" noChangeShapeType="1" noTextEdit="1"/>
              </p:cNvSpPr>
              <p:nvPr/>
            </p:nvSpPr>
            <p:spPr>
              <a:xfrm>
                <a:off x="910630" y="4138784"/>
                <a:ext cx="2937290" cy="2115066"/>
              </a:xfrm>
              <a:prstGeom prst="rect">
                <a:avLst/>
              </a:prstGeom>
              <a:blipFill>
                <a:blip r:embed="rId3"/>
                <a:stretch>
                  <a:fillRect t="-12500" r="-45690"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2435AFE-4197-9655-F220-D92986AACD55}"/>
                  </a:ext>
                </a:extLst>
              </p:cNvPr>
              <p:cNvSpPr/>
              <p:nvPr/>
            </p:nvSpPr>
            <p:spPr>
              <a:xfrm>
                <a:off x="7776418" y="476541"/>
                <a:ext cx="2230787" cy="720000"/>
              </a:xfrm>
              <a:prstGeom prst="rect">
                <a:avLst/>
              </a:prstGeom>
              <a:solidFill>
                <a:schemeClr val="accent1">
                  <a:lumMod val="20000"/>
                  <a:lumOff val="80000"/>
                </a:schemeClr>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f>
                      <m:fPr>
                        <m:ctrlPr>
                          <a:rPr lang="en-US" altLang="zh-CN" sz="2800" i="1">
                            <a:solidFill>
                              <a:schemeClr val="tx1"/>
                            </a:solidFill>
                            <a:latin typeface="Cambria Math" panose="02040503050406030204" pitchFamily="18" charset="0"/>
                            <a:ea typeface="Cambria Math" panose="02040503050406030204" pitchFamily="18" charset="0"/>
                          </a:rPr>
                        </m:ctrlPr>
                      </m:fPr>
                      <m:num>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en-US" altLang="zh-CN" sz="2800" i="1">
                                <a:solidFill>
                                  <a:schemeClr val="tx1"/>
                                </a:solidFill>
                                <a:latin typeface="Cambria Math" panose="02040503050406030204" pitchFamily="18" charset="0"/>
                                <a:ea typeface="Cambria Math" panose="02040503050406030204" pitchFamily="18" charset="0"/>
                              </a:rPr>
                              <m:t>𝐾</m:t>
                            </m:r>
                          </m:e>
                          <m:sub>
                            <m:r>
                              <a:rPr lang="en-US" altLang="zh-CN" sz="2800" i="1">
                                <a:solidFill>
                                  <a:schemeClr val="tx1"/>
                                </a:solidFill>
                                <a:latin typeface="Cambria Math" panose="02040503050406030204" pitchFamily="18" charset="0"/>
                                <a:ea typeface="Cambria Math" panose="02040503050406030204" pitchFamily="18" charset="0"/>
                              </a:rPr>
                              <m:t>𝑎</m:t>
                            </m:r>
                          </m:sub>
                        </m:sSub>
                      </m:num>
                      <m:den>
                        <m:r>
                          <a:rPr lang="en-US" altLang="zh-CN" sz="2800" i="1">
                            <a:solidFill>
                              <a:schemeClr val="tx1"/>
                            </a:solidFill>
                            <a:latin typeface="Cambria Math" panose="02040503050406030204" pitchFamily="18" charset="0"/>
                            <a:ea typeface="Cambria Math" panose="02040503050406030204" pitchFamily="18" charset="0"/>
                          </a:rPr>
                          <m:t>𝑠</m:t>
                        </m:r>
                        <m:r>
                          <a:rPr lang="en-US" altLang="zh-CN" sz="2800" i="1">
                            <a:solidFill>
                              <a:schemeClr val="tx1"/>
                            </a:solidFill>
                            <a:latin typeface="Cambria Math" panose="02040503050406030204" pitchFamily="18" charset="0"/>
                            <a:ea typeface="Cambria Math" panose="02040503050406030204" pitchFamily="18" charset="0"/>
                          </a:rPr>
                          <m:t>(</m:t>
                        </m:r>
                        <m:sSup>
                          <m:sSupPr>
                            <m:ctrlPr>
                              <a:rPr lang="en-US" altLang="zh-CN" sz="2800" i="1">
                                <a:solidFill>
                                  <a:schemeClr val="tx1"/>
                                </a:solidFill>
                                <a:latin typeface="Cambria Math" panose="02040503050406030204" pitchFamily="18" charset="0"/>
                                <a:ea typeface="Cambria Math" panose="02040503050406030204" pitchFamily="18" charset="0"/>
                              </a:rPr>
                            </m:ctrlPr>
                          </m:sSupPr>
                          <m:e>
                            <m:r>
                              <a:rPr lang="en-US" altLang="zh-CN" sz="2800" i="1">
                                <a:solidFill>
                                  <a:schemeClr val="tx1"/>
                                </a:solidFill>
                                <a:latin typeface="Cambria Math" panose="02040503050406030204" pitchFamily="18" charset="0"/>
                                <a:ea typeface="Cambria Math" panose="02040503050406030204" pitchFamily="18" charset="0"/>
                              </a:rPr>
                              <m:t>𝑠</m:t>
                            </m:r>
                          </m:e>
                          <m:sup>
                            <m:r>
                              <a:rPr lang="en-US" altLang="zh-CN" sz="2800" i="1">
                                <a:solidFill>
                                  <a:schemeClr val="tx1"/>
                                </a:solidFill>
                                <a:latin typeface="Cambria Math" panose="02040503050406030204" pitchFamily="18" charset="0"/>
                                <a:ea typeface="Cambria Math" panose="02040503050406030204" pitchFamily="18" charset="0"/>
                              </a:rPr>
                              <m:t>2</m:t>
                            </m:r>
                          </m:sup>
                        </m:sSup>
                        <m:r>
                          <a:rPr lang="en-US" altLang="zh-CN" sz="2800" i="1">
                            <a:solidFill>
                              <a:schemeClr val="tx1"/>
                            </a:solidFill>
                            <a:latin typeface="Cambria Math" panose="02040503050406030204" pitchFamily="18" charset="0"/>
                            <a:ea typeface="Cambria Math" panose="02040503050406030204" pitchFamily="18" charset="0"/>
                          </a:rPr>
                          <m:t>+20</m:t>
                        </m:r>
                        <m:r>
                          <a:rPr lang="en-US" altLang="zh-CN" sz="2800" i="1">
                            <a:solidFill>
                              <a:schemeClr val="tx1"/>
                            </a:solidFill>
                            <a:latin typeface="Cambria Math" panose="02040503050406030204" pitchFamily="18" charset="0"/>
                            <a:ea typeface="Cambria Math" panose="02040503050406030204" pitchFamily="18" charset="0"/>
                          </a:rPr>
                          <m:t>𝜁</m:t>
                        </m:r>
                        <m:r>
                          <a:rPr lang="en-US" altLang="zh-CN" sz="2800" i="1">
                            <a:solidFill>
                              <a:schemeClr val="tx1"/>
                            </a:solidFill>
                            <a:latin typeface="Cambria Math" panose="02040503050406030204" pitchFamily="18" charset="0"/>
                            <a:ea typeface="Cambria Math" panose="02040503050406030204" pitchFamily="18" charset="0"/>
                          </a:rPr>
                          <m:t>𝑠</m:t>
                        </m:r>
                        <m:r>
                          <a:rPr lang="en-US" altLang="zh-CN" sz="2800" i="1">
                            <a:solidFill>
                              <a:schemeClr val="tx1"/>
                            </a:solidFill>
                            <a:latin typeface="Cambria Math" panose="02040503050406030204" pitchFamily="18" charset="0"/>
                            <a:ea typeface="Cambria Math" panose="02040503050406030204" pitchFamily="18" charset="0"/>
                          </a:rPr>
                          <m:t>+100)</m:t>
                        </m:r>
                      </m:den>
                    </m:f>
                  </m:oMath>
                </a14:m>
                <a:r>
                  <a:rPr kumimoji="1" lang="zh-CN" altLang="en-US" sz="2800" dirty="0">
                    <a:solidFill>
                      <a:schemeClr val="tx1"/>
                    </a:solidFill>
                  </a:rPr>
                  <a:t> </a:t>
                </a:r>
              </a:p>
            </p:txBody>
          </p:sp>
        </mc:Choice>
        <mc:Fallback xmlns="">
          <p:sp>
            <p:nvSpPr>
              <p:cNvPr id="19" name="矩形 18">
                <a:extLst>
                  <a:ext uri="{FF2B5EF4-FFF2-40B4-BE49-F238E27FC236}">
                    <a16:creationId xmlns:a16="http://schemas.microsoft.com/office/drawing/2014/main" id="{12435AFE-4197-9655-F220-D92986AACD55}"/>
                  </a:ext>
                </a:extLst>
              </p:cNvPr>
              <p:cNvSpPr>
                <a:spLocks noRot="1" noChangeAspect="1" noMove="1" noResize="1" noEditPoints="1" noAdjustHandles="1" noChangeArrowheads="1" noChangeShapeType="1" noTextEdit="1"/>
              </p:cNvSpPr>
              <p:nvPr/>
            </p:nvSpPr>
            <p:spPr>
              <a:xfrm>
                <a:off x="7776418" y="476541"/>
                <a:ext cx="2230787" cy="720000"/>
              </a:xfrm>
              <a:prstGeom prst="rect">
                <a:avLst/>
              </a:prstGeom>
              <a:blipFill>
                <a:blip r:embed="rId4"/>
                <a:stretch>
                  <a:fillRect b="-8333"/>
                </a:stretch>
              </a:blipFill>
              <a:ln w="25400">
                <a:solidFill>
                  <a:srgbClr val="0070C0"/>
                </a:solidFill>
              </a:ln>
            </p:spPr>
            <p:txBody>
              <a:bodyPr/>
              <a:lstStyle/>
              <a:p>
                <a:r>
                  <a:rPr lang="zh-CN" altLang="en-US">
                    <a:noFill/>
                  </a:rPr>
                  <a:t> </a:t>
                </a:r>
              </a:p>
            </p:txBody>
          </p:sp>
        </mc:Fallback>
      </mc:AlternateContent>
      <p:cxnSp>
        <p:nvCxnSpPr>
          <p:cNvPr id="23" name="1直线箭头连接符3">
            <a:extLst>
              <a:ext uri="{FF2B5EF4-FFF2-40B4-BE49-F238E27FC236}">
                <a16:creationId xmlns:a16="http://schemas.microsoft.com/office/drawing/2014/main" id="{EA3ED442-9748-C461-4554-AEAFD5754B5F}"/>
              </a:ext>
            </a:extLst>
          </p:cNvPr>
          <p:cNvCxnSpPr>
            <a:cxnSpLocks/>
            <a:endCxn id="28" idx="2"/>
          </p:cNvCxnSpPr>
          <p:nvPr/>
        </p:nvCxnSpPr>
        <p:spPr>
          <a:xfrm>
            <a:off x="6598932" y="836541"/>
            <a:ext cx="598441"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4E44CEB-3874-7166-4106-E510DEDB35AD}"/>
                  </a:ext>
                </a:extLst>
              </p:cNvPr>
              <p:cNvSpPr txBox="1"/>
              <p:nvPr/>
            </p:nvSpPr>
            <p:spPr>
              <a:xfrm>
                <a:off x="6408518" y="315276"/>
                <a:ext cx="93610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𝑅</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oMath>
                  </m:oMathPara>
                </a14:m>
                <a:endParaRPr lang="zh-CN" altLang="en-US" sz="2800" dirty="0"/>
              </a:p>
            </p:txBody>
          </p:sp>
        </mc:Choice>
        <mc:Fallback xmlns="">
          <p:sp>
            <p:nvSpPr>
              <p:cNvPr id="25" name="文本框 24">
                <a:extLst>
                  <a:ext uri="{FF2B5EF4-FFF2-40B4-BE49-F238E27FC236}">
                    <a16:creationId xmlns:a16="http://schemas.microsoft.com/office/drawing/2014/main" id="{34E44CEB-3874-7166-4106-E510DEDB35AD}"/>
                  </a:ext>
                </a:extLst>
              </p:cNvPr>
              <p:cNvSpPr txBox="1">
                <a:spLocks noRot="1" noChangeAspect="1" noMove="1" noResize="1" noEditPoints="1" noAdjustHandles="1" noChangeArrowheads="1" noChangeShapeType="1" noTextEdit="1"/>
              </p:cNvSpPr>
              <p:nvPr/>
            </p:nvSpPr>
            <p:spPr>
              <a:xfrm>
                <a:off x="6408518" y="315276"/>
                <a:ext cx="936104" cy="523220"/>
              </a:xfrm>
              <a:prstGeom prst="rect">
                <a:avLst/>
              </a:prstGeom>
              <a:blipFill>
                <a:blip r:embed="rId5"/>
                <a:stretch>
                  <a:fillRect/>
                </a:stretch>
              </a:blipFill>
            </p:spPr>
            <p:txBody>
              <a:bodyPr/>
              <a:lstStyle/>
              <a:p>
                <a:r>
                  <a:rPr lang="zh-CN" altLang="en-US">
                    <a:noFill/>
                  </a:rPr>
                  <a:t> </a:t>
                </a:r>
              </a:p>
            </p:txBody>
          </p:sp>
        </mc:Fallback>
      </mc:AlternateContent>
      <p:cxnSp>
        <p:nvCxnSpPr>
          <p:cNvPr id="26" name="1直线箭头连接符3">
            <a:extLst>
              <a:ext uri="{FF2B5EF4-FFF2-40B4-BE49-F238E27FC236}">
                <a16:creationId xmlns:a16="http://schemas.microsoft.com/office/drawing/2014/main" id="{971FAA59-2D3A-0456-D303-0AFE577AD3EC}"/>
              </a:ext>
            </a:extLst>
          </p:cNvPr>
          <p:cNvCxnSpPr>
            <a:cxnSpLocks/>
            <a:stCxn id="19" idx="3"/>
          </p:cNvCxnSpPr>
          <p:nvPr/>
        </p:nvCxnSpPr>
        <p:spPr>
          <a:xfrm>
            <a:off x="10007205" y="836541"/>
            <a:ext cx="1416593"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F1CE0EE0-F20B-3BEB-F893-B554324B3BB7}"/>
                  </a:ext>
                </a:extLst>
              </p:cNvPr>
              <p:cNvSpPr txBox="1"/>
              <p:nvPr/>
            </p:nvSpPr>
            <p:spPr>
              <a:xfrm>
                <a:off x="10271670" y="323182"/>
                <a:ext cx="93610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𝑌</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oMath>
                  </m:oMathPara>
                </a14:m>
                <a:endParaRPr lang="zh-CN" altLang="en-US" sz="2800" dirty="0"/>
              </a:p>
            </p:txBody>
          </p:sp>
        </mc:Choice>
        <mc:Fallback xmlns="">
          <p:sp>
            <p:nvSpPr>
              <p:cNvPr id="27" name="文本框 26">
                <a:extLst>
                  <a:ext uri="{FF2B5EF4-FFF2-40B4-BE49-F238E27FC236}">
                    <a16:creationId xmlns:a16="http://schemas.microsoft.com/office/drawing/2014/main" id="{F1CE0EE0-F20B-3BEB-F893-B554324B3BB7}"/>
                  </a:ext>
                </a:extLst>
              </p:cNvPr>
              <p:cNvSpPr txBox="1">
                <a:spLocks noRot="1" noChangeAspect="1" noMove="1" noResize="1" noEditPoints="1" noAdjustHandles="1" noChangeArrowheads="1" noChangeShapeType="1" noTextEdit="1"/>
              </p:cNvSpPr>
              <p:nvPr/>
            </p:nvSpPr>
            <p:spPr>
              <a:xfrm>
                <a:off x="10271670" y="323182"/>
                <a:ext cx="936104" cy="523220"/>
              </a:xfrm>
              <a:prstGeom prst="rect">
                <a:avLst/>
              </a:prstGeom>
              <a:blipFill>
                <a:blip r:embed="rId6"/>
                <a:stretch>
                  <a:fillRect/>
                </a:stretch>
              </a:blipFill>
            </p:spPr>
            <p:txBody>
              <a:bodyPr/>
              <a:lstStyle/>
              <a:p>
                <a:r>
                  <a:rPr lang="zh-CN" altLang="en-US">
                    <a:noFill/>
                  </a:rPr>
                  <a:t> </a:t>
                </a:r>
              </a:p>
            </p:txBody>
          </p:sp>
        </mc:Fallback>
      </mc:AlternateContent>
      <p:sp>
        <p:nvSpPr>
          <p:cNvPr id="28" name="椭圆 27">
            <a:extLst>
              <a:ext uri="{FF2B5EF4-FFF2-40B4-BE49-F238E27FC236}">
                <a16:creationId xmlns:a16="http://schemas.microsoft.com/office/drawing/2014/main" id="{F4AE4816-89C4-98FA-C876-63422ED9CF88}"/>
              </a:ext>
            </a:extLst>
          </p:cNvPr>
          <p:cNvSpPr/>
          <p:nvPr/>
        </p:nvSpPr>
        <p:spPr>
          <a:xfrm>
            <a:off x="7197372" y="692541"/>
            <a:ext cx="288000" cy="288000"/>
          </a:xfrm>
          <a:prstGeom prst="ellipse">
            <a:avLst/>
          </a:prstGeom>
          <a:solidFill>
            <a:schemeClr val="accent1">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mc:AlternateContent xmlns:mc="http://schemas.openxmlformats.org/markup-compatibility/2006" xmlns:a14="http://schemas.microsoft.com/office/drawing/2010/main">
        <mc:Choice Requires="a14">
          <p:sp>
            <p:nvSpPr>
              <p:cNvPr id="29" name="1Ui">
                <a:extLst>
                  <a:ext uri="{FF2B5EF4-FFF2-40B4-BE49-F238E27FC236}">
                    <a16:creationId xmlns:a16="http://schemas.microsoft.com/office/drawing/2014/main" id="{B1395B81-88CD-AC49-50D0-93124656BA3A}"/>
                  </a:ext>
                </a:extLst>
              </p:cNvPr>
              <p:cNvSpPr txBox="1"/>
              <p:nvPr/>
            </p:nvSpPr>
            <p:spPr>
              <a:xfrm>
                <a:off x="6800492" y="871472"/>
                <a:ext cx="594882"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oMath>
                  </m:oMathPara>
                </a14:m>
                <a:endParaRPr lang="zh-CN" altLang="en-US" sz="2800" dirty="0"/>
              </a:p>
            </p:txBody>
          </p:sp>
        </mc:Choice>
        <mc:Fallback xmlns="">
          <p:sp>
            <p:nvSpPr>
              <p:cNvPr id="29" name="1Ui">
                <a:extLst>
                  <a:ext uri="{FF2B5EF4-FFF2-40B4-BE49-F238E27FC236}">
                    <a16:creationId xmlns:a16="http://schemas.microsoft.com/office/drawing/2014/main" id="{B1395B81-88CD-AC49-50D0-93124656BA3A}"/>
                  </a:ext>
                </a:extLst>
              </p:cNvPr>
              <p:cNvSpPr txBox="1">
                <a:spLocks noRot="1" noChangeAspect="1" noMove="1" noResize="1" noEditPoints="1" noAdjustHandles="1" noChangeArrowheads="1" noChangeShapeType="1" noTextEdit="1"/>
              </p:cNvSpPr>
              <p:nvPr/>
            </p:nvSpPr>
            <p:spPr>
              <a:xfrm>
                <a:off x="6800492" y="871472"/>
                <a:ext cx="594882" cy="523220"/>
              </a:xfrm>
              <a:prstGeom prst="rect">
                <a:avLst/>
              </a:prstGeom>
              <a:blipFill>
                <a:blip r:embed="rId7"/>
                <a:stretch>
                  <a:fillRect/>
                </a:stretch>
              </a:blipFill>
            </p:spPr>
            <p:txBody>
              <a:bodyPr/>
              <a:lstStyle/>
              <a:p>
                <a:r>
                  <a:rPr lang="zh-CN" altLang="en-US">
                    <a:noFill/>
                  </a:rPr>
                  <a:t> </a:t>
                </a:r>
              </a:p>
            </p:txBody>
          </p:sp>
        </mc:Fallback>
      </mc:AlternateContent>
      <p:cxnSp>
        <p:nvCxnSpPr>
          <p:cNvPr id="30" name="4肘形连接符">
            <a:extLst>
              <a:ext uri="{FF2B5EF4-FFF2-40B4-BE49-F238E27FC236}">
                <a16:creationId xmlns:a16="http://schemas.microsoft.com/office/drawing/2014/main" id="{3B5B83D3-71B5-797E-7DA7-21E21BDFD1AB}"/>
              </a:ext>
            </a:extLst>
          </p:cNvPr>
          <p:cNvCxnSpPr>
            <a:cxnSpLocks/>
            <a:stCxn id="27" idx="2"/>
            <a:endCxn id="28" idx="4"/>
          </p:cNvCxnSpPr>
          <p:nvPr/>
        </p:nvCxnSpPr>
        <p:spPr>
          <a:xfrm rot="5400000">
            <a:off x="8973478" y="-785704"/>
            <a:ext cx="134139" cy="3398350"/>
          </a:xfrm>
          <a:prstGeom prst="bentConnector3">
            <a:avLst>
              <a:gd name="adj1" fmla="val 39852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1直线箭头连接符3">
            <a:extLst>
              <a:ext uri="{FF2B5EF4-FFF2-40B4-BE49-F238E27FC236}">
                <a16:creationId xmlns:a16="http://schemas.microsoft.com/office/drawing/2014/main" id="{8FDCA4AC-242D-ABC6-69F6-4926AABBC0AE}"/>
              </a:ext>
            </a:extLst>
          </p:cNvPr>
          <p:cNvCxnSpPr>
            <a:cxnSpLocks/>
            <a:stCxn id="28" idx="6"/>
            <a:endCxn id="19" idx="1"/>
          </p:cNvCxnSpPr>
          <p:nvPr/>
        </p:nvCxnSpPr>
        <p:spPr>
          <a:xfrm>
            <a:off x="7485372" y="836541"/>
            <a:ext cx="291046"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9B09438-6CB6-1E18-D9DA-E5B676C33A82}"/>
                  </a:ext>
                </a:extLst>
              </p:cNvPr>
              <p:cNvSpPr txBox="1"/>
              <p:nvPr/>
            </p:nvSpPr>
            <p:spPr>
              <a:xfrm>
                <a:off x="334963" y="1138809"/>
                <a:ext cx="10944819" cy="1384995"/>
              </a:xfrm>
              <a:prstGeom prst="rect">
                <a:avLst/>
              </a:prstGeom>
              <a:noFill/>
            </p:spPr>
            <p:txBody>
              <a:bodyPr wrap="square">
                <a:spAutoFit/>
              </a:bodyPr>
              <a:lstStyle/>
              <a:p>
                <a:r>
                  <a:rPr lang="zh-CN" altLang="en-US" sz="2800" dirty="0"/>
                  <a:t>系统结构图如下：</a:t>
                </a:r>
                <a:endParaRPr lang="en-US" altLang="zh-CN" sz="2800" dirty="0"/>
              </a:p>
              <a:p>
                <a:pPr marL="457200" indent="-457200">
                  <a:buFont typeface="+mj-lt"/>
                  <a:buAutoNum type="arabicPeriod"/>
                </a:pPr>
                <a:r>
                  <a:rPr lang="zh-CN" altLang="en-US" sz="2800" dirty="0"/>
                  <a:t>确定使系统稳定的参数 </a:t>
                </a:r>
                <a14:m>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𝐾</m:t>
                    </m:r>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𝜁</m:t>
                    </m:r>
                    <m:r>
                      <a:rPr lang="en-US" altLang="zh-CN" sz="2800" i="1">
                        <a:latin typeface="Cambria Math" panose="02040503050406030204" pitchFamily="18" charset="0"/>
                      </a:rPr>
                      <m:t>)</m:t>
                    </m:r>
                  </m:oMath>
                </a14:m>
                <a:r>
                  <a:rPr lang="zh-CN" altLang="en-US" sz="2800" dirty="0"/>
                  <a:t> 的范围</a:t>
                </a:r>
                <a:r>
                  <a:rPr lang="en-US" altLang="zh-CN" sz="2800" dirty="0"/>
                  <a:t>;</a:t>
                </a:r>
              </a:p>
              <a:p>
                <a:pPr marL="457200" indent="-457200">
                  <a:buFont typeface="+mj-lt"/>
                  <a:buAutoNum type="arabicPeriod"/>
                </a:pPr>
                <a:r>
                  <a:rPr lang="zh-CN" altLang="en-US" sz="2800" dirty="0"/>
                  <a:t>当 </a:t>
                </a:r>
                <a14:m>
                  <m:oMath xmlns:m="http://schemas.openxmlformats.org/officeDocument/2006/math">
                    <m:r>
                      <a:rPr lang="en-US" altLang="zh-CN" sz="2800" i="1">
                        <a:latin typeface="Cambria Math" panose="02040503050406030204" pitchFamily="18" charset="0"/>
                        <a:ea typeface="Cambria Math" panose="02040503050406030204" pitchFamily="18" charset="0"/>
                      </a:rPr>
                      <m:t>𝜁</m:t>
                    </m:r>
                    <m:r>
                      <a:rPr lang="en-US" altLang="zh-CN" sz="2800" i="1">
                        <a:latin typeface="Cambria Math" panose="02040503050406030204" pitchFamily="18" charset="0"/>
                        <a:ea typeface="Cambria Math" panose="02040503050406030204" pitchFamily="18" charset="0"/>
                      </a:rPr>
                      <m:t>=2</m:t>
                    </m:r>
                  </m:oMath>
                </a14:m>
                <a:r>
                  <a:rPr lang="el-GR" altLang="zh-CN" sz="2800" dirty="0"/>
                  <a:t> </a:t>
                </a:r>
                <a:r>
                  <a:rPr lang="zh-CN" altLang="en-US" sz="2800" dirty="0"/>
                  <a:t>时，确定使全部极点均位于 </a:t>
                </a:r>
                <a14:m>
                  <m:oMath xmlns:m="http://schemas.openxmlformats.org/officeDocument/2006/math">
                    <m:r>
                      <a:rPr lang="en" altLang="zh-CN" sz="2800" i="1" dirty="0">
                        <a:latin typeface="Cambria Math" panose="02040503050406030204" pitchFamily="18" charset="0"/>
                      </a:rPr>
                      <m:t>𝑠</m:t>
                    </m:r>
                    <m:r>
                      <a:rPr lang="en" altLang="zh-CN" sz="2800" i="1" dirty="0">
                        <a:latin typeface="Cambria Math" panose="02040503050406030204" pitchFamily="18" charset="0"/>
                      </a:rPr>
                      <m:t> = −1 </m:t>
                    </m:r>
                  </m:oMath>
                </a14:m>
                <a:r>
                  <a:rPr lang="zh-CN" altLang="en-US" sz="2800" dirty="0"/>
                  <a:t>之左 的 </a:t>
                </a:r>
                <a14:m>
                  <m:oMath xmlns:m="http://schemas.openxmlformats.org/officeDocument/2006/math">
                    <m:r>
                      <a:rPr lang="en-US" altLang="zh-CN" sz="2800" i="1">
                        <a:latin typeface="Cambria Math" panose="02040503050406030204" pitchFamily="18" charset="0"/>
                      </a:rPr>
                      <m:t>𝐾</m:t>
                    </m:r>
                  </m:oMath>
                </a14:m>
                <a:r>
                  <a:rPr lang="en" altLang="zh-CN" sz="2800" dirty="0"/>
                  <a:t> </a:t>
                </a:r>
                <a:r>
                  <a:rPr lang="zh-CN" altLang="en-US" sz="2800" dirty="0"/>
                  <a:t>值范围。</a:t>
                </a:r>
              </a:p>
            </p:txBody>
          </p:sp>
        </mc:Choice>
        <mc:Fallback xmlns="">
          <p:sp>
            <p:nvSpPr>
              <p:cNvPr id="37" name="文本框 36">
                <a:extLst>
                  <a:ext uri="{FF2B5EF4-FFF2-40B4-BE49-F238E27FC236}">
                    <a16:creationId xmlns:a16="http://schemas.microsoft.com/office/drawing/2014/main" id="{89B09438-6CB6-1E18-D9DA-E5B676C33A82}"/>
                  </a:ext>
                </a:extLst>
              </p:cNvPr>
              <p:cNvSpPr txBox="1">
                <a:spLocks noRot="1" noChangeAspect="1" noMove="1" noResize="1" noEditPoints="1" noAdjustHandles="1" noChangeArrowheads="1" noChangeShapeType="1" noTextEdit="1"/>
              </p:cNvSpPr>
              <p:nvPr/>
            </p:nvSpPr>
            <p:spPr>
              <a:xfrm>
                <a:off x="334963" y="1138809"/>
                <a:ext cx="10944819" cy="1384995"/>
              </a:xfrm>
              <a:prstGeom prst="rect">
                <a:avLst/>
              </a:prstGeom>
              <a:blipFill>
                <a:blip r:embed="rId8"/>
                <a:stretch>
                  <a:fillRect l="-1159" t="-5455" b="-1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62BEA483-5BC2-CB26-048E-0FE1B6038DF8}"/>
                  </a:ext>
                </a:extLst>
              </p:cNvPr>
              <p:cNvSpPr txBox="1"/>
              <p:nvPr/>
            </p:nvSpPr>
            <p:spPr>
              <a:xfrm>
                <a:off x="4883505" y="5296059"/>
                <a:ext cx="264560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𝐾</m:t>
                      </m:r>
                      <m:r>
                        <a:rPr lang="en-US" altLang="zh-CN" sz="2800" i="1">
                          <a:latin typeface="Cambria Math" panose="02040503050406030204" pitchFamily="18" charset="0"/>
                        </a:rPr>
                        <m:t>&lt;20</m:t>
                      </m:r>
                      <m:r>
                        <a:rPr lang="en-US" altLang="zh-CN" sz="2800" i="1">
                          <a:latin typeface="Cambria Math" panose="02040503050406030204" pitchFamily="18" charset="0"/>
                          <a:ea typeface="Cambria Math" panose="02040503050406030204" pitchFamily="18" charset="0"/>
                        </a:rPr>
                        <m:t>𝜁</m:t>
                      </m:r>
                    </m:oMath>
                  </m:oMathPara>
                </a14:m>
                <a:endParaRPr lang="zh-CN" altLang="en-US" sz="2800" dirty="0"/>
              </a:p>
            </p:txBody>
          </p:sp>
        </mc:Choice>
        <mc:Fallback xmlns="">
          <p:sp>
            <p:nvSpPr>
              <p:cNvPr id="38" name="文本框 37">
                <a:extLst>
                  <a:ext uri="{FF2B5EF4-FFF2-40B4-BE49-F238E27FC236}">
                    <a16:creationId xmlns:a16="http://schemas.microsoft.com/office/drawing/2014/main" id="{62BEA483-5BC2-CB26-048E-0FE1B6038DF8}"/>
                  </a:ext>
                </a:extLst>
              </p:cNvPr>
              <p:cNvSpPr txBox="1">
                <a:spLocks noRot="1" noChangeAspect="1" noMove="1" noResize="1" noEditPoints="1" noAdjustHandles="1" noChangeArrowheads="1" noChangeShapeType="1" noTextEdit="1"/>
              </p:cNvSpPr>
              <p:nvPr/>
            </p:nvSpPr>
            <p:spPr>
              <a:xfrm>
                <a:off x="4883505" y="5296059"/>
                <a:ext cx="2645603" cy="523220"/>
              </a:xfrm>
              <a:prstGeom prst="rect">
                <a:avLst/>
              </a:prstGeom>
              <a:blipFill>
                <a:blip r:embed="rId9"/>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F45DD272-EFEE-82FD-6BA2-906DC6BD604F}"/>
                  </a:ext>
                </a:extLst>
              </p:cNvPr>
              <p:cNvSpPr txBox="1"/>
              <p:nvPr/>
            </p:nvSpPr>
            <p:spPr>
              <a:xfrm>
                <a:off x="4695769" y="4868863"/>
                <a:ext cx="264560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𝜁</m:t>
                      </m:r>
                      <m:r>
                        <a:rPr lang="en-US" altLang="zh-CN" sz="2800">
                          <a:latin typeface="Cambria Math" panose="02040503050406030204" pitchFamily="18" charset="0"/>
                          <a:ea typeface="Cambria Math" panose="02040503050406030204" pitchFamily="18" charset="0"/>
                        </a:rPr>
                        <m:t>&gt;0</m:t>
                      </m:r>
                    </m:oMath>
                  </m:oMathPara>
                </a14:m>
                <a:endParaRPr lang="zh-CN" altLang="en-US" sz="2800" dirty="0"/>
              </a:p>
            </p:txBody>
          </p:sp>
        </mc:Choice>
        <mc:Fallback xmlns="">
          <p:sp>
            <p:nvSpPr>
              <p:cNvPr id="43" name="文本框 42">
                <a:extLst>
                  <a:ext uri="{FF2B5EF4-FFF2-40B4-BE49-F238E27FC236}">
                    <a16:creationId xmlns:a16="http://schemas.microsoft.com/office/drawing/2014/main" id="{F45DD272-EFEE-82FD-6BA2-906DC6BD604F}"/>
                  </a:ext>
                </a:extLst>
              </p:cNvPr>
              <p:cNvSpPr txBox="1">
                <a:spLocks noRot="1" noChangeAspect="1" noMove="1" noResize="1" noEditPoints="1" noAdjustHandles="1" noChangeArrowheads="1" noChangeShapeType="1" noTextEdit="1"/>
              </p:cNvSpPr>
              <p:nvPr/>
            </p:nvSpPr>
            <p:spPr>
              <a:xfrm>
                <a:off x="4695769" y="4868863"/>
                <a:ext cx="2645603" cy="523220"/>
              </a:xfrm>
              <a:prstGeom prst="rect">
                <a:avLst/>
              </a:prstGeom>
              <a:blipFill>
                <a:blip r:embed="rId10"/>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78AA32FE-85E9-3F03-1C12-1DCBA5CC34CC}"/>
                  </a:ext>
                </a:extLst>
              </p:cNvPr>
              <p:cNvSpPr txBox="1"/>
              <p:nvPr/>
            </p:nvSpPr>
            <p:spPr>
              <a:xfrm>
                <a:off x="4722186" y="5783722"/>
                <a:ext cx="264560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𝐾</m:t>
                      </m:r>
                      <m:r>
                        <a:rPr lang="en-US" altLang="zh-CN" sz="2800">
                          <a:latin typeface="Cambria Math" panose="02040503050406030204" pitchFamily="18" charset="0"/>
                          <a:ea typeface="Cambria Math" panose="02040503050406030204" pitchFamily="18" charset="0"/>
                        </a:rPr>
                        <m:t>&gt;0</m:t>
                      </m:r>
                    </m:oMath>
                  </m:oMathPara>
                </a14:m>
                <a:endParaRPr lang="zh-CN" altLang="en-US" sz="2800" dirty="0"/>
              </a:p>
            </p:txBody>
          </p:sp>
        </mc:Choice>
        <mc:Fallback xmlns="">
          <p:sp>
            <p:nvSpPr>
              <p:cNvPr id="44" name="文本框 43">
                <a:extLst>
                  <a:ext uri="{FF2B5EF4-FFF2-40B4-BE49-F238E27FC236}">
                    <a16:creationId xmlns:a16="http://schemas.microsoft.com/office/drawing/2014/main" id="{78AA32FE-85E9-3F03-1C12-1DCBA5CC34CC}"/>
                  </a:ext>
                </a:extLst>
              </p:cNvPr>
              <p:cNvSpPr txBox="1">
                <a:spLocks noRot="1" noChangeAspect="1" noMove="1" noResize="1" noEditPoints="1" noAdjustHandles="1" noChangeArrowheads="1" noChangeShapeType="1" noTextEdit="1"/>
              </p:cNvSpPr>
              <p:nvPr/>
            </p:nvSpPr>
            <p:spPr>
              <a:xfrm>
                <a:off x="4722186" y="5783722"/>
                <a:ext cx="2645603" cy="52322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C86296C1-806E-D42A-B74D-6E2462DC5522}"/>
                  </a:ext>
                </a:extLst>
              </p:cNvPr>
              <p:cNvSpPr txBox="1"/>
              <p:nvPr/>
            </p:nvSpPr>
            <p:spPr>
              <a:xfrm>
                <a:off x="118542" y="2509000"/>
                <a:ext cx="8035010" cy="1406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dirty="0">
                          <a:latin typeface="Cambria Math" panose="02040503050406030204" pitchFamily="18" charset="0"/>
                        </a:rPr>
                        <m:t>解：</m:t>
                      </m:r>
                      <m:r>
                        <a:rPr lang="en-US" altLang="zh-CN" sz="2800" i="1" dirty="0">
                          <a:latin typeface="Cambria Math" panose="02040503050406030204" pitchFamily="18" charset="0"/>
                        </a:rPr>
                        <m:t>1.  </m:t>
                      </m:r>
                      <m:r>
                        <a:rPr lang="en-US" altLang="zh-CN" sz="2800" i="1">
                          <a:latin typeface="Cambria Math" panose="02040503050406030204" pitchFamily="18" charset="0"/>
                        </a:rPr>
                        <m:t>𝐺</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r>
                        <m:rPr>
                          <m:aln/>
                        </m:rP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𝐾</m:t>
                              </m:r>
                            </m:e>
                            <m:sub>
                              <m:r>
                                <a:rPr lang="en-US" altLang="zh-CN" sz="2800" i="1">
                                  <a:latin typeface="Cambria Math" panose="02040503050406030204" pitchFamily="18" charset="0"/>
                                </a:rPr>
                                <m:t>𝑎</m:t>
                              </m:r>
                            </m:sub>
                          </m:sSub>
                        </m:num>
                        <m:den>
                          <m:r>
                            <a:rPr lang="en-US" altLang="zh-CN" sz="2800" i="1">
                              <a:latin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𝑠</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+20</m:t>
                          </m:r>
                          <m:r>
                            <a:rPr lang="en-US" altLang="zh-CN" sz="2800" i="1">
                              <a:latin typeface="Cambria Math" panose="02040503050406030204" pitchFamily="18" charset="0"/>
                              <a:ea typeface="Cambria Math" panose="02040503050406030204" pitchFamily="18" charset="0"/>
                            </a:rPr>
                            <m:t>𝜁</m:t>
                          </m:r>
                          <m:r>
                            <a:rPr lang="en-US" altLang="zh-CN" sz="2800" i="1">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+100)</m:t>
                          </m:r>
                        </m:den>
                      </m:f>
                      <m:r>
                        <a:rPr lang="zh-CN" altLang="en-US" sz="2800" i="1">
                          <a:latin typeface="Cambria Math" panose="02040503050406030204" pitchFamily="18" charset="0"/>
                        </a:rPr>
                        <m:t>   </m:t>
                      </m:r>
                      <m:r>
                        <a:rPr lang="en-US" altLang="zh-CN" sz="2800" i="1">
                          <a:latin typeface="Cambria Math" panose="02040503050406030204" pitchFamily="18" charset="0"/>
                        </a:rPr>
                        <m:t>𝐾</m:t>
                      </m:r>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𝐾</m:t>
                              </m:r>
                            </m:e>
                            <m:sub>
                              <m:r>
                                <a:rPr lang="en-US" altLang="zh-CN" sz="2800" i="1">
                                  <a:latin typeface="Cambria Math" panose="02040503050406030204" pitchFamily="18" charset="0"/>
                                </a:rPr>
                                <m:t>𝑎</m:t>
                              </m:r>
                            </m:sub>
                          </m:sSub>
                        </m:num>
                        <m:den>
                          <m:r>
                            <a:rPr lang="en-US" altLang="zh-CN" sz="2800" i="1">
                              <a:latin typeface="Cambria Math" panose="02040503050406030204" pitchFamily="18" charset="0"/>
                            </a:rPr>
                            <m:t>100</m:t>
                          </m:r>
                        </m:den>
                      </m:f>
                    </m:oMath>
                    <m:oMath xmlns:m="http://schemas.openxmlformats.org/officeDocument/2006/math">
                      <m:r>
                        <a:rPr lang="en-US" altLang="zh-CN" sz="2800" i="1">
                          <a:latin typeface="Cambria Math" panose="02040503050406030204" pitchFamily="18" charset="0"/>
                        </a:rPr>
                        <m:t>𝐷</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r>
                        <m:rPr>
                          <m:aln/>
                        </m:rPr>
                        <a:rPr lang="en-US" altLang="zh-CN" sz="2800" i="1">
                          <a:latin typeface="Cambria Math" panose="02040503050406030204" pitchFamily="18" charset="0"/>
                        </a:rPr>
                        <m:t>=</m:t>
                      </m:r>
                      <m:sSup>
                        <m:sSupPr>
                          <m:ctrlPr>
                            <a:rPr lang="en-US" altLang="zh-CN" sz="2800" i="1">
                              <a:solidFill>
                                <a:srgbClr val="169F84"/>
                              </a:solidFill>
                              <a:latin typeface="Cambria Math" panose="02040503050406030204" pitchFamily="18" charset="0"/>
                            </a:rPr>
                          </m:ctrlPr>
                        </m:sSupPr>
                        <m:e>
                          <m:r>
                            <a:rPr lang="en-US" altLang="zh-CN" sz="2800" i="1">
                              <a:solidFill>
                                <a:srgbClr val="169F84"/>
                              </a:solidFill>
                              <a:latin typeface="Cambria Math" panose="02040503050406030204" pitchFamily="18" charset="0"/>
                            </a:rPr>
                            <m:t>𝑠</m:t>
                          </m:r>
                        </m:e>
                        <m:sup>
                          <m:r>
                            <a:rPr lang="en-US" altLang="zh-CN" sz="2800" i="1">
                              <a:solidFill>
                                <a:srgbClr val="169F84"/>
                              </a:solidFill>
                              <a:latin typeface="Cambria Math" panose="02040503050406030204" pitchFamily="18" charset="0"/>
                            </a:rPr>
                            <m:t>3</m:t>
                          </m:r>
                        </m:sup>
                      </m:sSup>
                      <m:r>
                        <a:rPr lang="en-US" altLang="zh-CN" sz="2800" i="1">
                          <a:latin typeface="Cambria Math" panose="02040503050406030204" pitchFamily="18" charset="0"/>
                        </a:rPr>
                        <m:t>+20</m:t>
                      </m:r>
                      <m:r>
                        <a:rPr lang="en-US" altLang="zh-CN" sz="2800" i="1">
                          <a:latin typeface="Cambria Math" panose="02040503050406030204" pitchFamily="18" charset="0"/>
                          <a:ea typeface="Cambria Math" panose="02040503050406030204" pitchFamily="18" charset="0"/>
                        </a:rPr>
                        <m:t>𝜁</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+100</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=0</m:t>
                      </m:r>
                    </m:oMath>
                  </m:oMathPara>
                </a14:m>
                <a:endParaRPr lang="en-US" altLang="zh-CN" sz="2800" dirty="0"/>
              </a:p>
            </p:txBody>
          </p:sp>
        </mc:Choice>
        <mc:Fallback xmlns="">
          <p:sp>
            <p:nvSpPr>
              <p:cNvPr id="47" name="文本框 46">
                <a:extLst>
                  <a:ext uri="{FF2B5EF4-FFF2-40B4-BE49-F238E27FC236}">
                    <a16:creationId xmlns:a16="http://schemas.microsoft.com/office/drawing/2014/main" id="{C86296C1-806E-D42A-B74D-6E2462DC5522}"/>
                  </a:ext>
                </a:extLst>
              </p:cNvPr>
              <p:cNvSpPr txBox="1">
                <a:spLocks noRot="1" noChangeAspect="1" noMove="1" noResize="1" noEditPoints="1" noAdjustHandles="1" noChangeArrowheads="1" noChangeShapeType="1" noTextEdit="1"/>
              </p:cNvSpPr>
              <p:nvPr/>
            </p:nvSpPr>
            <p:spPr>
              <a:xfrm>
                <a:off x="118542" y="2509000"/>
                <a:ext cx="8035010" cy="1406282"/>
              </a:xfrm>
              <a:prstGeom prst="rect">
                <a:avLst/>
              </a:prstGeom>
              <a:blipFill>
                <a:blip r:embed="rId12"/>
                <a:stretch>
                  <a:fillRect b="-53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6464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down)">
                                      <p:cBhvr>
                                        <p:cTn id="13" dur="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left)">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left)">
                                      <p:cBhvr>
                                        <p:cTn id="3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1" grpId="0"/>
      <p:bldP spid="38" grpId="0"/>
      <p:bldP spid="43" grpId="0"/>
      <p:bldP spid="44" grpId="0"/>
      <p:bldP spid="4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60575" y="348252"/>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8" name="代码框">
            <a:extLst>
              <a:ext uri="{FF2B5EF4-FFF2-40B4-BE49-F238E27FC236}">
                <a16:creationId xmlns:a16="http://schemas.microsoft.com/office/drawing/2014/main" id="{B01C6940-09AB-1173-DD23-62D439CD6BC3}"/>
              </a:ext>
            </a:extLst>
          </p:cNvPr>
          <p:cNvGrpSpPr/>
          <p:nvPr/>
        </p:nvGrpSpPr>
        <p:grpSpPr>
          <a:xfrm>
            <a:off x="334963" y="980413"/>
            <a:ext cx="11511275" cy="5751633"/>
            <a:chOff x="2506351" y="3731681"/>
            <a:chExt cx="11511275" cy="5751633"/>
          </a:xfrm>
        </p:grpSpPr>
        <p:sp>
          <p:nvSpPr>
            <p:cNvPr id="20" name="代码">
              <a:extLst>
                <a:ext uri="{FF2B5EF4-FFF2-40B4-BE49-F238E27FC236}">
                  <a16:creationId xmlns:a16="http://schemas.microsoft.com/office/drawing/2014/main" id="{5C81CA8B-6CA3-F223-E268-357FCBAA4BED}"/>
                </a:ext>
              </a:extLst>
            </p:cNvPr>
            <p:cNvSpPr txBox="1"/>
            <p:nvPr/>
          </p:nvSpPr>
          <p:spPr>
            <a:xfrm>
              <a:off x="2506351" y="4092108"/>
              <a:ext cx="11511275" cy="5391206"/>
            </a:xfrm>
            <a:prstGeom prst="roundRect">
              <a:avLst>
                <a:gd name="adj" fmla="val 8919"/>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bIns="72000" rtlCol="0">
              <a:spAutoFit/>
            </a:bodyPr>
            <a:lstStyle/>
            <a:p>
              <a:r>
                <a:rPr lang="en" altLang="zh-CN" sz="2000" dirty="0">
                  <a:latin typeface="Menlo" panose="020B0609030804020204" pitchFamily="49" charset="0"/>
                </a:rPr>
                <a:t>zeta = [0.1,0.707,1.5];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选取多个阻尼</a:t>
              </a:r>
              <a:endParaRPr lang="zh-CN" altLang="en-US" sz="2000" dirty="0">
                <a:latin typeface="Menlo" panose="020B0609030804020204" pitchFamily="49" charset="0"/>
              </a:endParaRPr>
            </a:p>
            <a:p>
              <a:r>
                <a:rPr lang="en" altLang="zh-CN" sz="2000" dirty="0">
                  <a:latin typeface="Menlo" panose="020B0609030804020204" pitchFamily="49" charset="0"/>
                </a:rPr>
                <a:t>kk = 1;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绘图序号</a:t>
              </a:r>
              <a:endParaRPr lang="zh-CN" altLang="en-US" sz="2000" dirty="0">
                <a:latin typeface="Menlo" panose="020B0609030804020204" pitchFamily="49" charset="0"/>
              </a:endParaRPr>
            </a:p>
            <a:p>
              <a:r>
                <a:rPr lang="en" altLang="zh-CN" sz="2000" dirty="0">
                  <a:solidFill>
                    <a:srgbClr val="0E00FF"/>
                  </a:solidFill>
                  <a:latin typeface="Menlo" panose="020B0609030804020204" pitchFamily="49" charset="0"/>
                </a:rPr>
                <a:t>for </a:t>
              </a:r>
              <a:r>
                <a:rPr lang="en" altLang="zh-CN" sz="2000" dirty="0">
                  <a:latin typeface="Menlo" panose="020B0609030804020204" pitchFamily="49" charset="0"/>
                </a:rPr>
                <a:t>ii = 1:3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三个阻尼中循环</a:t>
              </a:r>
              <a:endParaRPr lang="zh-CN" altLang="en-US" sz="2000" dirty="0">
                <a:latin typeface="Menlo" panose="020B0609030804020204" pitchFamily="49" charset="0"/>
              </a:endParaRPr>
            </a:p>
            <a:p>
              <a:r>
                <a:rPr lang="zh-CN" altLang="en-US" sz="2000" dirty="0">
                  <a:solidFill>
                    <a:srgbClr val="0E00FF"/>
                  </a:solidFill>
                  <a:latin typeface="Menlo" panose="020B0609030804020204" pitchFamily="49" charset="0"/>
                </a:rPr>
                <a:t>    </a:t>
              </a:r>
              <a:r>
                <a:rPr lang="en" altLang="zh-CN" sz="2000" dirty="0">
                  <a:solidFill>
                    <a:srgbClr val="0E00FF"/>
                  </a:solidFill>
                  <a:latin typeface="Menlo" panose="020B0609030804020204" pitchFamily="49" charset="0"/>
                </a:rPr>
                <a:t>for </a:t>
              </a:r>
              <a:r>
                <a:rPr lang="en" altLang="zh-CN" sz="2000" dirty="0" err="1">
                  <a:latin typeface="Menlo" panose="020B0609030804020204" pitchFamily="49" charset="0"/>
                </a:rPr>
                <a:t>jj</a:t>
              </a:r>
              <a:r>
                <a:rPr lang="en" altLang="zh-CN" sz="2000" dirty="0">
                  <a:latin typeface="Menlo" panose="020B0609030804020204" pitchFamily="49" charset="0"/>
                </a:rPr>
                <a:t> = 1:3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三个</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中循环</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K = 20*zeta(ii)*</a:t>
              </a:r>
              <a:r>
                <a:rPr lang="en" altLang="zh-CN" sz="2000" dirty="0" err="1">
                  <a:latin typeface="Menlo" panose="020B0609030804020204" pitchFamily="49" charset="0"/>
                </a:rPr>
                <a:t>jj</a:t>
              </a:r>
              <a:r>
                <a:rPr lang="en" altLang="zh-CN" sz="2000" dirty="0">
                  <a:latin typeface="Menlo" panose="020B0609030804020204" pitchFamily="49" charset="0"/>
                </a:rPr>
                <a:t>/2;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分别选</a:t>
              </a:r>
              <a:r>
                <a:rPr lang="en-US" altLang="zh-CN" sz="2000" dirty="0">
                  <a:solidFill>
                    <a:srgbClr val="028009"/>
                  </a:solidFill>
                  <a:latin typeface="Menlo" panose="020B0609030804020204" pitchFamily="49" charset="0"/>
                </a:rPr>
                <a:t>0.5,1,1.5</a:t>
              </a:r>
              <a:r>
                <a:rPr lang="zh-CN" altLang="en-US" sz="2000" dirty="0">
                  <a:solidFill>
                    <a:srgbClr val="028009"/>
                  </a:solidFill>
                  <a:latin typeface="Menlo" panose="020B0609030804020204" pitchFamily="49" charset="0"/>
                </a:rPr>
                <a:t>倍的</a:t>
              </a:r>
              <a:r>
                <a:rPr lang="en-US" altLang="zh-CN" sz="2000" dirty="0">
                  <a:solidFill>
                    <a:srgbClr val="028009"/>
                  </a:solidFill>
                  <a:latin typeface="Menlo" panose="020B0609030804020204" pitchFamily="49" charset="0"/>
                </a:rPr>
                <a:t>20*</a:t>
              </a:r>
              <a:r>
                <a:rPr lang="en" altLang="zh-CN" sz="2000" dirty="0">
                  <a:solidFill>
                    <a:srgbClr val="028009"/>
                  </a:solidFill>
                  <a:latin typeface="Menlo" panose="020B0609030804020204" pitchFamily="49" charset="0"/>
                </a:rPr>
                <a:t>zeta</a:t>
              </a:r>
              <a:endParaRPr lang="en" altLang="zh-CN"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p = ([1,20*zeta(ii),100,100*K]);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多项式系数</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G = </a:t>
              </a:r>
              <a:r>
                <a:rPr lang="en" altLang="zh-CN" sz="2000" dirty="0" err="1">
                  <a:latin typeface="Menlo" panose="020B0609030804020204" pitchFamily="49" charset="0"/>
                </a:rPr>
                <a:t>tf</a:t>
              </a:r>
              <a:r>
                <a:rPr lang="en" altLang="zh-CN" sz="2000" dirty="0">
                  <a:latin typeface="Menlo" panose="020B0609030804020204" pitchFamily="49" charset="0"/>
                </a:rPr>
                <a:t>(1,p);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建立传递函数</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subplot(3,3,kk)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绘制子图</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US" altLang="zh-CN" sz="2000" dirty="0">
                  <a:latin typeface="Menlo" panose="020B0609030804020204" pitchFamily="49" charset="0"/>
                </a:rPr>
                <a:t>[</a:t>
              </a:r>
              <a:r>
                <a:rPr lang="en" altLang="zh-CN" sz="2000" dirty="0" err="1">
                  <a:latin typeface="Menlo" panose="020B0609030804020204" pitchFamily="49" charset="0"/>
                </a:rPr>
                <a:t>y,t</a:t>
              </a:r>
              <a:r>
                <a:rPr lang="en" altLang="zh-CN" sz="2000" dirty="0">
                  <a:latin typeface="Menlo" panose="020B0609030804020204" pitchFamily="49" charset="0"/>
                </a:rPr>
                <a:t>] = step(G,6);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阶跃响应</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plot(t,y,</a:t>
              </a:r>
              <a:r>
                <a:rPr lang="en" altLang="zh-CN" sz="2000" dirty="0">
                  <a:solidFill>
                    <a:srgbClr val="AA04F9"/>
                  </a:solidFill>
                  <a:latin typeface="Menlo" panose="020B0609030804020204" pitchFamily="49" charset="0"/>
                </a:rPr>
                <a:t>'LineWidth'</a:t>
              </a:r>
              <a:r>
                <a:rPr lang="en" altLang="zh-CN" sz="2000" dirty="0">
                  <a:latin typeface="Menlo" panose="020B0609030804020204" pitchFamily="49" charset="0"/>
                </a:rPr>
                <a:t>,2);</a:t>
              </a:r>
            </a:p>
            <a:p>
              <a:r>
                <a:rPr lang="zh-CN" altLang="en-US" sz="2000" dirty="0">
                  <a:latin typeface="Menlo" panose="020B0609030804020204" pitchFamily="49" charset="0"/>
                </a:rPr>
                <a:t>        </a:t>
              </a:r>
              <a:r>
                <a:rPr lang="en" altLang="zh-CN" sz="2000" dirty="0" err="1">
                  <a:latin typeface="Menlo" panose="020B0609030804020204" pitchFamily="49" charset="0"/>
                </a:rPr>
                <a:t>xlabel</a:t>
              </a:r>
              <a:r>
                <a:rPr lang="en" altLang="zh-CN" sz="2000" dirty="0">
                  <a:latin typeface="Menlo" panose="020B0609030804020204" pitchFamily="49" charset="0"/>
                </a:rPr>
                <a:t>(</a:t>
              </a:r>
              <a:r>
                <a:rPr lang="en" altLang="zh-CN" sz="2000" dirty="0">
                  <a:solidFill>
                    <a:srgbClr val="AA04F9"/>
                  </a:solidFill>
                  <a:latin typeface="Menlo" panose="020B0609030804020204" pitchFamily="49" charset="0"/>
                </a:rPr>
                <a:t>'Time (seconds)‘</a:t>
              </a:r>
              <a:r>
                <a:rPr lang="en" altLang="zh-CN" sz="2000" dirty="0">
                  <a:latin typeface="Menlo" panose="020B0609030804020204" pitchFamily="49" charset="0"/>
                </a:rPr>
                <a:t>)</a:t>
              </a:r>
            </a:p>
            <a:p>
              <a:r>
                <a:rPr lang="zh-CN" altLang="en-US" sz="2000" dirty="0">
                  <a:latin typeface="Menlo" panose="020B0609030804020204" pitchFamily="49" charset="0"/>
                </a:rPr>
                <a:t>        </a:t>
              </a:r>
              <a:r>
                <a:rPr lang="en" altLang="zh-CN" sz="2000" dirty="0" err="1">
                  <a:latin typeface="Menlo" panose="020B0609030804020204" pitchFamily="49" charset="0"/>
                </a:rPr>
                <a:t>ylabel</a:t>
              </a:r>
              <a:r>
                <a:rPr lang="en" altLang="zh-CN" sz="2000" dirty="0">
                  <a:latin typeface="Menlo" panose="020B0609030804020204" pitchFamily="49" charset="0"/>
                </a:rPr>
                <a:t>(</a:t>
              </a:r>
              <a:r>
                <a:rPr lang="en" altLang="zh-CN" sz="2000" dirty="0">
                  <a:solidFill>
                    <a:srgbClr val="AA04F9"/>
                  </a:solidFill>
                  <a:latin typeface="Menlo" panose="020B0609030804020204" pitchFamily="49" charset="0"/>
                </a:rPr>
                <a:t>'Amplitude‘</a:t>
              </a:r>
              <a:r>
                <a:rPr lang="en" altLang="zh-CN" sz="2000" dirty="0">
                  <a:latin typeface="Menlo" panose="020B0609030804020204" pitchFamily="49" charset="0"/>
                </a:rPr>
                <a:t>)</a:t>
              </a:r>
            </a:p>
            <a:p>
              <a:r>
                <a:rPr lang="zh-CN" altLang="en-US" sz="2000" dirty="0">
                  <a:latin typeface="Menlo" panose="020B0609030804020204" pitchFamily="49" charset="0"/>
                </a:rPr>
                <a:t>        </a:t>
              </a:r>
              <a:r>
                <a:rPr lang="en" altLang="zh-CN" sz="2000" dirty="0">
                  <a:latin typeface="Menlo" panose="020B0609030804020204" pitchFamily="49" charset="0"/>
                </a:rPr>
                <a:t>title([</a:t>
              </a:r>
              <a:r>
                <a:rPr lang="en" altLang="zh-CN" sz="2000" dirty="0">
                  <a:solidFill>
                    <a:srgbClr val="AA04F9"/>
                  </a:solidFill>
                  <a:latin typeface="Menlo" panose="020B0609030804020204" pitchFamily="49" charset="0"/>
                </a:rPr>
                <a:t>'\zeta='</a:t>
              </a:r>
              <a:r>
                <a:rPr lang="en" altLang="zh-CN" sz="2000" dirty="0">
                  <a:latin typeface="Menlo" panose="020B0609030804020204" pitchFamily="49" charset="0"/>
                </a:rPr>
                <a:t>,num2str(zeta(ii)),</a:t>
              </a:r>
              <a:r>
                <a:rPr lang="en" altLang="zh-CN" sz="2000" dirty="0">
                  <a:solidFill>
                    <a:srgbClr val="AA04F9"/>
                  </a:solidFill>
                  <a:latin typeface="Menlo" panose="020B0609030804020204" pitchFamily="49" charset="0"/>
                </a:rPr>
                <a:t>', K='</a:t>
              </a:r>
              <a:r>
                <a:rPr lang="en" altLang="zh-CN" sz="2000" dirty="0">
                  <a:latin typeface="Menlo" panose="020B0609030804020204" pitchFamily="49" charset="0"/>
                </a:rPr>
                <a:t>,num2str(K)]);</a:t>
              </a:r>
            </a:p>
            <a:p>
              <a:r>
                <a:rPr lang="zh-CN" altLang="en-US" sz="2000" dirty="0">
                  <a:latin typeface="Menlo" panose="020B0609030804020204" pitchFamily="49" charset="0"/>
                </a:rPr>
                <a:t>        </a:t>
              </a:r>
              <a:r>
                <a:rPr lang="en" altLang="zh-CN" sz="2000" dirty="0">
                  <a:latin typeface="Menlo" panose="020B0609030804020204" pitchFamily="49" charset="0"/>
                </a:rPr>
                <a:t>kk = kk + 1;</a:t>
              </a:r>
            </a:p>
            <a:p>
              <a:r>
                <a:rPr lang="zh-CN" altLang="en-US" sz="2000" dirty="0">
                  <a:solidFill>
                    <a:srgbClr val="0E00FF"/>
                  </a:solidFill>
                  <a:latin typeface="Menlo" panose="020B0609030804020204" pitchFamily="49" charset="0"/>
                </a:rPr>
                <a:t>    </a:t>
              </a:r>
              <a:r>
                <a:rPr lang="en" altLang="zh-CN" sz="2000" dirty="0">
                  <a:solidFill>
                    <a:srgbClr val="0E00FF"/>
                  </a:solidFill>
                  <a:latin typeface="Menlo" panose="020B0609030804020204" pitchFamily="49" charset="0"/>
                </a:rPr>
                <a:t>end</a:t>
              </a:r>
              <a:endParaRPr lang="en" altLang="zh-CN" sz="2000" dirty="0">
                <a:latin typeface="Menlo" panose="020B0609030804020204" pitchFamily="49" charset="0"/>
              </a:endParaRPr>
            </a:p>
            <a:p>
              <a:r>
                <a:rPr lang="en" altLang="zh-CN" sz="2000" dirty="0">
                  <a:solidFill>
                    <a:srgbClr val="0E00FF"/>
                  </a:solidFill>
                  <a:latin typeface="Menlo" panose="020B0609030804020204" pitchFamily="49" charset="0"/>
                </a:rPr>
                <a:t>end</a:t>
              </a:r>
              <a:endParaRPr lang="en" altLang="zh-CN" sz="2000" dirty="0">
                <a:latin typeface="Menlo" panose="020B0609030804020204" pitchFamily="49" charset="0"/>
              </a:endParaRPr>
            </a:p>
          </p:txBody>
        </p:sp>
        <p:sp>
          <p:nvSpPr>
            <p:cNvPr id="22" name="标题">
              <a:extLst>
                <a:ext uri="{FF2B5EF4-FFF2-40B4-BE49-F238E27FC236}">
                  <a16:creationId xmlns:a16="http://schemas.microsoft.com/office/drawing/2014/main" id="{996EC172-170A-3F96-0435-5E5A5BAF7269}"/>
                </a:ext>
              </a:extLst>
            </p:cNvPr>
            <p:cNvSpPr/>
            <p:nvPr/>
          </p:nvSpPr>
          <p:spPr bwMode="auto">
            <a:xfrm>
              <a:off x="2865994" y="3731681"/>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spTree>
    <p:extLst>
      <p:ext uri="{BB962C8B-B14F-4D97-AF65-F5344CB8AC3E}">
        <p14:creationId xmlns:p14="http://schemas.microsoft.com/office/powerpoint/2010/main" val="2414694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460575" y="348252"/>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AD1DFE65-CB5D-B1CD-E1DA-0B1F5ADE10F4}"/>
              </a:ext>
            </a:extLst>
          </p:cNvPr>
          <p:cNvPicPr>
            <a:picLocks noChangeAspect="1"/>
          </p:cNvPicPr>
          <p:nvPr/>
        </p:nvPicPr>
        <p:blipFill>
          <a:blip r:embed="rId3"/>
          <a:stretch>
            <a:fillRect/>
          </a:stretch>
        </p:blipFill>
        <p:spPr>
          <a:xfrm>
            <a:off x="1048100" y="692696"/>
            <a:ext cx="9854780" cy="6269065"/>
          </a:xfrm>
          <a:prstGeom prst="rect">
            <a:avLst/>
          </a:prstGeom>
        </p:spPr>
      </p:pic>
    </p:spTree>
    <p:extLst>
      <p:ext uri="{BB962C8B-B14F-4D97-AF65-F5344CB8AC3E}">
        <p14:creationId xmlns:p14="http://schemas.microsoft.com/office/powerpoint/2010/main" val="3402249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547676" y="32858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61BF975-5277-B12E-F062-ABB71E9BC899}"/>
                  </a:ext>
                </a:extLst>
              </p:cNvPr>
              <p:cNvSpPr txBox="1"/>
              <p:nvPr/>
            </p:nvSpPr>
            <p:spPr>
              <a:xfrm>
                <a:off x="622598" y="1090994"/>
                <a:ext cx="9029513" cy="954107"/>
              </a:xfrm>
              <a:prstGeom prst="rect">
                <a:avLst/>
              </a:prstGeom>
              <a:noFill/>
            </p:spPr>
            <p:txBody>
              <a:bodyPr wrap="square">
                <a:spAutoFit/>
              </a:bodyPr>
              <a:lstStyle/>
              <a:p>
                <a:r>
                  <a:rPr lang="en-US" altLang="zh-CN" sz="2800" dirty="0"/>
                  <a:t>2.</a:t>
                </a:r>
                <a:r>
                  <a:rPr lang="zh-CN" altLang="en-US" sz="2800" dirty="0"/>
                  <a:t> 当 </a:t>
                </a:r>
                <a14:m>
                  <m:oMath xmlns:m="http://schemas.openxmlformats.org/officeDocument/2006/math">
                    <m:r>
                      <a:rPr lang="en-US" altLang="zh-CN" sz="2800" i="1">
                        <a:latin typeface="Cambria Math" panose="02040503050406030204" pitchFamily="18" charset="0"/>
                        <a:ea typeface="Cambria Math" panose="02040503050406030204" pitchFamily="18" charset="0"/>
                      </a:rPr>
                      <m:t>𝜁</m:t>
                    </m:r>
                    <m:r>
                      <a:rPr lang="en-US" altLang="zh-CN" sz="2800" i="1">
                        <a:latin typeface="Cambria Math" panose="02040503050406030204" pitchFamily="18" charset="0"/>
                        <a:ea typeface="Cambria Math" panose="02040503050406030204" pitchFamily="18" charset="0"/>
                      </a:rPr>
                      <m:t>=2</m:t>
                    </m:r>
                  </m:oMath>
                </a14:m>
                <a:r>
                  <a:rPr lang="el-GR" altLang="zh-CN" sz="2800" dirty="0"/>
                  <a:t> </a:t>
                </a:r>
                <a:r>
                  <a:rPr lang="zh-CN" altLang="en-US" sz="2800" dirty="0"/>
                  <a:t>时，确定使全部极点均位于 </a:t>
                </a:r>
                <a14:m>
                  <m:oMath xmlns:m="http://schemas.openxmlformats.org/officeDocument/2006/math">
                    <m:r>
                      <a:rPr lang="en" altLang="zh-CN" sz="2800" i="1" dirty="0">
                        <a:latin typeface="Cambria Math" panose="02040503050406030204" pitchFamily="18" charset="0"/>
                      </a:rPr>
                      <m:t>𝑠</m:t>
                    </m:r>
                    <m:r>
                      <a:rPr lang="en" altLang="zh-CN" sz="2800" i="1" dirty="0">
                        <a:latin typeface="Cambria Math" panose="02040503050406030204" pitchFamily="18" charset="0"/>
                      </a:rPr>
                      <m:t> = −1 </m:t>
                    </m:r>
                  </m:oMath>
                </a14:m>
                <a:r>
                  <a:rPr lang="zh-CN" altLang="en-US" sz="2800" dirty="0"/>
                  <a:t>之左 的 </a:t>
                </a:r>
                <a14:m>
                  <m:oMath xmlns:m="http://schemas.openxmlformats.org/officeDocument/2006/math">
                    <m:r>
                      <a:rPr lang="en-US" altLang="zh-CN" sz="2800" i="1">
                        <a:latin typeface="Cambria Math" panose="02040503050406030204" pitchFamily="18" charset="0"/>
                      </a:rPr>
                      <m:t>𝐾</m:t>
                    </m:r>
                  </m:oMath>
                </a14:m>
                <a:r>
                  <a:rPr lang="en" altLang="zh-CN" sz="2800" dirty="0"/>
                  <a:t> </a:t>
                </a:r>
                <a:r>
                  <a:rPr lang="zh-CN" altLang="en-US" sz="2800" dirty="0"/>
                  <a:t>值范围。</a:t>
                </a:r>
              </a:p>
            </p:txBody>
          </p:sp>
        </mc:Choice>
        <mc:Fallback xmlns="">
          <p:sp>
            <p:nvSpPr>
              <p:cNvPr id="20" name="文本框 19">
                <a:extLst>
                  <a:ext uri="{FF2B5EF4-FFF2-40B4-BE49-F238E27FC236}">
                    <a16:creationId xmlns:a16="http://schemas.microsoft.com/office/drawing/2014/main" id="{C61BF975-5277-B12E-F062-ABB71E9BC899}"/>
                  </a:ext>
                </a:extLst>
              </p:cNvPr>
              <p:cNvSpPr txBox="1">
                <a:spLocks noRot="1" noChangeAspect="1" noMove="1" noResize="1" noEditPoints="1" noAdjustHandles="1" noChangeArrowheads="1" noChangeShapeType="1" noTextEdit="1"/>
              </p:cNvSpPr>
              <p:nvPr/>
            </p:nvSpPr>
            <p:spPr>
              <a:xfrm>
                <a:off x="622598" y="1090994"/>
                <a:ext cx="9029513" cy="954107"/>
              </a:xfrm>
              <a:prstGeom prst="rect">
                <a:avLst/>
              </a:prstGeom>
              <a:blipFill>
                <a:blip r:embed="rId3"/>
                <a:stretch>
                  <a:fillRect l="-1404" t="-7895" b="-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FB9307A0-7385-CFC0-739E-36905BC205BC}"/>
                  </a:ext>
                </a:extLst>
              </p:cNvPr>
              <p:cNvSpPr txBox="1"/>
              <p:nvPr/>
            </p:nvSpPr>
            <p:spPr>
              <a:xfrm>
                <a:off x="694606" y="1970248"/>
                <a:ext cx="8545047" cy="523220"/>
              </a:xfrm>
              <a:prstGeom prst="rect">
                <a:avLst/>
              </a:prstGeom>
              <a:noFill/>
            </p:spPr>
            <p:txBody>
              <a:bodyPr wrap="square">
                <a:spAutoFit/>
              </a:bodyPr>
              <a:lstStyle/>
              <a:p>
                <a:r>
                  <a:rPr lang="zh-CN" altLang="en-US" sz="2800" dirty="0"/>
                  <a:t>当</a:t>
                </a:r>
                <a14:m>
                  <m:oMath xmlns:m="http://schemas.openxmlformats.org/officeDocument/2006/math">
                    <m:r>
                      <a:rPr lang="el-GR" altLang="zh-CN" sz="2800" i="1" dirty="0">
                        <a:latin typeface="Cambria Math" panose="02040503050406030204" pitchFamily="18" charset="0"/>
                      </a:rPr>
                      <m:t>𝜁</m:t>
                    </m:r>
                    <m:r>
                      <a:rPr lang="el-GR" altLang="zh-CN" sz="2800" i="1" dirty="0">
                        <a:latin typeface="Cambria Math" panose="02040503050406030204" pitchFamily="18" charset="0"/>
                      </a:rPr>
                      <m:t>=2 </m:t>
                    </m:r>
                  </m:oMath>
                </a14:m>
                <a:r>
                  <a:rPr lang="zh-CN" altLang="en-US" sz="2800" dirty="0"/>
                  <a:t>时，进行平移变换：</a:t>
                </a:r>
                <a14:m>
                  <m:oMath xmlns:m="http://schemas.openxmlformats.org/officeDocument/2006/math">
                    <m:r>
                      <a:rPr lang="en" altLang="zh-CN" sz="2800" i="1" dirty="0">
                        <a:latin typeface="Cambria Math" panose="02040503050406030204" pitchFamily="18" charset="0"/>
                      </a:rPr>
                      <m:t>𝑠</m:t>
                    </m:r>
                    <m:r>
                      <a:rPr lang="en" altLang="zh-CN" sz="2800" i="1" dirty="0">
                        <a:latin typeface="Cambria Math" panose="02040503050406030204" pitchFamily="18" charset="0"/>
                      </a:rPr>
                      <m:t>=</m:t>
                    </m:r>
                    <m:acc>
                      <m:accPr>
                        <m:chr m:val="̂"/>
                        <m:ctrlPr>
                          <a:rPr lang="en" altLang="zh-CN" sz="2800" i="1" dirty="0">
                            <a:latin typeface="Cambria Math" panose="02040503050406030204" pitchFamily="18" charset="0"/>
                          </a:rPr>
                        </m:ctrlPr>
                      </m:accPr>
                      <m:e>
                        <m:r>
                          <a:rPr lang="en-US" altLang="zh-CN" sz="2800" i="1" dirty="0">
                            <a:latin typeface="Cambria Math" panose="02040503050406030204" pitchFamily="18" charset="0"/>
                          </a:rPr>
                          <m:t>𝑠</m:t>
                        </m:r>
                      </m:e>
                    </m:acc>
                    <m:r>
                      <a:rPr lang="en" altLang="zh-CN" sz="2800" i="1" dirty="0">
                        <a:latin typeface="Cambria Math" panose="02040503050406030204" pitchFamily="18" charset="0"/>
                      </a:rPr>
                      <m:t>−1</m:t>
                    </m:r>
                  </m:oMath>
                </a14:m>
                <a:endParaRPr lang="zh-CN" altLang="en-US" sz="2800" dirty="0"/>
              </a:p>
            </p:txBody>
          </p:sp>
        </mc:Choice>
        <mc:Fallback xmlns="">
          <p:sp>
            <p:nvSpPr>
              <p:cNvPr id="22" name="文本框 21">
                <a:extLst>
                  <a:ext uri="{FF2B5EF4-FFF2-40B4-BE49-F238E27FC236}">
                    <a16:creationId xmlns:a16="http://schemas.microsoft.com/office/drawing/2014/main" id="{FB9307A0-7385-CFC0-739E-36905BC205BC}"/>
                  </a:ext>
                </a:extLst>
              </p:cNvPr>
              <p:cNvSpPr txBox="1">
                <a:spLocks noRot="1" noChangeAspect="1" noMove="1" noResize="1" noEditPoints="1" noAdjustHandles="1" noChangeArrowheads="1" noChangeShapeType="1" noTextEdit="1"/>
              </p:cNvSpPr>
              <p:nvPr/>
            </p:nvSpPr>
            <p:spPr>
              <a:xfrm>
                <a:off x="694606" y="1970248"/>
                <a:ext cx="8545047" cy="523220"/>
              </a:xfrm>
              <a:prstGeom prst="rect">
                <a:avLst/>
              </a:prstGeom>
              <a:blipFill>
                <a:blip r:embed="rId4"/>
                <a:stretch>
                  <a:fillRect l="-1484" t="-16667"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B1F9BB5-8EA7-3BBF-F84D-F5AC3075A6EA}"/>
                  </a:ext>
                </a:extLst>
              </p:cNvPr>
              <p:cNvSpPr txBox="1"/>
              <p:nvPr/>
            </p:nvSpPr>
            <p:spPr>
              <a:xfrm>
                <a:off x="694606" y="2414384"/>
                <a:ext cx="8795574" cy="18158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𝐷</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𝑠</m:t>
                          </m:r>
                        </m:e>
                      </m:d>
                      <m:r>
                        <m:rPr>
                          <m:aln/>
                        </m:rPr>
                        <a:rPr lang="en-US" altLang="zh-CN" sz="2800" i="1">
                          <a:latin typeface="Cambria Math" panose="02040503050406030204" pitchFamily="18" charset="0"/>
                        </a:rPr>
                        <m:t>=</m:t>
                      </m:r>
                      <m:sSup>
                        <m:sSupPr>
                          <m:ctrlPr>
                            <a:rPr lang="en-US" altLang="zh-CN" sz="2800" i="1">
                              <a:solidFill>
                                <a:srgbClr val="169F84"/>
                              </a:solidFill>
                              <a:latin typeface="Cambria Math" panose="02040503050406030204" pitchFamily="18" charset="0"/>
                            </a:rPr>
                          </m:ctrlPr>
                        </m:sSupPr>
                        <m:e>
                          <m:r>
                            <a:rPr lang="en-US" altLang="zh-CN" sz="2800" i="1">
                              <a:solidFill>
                                <a:srgbClr val="169F84"/>
                              </a:solidFill>
                              <a:latin typeface="Cambria Math" panose="02040503050406030204" pitchFamily="18" charset="0"/>
                            </a:rPr>
                            <m:t>𝑠</m:t>
                          </m:r>
                        </m:e>
                        <m:sup>
                          <m:r>
                            <a:rPr lang="en-US" altLang="zh-CN" sz="2800" i="1">
                              <a:solidFill>
                                <a:srgbClr val="169F84"/>
                              </a:solidFill>
                              <a:latin typeface="Cambria Math" panose="02040503050406030204" pitchFamily="18" charset="0"/>
                            </a:rPr>
                            <m:t>3</m:t>
                          </m:r>
                        </m:sup>
                      </m:sSup>
                      <m:r>
                        <a:rPr lang="en-US" altLang="zh-CN" sz="2800" i="1">
                          <a:latin typeface="Cambria Math" panose="02040503050406030204" pitchFamily="18" charset="0"/>
                        </a:rPr>
                        <m:t>+20</m:t>
                      </m:r>
                      <m:r>
                        <a:rPr lang="en-US" altLang="zh-CN" sz="2800" i="1">
                          <a:latin typeface="Cambria Math" panose="02040503050406030204" pitchFamily="18" charset="0"/>
                          <a:ea typeface="Cambria Math" panose="02040503050406030204" pitchFamily="18" charset="0"/>
                        </a:rPr>
                        <m:t>𝜁</m:t>
                      </m:r>
                      <m:sSup>
                        <m:sSupPr>
                          <m:ctrlPr>
                            <a:rPr lang="en-US" altLang="zh-CN" sz="2800" i="1">
                              <a:solidFill>
                                <a:srgbClr val="169F84"/>
                              </a:solidFill>
                              <a:latin typeface="Cambria Math" panose="02040503050406030204" pitchFamily="18" charset="0"/>
                              <a:ea typeface="Cambria Math" panose="02040503050406030204" pitchFamily="18" charset="0"/>
                            </a:rPr>
                          </m:ctrlPr>
                        </m:sSupPr>
                        <m:e>
                          <m:r>
                            <a:rPr lang="en-US" altLang="zh-CN" sz="2800" i="1">
                              <a:solidFill>
                                <a:srgbClr val="169F84"/>
                              </a:solidFill>
                              <a:latin typeface="Cambria Math" panose="02040503050406030204" pitchFamily="18" charset="0"/>
                              <a:ea typeface="Cambria Math" panose="02040503050406030204" pitchFamily="18" charset="0"/>
                            </a:rPr>
                            <m:t>𝑠</m:t>
                          </m:r>
                        </m:e>
                        <m:sup>
                          <m:r>
                            <a:rPr lang="en-US" altLang="zh-CN" sz="2800" i="1">
                              <a:solidFill>
                                <a:srgbClr val="169F84"/>
                              </a:solidFill>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+100</m:t>
                      </m:r>
                      <m:r>
                        <a:rPr lang="en-US" altLang="zh-CN" sz="2800" i="1">
                          <a:solidFill>
                            <a:srgbClr val="169F84"/>
                          </a:solidFill>
                          <a:latin typeface="Cambria Math" panose="02040503050406030204" pitchFamily="18" charset="0"/>
                          <a:ea typeface="Cambria Math" panose="02040503050406030204" pitchFamily="18" charset="0"/>
                        </a:rPr>
                        <m:t>𝑠</m:t>
                      </m:r>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=0</m:t>
                      </m:r>
                    </m:oMath>
                    <m:oMath xmlns:m="http://schemas.openxmlformats.org/officeDocument/2006/math">
                      <m:r>
                        <m:rPr>
                          <m:aln/>
                        </m:rPr>
                        <a:rPr lang="en-US" altLang="zh-CN" sz="2800" i="1">
                          <a:latin typeface="Cambria Math" panose="02040503050406030204" pitchFamily="18" charset="0"/>
                          <a:ea typeface="Cambria Math" panose="02040503050406030204" pitchFamily="18" charset="0"/>
                        </a:rPr>
                        <m:t>↓</m:t>
                      </m:r>
                      <m:r>
                        <a:rPr lang="en" altLang="zh-CN" sz="2800" i="1" dirty="0">
                          <a:latin typeface="Cambria Math" panose="02040503050406030204" pitchFamily="18" charset="0"/>
                        </a:rPr>
                        <m:t>𝑠</m:t>
                      </m:r>
                      <m:r>
                        <a:rPr lang="en" altLang="zh-CN" sz="2800" i="1" dirty="0">
                          <a:latin typeface="Cambria Math" panose="02040503050406030204" pitchFamily="18" charset="0"/>
                        </a:rPr>
                        <m:t>=</m:t>
                      </m:r>
                      <m:acc>
                        <m:accPr>
                          <m:chr m:val="̂"/>
                          <m:ctrlPr>
                            <a:rPr lang="en" altLang="zh-CN" sz="2800" i="1" dirty="0">
                              <a:latin typeface="Cambria Math" panose="02040503050406030204" pitchFamily="18" charset="0"/>
                            </a:rPr>
                          </m:ctrlPr>
                        </m:accPr>
                        <m:e>
                          <m:r>
                            <a:rPr lang="en-US" altLang="zh-CN" sz="2800" i="1" dirty="0">
                              <a:latin typeface="Cambria Math" panose="02040503050406030204" pitchFamily="18" charset="0"/>
                            </a:rPr>
                            <m:t>𝑠</m:t>
                          </m:r>
                        </m:e>
                      </m:acc>
                      <m:r>
                        <a:rPr lang="en" altLang="zh-CN" sz="2800" i="1" dirty="0">
                          <a:latin typeface="Cambria Math" panose="02040503050406030204" pitchFamily="18" charset="0"/>
                        </a:rPr>
                        <m:t>−1</m:t>
                      </m:r>
                    </m:oMath>
                    <m:oMath xmlns:m="http://schemas.openxmlformats.org/officeDocument/2006/math">
                      <m:r>
                        <a:rPr lang="en-US" altLang="zh-CN" sz="2800" i="1">
                          <a:latin typeface="Cambria Math" panose="02040503050406030204" pitchFamily="18" charset="0"/>
                        </a:rPr>
                        <m:t>𝐷</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e>
                      </m:d>
                      <m:r>
                        <m:rPr>
                          <m:aln/>
                        </m:rP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r>
                            <a:rPr lang="en-US" altLang="zh-CN" sz="2800" i="1">
                              <a:latin typeface="Cambria Math" panose="02040503050406030204" pitchFamily="18" charset="0"/>
                            </a:rPr>
                            <m:t>−1)</m:t>
                          </m:r>
                        </m:e>
                        <m:sup>
                          <m:r>
                            <a:rPr lang="en-US" altLang="zh-CN" sz="2800" i="1">
                              <a:latin typeface="Cambria Math" panose="02040503050406030204" pitchFamily="18" charset="0"/>
                            </a:rPr>
                            <m:t>3</m:t>
                          </m:r>
                        </m:sup>
                      </m:sSup>
                      <m:r>
                        <a:rPr lang="en-US" altLang="zh-CN" sz="2800" i="1">
                          <a:latin typeface="Cambria Math" panose="02040503050406030204" pitchFamily="18" charset="0"/>
                        </a:rPr>
                        <m:t>+40</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r>
                            <a:rPr lang="en-US" altLang="zh-CN" sz="2800" i="1">
                              <a:latin typeface="Cambria Math" panose="02040503050406030204" pitchFamily="18" charset="0"/>
                            </a:rPr>
                            <m:t>−1</m:t>
                          </m:r>
                          <m:r>
                            <a:rPr lang="en-US" altLang="zh-CN" sz="2800" i="1">
                              <a:latin typeface="Cambria Math" panose="02040503050406030204" pitchFamily="18" charset="0"/>
                              <a:ea typeface="Cambria Math" panose="02040503050406030204" pitchFamily="18" charset="0"/>
                            </a:rPr>
                            <m:t>)</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+100</m:t>
                      </m:r>
                      <m:d>
                        <m:dPr>
                          <m:ctrlPr>
                            <a:rPr lang="en-US" altLang="zh-CN" sz="2800" i="1">
                              <a:latin typeface="Cambria Math" panose="02040503050406030204" pitchFamily="18" charset="0"/>
                              <a:ea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r>
                            <a:rPr lang="en-US" altLang="zh-CN" sz="2800" i="1">
                              <a:latin typeface="Cambria Math" panose="02040503050406030204" pitchFamily="18" charset="0"/>
                            </a:rPr>
                            <m:t>−1</m:t>
                          </m:r>
                        </m:e>
                      </m:d>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=0</m:t>
                      </m:r>
                    </m:oMath>
                    <m:oMath xmlns:m="http://schemas.openxmlformats.org/officeDocument/2006/math">
                      <m:r>
                        <m:rPr>
                          <m:aln/>
                        </m:rP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rPr>
                          </m:ctrlPr>
                        </m:sSup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e>
                        <m:sup>
                          <m:r>
                            <a:rPr lang="en-US" altLang="zh-CN" sz="2800">
                              <a:latin typeface="Cambria Math" panose="02040503050406030204" pitchFamily="18" charset="0"/>
                            </a:rPr>
                            <m:t>3</m:t>
                          </m:r>
                        </m:sup>
                      </m:sSup>
                      <m:r>
                        <a:rPr lang="en-US" altLang="zh-CN" sz="2800">
                          <a:latin typeface="Cambria Math" panose="02040503050406030204" pitchFamily="18" charset="0"/>
                        </a:rPr>
                        <m:t>+37</m:t>
                      </m:r>
                      <m:sSup>
                        <m:sSupPr>
                          <m:ctrlPr>
                            <a:rPr lang="en-US" altLang="zh-CN" sz="2800" i="1">
                              <a:latin typeface="Cambria Math" panose="02040503050406030204" pitchFamily="18" charset="0"/>
                            </a:rPr>
                          </m:ctrlPr>
                        </m:sSup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e>
                        <m:sup>
                          <m:r>
                            <a:rPr lang="en-US" altLang="zh-CN" sz="2800">
                              <a:latin typeface="Cambria Math" panose="02040503050406030204" pitchFamily="18" charset="0"/>
                            </a:rPr>
                            <m:t>2</m:t>
                          </m:r>
                        </m:sup>
                      </m:sSup>
                      <m:r>
                        <a:rPr lang="en-US" altLang="zh-CN" sz="2800">
                          <a:latin typeface="Cambria Math" panose="02040503050406030204" pitchFamily="18" charset="0"/>
                        </a:rPr>
                        <m:t>+23</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𝑠</m:t>
                          </m:r>
                        </m:e>
                      </m:acc>
                      <m:r>
                        <a:rPr lang="en-US" altLang="zh-CN" sz="2800" i="1">
                          <a:latin typeface="Cambria Math" panose="02040503050406030204" pitchFamily="18" charset="0"/>
                        </a:rPr>
                        <m:t>+</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100</m:t>
                          </m:r>
                          <m:r>
                            <a:rPr lang="en-US" altLang="zh-CN" sz="2800" i="1">
                              <a:latin typeface="Cambria Math" panose="02040503050406030204" pitchFamily="18" charset="0"/>
                            </a:rPr>
                            <m:t>𝐾</m:t>
                          </m:r>
                          <m:r>
                            <a:rPr lang="en-US" altLang="zh-CN" sz="2800" i="1">
                              <a:latin typeface="Cambria Math" panose="02040503050406030204" pitchFamily="18" charset="0"/>
                            </a:rPr>
                            <m:t>−61</m:t>
                          </m:r>
                        </m:e>
                      </m:d>
                      <m:r>
                        <a:rPr lang="en-US" altLang="zh-CN" sz="2800" i="1">
                          <a:latin typeface="Cambria Math" panose="02040503050406030204" pitchFamily="18" charset="0"/>
                        </a:rPr>
                        <m:t>=0</m:t>
                      </m:r>
                    </m:oMath>
                  </m:oMathPara>
                </a14:m>
                <a:endParaRPr lang="en-US" altLang="zh-CN" sz="2800" dirty="0"/>
              </a:p>
            </p:txBody>
          </p:sp>
        </mc:Choice>
        <mc:Fallback xmlns="">
          <p:sp>
            <p:nvSpPr>
              <p:cNvPr id="24" name="文本框 23">
                <a:extLst>
                  <a:ext uri="{FF2B5EF4-FFF2-40B4-BE49-F238E27FC236}">
                    <a16:creationId xmlns:a16="http://schemas.microsoft.com/office/drawing/2014/main" id="{7B1F9BB5-8EA7-3BBF-F84D-F5AC3075A6EA}"/>
                  </a:ext>
                </a:extLst>
              </p:cNvPr>
              <p:cNvSpPr txBox="1">
                <a:spLocks noRot="1" noChangeAspect="1" noMove="1" noResize="1" noEditPoints="1" noAdjustHandles="1" noChangeArrowheads="1" noChangeShapeType="1" noTextEdit="1"/>
              </p:cNvSpPr>
              <p:nvPr/>
            </p:nvSpPr>
            <p:spPr>
              <a:xfrm>
                <a:off x="694606" y="2414384"/>
                <a:ext cx="8795574" cy="181588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94AFAE70-95BC-9E18-3BEC-86950929111D}"/>
                  </a:ext>
                </a:extLst>
              </p:cNvPr>
              <p:cNvSpPr txBox="1"/>
              <p:nvPr/>
            </p:nvSpPr>
            <p:spPr>
              <a:xfrm>
                <a:off x="1026904" y="4227562"/>
                <a:ext cx="2937290" cy="19720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altLang="zh-CN" sz="2800" i="1">
                              <a:latin typeface="Cambria Math" panose="02040503050406030204" pitchFamily="18" charset="0"/>
                              <a:ea typeface="Cambria Math" panose="02040503050406030204" pitchFamily="18" charset="0"/>
                            </a:rPr>
                          </m:ctrlPr>
                        </m:mPr>
                        <m:mr>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acc>
                                  <m:accPr>
                                    <m:chr m:val="̂"/>
                                    <m:ctrlPr>
                                      <a:rPr lang="en-US" altLang="zh-CN" sz="2800" i="1">
                                        <a:solidFill>
                                          <a:srgbClr val="169F84"/>
                                        </a:solidFill>
                                        <a:latin typeface="Cambria Math" panose="02040503050406030204" pitchFamily="18" charset="0"/>
                                      </a:rPr>
                                    </m:ctrlPr>
                                  </m:accPr>
                                  <m:e>
                                    <m:r>
                                      <a:rPr lang="en-US" altLang="zh-CN" sz="2800" i="1">
                                        <a:solidFill>
                                          <a:srgbClr val="169F84"/>
                                        </a:solidFill>
                                        <a:latin typeface="Cambria Math" panose="02040503050406030204" pitchFamily="18" charset="0"/>
                                      </a:rPr>
                                      <m:t>𝑠</m:t>
                                    </m:r>
                                  </m:e>
                                </m:acc>
                              </m:e>
                              <m:sup>
                                <m:r>
                                  <a:rPr lang="en-US" altLang="zh-CN" sz="2800" i="1">
                                    <a:solidFill>
                                      <a:srgbClr val="169F84"/>
                                    </a:solidFill>
                                    <a:latin typeface="Cambria Math" panose="02040503050406030204" pitchFamily="18" charset="0"/>
                                    <a:ea typeface="Cambria Math" panose="02040503050406030204" pitchFamily="18" charset="0"/>
                                  </a:rPr>
                                  <m:t>3</m:t>
                                </m:r>
                              </m:sup>
                            </m:sSup>
                          </m:e>
                          <m:e>
                            <m:r>
                              <a:rPr lang="en-US" altLang="zh-CN" sz="2800" i="1">
                                <a:latin typeface="Cambria Math" panose="02040503050406030204" pitchFamily="18" charset="0"/>
                                <a:ea typeface="Cambria Math" panose="02040503050406030204" pitchFamily="18" charset="0"/>
                              </a:rPr>
                              <m:t>1</m:t>
                            </m:r>
                          </m:e>
                          <m:e>
                            <m:r>
                              <a:rPr lang="en-US" altLang="zh-CN" sz="2800" i="1">
                                <a:latin typeface="Cambria Math" panose="02040503050406030204" pitchFamily="18" charset="0"/>
                                <a:ea typeface="Cambria Math" panose="02040503050406030204" pitchFamily="18" charset="0"/>
                              </a:rPr>
                              <m:t>23</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acc>
                                  <m:accPr>
                                    <m:chr m:val="̂"/>
                                    <m:ctrlPr>
                                      <a:rPr lang="en-US" altLang="zh-CN" sz="2800" i="1">
                                        <a:solidFill>
                                          <a:srgbClr val="169F84"/>
                                        </a:solidFill>
                                        <a:latin typeface="Cambria Math" panose="02040503050406030204" pitchFamily="18" charset="0"/>
                                      </a:rPr>
                                    </m:ctrlPr>
                                  </m:accPr>
                                  <m:e>
                                    <m:r>
                                      <a:rPr lang="en-US" altLang="zh-CN" sz="2800" i="1">
                                        <a:solidFill>
                                          <a:srgbClr val="169F84"/>
                                        </a:solidFill>
                                        <a:latin typeface="Cambria Math" panose="02040503050406030204" pitchFamily="18" charset="0"/>
                                      </a:rPr>
                                      <m:t>𝑠</m:t>
                                    </m:r>
                                  </m:e>
                                </m:acc>
                              </m:e>
                              <m:sup>
                                <m:r>
                                  <a:rPr lang="en-US" altLang="zh-CN" sz="2800" i="1">
                                    <a:solidFill>
                                      <a:srgbClr val="169F84"/>
                                    </a:solidFill>
                                    <a:latin typeface="Cambria Math" panose="02040503050406030204" pitchFamily="18" charset="0"/>
                                    <a:ea typeface="Cambria Math" panose="02040503050406030204" pitchFamily="18" charset="0"/>
                                  </a:rPr>
                                  <m:t>2</m:t>
                                </m:r>
                              </m:sup>
                            </m:sSup>
                          </m:e>
                          <m:e>
                            <m:r>
                              <a:rPr lang="en-US" altLang="zh-CN" sz="2800" i="1">
                                <a:latin typeface="Cambria Math" panose="02040503050406030204" pitchFamily="18" charset="0"/>
                                <a:ea typeface="Cambria Math" panose="02040503050406030204" pitchFamily="18" charset="0"/>
                              </a:rPr>
                              <m:t>37</m:t>
                            </m:r>
                          </m:e>
                          <m:e>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−61</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acc>
                                  <m:accPr>
                                    <m:chr m:val="̂"/>
                                    <m:ctrlPr>
                                      <a:rPr lang="en-US" altLang="zh-CN" sz="2800" i="1">
                                        <a:solidFill>
                                          <a:srgbClr val="169F84"/>
                                        </a:solidFill>
                                        <a:latin typeface="Cambria Math" panose="02040503050406030204" pitchFamily="18" charset="0"/>
                                      </a:rPr>
                                    </m:ctrlPr>
                                  </m:accPr>
                                  <m:e>
                                    <m:r>
                                      <a:rPr lang="en-US" altLang="zh-CN" sz="2800" i="1">
                                        <a:solidFill>
                                          <a:srgbClr val="169F84"/>
                                        </a:solidFill>
                                        <a:latin typeface="Cambria Math" panose="02040503050406030204" pitchFamily="18" charset="0"/>
                                      </a:rPr>
                                      <m:t>𝑠</m:t>
                                    </m:r>
                                  </m:e>
                                </m:acc>
                              </m:e>
                              <m:sup>
                                <m:r>
                                  <a:rPr lang="en-US" altLang="zh-CN" sz="2800" i="1">
                                    <a:solidFill>
                                      <a:srgbClr val="169F84"/>
                                    </a:solidFill>
                                    <a:latin typeface="Cambria Math" panose="02040503050406030204" pitchFamily="18" charset="0"/>
                                    <a:ea typeface="Cambria Math" panose="02040503050406030204" pitchFamily="18" charset="0"/>
                                  </a:rPr>
                                  <m:t>1</m:t>
                                </m:r>
                              </m:sup>
                            </m:sSup>
                          </m:e>
                          <m:e>
                            <m:box>
                              <m:boxPr>
                                <m:ctrlPr>
                                  <a:rPr lang="en-US" altLang="zh-CN" sz="2800" i="1">
                                    <a:latin typeface="Cambria Math" panose="02040503050406030204" pitchFamily="18" charset="0"/>
                                    <a:ea typeface="Cambria Math" panose="02040503050406030204" pitchFamily="18" charset="0"/>
                                  </a:rPr>
                                </m:ctrlPr>
                              </m:boxPr>
                              <m:e>
                                <m:argPr>
                                  <m:argSz m:val="-1"/>
                                </m:argP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912−100</m:t>
                                    </m:r>
                                    <m:r>
                                      <a:rPr lang="en-US" altLang="zh-CN" sz="2800" i="1">
                                        <a:latin typeface="Cambria Math" panose="02040503050406030204" pitchFamily="18" charset="0"/>
                                        <a:ea typeface="Cambria Math" panose="02040503050406030204" pitchFamily="18" charset="0"/>
                                      </a:rPr>
                                      <m:t>𝐾</m:t>
                                    </m:r>
                                  </m:num>
                                  <m:den>
                                    <m:r>
                                      <a:rPr lang="en-US" altLang="zh-CN" sz="2800" i="1">
                                        <a:latin typeface="Cambria Math" panose="02040503050406030204" pitchFamily="18" charset="0"/>
                                        <a:ea typeface="Cambria Math" panose="02040503050406030204" pitchFamily="18" charset="0"/>
                                      </a:rPr>
                                      <m:t>37</m:t>
                                    </m:r>
                                  </m:den>
                                </m:f>
                              </m:e>
                            </m:box>
                          </m:e>
                          <m:e>
                            <m:r>
                              <a:rPr lang="en-US" altLang="zh-CN" sz="2800" i="1">
                                <a:latin typeface="Cambria Math" panose="02040503050406030204" pitchFamily="18" charset="0"/>
                                <a:ea typeface="Cambria Math" panose="02040503050406030204" pitchFamily="18" charset="0"/>
                              </a:rPr>
                              <m:t>0</m:t>
                            </m:r>
                          </m:e>
                          <m:e>
                            <m:r>
                              <a:rPr lang="zh-CN" altLang="en-US" sz="2800" i="1">
                                <a:latin typeface="Cambria Math" panose="02040503050406030204" pitchFamily="18" charset="0"/>
                                <a:ea typeface="Cambria Math" panose="02040503050406030204" pitchFamily="18" charset="0"/>
                              </a:rPr>
                              <m:t> </m:t>
                            </m:r>
                          </m:e>
                        </m:mr>
                        <m:mr>
                          <m:e>
                            <m:sSup>
                              <m:sSupPr>
                                <m:ctrlPr>
                                  <a:rPr lang="en-US" altLang="zh-CN" sz="2800" i="1">
                                    <a:solidFill>
                                      <a:srgbClr val="169F84"/>
                                    </a:solidFill>
                                    <a:latin typeface="Cambria Math" panose="02040503050406030204" pitchFamily="18" charset="0"/>
                                    <a:ea typeface="Cambria Math" panose="02040503050406030204" pitchFamily="18" charset="0"/>
                                  </a:rPr>
                                </m:ctrlPr>
                              </m:sSupPr>
                              <m:e>
                                <m:acc>
                                  <m:accPr>
                                    <m:chr m:val="̂"/>
                                    <m:ctrlPr>
                                      <a:rPr lang="en-US" altLang="zh-CN" sz="2800" i="1">
                                        <a:solidFill>
                                          <a:srgbClr val="169F84"/>
                                        </a:solidFill>
                                        <a:latin typeface="Cambria Math" panose="02040503050406030204" pitchFamily="18" charset="0"/>
                                      </a:rPr>
                                    </m:ctrlPr>
                                  </m:accPr>
                                  <m:e>
                                    <m:r>
                                      <a:rPr lang="en-US" altLang="zh-CN" sz="2800" i="1">
                                        <a:solidFill>
                                          <a:srgbClr val="169F84"/>
                                        </a:solidFill>
                                        <a:latin typeface="Cambria Math" panose="02040503050406030204" pitchFamily="18" charset="0"/>
                                      </a:rPr>
                                      <m:t>𝑠</m:t>
                                    </m:r>
                                  </m:e>
                                </m:acc>
                              </m:e>
                              <m:sup>
                                <m:r>
                                  <a:rPr lang="en-US" altLang="zh-CN" sz="2800" i="1">
                                    <a:solidFill>
                                      <a:srgbClr val="169F84"/>
                                    </a:solidFill>
                                    <a:latin typeface="Cambria Math" panose="02040503050406030204" pitchFamily="18" charset="0"/>
                                    <a:ea typeface="Cambria Math" panose="02040503050406030204" pitchFamily="18" charset="0"/>
                                  </a:rPr>
                                  <m:t>0</m:t>
                                </m:r>
                              </m:sup>
                            </m:sSup>
                          </m:e>
                          <m:e>
                            <m:r>
                              <a:rPr lang="en-US" altLang="zh-CN" sz="2800" i="1">
                                <a:latin typeface="Cambria Math" panose="02040503050406030204" pitchFamily="18" charset="0"/>
                                <a:ea typeface="Cambria Math" panose="02040503050406030204" pitchFamily="18" charset="0"/>
                              </a:rPr>
                              <m:t>100</m:t>
                            </m:r>
                            <m:r>
                              <a:rPr lang="en-US" altLang="zh-CN" sz="2800" i="1">
                                <a:latin typeface="Cambria Math" panose="02040503050406030204" pitchFamily="18" charset="0"/>
                                <a:ea typeface="Cambria Math" panose="02040503050406030204" pitchFamily="18" charset="0"/>
                              </a:rPr>
                              <m:t>𝐾</m:t>
                            </m:r>
                            <m:r>
                              <a:rPr lang="en-US" altLang="zh-CN" sz="2800" i="1">
                                <a:latin typeface="Cambria Math" panose="02040503050406030204" pitchFamily="18" charset="0"/>
                                <a:ea typeface="Cambria Math" panose="02040503050406030204" pitchFamily="18" charset="0"/>
                              </a:rPr>
                              <m:t>−61</m:t>
                            </m:r>
                          </m:e>
                          <m:e>
                            <m:r>
                              <a:rPr lang="zh-CN" altLang="en-US" sz="2800" i="1">
                                <a:latin typeface="Cambria Math" panose="02040503050406030204" pitchFamily="18" charset="0"/>
                                <a:ea typeface="Cambria Math" panose="02040503050406030204" pitchFamily="18" charset="0"/>
                              </a:rPr>
                              <m:t> </m:t>
                            </m:r>
                          </m:e>
                          <m:e>
                            <m:r>
                              <a:rPr lang="zh-CN" altLang="en-US" sz="2800" i="1">
                                <a:latin typeface="Cambria Math" panose="02040503050406030204" pitchFamily="18" charset="0"/>
                                <a:ea typeface="Cambria Math" panose="02040503050406030204" pitchFamily="18" charset="0"/>
                              </a:rPr>
                              <m:t> </m:t>
                            </m:r>
                          </m:e>
                        </m:mr>
                      </m:m>
                    </m:oMath>
                  </m:oMathPara>
                </a14:m>
                <a:br>
                  <a:rPr lang="en-US" altLang="zh-CN" sz="2800" i="1" dirty="0">
                    <a:latin typeface="Cambria Math" panose="02040503050406030204" pitchFamily="18" charset="0"/>
                    <a:ea typeface="Cambria Math" panose="02040503050406030204" pitchFamily="18" charset="0"/>
                  </a:rPr>
                </a:br>
                <a:endParaRPr lang="zh-CN" altLang="en-US" sz="2800" i="1" dirty="0"/>
              </a:p>
            </p:txBody>
          </p:sp>
        </mc:Choice>
        <mc:Fallback xmlns="">
          <p:sp>
            <p:nvSpPr>
              <p:cNvPr id="31" name="文本框 30">
                <a:extLst>
                  <a:ext uri="{FF2B5EF4-FFF2-40B4-BE49-F238E27FC236}">
                    <a16:creationId xmlns:a16="http://schemas.microsoft.com/office/drawing/2014/main" id="{94AFAE70-95BC-9E18-3BEC-86950929111D}"/>
                  </a:ext>
                </a:extLst>
              </p:cNvPr>
              <p:cNvSpPr txBox="1">
                <a:spLocks noRot="1" noChangeAspect="1" noMove="1" noResize="1" noEditPoints="1" noAdjustHandles="1" noChangeArrowheads="1" noChangeShapeType="1" noTextEdit="1"/>
              </p:cNvSpPr>
              <p:nvPr/>
            </p:nvSpPr>
            <p:spPr>
              <a:xfrm>
                <a:off x="1026904" y="4227562"/>
                <a:ext cx="2937290" cy="1972015"/>
              </a:xfrm>
              <a:prstGeom prst="rect">
                <a:avLst/>
              </a:prstGeom>
              <a:blipFill>
                <a:blip r:embed="rId6"/>
                <a:stretch>
                  <a:fillRect t="-13376" r="-73276" b="-95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8E02A54-504A-42CF-0BC9-1C41A5A9AC28}"/>
                  </a:ext>
                </a:extLst>
              </p:cNvPr>
              <p:cNvSpPr txBox="1"/>
              <p:nvPr/>
            </p:nvSpPr>
            <p:spPr>
              <a:xfrm>
                <a:off x="5807174" y="5213569"/>
                <a:ext cx="264560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𝐾</m:t>
                      </m:r>
                      <m:r>
                        <a:rPr lang="en-US" altLang="zh-CN" sz="2800" i="1">
                          <a:latin typeface="Cambria Math" panose="02040503050406030204" pitchFamily="18" charset="0"/>
                        </a:rPr>
                        <m:t>&lt;9.12</m:t>
                      </m:r>
                    </m:oMath>
                  </m:oMathPara>
                </a14:m>
                <a:endParaRPr lang="zh-CN" altLang="en-US" sz="2800" dirty="0"/>
              </a:p>
            </p:txBody>
          </p:sp>
        </mc:Choice>
        <mc:Fallback xmlns="">
          <p:sp>
            <p:nvSpPr>
              <p:cNvPr id="32" name="文本框 31">
                <a:extLst>
                  <a:ext uri="{FF2B5EF4-FFF2-40B4-BE49-F238E27FC236}">
                    <a16:creationId xmlns:a16="http://schemas.microsoft.com/office/drawing/2014/main" id="{A8E02A54-504A-42CF-0BC9-1C41A5A9AC28}"/>
                  </a:ext>
                </a:extLst>
              </p:cNvPr>
              <p:cNvSpPr txBox="1">
                <a:spLocks noRot="1" noChangeAspect="1" noMove="1" noResize="1" noEditPoints="1" noAdjustHandles="1" noChangeArrowheads="1" noChangeShapeType="1" noTextEdit="1"/>
              </p:cNvSpPr>
              <p:nvPr/>
            </p:nvSpPr>
            <p:spPr>
              <a:xfrm>
                <a:off x="5807174" y="5213569"/>
                <a:ext cx="2645603"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C1E419B2-CCE5-44FC-0353-28BF65D6A575}"/>
                  </a:ext>
                </a:extLst>
              </p:cNvPr>
              <p:cNvSpPr txBox="1"/>
              <p:nvPr/>
            </p:nvSpPr>
            <p:spPr>
              <a:xfrm>
                <a:off x="5807173" y="5675234"/>
                <a:ext cx="264560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rPr>
                        <m:t>⇒</m:t>
                      </m:r>
                      <m:r>
                        <a:rPr lang="en-US" altLang="zh-CN" sz="2800" i="1">
                          <a:latin typeface="Cambria Math" panose="02040503050406030204" pitchFamily="18" charset="0"/>
                        </a:rPr>
                        <m:t>𝐾</m:t>
                      </m:r>
                      <m:r>
                        <a:rPr lang="en-US" altLang="zh-CN" sz="2800">
                          <a:latin typeface="Cambria Math" panose="02040503050406030204" pitchFamily="18" charset="0"/>
                          <a:ea typeface="Cambria Math" panose="02040503050406030204" pitchFamily="18" charset="0"/>
                        </a:rPr>
                        <m:t>&gt;0.61</m:t>
                      </m:r>
                    </m:oMath>
                  </m:oMathPara>
                </a14:m>
                <a:endParaRPr lang="zh-CN" altLang="en-US" sz="2800" dirty="0"/>
              </a:p>
            </p:txBody>
          </p:sp>
        </mc:Choice>
        <mc:Fallback xmlns="">
          <p:sp>
            <p:nvSpPr>
              <p:cNvPr id="34" name="文本框 33">
                <a:extLst>
                  <a:ext uri="{FF2B5EF4-FFF2-40B4-BE49-F238E27FC236}">
                    <a16:creationId xmlns:a16="http://schemas.microsoft.com/office/drawing/2014/main" id="{C1E419B2-CCE5-44FC-0353-28BF65D6A575}"/>
                  </a:ext>
                </a:extLst>
              </p:cNvPr>
              <p:cNvSpPr txBox="1">
                <a:spLocks noRot="1" noChangeAspect="1" noMove="1" noResize="1" noEditPoints="1" noAdjustHandles="1" noChangeArrowheads="1" noChangeShapeType="1" noTextEdit="1"/>
              </p:cNvSpPr>
              <p:nvPr/>
            </p:nvSpPr>
            <p:spPr>
              <a:xfrm>
                <a:off x="5807173" y="5675234"/>
                <a:ext cx="2645603" cy="523220"/>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4471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up)">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left)">
                                      <p:cBhvr>
                                        <p:cTn id="3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P spid="31" grpId="0"/>
      <p:bldP spid="32"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547676" y="32858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9" name="代码框">
            <a:extLst>
              <a:ext uri="{FF2B5EF4-FFF2-40B4-BE49-F238E27FC236}">
                <a16:creationId xmlns:a16="http://schemas.microsoft.com/office/drawing/2014/main" id="{000B36A0-BD99-3110-37A0-20BB0DB72F60}"/>
              </a:ext>
            </a:extLst>
          </p:cNvPr>
          <p:cNvGrpSpPr/>
          <p:nvPr/>
        </p:nvGrpSpPr>
        <p:grpSpPr>
          <a:xfrm>
            <a:off x="334963" y="980413"/>
            <a:ext cx="11511275" cy="4422886"/>
            <a:chOff x="2506351" y="3731681"/>
            <a:chExt cx="11511275" cy="4422886"/>
          </a:xfrm>
        </p:grpSpPr>
        <p:sp>
          <p:nvSpPr>
            <p:cNvPr id="10" name="代码">
              <a:extLst>
                <a:ext uri="{FF2B5EF4-FFF2-40B4-BE49-F238E27FC236}">
                  <a16:creationId xmlns:a16="http://schemas.microsoft.com/office/drawing/2014/main" id="{AD35DCC1-C655-D235-5E1F-5561F138D14A}"/>
                </a:ext>
              </a:extLst>
            </p:cNvPr>
            <p:cNvSpPr txBox="1"/>
            <p:nvPr/>
          </p:nvSpPr>
          <p:spPr>
            <a:xfrm>
              <a:off x="2506351" y="4092108"/>
              <a:ext cx="11511275" cy="4062459"/>
            </a:xfrm>
            <a:prstGeom prst="roundRect">
              <a:avLst>
                <a:gd name="adj" fmla="val 8919"/>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bIns="72000" rtlCol="0">
              <a:spAutoFit/>
            </a:bodyPr>
            <a:lstStyle/>
            <a:p>
              <a:r>
                <a:rPr lang="en" altLang="zh-CN" sz="2000" dirty="0">
                  <a:latin typeface="Menlo" panose="020B0609030804020204" pitchFamily="49" charset="0"/>
                </a:rPr>
                <a:t>L = 100;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选取的</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值数量</a:t>
              </a:r>
              <a:endParaRPr lang="zh-CN" altLang="en-US" sz="2000" dirty="0">
                <a:latin typeface="Menlo" panose="020B0609030804020204" pitchFamily="49" charset="0"/>
              </a:endParaRPr>
            </a:p>
            <a:p>
              <a:r>
                <a:rPr lang="en" altLang="zh-CN" sz="2000" dirty="0">
                  <a:latin typeface="Menlo" panose="020B0609030804020204" pitchFamily="49" charset="0"/>
                </a:rPr>
                <a:t>K = </a:t>
              </a:r>
              <a:r>
                <a:rPr lang="en" altLang="zh-CN" sz="2000" dirty="0" err="1">
                  <a:latin typeface="Menlo" panose="020B0609030804020204" pitchFamily="49" charset="0"/>
                </a:rPr>
                <a:t>linspace</a:t>
              </a:r>
              <a:r>
                <a:rPr lang="en" altLang="zh-CN" sz="2000" dirty="0">
                  <a:latin typeface="Menlo" panose="020B0609030804020204" pitchFamily="49" charset="0"/>
                </a:rPr>
                <a:t>(0.61,9.12,L);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均匀生成</a:t>
              </a:r>
              <a:r>
                <a:rPr lang="en" altLang="zh-CN" sz="2000" dirty="0">
                  <a:solidFill>
                    <a:srgbClr val="028009"/>
                  </a:solidFill>
                  <a:latin typeface="Menlo" panose="020B0609030804020204" pitchFamily="49" charset="0"/>
                </a:rPr>
                <a:t>L</a:t>
              </a:r>
              <a:r>
                <a:rPr lang="zh-CN" altLang="en-US" sz="2000" dirty="0">
                  <a:solidFill>
                    <a:srgbClr val="028009"/>
                  </a:solidFill>
                  <a:latin typeface="Menlo" panose="020B0609030804020204" pitchFamily="49" charset="0"/>
                </a:rPr>
                <a:t>个</a:t>
              </a:r>
              <a:r>
                <a:rPr lang="en" altLang="zh-CN" sz="2000" dirty="0">
                  <a:solidFill>
                    <a:srgbClr val="028009"/>
                  </a:solidFill>
                  <a:latin typeface="Menlo" panose="020B0609030804020204" pitchFamily="49" charset="0"/>
                </a:rPr>
                <a:t>K</a:t>
              </a:r>
              <a:endParaRPr lang="en" altLang="zh-CN" sz="2000" dirty="0">
                <a:latin typeface="Menlo" panose="020B0609030804020204" pitchFamily="49" charset="0"/>
              </a:endParaRPr>
            </a:p>
            <a:p>
              <a:r>
                <a:rPr lang="en" altLang="zh-CN" sz="2000" dirty="0">
                  <a:latin typeface="Menlo" panose="020B0609030804020204" pitchFamily="49" charset="0"/>
                </a:rPr>
                <a:t>zeta = 2;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阻尼</a:t>
              </a:r>
              <a:endParaRPr lang="zh-CN" altLang="en-US" sz="2000" dirty="0">
                <a:latin typeface="Menlo" panose="020B0609030804020204" pitchFamily="49" charset="0"/>
              </a:endParaRPr>
            </a:p>
            <a:p>
              <a:r>
                <a:rPr lang="en" altLang="zh-CN" sz="2000" dirty="0">
                  <a:latin typeface="Menlo" panose="020B0609030804020204" pitchFamily="49" charset="0"/>
                </a:rPr>
                <a:t>figure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开启图窗</a:t>
              </a:r>
              <a:endParaRPr lang="zh-CN" altLang="en-US" sz="2000" dirty="0">
                <a:latin typeface="Menlo" panose="020B0609030804020204" pitchFamily="49" charset="0"/>
              </a:endParaRPr>
            </a:p>
            <a:p>
              <a:r>
                <a:rPr lang="en" altLang="zh-CN" sz="2000" dirty="0">
                  <a:latin typeface="Menlo" panose="020B0609030804020204" pitchFamily="49" charset="0"/>
                </a:rPr>
                <a:t>hold </a:t>
              </a:r>
              <a:r>
                <a:rPr lang="en" altLang="zh-CN" sz="2000" dirty="0">
                  <a:solidFill>
                    <a:srgbClr val="AA04F9"/>
                  </a:solidFill>
                  <a:latin typeface="Menlo" panose="020B0609030804020204" pitchFamily="49" charset="0"/>
                </a:rPr>
                <a:t>on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保持图窗，叠加作图</a:t>
              </a:r>
              <a:endParaRPr lang="zh-CN" altLang="en-US" sz="2000" dirty="0">
                <a:latin typeface="Menlo" panose="020B0609030804020204" pitchFamily="49" charset="0"/>
              </a:endParaRPr>
            </a:p>
            <a:p>
              <a:r>
                <a:rPr lang="en" altLang="zh-CN" sz="2000" dirty="0">
                  <a:solidFill>
                    <a:srgbClr val="0E00FF"/>
                  </a:solidFill>
                  <a:latin typeface="Menlo" panose="020B0609030804020204" pitchFamily="49" charset="0"/>
                </a:rPr>
                <a:t>for </a:t>
              </a:r>
              <a:r>
                <a:rPr lang="en" altLang="zh-CN" sz="2000" dirty="0">
                  <a:latin typeface="Menlo" panose="020B0609030804020204" pitchFamily="49" charset="0"/>
                </a:rPr>
                <a:t>ii = 1:L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在所有</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值中循环</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D = [1,20*zeta,100,100*K(ii)];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用不同的</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值产生特征多项式</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r = roots(D);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求根</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scatter(real(r),</a:t>
              </a:r>
              <a:r>
                <a:rPr lang="en" altLang="zh-CN" sz="2000" dirty="0" err="1">
                  <a:latin typeface="Menlo" panose="020B0609030804020204" pitchFamily="49" charset="0"/>
                </a:rPr>
                <a:t>imag</a:t>
              </a:r>
              <a:r>
                <a:rPr lang="en" altLang="zh-CN" sz="2000" dirty="0">
                  <a:latin typeface="Menlo" panose="020B0609030804020204" pitchFamily="49" charset="0"/>
                </a:rPr>
                <a:t>(r),</a:t>
              </a:r>
              <a:r>
                <a:rPr lang="en" altLang="zh-CN" sz="2000" dirty="0" err="1">
                  <a:latin typeface="Menlo" panose="020B0609030804020204" pitchFamily="49" charset="0"/>
                </a:rPr>
                <a:t>LineWidth</a:t>
              </a:r>
              <a:r>
                <a:rPr lang="en" altLang="zh-CN" sz="2000" dirty="0">
                  <a:latin typeface="Menlo" panose="020B0609030804020204" pitchFamily="49" charset="0"/>
                </a:rPr>
                <a:t>=2)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用散点图画出特征根</a:t>
              </a:r>
              <a:endParaRPr lang="zh-CN" altLang="en-US" sz="2000" dirty="0">
                <a:latin typeface="Menlo" panose="020B0609030804020204" pitchFamily="49" charset="0"/>
              </a:endParaRPr>
            </a:p>
            <a:p>
              <a:r>
                <a:rPr lang="en" altLang="zh-CN" sz="2000" dirty="0">
                  <a:solidFill>
                    <a:srgbClr val="0E00FF"/>
                  </a:solidFill>
                  <a:latin typeface="Menlo" panose="020B0609030804020204" pitchFamily="49" charset="0"/>
                </a:rPr>
                <a:t>end</a:t>
              </a:r>
              <a:endParaRPr lang="en" altLang="zh-CN" sz="2000" dirty="0">
                <a:latin typeface="Menlo" panose="020B0609030804020204" pitchFamily="49" charset="0"/>
              </a:endParaRPr>
            </a:p>
            <a:p>
              <a:r>
                <a:rPr lang="en" altLang="zh-CN" sz="2000" dirty="0">
                  <a:latin typeface="Menlo" panose="020B0609030804020204" pitchFamily="49" charset="0"/>
                </a:rPr>
                <a:t>plot([-1,-1],[5,-5],</a:t>
              </a:r>
              <a:r>
                <a:rPr lang="en" altLang="zh-CN" sz="2000" dirty="0">
                  <a:solidFill>
                    <a:srgbClr val="AA04F9"/>
                  </a:solidFill>
                  <a:latin typeface="Menlo" panose="020B0609030804020204" pitchFamily="49" charset="0"/>
                </a:rPr>
                <a:t>'--k’</a:t>
              </a:r>
              <a:r>
                <a:rPr lang="en" altLang="zh-CN" sz="2000" dirty="0">
                  <a:latin typeface="Menlo" panose="020B0609030804020204" pitchFamily="49" charset="0"/>
                </a:rPr>
                <a:t>)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绘制</a:t>
              </a:r>
              <a:r>
                <a:rPr lang="en-US" altLang="zh-CN" sz="2000" dirty="0">
                  <a:solidFill>
                    <a:srgbClr val="028009"/>
                  </a:solidFill>
                  <a:latin typeface="Menlo" panose="020B0609030804020204" pitchFamily="49" charset="0"/>
                </a:rPr>
                <a:t>-1</a:t>
              </a:r>
              <a:r>
                <a:rPr lang="zh-CN" altLang="en-US" sz="2000" dirty="0">
                  <a:solidFill>
                    <a:srgbClr val="028009"/>
                  </a:solidFill>
                  <a:latin typeface="Menlo" panose="020B0609030804020204" pitchFamily="49" charset="0"/>
                </a:rPr>
                <a:t>虚线</a:t>
              </a:r>
              <a:endParaRPr lang="zh-CN" altLang="en-US" sz="2000" dirty="0">
                <a:latin typeface="Menlo" panose="020B0609030804020204" pitchFamily="49" charset="0"/>
              </a:endParaRPr>
            </a:p>
            <a:p>
              <a:endParaRPr lang="en" altLang="zh-CN" sz="2000" dirty="0">
                <a:latin typeface="Menlo" panose="020B0609030804020204" pitchFamily="49" charset="0"/>
              </a:endParaRPr>
            </a:p>
          </p:txBody>
        </p:sp>
        <p:sp>
          <p:nvSpPr>
            <p:cNvPr id="11" name="标题">
              <a:extLst>
                <a:ext uri="{FF2B5EF4-FFF2-40B4-BE49-F238E27FC236}">
                  <a16:creationId xmlns:a16="http://schemas.microsoft.com/office/drawing/2014/main" id="{CED9A31C-5BEA-5AE9-FE44-640FEF946DFA}"/>
                </a:ext>
              </a:extLst>
            </p:cNvPr>
            <p:cNvSpPr/>
            <p:nvPr/>
          </p:nvSpPr>
          <p:spPr bwMode="auto">
            <a:xfrm>
              <a:off x="2865994" y="3731681"/>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spTree>
    <p:extLst>
      <p:ext uri="{BB962C8B-B14F-4D97-AF65-F5344CB8AC3E}">
        <p14:creationId xmlns:p14="http://schemas.microsoft.com/office/powerpoint/2010/main" val="5790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3">
            <a:extLst>
              <a:ext uri="{FF2B5EF4-FFF2-40B4-BE49-F238E27FC236}">
                <a16:creationId xmlns:a16="http://schemas.microsoft.com/office/drawing/2014/main" id="{83FE2B42-5ECC-BC4E-A248-5C517753D47C}"/>
              </a:ext>
            </a:extLst>
          </p:cNvPr>
          <p:cNvSpPr txBox="1"/>
          <p:nvPr/>
        </p:nvSpPr>
        <p:spPr>
          <a:xfrm>
            <a:off x="547676" y="328584"/>
            <a:ext cx="3895747"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稳定判据例</a:t>
            </a: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9" name="代码框">
            <a:extLst>
              <a:ext uri="{FF2B5EF4-FFF2-40B4-BE49-F238E27FC236}">
                <a16:creationId xmlns:a16="http://schemas.microsoft.com/office/drawing/2014/main" id="{000B36A0-BD99-3110-37A0-20BB0DB72F60}"/>
              </a:ext>
            </a:extLst>
          </p:cNvPr>
          <p:cNvGrpSpPr/>
          <p:nvPr/>
        </p:nvGrpSpPr>
        <p:grpSpPr>
          <a:xfrm>
            <a:off x="334963" y="980413"/>
            <a:ext cx="11511275" cy="4422886"/>
            <a:chOff x="2506351" y="3731681"/>
            <a:chExt cx="11511275" cy="4422886"/>
          </a:xfrm>
        </p:grpSpPr>
        <p:sp>
          <p:nvSpPr>
            <p:cNvPr id="10" name="代码">
              <a:extLst>
                <a:ext uri="{FF2B5EF4-FFF2-40B4-BE49-F238E27FC236}">
                  <a16:creationId xmlns:a16="http://schemas.microsoft.com/office/drawing/2014/main" id="{AD35DCC1-C655-D235-5E1F-5561F138D14A}"/>
                </a:ext>
              </a:extLst>
            </p:cNvPr>
            <p:cNvSpPr txBox="1"/>
            <p:nvPr/>
          </p:nvSpPr>
          <p:spPr>
            <a:xfrm>
              <a:off x="2506351" y="4092108"/>
              <a:ext cx="11511275" cy="4062459"/>
            </a:xfrm>
            <a:prstGeom prst="roundRect">
              <a:avLst>
                <a:gd name="adj" fmla="val 8919"/>
              </a:avLst>
            </a:prstGeom>
            <a:noFill/>
            <a:ln>
              <a:solidFill>
                <a:srgbClr val="E44860"/>
              </a:solidFill>
              <a:prstDash val="sysDot"/>
            </a:ln>
          </p:spPr>
          <p:style>
            <a:lnRef idx="2">
              <a:schemeClr val="accent1"/>
            </a:lnRef>
            <a:fillRef idx="1">
              <a:schemeClr val="lt1"/>
            </a:fillRef>
            <a:effectRef idx="0">
              <a:schemeClr val="accent1"/>
            </a:effectRef>
            <a:fontRef idx="minor">
              <a:schemeClr val="dk1"/>
            </a:fontRef>
          </p:style>
          <p:txBody>
            <a:bodyPr wrap="square" tIns="108000" bIns="72000" rtlCol="0">
              <a:spAutoFit/>
            </a:bodyPr>
            <a:lstStyle/>
            <a:p>
              <a:r>
                <a:rPr lang="en" altLang="zh-CN" sz="2000" dirty="0">
                  <a:latin typeface="Menlo" panose="020B0609030804020204" pitchFamily="49" charset="0"/>
                </a:rPr>
                <a:t>L = 100;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选取的</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值数量</a:t>
              </a:r>
              <a:endParaRPr lang="zh-CN" altLang="en-US" sz="2000" dirty="0">
                <a:latin typeface="Menlo" panose="020B0609030804020204" pitchFamily="49" charset="0"/>
              </a:endParaRPr>
            </a:p>
            <a:p>
              <a:r>
                <a:rPr lang="en" altLang="zh-CN" sz="2000" dirty="0">
                  <a:latin typeface="Menlo" panose="020B0609030804020204" pitchFamily="49" charset="0"/>
                </a:rPr>
                <a:t>K = </a:t>
              </a:r>
              <a:r>
                <a:rPr lang="en" altLang="zh-CN" sz="2000" dirty="0" err="1">
                  <a:latin typeface="Menlo" panose="020B0609030804020204" pitchFamily="49" charset="0"/>
                </a:rPr>
                <a:t>linspace</a:t>
              </a:r>
              <a:r>
                <a:rPr lang="en" altLang="zh-CN" sz="2000" dirty="0">
                  <a:latin typeface="Menlo" panose="020B0609030804020204" pitchFamily="49" charset="0"/>
                </a:rPr>
                <a:t>(0.61,9.12,L);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均匀生成</a:t>
              </a:r>
              <a:r>
                <a:rPr lang="en" altLang="zh-CN" sz="2000" dirty="0">
                  <a:solidFill>
                    <a:srgbClr val="028009"/>
                  </a:solidFill>
                  <a:latin typeface="Menlo" panose="020B0609030804020204" pitchFamily="49" charset="0"/>
                </a:rPr>
                <a:t>L</a:t>
              </a:r>
              <a:r>
                <a:rPr lang="zh-CN" altLang="en-US" sz="2000" dirty="0">
                  <a:solidFill>
                    <a:srgbClr val="028009"/>
                  </a:solidFill>
                  <a:latin typeface="Menlo" panose="020B0609030804020204" pitchFamily="49" charset="0"/>
                </a:rPr>
                <a:t>个</a:t>
              </a:r>
              <a:r>
                <a:rPr lang="en" altLang="zh-CN" sz="2000" dirty="0">
                  <a:solidFill>
                    <a:srgbClr val="028009"/>
                  </a:solidFill>
                  <a:latin typeface="Menlo" panose="020B0609030804020204" pitchFamily="49" charset="0"/>
                </a:rPr>
                <a:t>K</a:t>
              </a:r>
              <a:endParaRPr lang="en" altLang="zh-CN" sz="2000" dirty="0">
                <a:latin typeface="Menlo" panose="020B0609030804020204" pitchFamily="49" charset="0"/>
              </a:endParaRPr>
            </a:p>
            <a:p>
              <a:r>
                <a:rPr lang="en" altLang="zh-CN" sz="2000" dirty="0">
                  <a:latin typeface="Menlo" panose="020B0609030804020204" pitchFamily="49" charset="0"/>
                </a:rPr>
                <a:t>zeta = 2;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阻尼</a:t>
              </a:r>
              <a:endParaRPr lang="zh-CN" altLang="en-US" sz="2000" dirty="0">
                <a:latin typeface="Menlo" panose="020B0609030804020204" pitchFamily="49" charset="0"/>
              </a:endParaRPr>
            </a:p>
            <a:p>
              <a:r>
                <a:rPr lang="en" altLang="zh-CN" sz="2000" dirty="0">
                  <a:latin typeface="Menlo" panose="020B0609030804020204" pitchFamily="49" charset="0"/>
                </a:rPr>
                <a:t>figure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开启图窗</a:t>
              </a:r>
              <a:endParaRPr lang="zh-CN" altLang="en-US" sz="2000" dirty="0">
                <a:latin typeface="Menlo" panose="020B0609030804020204" pitchFamily="49" charset="0"/>
              </a:endParaRPr>
            </a:p>
            <a:p>
              <a:r>
                <a:rPr lang="en" altLang="zh-CN" sz="2000" dirty="0">
                  <a:latin typeface="Menlo" panose="020B0609030804020204" pitchFamily="49" charset="0"/>
                </a:rPr>
                <a:t>hold </a:t>
              </a:r>
              <a:r>
                <a:rPr lang="en" altLang="zh-CN" sz="2000" dirty="0">
                  <a:solidFill>
                    <a:srgbClr val="AA04F9"/>
                  </a:solidFill>
                  <a:latin typeface="Menlo" panose="020B0609030804020204" pitchFamily="49" charset="0"/>
                </a:rPr>
                <a:t>on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保持图窗，叠加作图</a:t>
              </a:r>
              <a:endParaRPr lang="zh-CN" altLang="en-US" sz="2000" dirty="0">
                <a:latin typeface="Menlo" panose="020B0609030804020204" pitchFamily="49" charset="0"/>
              </a:endParaRPr>
            </a:p>
            <a:p>
              <a:r>
                <a:rPr lang="en" altLang="zh-CN" sz="2000" dirty="0">
                  <a:solidFill>
                    <a:srgbClr val="0E00FF"/>
                  </a:solidFill>
                  <a:latin typeface="Menlo" panose="020B0609030804020204" pitchFamily="49" charset="0"/>
                </a:rPr>
                <a:t>for </a:t>
              </a:r>
              <a:r>
                <a:rPr lang="en" altLang="zh-CN" sz="2000" dirty="0">
                  <a:latin typeface="Menlo" panose="020B0609030804020204" pitchFamily="49" charset="0"/>
                </a:rPr>
                <a:t>ii = 1:L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在所有</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值中循环</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D = [1,20*zeta,100,100*K(ii)];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用不同的</a:t>
              </a:r>
              <a:r>
                <a:rPr lang="en" altLang="zh-CN" sz="2000" dirty="0">
                  <a:solidFill>
                    <a:srgbClr val="028009"/>
                  </a:solidFill>
                  <a:latin typeface="Menlo" panose="020B0609030804020204" pitchFamily="49" charset="0"/>
                </a:rPr>
                <a:t>K</a:t>
              </a:r>
              <a:r>
                <a:rPr lang="zh-CN" altLang="en-US" sz="2000" dirty="0">
                  <a:solidFill>
                    <a:srgbClr val="028009"/>
                  </a:solidFill>
                  <a:latin typeface="Menlo" panose="020B0609030804020204" pitchFamily="49" charset="0"/>
                </a:rPr>
                <a:t>值产生特征多项式</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r = roots(D);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求根</a:t>
              </a:r>
              <a:endParaRPr lang="zh-CN" altLang="en-US" sz="2000" dirty="0">
                <a:latin typeface="Menlo" panose="020B0609030804020204" pitchFamily="49" charset="0"/>
              </a:endParaRPr>
            </a:p>
            <a:p>
              <a:r>
                <a:rPr lang="zh-CN" altLang="en-US" sz="2000" dirty="0">
                  <a:latin typeface="Menlo" panose="020B0609030804020204" pitchFamily="49" charset="0"/>
                </a:rPr>
                <a:t>    </a:t>
              </a:r>
              <a:r>
                <a:rPr lang="en" altLang="zh-CN" sz="2000" dirty="0">
                  <a:latin typeface="Menlo" panose="020B0609030804020204" pitchFamily="49" charset="0"/>
                </a:rPr>
                <a:t>scatter(real(r),</a:t>
              </a:r>
              <a:r>
                <a:rPr lang="en" altLang="zh-CN" sz="2000" dirty="0" err="1">
                  <a:latin typeface="Menlo" panose="020B0609030804020204" pitchFamily="49" charset="0"/>
                </a:rPr>
                <a:t>imag</a:t>
              </a:r>
              <a:r>
                <a:rPr lang="en" altLang="zh-CN" sz="2000" dirty="0">
                  <a:latin typeface="Menlo" panose="020B0609030804020204" pitchFamily="49" charset="0"/>
                </a:rPr>
                <a:t>(r),</a:t>
              </a:r>
              <a:r>
                <a:rPr lang="en" altLang="zh-CN" sz="2000" dirty="0" err="1">
                  <a:latin typeface="Menlo" panose="020B0609030804020204" pitchFamily="49" charset="0"/>
                </a:rPr>
                <a:t>LineWidth</a:t>
              </a:r>
              <a:r>
                <a:rPr lang="en" altLang="zh-CN" sz="2000" dirty="0">
                  <a:latin typeface="Menlo" panose="020B0609030804020204" pitchFamily="49" charset="0"/>
                </a:rPr>
                <a:t>=2)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用散点图画出特征根</a:t>
              </a:r>
              <a:endParaRPr lang="zh-CN" altLang="en-US" sz="2000" dirty="0">
                <a:latin typeface="Menlo" panose="020B0609030804020204" pitchFamily="49" charset="0"/>
              </a:endParaRPr>
            </a:p>
            <a:p>
              <a:r>
                <a:rPr lang="en" altLang="zh-CN" sz="2000" dirty="0">
                  <a:solidFill>
                    <a:srgbClr val="0E00FF"/>
                  </a:solidFill>
                  <a:latin typeface="Menlo" panose="020B0609030804020204" pitchFamily="49" charset="0"/>
                </a:rPr>
                <a:t>end</a:t>
              </a:r>
              <a:endParaRPr lang="en" altLang="zh-CN" sz="2000" dirty="0">
                <a:latin typeface="Menlo" panose="020B0609030804020204" pitchFamily="49" charset="0"/>
              </a:endParaRPr>
            </a:p>
            <a:p>
              <a:r>
                <a:rPr lang="en" altLang="zh-CN" sz="2000" dirty="0">
                  <a:latin typeface="Menlo" panose="020B0609030804020204" pitchFamily="49" charset="0"/>
                </a:rPr>
                <a:t>plot([-1,-1],[5,-5],</a:t>
              </a:r>
              <a:r>
                <a:rPr lang="en" altLang="zh-CN" sz="2000" dirty="0">
                  <a:solidFill>
                    <a:srgbClr val="AA04F9"/>
                  </a:solidFill>
                  <a:latin typeface="Menlo" panose="020B0609030804020204" pitchFamily="49" charset="0"/>
                </a:rPr>
                <a:t>'--k’</a:t>
              </a:r>
              <a:r>
                <a:rPr lang="en" altLang="zh-CN" sz="2000" dirty="0">
                  <a:latin typeface="Menlo" panose="020B0609030804020204" pitchFamily="49" charset="0"/>
                </a:rPr>
                <a:t>) 			</a:t>
              </a:r>
              <a:r>
                <a:rPr lang="en" altLang="zh-CN" sz="2000" dirty="0">
                  <a:solidFill>
                    <a:srgbClr val="028009"/>
                  </a:solidFill>
                  <a:latin typeface="Menlo" panose="020B0609030804020204" pitchFamily="49" charset="0"/>
                </a:rPr>
                <a:t>% </a:t>
              </a:r>
              <a:r>
                <a:rPr lang="zh-CN" altLang="en-US" sz="2000" dirty="0">
                  <a:solidFill>
                    <a:srgbClr val="028009"/>
                  </a:solidFill>
                  <a:latin typeface="Menlo" panose="020B0609030804020204" pitchFamily="49" charset="0"/>
                </a:rPr>
                <a:t>绘制</a:t>
              </a:r>
              <a:r>
                <a:rPr lang="en-US" altLang="zh-CN" sz="2000" dirty="0">
                  <a:solidFill>
                    <a:srgbClr val="028009"/>
                  </a:solidFill>
                  <a:latin typeface="Menlo" panose="020B0609030804020204" pitchFamily="49" charset="0"/>
                </a:rPr>
                <a:t>-1</a:t>
              </a:r>
              <a:r>
                <a:rPr lang="zh-CN" altLang="en-US" sz="2000" dirty="0">
                  <a:solidFill>
                    <a:srgbClr val="028009"/>
                  </a:solidFill>
                  <a:latin typeface="Menlo" panose="020B0609030804020204" pitchFamily="49" charset="0"/>
                </a:rPr>
                <a:t>虚线</a:t>
              </a:r>
              <a:endParaRPr lang="zh-CN" altLang="en-US" sz="2000" dirty="0">
                <a:latin typeface="Menlo" panose="020B0609030804020204" pitchFamily="49" charset="0"/>
              </a:endParaRPr>
            </a:p>
            <a:p>
              <a:endParaRPr lang="en" altLang="zh-CN" sz="2000" dirty="0">
                <a:latin typeface="Menlo" panose="020B0609030804020204" pitchFamily="49" charset="0"/>
              </a:endParaRPr>
            </a:p>
          </p:txBody>
        </p:sp>
        <p:sp>
          <p:nvSpPr>
            <p:cNvPr id="11" name="标题">
              <a:extLst>
                <a:ext uri="{FF2B5EF4-FFF2-40B4-BE49-F238E27FC236}">
                  <a16:creationId xmlns:a16="http://schemas.microsoft.com/office/drawing/2014/main" id="{CED9A31C-5BEA-5AE9-FE44-640FEF946DFA}"/>
                </a:ext>
              </a:extLst>
            </p:cNvPr>
            <p:cNvSpPr/>
            <p:nvPr/>
          </p:nvSpPr>
          <p:spPr bwMode="auto">
            <a:xfrm>
              <a:off x="2865994" y="3731681"/>
              <a:ext cx="1152128" cy="576000"/>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tIns="46800" rtlCol="0" anchor="ctr"/>
            <a:lstStyle/>
            <a:p>
              <a:pPr algn="ctr"/>
              <a:r>
                <a:rPr lang="zh-CN" altLang="en-US" sz="3200" b="1" dirty="0">
                  <a:solidFill>
                    <a:schemeClr val="bg1"/>
                  </a:solidFill>
                  <a:latin typeface="Stencil" panose="040409050D0802020404" pitchFamily="82" charset="0"/>
                </a:rPr>
                <a:t>代码</a:t>
              </a:r>
            </a:p>
          </p:txBody>
        </p:sp>
      </p:grpSp>
      <p:pic>
        <p:nvPicPr>
          <p:cNvPr id="3" name="图片 2">
            <a:extLst>
              <a:ext uri="{FF2B5EF4-FFF2-40B4-BE49-F238E27FC236}">
                <a16:creationId xmlns:a16="http://schemas.microsoft.com/office/drawing/2014/main" id="{BEE1F74E-5A61-9BD9-F278-1390C01A8CA0}"/>
              </a:ext>
            </a:extLst>
          </p:cNvPr>
          <p:cNvPicPr>
            <a:picLocks noChangeAspect="1"/>
          </p:cNvPicPr>
          <p:nvPr/>
        </p:nvPicPr>
        <p:blipFill>
          <a:blip r:embed="rId3"/>
          <a:stretch>
            <a:fillRect/>
          </a:stretch>
        </p:blipFill>
        <p:spPr>
          <a:xfrm>
            <a:off x="6167214" y="1277338"/>
            <a:ext cx="5457209" cy="4092907"/>
          </a:xfrm>
          <a:prstGeom prst="rect">
            <a:avLst/>
          </a:prstGeom>
        </p:spPr>
      </p:pic>
    </p:spTree>
    <p:extLst>
      <p:ext uri="{BB962C8B-B14F-4D97-AF65-F5344CB8AC3E}">
        <p14:creationId xmlns:p14="http://schemas.microsoft.com/office/powerpoint/2010/main" val="3186585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a:t>
            </a:r>
          </a:p>
        </p:txBody>
      </p:sp>
      <p:grpSp>
        <p:nvGrpSpPr>
          <p:cNvPr id="19" name="步骤1">
            <a:extLst>
              <a:ext uri="{FF2B5EF4-FFF2-40B4-BE49-F238E27FC236}">
                <a16:creationId xmlns:a16="http://schemas.microsoft.com/office/drawing/2014/main" id="{1DF0A6FF-1D67-2486-36F5-E5EF1E2707D0}"/>
              </a:ext>
            </a:extLst>
          </p:cNvPr>
          <p:cNvGrpSpPr/>
          <p:nvPr/>
        </p:nvGrpSpPr>
        <p:grpSpPr>
          <a:xfrm>
            <a:off x="277241" y="955919"/>
            <a:ext cx="2793629" cy="725177"/>
            <a:chOff x="4943078" y="1700704"/>
            <a:chExt cx="2793629" cy="725177"/>
          </a:xfrm>
        </p:grpSpPr>
        <p:sp>
          <p:nvSpPr>
            <p:cNvPr id="20" name="标题">
              <a:extLst>
                <a:ext uri="{FF2B5EF4-FFF2-40B4-BE49-F238E27FC236}">
                  <a16:creationId xmlns:a16="http://schemas.microsoft.com/office/drawing/2014/main" id="{AE7B35A2-1941-E8EB-D7BB-FC3B4E479557}"/>
                </a:ext>
              </a:extLst>
            </p:cNvPr>
            <p:cNvSpPr/>
            <p:nvPr/>
          </p:nvSpPr>
          <p:spPr bwMode="auto">
            <a:xfrm>
              <a:off x="5502818" y="1739799"/>
              <a:ext cx="2233889" cy="646986"/>
            </a:xfrm>
            <a:prstGeom prst="roundRect">
              <a:avLst/>
            </a:prstGeom>
            <a:solidFill>
              <a:schemeClr val="tx2"/>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稳定性</a:t>
              </a:r>
            </a:p>
          </p:txBody>
        </p:sp>
        <p:sp>
          <p:nvSpPr>
            <p:cNvPr id="21" name="序号">
              <a:extLst>
                <a:ext uri="{FF2B5EF4-FFF2-40B4-BE49-F238E27FC236}">
                  <a16:creationId xmlns:a16="http://schemas.microsoft.com/office/drawing/2014/main" id="{4EDD4ABB-AC59-9BDE-7217-79A45D20B450}"/>
                </a:ext>
              </a:extLst>
            </p:cNvPr>
            <p:cNvSpPr/>
            <p:nvPr/>
          </p:nvSpPr>
          <p:spPr bwMode="auto">
            <a:xfrm>
              <a:off x="4943078" y="1700704"/>
              <a:ext cx="725177" cy="725177"/>
            </a:xfrm>
            <a:prstGeom prst="ellipse">
              <a:avLst/>
            </a:prstGeom>
            <a:solidFill>
              <a:schemeClr val="tx2"/>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01</a:t>
              </a:r>
              <a:endParaRPr lang="zh-CN" altLang="en-US" sz="3200" dirty="0">
                <a:solidFill>
                  <a:schemeClr val="bg1"/>
                </a:solidFill>
                <a:latin typeface="Stencil" panose="040409050D0802020404" pitchFamily="82" charset="0"/>
              </a:endParaRPr>
            </a:p>
          </p:txBody>
        </p:sp>
      </p:grpSp>
      <p:grpSp>
        <p:nvGrpSpPr>
          <p:cNvPr id="22" name="步骤2">
            <a:extLst>
              <a:ext uri="{FF2B5EF4-FFF2-40B4-BE49-F238E27FC236}">
                <a16:creationId xmlns:a16="http://schemas.microsoft.com/office/drawing/2014/main" id="{F45F4F54-5A48-9DFF-111A-9147948CD157}"/>
              </a:ext>
            </a:extLst>
          </p:cNvPr>
          <p:cNvGrpSpPr/>
          <p:nvPr/>
        </p:nvGrpSpPr>
        <p:grpSpPr>
          <a:xfrm>
            <a:off x="277241" y="1769012"/>
            <a:ext cx="2793629" cy="725177"/>
            <a:chOff x="4943078" y="1700704"/>
            <a:chExt cx="2793629" cy="725177"/>
          </a:xfrm>
        </p:grpSpPr>
        <p:sp>
          <p:nvSpPr>
            <p:cNvPr id="23" name="标题">
              <a:extLst>
                <a:ext uri="{FF2B5EF4-FFF2-40B4-BE49-F238E27FC236}">
                  <a16:creationId xmlns:a16="http://schemas.microsoft.com/office/drawing/2014/main" id="{5D13C6C9-7135-610B-8953-ACD7A4A4E4DE}"/>
                </a:ext>
              </a:extLst>
            </p:cNvPr>
            <p:cNvSpPr/>
            <p:nvPr/>
          </p:nvSpPr>
          <p:spPr bwMode="auto">
            <a:xfrm>
              <a:off x="5417690" y="1750121"/>
              <a:ext cx="2319017" cy="646986"/>
            </a:xfrm>
            <a:prstGeom prst="roundRect">
              <a:avLst/>
            </a:prstGeom>
            <a:solidFill>
              <a:srgbClr val="E44860"/>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劳斯判据</a:t>
              </a:r>
            </a:p>
          </p:txBody>
        </p:sp>
        <p:sp>
          <p:nvSpPr>
            <p:cNvPr id="24" name="序号">
              <a:extLst>
                <a:ext uri="{FF2B5EF4-FFF2-40B4-BE49-F238E27FC236}">
                  <a16:creationId xmlns:a16="http://schemas.microsoft.com/office/drawing/2014/main" id="{E0E52B47-7B51-9B94-226B-1EA55CBB8F22}"/>
                </a:ext>
              </a:extLst>
            </p:cNvPr>
            <p:cNvSpPr/>
            <p:nvPr/>
          </p:nvSpPr>
          <p:spPr bwMode="auto">
            <a:xfrm>
              <a:off x="4943078" y="1700704"/>
              <a:ext cx="725177" cy="725177"/>
            </a:xfrm>
            <a:prstGeom prst="ellipse">
              <a:avLst/>
            </a:prstGeom>
            <a:solidFill>
              <a:srgbClr val="E44860"/>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02</a:t>
              </a:r>
              <a:endParaRPr lang="zh-CN" altLang="en-US" sz="3200" dirty="0">
                <a:solidFill>
                  <a:schemeClr val="bg1"/>
                </a:solidFill>
                <a:latin typeface="Stencil" panose="040409050D0802020404" pitchFamily="82" charset="0"/>
              </a:endParaRPr>
            </a:p>
          </p:txBody>
        </p:sp>
      </p:grpSp>
      <p:grpSp>
        <p:nvGrpSpPr>
          <p:cNvPr id="25" name="步骤4">
            <a:extLst>
              <a:ext uri="{FF2B5EF4-FFF2-40B4-BE49-F238E27FC236}">
                <a16:creationId xmlns:a16="http://schemas.microsoft.com/office/drawing/2014/main" id="{BDBAFAA3-6448-7C50-7AAD-79F36CB67C04}"/>
              </a:ext>
            </a:extLst>
          </p:cNvPr>
          <p:cNvGrpSpPr/>
          <p:nvPr/>
        </p:nvGrpSpPr>
        <p:grpSpPr>
          <a:xfrm>
            <a:off x="259126" y="3449784"/>
            <a:ext cx="2805801" cy="725177"/>
            <a:chOff x="4943078" y="1700704"/>
            <a:chExt cx="2805801" cy="725177"/>
          </a:xfrm>
        </p:grpSpPr>
        <p:sp>
          <p:nvSpPr>
            <p:cNvPr id="26" name="标题">
              <a:extLst>
                <a:ext uri="{FF2B5EF4-FFF2-40B4-BE49-F238E27FC236}">
                  <a16:creationId xmlns:a16="http://schemas.microsoft.com/office/drawing/2014/main" id="{32490998-B565-963D-5F2D-0D864334F9A5}"/>
                </a:ext>
              </a:extLst>
            </p:cNvPr>
            <p:cNvSpPr/>
            <p:nvPr/>
          </p:nvSpPr>
          <p:spPr bwMode="auto">
            <a:xfrm>
              <a:off x="5459861" y="1739799"/>
              <a:ext cx="2289018" cy="646986"/>
            </a:xfrm>
            <a:prstGeom prst="roundRect">
              <a:avLst/>
            </a:prstGeom>
            <a:solidFill>
              <a:schemeClr val="accent1">
                <a:lumMod val="75000"/>
              </a:schemeClr>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参数范围</a:t>
              </a:r>
            </a:p>
          </p:txBody>
        </p:sp>
        <p:sp>
          <p:nvSpPr>
            <p:cNvPr id="27" name="序号">
              <a:extLst>
                <a:ext uri="{FF2B5EF4-FFF2-40B4-BE49-F238E27FC236}">
                  <a16:creationId xmlns:a16="http://schemas.microsoft.com/office/drawing/2014/main" id="{3B15418C-5D46-25FB-A87A-B9F63D5A2F0B}"/>
                </a:ext>
              </a:extLst>
            </p:cNvPr>
            <p:cNvSpPr/>
            <p:nvPr/>
          </p:nvSpPr>
          <p:spPr bwMode="auto">
            <a:xfrm>
              <a:off x="4943078" y="1700704"/>
              <a:ext cx="725177" cy="725177"/>
            </a:xfrm>
            <a:prstGeom prst="ellipse">
              <a:avLst/>
            </a:prstGeom>
            <a:solidFill>
              <a:schemeClr val="accent1">
                <a:lumMod val="75000"/>
              </a:schemeClr>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04</a:t>
              </a:r>
              <a:endParaRPr lang="zh-CN" altLang="en-US" sz="3200" dirty="0">
                <a:solidFill>
                  <a:schemeClr val="bg1"/>
                </a:solidFill>
                <a:latin typeface="Stencil" panose="040409050D0802020404" pitchFamily="82" charset="0"/>
              </a:endParaRPr>
            </a:p>
          </p:txBody>
        </p:sp>
      </p:grpSp>
      <p:grpSp>
        <p:nvGrpSpPr>
          <p:cNvPr id="28" name="步骤3">
            <a:extLst>
              <a:ext uri="{FF2B5EF4-FFF2-40B4-BE49-F238E27FC236}">
                <a16:creationId xmlns:a16="http://schemas.microsoft.com/office/drawing/2014/main" id="{DCDEE8DC-BA56-0318-6930-FF7101B52CFD}"/>
              </a:ext>
            </a:extLst>
          </p:cNvPr>
          <p:cNvGrpSpPr/>
          <p:nvPr/>
        </p:nvGrpSpPr>
        <p:grpSpPr>
          <a:xfrm>
            <a:off x="271299" y="2582105"/>
            <a:ext cx="2793628" cy="725177"/>
            <a:chOff x="4943078" y="1700704"/>
            <a:chExt cx="2793628" cy="725177"/>
          </a:xfrm>
        </p:grpSpPr>
        <p:sp>
          <p:nvSpPr>
            <p:cNvPr id="29" name="标题">
              <a:extLst>
                <a:ext uri="{FF2B5EF4-FFF2-40B4-BE49-F238E27FC236}">
                  <a16:creationId xmlns:a16="http://schemas.microsoft.com/office/drawing/2014/main" id="{173D9534-8EDB-7E86-ABE3-A8D0FCFCEE3F}"/>
                </a:ext>
              </a:extLst>
            </p:cNvPr>
            <p:cNvSpPr/>
            <p:nvPr/>
          </p:nvSpPr>
          <p:spPr bwMode="auto">
            <a:xfrm>
              <a:off x="5417689" y="1736097"/>
              <a:ext cx="2319017"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marL="360000"/>
              <a:r>
                <a:rPr lang="zh-CN" altLang="en-US" sz="3200" b="1" dirty="0">
                  <a:solidFill>
                    <a:schemeClr val="bg1"/>
                  </a:solidFill>
                  <a:latin typeface="Stencil" panose="040409050D0802020404" pitchFamily="82" charset="0"/>
                </a:rPr>
                <a:t>特殊情况</a:t>
              </a:r>
            </a:p>
          </p:txBody>
        </p:sp>
        <p:sp>
          <p:nvSpPr>
            <p:cNvPr id="30" name="序号">
              <a:extLst>
                <a:ext uri="{FF2B5EF4-FFF2-40B4-BE49-F238E27FC236}">
                  <a16:creationId xmlns:a16="http://schemas.microsoft.com/office/drawing/2014/main" id="{4EE3A3FD-9421-CBFA-EC5C-9B49F910783C}"/>
                </a:ext>
              </a:extLst>
            </p:cNvPr>
            <p:cNvSpPr/>
            <p:nvPr/>
          </p:nvSpPr>
          <p:spPr bwMode="auto">
            <a:xfrm>
              <a:off x="4943078" y="1700704"/>
              <a:ext cx="725177" cy="725177"/>
            </a:xfrm>
            <a:prstGeom prst="ellipse">
              <a:avLst/>
            </a:prstGeom>
            <a:solidFill>
              <a:srgbClr val="159F84"/>
            </a:solidFill>
            <a:ln w="50800" cmpd="sng">
              <a:solidFill>
                <a:schemeClr val="bg1"/>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nchor="b">
              <a:normAutofit fontScale="92500" lnSpcReduction="10000"/>
            </a:bodyPr>
            <a:lstStyle/>
            <a:p>
              <a:pPr algn="ctr"/>
              <a:r>
                <a:rPr lang="en-US" altLang="zh-CN" sz="3200" dirty="0">
                  <a:solidFill>
                    <a:schemeClr val="bg1"/>
                  </a:solidFill>
                  <a:latin typeface="Stencil" panose="040409050D0802020404" pitchFamily="82" charset="0"/>
                </a:rPr>
                <a:t>03</a:t>
              </a:r>
              <a:endParaRPr lang="zh-CN" altLang="en-US" sz="3200" dirty="0">
                <a:solidFill>
                  <a:schemeClr val="bg1"/>
                </a:solidFill>
                <a:latin typeface="Stencil" panose="040409050D0802020404" pitchFamily="82" charset="0"/>
              </a:endParaRPr>
            </a:p>
          </p:txBody>
        </p:sp>
      </p:grpSp>
      <p:sp>
        <p:nvSpPr>
          <p:cNvPr id="31" name="说明1">
            <a:extLst>
              <a:ext uri="{FF2B5EF4-FFF2-40B4-BE49-F238E27FC236}">
                <a16:creationId xmlns:a16="http://schemas.microsoft.com/office/drawing/2014/main" id="{13AD52AC-E7E6-2895-D13B-B9CCA570C548}"/>
              </a:ext>
            </a:extLst>
          </p:cNvPr>
          <p:cNvSpPr txBox="1"/>
          <p:nvPr/>
        </p:nvSpPr>
        <p:spPr>
          <a:xfrm>
            <a:off x="3388374" y="1056897"/>
            <a:ext cx="7459359" cy="523220"/>
          </a:xfrm>
          <a:prstGeom prst="rect">
            <a:avLst/>
          </a:prstGeom>
          <a:noFill/>
        </p:spPr>
        <p:txBody>
          <a:bodyPr wrap="square">
            <a:spAutoFit/>
          </a:bodyPr>
          <a:lstStyle/>
          <a:p>
            <a:r>
              <a:rPr lang="zh-CN" altLang="en-US" sz="2800" dirty="0"/>
              <a:t>所有特征根具有负实部</a:t>
            </a:r>
          </a:p>
        </p:txBody>
      </p:sp>
      <p:sp>
        <p:nvSpPr>
          <p:cNvPr id="32" name="说明2">
            <a:extLst>
              <a:ext uri="{FF2B5EF4-FFF2-40B4-BE49-F238E27FC236}">
                <a16:creationId xmlns:a16="http://schemas.microsoft.com/office/drawing/2014/main" id="{0EDA0FB0-9D8E-9B10-C08B-BDCA8A371C06}"/>
              </a:ext>
            </a:extLst>
          </p:cNvPr>
          <p:cNvSpPr txBox="1"/>
          <p:nvPr/>
        </p:nvSpPr>
        <p:spPr>
          <a:xfrm>
            <a:off x="3388514" y="1880312"/>
            <a:ext cx="7459359" cy="523220"/>
          </a:xfrm>
          <a:prstGeom prst="rect">
            <a:avLst/>
          </a:prstGeom>
          <a:noFill/>
        </p:spPr>
        <p:txBody>
          <a:bodyPr wrap="square">
            <a:spAutoFit/>
          </a:bodyPr>
          <a:lstStyle/>
          <a:p>
            <a:r>
              <a:rPr lang="zh-CN" altLang="en-US" sz="2800" dirty="0"/>
              <a:t>首列系数大于零</a:t>
            </a:r>
          </a:p>
        </p:txBody>
      </p:sp>
      <p:sp>
        <p:nvSpPr>
          <p:cNvPr id="33" name="说明3">
            <a:extLst>
              <a:ext uri="{FF2B5EF4-FFF2-40B4-BE49-F238E27FC236}">
                <a16:creationId xmlns:a16="http://schemas.microsoft.com/office/drawing/2014/main" id="{E8BCF822-C15C-BA20-871E-7C7CF6373C52}"/>
              </a:ext>
            </a:extLst>
          </p:cNvPr>
          <p:cNvSpPr txBox="1"/>
          <p:nvPr/>
        </p:nvSpPr>
        <p:spPr>
          <a:xfrm>
            <a:off x="3388374" y="2703727"/>
            <a:ext cx="7459359" cy="523220"/>
          </a:xfrm>
          <a:prstGeom prst="rect">
            <a:avLst/>
          </a:prstGeom>
          <a:noFill/>
        </p:spPr>
        <p:txBody>
          <a:bodyPr wrap="square">
            <a:spAutoFit/>
          </a:bodyPr>
          <a:lstStyle/>
          <a:p>
            <a:r>
              <a:rPr lang="zh-CN" altLang="en-US" sz="2800" dirty="0"/>
              <a:t>首位为</a:t>
            </a:r>
            <a:r>
              <a:rPr lang="en-US" altLang="zh-CN" sz="2800" dirty="0"/>
              <a:t>0</a:t>
            </a:r>
            <a:r>
              <a:rPr lang="zh-CN" altLang="en-US" sz="2800" dirty="0"/>
              <a:t>用极小值替代，全零行用辅助方程</a:t>
            </a:r>
          </a:p>
        </p:txBody>
      </p:sp>
      <p:sp>
        <p:nvSpPr>
          <p:cNvPr id="34" name="说明4">
            <a:extLst>
              <a:ext uri="{FF2B5EF4-FFF2-40B4-BE49-F238E27FC236}">
                <a16:creationId xmlns:a16="http://schemas.microsoft.com/office/drawing/2014/main" id="{24F65A02-B530-F2F0-2530-2B36E7D9C5CA}"/>
              </a:ext>
            </a:extLst>
          </p:cNvPr>
          <p:cNvSpPr txBox="1"/>
          <p:nvPr/>
        </p:nvSpPr>
        <p:spPr>
          <a:xfrm>
            <a:off x="3388373" y="3414329"/>
            <a:ext cx="7459359" cy="523220"/>
          </a:xfrm>
          <a:prstGeom prst="rect">
            <a:avLst/>
          </a:prstGeom>
          <a:noFill/>
        </p:spPr>
        <p:txBody>
          <a:bodyPr wrap="square">
            <a:spAutoFit/>
          </a:bodyPr>
          <a:lstStyle/>
          <a:p>
            <a:r>
              <a:rPr lang="zh-CN" altLang="en-US" sz="2800" dirty="0"/>
              <a:t>带参数列劳斯表，变量代换</a:t>
            </a:r>
          </a:p>
        </p:txBody>
      </p:sp>
      <p:pic>
        <p:nvPicPr>
          <p:cNvPr id="35" name="Picture 2" descr="Control, feedback, management, systems icon - Download on Iconfinder">
            <a:extLst>
              <a:ext uri="{FF2B5EF4-FFF2-40B4-BE49-F238E27FC236}">
                <a16:creationId xmlns:a16="http://schemas.microsoft.com/office/drawing/2014/main" id="{E6F94E93-458A-E75F-9A2F-B14498086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649" y="4100226"/>
            <a:ext cx="2619277" cy="2619277"/>
          </a:xfrm>
          <a:prstGeom prst="rect">
            <a:avLst/>
          </a:prstGeom>
          <a:noFill/>
          <a:extLst>
            <a:ext uri="{909E8E84-426E-40DD-AFC4-6F175D3DCCD1}">
              <a14:hiddenFill xmlns:a14="http://schemas.microsoft.com/office/drawing/2010/main">
                <a:solidFill>
                  <a:srgbClr val="FFFFFF"/>
                </a:solidFill>
              </a14:hiddenFill>
            </a:ext>
          </a:extLst>
        </p:spPr>
      </p:pic>
      <p:sp>
        <p:nvSpPr>
          <p:cNvPr id="36" name="小标题2">
            <a:extLst>
              <a:ext uri="{FF2B5EF4-FFF2-40B4-BE49-F238E27FC236}">
                <a16:creationId xmlns:a16="http://schemas.microsoft.com/office/drawing/2014/main" id="{6609E773-FB04-4285-ADEF-66294E9673E3}"/>
              </a:ext>
            </a:extLst>
          </p:cNvPr>
          <p:cNvSpPr/>
          <p:nvPr/>
        </p:nvSpPr>
        <p:spPr bwMode="auto">
          <a:xfrm>
            <a:off x="7905182" y="5099056"/>
            <a:ext cx="3191043"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200" b="1" dirty="0">
                <a:solidFill>
                  <a:schemeClr val="bg1"/>
                </a:solidFill>
                <a:latin typeface="Stencil" panose="040409050D0802020404" pitchFamily="82" charset="0"/>
              </a:rPr>
              <a:t>站在巨人的肩上</a:t>
            </a:r>
          </a:p>
        </p:txBody>
      </p:sp>
      <p:sp>
        <p:nvSpPr>
          <p:cNvPr id="37" name="小标题1">
            <a:extLst>
              <a:ext uri="{FF2B5EF4-FFF2-40B4-BE49-F238E27FC236}">
                <a16:creationId xmlns:a16="http://schemas.microsoft.com/office/drawing/2014/main" id="{B67F9E3C-9AEE-BB33-36C7-7B2CF23F4CF4}"/>
              </a:ext>
            </a:extLst>
          </p:cNvPr>
          <p:cNvSpPr/>
          <p:nvPr/>
        </p:nvSpPr>
        <p:spPr bwMode="auto">
          <a:xfrm>
            <a:off x="4511030" y="5099056"/>
            <a:ext cx="3191044" cy="576000"/>
          </a:xfrm>
          <a:prstGeom prst="roundRect">
            <a:avLst/>
          </a:prstGeom>
          <a:solidFill>
            <a:schemeClr val="accent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3200" b="1" dirty="0">
                <a:solidFill>
                  <a:schemeClr val="bg1"/>
                </a:solidFill>
                <a:latin typeface="Stencil" panose="040409050D0802020404" pitchFamily="82" charset="0"/>
              </a:rPr>
              <a:t>数学遇见工程</a:t>
            </a:r>
          </a:p>
        </p:txBody>
      </p:sp>
    </p:spTree>
    <p:extLst>
      <p:ext uri="{BB962C8B-B14F-4D97-AF65-F5344CB8AC3E}">
        <p14:creationId xmlns:p14="http://schemas.microsoft.com/office/powerpoint/2010/main" val="513621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8"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down)">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down)">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down)">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500" fill="hold"/>
                                        <p:tgtEl>
                                          <p:spTgt spid="35"/>
                                        </p:tgtEl>
                                        <p:attrNameLst>
                                          <p:attrName>ppt_x</p:attrName>
                                        </p:attrNameLst>
                                      </p:cBhvr>
                                      <p:tavLst>
                                        <p:tav tm="0">
                                          <p:val>
                                            <p:strVal val="0-#ppt_w/2"/>
                                          </p:val>
                                        </p:tav>
                                        <p:tav tm="100000">
                                          <p:val>
                                            <p:strVal val="#ppt_x"/>
                                          </p:val>
                                        </p:tav>
                                      </p:tavLst>
                                    </p:anim>
                                    <p:anim calcmode="lin" valueType="num">
                                      <p:cBhvr additive="base">
                                        <p:cTn id="42" dur="500" fill="hold"/>
                                        <p:tgtEl>
                                          <p:spTgt spid="35"/>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down)">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down)">
                                      <p:cBhvr>
                                        <p:cTn id="5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6" grpId="0" animBg="1"/>
      <p:bldP spid="3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课后思考</a:t>
            </a:r>
          </a:p>
        </p:txBody>
      </p:sp>
      <p:pic>
        <p:nvPicPr>
          <p:cNvPr id="10" name="图片 9">
            <a:extLst>
              <a:ext uri="{FF2B5EF4-FFF2-40B4-BE49-F238E27FC236}">
                <a16:creationId xmlns:a16="http://schemas.microsoft.com/office/drawing/2014/main" id="{D08E95D4-3780-A797-5DF2-ACD99C93891B}"/>
              </a:ext>
            </a:extLst>
          </p:cNvPr>
          <p:cNvPicPr>
            <a:picLocks noChangeAspect="1"/>
          </p:cNvPicPr>
          <p:nvPr/>
        </p:nvPicPr>
        <p:blipFill rotWithShape="1">
          <a:blip r:embed="rId3"/>
          <a:srcRect l="-61" t="64403" r="61" b="4711"/>
          <a:stretch/>
        </p:blipFill>
        <p:spPr>
          <a:xfrm>
            <a:off x="1010660" y="2881628"/>
            <a:ext cx="9854780" cy="1936235"/>
          </a:xfrm>
          <a:prstGeom prst="rect">
            <a:avLst/>
          </a:prstGeom>
        </p:spPr>
      </p:pic>
      <p:grpSp>
        <p:nvGrpSpPr>
          <p:cNvPr id="3" name="问题">
            <a:extLst>
              <a:ext uri="{FF2B5EF4-FFF2-40B4-BE49-F238E27FC236}">
                <a16:creationId xmlns:a16="http://schemas.microsoft.com/office/drawing/2014/main" id="{D06D3F1D-D77A-CF55-27C3-5010FE1F3D41}"/>
              </a:ext>
            </a:extLst>
          </p:cNvPr>
          <p:cNvGrpSpPr/>
          <p:nvPr/>
        </p:nvGrpSpPr>
        <p:grpSpPr>
          <a:xfrm>
            <a:off x="690338" y="1548606"/>
            <a:ext cx="9941372" cy="881063"/>
            <a:chOff x="5348307" y="5538470"/>
            <a:chExt cx="9941372" cy="881063"/>
          </a:xfrm>
        </p:grpSpPr>
        <p:sp>
          <p:nvSpPr>
            <p:cNvPr id="4" name="问号">
              <a:extLst>
                <a:ext uri="{FF2B5EF4-FFF2-40B4-BE49-F238E27FC236}">
                  <a16:creationId xmlns:a16="http://schemas.microsoft.com/office/drawing/2014/main" id="{D1612918-97F0-8B94-875C-DFD8D3439BA3}"/>
                </a:ext>
              </a:extLst>
            </p:cNvPr>
            <p:cNvSpPr txBox="1"/>
            <p:nvPr/>
          </p:nvSpPr>
          <p:spPr>
            <a:xfrm>
              <a:off x="5348307" y="5538470"/>
              <a:ext cx="860323" cy="881063"/>
            </a:xfrm>
            <a:prstGeom prst="roundRect">
              <a:avLst>
                <a:gd name="adj" fmla="val 22661"/>
              </a:avLst>
            </a:prstGeom>
            <a:solidFill>
              <a:srgbClr val="F29B1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kumimoji="1" lang="zh-CN" altLang="en-US" sz="4400" b="1" dirty="0">
                  <a:solidFill>
                    <a:schemeClr val="bg1"/>
                  </a:solidFill>
                </a:rPr>
                <a:t>？</a:t>
              </a:r>
            </a:p>
          </p:txBody>
        </p:sp>
        <p:sp>
          <p:nvSpPr>
            <p:cNvPr id="5" name="文本">
              <a:extLst>
                <a:ext uri="{FF2B5EF4-FFF2-40B4-BE49-F238E27FC236}">
                  <a16:creationId xmlns:a16="http://schemas.microsoft.com/office/drawing/2014/main" id="{B40EDE9D-B618-037F-57F9-2304DF45231C}"/>
                </a:ext>
              </a:extLst>
            </p:cNvPr>
            <p:cNvSpPr txBox="1"/>
            <p:nvPr/>
          </p:nvSpPr>
          <p:spPr>
            <a:xfrm>
              <a:off x="6306264" y="5726958"/>
              <a:ext cx="8983415" cy="523220"/>
            </a:xfrm>
            <a:prstGeom prst="rect">
              <a:avLst/>
            </a:prstGeom>
            <a:noFill/>
          </p:spPr>
          <p:txBody>
            <a:bodyPr wrap="square">
              <a:spAutoFit/>
            </a:bodyPr>
            <a:lstStyle/>
            <a:p>
              <a:r>
                <a:rPr kumimoji="1" lang="zh-CN" altLang="en-US" sz="2800" dirty="0">
                  <a:latin typeface="Microsoft YaHei" panose="020B0503020204020204" pitchFamily="34" charset="-122"/>
                  <a:ea typeface="Microsoft YaHei" panose="020B0503020204020204" pitchFamily="34" charset="-122"/>
                </a:rPr>
                <a:t>试分析例</a:t>
              </a:r>
              <a:r>
                <a:rPr kumimoji="1" lang="en-US" altLang="zh-CN" sz="2800" dirty="0">
                  <a:latin typeface="Microsoft YaHei" panose="020B0503020204020204" pitchFamily="34" charset="-122"/>
                  <a:ea typeface="Microsoft YaHei" panose="020B0503020204020204" pitchFamily="34" charset="-122"/>
                </a:rPr>
                <a:t>5</a:t>
              </a:r>
              <a:r>
                <a:rPr kumimoji="1" lang="zh-CN" altLang="en-US" sz="2800" dirty="0">
                  <a:latin typeface="Microsoft YaHei" panose="020B0503020204020204" pitchFamily="34" charset="-122"/>
                  <a:ea typeface="Microsoft YaHei" panose="020B0503020204020204" pitchFamily="34" charset="-122"/>
                </a:rPr>
                <a:t>中阻尼大于</a:t>
              </a:r>
              <a:r>
                <a:rPr kumimoji="1" lang="en-US" altLang="zh-CN" sz="2800" dirty="0">
                  <a:latin typeface="Microsoft YaHei" panose="020B0503020204020204" pitchFamily="34" charset="-122"/>
                  <a:ea typeface="Microsoft YaHei" panose="020B0503020204020204" pitchFamily="34" charset="-122"/>
                </a:rPr>
                <a:t>1</a:t>
              </a:r>
              <a:r>
                <a:rPr kumimoji="1" lang="zh-CN" altLang="en-US" sz="2800" dirty="0">
                  <a:latin typeface="Microsoft YaHei" panose="020B0503020204020204" pitchFamily="34" charset="-122"/>
                  <a:ea typeface="Microsoft YaHei" panose="020B0503020204020204" pitchFamily="34" charset="-122"/>
                </a:rPr>
                <a:t>的情况下为什么依然发生振荡？</a:t>
              </a:r>
              <a:endParaRPr kumimoji="1" lang="en-US" altLang="zh-CN" sz="2800" dirty="0">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2626800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课外拓展及预习要求</a:t>
            </a:r>
          </a:p>
        </p:txBody>
      </p:sp>
      <p:sp>
        <p:nvSpPr>
          <p:cNvPr id="6" name="说明1">
            <a:extLst>
              <a:ext uri="{FF2B5EF4-FFF2-40B4-BE49-F238E27FC236}">
                <a16:creationId xmlns:a16="http://schemas.microsoft.com/office/drawing/2014/main" id="{EAEF012D-62CA-5326-65BE-0E9657263C8A}"/>
              </a:ext>
            </a:extLst>
          </p:cNvPr>
          <p:cNvSpPr txBox="1"/>
          <p:nvPr/>
        </p:nvSpPr>
        <p:spPr>
          <a:xfrm>
            <a:off x="3935413" y="2749986"/>
            <a:ext cx="7774374" cy="1815882"/>
          </a:xfrm>
          <a:prstGeom prst="rect">
            <a:avLst/>
          </a:prstGeom>
          <a:noFill/>
        </p:spPr>
        <p:txBody>
          <a:bodyPr wrap="square">
            <a:spAutoFit/>
          </a:bodyPr>
          <a:lstStyle/>
          <a:p>
            <a:r>
              <a:rPr lang="en" altLang="zh-CN" sz="2800" dirty="0" err="1"/>
              <a:t>Bodson</a:t>
            </a:r>
            <a:r>
              <a:rPr lang="en" altLang="zh-CN" sz="2800" dirty="0"/>
              <a:t>, M. (2020). Explaining the Routh–Hurwitz Criterion: A Tutorial Presentation [Focus on Education]. IEEE Control Systems Magazine, 40(1), 45-51.</a:t>
            </a:r>
            <a:endParaRPr lang="zh-CN" altLang="en-US" sz="2800" dirty="0"/>
          </a:p>
        </p:txBody>
      </p:sp>
      <p:grpSp>
        <p:nvGrpSpPr>
          <p:cNvPr id="7" name="组合 6">
            <a:extLst>
              <a:ext uri="{FF2B5EF4-FFF2-40B4-BE49-F238E27FC236}">
                <a16:creationId xmlns:a16="http://schemas.microsoft.com/office/drawing/2014/main" id="{DDBC6115-C6BA-4231-B7A8-B4DB7C2E6598}"/>
              </a:ext>
            </a:extLst>
          </p:cNvPr>
          <p:cNvGrpSpPr/>
          <p:nvPr/>
        </p:nvGrpSpPr>
        <p:grpSpPr>
          <a:xfrm>
            <a:off x="281409" y="1268413"/>
            <a:ext cx="11118098" cy="3723818"/>
            <a:chOff x="281409" y="1268413"/>
            <a:chExt cx="11118098" cy="3723818"/>
          </a:xfrm>
        </p:grpSpPr>
        <p:sp>
          <p:nvSpPr>
            <p:cNvPr id="3" name="说明4">
              <a:extLst>
                <a:ext uri="{FF2B5EF4-FFF2-40B4-BE49-F238E27FC236}">
                  <a16:creationId xmlns:a16="http://schemas.microsoft.com/office/drawing/2014/main" id="{6A9078A1-B8A5-3E58-79B2-6A6A74BEE34F}"/>
                </a:ext>
              </a:extLst>
            </p:cNvPr>
            <p:cNvSpPr txBox="1"/>
            <p:nvPr/>
          </p:nvSpPr>
          <p:spPr>
            <a:xfrm>
              <a:off x="3940148" y="1275502"/>
              <a:ext cx="7459359" cy="954107"/>
            </a:xfrm>
            <a:prstGeom prst="rect">
              <a:avLst/>
            </a:prstGeom>
            <a:noFill/>
          </p:spPr>
          <p:txBody>
            <a:bodyPr wrap="square">
              <a:spAutoFit/>
            </a:bodyPr>
            <a:lstStyle/>
            <a:p>
              <a:r>
                <a:rPr lang="en" altLang="zh-CN" sz="2800" dirty="0"/>
                <a:t>https://</a:t>
              </a:r>
              <a:r>
                <a:rPr lang="en" altLang="zh-CN" sz="2800" dirty="0" err="1"/>
                <a:t>www.bilibili.com</a:t>
              </a:r>
              <a:r>
                <a:rPr lang="en" altLang="zh-CN" sz="2800" dirty="0"/>
                <a:t>/video/BV1Kq4y1W7Vc?share_source=</a:t>
              </a:r>
              <a:r>
                <a:rPr lang="en" altLang="zh-CN" sz="2800" dirty="0" err="1"/>
                <a:t>copy_web</a:t>
              </a:r>
              <a:endParaRPr lang="zh-CN" altLang="en-US" sz="2800" dirty="0"/>
            </a:p>
          </p:txBody>
        </p:sp>
        <p:pic>
          <p:nvPicPr>
            <p:cNvPr id="5" name="图片 4" descr="文本&#10;&#10;描述已自动生成">
              <a:extLst>
                <a:ext uri="{FF2B5EF4-FFF2-40B4-BE49-F238E27FC236}">
                  <a16:creationId xmlns:a16="http://schemas.microsoft.com/office/drawing/2014/main" id="{534DB6BA-58E9-42F6-446E-6C73AC1E5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409" y="1268413"/>
              <a:ext cx="2908300" cy="1689100"/>
            </a:xfrm>
            <a:prstGeom prst="rect">
              <a:avLst/>
            </a:prstGeom>
          </p:spPr>
        </p:pic>
        <p:pic>
          <p:nvPicPr>
            <p:cNvPr id="1026" name="Picture 2">
              <a:extLst>
                <a:ext uri="{FF2B5EF4-FFF2-40B4-BE49-F238E27FC236}">
                  <a16:creationId xmlns:a16="http://schemas.microsoft.com/office/drawing/2014/main" id="{ACCC1671-27B9-E598-0960-1B2FB4D2FD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50" y="3277731"/>
              <a:ext cx="1714500" cy="17145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87039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533842" y="340637"/>
            <a:ext cx="4913292"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课外拓展及预习要求</a:t>
            </a:r>
          </a:p>
        </p:txBody>
      </p:sp>
      <p:pic>
        <p:nvPicPr>
          <p:cNvPr id="12" name="图形 11" descr="翻开的书、台灯、书、钢笔和铅笔">
            <a:extLst>
              <a:ext uri="{FF2B5EF4-FFF2-40B4-BE49-F238E27FC236}">
                <a16:creationId xmlns:a16="http://schemas.microsoft.com/office/drawing/2014/main" id="{E4D2B8AC-B004-AD54-F56D-CBCCEF246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3148226"/>
            <a:ext cx="4148932" cy="4148932"/>
          </a:xfrm>
          <a:prstGeom prst="rect">
            <a:avLst/>
          </a:prstGeom>
        </p:spPr>
      </p:pic>
      <p:grpSp>
        <p:nvGrpSpPr>
          <p:cNvPr id="14" name="组合 13">
            <a:extLst>
              <a:ext uri="{FF2B5EF4-FFF2-40B4-BE49-F238E27FC236}">
                <a16:creationId xmlns:a16="http://schemas.microsoft.com/office/drawing/2014/main" id="{A898460F-B659-9221-12A1-BDB9965F118D}"/>
              </a:ext>
            </a:extLst>
          </p:cNvPr>
          <p:cNvGrpSpPr/>
          <p:nvPr/>
        </p:nvGrpSpPr>
        <p:grpSpPr>
          <a:xfrm>
            <a:off x="994874" y="993120"/>
            <a:ext cx="10404633" cy="2952764"/>
            <a:chOff x="994874" y="993120"/>
            <a:chExt cx="10404633" cy="2952764"/>
          </a:xfrm>
        </p:grpSpPr>
        <p:sp>
          <p:nvSpPr>
            <p:cNvPr id="3" name="说明4">
              <a:extLst>
                <a:ext uri="{FF2B5EF4-FFF2-40B4-BE49-F238E27FC236}">
                  <a16:creationId xmlns:a16="http://schemas.microsoft.com/office/drawing/2014/main" id="{6A9078A1-B8A5-3E58-79B2-6A6A74BEE34F}"/>
                </a:ext>
              </a:extLst>
            </p:cNvPr>
            <p:cNvSpPr txBox="1"/>
            <p:nvPr/>
          </p:nvSpPr>
          <p:spPr>
            <a:xfrm>
              <a:off x="3940148" y="1275502"/>
              <a:ext cx="7459359" cy="523220"/>
            </a:xfrm>
            <a:prstGeom prst="rect">
              <a:avLst/>
            </a:prstGeom>
            <a:noFill/>
          </p:spPr>
          <p:txBody>
            <a:bodyPr wrap="square">
              <a:spAutoFit/>
            </a:bodyPr>
            <a:lstStyle/>
            <a:p>
              <a:r>
                <a:rPr lang="zh-CN" altLang="en-US" sz="2800" dirty="0"/>
                <a:t>控制之美，王天威著，清华大学出版社，</a:t>
              </a:r>
              <a:r>
                <a:rPr lang="en-US" altLang="zh-CN" sz="2800" dirty="0"/>
                <a:t>2022</a:t>
              </a:r>
              <a:endParaRPr lang="zh-CN" altLang="en-US" sz="2800" dirty="0"/>
            </a:p>
          </p:txBody>
        </p:sp>
        <p:pic>
          <p:nvPicPr>
            <p:cNvPr id="13" name="图片 12" descr="图片包含 文本&#10;&#10;描述已自动生成">
              <a:extLst>
                <a:ext uri="{FF2B5EF4-FFF2-40B4-BE49-F238E27FC236}">
                  <a16:creationId xmlns:a16="http://schemas.microsoft.com/office/drawing/2014/main" id="{8FD22F2E-5A35-F8FB-3E4E-6F97DF4C3B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874" y="993120"/>
              <a:ext cx="2148003" cy="2952764"/>
            </a:xfrm>
            <a:prstGeom prst="rect">
              <a:avLst/>
            </a:prstGeom>
          </p:spPr>
        </p:pic>
      </p:grpSp>
      <p:grpSp>
        <p:nvGrpSpPr>
          <p:cNvPr id="5" name="组合 4">
            <a:extLst>
              <a:ext uri="{FF2B5EF4-FFF2-40B4-BE49-F238E27FC236}">
                <a16:creationId xmlns:a16="http://schemas.microsoft.com/office/drawing/2014/main" id="{84F7C556-19C4-7249-C5E1-6C17BCE73F9E}"/>
              </a:ext>
            </a:extLst>
          </p:cNvPr>
          <p:cNvGrpSpPr/>
          <p:nvPr/>
        </p:nvGrpSpPr>
        <p:grpSpPr>
          <a:xfrm>
            <a:off x="4654550" y="4628827"/>
            <a:ext cx="6049963" cy="1295400"/>
            <a:chOff x="4654550" y="4628827"/>
            <a:chExt cx="6049963" cy="1295400"/>
          </a:xfrm>
        </p:grpSpPr>
        <p:sp>
          <p:nvSpPr>
            <p:cNvPr id="9" name="说明1">
              <a:extLst>
                <a:ext uri="{FF2B5EF4-FFF2-40B4-BE49-F238E27FC236}">
                  <a16:creationId xmlns:a16="http://schemas.microsoft.com/office/drawing/2014/main" id="{75AF8125-108A-60BC-B6E2-2AAF0040A830}"/>
                </a:ext>
              </a:extLst>
            </p:cNvPr>
            <p:cNvSpPr txBox="1"/>
            <p:nvPr/>
          </p:nvSpPr>
          <p:spPr>
            <a:xfrm>
              <a:off x="4654550" y="4955833"/>
              <a:ext cx="3526714" cy="954107"/>
            </a:xfrm>
            <a:prstGeom prst="rect">
              <a:avLst/>
            </a:prstGeom>
            <a:noFill/>
          </p:spPr>
          <p:txBody>
            <a:bodyPr wrap="square">
              <a:spAutoFit/>
            </a:bodyPr>
            <a:lstStyle/>
            <a:p>
              <a:pPr marL="457200" indent="-457200">
                <a:buFont typeface="Arial" panose="020B0604020202020204" pitchFamily="34" charset="0"/>
                <a:buChar char="•"/>
              </a:pPr>
              <a:r>
                <a:rPr lang="zh-CN" altLang="en-US" sz="2800" dirty="0"/>
                <a:t>在线视频</a:t>
              </a:r>
              <a:r>
                <a:rPr lang="en-US" altLang="zh-CN" sz="2800" dirty="0"/>
                <a:t>043</a:t>
              </a:r>
            </a:p>
            <a:p>
              <a:pPr marL="457200" indent="-457200">
                <a:buFont typeface="Arial" panose="020B0604020202020204" pitchFamily="34" charset="0"/>
                <a:buChar char="•"/>
              </a:pPr>
              <a:r>
                <a:rPr lang="zh-CN" altLang="en-US" sz="2800" dirty="0"/>
                <a:t>参与在线讨论</a:t>
              </a:r>
            </a:p>
          </p:txBody>
        </p:sp>
        <p:pic>
          <p:nvPicPr>
            <p:cNvPr id="4" name="图片 3" descr="文本, 信件&#10;&#10;描述已自动生成">
              <a:extLst>
                <a:ext uri="{FF2B5EF4-FFF2-40B4-BE49-F238E27FC236}">
                  <a16:creationId xmlns:a16="http://schemas.microsoft.com/office/drawing/2014/main" id="{7203ACD5-1A47-9909-CE4C-1699F5BADB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85213" y="4628827"/>
              <a:ext cx="2019300" cy="1295400"/>
            </a:xfrm>
            <a:prstGeom prst="rect">
              <a:avLst/>
            </a:prstGeom>
          </p:spPr>
        </p:pic>
      </p:grpSp>
    </p:spTree>
    <p:extLst>
      <p:ext uri="{BB962C8B-B14F-4D97-AF65-F5344CB8AC3E}">
        <p14:creationId xmlns:p14="http://schemas.microsoft.com/office/powerpoint/2010/main" val="1808103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a:extLst>
              <a:ext uri="{FF2B5EF4-FFF2-40B4-BE49-F238E27FC236}">
                <a16:creationId xmlns:a16="http://schemas.microsoft.com/office/drawing/2014/main" id="{A6FE66DB-1AB0-C7CA-D208-21EB02C2064D}"/>
              </a:ext>
            </a:extLst>
          </p:cNvPr>
          <p:cNvSpPr/>
          <p:nvPr/>
        </p:nvSpPr>
        <p:spPr bwMode="auto">
          <a:xfrm>
            <a:off x="2062560" y="4077072"/>
            <a:ext cx="2304256"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zh-CN" altLang="en-US" sz="3200" b="1" dirty="0">
                <a:solidFill>
                  <a:schemeClr val="bg1"/>
                </a:solidFill>
                <a:latin typeface="Stencil" panose="040409050D0802020404" pitchFamily="82" charset="0"/>
              </a:rPr>
              <a:t>感谢聆听！</a:t>
            </a:r>
          </a:p>
        </p:txBody>
      </p:sp>
      <p:sp>
        <p:nvSpPr>
          <p:cNvPr id="5" name="节段8">
            <a:extLst>
              <a:ext uri="{FF2B5EF4-FFF2-40B4-BE49-F238E27FC236}">
                <a16:creationId xmlns:a16="http://schemas.microsoft.com/office/drawing/2014/main" id="{E2B4B7DE-235A-7046-2D00-F888766C97C8}"/>
              </a:ext>
            </a:extLst>
          </p:cNvPr>
          <p:cNvSpPr/>
          <p:nvPr/>
        </p:nvSpPr>
        <p:spPr bwMode="auto">
          <a:xfrm>
            <a:off x="520016" y="1285430"/>
            <a:ext cx="5551200" cy="646986"/>
          </a:xfrm>
          <a:prstGeom prst="roundRect">
            <a:avLst/>
          </a:prstGeom>
          <a:solidFill>
            <a:srgbClr val="159F84"/>
          </a:solidFill>
          <a:ln w="3810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r>
              <a:rPr lang="en-US" altLang="zh-CN" sz="3200" b="1" dirty="0">
                <a:solidFill>
                  <a:schemeClr val="bg1"/>
                </a:solidFill>
                <a:latin typeface="Stencil" panose="040409050D0802020404" pitchFamily="82" charset="0"/>
              </a:rPr>
              <a:t>8.</a:t>
            </a:r>
            <a:r>
              <a:rPr lang="zh-CN" altLang="en-US" sz="3200" b="1" dirty="0">
                <a:solidFill>
                  <a:schemeClr val="bg1"/>
                </a:solidFill>
                <a:latin typeface="Stencil" panose="040409050D0802020404" pitchFamily="82" charset="0"/>
              </a:rPr>
              <a:t>   稳定：控制系统首要任务</a:t>
            </a:r>
          </a:p>
        </p:txBody>
      </p:sp>
      <p:pic>
        <p:nvPicPr>
          <p:cNvPr id="2050" name="Picture 2" descr="Art Breathe GIF by Travis Ruskus">
            <a:extLst>
              <a:ext uri="{FF2B5EF4-FFF2-40B4-BE49-F238E27FC236}">
                <a16:creationId xmlns:a16="http://schemas.microsoft.com/office/drawing/2014/main" id="{43E45F9B-176D-DCF1-F12A-B2361B205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4660" y="611927"/>
            <a:ext cx="3982129" cy="4977661"/>
          </a:xfrm>
          <a:prstGeom prst="rect">
            <a:avLst/>
          </a:prstGeom>
          <a:noFill/>
          <a:extLst>
            <a:ext uri="{909E8E84-426E-40DD-AFC4-6F175D3DCCD1}">
              <a14:hiddenFill xmlns:a14="http://schemas.microsoft.com/office/drawing/2010/main">
                <a:solidFill>
                  <a:srgbClr val="FFFFFF"/>
                </a:solidFill>
              </a14:hiddenFill>
            </a:ext>
          </a:extLst>
        </p:spPr>
      </p:pic>
      <p:sp>
        <p:nvSpPr>
          <p:cNvPr id="7" name="说明1">
            <a:extLst>
              <a:ext uri="{FF2B5EF4-FFF2-40B4-BE49-F238E27FC236}">
                <a16:creationId xmlns:a16="http://schemas.microsoft.com/office/drawing/2014/main" id="{AD1F20C6-9639-6593-9FEF-F62456E5F8C8}"/>
              </a:ext>
            </a:extLst>
          </p:cNvPr>
          <p:cNvSpPr txBox="1"/>
          <p:nvPr/>
        </p:nvSpPr>
        <p:spPr>
          <a:xfrm>
            <a:off x="7615203" y="5760898"/>
            <a:ext cx="4240247" cy="523220"/>
          </a:xfrm>
          <a:prstGeom prst="rect">
            <a:avLst/>
          </a:prstGeom>
          <a:noFill/>
        </p:spPr>
        <p:txBody>
          <a:bodyPr wrap="square">
            <a:spAutoFit/>
          </a:bodyPr>
          <a:lstStyle/>
          <a:p>
            <a:r>
              <a:rPr lang="zh-CN" altLang="en-US" sz="2800" dirty="0"/>
              <a:t>临界稳定的艺术</a:t>
            </a:r>
          </a:p>
        </p:txBody>
      </p:sp>
    </p:spTree>
    <p:extLst>
      <p:ext uri="{BB962C8B-B14F-4D97-AF65-F5344CB8AC3E}">
        <p14:creationId xmlns:p14="http://schemas.microsoft.com/office/powerpoint/2010/main" val="2700024933"/>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信息化教学设计"/>
</p:tagLst>
</file>

<file path=ppt/theme/theme1.xml><?xml version="1.0" encoding="utf-8"?>
<a:theme xmlns:a="http://schemas.openxmlformats.org/drawingml/2006/main" name="Office 主题​​">
  <a:themeElements>
    <a:clrScheme name="自定义 222">
      <a:dk1>
        <a:srgbClr val="000000"/>
      </a:dk1>
      <a:lt1>
        <a:srgbClr val="FFFFFF"/>
      </a:lt1>
      <a:dk2>
        <a:srgbClr val="768395"/>
      </a:dk2>
      <a:lt2>
        <a:srgbClr val="F0F0F0"/>
      </a:lt2>
      <a:accent1>
        <a:srgbClr val="2980B9"/>
      </a:accent1>
      <a:accent2>
        <a:srgbClr val="159F84"/>
      </a:accent2>
      <a:accent3>
        <a:srgbClr val="9BBB59"/>
      </a:accent3>
      <a:accent4>
        <a:srgbClr val="F29B11"/>
      </a:accent4>
      <a:accent5>
        <a:srgbClr val="BF382A"/>
      </a:accent5>
      <a:accent6>
        <a:srgbClr val="A7459D"/>
      </a:accent6>
      <a:hlink>
        <a:srgbClr val="2980B9"/>
      </a:hlink>
      <a:folHlink>
        <a:srgbClr val="BFBFBF"/>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淘宝店：章瑾图文</Template>
  <TotalTime>17060</TotalTime>
  <Words>2664</Words>
  <Application>Microsoft Macintosh PowerPoint</Application>
  <PresentationFormat>自定义</PresentationFormat>
  <Paragraphs>304</Paragraphs>
  <Slides>27</Slides>
  <Notes>26</Notes>
  <HiddenSlides>2</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等线</vt:lpstr>
      <vt:lpstr>汉仪菱心体简</vt:lpstr>
      <vt:lpstr>Microsoft YaHei</vt:lpstr>
      <vt:lpstr>Microsoft YaHei</vt:lpstr>
      <vt:lpstr>Arial</vt:lpstr>
      <vt:lpstr>Calibri</vt:lpstr>
      <vt:lpstr>Cambria Math</vt:lpstr>
      <vt:lpstr>Gill Sans Ultra Bold</vt:lpstr>
      <vt:lpstr>Menlo</vt:lpstr>
      <vt:lpstr>Stencil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章瑾图文</dc:creator>
  <cp:keywords/>
  <dc:description/>
  <cp:lastModifiedBy>Yong-Wei Zhang</cp:lastModifiedBy>
  <cp:revision>539</cp:revision>
  <dcterms:created xsi:type="dcterms:W3CDTF">2012-09-21T08:06:35Z</dcterms:created>
  <dcterms:modified xsi:type="dcterms:W3CDTF">2025-03-07T02:06:11Z</dcterms:modified>
  <cp:category/>
</cp:coreProperties>
</file>