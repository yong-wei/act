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53" r:id="rId2"/>
    <p:sldId id="522" r:id="rId3"/>
    <p:sldId id="523" r:id="rId4"/>
    <p:sldId id="460" r:id="rId5"/>
    <p:sldId id="514" r:id="rId6"/>
    <p:sldId id="515" r:id="rId7"/>
    <p:sldId id="516" r:id="rId8"/>
    <p:sldId id="517" r:id="rId9"/>
    <p:sldId id="518" r:id="rId10"/>
    <p:sldId id="529" r:id="rId11"/>
    <p:sldId id="530" r:id="rId12"/>
    <p:sldId id="531" r:id="rId13"/>
    <p:sldId id="519" r:id="rId14"/>
    <p:sldId id="520" r:id="rId15"/>
    <p:sldId id="521" r:id="rId16"/>
    <p:sldId id="512" r:id="rId17"/>
    <p:sldId id="525" r:id="rId18"/>
    <p:sldId id="526" r:id="rId19"/>
    <p:sldId id="527" r:id="rId20"/>
    <p:sldId id="528" r:id="rId21"/>
  </p:sldIdLst>
  <p:sldSz cx="12190413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4065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9F84"/>
    <a:srgbClr val="E44860"/>
    <a:srgbClr val="F29B11"/>
    <a:srgbClr val="768395"/>
    <a:srgbClr val="1C1C1C"/>
    <a:srgbClr val="9BBB59"/>
    <a:srgbClr val="2980B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0" autoAdjust="0"/>
    <p:restoredTop sz="92394" autoAdjust="0"/>
  </p:normalViewPr>
  <p:slideViewPr>
    <p:cSldViewPr>
      <p:cViewPr varScale="1">
        <p:scale>
          <a:sx n="109" d="100"/>
          <a:sy n="109" d="100"/>
        </p:scale>
        <p:origin x="416" y="192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4065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2024/4/27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309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342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31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644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762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078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109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976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331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515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84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1937234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610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43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4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notesSlide" Target="../notesSlides/notesSlide4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8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../media/image41.png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../media/image7.png"/><Relationship Id="rId28" Type="http://schemas.openxmlformats.org/officeDocument/2006/relationships/image" Target="../media/image50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../media/image7.emf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8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../media/image58.png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../media/image57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NULL"/><Relationship Id="rId26" Type="http://schemas.openxmlformats.org/officeDocument/2006/relationships/image" Target="../media/image81.png"/><Relationship Id="rId3" Type="http://schemas.openxmlformats.org/officeDocument/2006/relationships/image" Target="../media/image61.png"/><Relationship Id="rId21" Type="http://schemas.openxmlformats.org/officeDocument/2006/relationships/image" Target="NULL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4.png"/><Relationship Id="rId20" Type="http://schemas.openxmlformats.org/officeDocument/2006/relationships/image" Target="NUL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7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78.png"/><Relationship Id="rId10" Type="http://schemas.openxmlformats.org/officeDocument/2006/relationships/image" Target="../media/image68.png"/><Relationship Id="rId19" Type="http://schemas.openxmlformats.org/officeDocument/2006/relationships/image" Target="../media/image76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77.png"/><Relationship Id="rId27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NULL"/><Relationship Id="rId26" Type="http://schemas.openxmlformats.org/officeDocument/2006/relationships/image" Target="../media/image84.png"/><Relationship Id="rId3" Type="http://schemas.openxmlformats.org/officeDocument/2006/relationships/image" Target="../media/image61.png"/><Relationship Id="rId21" Type="http://schemas.openxmlformats.org/officeDocument/2006/relationships/image" Target="NULL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4.png"/><Relationship Id="rId20" Type="http://schemas.openxmlformats.org/officeDocument/2006/relationships/image" Target="NULL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7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78.png"/><Relationship Id="rId28" Type="http://schemas.openxmlformats.org/officeDocument/2006/relationships/image" Target="../media/image81.png"/><Relationship Id="rId10" Type="http://schemas.openxmlformats.org/officeDocument/2006/relationships/image" Target="../media/image68.png"/><Relationship Id="rId19" Type="http://schemas.openxmlformats.org/officeDocument/2006/relationships/image" Target="../media/image76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77.png"/><Relationship Id="rId27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NULL"/><Relationship Id="rId26" Type="http://schemas.openxmlformats.org/officeDocument/2006/relationships/image" Target="../media/image88.png"/><Relationship Id="rId3" Type="http://schemas.openxmlformats.org/officeDocument/2006/relationships/image" Target="../media/image61.png"/><Relationship Id="rId21" Type="http://schemas.openxmlformats.org/officeDocument/2006/relationships/image" Target="NULL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4.png"/><Relationship Id="rId20" Type="http://schemas.openxmlformats.org/officeDocument/2006/relationships/image" Target="NUL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7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78.png"/><Relationship Id="rId28" Type="http://schemas.openxmlformats.org/officeDocument/2006/relationships/image" Target="../media/image86.png"/><Relationship Id="rId10" Type="http://schemas.openxmlformats.org/officeDocument/2006/relationships/image" Target="../media/image68.png"/><Relationship Id="rId19" Type="http://schemas.openxmlformats.org/officeDocument/2006/relationships/image" Target="../media/image76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77.png"/><Relationship Id="rId27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NULL"/><Relationship Id="rId26" Type="http://schemas.openxmlformats.org/officeDocument/2006/relationships/image" Target="../media/image108.png"/><Relationship Id="rId3" Type="http://schemas.openxmlformats.org/officeDocument/2006/relationships/image" Target="../media/image89.png"/><Relationship Id="rId21" Type="http://schemas.openxmlformats.org/officeDocument/2006/relationships/image" Target="NULL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0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2.png"/><Relationship Id="rId20" Type="http://schemas.openxmlformats.org/officeDocument/2006/relationships/image" Target="NUL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33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23" Type="http://schemas.openxmlformats.org/officeDocument/2006/relationships/image" Target="../media/image105.png"/><Relationship Id="rId10" Type="http://schemas.openxmlformats.org/officeDocument/2006/relationships/image" Target="../media/image96.png"/><Relationship Id="rId19" Type="http://schemas.openxmlformats.org/officeDocument/2006/relationships/image" Target="../media/image7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4.png"/><Relationship Id="rId27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NULL"/><Relationship Id="rId26" Type="http://schemas.openxmlformats.org/officeDocument/2006/relationships/image" Target="../media/image115.png"/><Relationship Id="rId3" Type="http://schemas.openxmlformats.org/officeDocument/2006/relationships/image" Target="../media/image89.png"/><Relationship Id="rId21" Type="http://schemas.openxmlformats.org/officeDocument/2006/relationships/image" Target="NULL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0.png"/><Relationship Id="rId20" Type="http://schemas.openxmlformats.org/officeDocument/2006/relationships/image" Target="NUL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113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23" Type="http://schemas.openxmlformats.org/officeDocument/2006/relationships/image" Target="../media/image112.png"/><Relationship Id="rId28" Type="http://schemas.openxmlformats.org/officeDocument/2006/relationships/image" Target="../media/image117.png"/><Relationship Id="rId10" Type="http://schemas.openxmlformats.org/officeDocument/2006/relationships/image" Target="../media/image96.png"/><Relationship Id="rId19" Type="http://schemas.openxmlformats.org/officeDocument/2006/relationships/image" Target="../media/image7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11.png"/><Relationship Id="rId27" Type="http://schemas.openxmlformats.org/officeDocument/2006/relationships/image" Target="../media/image1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NULL"/><Relationship Id="rId26" Type="http://schemas.openxmlformats.org/officeDocument/2006/relationships/image" Target="../media/image118.png"/><Relationship Id="rId3" Type="http://schemas.openxmlformats.org/officeDocument/2006/relationships/image" Target="../media/image89.png"/><Relationship Id="rId21" Type="http://schemas.openxmlformats.org/officeDocument/2006/relationships/image" Target="NULL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10.png"/><Relationship Id="rId20" Type="http://schemas.openxmlformats.org/officeDocument/2006/relationships/image" Target="NULL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113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23" Type="http://schemas.openxmlformats.org/officeDocument/2006/relationships/image" Target="../media/image112.png"/><Relationship Id="rId28" Type="http://schemas.openxmlformats.org/officeDocument/2006/relationships/image" Target="../media/image120.png"/><Relationship Id="rId10" Type="http://schemas.openxmlformats.org/officeDocument/2006/relationships/image" Target="../media/image96.png"/><Relationship Id="rId19" Type="http://schemas.openxmlformats.org/officeDocument/2006/relationships/image" Target="../media/image7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11.png"/><Relationship Id="rId27" Type="http://schemas.openxmlformats.org/officeDocument/2006/relationships/image" Target="../media/image119.png"/><Relationship Id="rId30" Type="http://schemas.openxmlformats.org/officeDocument/2006/relationships/image" Target="../media/image1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7.pn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DE4AE91-DB3C-3A0C-D594-BA9D49E7346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2D2CBF4-6B60-44E1-85DF-C4496B6C1A41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ECED2948-C3C1-76BB-BAE3-960F1C1653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7CCB85CD-D2CD-296A-D2A2-52CB181EDCB5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6F8BA99C-8DC2-33FD-0C6D-5ABB949376B9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615F7FFA-8C50-96FC-2B6C-31C9D63EF5D8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0A6B9255-C649-20F8-6076-AD19ED4610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316ABD2A-858B-8017-501B-0515748A8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CAD2B8AF-40FD-D89E-4294-770F4B06B865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05E25C6A-D2C8-A61D-7DCF-F9EFAACA4332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能熟练绘制根轨迹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能基于根轨迹分析参数稳定范围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807903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能够将根轨迹增益转化为开环增益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807902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能够使用根轨迹选择满足性能的参数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6096000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29598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5">
            <a:extLst>
              <a:ext uri="{FF2B5EF4-FFF2-40B4-BE49-F238E27FC236}">
                <a16:creationId xmlns:a16="http://schemas.microsoft.com/office/drawing/2014/main" id="{5D2F4156-56CD-9EA3-40C7-AA4F4D3C886E}"/>
              </a:ext>
            </a:extLst>
          </p:cNvPr>
          <p:cNvSpPr/>
          <p:nvPr/>
        </p:nvSpPr>
        <p:spPr bwMode="auto">
          <a:xfrm>
            <a:off x="551399" y="129138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方框图">
            <a:extLst>
              <a:ext uri="{FF2B5EF4-FFF2-40B4-BE49-F238E27FC236}">
                <a16:creationId xmlns:a16="http://schemas.microsoft.com/office/drawing/2014/main" id="{C2C8F9BF-F96C-CE2A-5042-53D1E47AEDFD}"/>
              </a:ext>
            </a:extLst>
          </p:cNvPr>
          <p:cNvGrpSpPr/>
          <p:nvPr/>
        </p:nvGrpSpPr>
        <p:grpSpPr>
          <a:xfrm>
            <a:off x="7610417" y="260648"/>
            <a:ext cx="3965544" cy="954732"/>
            <a:chOff x="8136245" y="640718"/>
            <a:chExt cx="3965544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976038" y="794763"/>
                  <a:ext cx="12317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(0.5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6038" y="794763"/>
                  <a:ext cx="1231736" cy="720000"/>
                </a:xfrm>
                <a:prstGeom prst="rect">
                  <a:avLst/>
                </a:prstGeom>
                <a:blipFill>
                  <a:blip r:embed="rId3"/>
                  <a:stretch>
                    <a:fillRect l="-2020" r="-7071" b="-6667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8305077" y="116393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8136245" y="64071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6245" y="640718"/>
                  <a:ext cx="936104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11207774" y="1154762"/>
              <a:ext cx="853475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1165685" y="64071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5685" y="640718"/>
                  <a:ext cx="93610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903518" y="101993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632889" y="107223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2889" y="1072230"/>
                  <a:ext cx="244144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10268628" y="-57171"/>
              <a:ext cx="144000" cy="2586219"/>
            </a:xfrm>
            <a:prstGeom prst="bentConnector3">
              <a:avLst>
                <a:gd name="adj1" fmla="val 405935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 flipV="1">
              <a:off x="9191518" y="1154763"/>
              <a:ext cx="784520" cy="917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9104619" y="64658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4619" y="646585"/>
                  <a:ext cx="936104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增益">
                <a:extLst>
                  <a:ext uri="{FF2B5EF4-FFF2-40B4-BE49-F238E27FC236}">
                    <a16:creationId xmlns:a16="http://schemas.microsoft.com/office/drawing/2014/main" id="{166E7160-97CC-B3BE-1881-1438401D1E1C}"/>
                  </a:ext>
                </a:extLst>
              </p:cNvPr>
              <p:cNvSpPr txBox="1"/>
              <p:nvPr/>
            </p:nvSpPr>
            <p:spPr>
              <a:xfrm>
                <a:off x="4445383" y="1061110"/>
                <a:ext cx="4018784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</m:e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开环增益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p>
                                    <m:r>
                                      <a:rPr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</m:e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根轨迹增益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增益">
                <a:extLst>
                  <a:ext uri="{FF2B5EF4-FFF2-40B4-BE49-F238E27FC236}">
                    <a16:creationId xmlns:a16="http://schemas.microsoft.com/office/drawing/2014/main" id="{166E7160-97CC-B3BE-1881-1438401D1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383" y="1061110"/>
                <a:ext cx="4018784" cy="1053494"/>
              </a:xfrm>
              <a:prstGeom prst="rect">
                <a:avLst/>
              </a:prstGeom>
              <a:blipFill>
                <a:blip r:embed="rId8"/>
                <a:stretch>
                  <a:fillRect l="-40881" t="-200000" r="-629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特征方程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/>
              <p:nvPr/>
            </p:nvSpPr>
            <p:spPr>
              <a:xfrm>
                <a:off x="-25648" y="1123263"/>
                <a:ext cx="5026896" cy="1033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−1±</m:t>
                      </m:r>
                      <m:rad>
                        <m:radPr>
                          <m:deg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特征方程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648" y="1123263"/>
                <a:ext cx="5026896" cy="1033681"/>
              </a:xfrm>
              <a:prstGeom prst="rect">
                <a:avLst/>
              </a:prstGeom>
              <a:blipFill>
                <a:blip r:embed="rId9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组合 96">
            <a:extLst>
              <a:ext uri="{FF2B5EF4-FFF2-40B4-BE49-F238E27FC236}">
                <a16:creationId xmlns:a16="http://schemas.microsoft.com/office/drawing/2014/main" id="{168640A7-E5EF-45CF-9C9C-B0A2E144B10F}"/>
              </a:ext>
            </a:extLst>
          </p:cNvPr>
          <p:cNvGrpSpPr/>
          <p:nvPr/>
        </p:nvGrpSpPr>
        <p:grpSpPr>
          <a:xfrm>
            <a:off x="9502668" y="1648737"/>
            <a:ext cx="2112173" cy="4741714"/>
            <a:chOff x="8251456" y="1567606"/>
            <a:chExt cx="2112173" cy="4741714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8377690" y="4048926"/>
              <a:ext cx="177687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5606" y="1916832"/>
              <a:ext cx="0" cy="4392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9695606" y="156760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5606" y="1567606"/>
                  <a:ext cx="520701" cy="523220"/>
                </a:xfrm>
                <a:prstGeom prst="rect">
                  <a:avLst/>
                </a:prstGeom>
                <a:blipFill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ylabel1">
                  <a:extLst>
                    <a:ext uri="{FF2B5EF4-FFF2-40B4-BE49-F238E27FC236}">
                      <a16:creationId xmlns:a16="http://schemas.microsoft.com/office/drawing/2014/main" id="{BFDDFF0E-A90B-4637-692F-58C8F81600F0}"/>
                    </a:ext>
                  </a:extLst>
                </p:cNvPr>
                <p:cNvSpPr txBox="1"/>
                <p:nvPr/>
              </p:nvSpPr>
              <p:spPr>
                <a:xfrm>
                  <a:off x="9876169" y="3423987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ylabel1">
                  <a:extLst>
                    <a:ext uri="{FF2B5EF4-FFF2-40B4-BE49-F238E27FC236}">
                      <a16:creationId xmlns:a16="http://schemas.microsoft.com/office/drawing/2014/main" id="{BFDDFF0E-A90B-4637-692F-58C8F8160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169" y="3423987"/>
                  <a:ext cx="322182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ylabel-1">
                  <a:extLst>
                    <a:ext uri="{FF2B5EF4-FFF2-40B4-BE49-F238E27FC236}">
                      <a16:creationId xmlns:a16="http://schemas.microsoft.com/office/drawing/2014/main" id="{BAB2AB73-8DE5-A504-8933-D23ECC09FDDC}"/>
                    </a:ext>
                  </a:extLst>
                </p:cNvPr>
                <p:cNvSpPr txBox="1"/>
                <p:nvPr/>
              </p:nvSpPr>
              <p:spPr>
                <a:xfrm>
                  <a:off x="9842928" y="414763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5" name="ylabel-1">
                  <a:extLst>
                    <a:ext uri="{FF2B5EF4-FFF2-40B4-BE49-F238E27FC236}">
                      <a16:creationId xmlns:a16="http://schemas.microsoft.com/office/drawing/2014/main" id="{BAB2AB73-8DE5-A504-8933-D23ECC09F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2928" y="4147633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9652755" y="3978424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755" y="3978424"/>
                  <a:ext cx="229717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5789" r="-73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线箭头连接符 66">
              <a:extLst>
                <a:ext uri="{FF2B5EF4-FFF2-40B4-BE49-F238E27FC236}">
                  <a16:creationId xmlns:a16="http://schemas.microsoft.com/office/drawing/2014/main" id="{402C1551-01A0-246B-DC67-D862372BA7EB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218095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箭头连接符 67">
              <a:extLst>
                <a:ext uri="{FF2B5EF4-FFF2-40B4-BE49-F238E27FC236}">
                  <a16:creationId xmlns:a16="http://schemas.microsoft.com/office/drawing/2014/main" id="{54692113-C4EC-A03A-C8E7-8A78C2167E87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292814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箭头连接符 68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3301736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箭头连接符 70">
              <a:extLst>
                <a:ext uri="{FF2B5EF4-FFF2-40B4-BE49-F238E27FC236}">
                  <a16:creationId xmlns:a16="http://schemas.microsoft.com/office/drawing/2014/main" id="{D950266D-CC7E-C85E-501E-AA040B51C4B5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367533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箭头连接符 72">
              <a:extLst>
                <a:ext uri="{FF2B5EF4-FFF2-40B4-BE49-F238E27FC236}">
                  <a16:creationId xmlns:a16="http://schemas.microsoft.com/office/drawing/2014/main" id="{FE03A821-CA26-B075-B7F6-12C0E23A84B0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442252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箭头连接符 73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4796116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箭头连接符 74">
              <a:extLst>
                <a:ext uri="{FF2B5EF4-FFF2-40B4-BE49-F238E27FC236}">
                  <a16:creationId xmlns:a16="http://schemas.microsoft.com/office/drawing/2014/main" id="{24D5FAFB-E2D2-F910-4F49-E8A4C1632CDB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51697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75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5543306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箭头连接符 76">
              <a:extLst>
                <a:ext uri="{FF2B5EF4-FFF2-40B4-BE49-F238E27FC236}">
                  <a16:creationId xmlns:a16="http://schemas.microsoft.com/office/drawing/2014/main" id="{375CABBA-80B7-4E51-F9AC-7970D5FE0EF9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591689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箭头连接符 77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9699798" y="2554546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9870884" y="3040126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0884" y="3040126"/>
                  <a:ext cx="322182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692" r="-307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ylabel3">
                  <a:extLst>
                    <a:ext uri="{FF2B5EF4-FFF2-40B4-BE49-F238E27FC236}">
                      <a16:creationId xmlns:a16="http://schemas.microsoft.com/office/drawing/2014/main" id="{6673B53C-E46E-1DE2-01B0-FB2B838CD69E}"/>
                    </a:ext>
                  </a:extLst>
                </p:cNvPr>
                <p:cNvSpPr txBox="1"/>
                <p:nvPr/>
              </p:nvSpPr>
              <p:spPr>
                <a:xfrm>
                  <a:off x="9878172" y="2661277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ylabel3">
                  <a:extLst>
                    <a:ext uri="{FF2B5EF4-FFF2-40B4-BE49-F238E27FC236}">
                      <a16:creationId xmlns:a16="http://schemas.microsoft.com/office/drawing/2014/main" id="{6673B53C-E46E-1DE2-01B0-FB2B838CD6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8172" y="2661277"/>
                  <a:ext cx="322182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9876194" y="2299132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194" y="2299132"/>
                  <a:ext cx="322182" cy="523220"/>
                </a:xfrm>
                <a:prstGeom prst="rect">
                  <a:avLst/>
                </a:prstGeom>
                <a:blipFill>
                  <a:blip r:embed="rId16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ylabel5">
                  <a:extLst>
                    <a:ext uri="{FF2B5EF4-FFF2-40B4-BE49-F238E27FC236}">
                      <a16:creationId xmlns:a16="http://schemas.microsoft.com/office/drawing/2014/main" id="{D7E1DBFC-EE69-C0BE-454C-76B794C1AECC}"/>
                    </a:ext>
                  </a:extLst>
                </p:cNvPr>
                <p:cNvSpPr txBox="1"/>
                <p:nvPr/>
              </p:nvSpPr>
              <p:spPr>
                <a:xfrm>
                  <a:off x="9870884" y="1923621"/>
                  <a:ext cx="3221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ylabel5">
                  <a:extLst>
                    <a:ext uri="{FF2B5EF4-FFF2-40B4-BE49-F238E27FC236}">
                      <a16:creationId xmlns:a16="http://schemas.microsoft.com/office/drawing/2014/main" id="{D7E1DBFC-EE69-C0BE-454C-76B794C1A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0884" y="1923621"/>
                  <a:ext cx="322182" cy="523220"/>
                </a:xfrm>
                <a:prstGeom prst="rect">
                  <a:avLst/>
                </a:prstGeom>
                <a:blipFill>
                  <a:blip r:embed="rId17"/>
                  <a:stretch>
                    <a:fillRect l="-11538" r="-307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9836679" y="453022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6679" y="4530227"/>
                  <a:ext cx="520701" cy="523220"/>
                </a:xfrm>
                <a:prstGeom prst="rect">
                  <a:avLst/>
                </a:prstGeom>
                <a:blipFill>
                  <a:blip r:embed="rId18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ylabel-3">
                  <a:extLst>
                    <a:ext uri="{FF2B5EF4-FFF2-40B4-BE49-F238E27FC236}">
                      <a16:creationId xmlns:a16="http://schemas.microsoft.com/office/drawing/2014/main" id="{74CFDE6C-64F1-D2BC-AEDA-6D142F04B30C}"/>
                    </a:ext>
                  </a:extLst>
                </p:cNvPr>
                <p:cNvSpPr txBox="1"/>
                <p:nvPr/>
              </p:nvSpPr>
              <p:spPr>
                <a:xfrm>
                  <a:off x="9836679" y="489054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ylabel-3">
                  <a:extLst>
                    <a:ext uri="{FF2B5EF4-FFF2-40B4-BE49-F238E27FC236}">
                      <a16:creationId xmlns:a16="http://schemas.microsoft.com/office/drawing/2014/main" id="{74CFDE6C-64F1-D2BC-AEDA-6D142F04B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6679" y="4890543"/>
                  <a:ext cx="520701" cy="523220"/>
                </a:xfrm>
                <a:prstGeom prst="rect">
                  <a:avLst/>
                </a:prstGeom>
                <a:blipFill>
                  <a:blip r:embed="rId19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9836679" y="526841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6679" y="5268417"/>
                  <a:ext cx="520701" cy="523220"/>
                </a:xfrm>
                <a:prstGeom prst="rect">
                  <a:avLst/>
                </a:prstGeom>
                <a:blipFill>
                  <a:blip r:embed="rId20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ylabel-5">
                  <a:extLst>
                    <a:ext uri="{FF2B5EF4-FFF2-40B4-BE49-F238E27FC236}">
                      <a16:creationId xmlns:a16="http://schemas.microsoft.com/office/drawing/2014/main" id="{381C920C-DE10-E7BC-8DCB-E7CF62FD60E0}"/>
                    </a:ext>
                  </a:extLst>
                </p:cNvPr>
                <p:cNvSpPr txBox="1"/>
                <p:nvPr/>
              </p:nvSpPr>
              <p:spPr>
                <a:xfrm>
                  <a:off x="9833071" y="5651011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ylabel-5">
                  <a:extLst>
                    <a:ext uri="{FF2B5EF4-FFF2-40B4-BE49-F238E27FC236}">
                      <a16:creationId xmlns:a16="http://schemas.microsoft.com/office/drawing/2014/main" id="{381C920C-DE10-E7BC-8DCB-E7CF62FD60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3071" y="5651011"/>
                  <a:ext cx="520701" cy="523220"/>
                </a:xfrm>
                <a:prstGeom prst="rect">
                  <a:avLst/>
                </a:prstGeom>
                <a:blipFill>
                  <a:blip r:embed="rId21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极点2">
              <a:extLst>
                <a:ext uri="{FF2B5EF4-FFF2-40B4-BE49-F238E27FC236}">
                  <a16:creationId xmlns:a16="http://schemas.microsoft.com/office/drawing/2014/main" id="{5FCC0545-F905-1DB6-5AE8-AC325993CD6E}"/>
                </a:ext>
              </a:extLst>
            </p:cNvPr>
            <p:cNvSpPr/>
            <p:nvPr/>
          </p:nvSpPr>
          <p:spPr>
            <a:xfrm>
              <a:off x="8251456" y="3904910"/>
              <a:ext cx="288032" cy="288032"/>
            </a:xfrm>
            <a:prstGeom prst="mathMultiply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1" name="极点1">
              <a:extLst>
                <a:ext uri="{FF2B5EF4-FFF2-40B4-BE49-F238E27FC236}">
                  <a16:creationId xmlns:a16="http://schemas.microsoft.com/office/drawing/2014/main" id="{935D1F8A-1FDF-DDF5-6A66-6645E169FAF2}"/>
                </a:ext>
              </a:extLst>
            </p:cNvPr>
            <p:cNvSpPr/>
            <p:nvPr/>
          </p:nvSpPr>
          <p:spPr>
            <a:xfrm>
              <a:off x="9545039" y="3904910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87" name="根轨迹2">
              <a:extLst>
                <a:ext uri="{FF2B5EF4-FFF2-40B4-BE49-F238E27FC236}">
                  <a16:creationId xmlns:a16="http://schemas.microsoft.com/office/drawing/2014/main" id="{9C937C20-056E-F074-6C1A-6EB36C87C41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739893" y="4714340"/>
              <a:ext cx="1972384" cy="641516"/>
            </a:xfrm>
            <a:prstGeom prst="bentConnector3">
              <a:avLst>
                <a:gd name="adj1" fmla="val 26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根轨迹1">
              <a:extLst>
                <a:ext uri="{FF2B5EF4-FFF2-40B4-BE49-F238E27FC236}">
                  <a16:creationId xmlns:a16="http://schemas.microsoft.com/office/drawing/2014/main" id="{D1D72A8F-7E97-8C9F-6613-C677F889657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391756" y="2766634"/>
              <a:ext cx="1966229" cy="641477"/>
            </a:xfrm>
            <a:prstGeom prst="bentConnector3">
              <a:avLst>
                <a:gd name="adj1" fmla="val 723"/>
              </a:avLst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分离点">
              <a:extLst>
                <a:ext uri="{FF2B5EF4-FFF2-40B4-BE49-F238E27FC236}">
                  <a16:creationId xmlns:a16="http://schemas.microsoft.com/office/drawing/2014/main" id="{1C882218-F0D4-7CDC-E008-6C852FCCE883}"/>
                </a:ext>
              </a:extLst>
            </p:cNvPr>
            <p:cNvSpPr/>
            <p:nvPr/>
          </p:nvSpPr>
          <p:spPr>
            <a:xfrm>
              <a:off x="9004746" y="4003058"/>
              <a:ext cx="91694" cy="9169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968123" y="2247846"/>
                <a:ext cx="70059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zh-CN" alt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     </m:t>
                          </m:r>
                        </m:e>
                      </m:groupCh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</m:t>
                          </m:r>
                          <m:r>
                            <m:rPr>
                              <m:nor/>
                            </m:rPr>
                            <a:rPr lang="zh-CN" alt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</m:t>
                          </m:r>
                        </m:e>
                      </m:groupCh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123" y="2247846"/>
                <a:ext cx="7005910" cy="523220"/>
              </a:xfrm>
              <a:prstGeom prst="rect">
                <a:avLst/>
              </a:prstGeom>
              <a:blipFill>
                <a:blip r:embed="rId22"/>
                <a:stretch>
                  <a:fillRect t="-5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超调量">
                <a:extLst>
                  <a:ext uri="{FF2B5EF4-FFF2-40B4-BE49-F238E27FC236}">
                    <a16:creationId xmlns:a16="http://schemas.microsoft.com/office/drawing/2014/main" id="{95741433-5534-15A9-1634-AE62000F925A}"/>
                  </a:ext>
                </a:extLst>
              </p:cNvPr>
              <p:cNvSpPr txBox="1"/>
              <p:nvPr/>
            </p:nvSpPr>
            <p:spPr>
              <a:xfrm>
                <a:off x="3149557" y="3500876"/>
                <a:ext cx="48469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%=0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↓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" name="超调量">
                <a:extLst>
                  <a:ext uri="{FF2B5EF4-FFF2-40B4-BE49-F238E27FC236}">
                    <a16:creationId xmlns:a16="http://schemas.microsoft.com/office/drawing/2014/main" id="{95741433-5534-15A9-1634-AE62000F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557" y="3500876"/>
                <a:ext cx="4846910" cy="523220"/>
              </a:xfrm>
              <a:prstGeom prst="rect">
                <a:avLst/>
              </a:prstGeom>
              <a:blipFill>
                <a:blip r:embed="rId23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调节时间">
                <a:extLst>
                  <a:ext uri="{FF2B5EF4-FFF2-40B4-BE49-F238E27FC236}">
                    <a16:creationId xmlns:a16="http://schemas.microsoft.com/office/drawing/2014/main" id="{F731FEF3-84D3-6355-E997-8E356CAD3A6D}"/>
                  </a:ext>
                </a:extLst>
              </p:cNvPr>
              <p:cNvSpPr txBox="1"/>
              <p:nvPr/>
            </p:nvSpPr>
            <p:spPr>
              <a:xfrm>
                <a:off x="2931735" y="4050791"/>
                <a:ext cx="4846910" cy="658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3.5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2" name="调节时间">
                <a:extLst>
                  <a:ext uri="{FF2B5EF4-FFF2-40B4-BE49-F238E27FC236}">
                    <a16:creationId xmlns:a16="http://schemas.microsoft.com/office/drawing/2014/main" id="{F731FEF3-84D3-6355-E997-8E356CAD3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735" y="4050791"/>
                <a:ext cx="4846910" cy="658001"/>
              </a:xfrm>
              <a:prstGeom prst="rect">
                <a:avLst/>
              </a:prstGeom>
              <a:blipFill>
                <a:blip r:embed="rId2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038EA57E-1897-7493-8AD5-803247612F8F}"/>
              </a:ext>
            </a:extLst>
          </p:cNvPr>
          <p:cNvGrpSpPr/>
          <p:nvPr/>
        </p:nvGrpSpPr>
        <p:grpSpPr>
          <a:xfrm>
            <a:off x="3107214" y="2215913"/>
            <a:ext cx="4787423" cy="1227631"/>
            <a:chOff x="3107214" y="2215913"/>
            <a:chExt cx="4787423" cy="12276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阻尼">
                  <a:extLst>
                    <a:ext uri="{FF2B5EF4-FFF2-40B4-BE49-F238E27FC236}">
                      <a16:creationId xmlns:a16="http://schemas.microsoft.com/office/drawing/2014/main" id="{A200CEC9-CF3B-2CE0-58A6-F877C65A6887}"/>
                    </a:ext>
                  </a:extLst>
                </p:cNvPr>
                <p:cNvSpPr txBox="1"/>
                <p:nvPr/>
              </p:nvSpPr>
              <p:spPr>
                <a:xfrm>
                  <a:off x="3136167" y="2920324"/>
                  <a:ext cx="433390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               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9" name="阻尼">
                  <a:extLst>
                    <a:ext uri="{FF2B5EF4-FFF2-40B4-BE49-F238E27FC236}">
                      <a16:creationId xmlns:a16="http://schemas.microsoft.com/office/drawing/2014/main" id="{A200CEC9-CF3B-2CE0-58A6-F877C65A6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6167" y="2920324"/>
                  <a:ext cx="4333902" cy="523220"/>
                </a:xfrm>
                <a:prstGeom prst="rect">
                  <a:avLst/>
                </a:prstGeom>
                <a:blipFill>
                  <a:blip r:embed="rId25"/>
                  <a:stretch>
                    <a:fillRect b="-186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大括号1">
                  <a:extLst>
                    <a:ext uri="{FF2B5EF4-FFF2-40B4-BE49-F238E27FC236}">
                      <a16:creationId xmlns:a16="http://schemas.microsoft.com/office/drawing/2014/main" id="{24DA37D8-026B-0A69-9851-6236608563E6}"/>
                    </a:ext>
                  </a:extLst>
                </p:cNvPr>
                <p:cNvSpPr txBox="1"/>
                <p:nvPr/>
              </p:nvSpPr>
              <p:spPr>
                <a:xfrm>
                  <a:off x="3107214" y="2215913"/>
                  <a:ext cx="4787423" cy="589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groupChr>
                        <m:groupChrPr>
                          <m:chr m:val="⏟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   </m:t>
                          </m:r>
                        </m:e>
                      </m:groupChr>
                    </m:oMath>
                  </a14:m>
                  <a:r>
                    <a:rPr lang="zh-CN" altLang="en-US" sz="2800" dirty="0"/>
                    <a:t>     </a:t>
                  </a:r>
                  <a14:m>
                    <m:oMath xmlns:m="http://schemas.openxmlformats.org/officeDocument/2006/math">
                      <m:groupChr>
                        <m:groupChrPr>
                          <m:chr m:val="⏟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</m:t>
                          </m:r>
                        </m:e>
                      </m:groupChr>
                    </m:oMath>
                  </a14:m>
                  <a:r>
                    <a:rPr lang="zh-CN" altLang="en-US" sz="2800" dirty="0"/>
                    <a:t> </a:t>
                  </a:r>
                </a:p>
              </p:txBody>
            </p:sp>
          </mc:Choice>
          <mc:Fallback xmlns="">
            <p:sp>
              <p:nvSpPr>
                <p:cNvPr id="58" name="大括号1">
                  <a:extLst>
                    <a:ext uri="{FF2B5EF4-FFF2-40B4-BE49-F238E27FC236}">
                      <a16:creationId xmlns:a16="http://schemas.microsoft.com/office/drawing/2014/main" id="{24DA37D8-026B-0A69-9851-6236608563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7214" y="2215913"/>
                  <a:ext cx="4787423" cy="589585"/>
                </a:xfrm>
                <a:prstGeom prst="rect">
                  <a:avLst/>
                </a:prstGeom>
                <a:blipFill>
                  <a:blip r:embed="rId26"/>
                  <a:stretch>
                    <a:fillRect l="-1852" b="-191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9680CC4-DEF7-CC92-1696-6A6757751AC1}"/>
              </a:ext>
            </a:extLst>
          </p:cNvPr>
          <p:cNvGrpSpPr/>
          <p:nvPr/>
        </p:nvGrpSpPr>
        <p:grpSpPr>
          <a:xfrm>
            <a:off x="2791128" y="4271974"/>
            <a:ext cx="4846910" cy="1286757"/>
            <a:chOff x="2791128" y="4271974"/>
            <a:chExt cx="4846910" cy="12867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大括号2">
                  <a:extLst>
                    <a:ext uri="{FF2B5EF4-FFF2-40B4-BE49-F238E27FC236}">
                      <a16:creationId xmlns:a16="http://schemas.microsoft.com/office/drawing/2014/main" id="{A55C85E1-3131-51A9-3FE1-443DF6C76120}"/>
                    </a:ext>
                  </a:extLst>
                </p:cNvPr>
                <p:cNvSpPr txBox="1"/>
                <p:nvPr/>
              </p:nvSpPr>
              <p:spPr>
                <a:xfrm>
                  <a:off x="3136911" y="4271974"/>
                  <a:ext cx="4104456" cy="589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groupChr>
                          <m:groupChrPr>
                            <m:chr m:val="⏟"/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                               </m:t>
                            </m:r>
                          </m:e>
                        </m:groupCh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3" name="大括号2">
                  <a:extLst>
                    <a:ext uri="{FF2B5EF4-FFF2-40B4-BE49-F238E27FC236}">
                      <a16:creationId xmlns:a16="http://schemas.microsoft.com/office/drawing/2014/main" id="{A55C85E1-3131-51A9-3FE1-443DF6C761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6911" y="4271974"/>
                  <a:ext cx="4104456" cy="589585"/>
                </a:xfrm>
                <a:prstGeom prst="rect">
                  <a:avLst/>
                </a:prstGeom>
                <a:blipFill>
                  <a:blip r:embed="rId27"/>
                  <a:stretch>
                    <a:fillRect b="-191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稳定性">
                  <a:extLst>
                    <a:ext uri="{FF2B5EF4-FFF2-40B4-BE49-F238E27FC236}">
                      <a16:creationId xmlns:a16="http://schemas.microsoft.com/office/drawing/2014/main" id="{E92D05C6-2DB1-4CF5-77ED-DDCBDF1325B0}"/>
                    </a:ext>
                  </a:extLst>
                </p:cNvPr>
                <p:cNvSpPr txBox="1"/>
                <p:nvPr/>
              </p:nvSpPr>
              <p:spPr>
                <a:xfrm>
                  <a:off x="2791128" y="4980046"/>
                  <a:ext cx="4846910" cy="5786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系统</m:t>
                        </m:r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绝对稳定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2" name="稳定性">
                  <a:extLst>
                    <a:ext uri="{FF2B5EF4-FFF2-40B4-BE49-F238E27FC236}">
                      <a16:creationId xmlns:a16="http://schemas.microsoft.com/office/drawing/2014/main" id="{E92D05C6-2DB1-4CF5-77ED-DDCBDF132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1128" y="4980046"/>
                  <a:ext cx="4846910" cy="578685"/>
                </a:xfrm>
                <a:prstGeom prst="rect">
                  <a:avLst/>
                </a:prstGeom>
                <a:blipFill>
                  <a:blip r:embed="rId28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057DE8D-BBB4-0D5D-F5D4-96C34DC22F21}"/>
              </a:ext>
            </a:extLst>
          </p:cNvPr>
          <p:cNvGrpSpPr/>
          <p:nvPr/>
        </p:nvGrpSpPr>
        <p:grpSpPr>
          <a:xfrm>
            <a:off x="2821382" y="5212122"/>
            <a:ext cx="4846910" cy="1313222"/>
            <a:chOff x="2821382" y="5212122"/>
            <a:chExt cx="4846910" cy="1313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大括号3">
                  <a:extLst>
                    <a:ext uri="{FF2B5EF4-FFF2-40B4-BE49-F238E27FC236}">
                      <a16:creationId xmlns:a16="http://schemas.microsoft.com/office/drawing/2014/main" id="{07F71456-6892-5260-01D6-82F9A89FD066}"/>
                    </a:ext>
                  </a:extLst>
                </p:cNvPr>
                <p:cNvSpPr txBox="1"/>
                <p:nvPr/>
              </p:nvSpPr>
              <p:spPr>
                <a:xfrm>
                  <a:off x="3149557" y="5212122"/>
                  <a:ext cx="4104456" cy="589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groupChr>
                          <m:groupChrPr>
                            <m:chr m:val="⏟"/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                               </m:t>
                            </m:r>
                          </m:e>
                        </m:groupCh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4" name="大括号3">
                  <a:extLst>
                    <a:ext uri="{FF2B5EF4-FFF2-40B4-BE49-F238E27FC236}">
                      <a16:creationId xmlns:a16="http://schemas.microsoft.com/office/drawing/2014/main" id="{07F71456-6892-5260-01D6-82F9A89FD0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9557" y="5212122"/>
                  <a:ext cx="4104456" cy="589585"/>
                </a:xfrm>
                <a:prstGeom prst="rect">
                  <a:avLst/>
                </a:prstGeom>
                <a:blipFill>
                  <a:blip r:embed="rId29"/>
                  <a:stretch>
                    <a:fillRect b="-191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稳态误差">
                  <a:extLst>
                    <a:ext uri="{FF2B5EF4-FFF2-40B4-BE49-F238E27FC236}">
                      <a16:creationId xmlns:a16="http://schemas.microsoft.com/office/drawing/2014/main" id="{8B9C18FD-8C9C-7836-61F3-734FACE54DD4}"/>
                    </a:ext>
                  </a:extLst>
                </p:cNvPr>
                <p:cNvSpPr txBox="1"/>
                <p:nvPr/>
              </p:nvSpPr>
              <p:spPr>
                <a:xfrm>
                  <a:off x="2821382" y="5904212"/>
                  <a:ext cx="4846910" cy="6211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↑⇒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𝑠𝑠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box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p>
                                    <m:r>
                                      <a:rPr lang="zh-CN" altLang="en-US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den>
                            </m:f>
                          </m:e>
                        </m:box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9" name="稳态误差">
                  <a:extLst>
                    <a:ext uri="{FF2B5EF4-FFF2-40B4-BE49-F238E27FC236}">
                      <a16:creationId xmlns:a16="http://schemas.microsoft.com/office/drawing/2014/main" id="{8B9C18FD-8C9C-7836-61F3-734FACE54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1382" y="5904212"/>
                  <a:ext cx="4846910" cy="621132"/>
                </a:xfrm>
                <a:prstGeom prst="rect">
                  <a:avLst/>
                </a:prstGeom>
                <a:blipFill>
                  <a:blip r:embed="rId30"/>
                  <a:stretch>
                    <a:fillRect b="-20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0" name="小标题1">
            <a:extLst>
              <a:ext uri="{FF2B5EF4-FFF2-40B4-BE49-F238E27FC236}">
                <a16:creationId xmlns:a16="http://schemas.microsoft.com/office/drawing/2014/main" id="{A701848C-3CC2-79D1-3C21-E1FC1D4F19E6}"/>
              </a:ext>
            </a:extLst>
          </p:cNvPr>
          <p:cNvSpPr/>
          <p:nvPr/>
        </p:nvSpPr>
        <p:spPr bwMode="auto">
          <a:xfrm>
            <a:off x="334173" y="3500876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动态性能</a:t>
            </a:r>
          </a:p>
        </p:txBody>
      </p:sp>
      <p:sp>
        <p:nvSpPr>
          <p:cNvPr id="101" name="小标题2">
            <a:extLst>
              <a:ext uri="{FF2B5EF4-FFF2-40B4-BE49-F238E27FC236}">
                <a16:creationId xmlns:a16="http://schemas.microsoft.com/office/drawing/2014/main" id="{66E8B58A-330F-A8CC-4A97-AB307A79F69B}"/>
              </a:ext>
            </a:extLst>
          </p:cNvPr>
          <p:cNvSpPr/>
          <p:nvPr/>
        </p:nvSpPr>
        <p:spPr bwMode="auto">
          <a:xfrm>
            <a:off x="334963" y="4924122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稳定性</a:t>
            </a:r>
          </a:p>
        </p:txBody>
      </p:sp>
      <p:sp>
        <p:nvSpPr>
          <p:cNvPr id="102" name="小标题3">
            <a:extLst>
              <a:ext uri="{FF2B5EF4-FFF2-40B4-BE49-F238E27FC236}">
                <a16:creationId xmlns:a16="http://schemas.microsoft.com/office/drawing/2014/main" id="{0766B7B7-4842-04BF-915C-624B186C176B}"/>
              </a:ext>
            </a:extLst>
          </p:cNvPr>
          <p:cNvSpPr/>
          <p:nvPr/>
        </p:nvSpPr>
        <p:spPr bwMode="auto">
          <a:xfrm>
            <a:off x="334963" y="5676016"/>
            <a:ext cx="1916598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稳态误差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输入信号">
                <a:extLst>
                  <a:ext uri="{FF2B5EF4-FFF2-40B4-BE49-F238E27FC236}">
                    <a16:creationId xmlns:a16="http://schemas.microsoft.com/office/drawing/2014/main" id="{94DFD212-46D3-B10F-B8C9-85E0377A85E0}"/>
                  </a:ext>
                </a:extLst>
              </p:cNvPr>
              <p:cNvSpPr txBox="1"/>
              <p:nvPr/>
            </p:nvSpPr>
            <p:spPr>
              <a:xfrm>
                <a:off x="472396" y="6211858"/>
                <a:ext cx="18313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𝐴𝑡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3" name="输入信号">
                <a:extLst>
                  <a:ext uri="{FF2B5EF4-FFF2-40B4-BE49-F238E27FC236}">
                    <a16:creationId xmlns:a16="http://schemas.microsoft.com/office/drawing/2014/main" id="{94DFD212-46D3-B10F-B8C9-85E0377A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96" y="6211858"/>
                <a:ext cx="1831353" cy="52322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46855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57" grpId="0"/>
      <p:bldP spid="61" grpId="0"/>
      <p:bldP spid="62" grpId="0"/>
      <p:bldP spid="100" grpId="0" animBg="1"/>
      <p:bldP spid="101" grpId="0" animBg="1"/>
      <p:bldP spid="102" grpId="0" animBg="1"/>
      <p:bldP spid="103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坐标轴">
            <a:extLst>
              <a:ext uri="{FF2B5EF4-FFF2-40B4-BE49-F238E27FC236}">
                <a16:creationId xmlns:a16="http://schemas.microsoft.com/office/drawing/2014/main" id="{A8EB1803-F20E-0295-390B-340D8049213F}"/>
              </a:ext>
            </a:extLst>
          </p:cNvPr>
          <p:cNvGrpSpPr/>
          <p:nvPr/>
        </p:nvGrpSpPr>
        <p:grpSpPr>
          <a:xfrm>
            <a:off x="8169595" y="2037536"/>
            <a:ext cx="3686251" cy="3868460"/>
            <a:chOff x="8169595" y="2037536"/>
            <a:chExt cx="3686251" cy="3868460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8327454" y="4163285"/>
              <a:ext cx="352839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2344" y="2413491"/>
              <a:ext cx="3" cy="3492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10124096" y="20375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4096" y="2037536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10019493" y="409278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9493" y="409278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6667" r="-8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ytick1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066536" y="343491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ytick-1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10076033" y="487314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tick-2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10059977" y="559099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ytick2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061226" y="27059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xtixk-1">
              <a:extLst>
                <a:ext uri="{FF2B5EF4-FFF2-40B4-BE49-F238E27FC236}">
                  <a16:creationId xmlns:a16="http://schemas.microsoft.com/office/drawing/2014/main" id="{AEBBED5C-227A-256A-9403-3EB96EFC8A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68272" y="423948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xtixk-2">
              <a:extLst>
                <a:ext uri="{FF2B5EF4-FFF2-40B4-BE49-F238E27FC236}">
                  <a16:creationId xmlns:a16="http://schemas.microsoft.com/office/drawing/2014/main" id="{CE84F53D-5D41-22E7-FC5B-C4179606D9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47547" y="423948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xtixk1">
              <a:extLst>
                <a:ext uri="{FF2B5EF4-FFF2-40B4-BE49-F238E27FC236}">
                  <a16:creationId xmlns:a16="http://schemas.microsoft.com/office/drawing/2014/main" id="{2BFF7E53-2FB1-BF80-10D5-72BC64EA00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08134" y="423108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xtixk2">
              <a:extLst>
                <a:ext uri="{FF2B5EF4-FFF2-40B4-BE49-F238E27FC236}">
                  <a16:creationId xmlns:a16="http://schemas.microsoft.com/office/drawing/2014/main" id="{7C4887B3-F262-E201-24C8-AAF0A716D4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1560" y="422063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/>
                <p:nvPr/>
              </p:nvSpPr>
              <p:spPr>
                <a:xfrm>
                  <a:off x="11296381" y="4209111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6381" y="4209111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692" r="-307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/>
                <p:nvPr/>
              </p:nvSpPr>
              <p:spPr>
                <a:xfrm>
                  <a:off x="10582777" y="420911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2777" y="4209110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/>
                <p:nvPr/>
              </p:nvSpPr>
              <p:spPr>
                <a:xfrm>
                  <a:off x="8886834" y="4201172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6834" y="4201172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/>
                <p:nvPr/>
              </p:nvSpPr>
              <p:spPr>
                <a:xfrm>
                  <a:off x="8169595" y="419954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4199547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10237622" y="3173302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7622" y="3173302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10237622" y="2450554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7622" y="2450554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10212914" y="460725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2914" y="4607253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10196858" y="531610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6858" y="5316108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极点2">
            <a:extLst>
              <a:ext uri="{FF2B5EF4-FFF2-40B4-BE49-F238E27FC236}">
                <a16:creationId xmlns:a16="http://schemas.microsoft.com/office/drawing/2014/main" id="{5FCC0545-F905-1DB6-5AE8-AC325993CD6E}"/>
              </a:ext>
            </a:extLst>
          </p:cNvPr>
          <p:cNvSpPr/>
          <p:nvPr/>
        </p:nvSpPr>
        <p:spPr>
          <a:xfrm>
            <a:off x="9184007" y="401926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51" name="极点1">
            <a:extLst>
              <a:ext uri="{FF2B5EF4-FFF2-40B4-BE49-F238E27FC236}">
                <a16:creationId xmlns:a16="http://schemas.microsoft.com/office/drawing/2014/main" id="{935D1F8A-1FDF-DDF5-6A66-6645E169FAF2}"/>
              </a:ext>
            </a:extLst>
          </p:cNvPr>
          <p:cNvSpPr/>
          <p:nvPr/>
        </p:nvSpPr>
        <p:spPr>
          <a:xfrm>
            <a:off x="11168901" y="400575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极点坐标">
                <a:extLst>
                  <a:ext uri="{FF2B5EF4-FFF2-40B4-BE49-F238E27FC236}">
                    <a16:creationId xmlns:a16="http://schemas.microsoft.com/office/drawing/2014/main" id="{E0A7C885-6CA1-ACDB-D7CA-85EBDE966A06}"/>
                  </a:ext>
                </a:extLst>
              </p:cNvPr>
              <p:cNvSpPr txBox="1"/>
              <p:nvPr/>
            </p:nvSpPr>
            <p:spPr>
              <a:xfrm>
                <a:off x="10856803" y="3574578"/>
                <a:ext cx="32218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1.75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144" name="极点坐标">
                <a:extLst>
                  <a:ext uri="{FF2B5EF4-FFF2-40B4-BE49-F238E27FC236}">
                    <a16:creationId xmlns:a16="http://schemas.microsoft.com/office/drawing/2014/main" id="{E0A7C885-6CA1-ACDB-D7CA-85EBDE966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6803" y="3574578"/>
                <a:ext cx="322182" cy="524695"/>
              </a:xfrm>
              <a:prstGeom prst="rect">
                <a:avLst/>
              </a:prstGeom>
              <a:blipFill>
                <a:blip r:embed="rId13"/>
                <a:stretch>
                  <a:fillRect l="-7407" r="-16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零点坐标">
                <a:extLst>
                  <a:ext uri="{FF2B5EF4-FFF2-40B4-BE49-F238E27FC236}">
                    <a16:creationId xmlns:a16="http://schemas.microsoft.com/office/drawing/2014/main" id="{4B139D8D-F198-CF7E-E1BD-A8E111A20C58}"/>
                  </a:ext>
                </a:extLst>
              </p:cNvPr>
              <p:cNvSpPr txBox="1"/>
              <p:nvPr/>
            </p:nvSpPr>
            <p:spPr>
              <a:xfrm>
                <a:off x="9431845" y="3596082"/>
                <a:ext cx="32218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145" name="零点坐标">
                <a:extLst>
                  <a:ext uri="{FF2B5EF4-FFF2-40B4-BE49-F238E27FC236}">
                    <a16:creationId xmlns:a16="http://schemas.microsoft.com/office/drawing/2014/main" id="{4B139D8D-F198-CF7E-E1BD-A8E111A20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845" y="3596082"/>
                <a:ext cx="322182" cy="524695"/>
              </a:xfrm>
              <a:prstGeom prst="rect">
                <a:avLst/>
              </a:prstGeom>
              <a:blipFill>
                <a:blip r:embed="rId14"/>
                <a:stretch>
                  <a:fillRect l="-7692" r="-1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渐近线">
            <a:extLst>
              <a:ext uri="{FF2B5EF4-FFF2-40B4-BE49-F238E27FC236}">
                <a16:creationId xmlns:a16="http://schemas.microsoft.com/office/drawing/2014/main" id="{AD344A82-8AD0-3280-EDA9-83978BAF4E2A}"/>
              </a:ext>
            </a:extLst>
          </p:cNvPr>
          <p:cNvCxnSpPr>
            <a:cxnSpLocks/>
          </p:cNvCxnSpPr>
          <p:nvPr/>
        </p:nvCxnSpPr>
        <p:spPr>
          <a:xfrm flipV="1">
            <a:off x="10194645" y="2450554"/>
            <a:ext cx="0" cy="345544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出射角">
            <a:extLst>
              <a:ext uri="{FF2B5EF4-FFF2-40B4-BE49-F238E27FC236}">
                <a16:creationId xmlns:a16="http://schemas.microsoft.com/office/drawing/2014/main" id="{B9B561CE-2880-AEE3-71D4-B2EA3DAC11D6}"/>
              </a:ext>
            </a:extLst>
          </p:cNvPr>
          <p:cNvCxnSpPr>
            <a:cxnSpLocks/>
          </p:cNvCxnSpPr>
          <p:nvPr/>
        </p:nvCxnSpPr>
        <p:spPr>
          <a:xfrm flipV="1">
            <a:off x="9336088" y="3356992"/>
            <a:ext cx="0" cy="1584176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根轨迹1">
            <a:extLst>
              <a:ext uri="{FF2B5EF4-FFF2-40B4-BE49-F238E27FC236}">
                <a16:creationId xmlns:a16="http://schemas.microsoft.com/office/drawing/2014/main" id="{BA8EDDD6-57EA-AEF8-D978-5291C9FBD6A6}"/>
              </a:ext>
            </a:extLst>
          </p:cNvPr>
          <p:cNvSpPr/>
          <p:nvPr/>
        </p:nvSpPr>
        <p:spPr>
          <a:xfrm>
            <a:off x="9345299" y="2054587"/>
            <a:ext cx="886675" cy="21086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675" h="2108688">
                <a:moveTo>
                  <a:pt x="117" y="2108688"/>
                </a:moveTo>
                <a:cubicBezTo>
                  <a:pt x="-11280" y="1238575"/>
                  <a:pt x="809172" y="1924213"/>
                  <a:pt x="886675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1" name="零点">
            <a:extLst>
              <a:ext uri="{FF2B5EF4-FFF2-40B4-BE49-F238E27FC236}">
                <a16:creationId xmlns:a16="http://schemas.microsoft.com/office/drawing/2014/main" id="{59F9B177-C4CF-6EB5-4893-9A44E6145C32}"/>
              </a:ext>
            </a:extLst>
          </p:cNvPr>
          <p:cNvSpPr/>
          <p:nvPr/>
        </p:nvSpPr>
        <p:spPr>
          <a:xfrm>
            <a:off x="9622784" y="4051743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142" name="根轨迹1">
            <a:extLst>
              <a:ext uri="{FF2B5EF4-FFF2-40B4-BE49-F238E27FC236}">
                <a16:creationId xmlns:a16="http://schemas.microsoft.com/office/drawing/2014/main" id="{F3802E55-6914-DEFF-E87F-67B8D143AB98}"/>
              </a:ext>
            </a:extLst>
          </p:cNvPr>
          <p:cNvCxnSpPr>
            <a:cxnSpLocks/>
            <a:endCxn id="141" idx="6"/>
          </p:cNvCxnSpPr>
          <p:nvPr/>
        </p:nvCxnSpPr>
        <p:spPr>
          <a:xfrm flipH="1">
            <a:off x="9838784" y="4152815"/>
            <a:ext cx="1474134" cy="6928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根轨迹1">
            <a:extLst>
              <a:ext uri="{FF2B5EF4-FFF2-40B4-BE49-F238E27FC236}">
                <a16:creationId xmlns:a16="http://schemas.microsoft.com/office/drawing/2014/main" id="{BEC03131-F093-953B-2E02-1338D5E708D7}"/>
              </a:ext>
            </a:extLst>
          </p:cNvPr>
          <p:cNvSpPr/>
          <p:nvPr/>
        </p:nvSpPr>
        <p:spPr>
          <a:xfrm flipV="1">
            <a:off x="9345299" y="4094261"/>
            <a:ext cx="886675" cy="21086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675" h="2108688">
                <a:moveTo>
                  <a:pt x="117" y="2108688"/>
                </a:moveTo>
                <a:cubicBezTo>
                  <a:pt x="-11280" y="1238575"/>
                  <a:pt x="809172" y="1924213"/>
                  <a:pt x="886675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虚轴交点3">
            <a:extLst>
              <a:ext uri="{FF2B5EF4-FFF2-40B4-BE49-F238E27FC236}">
                <a16:creationId xmlns:a16="http://schemas.microsoft.com/office/drawing/2014/main" id="{1C882218-F0D4-7CDC-E008-6C852FCCE883}"/>
              </a:ext>
            </a:extLst>
          </p:cNvPr>
          <p:cNvSpPr/>
          <p:nvPr/>
        </p:nvSpPr>
        <p:spPr>
          <a:xfrm>
            <a:off x="10009378" y="4103233"/>
            <a:ext cx="91694" cy="916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虚轴交点2">
            <a:extLst>
              <a:ext uri="{FF2B5EF4-FFF2-40B4-BE49-F238E27FC236}">
                <a16:creationId xmlns:a16="http://schemas.microsoft.com/office/drawing/2014/main" id="{6C2538D6-8BD9-6307-2D2D-B26E3EE1816A}"/>
              </a:ext>
            </a:extLst>
          </p:cNvPr>
          <p:cNvSpPr/>
          <p:nvPr/>
        </p:nvSpPr>
        <p:spPr>
          <a:xfrm>
            <a:off x="10016497" y="5176989"/>
            <a:ext cx="91694" cy="916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9" name="虚轴交点1">
            <a:extLst>
              <a:ext uri="{FF2B5EF4-FFF2-40B4-BE49-F238E27FC236}">
                <a16:creationId xmlns:a16="http://schemas.microsoft.com/office/drawing/2014/main" id="{916E97EE-DB59-E30E-CE57-63198AD38DBD}"/>
              </a:ext>
            </a:extLst>
          </p:cNvPr>
          <p:cNvSpPr/>
          <p:nvPr/>
        </p:nvSpPr>
        <p:spPr>
          <a:xfrm>
            <a:off x="10016497" y="3018996"/>
            <a:ext cx="91694" cy="916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5303118" y="1439298"/>
                <a:ext cx="28702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3.5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118" y="1439298"/>
                <a:ext cx="287027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方框图">
            <a:extLst>
              <a:ext uri="{FF2B5EF4-FFF2-40B4-BE49-F238E27FC236}">
                <a16:creationId xmlns:a16="http://schemas.microsoft.com/office/drawing/2014/main" id="{A40420FE-AEC0-2D1D-8008-0295664A3E3D}"/>
              </a:ext>
            </a:extLst>
          </p:cNvPr>
          <p:cNvGrpSpPr/>
          <p:nvPr/>
        </p:nvGrpSpPr>
        <p:grpSpPr>
          <a:xfrm>
            <a:off x="7175500" y="190901"/>
            <a:ext cx="4605469" cy="1552123"/>
            <a:chOff x="7610417" y="260648"/>
            <a:chExt cx="4605469" cy="15521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460497" y="388120"/>
                  <a:ext cx="1807613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box>
                            <m:box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</m:box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7" y="388120"/>
                  <a:ext cx="1807613" cy="792000"/>
                </a:xfrm>
                <a:prstGeom prst="rect">
                  <a:avLst/>
                </a:prstGeom>
                <a:blipFill>
                  <a:blip r:embed="rId16"/>
                  <a:stretch>
                    <a:fillRect r="-1379" b="-1538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1268110" y="784120"/>
              <a:ext cx="92230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1279782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9782" y="260648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19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1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105" idx="3"/>
            </p:cNvCxnSpPr>
            <p:nvPr/>
          </p:nvCxnSpPr>
          <p:spPr>
            <a:xfrm rot="5400000">
              <a:off x="10928072" y="777008"/>
              <a:ext cx="812903" cy="82662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>
              <a:off x="8665690" y="783868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H">
                  <a:extLst>
                    <a:ext uri="{FF2B5EF4-FFF2-40B4-BE49-F238E27FC236}">
                      <a16:creationId xmlns:a16="http://schemas.microsoft.com/office/drawing/2014/main" id="{1D875C74-3A99-A45C-B209-5C5A0A611F2F}"/>
                    </a:ext>
                  </a:extLst>
                </p:cNvPr>
                <p:cNvSpPr/>
                <p:nvPr/>
              </p:nvSpPr>
              <p:spPr>
                <a:xfrm>
                  <a:off x="9689476" y="1380771"/>
                  <a:ext cx="1231736" cy="43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5" name="H">
                  <a:extLst>
                    <a:ext uri="{FF2B5EF4-FFF2-40B4-BE49-F238E27FC236}">
                      <a16:creationId xmlns:a16="http://schemas.microsoft.com/office/drawing/2014/main" id="{1D875C74-3A99-A45C-B209-5C5A0A611F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9476" y="1380771"/>
                  <a:ext cx="1231736" cy="432000"/>
                </a:xfrm>
                <a:prstGeom prst="rect">
                  <a:avLst/>
                </a:prstGeom>
                <a:blipFill>
                  <a:blip r:embed="rId21"/>
                  <a:stretch>
                    <a:fillRect t="-24324" r="-13000" b="-35135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反馈2">
              <a:extLst>
                <a:ext uri="{FF2B5EF4-FFF2-40B4-BE49-F238E27FC236}">
                  <a16:creationId xmlns:a16="http://schemas.microsoft.com/office/drawing/2014/main" id="{EF9B6A95-489F-42AD-0878-2CCEF01B61A9}"/>
                </a:ext>
              </a:extLst>
            </p:cNvPr>
            <p:cNvCxnSpPr>
              <a:cxnSpLocks/>
              <a:stCxn id="105" idx="1"/>
              <a:endCxn id="38" idx="4"/>
            </p:cNvCxnSpPr>
            <p:nvPr/>
          </p:nvCxnSpPr>
          <p:spPr>
            <a:xfrm rot="10800000">
              <a:off x="8521690" y="927869"/>
              <a:ext cx="1167786" cy="66890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/>
              <p:nvPr/>
            </p:nvSpPr>
            <p:spPr>
              <a:xfrm>
                <a:off x="3093972" y="2029021"/>
                <a:ext cx="148061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[−0.5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,1.75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972" y="2029021"/>
                <a:ext cx="1480610" cy="542136"/>
              </a:xfrm>
              <a:prstGeom prst="rect">
                <a:avLst/>
              </a:prstGeom>
              <a:blipFill>
                <a:blip r:embed="rId22"/>
                <a:stretch>
                  <a:fillRect l="-5128" r="-34188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/>
              <p:nvPr/>
            </p:nvSpPr>
            <p:spPr>
              <a:xfrm>
                <a:off x="2985673" y="3675804"/>
                <a:ext cx="1661359" cy="614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</m:t>
                      </m:r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673" y="3675804"/>
                <a:ext cx="1661359" cy="614720"/>
              </a:xfrm>
              <a:prstGeom prst="rect">
                <a:avLst/>
              </a:prstGeom>
              <a:blipFill>
                <a:blip r:embed="rId23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76666" y="1972054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5" name="步骤2">
            <a:extLst>
              <a:ext uri="{FF2B5EF4-FFF2-40B4-BE49-F238E27FC236}">
                <a16:creationId xmlns:a16="http://schemas.microsoft.com/office/drawing/2014/main" id="{A42A4B37-8B24-03D9-009F-D735AD88A73A}"/>
              </a:ext>
            </a:extLst>
          </p:cNvPr>
          <p:cNvGrpSpPr/>
          <p:nvPr/>
        </p:nvGrpSpPr>
        <p:grpSpPr>
          <a:xfrm>
            <a:off x="276666" y="2809757"/>
            <a:ext cx="2682119" cy="725177"/>
            <a:chOff x="4943078" y="1700704"/>
            <a:chExt cx="2682119" cy="725177"/>
          </a:xfrm>
        </p:grpSpPr>
        <p:sp>
          <p:nvSpPr>
            <p:cNvPr id="116" name="标题">
              <a:extLst>
                <a:ext uri="{FF2B5EF4-FFF2-40B4-BE49-F238E27FC236}">
                  <a16:creationId xmlns:a16="http://schemas.microsoft.com/office/drawing/2014/main" id="{655C2BCA-0C34-0A45-D4A1-7CA14EA990AA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17" name="序号">
              <a:extLst>
                <a:ext uri="{FF2B5EF4-FFF2-40B4-BE49-F238E27FC236}">
                  <a16:creationId xmlns:a16="http://schemas.microsoft.com/office/drawing/2014/main" id="{803D861C-6CE3-319B-9886-46B8720EC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8" name="步骤3">
            <a:extLst>
              <a:ext uri="{FF2B5EF4-FFF2-40B4-BE49-F238E27FC236}">
                <a16:creationId xmlns:a16="http://schemas.microsoft.com/office/drawing/2014/main" id="{28C86A64-4E0A-11CE-BECF-A6A6C05728FF}"/>
              </a:ext>
            </a:extLst>
          </p:cNvPr>
          <p:cNvGrpSpPr/>
          <p:nvPr/>
        </p:nvGrpSpPr>
        <p:grpSpPr>
          <a:xfrm>
            <a:off x="303554" y="3646138"/>
            <a:ext cx="2682119" cy="725177"/>
            <a:chOff x="4943078" y="1700704"/>
            <a:chExt cx="2682119" cy="725177"/>
          </a:xfrm>
        </p:grpSpPr>
        <p:sp>
          <p:nvSpPr>
            <p:cNvPr id="119" name="标题">
              <a:extLst>
                <a:ext uri="{FF2B5EF4-FFF2-40B4-BE49-F238E27FC236}">
                  <a16:creationId xmlns:a16="http://schemas.microsoft.com/office/drawing/2014/main" id="{0CB9CC0F-44EE-CA42-4AE6-BD43FFE5FF5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出射角</a:t>
              </a:r>
            </a:p>
          </p:txBody>
        </p:sp>
        <p:sp>
          <p:nvSpPr>
            <p:cNvPr id="120" name="序号">
              <a:extLst>
                <a:ext uri="{FF2B5EF4-FFF2-40B4-BE49-F238E27FC236}">
                  <a16:creationId xmlns:a16="http://schemas.microsoft.com/office/drawing/2014/main" id="{B03A18E1-5F5C-A1C7-D1E6-992BFA088E7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1" name="步骤4">
            <a:extLst>
              <a:ext uri="{FF2B5EF4-FFF2-40B4-BE49-F238E27FC236}">
                <a16:creationId xmlns:a16="http://schemas.microsoft.com/office/drawing/2014/main" id="{EDBB4EE1-696A-CCF5-F8FE-AA955B4A2A5D}"/>
              </a:ext>
            </a:extLst>
          </p:cNvPr>
          <p:cNvGrpSpPr/>
          <p:nvPr/>
        </p:nvGrpSpPr>
        <p:grpSpPr>
          <a:xfrm>
            <a:off x="276670" y="4519218"/>
            <a:ext cx="2682115" cy="725177"/>
            <a:chOff x="4943078" y="1700704"/>
            <a:chExt cx="2682115" cy="725177"/>
          </a:xfrm>
        </p:grpSpPr>
        <p:sp>
          <p:nvSpPr>
            <p:cNvPr id="122" name="标题">
              <a:extLst>
                <a:ext uri="{FF2B5EF4-FFF2-40B4-BE49-F238E27FC236}">
                  <a16:creationId xmlns:a16="http://schemas.microsoft.com/office/drawing/2014/main" id="{9DCC84EB-CDD8-9FBA-3499-5CF3BB13F168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虚轴交点</a:t>
              </a:r>
            </a:p>
          </p:txBody>
        </p:sp>
        <p:sp>
          <p:nvSpPr>
            <p:cNvPr id="123" name="序号">
              <a:extLst>
                <a:ext uri="{FF2B5EF4-FFF2-40B4-BE49-F238E27FC236}">
                  <a16:creationId xmlns:a16="http://schemas.microsoft.com/office/drawing/2014/main" id="{11163DEF-EB11-7386-3836-4BBAF2A54D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渐近线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/>
              <p:nvPr/>
            </p:nvSpPr>
            <p:spPr>
              <a:xfrm>
                <a:off x="2992207" y="2593448"/>
                <a:ext cx="2785210" cy="1155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−2+</m:t>
                          </m:r>
                          <m:f>
                            <m:fPr>
                              <m:type m:val="li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+1/2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3−1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3−1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=±90°</m:t>
                      </m:r>
                    </m:oMath>
                  </m:oMathPara>
                </a14:m>
                <a:endParaRPr lang="zh-CN" altLang="en-US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124" name="渐近线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207" y="2593448"/>
                <a:ext cx="2785210" cy="1155381"/>
              </a:xfrm>
              <a:prstGeom prst="rect">
                <a:avLst/>
              </a:prstGeom>
              <a:blipFill>
                <a:blip r:embed="rId24"/>
                <a:stretch>
                  <a:fillRect t="-36957"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出射角">
                <a:extLst>
                  <a:ext uri="{FF2B5EF4-FFF2-40B4-BE49-F238E27FC236}">
                    <a16:creationId xmlns:a16="http://schemas.microsoft.com/office/drawing/2014/main" id="{2444B483-9C9A-A7B7-04B3-8B5AD20089FB}"/>
                  </a:ext>
                </a:extLst>
              </p:cNvPr>
              <p:cNvSpPr txBox="1"/>
              <p:nvPr/>
            </p:nvSpPr>
            <p:spPr>
              <a:xfrm>
                <a:off x="271382" y="5646578"/>
                <a:ext cx="6435882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</m:d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5" name="出射角">
                <a:extLst>
                  <a:ext uri="{FF2B5EF4-FFF2-40B4-BE49-F238E27FC236}">
                    <a16:creationId xmlns:a16="http://schemas.microsoft.com/office/drawing/2014/main" id="{2444B483-9C9A-A7B7-04B3-8B5AD200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82" y="5646578"/>
                <a:ext cx="6435882" cy="1211422"/>
              </a:xfrm>
              <a:prstGeom prst="rect">
                <a:avLst/>
              </a:prstGeom>
              <a:blipFill>
                <a:blip r:embed="rId25"/>
                <a:stretch>
                  <a:fillRect l="-31164" t="-208333" r="-986" b="-2989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增益范围">
                <a:extLst>
                  <a:ext uri="{FF2B5EF4-FFF2-40B4-BE49-F238E27FC236}">
                    <a16:creationId xmlns:a16="http://schemas.microsoft.com/office/drawing/2014/main" id="{350732C6-7AA5-EA46-065F-611FA46EB334}"/>
                  </a:ext>
                </a:extLst>
              </p:cNvPr>
              <p:cNvSpPr txBox="1"/>
              <p:nvPr/>
            </p:nvSpPr>
            <p:spPr>
              <a:xfrm>
                <a:off x="224938" y="5244395"/>
                <a:ext cx="76665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+7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6" name="增益范围">
                <a:extLst>
                  <a:ext uri="{FF2B5EF4-FFF2-40B4-BE49-F238E27FC236}">
                    <a16:creationId xmlns:a16="http://schemas.microsoft.com/office/drawing/2014/main" id="{350732C6-7AA5-EA46-065F-611FA46EB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38" y="5244395"/>
                <a:ext cx="7666525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EA004BC-A60A-7A45-1487-83D7950AEF9B}"/>
                  </a:ext>
                </a:extLst>
              </p:cNvPr>
              <p:cNvSpPr txBox="1"/>
              <p:nvPr/>
            </p:nvSpPr>
            <p:spPr>
              <a:xfrm>
                <a:off x="6648155" y="5620150"/>
                <a:ext cx="3359137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=±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9/7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EA004BC-A60A-7A45-1487-83D7950A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55" y="5620150"/>
                <a:ext cx="3359137" cy="1211422"/>
              </a:xfrm>
              <a:prstGeom prst="rect">
                <a:avLst/>
              </a:prstGeom>
              <a:blipFill>
                <a:blip r:embed="rId27"/>
                <a:stretch>
                  <a:fillRect l="-46241" t="-206186" r="-8647" b="-294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特征方程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/>
              <p:nvPr/>
            </p:nvSpPr>
            <p:spPr>
              <a:xfrm>
                <a:off x="313112" y="831079"/>
                <a:ext cx="5303118" cy="1061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box>
                          </m:e>
                        </m:d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3.5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box>
                          <m:box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4" name="特征方程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831079"/>
                <a:ext cx="5303118" cy="1061444"/>
              </a:xfrm>
              <a:prstGeom prst="rect">
                <a:avLst/>
              </a:prstGeom>
              <a:blipFill>
                <a:blip r:embed="rId28"/>
                <a:stretch>
                  <a:fillRect l="-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980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 tmFilter="0, 0; .2, .5; .8, .5; 1, 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1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 tmFilter="0, 0; .2, .5; .8, .5; 1, 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8" dur="250" autoRev="1" fill="hold"/>
                                        <p:tgtEl>
                                          <p:spTgt spid="1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1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1" grpId="0" animBg="1"/>
      <p:bldP spid="51" grpId="1" animBg="1"/>
      <p:bldP spid="144" grpId="0"/>
      <p:bldP spid="145" grpId="0"/>
      <p:bldP spid="138" grpId="0" animBg="1"/>
      <p:bldP spid="141" grpId="0" animBg="1"/>
      <p:bldP spid="141" grpId="1" animBg="1"/>
      <p:bldP spid="143" grpId="0" animBg="1"/>
      <p:bldP spid="27" grpId="0" animBg="1"/>
      <p:bldP spid="27" grpId="1" animBg="1"/>
      <p:bldP spid="140" grpId="0" animBg="1"/>
      <p:bldP spid="140" grpId="1" animBg="1"/>
      <p:bldP spid="139" grpId="0" animBg="1"/>
      <p:bldP spid="139" grpId="1" animBg="1"/>
      <p:bldP spid="57" grpId="0"/>
      <p:bldP spid="107" grpId="0"/>
      <p:bldP spid="111" grpId="0"/>
      <p:bldP spid="124" grpId="0"/>
      <p:bldP spid="125" grpId="0"/>
      <p:bldP spid="126" grpId="0"/>
      <p:bldP spid="127" grpId="0"/>
      <p:bldP spid="3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坐标轴">
            <a:extLst>
              <a:ext uri="{FF2B5EF4-FFF2-40B4-BE49-F238E27FC236}">
                <a16:creationId xmlns:a16="http://schemas.microsoft.com/office/drawing/2014/main" id="{A8EB1803-F20E-0295-390B-340D8049213F}"/>
              </a:ext>
            </a:extLst>
          </p:cNvPr>
          <p:cNvGrpSpPr/>
          <p:nvPr/>
        </p:nvGrpSpPr>
        <p:grpSpPr>
          <a:xfrm>
            <a:off x="7449515" y="2037536"/>
            <a:ext cx="3686251" cy="3868460"/>
            <a:chOff x="8169595" y="2037536"/>
            <a:chExt cx="3686251" cy="3868460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8327454" y="4163285"/>
              <a:ext cx="352839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2344" y="2413491"/>
              <a:ext cx="3" cy="3492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10124096" y="20375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4096" y="2037536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10019493" y="409278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9493" y="409278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5789" r="-736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ytick1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066536" y="343491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ytick-1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10076033" y="487314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tick-2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10059977" y="559099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ytick2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061226" y="27059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xtixk-1">
              <a:extLst>
                <a:ext uri="{FF2B5EF4-FFF2-40B4-BE49-F238E27FC236}">
                  <a16:creationId xmlns:a16="http://schemas.microsoft.com/office/drawing/2014/main" id="{AEBBED5C-227A-256A-9403-3EB96EFC8A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68272" y="423948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xtixk-2">
              <a:extLst>
                <a:ext uri="{FF2B5EF4-FFF2-40B4-BE49-F238E27FC236}">
                  <a16:creationId xmlns:a16="http://schemas.microsoft.com/office/drawing/2014/main" id="{CE84F53D-5D41-22E7-FC5B-C4179606D9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47547" y="423948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xtixk1">
              <a:extLst>
                <a:ext uri="{FF2B5EF4-FFF2-40B4-BE49-F238E27FC236}">
                  <a16:creationId xmlns:a16="http://schemas.microsoft.com/office/drawing/2014/main" id="{2BFF7E53-2FB1-BF80-10D5-72BC64EA00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08134" y="423108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xtixk2">
              <a:extLst>
                <a:ext uri="{FF2B5EF4-FFF2-40B4-BE49-F238E27FC236}">
                  <a16:creationId xmlns:a16="http://schemas.microsoft.com/office/drawing/2014/main" id="{7C4887B3-F262-E201-24C8-AAF0A716D4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1560" y="422063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/>
                <p:nvPr/>
              </p:nvSpPr>
              <p:spPr>
                <a:xfrm>
                  <a:off x="11296381" y="4209111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6381" y="4209111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/>
                <p:nvPr/>
              </p:nvSpPr>
              <p:spPr>
                <a:xfrm>
                  <a:off x="10582777" y="420911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2777" y="4209110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l="-7407" r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/>
                <p:nvPr/>
              </p:nvSpPr>
              <p:spPr>
                <a:xfrm>
                  <a:off x="8886834" y="4201172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6834" y="4201172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/>
                <p:nvPr/>
              </p:nvSpPr>
              <p:spPr>
                <a:xfrm>
                  <a:off x="8169595" y="419954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4199547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10237622" y="3173302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7622" y="3173302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10237622" y="2450554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7622" y="2450554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10212914" y="460725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2914" y="4607253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10196858" y="531610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6858" y="5316108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极点2">
            <a:extLst>
              <a:ext uri="{FF2B5EF4-FFF2-40B4-BE49-F238E27FC236}">
                <a16:creationId xmlns:a16="http://schemas.microsoft.com/office/drawing/2014/main" id="{5FCC0545-F905-1DB6-5AE8-AC325993CD6E}"/>
              </a:ext>
            </a:extLst>
          </p:cNvPr>
          <p:cNvSpPr/>
          <p:nvPr/>
        </p:nvSpPr>
        <p:spPr>
          <a:xfrm>
            <a:off x="8463927" y="401926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51" name="极点1">
            <a:extLst>
              <a:ext uri="{FF2B5EF4-FFF2-40B4-BE49-F238E27FC236}">
                <a16:creationId xmlns:a16="http://schemas.microsoft.com/office/drawing/2014/main" id="{935D1F8A-1FDF-DDF5-6A66-6645E169FAF2}"/>
              </a:ext>
            </a:extLst>
          </p:cNvPr>
          <p:cNvSpPr/>
          <p:nvPr/>
        </p:nvSpPr>
        <p:spPr>
          <a:xfrm>
            <a:off x="10448821" y="400575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极点坐标">
                <a:extLst>
                  <a:ext uri="{FF2B5EF4-FFF2-40B4-BE49-F238E27FC236}">
                    <a16:creationId xmlns:a16="http://schemas.microsoft.com/office/drawing/2014/main" id="{E0A7C885-6CA1-ACDB-D7CA-85EBDE966A06}"/>
                  </a:ext>
                </a:extLst>
              </p:cNvPr>
              <p:cNvSpPr txBox="1"/>
              <p:nvPr/>
            </p:nvSpPr>
            <p:spPr>
              <a:xfrm>
                <a:off x="10136723" y="3574578"/>
                <a:ext cx="32218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1.75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144" name="极点坐标">
                <a:extLst>
                  <a:ext uri="{FF2B5EF4-FFF2-40B4-BE49-F238E27FC236}">
                    <a16:creationId xmlns:a16="http://schemas.microsoft.com/office/drawing/2014/main" id="{E0A7C885-6CA1-ACDB-D7CA-85EBDE966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6723" y="3574578"/>
                <a:ext cx="322182" cy="524695"/>
              </a:xfrm>
              <a:prstGeom prst="rect">
                <a:avLst/>
              </a:prstGeom>
              <a:blipFill>
                <a:blip r:embed="rId13"/>
                <a:stretch>
                  <a:fillRect l="-11538" r="-16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零点坐标">
                <a:extLst>
                  <a:ext uri="{FF2B5EF4-FFF2-40B4-BE49-F238E27FC236}">
                    <a16:creationId xmlns:a16="http://schemas.microsoft.com/office/drawing/2014/main" id="{4B139D8D-F198-CF7E-E1BD-A8E111A20C58}"/>
                  </a:ext>
                </a:extLst>
              </p:cNvPr>
              <p:cNvSpPr txBox="1"/>
              <p:nvPr/>
            </p:nvSpPr>
            <p:spPr>
              <a:xfrm>
                <a:off x="8711765" y="3596082"/>
                <a:ext cx="32218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145" name="零点坐标">
                <a:extLst>
                  <a:ext uri="{FF2B5EF4-FFF2-40B4-BE49-F238E27FC236}">
                    <a16:creationId xmlns:a16="http://schemas.microsoft.com/office/drawing/2014/main" id="{4B139D8D-F198-CF7E-E1BD-A8E111A20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765" y="3596082"/>
                <a:ext cx="322182" cy="524695"/>
              </a:xfrm>
              <a:prstGeom prst="rect">
                <a:avLst/>
              </a:prstGeom>
              <a:blipFill>
                <a:blip r:embed="rId14"/>
                <a:stretch>
                  <a:fillRect l="-7407" r="-10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渐近线">
            <a:extLst>
              <a:ext uri="{FF2B5EF4-FFF2-40B4-BE49-F238E27FC236}">
                <a16:creationId xmlns:a16="http://schemas.microsoft.com/office/drawing/2014/main" id="{AD344A82-8AD0-3280-EDA9-83978BAF4E2A}"/>
              </a:ext>
            </a:extLst>
          </p:cNvPr>
          <p:cNvCxnSpPr>
            <a:cxnSpLocks/>
          </p:cNvCxnSpPr>
          <p:nvPr/>
        </p:nvCxnSpPr>
        <p:spPr>
          <a:xfrm flipV="1">
            <a:off x="9474565" y="2450554"/>
            <a:ext cx="0" cy="345544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出射角">
            <a:extLst>
              <a:ext uri="{FF2B5EF4-FFF2-40B4-BE49-F238E27FC236}">
                <a16:creationId xmlns:a16="http://schemas.microsoft.com/office/drawing/2014/main" id="{B9B561CE-2880-AEE3-71D4-B2EA3DAC11D6}"/>
              </a:ext>
            </a:extLst>
          </p:cNvPr>
          <p:cNvCxnSpPr>
            <a:cxnSpLocks/>
          </p:cNvCxnSpPr>
          <p:nvPr/>
        </p:nvCxnSpPr>
        <p:spPr>
          <a:xfrm flipV="1">
            <a:off x="8616008" y="3356992"/>
            <a:ext cx="0" cy="1584176"/>
          </a:xfrm>
          <a:prstGeom prst="straightConnector1">
            <a:avLst/>
          </a:prstGeom>
          <a:ln w="25400">
            <a:solidFill>
              <a:srgbClr val="0070C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根轨迹1">
            <a:extLst>
              <a:ext uri="{FF2B5EF4-FFF2-40B4-BE49-F238E27FC236}">
                <a16:creationId xmlns:a16="http://schemas.microsoft.com/office/drawing/2014/main" id="{BA8EDDD6-57EA-AEF8-D978-5291C9FBD6A6}"/>
              </a:ext>
            </a:extLst>
          </p:cNvPr>
          <p:cNvSpPr/>
          <p:nvPr/>
        </p:nvSpPr>
        <p:spPr>
          <a:xfrm>
            <a:off x="8625219" y="2054587"/>
            <a:ext cx="886675" cy="21086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675" h="2108688">
                <a:moveTo>
                  <a:pt x="117" y="2108688"/>
                </a:moveTo>
                <a:cubicBezTo>
                  <a:pt x="-11280" y="1238575"/>
                  <a:pt x="809172" y="1924213"/>
                  <a:pt x="886675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1" name="零点">
            <a:extLst>
              <a:ext uri="{FF2B5EF4-FFF2-40B4-BE49-F238E27FC236}">
                <a16:creationId xmlns:a16="http://schemas.microsoft.com/office/drawing/2014/main" id="{59F9B177-C4CF-6EB5-4893-9A44E6145C32}"/>
              </a:ext>
            </a:extLst>
          </p:cNvPr>
          <p:cNvSpPr/>
          <p:nvPr/>
        </p:nvSpPr>
        <p:spPr>
          <a:xfrm>
            <a:off x="8902704" y="4051743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142" name="根轨迹1">
            <a:extLst>
              <a:ext uri="{FF2B5EF4-FFF2-40B4-BE49-F238E27FC236}">
                <a16:creationId xmlns:a16="http://schemas.microsoft.com/office/drawing/2014/main" id="{F3802E55-6914-DEFF-E87F-67B8D143AB98}"/>
              </a:ext>
            </a:extLst>
          </p:cNvPr>
          <p:cNvCxnSpPr>
            <a:cxnSpLocks/>
            <a:endCxn id="141" idx="6"/>
          </p:cNvCxnSpPr>
          <p:nvPr/>
        </p:nvCxnSpPr>
        <p:spPr>
          <a:xfrm flipH="1">
            <a:off x="9118704" y="4152815"/>
            <a:ext cx="1474134" cy="6928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根轨迹1">
            <a:extLst>
              <a:ext uri="{FF2B5EF4-FFF2-40B4-BE49-F238E27FC236}">
                <a16:creationId xmlns:a16="http://schemas.microsoft.com/office/drawing/2014/main" id="{BEC03131-F093-953B-2E02-1338D5E708D7}"/>
              </a:ext>
            </a:extLst>
          </p:cNvPr>
          <p:cNvSpPr/>
          <p:nvPr/>
        </p:nvSpPr>
        <p:spPr>
          <a:xfrm flipV="1">
            <a:off x="8625219" y="4094261"/>
            <a:ext cx="886675" cy="21086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675" h="2108688">
                <a:moveTo>
                  <a:pt x="117" y="2108688"/>
                </a:moveTo>
                <a:cubicBezTo>
                  <a:pt x="-11280" y="1238575"/>
                  <a:pt x="809172" y="1924213"/>
                  <a:pt x="886675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虚轴交点3">
            <a:extLst>
              <a:ext uri="{FF2B5EF4-FFF2-40B4-BE49-F238E27FC236}">
                <a16:creationId xmlns:a16="http://schemas.microsoft.com/office/drawing/2014/main" id="{1C882218-F0D4-7CDC-E008-6C852FCCE883}"/>
              </a:ext>
            </a:extLst>
          </p:cNvPr>
          <p:cNvSpPr/>
          <p:nvPr/>
        </p:nvSpPr>
        <p:spPr>
          <a:xfrm>
            <a:off x="9289298" y="4103233"/>
            <a:ext cx="91694" cy="916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虚轴交点2">
            <a:extLst>
              <a:ext uri="{FF2B5EF4-FFF2-40B4-BE49-F238E27FC236}">
                <a16:creationId xmlns:a16="http://schemas.microsoft.com/office/drawing/2014/main" id="{6C2538D6-8BD9-6307-2D2D-B26E3EE1816A}"/>
              </a:ext>
            </a:extLst>
          </p:cNvPr>
          <p:cNvSpPr/>
          <p:nvPr/>
        </p:nvSpPr>
        <p:spPr>
          <a:xfrm>
            <a:off x="9296417" y="5176989"/>
            <a:ext cx="91694" cy="916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9" name="虚轴交点1">
            <a:extLst>
              <a:ext uri="{FF2B5EF4-FFF2-40B4-BE49-F238E27FC236}">
                <a16:creationId xmlns:a16="http://schemas.microsoft.com/office/drawing/2014/main" id="{916E97EE-DB59-E30E-CE57-63198AD38DBD}"/>
              </a:ext>
            </a:extLst>
          </p:cNvPr>
          <p:cNvSpPr/>
          <p:nvPr/>
        </p:nvSpPr>
        <p:spPr>
          <a:xfrm>
            <a:off x="9296417" y="3018996"/>
            <a:ext cx="91694" cy="916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" name="方框图">
            <a:extLst>
              <a:ext uri="{FF2B5EF4-FFF2-40B4-BE49-F238E27FC236}">
                <a16:creationId xmlns:a16="http://schemas.microsoft.com/office/drawing/2014/main" id="{A40420FE-AEC0-2D1D-8008-0295664A3E3D}"/>
              </a:ext>
            </a:extLst>
          </p:cNvPr>
          <p:cNvGrpSpPr/>
          <p:nvPr/>
        </p:nvGrpSpPr>
        <p:grpSpPr>
          <a:xfrm>
            <a:off x="7175500" y="190901"/>
            <a:ext cx="4605469" cy="1552123"/>
            <a:chOff x="7610417" y="260648"/>
            <a:chExt cx="4605469" cy="15521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460497" y="388120"/>
                  <a:ext cx="1807613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box>
                            <m:box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</m:box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7" y="388120"/>
                  <a:ext cx="1807613" cy="792000"/>
                </a:xfrm>
                <a:prstGeom prst="rect">
                  <a:avLst/>
                </a:prstGeom>
                <a:blipFill>
                  <a:blip r:embed="rId15"/>
                  <a:stretch>
                    <a:fillRect r="-1379" b="-1538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1268110" y="784120"/>
              <a:ext cx="92230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1279782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9782" y="260648"/>
                  <a:ext cx="936104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1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105" idx="3"/>
            </p:cNvCxnSpPr>
            <p:nvPr/>
          </p:nvCxnSpPr>
          <p:spPr>
            <a:xfrm rot="5400000">
              <a:off x="10928072" y="777008"/>
              <a:ext cx="812903" cy="826622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>
              <a:off x="8665690" y="783868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H">
                  <a:extLst>
                    <a:ext uri="{FF2B5EF4-FFF2-40B4-BE49-F238E27FC236}">
                      <a16:creationId xmlns:a16="http://schemas.microsoft.com/office/drawing/2014/main" id="{1D875C74-3A99-A45C-B209-5C5A0A611F2F}"/>
                    </a:ext>
                  </a:extLst>
                </p:cNvPr>
                <p:cNvSpPr/>
                <p:nvPr/>
              </p:nvSpPr>
              <p:spPr>
                <a:xfrm>
                  <a:off x="9689476" y="1380771"/>
                  <a:ext cx="1231736" cy="43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5" name="H">
                  <a:extLst>
                    <a:ext uri="{FF2B5EF4-FFF2-40B4-BE49-F238E27FC236}">
                      <a16:creationId xmlns:a16="http://schemas.microsoft.com/office/drawing/2014/main" id="{1D875C74-3A99-A45C-B209-5C5A0A611F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9476" y="1380771"/>
                  <a:ext cx="1231736" cy="432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反馈2">
              <a:extLst>
                <a:ext uri="{FF2B5EF4-FFF2-40B4-BE49-F238E27FC236}">
                  <a16:creationId xmlns:a16="http://schemas.microsoft.com/office/drawing/2014/main" id="{EF9B6A95-489F-42AD-0878-2CCEF01B61A9}"/>
                </a:ext>
              </a:extLst>
            </p:cNvPr>
            <p:cNvCxnSpPr>
              <a:cxnSpLocks/>
              <a:stCxn id="105" idx="1"/>
              <a:endCxn id="38" idx="4"/>
            </p:cNvCxnSpPr>
            <p:nvPr/>
          </p:nvCxnSpPr>
          <p:spPr>
            <a:xfrm rot="10800000">
              <a:off x="8521690" y="927869"/>
              <a:ext cx="1167786" cy="668903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EA004BC-A60A-7A45-1487-83D7950AEF9B}"/>
                  </a:ext>
                </a:extLst>
              </p:cNvPr>
              <p:cNvSpPr txBox="1"/>
              <p:nvPr/>
            </p:nvSpPr>
            <p:spPr>
              <a:xfrm>
                <a:off x="982638" y="1797871"/>
                <a:ext cx="3359137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=±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9/7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EA004BC-A60A-7A45-1487-83D7950A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38" y="1797871"/>
                <a:ext cx="3359137" cy="1211422"/>
              </a:xfrm>
              <a:prstGeom prst="rect">
                <a:avLst/>
              </a:prstGeom>
              <a:blipFill>
                <a:blip r:embed="rId21"/>
                <a:stretch>
                  <a:fillRect l="-46415" t="-206186" r="-9057" b="-294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0" name="问题">
            <a:extLst>
              <a:ext uri="{FF2B5EF4-FFF2-40B4-BE49-F238E27FC236}">
                <a16:creationId xmlns:a16="http://schemas.microsoft.com/office/drawing/2014/main" id="{059FD856-1791-058D-229F-40E4B63BAA7A}"/>
              </a:ext>
            </a:extLst>
          </p:cNvPr>
          <p:cNvGrpSpPr/>
          <p:nvPr/>
        </p:nvGrpSpPr>
        <p:grpSpPr>
          <a:xfrm>
            <a:off x="226855" y="962461"/>
            <a:ext cx="5436303" cy="881063"/>
            <a:chOff x="5348307" y="5538470"/>
            <a:chExt cx="5436303" cy="881063"/>
          </a:xfrm>
        </p:grpSpPr>
        <p:sp>
          <p:nvSpPr>
            <p:cNvPr id="71" name="问号">
              <a:extLst>
                <a:ext uri="{FF2B5EF4-FFF2-40B4-BE49-F238E27FC236}">
                  <a16:creationId xmlns:a16="http://schemas.microsoft.com/office/drawing/2014/main" id="{B2DC9454-1A72-D19D-3C54-FA95EE3B5C88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">
                  <a:extLst>
                    <a:ext uri="{FF2B5EF4-FFF2-40B4-BE49-F238E27FC236}">
                      <a16:creationId xmlns:a16="http://schemas.microsoft.com/office/drawing/2014/main" id="{C4057BF5-218A-62B5-03AE-76F199312403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447834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系统稳定性如何随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变化？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72" name="文本">
                  <a:extLst>
                    <a:ext uri="{FF2B5EF4-FFF2-40B4-BE49-F238E27FC236}">
                      <a16:creationId xmlns:a16="http://schemas.microsoft.com/office/drawing/2014/main" id="{C4057BF5-218A-62B5-03AE-76F1993124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4478345" cy="523220"/>
                </a:xfrm>
                <a:prstGeom prst="rect">
                  <a:avLst/>
                </a:prstGeom>
                <a:blipFill>
                  <a:blip r:embed="rId22"/>
                  <a:stretch>
                    <a:fillRect l="-2833" t="-11905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增益范围">
                <a:extLst>
                  <a:ext uri="{FF2B5EF4-FFF2-40B4-BE49-F238E27FC236}">
                    <a16:creationId xmlns:a16="http://schemas.microsoft.com/office/drawing/2014/main" id="{31F49E58-DE7D-C0EF-8478-94AFBFD2C7A8}"/>
                  </a:ext>
                </a:extLst>
              </p:cNvPr>
              <p:cNvSpPr txBox="1"/>
              <p:nvPr/>
            </p:nvSpPr>
            <p:spPr>
              <a:xfrm>
                <a:off x="-58036" y="3162636"/>
                <a:ext cx="7005910" cy="596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zh-CN" alt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</m:t>
                          </m:r>
                        </m:e>
                      </m:groupCh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  <m:r>
                            <m:rPr>
                              <m:nor/>
                            </m:rPr>
                            <a:rPr lang="zh-CN" alt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</m:groupCh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box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</m:t>
                          </m:r>
                        </m:e>
                      </m:groupCh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增益范围">
                <a:extLst>
                  <a:ext uri="{FF2B5EF4-FFF2-40B4-BE49-F238E27FC236}">
                    <a16:creationId xmlns:a16="http://schemas.microsoft.com/office/drawing/2014/main" id="{31F49E58-DE7D-C0EF-8478-94AFBFD2C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036" y="3162636"/>
                <a:ext cx="7005910" cy="596189"/>
              </a:xfrm>
              <a:prstGeom prst="rect">
                <a:avLst/>
              </a:prstGeom>
              <a:blipFill>
                <a:blip r:embed="rId23"/>
                <a:stretch>
                  <a:fillRect t="-39583"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CBC97CA3-3482-9690-A0CC-6918AFEA392B}"/>
              </a:ext>
            </a:extLst>
          </p:cNvPr>
          <p:cNvGrpSpPr/>
          <p:nvPr/>
        </p:nvGrpSpPr>
        <p:grpSpPr>
          <a:xfrm>
            <a:off x="1081491" y="3234644"/>
            <a:ext cx="5974848" cy="1221657"/>
            <a:chOff x="1559964" y="3552316"/>
            <a:chExt cx="5974848" cy="1221657"/>
          </a:xfrm>
        </p:grpSpPr>
        <p:sp>
          <p:nvSpPr>
            <p:cNvPr id="57" name="阻尼">
              <a:extLst>
                <a:ext uri="{FF2B5EF4-FFF2-40B4-BE49-F238E27FC236}">
                  <a16:creationId xmlns:a16="http://schemas.microsoft.com/office/drawing/2014/main" id="{5C5D9E22-DEFF-F77D-0235-2E672252C558}"/>
                </a:ext>
              </a:extLst>
            </p:cNvPr>
            <p:cNvSpPr txBox="1"/>
            <p:nvPr/>
          </p:nvSpPr>
          <p:spPr>
            <a:xfrm>
              <a:off x="1623011" y="4250753"/>
              <a:ext cx="542646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solidFill>
                    <a:srgbClr val="E44860"/>
                  </a:solidFill>
                </a:rPr>
                <a:t>不稳定           </a:t>
              </a:r>
              <a:r>
                <a:rPr lang="zh-CN" altLang="en-US" sz="2800" dirty="0">
                  <a:solidFill>
                    <a:srgbClr val="159F84"/>
                  </a:solidFill>
                </a:rPr>
                <a:t>稳定</a:t>
              </a:r>
              <a:r>
                <a:rPr lang="zh-CN" altLang="en-US" sz="2800" dirty="0"/>
                <a:t>              </a:t>
              </a:r>
              <a:r>
                <a:rPr lang="zh-CN" altLang="en-US" sz="2800" dirty="0">
                  <a:solidFill>
                    <a:srgbClr val="E44860"/>
                  </a:solidFill>
                </a:rPr>
                <a:t>不稳定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大括号1">
                  <a:extLst>
                    <a:ext uri="{FF2B5EF4-FFF2-40B4-BE49-F238E27FC236}">
                      <a16:creationId xmlns:a16="http://schemas.microsoft.com/office/drawing/2014/main" id="{FCE94762-2C7C-9D94-48FF-5572AD66E8D9}"/>
                    </a:ext>
                  </a:extLst>
                </p:cNvPr>
                <p:cNvSpPr txBox="1"/>
                <p:nvPr/>
              </p:nvSpPr>
              <p:spPr>
                <a:xfrm>
                  <a:off x="1559964" y="3552316"/>
                  <a:ext cx="5974848" cy="5895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groupChr>
                        <m:groupChrPr>
                          <m:chr m:val="⏟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</m:t>
                          </m:r>
                        </m:e>
                      </m:groupChr>
                    </m:oMath>
                  </a14:m>
                  <a:r>
                    <a:rPr lang="zh-CN" altLang="en-US" sz="2800" dirty="0"/>
                    <a:t>        </a:t>
                  </a:r>
                  <a14:m>
                    <m:oMath xmlns:m="http://schemas.openxmlformats.org/officeDocument/2006/math">
                      <m:groupChr>
                        <m:groupChrPr>
                          <m:chr m:val="⏟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</m:t>
                          </m:r>
                        </m:e>
                      </m:groupChr>
                    </m:oMath>
                  </a14:m>
                  <a:r>
                    <a:rPr lang="en-US" altLang="zh-CN" sz="2800" dirty="0">
                      <a:ea typeface="Cambria Math" panose="02040503050406030204" pitchFamily="18" charset="0"/>
                    </a:rPr>
                    <a:t> </a:t>
                  </a:r>
                  <a:r>
                    <a:rPr lang="zh-CN" altLang="en-US" sz="2800" dirty="0">
                      <a:ea typeface="Cambria Math" panose="02040503050406030204" pitchFamily="18" charset="0"/>
                    </a:rPr>
                    <a:t>         </a:t>
                  </a:r>
                  <a14:m>
                    <m:oMath xmlns:m="http://schemas.openxmlformats.org/officeDocument/2006/math">
                      <m:groupChr>
                        <m:groupChrPr>
                          <m:chr m:val="⏟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</m:t>
                          </m:r>
                        </m:e>
                      </m:groupChr>
                    </m:oMath>
                  </a14:m>
                  <a:r>
                    <a:rPr lang="zh-CN" altLang="en-US" sz="2800" dirty="0"/>
                    <a:t> </a:t>
                  </a:r>
                </a:p>
              </p:txBody>
            </p:sp>
          </mc:Choice>
          <mc:Fallback xmlns="">
            <p:sp>
              <p:nvSpPr>
                <p:cNvPr id="58" name="大括号1">
                  <a:extLst>
                    <a:ext uri="{FF2B5EF4-FFF2-40B4-BE49-F238E27FC236}">
                      <a16:creationId xmlns:a16="http://schemas.microsoft.com/office/drawing/2014/main" id="{FCE94762-2C7C-9D94-48FF-5572AD66E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964" y="3552316"/>
                  <a:ext cx="5974848" cy="589585"/>
                </a:xfrm>
                <a:prstGeom prst="rect">
                  <a:avLst/>
                </a:prstGeom>
                <a:blipFill>
                  <a:blip r:embed="rId24"/>
                  <a:stretch>
                    <a:fillRect l="-1271" b="-191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4591179-DA70-86FE-E1DA-3FD7D1254069}"/>
              </a:ext>
            </a:extLst>
          </p:cNvPr>
          <p:cNvGrpSpPr/>
          <p:nvPr/>
        </p:nvGrpSpPr>
        <p:grpSpPr>
          <a:xfrm>
            <a:off x="2566814" y="4616003"/>
            <a:ext cx="1845362" cy="954292"/>
            <a:chOff x="2662206" y="4722768"/>
            <a:chExt cx="1845362" cy="954292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408E901-978B-04B2-D7EE-820B823499A5}"/>
                </a:ext>
              </a:extLst>
            </p:cNvPr>
            <p:cNvSpPr txBox="1"/>
            <p:nvPr/>
          </p:nvSpPr>
          <p:spPr>
            <a:xfrm>
              <a:off x="2662206" y="5077937"/>
              <a:ext cx="1845362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dirty="0">
                  <a:solidFill>
                    <a:schemeClr val="bg1"/>
                  </a:solidFill>
                </a:rPr>
                <a:t>条件稳定</a:t>
              </a:r>
            </a:p>
          </p:txBody>
        </p:sp>
        <p:sp>
          <p:nvSpPr>
            <p:cNvPr id="3" name="燕尾形 2">
              <a:extLst>
                <a:ext uri="{FF2B5EF4-FFF2-40B4-BE49-F238E27FC236}">
                  <a16:creationId xmlns:a16="http://schemas.microsoft.com/office/drawing/2014/main" id="{D95E2C6C-3916-3BAF-C6B9-94E3304B777D}"/>
                </a:ext>
              </a:extLst>
            </p:cNvPr>
            <p:cNvSpPr/>
            <p:nvPr/>
          </p:nvSpPr>
          <p:spPr>
            <a:xfrm rot="5400000">
              <a:off x="3440870" y="4668197"/>
              <a:ext cx="288032" cy="397173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F04EC8-28D5-FAF0-FB4F-B1C3ECC52A95}"/>
              </a:ext>
            </a:extLst>
          </p:cNvPr>
          <p:cNvGrpSpPr/>
          <p:nvPr/>
        </p:nvGrpSpPr>
        <p:grpSpPr>
          <a:xfrm>
            <a:off x="9763926" y="2979453"/>
            <a:ext cx="1777029" cy="1278369"/>
            <a:chOff x="9763926" y="2979453"/>
            <a:chExt cx="1777029" cy="1278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实轴轨迹">
                  <a:extLst>
                    <a:ext uri="{FF2B5EF4-FFF2-40B4-BE49-F238E27FC236}">
                      <a16:creationId xmlns:a16="http://schemas.microsoft.com/office/drawing/2014/main" id="{91FB3149-6D21-6083-36D0-1E0FEA5F7616}"/>
                    </a:ext>
                  </a:extLst>
                </p:cNvPr>
                <p:cNvSpPr txBox="1"/>
                <p:nvPr/>
              </p:nvSpPr>
              <p:spPr>
                <a:xfrm>
                  <a:off x="10060345" y="2979453"/>
                  <a:ext cx="1480610" cy="5421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5" name="实轴轨迹">
                  <a:extLst>
                    <a:ext uri="{FF2B5EF4-FFF2-40B4-BE49-F238E27FC236}">
                      <a16:creationId xmlns:a16="http://schemas.microsoft.com/office/drawing/2014/main" id="{91FB3149-6D21-6083-36D0-1E0FEA5F76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0345" y="2979453"/>
                  <a:ext cx="1480610" cy="542136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4FAEC2D0-81A0-EB0A-C59B-E3B71A2AC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18746478" flipH="1">
              <a:off x="9317447" y="3690577"/>
              <a:ext cx="1013724" cy="120765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E1D8F53-D38F-3C9A-252D-C2699E35FBD1}"/>
              </a:ext>
            </a:extLst>
          </p:cNvPr>
          <p:cNvGrpSpPr/>
          <p:nvPr/>
        </p:nvGrpSpPr>
        <p:grpSpPr>
          <a:xfrm>
            <a:off x="9365319" y="2467494"/>
            <a:ext cx="2461419" cy="523220"/>
            <a:chOff x="9365319" y="2467494"/>
            <a:chExt cx="246141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实轴轨迹">
                  <a:extLst>
                    <a:ext uri="{FF2B5EF4-FFF2-40B4-BE49-F238E27FC236}">
                      <a16:creationId xmlns:a16="http://schemas.microsoft.com/office/drawing/2014/main" id="{1DE55E26-ACC3-719F-2093-096FD2477FC9}"/>
                    </a:ext>
                  </a:extLst>
                </p:cNvPr>
                <p:cNvSpPr txBox="1"/>
                <p:nvPr/>
              </p:nvSpPr>
              <p:spPr>
                <a:xfrm>
                  <a:off x="10131587" y="2467494"/>
                  <a:ext cx="16951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=9/7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7" name="实轴轨迹">
                  <a:extLst>
                    <a:ext uri="{FF2B5EF4-FFF2-40B4-BE49-F238E27FC236}">
                      <a16:creationId xmlns:a16="http://schemas.microsoft.com/office/drawing/2014/main" id="{1DE55E26-ACC3-719F-2093-096FD2477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1587" y="2467494"/>
                  <a:ext cx="1695151" cy="523220"/>
                </a:xfrm>
                <a:prstGeom prst="rect">
                  <a:avLst/>
                </a:prstGeom>
                <a:blipFill>
                  <a:blip r:embed="rId27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578A4B15-81D8-2C7A-7430-7A140266A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0363996" flipH="1">
              <a:off x="9365319" y="2844175"/>
              <a:ext cx="948811" cy="1130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6470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5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坐标轴">
            <a:extLst>
              <a:ext uri="{FF2B5EF4-FFF2-40B4-BE49-F238E27FC236}">
                <a16:creationId xmlns:a16="http://schemas.microsoft.com/office/drawing/2014/main" id="{78ADC401-5AC9-4286-02E9-8EECE83768B5}"/>
              </a:ext>
            </a:extLst>
          </p:cNvPr>
          <p:cNvGrpSpPr/>
          <p:nvPr/>
        </p:nvGrpSpPr>
        <p:grpSpPr>
          <a:xfrm>
            <a:off x="6729250" y="1259174"/>
            <a:ext cx="5134590" cy="3911548"/>
            <a:chOff x="6729250" y="1259174"/>
            <a:chExt cx="5134590" cy="3911548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6895288" y="3428011"/>
              <a:ext cx="49685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0461" y="1678217"/>
              <a:ext cx="3" cy="3492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ytick1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ytick-1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tick-2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ytick2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xtixk-1">
              <a:extLst>
                <a:ext uri="{FF2B5EF4-FFF2-40B4-BE49-F238E27FC236}">
                  <a16:creationId xmlns:a16="http://schemas.microsoft.com/office/drawing/2014/main" id="{AEBBED5C-227A-256A-9403-3EB96EFC8A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xtixk-2">
              <a:extLst>
                <a:ext uri="{FF2B5EF4-FFF2-40B4-BE49-F238E27FC236}">
                  <a16:creationId xmlns:a16="http://schemas.microsoft.com/office/drawing/2014/main" id="{CE84F53D-5D41-22E7-FC5B-C4179606D9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xtixk1">
              <a:extLst>
                <a:ext uri="{FF2B5EF4-FFF2-40B4-BE49-F238E27FC236}">
                  <a16:creationId xmlns:a16="http://schemas.microsoft.com/office/drawing/2014/main" id="{2BFF7E53-2FB1-BF80-10D5-72BC64EA00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xtixk2">
              <a:extLst>
                <a:ext uri="{FF2B5EF4-FFF2-40B4-BE49-F238E27FC236}">
                  <a16:creationId xmlns:a16="http://schemas.microsoft.com/office/drawing/2014/main" id="{7C4887B3-F262-E201-24C8-AAF0A716D4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xtixk-2">
              <a:extLst>
                <a:ext uri="{FF2B5EF4-FFF2-40B4-BE49-F238E27FC236}">
                  <a16:creationId xmlns:a16="http://schemas.microsoft.com/office/drawing/2014/main" id="{1E27B99A-027A-EA2C-1A6F-7A0126817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825104" y="349847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xlabel-2">
                  <a:extLst>
                    <a:ext uri="{FF2B5EF4-FFF2-40B4-BE49-F238E27FC236}">
                      <a16:creationId xmlns:a16="http://schemas.microsoft.com/office/drawing/2014/main" id="{0DCC4F81-BB00-B1D6-DE13-6FD11C227F44}"/>
                    </a:ext>
                  </a:extLst>
                </p:cNvPr>
                <p:cNvSpPr txBox="1"/>
                <p:nvPr/>
              </p:nvSpPr>
              <p:spPr>
                <a:xfrm>
                  <a:off x="7447152" y="3458540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xlabel-2">
                  <a:extLst>
                    <a:ext uri="{FF2B5EF4-FFF2-40B4-BE49-F238E27FC236}">
                      <a16:creationId xmlns:a16="http://schemas.microsoft.com/office/drawing/2014/main" id="{0DCC4F81-BB00-B1D6-DE13-6FD11C227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2" y="3458540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xtixk-2">
              <a:extLst>
                <a:ext uri="{FF2B5EF4-FFF2-40B4-BE49-F238E27FC236}">
                  <a16:creationId xmlns:a16="http://schemas.microsoft.com/office/drawing/2014/main" id="{BC6F9A1A-CDF4-3493-9035-359A89B75E6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07202" y="350396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xlabel-2">
                  <a:extLst>
                    <a:ext uri="{FF2B5EF4-FFF2-40B4-BE49-F238E27FC236}">
                      <a16:creationId xmlns:a16="http://schemas.microsoft.com/office/drawing/2014/main" id="{77CE524B-5842-CAE5-432F-A26B15F24160}"/>
                    </a:ext>
                  </a:extLst>
                </p:cNvPr>
                <p:cNvSpPr txBox="1"/>
                <p:nvPr/>
              </p:nvSpPr>
              <p:spPr>
                <a:xfrm>
                  <a:off x="6729250" y="346402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xlabel-2">
                  <a:extLst>
                    <a:ext uri="{FF2B5EF4-FFF2-40B4-BE49-F238E27FC236}">
                      <a16:creationId xmlns:a16="http://schemas.microsoft.com/office/drawing/2014/main" id="{77CE524B-5842-CAE5-432F-A26B15F24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9250" y="3464027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极点组合">
            <a:extLst>
              <a:ext uri="{FF2B5EF4-FFF2-40B4-BE49-F238E27FC236}">
                <a16:creationId xmlns:a16="http://schemas.microsoft.com/office/drawing/2014/main" id="{97D08672-D61D-FF44-409E-96B22A1DAE32}"/>
              </a:ext>
            </a:extLst>
          </p:cNvPr>
          <p:cNvGrpSpPr/>
          <p:nvPr/>
        </p:nvGrpSpPr>
        <p:grpSpPr>
          <a:xfrm>
            <a:off x="7030895" y="2545093"/>
            <a:ext cx="3892095" cy="1739782"/>
            <a:chOff x="7030895" y="2545093"/>
            <a:chExt cx="3892095" cy="1739782"/>
          </a:xfrm>
        </p:grpSpPr>
        <p:sp>
          <p:nvSpPr>
            <p:cNvPr id="49" name="极点3">
              <a:extLst>
                <a:ext uri="{FF2B5EF4-FFF2-40B4-BE49-F238E27FC236}">
                  <a16:creationId xmlns:a16="http://schemas.microsoft.com/office/drawing/2014/main" id="{5FCC0545-F905-1DB6-5AE8-AC325993CD6E}"/>
                </a:ext>
              </a:extLst>
            </p:cNvPr>
            <p:cNvSpPr/>
            <p:nvPr/>
          </p:nvSpPr>
          <p:spPr>
            <a:xfrm>
              <a:off x="10270575" y="254509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1" name="极点4">
              <a:extLst>
                <a:ext uri="{FF2B5EF4-FFF2-40B4-BE49-F238E27FC236}">
                  <a16:creationId xmlns:a16="http://schemas.microsoft.com/office/drawing/2014/main" id="{935D1F8A-1FDF-DDF5-6A66-6645E169FAF2}"/>
                </a:ext>
              </a:extLst>
            </p:cNvPr>
            <p:cNvSpPr/>
            <p:nvPr/>
          </p:nvSpPr>
          <p:spPr>
            <a:xfrm>
              <a:off x="10274226" y="399684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1" name="极点1">
              <a:extLst>
                <a:ext uri="{FF2B5EF4-FFF2-40B4-BE49-F238E27FC236}">
                  <a16:creationId xmlns:a16="http://schemas.microsoft.com/office/drawing/2014/main" id="{4FD9D290-D370-609A-AC3C-1AC7390FD6FF}"/>
                </a:ext>
              </a:extLst>
            </p:cNvPr>
            <p:cNvSpPr/>
            <p:nvPr/>
          </p:nvSpPr>
          <p:spPr>
            <a:xfrm>
              <a:off x="10634958" y="328584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2" name="极点2">
              <a:extLst>
                <a:ext uri="{FF2B5EF4-FFF2-40B4-BE49-F238E27FC236}">
                  <a16:creationId xmlns:a16="http://schemas.microsoft.com/office/drawing/2014/main" id="{615AC79C-A8F1-0EF7-B0A8-A09D101F2DA6}"/>
                </a:ext>
              </a:extLst>
            </p:cNvPr>
            <p:cNvSpPr/>
            <p:nvPr/>
          </p:nvSpPr>
          <p:spPr>
            <a:xfrm>
              <a:off x="7030895" y="328045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136" name="渐近线1">
            <a:extLst>
              <a:ext uri="{FF2B5EF4-FFF2-40B4-BE49-F238E27FC236}">
                <a16:creationId xmlns:a16="http://schemas.microsoft.com/office/drawing/2014/main" id="{AD344A82-8AD0-3280-EDA9-83978BAF4E2A}"/>
              </a:ext>
            </a:extLst>
          </p:cNvPr>
          <p:cNvCxnSpPr>
            <a:cxnSpLocks/>
          </p:cNvCxnSpPr>
          <p:nvPr/>
        </p:nvCxnSpPr>
        <p:spPr>
          <a:xfrm flipH="1" flipV="1">
            <a:off x="7910590" y="1596143"/>
            <a:ext cx="3592492" cy="3649571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渐近线2">
            <a:extLst>
              <a:ext uri="{FF2B5EF4-FFF2-40B4-BE49-F238E27FC236}">
                <a16:creationId xmlns:a16="http://schemas.microsoft.com/office/drawing/2014/main" id="{CABE4BCD-31BC-A0E3-BF4D-20DDA6E4CC60}"/>
              </a:ext>
            </a:extLst>
          </p:cNvPr>
          <p:cNvCxnSpPr>
            <a:cxnSpLocks/>
          </p:cNvCxnSpPr>
          <p:nvPr/>
        </p:nvCxnSpPr>
        <p:spPr>
          <a:xfrm flipH="1">
            <a:off x="7899457" y="1595891"/>
            <a:ext cx="3617913" cy="3649823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实轴根轨迹">
            <a:extLst>
              <a:ext uri="{FF2B5EF4-FFF2-40B4-BE49-F238E27FC236}">
                <a16:creationId xmlns:a16="http://schemas.microsoft.com/office/drawing/2014/main" id="{F3802E55-6914-DEFF-E87F-67B8D143AB98}"/>
              </a:ext>
            </a:extLst>
          </p:cNvPr>
          <p:cNvCxnSpPr>
            <a:cxnSpLocks/>
          </p:cNvCxnSpPr>
          <p:nvPr/>
        </p:nvCxnSpPr>
        <p:spPr>
          <a:xfrm flipH="1">
            <a:off x="7215298" y="3427857"/>
            <a:ext cx="3547444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分离点">
            <a:extLst>
              <a:ext uri="{FF2B5EF4-FFF2-40B4-BE49-F238E27FC236}">
                <a16:creationId xmlns:a16="http://schemas.microsoft.com/office/drawing/2014/main" id="{1C882218-F0D4-7CDC-E008-6C852FCCE883}"/>
              </a:ext>
            </a:extLst>
          </p:cNvPr>
          <p:cNvSpPr/>
          <p:nvPr/>
        </p:nvSpPr>
        <p:spPr>
          <a:xfrm>
            <a:off x="8024061" y="3379559"/>
            <a:ext cx="91694" cy="91694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6" name="出射角绘图">
            <a:extLst>
              <a:ext uri="{FF2B5EF4-FFF2-40B4-BE49-F238E27FC236}">
                <a16:creationId xmlns:a16="http://schemas.microsoft.com/office/drawing/2014/main" id="{4D4EEC4A-7970-B302-93E0-73B534459DA4}"/>
              </a:ext>
            </a:extLst>
          </p:cNvPr>
          <p:cNvGrpSpPr/>
          <p:nvPr/>
        </p:nvGrpSpPr>
        <p:grpSpPr>
          <a:xfrm>
            <a:off x="10063219" y="2447871"/>
            <a:ext cx="1685874" cy="957074"/>
            <a:chOff x="10055225" y="3183145"/>
            <a:chExt cx="1685874" cy="95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/>
                <p:nvPr/>
              </p:nvSpPr>
              <p:spPr>
                <a:xfrm>
                  <a:off x="10055225" y="3616999"/>
                  <a:ext cx="16858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=−39°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5225" y="3616999"/>
                  <a:ext cx="1685874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752" r="-7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量角器">
              <a:extLst>
                <a:ext uri="{FF2B5EF4-FFF2-40B4-BE49-F238E27FC236}">
                  <a16:creationId xmlns:a16="http://schemas.microsoft.com/office/drawing/2014/main" id="{389BBAA8-1AD4-D79B-8DF2-DB4DEE81EB53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22980"/>
              <a:chOff x="10197602" y="3183145"/>
              <a:chExt cx="592627" cy="522980"/>
            </a:xfrm>
          </p:grpSpPr>
          <p:cxnSp>
            <p:nvCxnSpPr>
              <p:cNvPr id="21" name="角度2">
                <a:extLst>
                  <a:ext uri="{FF2B5EF4-FFF2-40B4-BE49-F238E27FC236}">
                    <a16:creationId xmlns:a16="http://schemas.microsoft.com/office/drawing/2014/main" id="{2E920C8B-DC4C-1E5A-2583-7308CE8EBDE4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角度1">
                <a:extLst>
                  <a:ext uri="{FF2B5EF4-FFF2-40B4-BE49-F238E27FC236}">
                    <a16:creationId xmlns:a16="http://schemas.microsoft.com/office/drawing/2014/main" id="{D677F919-E4CB-4F58-8DE6-E403C57A5C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71506" cy="284510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角度弧">
                <a:extLst>
                  <a:ext uri="{FF2B5EF4-FFF2-40B4-BE49-F238E27FC236}">
                    <a16:creationId xmlns:a16="http://schemas.microsoft.com/office/drawing/2014/main" id="{9C8C85D7-B2C7-443B-6DF8-013C4890AA0B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2642769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313112" y="1486318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/400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1486318"/>
                <a:ext cx="2088232" cy="523220"/>
              </a:xfrm>
              <a:prstGeom prst="rect">
                <a:avLst/>
              </a:prstGeom>
              <a:blipFill>
                <a:blip r:embed="rId16"/>
                <a:stretch>
                  <a:fillRect l="-1205" r="-120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方框图">
            <a:extLst>
              <a:ext uri="{FF2B5EF4-FFF2-40B4-BE49-F238E27FC236}">
                <a16:creationId xmlns:a16="http://schemas.microsoft.com/office/drawing/2014/main" id="{A40420FE-AEC0-2D1D-8008-0295664A3E3D}"/>
              </a:ext>
            </a:extLst>
          </p:cNvPr>
          <p:cNvGrpSpPr/>
          <p:nvPr/>
        </p:nvGrpSpPr>
        <p:grpSpPr>
          <a:xfrm>
            <a:off x="6095206" y="190901"/>
            <a:ext cx="5399882" cy="954732"/>
            <a:chOff x="7610417" y="260648"/>
            <a:chExt cx="5399882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+20) (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+20)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blipFill>
                  <a:blip r:embed="rId17"/>
                  <a:stretch>
                    <a:fillRect l="-490" r="-2941" b="-615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12010870" y="783868"/>
              <a:ext cx="999429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1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10424237" y="-1118678"/>
              <a:ext cx="144000" cy="3949093"/>
            </a:xfrm>
            <a:prstGeom prst="bentConnector3">
              <a:avLst>
                <a:gd name="adj1" fmla="val 42631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>
              <a:off x="8665690" y="783868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/>
              <p:nvPr/>
            </p:nvSpPr>
            <p:spPr>
              <a:xfrm>
                <a:off x="3093972" y="2029021"/>
                <a:ext cx="148061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[−20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972" y="2029021"/>
                <a:ext cx="1480610" cy="542136"/>
              </a:xfrm>
              <a:prstGeom prst="rect">
                <a:avLst/>
              </a:prstGeom>
              <a:blipFill>
                <a:blip r:embed="rId22"/>
                <a:stretch>
                  <a:fillRect l="-855" r="-1709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/>
              <p:nvPr/>
            </p:nvSpPr>
            <p:spPr>
              <a:xfrm>
                <a:off x="2973358" y="3704855"/>
                <a:ext cx="38768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90°+116.5°+12.5°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+180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−39°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358" y="3704855"/>
                <a:ext cx="3876805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76666" y="1972054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5" name="步骤2">
            <a:extLst>
              <a:ext uri="{FF2B5EF4-FFF2-40B4-BE49-F238E27FC236}">
                <a16:creationId xmlns:a16="http://schemas.microsoft.com/office/drawing/2014/main" id="{A42A4B37-8B24-03D9-009F-D735AD88A73A}"/>
              </a:ext>
            </a:extLst>
          </p:cNvPr>
          <p:cNvGrpSpPr/>
          <p:nvPr/>
        </p:nvGrpSpPr>
        <p:grpSpPr>
          <a:xfrm>
            <a:off x="276666" y="2809757"/>
            <a:ext cx="2682119" cy="725177"/>
            <a:chOff x="4943078" y="1700704"/>
            <a:chExt cx="2682119" cy="725177"/>
          </a:xfrm>
        </p:grpSpPr>
        <p:sp>
          <p:nvSpPr>
            <p:cNvPr id="116" name="标题">
              <a:extLst>
                <a:ext uri="{FF2B5EF4-FFF2-40B4-BE49-F238E27FC236}">
                  <a16:creationId xmlns:a16="http://schemas.microsoft.com/office/drawing/2014/main" id="{655C2BCA-0C34-0A45-D4A1-7CA14EA990AA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17" name="序号">
              <a:extLst>
                <a:ext uri="{FF2B5EF4-FFF2-40B4-BE49-F238E27FC236}">
                  <a16:creationId xmlns:a16="http://schemas.microsoft.com/office/drawing/2014/main" id="{803D861C-6CE3-319B-9886-46B8720EC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8" name="步骤3">
            <a:extLst>
              <a:ext uri="{FF2B5EF4-FFF2-40B4-BE49-F238E27FC236}">
                <a16:creationId xmlns:a16="http://schemas.microsoft.com/office/drawing/2014/main" id="{28C86A64-4E0A-11CE-BECF-A6A6C05728FF}"/>
              </a:ext>
            </a:extLst>
          </p:cNvPr>
          <p:cNvGrpSpPr/>
          <p:nvPr/>
        </p:nvGrpSpPr>
        <p:grpSpPr>
          <a:xfrm>
            <a:off x="303554" y="3646138"/>
            <a:ext cx="2682119" cy="725177"/>
            <a:chOff x="4943078" y="1700704"/>
            <a:chExt cx="2682119" cy="725177"/>
          </a:xfrm>
        </p:grpSpPr>
        <p:sp>
          <p:nvSpPr>
            <p:cNvPr id="119" name="标题">
              <a:extLst>
                <a:ext uri="{FF2B5EF4-FFF2-40B4-BE49-F238E27FC236}">
                  <a16:creationId xmlns:a16="http://schemas.microsoft.com/office/drawing/2014/main" id="{0CB9CC0F-44EE-CA42-4AE6-BD43FFE5FF5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出射角</a:t>
              </a:r>
            </a:p>
          </p:txBody>
        </p:sp>
        <p:sp>
          <p:nvSpPr>
            <p:cNvPr id="120" name="序号">
              <a:extLst>
                <a:ext uri="{FF2B5EF4-FFF2-40B4-BE49-F238E27FC236}">
                  <a16:creationId xmlns:a16="http://schemas.microsoft.com/office/drawing/2014/main" id="{B03A18E1-5F5C-A1C7-D1E6-992BFA088E7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1" name="步骤4">
            <a:extLst>
              <a:ext uri="{FF2B5EF4-FFF2-40B4-BE49-F238E27FC236}">
                <a16:creationId xmlns:a16="http://schemas.microsoft.com/office/drawing/2014/main" id="{EDBB4EE1-696A-CCF5-F8FE-AA955B4A2A5D}"/>
              </a:ext>
            </a:extLst>
          </p:cNvPr>
          <p:cNvGrpSpPr/>
          <p:nvPr/>
        </p:nvGrpSpPr>
        <p:grpSpPr>
          <a:xfrm>
            <a:off x="276670" y="4519218"/>
            <a:ext cx="2682115" cy="725177"/>
            <a:chOff x="4943078" y="1700704"/>
            <a:chExt cx="2682115" cy="725177"/>
          </a:xfrm>
        </p:grpSpPr>
        <p:sp>
          <p:nvSpPr>
            <p:cNvPr id="122" name="标题">
              <a:extLst>
                <a:ext uri="{FF2B5EF4-FFF2-40B4-BE49-F238E27FC236}">
                  <a16:creationId xmlns:a16="http://schemas.microsoft.com/office/drawing/2014/main" id="{9DCC84EB-CDD8-9FBA-3499-5CF3BB13F168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23" name="序号">
              <a:extLst>
                <a:ext uri="{FF2B5EF4-FFF2-40B4-BE49-F238E27FC236}">
                  <a16:creationId xmlns:a16="http://schemas.microsoft.com/office/drawing/2014/main" id="{11163DEF-EB11-7386-3836-4BBAF2A54D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/>
              <p:nvPr/>
            </p:nvSpPr>
            <p:spPr>
              <a:xfrm>
                <a:off x="3104285" y="2584784"/>
                <a:ext cx="3175001" cy="113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0−20−2−2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=−6</m:t>
                      </m:r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=±45°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,±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5°</m:t>
                      </m:r>
                    </m:oMath>
                  </m:oMathPara>
                </a14:m>
                <a:endParaRPr lang="zh-CN" altLang="en-US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285" y="2584784"/>
                <a:ext cx="3175001" cy="1136721"/>
              </a:xfrm>
              <a:prstGeom prst="rect">
                <a:avLst/>
              </a:prstGeom>
              <a:blipFill>
                <a:blip r:embed="rId2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增益范围">
                <a:extLst>
                  <a:ext uri="{FF2B5EF4-FFF2-40B4-BE49-F238E27FC236}">
                    <a16:creationId xmlns:a16="http://schemas.microsoft.com/office/drawing/2014/main" id="{350732C6-7AA5-EA46-065F-611FA46EB334}"/>
                  </a:ext>
                </a:extLst>
              </p:cNvPr>
              <p:cNvSpPr txBox="1"/>
              <p:nvPr/>
            </p:nvSpPr>
            <p:spPr>
              <a:xfrm>
                <a:off x="303554" y="5395521"/>
                <a:ext cx="11774923" cy="63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+20</m:t>
                            </m:r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+2+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=0⇒</m:t>
                    </m:r>
                    <m:box>
                      <m:box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box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+20</m:t>
                            </m:r>
                          </m:den>
                        </m:f>
                      </m:e>
                    </m:box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2(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/>
                  <a:t>，试根得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=−15.1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6" name="增益范围">
                <a:extLst>
                  <a:ext uri="{FF2B5EF4-FFF2-40B4-BE49-F238E27FC236}">
                    <a16:creationId xmlns:a16="http://schemas.microsoft.com/office/drawing/2014/main" id="{350732C6-7AA5-EA46-065F-611FA46EB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54" y="5395521"/>
                <a:ext cx="11774923" cy="634213"/>
              </a:xfrm>
              <a:prstGeom prst="rect">
                <a:avLst/>
              </a:prstGeom>
              <a:blipFill>
                <a:blip r:embed="rId25"/>
                <a:stretch>
                  <a:fillRect t="-7843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特征方程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/>
              <p:nvPr/>
            </p:nvSpPr>
            <p:spPr>
              <a:xfrm>
                <a:off x="313112" y="831079"/>
                <a:ext cx="4819521" cy="7908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+20)(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4)(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4)</m:t>
                        </m:r>
                      </m:den>
                    </m:f>
                  </m:oMath>
                </a14:m>
                <a:r>
                  <a:rPr lang="en-US" altLang="zh-CN" sz="2800" dirty="0"/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4" name="特征方程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831079"/>
                <a:ext cx="4819521" cy="790858"/>
              </a:xfrm>
              <a:prstGeom prst="rect">
                <a:avLst/>
              </a:prstGeom>
              <a:blipFill>
                <a:blip r:embed="rId26"/>
                <a:stretch>
                  <a:fillRect l="-525"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78539" y="352651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实轴轨迹">
                <a:extLst>
                  <a:ext uri="{FF2B5EF4-FFF2-40B4-BE49-F238E27FC236}">
                    <a16:creationId xmlns:a16="http://schemas.microsoft.com/office/drawing/2014/main" id="{AECD1CE7-62FC-9C56-50CE-68D570DCD47D}"/>
                  </a:ext>
                </a:extLst>
              </p:cNvPr>
              <p:cNvSpPr txBox="1"/>
              <p:nvPr/>
            </p:nvSpPr>
            <p:spPr>
              <a:xfrm>
                <a:off x="111936" y="5982562"/>
                <a:ext cx="7652980" cy="653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+20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+20</m:t>
                          </m:r>
                        </m:e>
                      </m:d>
                      <m:limUpp>
                        <m:limUp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=−15.1</m:t>
                          </m:r>
                        </m:lim>
                      </m:limUp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13881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8" name="实轴轨迹">
                <a:extLst>
                  <a:ext uri="{FF2B5EF4-FFF2-40B4-BE49-F238E27FC236}">
                    <a16:creationId xmlns:a16="http://schemas.microsoft.com/office/drawing/2014/main" id="{AECD1CE7-62FC-9C56-50CE-68D570DCD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36" y="5982562"/>
                <a:ext cx="7652980" cy="653256"/>
              </a:xfrm>
              <a:prstGeom prst="rect">
                <a:avLst/>
              </a:prstGeom>
              <a:blipFill>
                <a:blip r:embed="rId27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57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7" grpId="0"/>
      <p:bldP spid="107" grpId="0"/>
      <p:bldP spid="111" grpId="0"/>
      <p:bldP spid="124" grpId="0"/>
      <p:bldP spid="126" grpId="0"/>
      <p:bldP spid="34" grpId="0"/>
      <p:bldP spid="45" grpId="0"/>
      <p:bldP spid="10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坐标轴">
            <a:extLst>
              <a:ext uri="{FF2B5EF4-FFF2-40B4-BE49-F238E27FC236}">
                <a16:creationId xmlns:a16="http://schemas.microsoft.com/office/drawing/2014/main" id="{78ADC401-5AC9-4286-02E9-8EECE83768B5}"/>
              </a:ext>
            </a:extLst>
          </p:cNvPr>
          <p:cNvGrpSpPr/>
          <p:nvPr/>
        </p:nvGrpSpPr>
        <p:grpSpPr>
          <a:xfrm>
            <a:off x="6729250" y="1259174"/>
            <a:ext cx="5134590" cy="3911548"/>
            <a:chOff x="6729250" y="1259174"/>
            <a:chExt cx="5134590" cy="3911548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6895288" y="3428011"/>
              <a:ext cx="49685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0461" y="1678217"/>
              <a:ext cx="3" cy="3492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ytick1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ytick-1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tick-2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ytick2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xtixk-1">
              <a:extLst>
                <a:ext uri="{FF2B5EF4-FFF2-40B4-BE49-F238E27FC236}">
                  <a16:creationId xmlns:a16="http://schemas.microsoft.com/office/drawing/2014/main" id="{AEBBED5C-227A-256A-9403-3EB96EFC8A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xtixk-2">
              <a:extLst>
                <a:ext uri="{FF2B5EF4-FFF2-40B4-BE49-F238E27FC236}">
                  <a16:creationId xmlns:a16="http://schemas.microsoft.com/office/drawing/2014/main" id="{CE84F53D-5D41-22E7-FC5B-C4179606D9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xtixk1">
              <a:extLst>
                <a:ext uri="{FF2B5EF4-FFF2-40B4-BE49-F238E27FC236}">
                  <a16:creationId xmlns:a16="http://schemas.microsoft.com/office/drawing/2014/main" id="{2BFF7E53-2FB1-BF80-10D5-72BC64EA00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xtixk2">
              <a:extLst>
                <a:ext uri="{FF2B5EF4-FFF2-40B4-BE49-F238E27FC236}">
                  <a16:creationId xmlns:a16="http://schemas.microsoft.com/office/drawing/2014/main" id="{7C4887B3-F262-E201-24C8-AAF0A716D4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xtixk-2">
              <a:extLst>
                <a:ext uri="{FF2B5EF4-FFF2-40B4-BE49-F238E27FC236}">
                  <a16:creationId xmlns:a16="http://schemas.microsoft.com/office/drawing/2014/main" id="{1E27B99A-027A-EA2C-1A6F-7A0126817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825104" y="349847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xlabel-2">
                  <a:extLst>
                    <a:ext uri="{FF2B5EF4-FFF2-40B4-BE49-F238E27FC236}">
                      <a16:creationId xmlns:a16="http://schemas.microsoft.com/office/drawing/2014/main" id="{0DCC4F81-BB00-B1D6-DE13-6FD11C227F44}"/>
                    </a:ext>
                  </a:extLst>
                </p:cNvPr>
                <p:cNvSpPr txBox="1"/>
                <p:nvPr/>
              </p:nvSpPr>
              <p:spPr>
                <a:xfrm>
                  <a:off x="7447152" y="3458540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xlabel-2">
                  <a:extLst>
                    <a:ext uri="{FF2B5EF4-FFF2-40B4-BE49-F238E27FC236}">
                      <a16:creationId xmlns:a16="http://schemas.microsoft.com/office/drawing/2014/main" id="{0DCC4F81-BB00-B1D6-DE13-6FD11C227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2" y="3458540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xtixk-2">
              <a:extLst>
                <a:ext uri="{FF2B5EF4-FFF2-40B4-BE49-F238E27FC236}">
                  <a16:creationId xmlns:a16="http://schemas.microsoft.com/office/drawing/2014/main" id="{BC6F9A1A-CDF4-3493-9035-359A89B75E6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07202" y="350396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xlabel-2">
                  <a:extLst>
                    <a:ext uri="{FF2B5EF4-FFF2-40B4-BE49-F238E27FC236}">
                      <a16:creationId xmlns:a16="http://schemas.microsoft.com/office/drawing/2014/main" id="{77CE524B-5842-CAE5-432F-A26B15F24160}"/>
                    </a:ext>
                  </a:extLst>
                </p:cNvPr>
                <p:cNvSpPr txBox="1"/>
                <p:nvPr/>
              </p:nvSpPr>
              <p:spPr>
                <a:xfrm>
                  <a:off x="6729250" y="346402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xlabel-2">
                  <a:extLst>
                    <a:ext uri="{FF2B5EF4-FFF2-40B4-BE49-F238E27FC236}">
                      <a16:creationId xmlns:a16="http://schemas.microsoft.com/office/drawing/2014/main" id="{77CE524B-5842-CAE5-432F-A26B15F24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9250" y="3464027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极点组合">
            <a:extLst>
              <a:ext uri="{FF2B5EF4-FFF2-40B4-BE49-F238E27FC236}">
                <a16:creationId xmlns:a16="http://schemas.microsoft.com/office/drawing/2014/main" id="{97D08672-D61D-FF44-409E-96B22A1DAE32}"/>
              </a:ext>
            </a:extLst>
          </p:cNvPr>
          <p:cNvGrpSpPr/>
          <p:nvPr/>
        </p:nvGrpSpPr>
        <p:grpSpPr>
          <a:xfrm>
            <a:off x="7030895" y="2545093"/>
            <a:ext cx="3892095" cy="1739782"/>
            <a:chOff x="7030895" y="2545093"/>
            <a:chExt cx="3892095" cy="1739782"/>
          </a:xfrm>
        </p:grpSpPr>
        <p:sp>
          <p:nvSpPr>
            <p:cNvPr id="49" name="极点3">
              <a:extLst>
                <a:ext uri="{FF2B5EF4-FFF2-40B4-BE49-F238E27FC236}">
                  <a16:creationId xmlns:a16="http://schemas.microsoft.com/office/drawing/2014/main" id="{5FCC0545-F905-1DB6-5AE8-AC325993CD6E}"/>
                </a:ext>
              </a:extLst>
            </p:cNvPr>
            <p:cNvSpPr/>
            <p:nvPr/>
          </p:nvSpPr>
          <p:spPr>
            <a:xfrm>
              <a:off x="10270575" y="254509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1" name="极点4">
              <a:extLst>
                <a:ext uri="{FF2B5EF4-FFF2-40B4-BE49-F238E27FC236}">
                  <a16:creationId xmlns:a16="http://schemas.microsoft.com/office/drawing/2014/main" id="{935D1F8A-1FDF-DDF5-6A66-6645E169FAF2}"/>
                </a:ext>
              </a:extLst>
            </p:cNvPr>
            <p:cNvSpPr/>
            <p:nvPr/>
          </p:nvSpPr>
          <p:spPr>
            <a:xfrm>
              <a:off x="10274226" y="399684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1" name="极点1">
              <a:extLst>
                <a:ext uri="{FF2B5EF4-FFF2-40B4-BE49-F238E27FC236}">
                  <a16:creationId xmlns:a16="http://schemas.microsoft.com/office/drawing/2014/main" id="{4FD9D290-D370-609A-AC3C-1AC7390FD6FF}"/>
                </a:ext>
              </a:extLst>
            </p:cNvPr>
            <p:cNvSpPr/>
            <p:nvPr/>
          </p:nvSpPr>
          <p:spPr>
            <a:xfrm>
              <a:off x="10634958" y="328584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2" name="极点2">
              <a:extLst>
                <a:ext uri="{FF2B5EF4-FFF2-40B4-BE49-F238E27FC236}">
                  <a16:creationId xmlns:a16="http://schemas.microsoft.com/office/drawing/2014/main" id="{615AC79C-A8F1-0EF7-B0A8-A09D101F2DA6}"/>
                </a:ext>
              </a:extLst>
            </p:cNvPr>
            <p:cNvSpPr/>
            <p:nvPr/>
          </p:nvSpPr>
          <p:spPr>
            <a:xfrm>
              <a:off x="7030895" y="328045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136" name="渐近线1">
            <a:extLst>
              <a:ext uri="{FF2B5EF4-FFF2-40B4-BE49-F238E27FC236}">
                <a16:creationId xmlns:a16="http://schemas.microsoft.com/office/drawing/2014/main" id="{AD344A82-8AD0-3280-EDA9-83978BAF4E2A}"/>
              </a:ext>
            </a:extLst>
          </p:cNvPr>
          <p:cNvCxnSpPr>
            <a:cxnSpLocks/>
          </p:cNvCxnSpPr>
          <p:nvPr/>
        </p:nvCxnSpPr>
        <p:spPr>
          <a:xfrm flipH="1" flipV="1">
            <a:off x="7910590" y="1596143"/>
            <a:ext cx="3592492" cy="3649571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渐近线2">
            <a:extLst>
              <a:ext uri="{FF2B5EF4-FFF2-40B4-BE49-F238E27FC236}">
                <a16:creationId xmlns:a16="http://schemas.microsoft.com/office/drawing/2014/main" id="{CABE4BCD-31BC-A0E3-BF4D-20DDA6E4CC60}"/>
              </a:ext>
            </a:extLst>
          </p:cNvPr>
          <p:cNvCxnSpPr>
            <a:cxnSpLocks/>
          </p:cNvCxnSpPr>
          <p:nvPr/>
        </p:nvCxnSpPr>
        <p:spPr>
          <a:xfrm flipH="1">
            <a:off x="7899457" y="1595891"/>
            <a:ext cx="3617913" cy="3649823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实轴根轨迹">
            <a:extLst>
              <a:ext uri="{FF2B5EF4-FFF2-40B4-BE49-F238E27FC236}">
                <a16:creationId xmlns:a16="http://schemas.microsoft.com/office/drawing/2014/main" id="{F3802E55-6914-DEFF-E87F-67B8D143AB98}"/>
              </a:ext>
            </a:extLst>
          </p:cNvPr>
          <p:cNvCxnSpPr>
            <a:cxnSpLocks/>
          </p:cNvCxnSpPr>
          <p:nvPr/>
        </p:nvCxnSpPr>
        <p:spPr>
          <a:xfrm flipH="1">
            <a:off x="7215298" y="3427857"/>
            <a:ext cx="3547444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根轨迹4">
            <a:extLst>
              <a:ext uri="{FF2B5EF4-FFF2-40B4-BE49-F238E27FC236}">
                <a16:creationId xmlns:a16="http://schemas.microsoft.com/office/drawing/2014/main" id="{92F39CE2-577D-084E-8E6E-07562C27BFB7}"/>
              </a:ext>
            </a:extLst>
          </p:cNvPr>
          <p:cNvSpPr/>
          <p:nvPr/>
        </p:nvSpPr>
        <p:spPr>
          <a:xfrm>
            <a:off x="7160525" y="3429000"/>
            <a:ext cx="3610739" cy="189606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3610739 w 3610739"/>
              <a:gd name="connsiteY0" fmla="*/ 0 h 1896068"/>
              <a:gd name="connsiteX1" fmla="*/ 918419 w 3610739"/>
              <a:gd name="connsiteY1" fmla="*/ 4726 h 1896068"/>
              <a:gd name="connsiteX2" fmla="*/ 2 w 3610739"/>
              <a:gd name="connsiteY2" fmla="*/ 1896068 h 1896068"/>
              <a:gd name="connsiteX0" fmla="*/ 3610739 w 3610739"/>
              <a:gd name="connsiteY0" fmla="*/ 0 h 1896068"/>
              <a:gd name="connsiteX1" fmla="*/ 918419 w 3610739"/>
              <a:gd name="connsiteY1" fmla="*/ 10782 h 1896068"/>
              <a:gd name="connsiteX2" fmla="*/ 2 w 3610739"/>
              <a:gd name="connsiteY2" fmla="*/ 1896068 h 1896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10739" h="1896068">
                <a:moveTo>
                  <a:pt x="3610739" y="0"/>
                </a:moveTo>
                <a:lnTo>
                  <a:pt x="918419" y="10782"/>
                </a:lnTo>
                <a:cubicBezTo>
                  <a:pt x="927239" y="853633"/>
                  <a:pt x="-1684" y="1896916"/>
                  <a:pt x="2" y="1896068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3" name="根轨迹3">
            <a:extLst>
              <a:ext uri="{FF2B5EF4-FFF2-40B4-BE49-F238E27FC236}">
                <a16:creationId xmlns:a16="http://schemas.microsoft.com/office/drawing/2014/main" id="{BEC03131-F093-953B-2E02-1338D5E708D7}"/>
              </a:ext>
            </a:extLst>
          </p:cNvPr>
          <p:cNvSpPr/>
          <p:nvPr/>
        </p:nvSpPr>
        <p:spPr>
          <a:xfrm flipV="1">
            <a:off x="7153633" y="1541645"/>
            <a:ext cx="918481" cy="189148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481" h="1891480">
                <a:moveTo>
                  <a:pt x="25806" y="13579"/>
                </a:moveTo>
                <a:cubicBezTo>
                  <a:pt x="389858" y="9422"/>
                  <a:pt x="550245" y="-1339"/>
                  <a:pt x="918419" y="138"/>
                </a:cubicBezTo>
                <a:cubicBezTo>
                  <a:pt x="927239" y="842989"/>
                  <a:pt x="-1684" y="1892328"/>
                  <a:pt x="2" y="189148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4" name="根轨迹2">
            <a:extLst>
              <a:ext uri="{FF2B5EF4-FFF2-40B4-BE49-F238E27FC236}">
                <a16:creationId xmlns:a16="http://schemas.microsoft.com/office/drawing/2014/main" id="{28E09BF5-B5C0-43CF-501E-DD71043DA4B4}"/>
              </a:ext>
            </a:extLst>
          </p:cNvPr>
          <p:cNvSpPr/>
          <p:nvPr/>
        </p:nvSpPr>
        <p:spPr>
          <a:xfrm flipV="1">
            <a:off x="10413147" y="4087153"/>
            <a:ext cx="1219617" cy="110648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617" h="1106481">
                <a:moveTo>
                  <a:pt x="0" y="1067120"/>
                </a:moveTo>
                <a:cubicBezTo>
                  <a:pt x="339829" y="1262798"/>
                  <a:pt x="905945" y="700976"/>
                  <a:pt x="121961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8" name="根轨迹1">
            <a:extLst>
              <a:ext uri="{FF2B5EF4-FFF2-40B4-BE49-F238E27FC236}">
                <a16:creationId xmlns:a16="http://schemas.microsoft.com/office/drawing/2014/main" id="{BA8EDDD6-57EA-AEF8-D978-5291C9FBD6A6}"/>
              </a:ext>
            </a:extLst>
          </p:cNvPr>
          <p:cNvSpPr/>
          <p:nvPr/>
        </p:nvSpPr>
        <p:spPr>
          <a:xfrm>
            <a:off x="10413147" y="1628149"/>
            <a:ext cx="1219617" cy="110648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617" h="1106481">
                <a:moveTo>
                  <a:pt x="0" y="1067120"/>
                </a:moveTo>
                <a:cubicBezTo>
                  <a:pt x="339829" y="1262798"/>
                  <a:pt x="905945" y="700976"/>
                  <a:pt x="121961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分离点">
            <a:extLst>
              <a:ext uri="{FF2B5EF4-FFF2-40B4-BE49-F238E27FC236}">
                <a16:creationId xmlns:a16="http://schemas.microsoft.com/office/drawing/2014/main" id="{1C882218-F0D4-7CDC-E008-6C852FCCE883}"/>
              </a:ext>
            </a:extLst>
          </p:cNvPr>
          <p:cNvSpPr/>
          <p:nvPr/>
        </p:nvSpPr>
        <p:spPr>
          <a:xfrm>
            <a:off x="8024061" y="3379559"/>
            <a:ext cx="91694" cy="91694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1" name="虚轴交点组合">
            <a:extLst>
              <a:ext uri="{FF2B5EF4-FFF2-40B4-BE49-F238E27FC236}">
                <a16:creationId xmlns:a16="http://schemas.microsoft.com/office/drawing/2014/main" id="{11B75B56-EE9F-8AD7-B7A8-BB5111B59CE7}"/>
              </a:ext>
            </a:extLst>
          </p:cNvPr>
          <p:cNvGrpSpPr/>
          <p:nvPr/>
        </p:nvGrpSpPr>
        <p:grpSpPr>
          <a:xfrm>
            <a:off x="10738097" y="2622836"/>
            <a:ext cx="99167" cy="1576644"/>
            <a:chOff x="10738097" y="2622836"/>
            <a:chExt cx="99167" cy="1576644"/>
          </a:xfrm>
        </p:grpSpPr>
        <p:sp>
          <p:nvSpPr>
            <p:cNvPr id="140" name="虚轴交点2">
              <a:extLst>
                <a:ext uri="{FF2B5EF4-FFF2-40B4-BE49-F238E27FC236}">
                  <a16:creationId xmlns:a16="http://schemas.microsoft.com/office/drawing/2014/main" id="{6C2538D6-8BD9-6307-2D2D-B26E3EE1816A}"/>
                </a:ext>
              </a:extLst>
            </p:cNvPr>
            <p:cNvSpPr/>
            <p:nvPr/>
          </p:nvSpPr>
          <p:spPr>
            <a:xfrm>
              <a:off x="10738097" y="4107786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虚轴交点1">
              <a:extLst>
                <a:ext uri="{FF2B5EF4-FFF2-40B4-BE49-F238E27FC236}">
                  <a16:creationId xmlns:a16="http://schemas.microsoft.com/office/drawing/2014/main" id="{916E97EE-DB59-E30E-CE57-63198AD38DBD}"/>
                </a:ext>
              </a:extLst>
            </p:cNvPr>
            <p:cNvSpPr/>
            <p:nvPr/>
          </p:nvSpPr>
          <p:spPr>
            <a:xfrm>
              <a:off x="10745570" y="2622836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6" name="出射角绘图">
            <a:extLst>
              <a:ext uri="{FF2B5EF4-FFF2-40B4-BE49-F238E27FC236}">
                <a16:creationId xmlns:a16="http://schemas.microsoft.com/office/drawing/2014/main" id="{4D4EEC4A-7970-B302-93E0-73B534459DA4}"/>
              </a:ext>
            </a:extLst>
          </p:cNvPr>
          <p:cNvGrpSpPr/>
          <p:nvPr/>
        </p:nvGrpSpPr>
        <p:grpSpPr>
          <a:xfrm>
            <a:off x="10063219" y="2447871"/>
            <a:ext cx="1685874" cy="957074"/>
            <a:chOff x="10055225" y="3183145"/>
            <a:chExt cx="1685874" cy="95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/>
                <p:nvPr/>
              </p:nvSpPr>
              <p:spPr>
                <a:xfrm>
                  <a:off x="10055225" y="3616999"/>
                  <a:ext cx="16858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=−39°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5225" y="3616999"/>
                  <a:ext cx="1685874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752" r="-7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量角器">
              <a:extLst>
                <a:ext uri="{FF2B5EF4-FFF2-40B4-BE49-F238E27FC236}">
                  <a16:creationId xmlns:a16="http://schemas.microsoft.com/office/drawing/2014/main" id="{389BBAA8-1AD4-D79B-8DF2-DB4DEE81EB53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22980"/>
              <a:chOff x="10197602" y="3183145"/>
              <a:chExt cx="592627" cy="522980"/>
            </a:xfrm>
          </p:grpSpPr>
          <p:cxnSp>
            <p:nvCxnSpPr>
              <p:cNvPr id="21" name="角度2">
                <a:extLst>
                  <a:ext uri="{FF2B5EF4-FFF2-40B4-BE49-F238E27FC236}">
                    <a16:creationId xmlns:a16="http://schemas.microsoft.com/office/drawing/2014/main" id="{2E920C8B-DC4C-1E5A-2583-7308CE8EBDE4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角度1">
                <a:extLst>
                  <a:ext uri="{FF2B5EF4-FFF2-40B4-BE49-F238E27FC236}">
                    <a16:creationId xmlns:a16="http://schemas.microsoft.com/office/drawing/2014/main" id="{D677F919-E4CB-4F58-8DE6-E403C57A5C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71506" cy="284510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角度弧">
                <a:extLst>
                  <a:ext uri="{FF2B5EF4-FFF2-40B4-BE49-F238E27FC236}">
                    <a16:creationId xmlns:a16="http://schemas.microsoft.com/office/drawing/2014/main" id="{9C8C85D7-B2C7-443B-6DF8-013C4890AA0B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2642769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313112" y="1486318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/400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1486318"/>
                <a:ext cx="2088232" cy="523220"/>
              </a:xfrm>
              <a:prstGeom prst="rect">
                <a:avLst/>
              </a:prstGeom>
              <a:blipFill>
                <a:blip r:embed="rId16"/>
                <a:stretch>
                  <a:fillRect l="-1205" r="-120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方框图">
            <a:extLst>
              <a:ext uri="{FF2B5EF4-FFF2-40B4-BE49-F238E27FC236}">
                <a16:creationId xmlns:a16="http://schemas.microsoft.com/office/drawing/2014/main" id="{A40420FE-AEC0-2D1D-8008-0295664A3E3D}"/>
              </a:ext>
            </a:extLst>
          </p:cNvPr>
          <p:cNvGrpSpPr/>
          <p:nvPr/>
        </p:nvGrpSpPr>
        <p:grpSpPr>
          <a:xfrm>
            <a:off x="6095206" y="190901"/>
            <a:ext cx="5399882" cy="954732"/>
            <a:chOff x="7610417" y="260648"/>
            <a:chExt cx="5399882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+20) (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+20)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blipFill>
                  <a:blip r:embed="rId17"/>
                  <a:stretch>
                    <a:fillRect l="-490" r="-2941" b="-615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12010870" y="783868"/>
              <a:ext cx="999429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1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10424237" y="-1118678"/>
              <a:ext cx="144000" cy="3949093"/>
            </a:xfrm>
            <a:prstGeom prst="bentConnector3">
              <a:avLst>
                <a:gd name="adj1" fmla="val 42631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>
              <a:off x="8665690" y="783868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/>
              <p:nvPr/>
            </p:nvSpPr>
            <p:spPr>
              <a:xfrm>
                <a:off x="3093972" y="2029021"/>
                <a:ext cx="148061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[−20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972" y="2029021"/>
                <a:ext cx="1480610" cy="542136"/>
              </a:xfrm>
              <a:prstGeom prst="rect">
                <a:avLst/>
              </a:prstGeom>
              <a:blipFill>
                <a:blip r:embed="rId22"/>
                <a:stretch>
                  <a:fillRect l="-855" r="-1709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/>
              <p:nvPr/>
            </p:nvSpPr>
            <p:spPr>
              <a:xfrm>
                <a:off x="2973358" y="3704855"/>
                <a:ext cx="38768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90°+116.5°+12.5°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+180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−39°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358" y="3704855"/>
                <a:ext cx="3876805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76666" y="1972054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5" name="步骤2">
            <a:extLst>
              <a:ext uri="{FF2B5EF4-FFF2-40B4-BE49-F238E27FC236}">
                <a16:creationId xmlns:a16="http://schemas.microsoft.com/office/drawing/2014/main" id="{A42A4B37-8B24-03D9-009F-D735AD88A73A}"/>
              </a:ext>
            </a:extLst>
          </p:cNvPr>
          <p:cNvGrpSpPr/>
          <p:nvPr/>
        </p:nvGrpSpPr>
        <p:grpSpPr>
          <a:xfrm>
            <a:off x="242952" y="2753674"/>
            <a:ext cx="2682119" cy="725177"/>
            <a:chOff x="4943078" y="1700704"/>
            <a:chExt cx="2682119" cy="725177"/>
          </a:xfrm>
        </p:grpSpPr>
        <p:sp>
          <p:nvSpPr>
            <p:cNvPr id="116" name="标题">
              <a:extLst>
                <a:ext uri="{FF2B5EF4-FFF2-40B4-BE49-F238E27FC236}">
                  <a16:creationId xmlns:a16="http://schemas.microsoft.com/office/drawing/2014/main" id="{655C2BCA-0C34-0A45-D4A1-7CA14EA990AA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17" name="序号">
              <a:extLst>
                <a:ext uri="{FF2B5EF4-FFF2-40B4-BE49-F238E27FC236}">
                  <a16:creationId xmlns:a16="http://schemas.microsoft.com/office/drawing/2014/main" id="{803D861C-6CE3-319B-9886-46B8720EC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8" name="步骤3">
            <a:extLst>
              <a:ext uri="{FF2B5EF4-FFF2-40B4-BE49-F238E27FC236}">
                <a16:creationId xmlns:a16="http://schemas.microsoft.com/office/drawing/2014/main" id="{28C86A64-4E0A-11CE-BECF-A6A6C05728FF}"/>
              </a:ext>
            </a:extLst>
          </p:cNvPr>
          <p:cNvGrpSpPr/>
          <p:nvPr/>
        </p:nvGrpSpPr>
        <p:grpSpPr>
          <a:xfrm>
            <a:off x="242952" y="3524186"/>
            <a:ext cx="2682119" cy="725177"/>
            <a:chOff x="4943078" y="1700704"/>
            <a:chExt cx="2682119" cy="725177"/>
          </a:xfrm>
        </p:grpSpPr>
        <p:sp>
          <p:nvSpPr>
            <p:cNvPr id="119" name="标题">
              <a:extLst>
                <a:ext uri="{FF2B5EF4-FFF2-40B4-BE49-F238E27FC236}">
                  <a16:creationId xmlns:a16="http://schemas.microsoft.com/office/drawing/2014/main" id="{0CB9CC0F-44EE-CA42-4AE6-BD43FFE5FF5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出射角</a:t>
              </a:r>
            </a:p>
          </p:txBody>
        </p:sp>
        <p:sp>
          <p:nvSpPr>
            <p:cNvPr id="120" name="序号">
              <a:extLst>
                <a:ext uri="{FF2B5EF4-FFF2-40B4-BE49-F238E27FC236}">
                  <a16:creationId xmlns:a16="http://schemas.microsoft.com/office/drawing/2014/main" id="{B03A18E1-5F5C-A1C7-D1E6-992BFA088E7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1" name="步骤4">
            <a:extLst>
              <a:ext uri="{FF2B5EF4-FFF2-40B4-BE49-F238E27FC236}">
                <a16:creationId xmlns:a16="http://schemas.microsoft.com/office/drawing/2014/main" id="{EDBB4EE1-696A-CCF5-F8FE-AA955B4A2A5D}"/>
              </a:ext>
            </a:extLst>
          </p:cNvPr>
          <p:cNvGrpSpPr/>
          <p:nvPr/>
        </p:nvGrpSpPr>
        <p:grpSpPr>
          <a:xfrm>
            <a:off x="234443" y="4292575"/>
            <a:ext cx="2682115" cy="725177"/>
            <a:chOff x="4943078" y="1700704"/>
            <a:chExt cx="2682115" cy="725177"/>
          </a:xfrm>
        </p:grpSpPr>
        <p:sp>
          <p:nvSpPr>
            <p:cNvPr id="122" name="标题">
              <a:extLst>
                <a:ext uri="{FF2B5EF4-FFF2-40B4-BE49-F238E27FC236}">
                  <a16:creationId xmlns:a16="http://schemas.microsoft.com/office/drawing/2014/main" id="{9DCC84EB-CDD8-9FBA-3499-5CF3BB13F168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23" name="序号">
              <a:extLst>
                <a:ext uri="{FF2B5EF4-FFF2-40B4-BE49-F238E27FC236}">
                  <a16:creationId xmlns:a16="http://schemas.microsoft.com/office/drawing/2014/main" id="{11163DEF-EB11-7386-3836-4BBAF2A54D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/>
              <p:nvPr/>
            </p:nvSpPr>
            <p:spPr>
              <a:xfrm>
                <a:off x="3104285" y="2584784"/>
                <a:ext cx="3175001" cy="113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0−20−2−2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=−6</m:t>
                      </m:r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=±45°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,±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5°</m:t>
                      </m:r>
                    </m:oMath>
                  </m:oMathPara>
                </a14:m>
                <a:endParaRPr lang="zh-CN" altLang="en-US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285" y="2584784"/>
                <a:ext cx="3175001" cy="1136721"/>
              </a:xfrm>
              <a:prstGeom prst="rect">
                <a:avLst/>
              </a:prstGeom>
              <a:blipFill>
                <a:blip r:embed="rId2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虚轴交点计算">
                <a:extLst>
                  <a:ext uri="{FF2B5EF4-FFF2-40B4-BE49-F238E27FC236}">
                    <a16:creationId xmlns:a16="http://schemas.microsoft.com/office/drawing/2014/main" id="{2444B483-9C9A-A7B7-04B3-8B5AD20089FB}"/>
                  </a:ext>
                </a:extLst>
              </p:cNvPr>
              <p:cNvSpPr txBox="1"/>
              <p:nvPr/>
            </p:nvSpPr>
            <p:spPr>
              <a:xfrm>
                <a:off x="271382" y="5646578"/>
                <a:ext cx="6435882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zh-CN" alt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400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5" name="虚轴交点计算">
                <a:extLst>
                  <a:ext uri="{FF2B5EF4-FFF2-40B4-BE49-F238E27FC236}">
                    <a16:creationId xmlns:a16="http://schemas.microsoft.com/office/drawing/2014/main" id="{2444B483-9C9A-A7B7-04B3-8B5AD200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82" y="5646578"/>
                <a:ext cx="6435882" cy="1211422"/>
              </a:xfrm>
              <a:prstGeom prst="rect">
                <a:avLst/>
              </a:prstGeom>
              <a:blipFill>
                <a:blip r:embed="rId25"/>
                <a:stretch>
                  <a:fillRect l="-26036" t="-208333" b="-2989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特征方程">
                <a:extLst>
                  <a:ext uri="{FF2B5EF4-FFF2-40B4-BE49-F238E27FC236}">
                    <a16:creationId xmlns:a16="http://schemas.microsoft.com/office/drawing/2014/main" id="{350732C6-7AA5-EA46-065F-611FA46EB334}"/>
                  </a:ext>
                </a:extLst>
              </p:cNvPr>
              <p:cNvSpPr txBox="1"/>
              <p:nvPr/>
            </p:nvSpPr>
            <p:spPr>
              <a:xfrm>
                <a:off x="2722872" y="5286938"/>
                <a:ext cx="76665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+100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+400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6" name="特征方程">
                <a:extLst>
                  <a:ext uri="{FF2B5EF4-FFF2-40B4-BE49-F238E27FC236}">
                    <a16:creationId xmlns:a16="http://schemas.microsoft.com/office/drawing/2014/main" id="{350732C6-7AA5-EA46-065F-611FA46EB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72" y="5286938"/>
                <a:ext cx="7666525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虚轴交点">
                <a:extLst>
                  <a:ext uri="{FF2B5EF4-FFF2-40B4-BE49-F238E27FC236}">
                    <a16:creationId xmlns:a16="http://schemas.microsoft.com/office/drawing/2014/main" id="{EEA004BC-A60A-7A45-1487-83D7950AEF9B}"/>
                  </a:ext>
                </a:extLst>
              </p:cNvPr>
              <p:cNvSpPr txBox="1"/>
              <p:nvPr/>
            </p:nvSpPr>
            <p:spPr>
              <a:xfrm>
                <a:off x="6648155" y="5620150"/>
                <a:ext cx="4919659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en-US" altLang="zh-CN" sz="28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400/24</m:t>
                                  </m:r>
                                </m:e>
                              </m:rad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=4.1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zh-CN" alt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1389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7" name="虚轴交点">
                <a:extLst>
                  <a:ext uri="{FF2B5EF4-FFF2-40B4-BE49-F238E27FC236}">
                    <a16:creationId xmlns:a16="http://schemas.microsoft.com/office/drawing/2014/main" id="{EEA004BC-A60A-7A45-1487-83D7950A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155" y="5620150"/>
                <a:ext cx="4919659" cy="1211422"/>
              </a:xfrm>
              <a:prstGeom prst="rect">
                <a:avLst/>
              </a:prstGeom>
              <a:blipFill>
                <a:blip r:embed="rId27"/>
                <a:stretch>
                  <a:fillRect l="-25707" t="-206186" b="-294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开环传函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/>
              <p:nvPr/>
            </p:nvSpPr>
            <p:spPr>
              <a:xfrm>
                <a:off x="313112" y="831079"/>
                <a:ext cx="4819521" cy="7908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+20)(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4)(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4)</m:t>
                        </m:r>
                      </m:den>
                    </m:f>
                  </m:oMath>
                </a14:m>
                <a:r>
                  <a:rPr lang="en-US" altLang="zh-CN" sz="2800" dirty="0"/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4" name="开环传函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831079"/>
                <a:ext cx="4819521" cy="790858"/>
              </a:xfrm>
              <a:prstGeom prst="rect">
                <a:avLst/>
              </a:prstGeom>
              <a:blipFill>
                <a:blip r:embed="rId28"/>
                <a:stretch>
                  <a:fillRect l="-525"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85B0F150-137D-C17C-11E4-4D984940AFF5}"/>
                  </a:ext>
                </a:extLst>
              </p:cNvPr>
              <p:cNvSpPr txBox="1"/>
              <p:nvPr/>
            </p:nvSpPr>
            <p:spPr>
              <a:xfrm>
                <a:off x="2874481" y="4332563"/>
                <a:ext cx="1638520" cy="647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−15.1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13881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85B0F150-137D-C17C-11E4-4D984940A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481" y="4332563"/>
                <a:ext cx="1638520" cy="64729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步骤5">
            <a:extLst>
              <a:ext uri="{FF2B5EF4-FFF2-40B4-BE49-F238E27FC236}">
                <a16:creationId xmlns:a16="http://schemas.microsoft.com/office/drawing/2014/main" id="{6D8C0288-7F36-C4D4-B218-9B5503D99E3F}"/>
              </a:ext>
            </a:extLst>
          </p:cNvPr>
          <p:cNvGrpSpPr/>
          <p:nvPr/>
        </p:nvGrpSpPr>
        <p:grpSpPr>
          <a:xfrm>
            <a:off x="214582" y="5035520"/>
            <a:ext cx="2710489" cy="725177"/>
            <a:chOff x="4943078" y="1700704"/>
            <a:chExt cx="2710489" cy="725177"/>
          </a:xfrm>
        </p:grpSpPr>
        <p:sp>
          <p:nvSpPr>
            <p:cNvPr id="89" name="标题">
              <a:extLst>
                <a:ext uri="{FF2B5EF4-FFF2-40B4-BE49-F238E27FC236}">
                  <a16:creationId xmlns:a16="http://schemas.microsoft.com/office/drawing/2014/main" id="{F85502A6-AFDF-A1F7-048A-47BD8B490EED}"/>
                </a:ext>
              </a:extLst>
            </p:cNvPr>
            <p:cNvSpPr/>
            <p:nvPr/>
          </p:nvSpPr>
          <p:spPr bwMode="auto">
            <a:xfrm>
              <a:off x="5403500" y="1779850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虚轴交点</a:t>
              </a:r>
            </a:p>
          </p:txBody>
        </p:sp>
        <p:sp>
          <p:nvSpPr>
            <p:cNvPr id="90" name="序号">
              <a:extLst>
                <a:ext uri="{FF2B5EF4-FFF2-40B4-BE49-F238E27FC236}">
                  <a16:creationId xmlns:a16="http://schemas.microsoft.com/office/drawing/2014/main" id="{53669EF5-DC4C-8310-C6D9-2915DA7C551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459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143" grpId="0" animBg="1"/>
      <p:bldP spid="94" grpId="0" animBg="1"/>
      <p:bldP spid="138" grpId="0" animBg="1"/>
      <p:bldP spid="125" grpId="0"/>
      <p:bldP spid="126" grpId="0"/>
      <p:bldP spid="1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坐标轴">
            <a:extLst>
              <a:ext uri="{FF2B5EF4-FFF2-40B4-BE49-F238E27FC236}">
                <a16:creationId xmlns:a16="http://schemas.microsoft.com/office/drawing/2014/main" id="{78ADC401-5AC9-4286-02E9-8EECE83768B5}"/>
              </a:ext>
            </a:extLst>
          </p:cNvPr>
          <p:cNvGrpSpPr/>
          <p:nvPr/>
        </p:nvGrpSpPr>
        <p:grpSpPr>
          <a:xfrm>
            <a:off x="6729250" y="1259174"/>
            <a:ext cx="5134590" cy="3911548"/>
            <a:chOff x="6729250" y="1259174"/>
            <a:chExt cx="5134590" cy="3911548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6895288" y="3428011"/>
              <a:ext cx="49685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80461" y="1678217"/>
              <a:ext cx="3" cy="349250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ytick1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ytick-1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tick-2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ytick2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xtixk-1">
              <a:extLst>
                <a:ext uri="{FF2B5EF4-FFF2-40B4-BE49-F238E27FC236}">
                  <a16:creationId xmlns:a16="http://schemas.microsoft.com/office/drawing/2014/main" id="{AEBBED5C-227A-256A-9403-3EB96EFC8A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xtixk-2">
              <a:extLst>
                <a:ext uri="{FF2B5EF4-FFF2-40B4-BE49-F238E27FC236}">
                  <a16:creationId xmlns:a16="http://schemas.microsoft.com/office/drawing/2014/main" id="{CE84F53D-5D41-22E7-FC5B-C4179606D9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xtixk1">
              <a:extLst>
                <a:ext uri="{FF2B5EF4-FFF2-40B4-BE49-F238E27FC236}">
                  <a16:creationId xmlns:a16="http://schemas.microsoft.com/office/drawing/2014/main" id="{2BFF7E53-2FB1-BF80-10D5-72BC64EA00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xtixk2">
              <a:extLst>
                <a:ext uri="{FF2B5EF4-FFF2-40B4-BE49-F238E27FC236}">
                  <a16:creationId xmlns:a16="http://schemas.microsoft.com/office/drawing/2014/main" id="{7C4887B3-F262-E201-24C8-AAF0A716D4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xtixk-2">
              <a:extLst>
                <a:ext uri="{FF2B5EF4-FFF2-40B4-BE49-F238E27FC236}">
                  <a16:creationId xmlns:a16="http://schemas.microsoft.com/office/drawing/2014/main" id="{1E27B99A-027A-EA2C-1A6F-7A01268175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825104" y="349847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xlabel-2">
                  <a:extLst>
                    <a:ext uri="{FF2B5EF4-FFF2-40B4-BE49-F238E27FC236}">
                      <a16:creationId xmlns:a16="http://schemas.microsoft.com/office/drawing/2014/main" id="{0DCC4F81-BB00-B1D6-DE13-6FD11C227F44}"/>
                    </a:ext>
                  </a:extLst>
                </p:cNvPr>
                <p:cNvSpPr txBox="1"/>
                <p:nvPr/>
              </p:nvSpPr>
              <p:spPr>
                <a:xfrm>
                  <a:off x="7447152" y="3458540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xlabel-2">
                  <a:extLst>
                    <a:ext uri="{FF2B5EF4-FFF2-40B4-BE49-F238E27FC236}">
                      <a16:creationId xmlns:a16="http://schemas.microsoft.com/office/drawing/2014/main" id="{0DCC4F81-BB00-B1D6-DE13-6FD11C227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52" y="3458540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xtixk-2">
              <a:extLst>
                <a:ext uri="{FF2B5EF4-FFF2-40B4-BE49-F238E27FC236}">
                  <a16:creationId xmlns:a16="http://schemas.microsoft.com/office/drawing/2014/main" id="{BC6F9A1A-CDF4-3493-9035-359A89B75E6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07202" y="3503965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xlabel-2">
                  <a:extLst>
                    <a:ext uri="{FF2B5EF4-FFF2-40B4-BE49-F238E27FC236}">
                      <a16:creationId xmlns:a16="http://schemas.microsoft.com/office/drawing/2014/main" id="{77CE524B-5842-CAE5-432F-A26B15F24160}"/>
                    </a:ext>
                  </a:extLst>
                </p:cNvPr>
                <p:cNvSpPr txBox="1"/>
                <p:nvPr/>
              </p:nvSpPr>
              <p:spPr>
                <a:xfrm>
                  <a:off x="6729250" y="3464027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xlabel-2">
                  <a:extLst>
                    <a:ext uri="{FF2B5EF4-FFF2-40B4-BE49-F238E27FC236}">
                      <a16:creationId xmlns:a16="http://schemas.microsoft.com/office/drawing/2014/main" id="{77CE524B-5842-CAE5-432F-A26B15F24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9250" y="3464027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极点组合">
            <a:extLst>
              <a:ext uri="{FF2B5EF4-FFF2-40B4-BE49-F238E27FC236}">
                <a16:creationId xmlns:a16="http://schemas.microsoft.com/office/drawing/2014/main" id="{97D08672-D61D-FF44-409E-96B22A1DAE32}"/>
              </a:ext>
            </a:extLst>
          </p:cNvPr>
          <p:cNvGrpSpPr/>
          <p:nvPr/>
        </p:nvGrpSpPr>
        <p:grpSpPr>
          <a:xfrm>
            <a:off x="7030895" y="2545093"/>
            <a:ext cx="3892095" cy="1739782"/>
            <a:chOff x="7030895" y="2545093"/>
            <a:chExt cx="3892095" cy="1739782"/>
          </a:xfrm>
        </p:grpSpPr>
        <p:sp>
          <p:nvSpPr>
            <p:cNvPr id="49" name="极点3">
              <a:extLst>
                <a:ext uri="{FF2B5EF4-FFF2-40B4-BE49-F238E27FC236}">
                  <a16:creationId xmlns:a16="http://schemas.microsoft.com/office/drawing/2014/main" id="{5FCC0545-F905-1DB6-5AE8-AC325993CD6E}"/>
                </a:ext>
              </a:extLst>
            </p:cNvPr>
            <p:cNvSpPr/>
            <p:nvPr/>
          </p:nvSpPr>
          <p:spPr>
            <a:xfrm>
              <a:off x="10270575" y="254509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1" name="极点4">
              <a:extLst>
                <a:ext uri="{FF2B5EF4-FFF2-40B4-BE49-F238E27FC236}">
                  <a16:creationId xmlns:a16="http://schemas.microsoft.com/office/drawing/2014/main" id="{935D1F8A-1FDF-DDF5-6A66-6645E169FAF2}"/>
                </a:ext>
              </a:extLst>
            </p:cNvPr>
            <p:cNvSpPr/>
            <p:nvPr/>
          </p:nvSpPr>
          <p:spPr>
            <a:xfrm>
              <a:off x="10274226" y="399684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1" name="极点1">
              <a:extLst>
                <a:ext uri="{FF2B5EF4-FFF2-40B4-BE49-F238E27FC236}">
                  <a16:creationId xmlns:a16="http://schemas.microsoft.com/office/drawing/2014/main" id="{4FD9D290-D370-609A-AC3C-1AC7390FD6FF}"/>
                </a:ext>
              </a:extLst>
            </p:cNvPr>
            <p:cNvSpPr/>
            <p:nvPr/>
          </p:nvSpPr>
          <p:spPr>
            <a:xfrm>
              <a:off x="10634958" y="328584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2" name="极点2">
              <a:extLst>
                <a:ext uri="{FF2B5EF4-FFF2-40B4-BE49-F238E27FC236}">
                  <a16:creationId xmlns:a16="http://schemas.microsoft.com/office/drawing/2014/main" id="{615AC79C-A8F1-0EF7-B0A8-A09D101F2DA6}"/>
                </a:ext>
              </a:extLst>
            </p:cNvPr>
            <p:cNvSpPr/>
            <p:nvPr/>
          </p:nvSpPr>
          <p:spPr>
            <a:xfrm>
              <a:off x="7030895" y="3280453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136" name="渐近线1">
            <a:extLst>
              <a:ext uri="{FF2B5EF4-FFF2-40B4-BE49-F238E27FC236}">
                <a16:creationId xmlns:a16="http://schemas.microsoft.com/office/drawing/2014/main" id="{AD344A82-8AD0-3280-EDA9-83978BAF4E2A}"/>
              </a:ext>
            </a:extLst>
          </p:cNvPr>
          <p:cNvCxnSpPr>
            <a:cxnSpLocks/>
          </p:cNvCxnSpPr>
          <p:nvPr/>
        </p:nvCxnSpPr>
        <p:spPr>
          <a:xfrm flipH="1" flipV="1">
            <a:off x="7910590" y="1596143"/>
            <a:ext cx="3592492" cy="3649571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渐近线2">
            <a:extLst>
              <a:ext uri="{FF2B5EF4-FFF2-40B4-BE49-F238E27FC236}">
                <a16:creationId xmlns:a16="http://schemas.microsoft.com/office/drawing/2014/main" id="{CABE4BCD-31BC-A0E3-BF4D-20DDA6E4CC60}"/>
              </a:ext>
            </a:extLst>
          </p:cNvPr>
          <p:cNvCxnSpPr>
            <a:cxnSpLocks/>
          </p:cNvCxnSpPr>
          <p:nvPr/>
        </p:nvCxnSpPr>
        <p:spPr>
          <a:xfrm flipH="1">
            <a:off x="7899457" y="1595891"/>
            <a:ext cx="3617913" cy="3649823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实轴根轨迹">
            <a:extLst>
              <a:ext uri="{FF2B5EF4-FFF2-40B4-BE49-F238E27FC236}">
                <a16:creationId xmlns:a16="http://schemas.microsoft.com/office/drawing/2014/main" id="{F3802E55-6914-DEFF-E87F-67B8D143AB98}"/>
              </a:ext>
            </a:extLst>
          </p:cNvPr>
          <p:cNvCxnSpPr>
            <a:cxnSpLocks/>
          </p:cNvCxnSpPr>
          <p:nvPr/>
        </p:nvCxnSpPr>
        <p:spPr>
          <a:xfrm flipH="1">
            <a:off x="7215298" y="3427857"/>
            <a:ext cx="3547444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根轨迹4">
            <a:extLst>
              <a:ext uri="{FF2B5EF4-FFF2-40B4-BE49-F238E27FC236}">
                <a16:creationId xmlns:a16="http://schemas.microsoft.com/office/drawing/2014/main" id="{92F39CE2-577D-084E-8E6E-07562C27BFB7}"/>
              </a:ext>
            </a:extLst>
          </p:cNvPr>
          <p:cNvSpPr/>
          <p:nvPr/>
        </p:nvSpPr>
        <p:spPr>
          <a:xfrm>
            <a:off x="7160525" y="3429000"/>
            <a:ext cx="3610739" cy="189606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3610739 w 3610739"/>
              <a:gd name="connsiteY0" fmla="*/ 0 h 1896068"/>
              <a:gd name="connsiteX1" fmla="*/ 918419 w 3610739"/>
              <a:gd name="connsiteY1" fmla="*/ 4726 h 1896068"/>
              <a:gd name="connsiteX2" fmla="*/ 2 w 3610739"/>
              <a:gd name="connsiteY2" fmla="*/ 1896068 h 1896068"/>
              <a:gd name="connsiteX0" fmla="*/ 3610739 w 3610739"/>
              <a:gd name="connsiteY0" fmla="*/ 0 h 1896068"/>
              <a:gd name="connsiteX1" fmla="*/ 918419 w 3610739"/>
              <a:gd name="connsiteY1" fmla="*/ 10782 h 1896068"/>
              <a:gd name="connsiteX2" fmla="*/ 2 w 3610739"/>
              <a:gd name="connsiteY2" fmla="*/ 1896068 h 1896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10739" h="1896068">
                <a:moveTo>
                  <a:pt x="3610739" y="0"/>
                </a:moveTo>
                <a:lnTo>
                  <a:pt x="918419" y="10782"/>
                </a:lnTo>
                <a:cubicBezTo>
                  <a:pt x="927239" y="853633"/>
                  <a:pt x="-1684" y="1896916"/>
                  <a:pt x="2" y="1896068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3" name="根轨迹3">
            <a:extLst>
              <a:ext uri="{FF2B5EF4-FFF2-40B4-BE49-F238E27FC236}">
                <a16:creationId xmlns:a16="http://schemas.microsoft.com/office/drawing/2014/main" id="{BEC03131-F093-953B-2E02-1338D5E708D7}"/>
              </a:ext>
            </a:extLst>
          </p:cNvPr>
          <p:cNvSpPr/>
          <p:nvPr/>
        </p:nvSpPr>
        <p:spPr>
          <a:xfrm flipV="1">
            <a:off x="7153633" y="1541645"/>
            <a:ext cx="918481" cy="189148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481" h="1891480">
                <a:moveTo>
                  <a:pt x="25806" y="13579"/>
                </a:moveTo>
                <a:cubicBezTo>
                  <a:pt x="389858" y="9422"/>
                  <a:pt x="550245" y="-1339"/>
                  <a:pt x="918419" y="138"/>
                </a:cubicBezTo>
                <a:cubicBezTo>
                  <a:pt x="927239" y="842989"/>
                  <a:pt x="-1684" y="1892328"/>
                  <a:pt x="2" y="189148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4" name="根轨迹2">
            <a:extLst>
              <a:ext uri="{FF2B5EF4-FFF2-40B4-BE49-F238E27FC236}">
                <a16:creationId xmlns:a16="http://schemas.microsoft.com/office/drawing/2014/main" id="{28E09BF5-B5C0-43CF-501E-DD71043DA4B4}"/>
              </a:ext>
            </a:extLst>
          </p:cNvPr>
          <p:cNvSpPr/>
          <p:nvPr/>
        </p:nvSpPr>
        <p:spPr>
          <a:xfrm flipV="1">
            <a:off x="10413147" y="4087153"/>
            <a:ext cx="1219617" cy="110648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617" h="1106481">
                <a:moveTo>
                  <a:pt x="0" y="1067120"/>
                </a:moveTo>
                <a:cubicBezTo>
                  <a:pt x="339829" y="1262798"/>
                  <a:pt x="905945" y="700976"/>
                  <a:pt x="121961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8" name="根轨迹1">
            <a:extLst>
              <a:ext uri="{FF2B5EF4-FFF2-40B4-BE49-F238E27FC236}">
                <a16:creationId xmlns:a16="http://schemas.microsoft.com/office/drawing/2014/main" id="{BA8EDDD6-57EA-AEF8-D978-5291C9FBD6A6}"/>
              </a:ext>
            </a:extLst>
          </p:cNvPr>
          <p:cNvSpPr/>
          <p:nvPr/>
        </p:nvSpPr>
        <p:spPr>
          <a:xfrm>
            <a:off x="10413147" y="1628149"/>
            <a:ext cx="1219617" cy="110648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617" h="1106481">
                <a:moveTo>
                  <a:pt x="0" y="1067120"/>
                </a:moveTo>
                <a:cubicBezTo>
                  <a:pt x="339829" y="1262798"/>
                  <a:pt x="905945" y="700976"/>
                  <a:pt x="121961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分离点">
            <a:extLst>
              <a:ext uri="{FF2B5EF4-FFF2-40B4-BE49-F238E27FC236}">
                <a16:creationId xmlns:a16="http://schemas.microsoft.com/office/drawing/2014/main" id="{1C882218-F0D4-7CDC-E008-6C852FCCE883}"/>
              </a:ext>
            </a:extLst>
          </p:cNvPr>
          <p:cNvSpPr/>
          <p:nvPr/>
        </p:nvSpPr>
        <p:spPr>
          <a:xfrm>
            <a:off x="8024061" y="3379559"/>
            <a:ext cx="91694" cy="91694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1" name="虚轴交点组合">
            <a:extLst>
              <a:ext uri="{FF2B5EF4-FFF2-40B4-BE49-F238E27FC236}">
                <a16:creationId xmlns:a16="http://schemas.microsoft.com/office/drawing/2014/main" id="{11B75B56-EE9F-8AD7-B7A8-BB5111B59CE7}"/>
              </a:ext>
            </a:extLst>
          </p:cNvPr>
          <p:cNvGrpSpPr/>
          <p:nvPr/>
        </p:nvGrpSpPr>
        <p:grpSpPr>
          <a:xfrm>
            <a:off x="10738097" y="2622836"/>
            <a:ext cx="99167" cy="1576644"/>
            <a:chOff x="10738097" y="2622836"/>
            <a:chExt cx="99167" cy="1576644"/>
          </a:xfrm>
        </p:grpSpPr>
        <p:sp>
          <p:nvSpPr>
            <p:cNvPr id="140" name="虚轴交点2">
              <a:extLst>
                <a:ext uri="{FF2B5EF4-FFF2-40B4-BE49-F238E27FC236}">
                  <a16:creationId xmlns:a16="http://schemas.microsoft.com/office/drawing/2014/main" id="{6C2538D6-8BD9-6307-2D2D-B26E3EE1816A}"/>
                </a:ext>
              </a:extLst>
            </p:cNvPr>
            <p:cNvSpPr/>
            <p:nvPr/>
          </p:nvSpPr>
          <p:spPr>
            <a:xfrm>
              <a:off x="10738097" y="4107786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虚轴交点1">
              <a:extLst>
                <a:ext uri="{FF2B5EF4-FFF2-40B4-BE49-F238E27FC236}">
                  <a16:creationId xmlns:a16="http://schemas.microsoft.com/office/drawing/2014/main" id="{916E97EE-DB59-E30E-CE57-63198AD38DBD}"/>
                </a:ext>
              </a:extLst>
            </p:cNvPr>
            <p:cNvSpPr/>
            <p:nvPr/>
          </p:nvSpPr>
          <p:spPr>
            <a:xfrm>
              <a:off x="10745570" y="2622836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6" name="出射角绘图">
            <a:extLst>
              <a:ext uri="{FF2B5EF4-FFF2-40B4-BE49-F238E27FC236}">
                <a16:creationId xmlns:a16="http://schemas.microsoft.com/office/drawing/2014/main" id="{4D4EEC4A-7970-B302-93E0-73B534459DA4}"/>
              </a:ext>
            </a:extLst>
          </p:cNvPr>
          <p:cNvGrpSpPr/>
          <p:nvPr/>
        </p:nvGrpSpPr>
        <p:grpSpPr>
          <a:xfrm>
            <a:off x="10063219" y="2447871"/>
            <a:ext cx="1685874" cy="957074"/>
            <a:chOff x="10055225" y="3183145"/>
            <a:chExt cx="1685874" cy="957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/>
                <p:nvPr/>
              </p:nvSpPr>
              <p:spPr>
                <a:xfrm>
                  <a:off x="10055225" y="3616999"/>
                  <a:ext cx="16858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=−39°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5225" y="3616999"/>
                  <a:ext cx="1685874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752" r="-7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量角器">
              <a:extLst>
                <a:ext uri="{FF2B5EF4-FFF2-40B4-BE49-F238E27FC236}">
                  <a16:creationId xmlns:a16="http://schemas.microsoft.com/office/drawing/2014/main" id="{389BBAA8-1AD4-D79B-8DF2-DB4DEE81EB53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22980"/>
              <a:chOff x="10197602" y="3183145"/>
              <a:chExt cx="592627" cy="522980"/>
            </a:xfrm>
          </p:grpSpPr>
          <p:cxnSp>
            <p:nvCxnSpPr>
              <p:cNvPr id="21" name="角度2">
                <a:extLst>
                  <a:ext uri="{FF2B5EF4-FFF2-40B4-BE49-F238E27FC236}">
                    <a16:creationId xmlns:a16="http://schemas.microsoft.com/office/drawing/2014/main" id="{2E920C8B-DC4C-1E5A-2583-7308CE8EBDE4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角度1">
                <a:extLst>
                  <a:ext uri="{FF2B5EF4-FFF2-40B4-BE49-F238E27FC236}">
                    <a16:creationId xmlns:a16="http://schemas.microsoft.com/office/drawing/2014/main" id="{D677F919-E4CB-4F58-8DE6-E403C57A5C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71506" cy="284510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角度弧">
                <a:extLst>
                  <a:ext uri="{FF2B5EF4-FFF2-40B4-BE49-F238E27FC236}">
                    <a16:creationId xmlns:a16="http://schemas.microsoft.com/office/drawing/2014/main" id="{9C8C85D7-B2C7-443B-6DF8-013C4890AA0B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2642769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313112" y="1486318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/400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1486318"/>
                <a:ext cx="2088232" cy="523220"/>
              </a:xfrm>
              <a:prstGeom prst="rect">
                <a:avLst/>
              </a:prstGeom>
              <a:blipFill>
                <a:blip r:embed="rId16"/>
                <a:stretch>
                  <a:fillRect l="-1205" r="-120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方框图">
            <a:extLst>
              <a:ext uri="{FF2B5EF4-FFF2-40B4-BE49-F238E27FC236}">
                <a16:creationId xmlns:a16="http://schemas.microsoft.com/office/drawing/2014/main" id="{A40420FE-AEC0-2D1D-8008-0295664A3E3D}"/>
              </a:ext>
            </a:extLst>
          </p:cNvPr>
          <p:cNvGrpSpPr/>
          <p:nvPr/>
        </p:nvGrpSpPr>
        <p:grpSpPr>
          <a:xfrm>
            <a:off x="6095206" y="190901"/>
            <a:ext cx="5399882" cy="954732"/>
            <a:chOff x="7610417" y="260648"/>
            <a:chExt cx="5399882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+20) (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+20)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blipFill>
                  <a:blip r:embed="rId17"/>
                  <a:stretch>
                    <a:fillRect l="-490" r="-2941" b="-615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12010870" y="783868"/>
              <a:ext cx="999429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1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10424237" y="-1118678"/>
              <a:ext cx="144000" cy="3949093"/>
            </a:xfrm>
            <a:prstGeom prst="bentConnector3">
              <a:avLst>
                <a:gd name="adj1" fmla="val 42631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>
              <a:off x="8665690" y="783868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/>
              <p:nvPr/>
            </p:nvSpPr>
            <p:spPr>
              <a:xfrm>
                <a:off x="3093972" y="2029021"/>
                <a:ext cx="148061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[−20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972" y="2029021"/>
                <a:ext cx="1480610" cy="542136"/>
              </a:xfrm>
              <a:prstGeom prst="rect">
                <a:avLst/>
              </a:prstGeom>
              <a:blipFill>
                <a:blip r:embed="rId22"/>
                <a:stretch>
                  <a:fillRect l="-855" r="-1709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/>
              <p:nvPr/>
            </p:nvSpPr>
            <p:spPr>
              <a:xfrm>
                <a:off x="2973358" y="3704855"/>
                <a:ext cx="38768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90°+116.5°+12.5°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+180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−39°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358" y="3704855"/>
                <a:ext cx="3876805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76666" y="1972054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5" name="步骤2">
            <a:extLst>
              <a:ext uri="{FF2B5EF4-FFF2-40B4-BE49-F238E27FC236}">
                <a16:creationId xmlns:a16="http://schemas.microsoft.com/office/drawing/2014/main" id="{A42A4B37-8B24-03D9-009F-D735AD88A73A}"/>
              </a:ext>
            </a:extLst>
          </p:cNvPr>
          <p:cNvGrpSpPr/>
          <p:nvPr/>
        </p:nvGrpSpPr>
        <p:grpSpPr>
          <a:xfrm>
            <a:off x="242952" y="2753674"/>
            <a:ext cx="2682119" cy="725177"/>
            <a:chOff x="4943078" y="1700704"/>
            <a:chExt cx="2682119" cy="725177"/>
          </a:xfrm>
        </p:grpSpPr>
        <p:sp>
          <p:nvSpPr>
            <p:cNvPr id="116" name="标题">
              <a:extLst>
                <a:ext uri="{FF2B5EF4-FFF2-40B4-BE49-F238E27FC236}">
                  <a16:creationId xmlns:a16="http://schemas.microsoft.com/office/drawing/2014/main" id="{655C2BCA-0C34-0A45-D4A1-7CA14EA990AA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17" name="序号">
              <a:extLst>
                <a:ext uri="{FF2B5EF4-FFF2-40B4-BE49-F238E27FC236}">
                  <a16:creationId xmlns:a16="http://schemas.microsoft.com/office/drawing/2014/main" id="{803D861C-6CE3-319B-9886-46B8720EC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8" name="步骤3">
            <a:extLst>
              <a:ext uri="{FF2B5EF4-FFF2-40B4-BE49-F238E27FC236}">
                <a16:creationId xmlns:a16="http://schemas.microsoft.com/office/drawing/2014/main" id="{28C86A64-4E0A-11CE-BECF-A6A6C05728FF}"/>
              </a:ext>
            </a:extLst>
          </p:cNvPr>
          <p:cNvGrpSpPr/>
          <p:nvPr/>
        </p:nvGrpSpPr>
        <p:grpSpPr>
          <a:xfrm>
            <a:off x="242952" y="3524186"/>
            <a:ext cx="2682119" cy="725177"/>
            <a:chOff x="4943078" y="1700704"/>
            <a:chExt cx="2682119" cy="725177"/>
          </a:xfrm>
        </p:grpSpPr>
        <p:sp>
          <p:nvSpPr>
            <p:cNvPr id="119" name="标题">
              <a:extLst>
                <a:ext uri="{FF2B5EF4-FFF2-40B4-BE49-F238E27FC236}">
                  <a16:creationId xmlns:a16="http://schemas.microsoft.com/office/drawing/2014/main" id="{0CB9CC0F-44EE-CA42-4AE6-BD43FFE5FF5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出射角</a:t>
              </a:r>
            </a:p>
          </p:txBody>
        </p:sp>
        <p:sp>
          <p:nvSpPr>
            <p:cNvPr id="120" name="序号">
              <a:extLst>
                <a:ext uri="{FF2B5EF4-FFF2-40B4-BE49-F238E27FC236}">
                  <a16:creationId xmlns:a16="http://schemas.microsoft.com/office/drawing/2014/main" id="{B03A18E1-5F5C-A1C7-D1E6-992BFA088E7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1" name="步骤4">
            <a:extLst>
              <a:ext uri="{FF2B5EF4-FFF2-40B4-BE49-F238E27FC236}">
                <a16:creationId xmlns:a16="http://schemas.microsoft.com/office/drawing/2014/main" id="{EDBB4EE1-696A-CCF5-F8FE-AA955B4A2A5D}"/>
              </a:ext>
            </a:extLst>
          </p:cNvPr>
          <p:cNvGrpSpPr/>
          <p:nvPr/>
        </p:nvGrpSpPr>
        <p:grpSpPr>
          <a:xfrm>
            <a:off x="234443" y="4292575"/>
            <a:ext cx="2682115" cy="725177"/>
            <a:chOff x="4943078" y="1700704"/>
            <a:chExt cx="2682115" cy="725177"/>
          </a:xfrm>
        </p:grpSpPr>
        <p:sp>
          <p:nvSpPr>
            <p:cNvPr id="122" name="标题">
              <a:extLst>
                <a:ext uri="{FF2B5EF4-FFF2-40B4-BE49-F238E27FC236}">
                  <a16:creationId xmlns:a16="http://schemas.microsoft.com/office/drawing/2014/main" id="{9DCC84EB-CDD8-9FBA-3499-5CF3BB13F168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23" name="序号">
              <a:extLst>
                <a:ext uri="{FF2B5EF4-FFF2-40B4-BE49-F238E27FC236}">
                  <a16:creationId xmlns:a16="http://schemas.microsoft.com/office/drawing/2014/main" id="{11163DEF-EB11-7386-3836-4BBAF2A54D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/>
              <p:nvPr/>
            </p:nvSpPr>
            <p:spPr>
              <a:xfrm>
                <a:off x="3104285" y="2584784"/>
                <a:ext cx="3175001" cy="113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0−20−2−2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=−6</m:t>
                      </m:r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=±45°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,±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5°</m:t>
                      </m:r>
                    </m:oMath>
                  </m:oMathPara>
                </a14:m>
                <a:endParaRPr lang="zh-CN" altLang="en-US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285" y="2584784"/>
                <a:ext cx="3175001" cy="1136721"/>
              </a:xfrm>
              <a:prstGeom prst="rect">
                <a:avLst/>
              </a:prstGeom>
              <a:blipFill>
                <a:blip r:embed="rId2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虚轴交点计算">
                <a:extLst>
                  <a:ext uri="{FF2B5EF4-FFF2-40B4-BE49-F238E27FC236}">
                    <a16:creationId xmlns:a16="http://schemas.microsoft.com/office/drawing/2014/main" id="{2444B483-9C9A-A7B7-04B3-8B5AD20089FB}"/>
                  </a:ext>
                </a:extLst>
              </p:cNvPr>
              <p:cNvSpPr txBox="1"/>
              <p:nvPr/>
            </p:nvSpPr>
            <p:spPr>
              <a:xfrm>
                <a:off x="4175906" y="5948190"/>
                <a:ext cx="28068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&lt;3.4725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5" name="虚轴交点计算">
                <a:extLst>
                  <a:ext uri="{FF2B5EF4-FFF2-40B4-BE49-F238E27FC236}">
                    <a16:creationId xmlns:a16="http://schemas.microsoft.com/office/drawing/2014/main" id="{2444B483-9C9A-A7B7-04B3-8B5AD200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906" y="5948190"/>
                <a:ext cx="2806804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虚轴交点">
                <a:extLst>
                  <a:ext uri="{FF2B5EF4-FFF2-40B4-BE49-F238E27FC236}">
                    <a16:creationId xmlns:a16="http://schemas.microsoft.com/office/drawing/2014/main" id="{EEA004BC-A60A-7A45-1487-83D7950AEF9B}"/>
                  </a:ext>
                </a:extLst>
              </p:cNvPr>
              <p:cNvSpPr txBox="1"/>
              <p:nvPr/>
            </p:nvSpPr>
            <p:spPr>
              <a:xfrm>
                <a:off x="2858486" y="5006405"/>
                <a:ext cx="2615403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en-US" altLang="zh-CN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zh-CN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400/24</m:t>
                                  </m:r>
                                </m:e>
                              </m:rad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=4.1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kumimoji="1" lang="en-US" altLang="zh-CN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zh-CN" alt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1389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7" name="虚轴交点">
                <a:extLst>
                  <a:ext uri="{FF2B5EF4-FFF2-40B4-BE49-F238E27FC236}">
                    <a16:creationId xmlns:a16="http://schemas.microsoft.com/office/drawing/2014/main" id="{EEA004BC-A60A-7A45-1487-83D7950A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486" y="5006405"/>
                <a:ext cx="2615403" cy="811761"/>
              </a:xfrm>
              <a:prstGeom prst="rect">
                <a:avLst/>
              </a:prstGeom>
              <a:blipFill>
                <a:blip r:embed="rId26"/>
                <a:stretch>
                  <a:fillRect l="-41063" t="-196875" b="-284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开环传函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/>
              <p:nvPr/>
            </p:nvSpPr>
            <p:spPr>
              <a:xfrm>
                <a:off x="313112" y="831079"/>
                <a:ext cx="4819521" cy="7908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+20)(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4)(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4)</m:t>
                        </m:r>
                      </m:den>
                    </m:f>
                  </m:oMath>
                </a14:m>
                <a:r>
                  <a:rPr lang="en-US" altLang="zh-CN" sz="2800" dirty="0"/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4" name="开环传函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831079"/>
                <a:ext cx="4819521" cy="790858"/>
              </a:xfrm>
              <a:prstGeom prst="rect">
                <a:avLst/>
              </a:prstGeom>
              <a:blipFill>
                <a:blip r:embed="rId27"/>
                <a:stretch>
                  <a:fillRect l="-525"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85B0F150-137D-C17C-11E4-4D984940AFF5}"/>
                  </a:ext>
                </a:extLst>
              </p:cNvPr>
              <p:cNvSpPr txBox="1"/>
              <p:nvPr/>
            </p:nvSpPr>
            <p:spPr>
              <a:xfrm>
                <a:off x="2874481" y="4332563"/>
                <a:ext cx="1638520" cy="647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aln/>
                        </m:rP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−15.1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13881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85B0F150-137D-C17C-11E4-4D984940A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481" y="4332563"/>
                <a:ext cx="1638520" cy="64729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步骤5">
            <a:extLst>
              <a:ext uri="{FF2B5EF4-FFF2-40B4-BE49-F238E27FC236}">
                <a16:creationId xmlns:a16="http://schemas.microsoft.com/office/drawing/2014/main" id="{6D8C0288-7F36-C4D4-B218-9B5503D99E3F}"/>
              </a:ext>
            </a:extLst>
          </p:cNvPr>
          <p:cNvGrpSpPr/>
          <p:nvPr/>
        </p:nvGrpSpPr>
        <p:grpSpPr>
          <a:xfrm>
            <a:off x="214582" y="5035520"/>
            <a:ext cx="2710489" cy="725177"/>
            <a:chOff x="4943078" y="1700704"/>
            <a:chExt cx="2710489" cy="725177"/>
          </a:xfrm>
        </p:grpSpPr>
        <p:sp>
          <p:nvSpPr>
            <p:cNvPr id="89" name="标题">
              <a:extLst>
                <a:ext uri="{FF2B5EF4-FFF2-40B4-BE49-F238E27FC236}">
                  <a16:creationId xmlns:a16="http://schemas.microsoft.com/office/drawing/2014/main" id="{F85502A6-AFDF-A1F7-048A-47BD8B490EED}"/>
                </a:ext>
              </a:extLst>
            </p:cNvPr>
            <p:cNvSpPr/>
            <p:nvPr/>
          </p:nvSpPr>
          <p:spPr bwMode="auto">
            <a:xfrm>
              <a:off x="5403500" y="1779850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虚轴交点</a:t>
              </a:r>
            </a:p>
          </p:txBody>
        </p:sp>
        <p:sp>
          <p:nvSpPr>
            <p:cNvPr id="90" name="序号">
              <a:extLst>
                <a:ext uri="{FF2B5EF4-FFF2-40B4-BE49-F238E27FC236}">
                  <a16:creationId xmlns:a16="http://schemas.microsoft.com/office/drawing/2014/main" id="{53669EF5-DC4C-8310-C6D9-2915DA7C551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93" name="文本框 92">
            <a:extLst>
              <a:ext uri="{FF2B5EF4-FFF2-40B4-BE49-F238E27FC236}">
                <a16:creationId xmlns:a16="http://schemas.microsoft.com/office/drawing/2014/main" id="{E0561B12-8D2C-288C-3CA5-B520BDFD5F5D}"/>
              </a:ext>
            </a:extLst>
          </p:cNvPr>
          <p:cNvSpPr txBox="1"/>
          <p:nvPr/>
        </p:nvSpPr>
        <p:spPr>
          <a:xfrm>
            <a:off x="347437" y="5899326"/>
            <a:ext cx="3659537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稳定的开环增益范围？</a:t>
            </a:r>
          </a:p>
        </p:txBody>
      </p:sp>
    </p:spTree>
    <p:extLst>
      <p:ext uri="{BB962C8B-B14F-4D97-AF65-F5344CB8AC3E}">
        <p14:creationId xmlns:p14="http://schemas.microsoft.com/office/powerpoint/2010/main" val="281039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9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代码框">
            <a:extLst>
              <a:ext uri="{FF2B5EF4-FFF2-40B4-BE49-F238E27FC236}">
                <a16:creationId xmlns:a16="http://schemas.microsoft.com/office/drawing/2014/main" id="{E30AC84A-C284-577C-394C-A140968F5648}"/>
              </a:ext>
            </a:extLst>
          </p:cNvPr>
          <p:cNvGrpSpPr/>
          <p:nvPr/>
        </p:nvGrpSpPr>
        <p:grpSpPr>
          <a:xfrm>
            <a:off x="235858" y="891531"/>
            <a:ext cx="11619988" cy="1596374"/>
            <a:chOff x="2515563" y="3741795"/>
            <a:chExt cx="11619988" cy="1596374"/>
          </a:xfrm>
        </p:grpSpPr>
        <p:sp>
          <p:nvSpPr>
            <p:cNvPr id="3" name="代码">
              <a:extLst>
                <a:ext uri="{FF2B5EF4-FFF2-40B4-BE49-F238E27FC236}">
                  <a16:creationId xmlns:a16="http://schemas.microsoft.com/office/drawing/2014/main" id="{3E6B4089-71AD-B8F2-D14B-03B2B4F61F2A}"/>
                </a:ext>
              </a:extLst>
            </p:cNvPr>
            <p:cNvSpPr txBox="1"/>
            <p:nvPr/>
          </p:nvSpPr>
          <p:spPr>
            <a:xfrm>
              <a:off x="2515563" y="4101629"/>
              <a:ext cx="11619988" cy="123654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800" dirty="0">
                  <a:latin typeface="Menlo" panose="020B0609030804020204" pitchFamily="49" charset="0"/>
                </a:rPr>
                <a:t>G = </a:t>
              </a:r>
              <a:r>
                <a:rPr lang="en" altLang="zh-CN" sz="2800" dirty="0" err="1">
                  <a:latin typeface="Menlo" panose="020B0609030804020204" pitchFamily="49" charset="0"/>
                </a:rPr>
                <a:t>zpk</a:t>
              </a:r>
              <a:r>
                <a:rPr lang="en" altLang="zh-CN" sz="2800" dirty="0">
                  <a:latin typeface="Menlo" panose="020B0609030804020204" pitchFamily="49" charset="0"/>
                </a:rPr>
                <a:t>([],[0,-20,-2-4i,-2+4i],1);</a:t>
              </a:r>
              <a:r>
                <a:rPr lang="en" altLang="zh-CN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零极点法建立开环传函</a:t>
              </a:r>
              <a:endParaRPr lang="zh-CN" altLang="en-US" sz="2800" dirty="0">
                <a:latin typeface="Menlo" panose="020B0609030804020204" pitchFamily="49" charset="0"/>
              </a:endParaRPr>
            </a:p>
            <a:p>
              <a:r>
                <a:rPr lang="en" altLang="zh-CN" sz="2800" dirty="0" err="1">
                  <a:latin typeface="Menlo" panose="020B0609030804020204" pitchFamily="49" charset="0"/>
                </a:rPr>
                <a:t>rlocus</a:t>
              </a:r>
              <a:r>
                <a:rPr lang="en" altLang="zh-CN" sz="2800" dirty="0">
                  <a:latin typeface="Menlo" panose="020B0609030804020204" pitchFamily="49" charset="0"/>
                </a:rPr>
                <a:t>(G) 						</a:t>
              </a:r>
              <a:r>
                <a:rPr lang="en" altLang="zh-CN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绘制根轨迹</a:t>
              </a:r>
              <a:endParaRPr lang="zh-CN" altLang="en-US" sz="2800" dirty="0">
                <a:latin typeface="Menlo" panose="020B0609030804020204" pitchFamily="49" charset="0"/>
              </a:endParaRP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03AF0D6-7312-5E5C-1364-CD19B2B75489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5" name="标题">
            <a:extLst>
              <a:ext uri="{FF2B5EF4-FFF2-40B4-BE49-F238E27FC236}">
                <a16:creationId xmlns:a16="http://schemas.microsoft.com/office/drawing/2014/main" id="{C4BA5FDB-42AD-157C-A585-DC3D955529F5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!!图片 10">
            <a:extLst>
              <a:ext uri="{FF2B5EF4-FFF2-40B4-BE49-F238E27FC236}">
                <a16:creationId xmlns:a16="http://schemas.microsoft.com/office/drawing/2014/main" id="{E7582CA4-EE76-993B-7D67-23AA5EFA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40" y="2810814"/>
            <a:ext cx="4519662" cy="3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2499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代码框">
            <a:extLst>
              <a:ext uri="{FF2B5EF4-FFF2-40B4-BE49-F238E27FC236}">
                <a16:creationId xmlns:a16="http://schemas.microsoft.com/office/drawing/2014/main" id="{E30AC84A-C284-577C-394C-A140968F5648}"/>
              </a:ext>
            </a:extLst>
          </p:cNvPr>
          <p:cNvGrpSpPr/>
          <p:nvPr/>
        </p:nvGrpSpPr>
        <p:grpSpPr>
          <a:xfrm>
            <a:off x="235858" y="891531"/>
            <a:ext cx="11691996" cy="2724134"/>
            <a:chOff x="2515563" y="3741795"/>
            <a:chExt cx="11691996" cy="2724134"/>
          </a:xfrm>
        </p:grpSpPr>
        <p:sp>
          <p:nvSpPr>
            <p:cNvPr id="3" name="代码">
              <a:extLst>
                <a:ext uri="{FF2B5EF4-FFF2-40B4-BE49-F238E27FC236}">
                  <a16:creationId xmlns:a16="http://schemas.microsoft.com/office/drawing/2014/main" id="{3E6B4089-71AD-B8F2-D14B-03B2B4F61F2A}"/>
                </a:ext>
              </a:extLst>
            </p:cNvPr>
            <p:cNvSpPr txBox="1"/>
            <p:nvPr/>
          </p:nvSpPr>
          <p:spPr>
            <a:xfrm>
              <a:off x="2515563" y="4101629"/>
              <a:ext cx="11691996" cy="236430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000" dirty="0">
                  <a:latin typeface="Menlo" panose="020B0609030804020204" pitchFamily="49" charset="0"/>
                </a:rPr>
                <a:t>G = </a:t>
              </a:r>
              <a:r>
                <a:rPr lang="en" altLang="zh-CN" sz="2000" dirty="0" err="1">
                  <a:latin typeface="Menlo" panose="020B0609030804020204" pitchFamily="49" charset="0"/>
                </a:rPr>
                <a:t>zpk</a:t>
              </a:r>
              <a:r>
                <a:rPr lang="en" altLang="zh-CN" sz="2000" dirty="0">
                  <a:latin typeface="Menlo" panose="020B0609030804020204" pitchFamily="49" charset="0"/>
                </a:rPr>
                <a:t>([],[0,-20,-2-4i,-2+4i],600);</a:t>
              </a:r>
              <a:r>
                <a:rPr lang="en" altLang="zh-CN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以选择的根轨迹增益构建新开环传函</a:t>
              </a:r>
              <a:endParaRPr lang="zh-CN" altLang="en-US" sz="2000" dirty="0">
                <a:latin typeface="Menlo" panose="020B0609030804020204" pitchFamily="49" charset="0"/>
              </a:endParaRPr>
            </a:p>
            <a:p>
              <a:r>
                <a:rPr lang="en" altLang="zh-CN" sz="2000" dirty="0">
                  <a:latin typeface="Menlo" panose="020B0609030804020204" pitchFamily="49" charset="0"/>
                </a:rPr>
                <a:t>Phi = feedback(G,1); 			</a:t>
              </a:r>
              <a:r>
                <a:rPr lang="en" altLang="zh-CN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构成单位负反馈系统</a:t>
              </a:r>
              <a:endParaRPr lang="zh-CN" altLang="en-US" sz="2000" dirty="0">
                <a:latin typeface="Menlo" panose="020B0609030804020204" pitchFamily="49" charset="0"/>
              </a:endParaRPr>
            </a:p>
            <a:p>
              <a:r>
                <a:rPr lang="en-US" altLang="zh-CN" sz="2000" dirty="0">
                  <a:latin typeface="Menlo" panose="020B0609030804020204" pitchFamily="49" charset="0"/>
                </a:rPr>
                <a:t>[</a:t>
              </a:r>
              <a:r>
                <a:rPr lang="en" altLang="zh-CN" sz="2000" dirty="0" err="1">
                  <a:latin typeface="Menlo" panose="020B0609030804020204" pitchFamily="49" charset="0"/>
                </a:rPr>
                <a:t>y,t</a:t>
              </a:r>
              <a:r>
                <a:rPr lang="en" altLang="zh-CN" sz="2000" dirty="0">
                  <a:latin typeface="Menlo" panose="020B0609030804020204" pitchFamily="49" charset="0"/>
                </a:rPr>
                <a:t>] = step(Phi,10); 			</a:t>
              </a:r>
              <a:r>
                <a:rPr lang="en" altLang="zh-CN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阶跃响应</a:t>
              </a:r>
              <a:endParaRPr lang="zh-CN" altLang="en-US" sz="2000" dirty="0">
                <a:latin typeface="Menlo" panose="020B0609030804020204" pitchFamily="49" charset="0"/>
              </a:endParaRPr>
            </a:p>
            <a:p>
              <a:r>
                <a:rPr lang="en" altLang="zh-CN" sz="2000" dirty="0">
                  <a:latin typeface="Menlo" panose="020B0609030804020204" pitchFamily="49" charset="0"/>
                </a:rPr>
                <a:t>plot(t,y,</a:t>
              </a:r>
              <a:r>
                <a:rPr lang="en" altLang="zh-CN" sz="2000" dirty="0">
                  <a:solidFill>
                    <a:srgbClr val="AA04F9"/>
                  </a:solidFill>
                  <a:latin typeface="Menlo" panose="020B0609030804020204" pitchFamily="49" charset="0"/>
                </a:rPr>
                <a:t>'LineWidth'</a:t>
              </a:r>
              <a:r>
                <a:rPr lang="en" altLang="zh-CN" sz="2000" dirty="0">
                  <a:latin typeface="Menlo" panose="020B0609030804020204" pitchFamily="49" charset="0"/>
                </a:rPr>
                <a:t>,2); 		</a:t>
              </a:r>
              <a:r>
                <a:rPr lang="en" altLang="zh-CN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绘图</a:t>
              </a:r>
              <a:endParaRPr lang="zh-CN" altLang="en-US" sz="2000" dirty="0">
                <a:latin typeface="Menlo" panose="020B0609030804020204" pitchFamily="49" charset="0"/>
              </a:endParaRPr>
            </a:p>
            <a:p>
              <a:r>
                <a:rPr lang="en" altLang="zh-CN" sz="2000" dirty="0" err="1">
                  <a:latin typeface="Menlo" panose="020B0609030804020204" pitchFamily="49" charset="0"/>
                </a:rPr>
                <a:t>xlabel</a:t>
              </a:r>
              <a:r>
                <a:rPr lang="en" altLang="zh-CN" sz="2000" dirty="0">
                  <a:latin typeface="Menlo" panose="020B0609030804020204" pitchFamily="49" charset="0"/>
                </a:rPr>
                <a:t>(</a:t>
              </a:r>
              <a:r>
                <a:rPr lang="en" altLang="zh-CN" sz="2000" dirty="0">
                  <a:solidFill>
                    <a:srgbClr val="AA04F9"/>
                  </a:solidFill>
                  <a:latin typeface="Menlo" panose="020B0609030804020204" pitchFamily="49" charset="0"/>
                </a:rPr>
                <a:t>'Time (seconds)'</a:t>
              </a:r>
              <a:r>
                <a:rPr lang="en" altLang="zh-CN" sz="2000" dirty="0"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sz="2000" dirty="0" err="1">
                  <a:latin typeface="Menlo" panose="020B0609030804020204" pitchFamily="49" charset="0"/>
                </a:rPr>
                <a:t>ylabel</a:t>
              </a:r>
              <a:r>
                <a:rPr lang="en" altLang="zh-CN" sz="2000" dirty="0">
                  <a:latin typeface="Menlo" panose="020B0609030804020204" pitchFamily="49" charset="0"/>
                </a:rPr>
                <a:t>(</a:t>
              </a:r>
              <a:r>
                <a:rPr lang="en" altLang="zh-CN" sz="2000" dirty="0">
                  <a:solidFill>
                    <a:srgbClr val="AA04F9"/>
                  </a:solidFill>
                  <a:latin typeface="Menlo" panose="020B0609030804020204" pitchFamily="49" charset="0"/>
                </a:rPr>
                <a:t>'Amplitude'</a:t>
              </a:r>
              <a:r>
                <a:rPr lang="en" altLang="zh-CN" sz="2000" dirty="0">
                  <a:latin typeface="Menlo" panose="020B0609030804020204" pitchFamily="49" charset="0"/>
                </a:rPr>
                <a:t>)</a:t>
              </a: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03AF0D6-7312-5E5C-1364-CD19B2B75489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5" name="标题">
            <a:extLst>
              <a:ext uri="{FF2B5EF4-FFF2-40B4-BE49-F238E27FC236}">
                <a16:creationId xmlns:a16="http://schemas.microsoft.com/office/drawing/2014/main" id="{C4BA5FDB-42AD-157C-A585-DC3D955529F5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!!图片 10">
            <a:extLst>
              <a:ext uri="{FF2B5EF4-FFF2-40B4-BE49-F238E27FC236}">
                <a16:creationId xmlns:a16="http://schemas.microsoft.com/office/drawing/2014/main" id="{E7582CA4-EE76-993B-7D67-23AA5EFA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185" y="3674155"/>
            <a:ext cx="3744416" cy="30199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6380BBA-F442-9DE4-4989-F648346B4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614" y="3811113"/>
            <a:ext cx="3574600" cy="288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4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代码框">
            <a:extLst>
              <a:ext uri="{FF2B5EF4-FFF2-40B4-BE49-F238E27FC236}">
                <a16:creationId xmlns:a16="http://schemas.microsoft.com/office/drawing/2014/main" id="{E30AC84A-C284-577C-394C-A140968F5648}"/>
              </a:ext>
            </a:extLst>
          </p:cNvPr>
          <p:cNvGrpSpPr/>
          <p:nvPr/>
        </p:nvGrpSpPr>
        <p:grpSpPr>
          <a:xfrm>
            <a:off x="235858" y="891531"/>
            <a:ext cx="11691996" cy="2724134"/>
            <a:chOff x="2515563" y="3741795"/>
            <a:chExt cx="11691996" cy="2724134"/>
          </a:xfrm>
        </p:grpSpPr>
        <p:sp>
          <p:nvSpPr>
            <p:cNvPr id="3" name="代码">
              <a:extLst>
                <a:ext uri="{FF2B5EF4-FFF2-40B4-BE49-F238E27FC236}">
                  <a16:creationId xmlns:a16="http://schemas.microsoft.com/office/drawing/2014/main" id="{3E6B4089-71AD-B8F2-D14B-03B2B4F61F2A}"/>
                </a:ext>
              </a:extLst>
            </p:cNvPr>
            <p:cNvSpPr txBox="1"/>
            <p:nvPr/>
          </p:nvSpPr>
          <p:spPr>
            <a:xfrm>
              <a:off x="2515563" y="4101629"/>
              <a:ext cx="11691996" cy="236430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000" dirty="0">
                  <a:latin typeface="Menlo" panose="020B0609030804020204" pitchFamily="49" charset="0"/>
                </a:rPr>
                <a:t>G = </a:t>
              </a:r>
              <a:r>
                <a:rPr lang="en" altLang="zh-CN" sz="2000" dirty="0" err="1">
                  <a:latin typeface="Menlo" panose="020B0609030804020204" pitchFamily="49" charset="0"/>
                </a:rPr>
                <a:t>zpk</a:t>
              </a:r>
              <a:r>
                <a:rPr lang="en" altLang="zh-CN" sz="2000" dirty="0">
                  <a:latin typeface="Menlo" panose="020B0609030804020204" pitchFamily="49" charset="0"/>
                </a:rPr>
                <a:t>([],[0,-20,-2-4i,-2+4i],600);</a:t>
              </a:r>
              <a:r>
                <a:rPr lang="en" altLang="zh-CN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以选择的根轨迹增益构建新开环传函</a:t>
              </a:r>
              <a:endParaRPr lang="zh-CN" altLang="en-US" sz="2000" dirty="0">
                <a:latin typeface="Menlo" panose="020B0609030804020204" pitchFamily="49" charset="0"/>
              </a:endParaRPr>
            </a:p>
            <a:p>
              <a:r>
                <a:rPr lang="en" altLang="zh-CN" sz="2000" dirty="0">
                  <a:latin typeface="Menlo" panose="020B0609030804020204" pitchFamily="49" charset="0"/>
                </a:rPr>
                <a:t>Phi = feedback(G,1); 			</a:t>
              </a:r>
              <a:r>
                <a:rPr lang="en" altLang="zh-CN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构成单位负反馈系统</a:t>
              </a:r>
              <a:endParaRPr lang="zh-CN" altLang="en-US" sz="2000" dirty="0">
                <a:latin typeface="Menlo" panose="020B0609030804020204" pitchFamily="49" charset="0"/>
              </a:endParaRPr>
            </a:p>
            <a:p>
              <a:r>
                <a:rPr lang="en-US" altLang="zh-CN" sz="2000" dirty="0">
                  <a:latin typeface="Menlo" panose="020B0609030804020204" pitchFamily="49" charset="0"/>
                </a:rPr>
                <a:t>[</a:t>
              </a:r>
              <a:r>
                <a:rPr lang="en" altLang="zh-CN" sz="2000" dirty="0" err="1">
                  <a:latin typeface="Menlo" panose="020B0609030804020204" pitchFamily="49" charset="0"/>
                </a:rPr>
                <a:t>y,t</a:t>
              </a:r>
              <a:r>
                <a:rPr lang="en" altLang="zh-CN" sz="2000" dirty="0">
                  <a:latin typeface="Menlo" panose="020B0609030804020204" pitchFamily="49" charset="0"/>
                </a:rPr>
                <a:t>] = step(Phi,10); 			</a:t>
              </a:r>
              <a:r>
                <a:rPr lang="en" altLang="zh-CN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阶跃响应</a:t>
              </a:r>
              <a:endParaRPr lang="zh-CN" altLang="en-US" sz="2000" dirty="0">
                <a:latin typeface="Menlo" panose="020B0609030804020204" pitchFamily="49" charset="0"/>
              </a:endParaRPr>
            </a:p>
            <a:p>
              <a:r>
                <a:rPr lang="en" altLang="zh-CN" sz="2000" dirty="0">
                  <a:latin typeface="Menlo" panose="020B0609030804020204" pitchFamily="49" charset="0"/>
                </a:rPr>
                <a:t>plot(t,y,</a:t>
              </a:r>
              <a:r>
                <a:rPr lang="en" altLang="zh-CN" sz="2000" dirty="0">
                  <a:solidFill>
                    <a:srgbClr val="AA04F9"/>
                  </a:solidFill>
                  <a:latin typeface="Menlo" panose="020B0609030804020204" pitchFamily="49" charset="0"/>
                </a:rPr>
                <a:t>'LineWidth'</a:t>
              </a:r>
              <a:r>
                <a:rPr lang="en" altLang="zh-CN" sz="2000" dirty="0">
                  <a:latin typeface="Menlo" panose="020B0609030804020204" pitchFamily="49" charset="0"/>
                </a:rPr>
                <a:t>,2); 		</a:t>
              </a:r>
              <a:r>
                <a:rPr lang="en" altLang="zh-CN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000" dirty="0">
                  <a:solidFill>
                    <a:srgbClr val="028009"/>
                  </a:solidFill>
                  <a:latin typeface="Menlo" panose="020B0609030804020204" pitchFamily="49" charset="0"/>
                </a:rPr>
                <a:t>绘图</a:t>
              </a:r>
              <a:endParaRPr lang="zh-CN" altLang="en-US" sz="2000" dirty="0">
                <a:latin typeface="Menlo" panose="020B0609030804020204" pitchFamily="49" charset="0"/>
              </a:endParaRPr>
            </a:p>
            <a:p>
              <a:r>
                <a:rPr lang="en" altLang="zh-CN" sz="2000" dirty="0" err="1">
                  <a:latin typeface="Menlo" panose="020B0609030804020204" pitchFamily="49" charset="0"/>
                </a:rPr>
                <a:t>xlabel</a:t>
              </a:r>
              <a:r>
                <a:rPr lang="en" altLang="zh-CN" sz="2000" dirty="0">
                  <a:latin typeface="Menlo" panose="020B0609030804020204" pitchFamily="49" charset="0"/>
                </a:rPr>
                <a:t>(</a:t>
              </a:r>
              <a:r>
                <a:rPr lang="en" altLang="zh-CN" sz="2000" dirty="0">
                  <a:solidFill>
                    <a:srgbClr val="AA04F9"/>
                  </a:solidFill>
                  <a:latin typeface="Menlo" panose="020B0609030804020204" pitchFamily="49" charset="0"/>
                </a:rPr>
                <a:t>'Time (seconds)'</a:t>
              </a:r>
              <a:r>
                <a:rPr lang="en" altLang="zh-CN" sz="2000" dirty="0"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sz="2000" dirty="0" err="1">
                  <a:latin typeface="Menlo" panose="020B0609030804020204" pitchFamily="49" charset="0"/>
                </a:rPr>
                <a:t>ylabel</a:t>
              </a:r>
              <a:r>
                <a:rPr lang="en" altLang="zh-CN" sz="2000" dirty="0">
                  <a:latin typeface="Menlo" panose="020B0609030804020204" pitchFamily="49" charset="0"/>
                </a:rPr>
                <a:t>(</a:t>
              </a:r>
              <a:r>
                <a:rPr lang="en" altLang="zh-CN" sz="2000" dirty="0">
                  <a:solidFill>
                    <a:srgbClr val="AA04F9"/>
                  </a:solidFill>
                  <a:latin typeface="Menlo" panose="020B0609030804020204" pitchFamily="49" charset="0"/>
                </a:rPr>
                <a:t>'Amplitude'</a:t>
              </a:r>
              <a:r>
                <a:rPr lang="en" altLang="zh-CN" sz="2000" dirty="0">
                  <a:latin typeface="Menlo" panose="020B0609030804020204" pitchFamily="49" charset="0"/>
                </a:rPr>
                <a:t>)</a:t>
              </a: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C03AF0D6-7312-5E5C-1364-CD19B2B75489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5" name="标题">
            <a:extLst>
              <a:ext uri="{FF2B5EF4-FFF2-40B4-BE49-F238E27FC236}">
                <a16:creationId xmlns:a16="http://schemas.microsoft.com/office/drawing/2014/main" id="{C4BA5FDB-42AD-157C-A585-DC3D955529F5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!!图片 10">
            <a:extLst>
              <a:ext uri="{FF2B5EF4-FFF2-40B4-BE49-F238E27FC236}">
                <a16:creationId xmlns:a16="http://schemas.microsoft.com/office/drawing/2014/main" id="{E7582CA4-EE76-993B-7D67-23AA5EFA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62" y="3742634"/>
            <a:ext cx="3744416" cy="30199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6380BBA-F442-9DE4-4989-F648346B4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5363" y="3879592"/>
            <a:ext cx="3574600" cy="2882950"/>
          </a:xfrm>
          <a:prstGeom prst="rect">
            <a:avLst/>
          </a:prstGeom>
        </p:spPr>
      </p:pic>
      <p:grpSp>
        <p:nvGrpSpPr>
          <p:cNvPr id="8" name="问题">
            <a:extLst>
              <a:ext uri="{FF2B5EF4-FFF2-40B4-BE49-F238E27FC236}">
                <a16:creationId xmlns:a16="http://schemas.microsoft.com/office/drawing/2014/main" id="{4E673E92-AA89-5C92-BB28-AAB614D85E15}"/>
              </a:ext>
            </a:extLst>
          </p:cNvPr>
          <p:cNvGrpSpPr/>
          <p:nvPr/>
        </p:nvGrpSpPr>
        <p:grpSpPr>
          <a:xfrm>
            <a:off x="4150990" y="4344647"/>
            <a:ext cx="4266469" cy="1815882"/>
            <a:chOff x="5348307" y="5071060"/>
            <a:chExt cx="4266469" cy="1815882"/>
          </a:xfrm>
        </p:grpSpPr>
        <p:sp>
          <p:nvSpPr>
            <p:cNvPr id="9" name="问号">
              <a:extLst>
                <a:ext uri="{FF2B5EF4-FFF2-40B4-BE49-F238E27FC236}">
                  <a16:creationId xmlns:a16="http://schemas.microsoft.com/office/drawing/2014/main" id="{0C0A60D3-567B-C746-E784-7ACD6FA2D08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0" name="文本">
              <a:extLst>
                <a:ext uri="{FF2B5EF4-FFF2-40B4-BE49-F238E27FC236}">
                  <a16:creationId xmlns:a16="http://schemas.microsoft.com/office/drawing/2014/main" id="{2358AF1D-773F-BDA0-C7F5-78A23BBB4373}"/>
                </a:ext>
              </a:extLst>
            </p:cNvPr>
            <p:cNvSpPr txBox="1"/>
            <p:nvPr/>
          </p:nvSpPr>
          <p:spPr>
            <a:xfrm>
              <a:off x="6338697" y="5071060"/>
              <a:ext cx="3276079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为什么选定极点的阻尼只有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0.263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，单位阶跃响应却没有出现较大的超调呢？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1233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坐标轴">
            <a:extLst>
              <a:ext uri="{FF2B5EF4-FFF2-40B4-BE49-F238E27FC236}">
                <a16:creationId xmlns:a16="http://schemas.microsoft.com/office/drawing/2014/main" id="{78ADC401-5AC9-4286-02E9-8EECE83768B5}"/>
              </a:ext>
            </a:extLst>
          </p:cNvPr>
          <p:cNvGrpSpPr/>
          <p:nvPr/>
        </p:nvGrpSpPr>
        <p:grpSpPr>
          <a:xfrm>
            <a:off x="7894638" y="1772816"/>
            <a:ext cx="3958444" cy="4608512"/>
            <a:chOff x="7905396" y="1050948"/>
            <a:chExt cx="3958444" cy="4608512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7905396" y="3427857"/>
              <a:ext cx="3958444" cy="1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4027" y="1050948"/>
              <a:ext cx="9828" cy="46085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ytick1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ytick-1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tick-2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ytick2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xtixk-1">
              <a:extLst>
                <a:ext uri="{FF2B5EF4-FFF2-40B4-BE49-F238E27FC236}">
                  <a16:creationId xmlns:a16="http://schemas.microsoft.com/office/drawing/2014/main" id="{AEBBED5C-227A-256A-9403-3EB96EFC8A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xtixk-2">
              <a:extLst>
                <a:ext uri="{FF2B5EF4-FFF2-40B4-BE49-F238E27FC236}">
                  <a16:creationId xmlns:a16="http://schemas.microsoft.com/office/drawing/2014/main" id="{CE84F53D-5D41-22E7-FC5B-C4179606D9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xtixk1">
              <a:extLst>
                <a:ext uri="{FF2B5EF4-FFF2-40B4-BE49-F238E27FC236}">
                  <a16:creationId xmlns:a16="http://schemas.microsoft.com/office/drawing/2014/main" id="{2BFF7E53-2FB1-BF80-10D5-72BC64EA00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xtixk2">
              <a:extLst>
                <a:ext uri="{FF2B5EF4-FFF2-40B4-BE49-F238E27FC236}">
                  <a16:creationId xmlns:a16="http://schemas.microsoft.com/office/drawing/2014/main" id="{7C4887B3-F262-E201-24C8-AAF0A716D4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7" name="辅助线1">
            <a:extLst>
              <a:ext uri="{FF2B5EF4-FFF2-40B4-BE49-F238E27FC236}">
                <a16:creationId xmlns:a16="http://schemas.microsoft.com/office/drawing/2014/main" id="{C83BE1C9-AD46-4798-176B-FEC2E314D79A}"/>
              </a:ext>
            </a:extLst>
          </p:cNvPr>
          <p:cNvCxnSpPr>
            <a:cxnSpLocks/>
          </p:cNvCxnSpPr>
          <p:nvPr/>
        </p:nvCxnSpPr>
        <p:spPr>
          <a:xfrm flipH="1" flipV="1">
            <a:off x="10057862" y="2908033"/>
            <a:ext cx="1230" cy="246935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辅助线2">
            <a:extLst>
              <a:ext uri="{FF2B5EF4-FFF2-40B4-BE49-F238E27FC236}">
                <a16:creationId xmlns:a16="http://schemas.microsoft.com/office/drawing/2014/main" id="{7DF0AE6C-3CB2-ACEC-5DB5-2691B0821F00}"/>
              </a:ext>
            </a:extLst>
          </p:cNvPr>
          <p:cNvCxnSpPr>
            <a:cxnSpLocks/>
            <a:stCxn id="89" idx="1"/>
          </p:cNvCxnSpPr>
          <p:nvPr/>
        </p:nvCxnSpPr>
        <p:spPr>
          <a:xfrm flipH="1" flipV="1">
            <a:off x="10071326" y="2909502"/>
            <a:ext cx="273399" cy="11706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辅助线3">
            <a:extLst>
              <a:ext uri="{FF2B5EF4-FFF2-40B4-BE49-F238E27FC236}">
                <a16:creationId xmlns:a16="http://schemas.microsoft.com/office/drawing/2014/main" id="{2A82E1F0-13AF-0E7B-4115-68487C8626DE}"/>
              </a:ext>
            </a:extLst>
          </p:cNvPr>
          <p:cNvCxnSpPr>
            <a:cxnSpLocks/>
            <a:stCxn id="91" idx="2"/>
          </p:cNvCxnSpPr>
          <p:nvPr/>
        </p:nvCxnSpPr>
        <p:spPr>
          <a:xfrm flipH="1" flipV="1">
            <a:off x="10061429" y="2909735"/>
            <a:ext cx="781625" cy="131683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辅助线4">
            <a:extLst>
              <a:ext uri="{FF2B5EF4-FFF2-40B4-BE49-F238E27FC236}">
                <a16:creationId xmlns:a16="http://schemas.microsoft.com/office/drawing/2014/main" id="{4E4E23FE-4418-8F59-9150-E47942D9646F}"/>
              </a:ext>
            </a:extLst>
          </p:cNvPr>
          <p:cNvCxnSpPr>
            <a:cxnSpLocks/>
            <a:stCxn id="92" idx="2"/>
          </p:cNvCxnSpPr>
          <p:nvPr/>
        </p:nvCxnSpPr>
        <p:spPr>
          <a:xfrm flipH="1" flipV="1">
            <a:off x="10062248" y="2901902"/>
            <a:ext cx="1238573" cy="132466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零极点">
            <a:extLst>
              <a:ext uri="{FF2B5EF4-FFF2-40B4-BE49-F238E27FC236}">
                <a16:creationId xmlns:a16="http://schemas.microsoft.com/office/drawing/2014/main" id="{22D39EC7-0652-EF01-CAC9-43ED4E8B07A2}"/>
              </a:ext>
            </a:extLst>
          </p:cNvPr>
          <p:cNvGrpSpPr/>
          <p:nvPr/>
        </p:nvGrpSpPr>
        <p:grpSpPr>
          <a:xfrm>
            <a:off x="9913846" y="2759569"/>
            <a:ext cx="1456153" cy="2803304"/>
            <a:chOff x="9913846" y="2759569"/>
            <a:chExt cx="1456153" cy="2803304"/>
          </a:xfrm>
        </p:grpSpPr>
        <p:sp>
          <p:nvSpPr>
            <p:cNvPr id="89" name="零点">
              <a:extLst>
                <a:ext uri="{FF2B5EF4-FFF2-40B4-BE49-F238E27FC236}">
                  <a16:creationId xmlns:a16="http://schemas.microsoft.com/office/drawing/2014/main" id="{8CF3FF96-D414-8298-4EA5-320C31143932}"/>
                </a:ext>
              </a:extLst>
            </p:cNvPr>
            <p:cNvSpPr/>
            <p:nvPr/>
          </p:nvSpPr>
          <p:spPr>
            <a:xfrm>
              <a:off x="10313093" y="4048545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极点3">
              <a:extLst>
                <a:ext uri="{FF2B5EF4-FFF2-40B4-BE49-F238E27FC236}">
                  <a16:creationId xmlns:a16="http://schemas.microsoft.com/office/drawing/2014/main" id="{5FCC0545-F905-1DB6-5AE8-AC325993CD6E}"/>
                </a:ext>
              </a:extLst>
            </p:cNvPr>
            <p:cNvSpPr/>
            <p:nvPr/>
          </p:nvSpPr>
          <p:spPr>
            <a:xfrm>
              <a:off x="9913846" y="275956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1" name="极点4">
              <a:extLst>
                <a:ext uri="{FF2B5EF4-FFF2-40B4-BE49-F238E27FC236}">
                  <a16:creationId xmlns:a16="http://schemas.microsoft.com/office/drawing/2014/main" id="{935D1F8A-1FDF-DDF5-6A66-6645E169FAF2}"/>
                </a:ext>
              </a:extLst>
            </p:cNvPr>
            <p:cNvSpPr/>
            <p:nvPr/>
          </p:nvSpPr>
          <p:spPr>
            <a:xfrm>
              <a:off x="9913846" y="527484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1" name="极点1">
              <a:extLst>
                <a:ext uri="{FF2B5EF4-FFF2-40B4-BE49-F238E27FC236}">
                  <a16:creationId xmlns:a16="http://schemas.microsoft.com/office/drawing/2014/main" id="{4FD9D290-D370-609A-AC3C-1AC7390FD6FF}"/>
                </a:ext>
              </a:extLst>
            </p:cNvPr>
            <p:cNvSpPr/>
            <p:nvPr/>
          </p:nvSpPr>
          <p:spPr>
            <a:xfrm>
              <a:off x="10624200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2" name="极点2">
              <a:extLst>
                <a:ext uri="{FF2B5EF4-FFF2-40B4-BE49-F238E27FC236}">
                  <a16:creationId xmlns:a16="http://schemas.microsoft.com/office/drawing/2014/main" id="{615AC79C-A8F1-0EF7-B0A8-A09D101F2DA6}"/>
                </a:ext>
              </a:extLst>
            </p:cNvPr>
            <p:cNvSpPr/>
            <p:nvPr/>
          </p:nvSpPr>
          <p:spPr>
            <a:xfrm>
              <a:off x="11081967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136" name="渐近线1">
            <a:extLst>
              <a:ext uri="{FF2B5EF4-FFF2-40B4-BE49-F238E27FC236}">
                <a16:creationId xmlns:a16="http://schemas.microsoft.com/office/drawing/2014/main" id="{AD344A82-8AD0-3280-EDA9-83978BAF4E2A}"/>
              </a:ext>
            </a:extLst>
          </p:cNvPr>
          <p:cNvCxnSpPr>
            <a:cxnSpLocks/>
            <a:endCxn id="89" idx="6"/>
          </p:cNvCxnSpPr>
          <p:nvPr/>
        </p:nvCxnSpPr>
        <p:spPr>
          <a:xfrm flipH="1" flipV="1">
            <a:off x="10529093" y="4156545"/>
            <a:ext cx="982658" cy="144491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渐近线2">
            <a:extLst>
              <a:ext uri="{FF2B5EF4-FFF2-40B4-BE49-F238E27FC236}">
                <a16:creationId xmlns:a16="http://schemas.microsoft.com/office/drawing/2014/main" id="{CABE4BCD-31BC-A0E3-BF4D-20DDA6E4CC60}"/>
              </a:ext>
            </a:extLst>
          </p:cNvPr>
          <p:cNvCxnSpPr>
            <a:cxnSpLocks/>
            <a:endCxn id="89" idx="6"/>
          </p:cNvCxnSpPr>
          <p:nvPr/>
        </p:nvCxnSpPr>
        <p:spPr>
          <a:xfrm flipH="1">
            <a:off x="10529093" y="2705965"/>
            <a:ext cx="986699" cy="14505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实轴根轨迹1">
            <a:extLst>
              <a:ext uri="{FF2B5EF4-FFF2-40B4-BE49-F238E27FC236}">
                <a16:creationId xmlns:a16="http://schemas.microsoft.com/office/drawing/2014/main" id="{C36D2C56-68DA-7C4D-1D8B-F336E443A2F9}"/>
              </a:ext>
            </a:extLst>
          </p:cNvPr>
          <p:cNvCxnSpPr>
            <a:cxnSpLocks/>
          </p:cNvCxnSpPr>
          <p:nvPr/>
        </p:nvCxnSpPr>
        <p:spPr>
          <a:xfrm flipH="1">
            <a:off x="10773895" y="4149725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实轴根轨迹2">
            <a:extLst>
              <a:ext uri="{FF2B5EF4-FFF2-40B4-BE49-F238E27FC236}">
                <a16:creationId xmlns:a16="http://schemas.microsoft.com/office/drawing/2014/main" id="{F3802E55-6914-DEFF-E87F-67B8D143AB98}"/>
              </a:ext>
            </a:extLst>
          </p:cNvPr>
          <p:cNvCxnSpPr>
            <a:cxnSpLocks/>
            <a:stCxn id="89" idx="2"/>
          </p:cNvCxnSpPr>
          <p:nvPr/>
        </p:nvCxnSpPr>
        <p:spPr>
          <a:xfrm flipH="1" flipV="1">
            <a:off x="7204540" y="4149725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分离点">
            <a:extLst>
              <a:ext uri="{FF2B5EF4-FFF2-40B4-BE49-F238E27FC236}">
                <a16:creationId xmlns:a16="http://schemas.microsoft.com/office/drawing/2014/main" id="{9472A301-439F-C66F-BB31-FFE94083D78B}"/>
              </a:ext>
            </a:extLst>
          </p:cNvPr>
          <p:cNvGrpSpPr/>
          <p:nvPr/>
        </p:nvGrpSpPr>
        <p:grpSpPr>
          <a:xfrm>
            <a:off x="9489607" y="3534934"/>
            <a:ext cx="2034559" cy="670025"/>
            <a:chOff x="9489607" y="3534934"/>
            <a:chExt cx="2034559" cy="670025"/>
          </a:xfrm>
        </p:grpSpPr>
        <p:sp>
          <p:nvSpPr>
            <p:cNvPr id="95" name="分离点1">
              <a:extLst>
                <a:ext uri="{FF2B5EF4-FFF2-40B4-BE49-F238E27FC236}">
                  <a16:creationId xmlns:a16="http://schemas.microsoft.com/office/drawing/2014/main" id="{CF7390F7-4A08-4F31-6FE4-D362D39E6118}"/>
                </a:ext>
              </a:extLst>
            </p:cNvPr>
            <p:cNvSpPr/>
            <p:nvPr/>
          </p:nvSpPr>
          <p:spPr>
            <a:xfrm>
              <a:off x="10944981" y="4108037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分离点2">
              <a:extLst>
                <a:ext uri="{FF2B5EF4-FFF2-40B4-BE49-F238E27FC236}">
                  <a16:creationId xmlns:a16="http://schemas.microsoft.com/office/drawing/2014/main" id="{1C882218-F0D4-7CDC-E008-6C852FCCE883}"/>
                </a:ext>
              </a:extLst>
            </p:cNvPr>
            <p:cNvSpPr/>
            <p:nvPr/>
          </p:nvSpPr>
          <p:spPr>
            <a:xfrm>
              <a:off x="9800184" y="4113265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/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/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143" r="-2381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出射角绘图">
            <a:extLst>
              <a:ext uri="{FF2B5EF4-FFF2-40B4-BE49-F238E27FC236}">
                <a16:creationId xmlns:a16="http://schemas.microsoft.com/office/drawing/2014/main" id="{4D4EEC4A-7970-B302-93E0-73B534459DA4}"/>
              </a:ext>
            </a:extLst>
          </p:cNvPr>
          <p:cNvGrpSpPr/>
          <p:nvPr/>
        </p:nvGrpSpPr>
        <p:grpSpPr>
          <a:xfrm>
            <a:off x="8859983" y="2356830"/>
            <a:ext cx="1929978" cy="905475"/>
            <a:chOff x="9231324" y="2866066"/>
            <a:chExt cx="1929978" cy="905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/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=−54.9°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307" r="-13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量角器">
              <a:extLst>
                <a:ext uri="{FF2B5EF4-FFF2-40B4-BE49-F238E27FC236}">
                  <a16:creationId xmlns:a16="http://schemas.microsoft.com/office/drawing/2014/main" id="{389BBAA8-1AD4-D79B-8DF2-DB4DEE81EB53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88396"/>
              <a:chOff x="10197602" y="3183145"/>
              <a:chExt cx="592627" cy="588396"/>
            </a:xfrm>
          </p:grpSpPr>
          <p:cxnSp>
            <p:nvCxnSpPr>
              <p:cNvPr id="21" name="角度2">
                <a:extLst>
                  <a:ext uri="{FF2B5EF4-FFF2-40B4-BE49-F238E27FC236}">
                    <a16:creationId xmlns:a16="http://schemas.microsoft.com/office/drawing/2014/main" id="{2E920C8B-DC4C-1E5A-2583-7308CE8EBDE4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角度1">
                <a:extLst>
                  <a:ext uri="{FF2B5EF4-FFF2-40B4-BE49-F238E27FC236}">
                    <a16:creationId xmlns:a16="http://schemas.microsoft.com/office/drawing/2014/main" id="{D677F919-E4CB-4F58-8DE6-E403C57A5C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04634" cy="349926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角度弧">
                <a:extLst>
                  <a:ext uri="{FF2B5EF4-FFF2-40B4-BE49-F238E27FC236}">
                    <a16:creationId xmlns:a16="http://schemas.microsoft.com/office/drawing/2014/main" id="{9C8C85D7-B2C7-443B-6DF8-013C4890AA0B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3358980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313112" y="1486318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/16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1486318"/>
                <a:ext cx="2088232" cy="523220"/>
              </a:xfrm>
              <a:prstGeom prst="rect">
                <a:avLst/>
              </a:prstGeom>
              <a:blipFill>
                <a:blip r:embed="rId1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方框图">
            <a:extLst>
              <a:ext uri="{FF2B5EF4-FFF2-40B4-BE49-F238E27FC236}">
                <a16:creationId xmlns:a16="http://schemas.microsoft.com/office/drawing/2014/main" id="{A40420FE-AEC0-2D1D-8008-0295664A3E3D}"/>
              </a:ext>
            </a:extLst>
          </p:cNvPr>
          <p:cNvGrpSpPr/>
          <p:nvPr/>
        </p:nvGrpSpPr>
        <p:grpSpPr>
          <a:xfrm>
            <a:off x="6095206" y="190901"/>
            <a:ext cx="5399882" cy="954732"/>
            <a:chOff x="7610417" y="260648"/>
            <a:chExt cx="5399882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 (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+16)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blipFill>
                  <a:blip r:embed="rId17"/>
                  <a:stretch>
                    <a:fillRect b="-615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12010870" y="783868"/>
              <a:ext cx="999429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1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10424237" y="-1118678"/>
              <a:ext cx="144000" cy="3949093"/>
            </a:xfrm>
            <a:prstGeom prst="bentConnector3">
              <a:avLst>
                <a:gd name="adj1" fmla="val 42631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>
              <a:off x="8665690" y="783868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/>
              <p:nvPr/>
            </p:nvSpPr>
            <p:spPr>
              <a:xfrm>
                <a:off x="3093971" y="2029021"/>
                <a:ext cx="27852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−∞,−1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971" y="2029021"/>
                <a:ext cx="2785211" cy="523220"/>
              </a:xfrm>
              <a:prstGeom prst="rect">
                <a:avLst/>
              </a:prstGeom>
              <a:blipFill>
                <a:blip r:embed="rId22"/>
                <a:stretch>
                  <a:fillRect r="-2273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/>
              <p:nvPr/>
            </p:nvSpPr>
            <p:spPr>
              <a:xfrm>
                <a:off x="2973358" y="3704855"/>
                <a:ext cx="40331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=106.1°−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90°+120°+130.9°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+180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−54.9°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358" y="3704855"/>
                <a:ext cx="4033121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76666" y="1972054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5" name="步骤2">
            <a:extLst>
              <a:ext uri="{FF2B5EF4-FFF2-40B4-BE49-F238E27FC236}">
                <a16:creationId xmlns:a16="http://schemas.microsoft.com/office/drawing/2014/main" id="{A42A4B37-8B24-03D9-009F-D735AD88A73A}"/>
              </a:ext>
            </a:extLst>
          </p:cNvPr>
          <p:cNvGrpSpPr/>
          <p:nvPr/>
        </p:nvGrpSpPr>
        <p:grpSpPr>
          <a:xfrm>
            <a:off x="276666" y="2809757"/>
            <a:ext cx="2682119" cy="725177"/>
            <a:chOff x="4943078" y="1700704"/>
            <a:chExt cx="2682119" cy="725177"/>
          </a:xfrm>
        </p:grpSpPr>
        <p:sp>
          <p:nvSpPr>
            <p:cNvPr id="116" name="标题">
              <a:extLst>
                <a:ext uri="{FF2B5EF4-FFF2-40B4-BE49-F238E27FC236}">
                  <a16:creationId xmlns:a16="http://schemas.microsoft.com/office/drawing/2014/main" id="{655C2BCA-0C34-0A45-D4A1-7CA14EA990AA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17" name="序号">
              <a:extLst>
                <a:ext uri="{FF2B5EF4-FFF2-40B4-BE49-F238E27FC236}">
                  <a16:creationId xmlns:a16="http://schemas.microsoft.com/office/drawing/2014/main" id="{803D861C-6CE3-319B-9886-46B8720EC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8" name="步骤3">
            <a:extLst>
              <a:ext uri="{FF2B5EF4-FFF2-40B4-BE49-F238E27FC236}">
                <a16:creationId xmlns:a16="http://schemas.microsoft.com/office/drawing/2014/main" id="{28C86A64-4E0A-11CE-BECF-A6A6C05728FF}"/>
              </a:ext>
            </a:extLst>
          </p:cNvPr>
          <p:cNvGrpSpPr/>
          <p:nvPr/>
        </p:nvGrpSpPr>
        <p:grpSpPr>
          <a:xfrm>
            <a:off x="303554" y="3646138"/>
            <a:ext cx="2682119" cy="725177"/>
            <a:chOff x="4943078" y="1700704"/>
            <a:chExt cx="2682119" cy="725177"/>
          </a:xfrm>
        </p:grpSpPr>
        <p:sp>
          <p:nvSpPr>
            <p:cNvPr id="119" name="标题">
              <a:extLst>
                <a:ext uri="{FF2B5EF4-FFF2-40B4-BE49-F238E27FC236}">
                  <a16:creationId xmlns:a16="http://schemas.microsoft.com/office/drawing/2014/main" id="{0CB9CC0F-44EE-CA42-4AE6-BD43FFE5FF5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出射角</a:t>
              </a:r>
            </a:p>
          </p:txBody>
        </p:sp>
        <p:sp>
          <p:nvSpPr>
            <p:cNvPr id="120" name="序号">
              <a:extLst>
                <a:ext uri="{FF2B5EF4-FFF2-40B4-BE49-F238E27FC236}">
                  <a16:creationId xmlns:a16="http://schemas.microsoft.com/office/drawing/2014/main" id="{B03A18E1-5F5C-A1C7-D1E6-992BFA088E7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1" name="步骤4">
            <a:extLst>
              <a:ext uri="{FF2B5EF4-FFF2-40B4-BE49-F238E27FC236}">
                <a16:creationId xmlns:a16="http://schemas.microsoft.com/office/drawing/2014/main" id="{EDBB4EE1-696A-CCF5-F8FE-AA955B4A2A5D}"/>
              </a:ext>
            </a:extLst>
          </p:cNvPr>
          <p:cNvGrpSpPr/>
          <p:nvPr/>
        </p:nvGrpSpPr>
        <p:grpSpPr>
          <a:xfrm>
            <a:off x="276670" y="4519218"/>
            <a:ext cx="2682115" cy="725177"/>
            <a:chOff x="4943078" y="1700704"/>
            <a:chExt cx="2682115" cy="725177"/>
          </a:xfrm>
        </p:grpSpPr>
        <p:sp>
          <p:nvSpPr>
            <p:cNvPr id="122" name="标题">
              <a:extLst>
                <a:ext uri="{FF2B5EF4-FFF2-40B4-BE49-F238E27FC236}">
                  <a16:creationId xmlns:a16="http://schemas.microsoft.com/office/drawing/2014/main" id="{9DCC84EB-CDD8-9FBA-3499-5CF3BB13F168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23" name="序号">
              <a:extLst>
                <a:ext uri="{FF2B5EF4-FFF2-40B4-BE49-F238E27FC236}">
                  <a16:creationId xmlns:a16="http://schemas.microsoft.com/office/drawing/2014/main" id="{11163DEF-EB11-7386-3836-4BBAF2A54D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/>
              <p:nvPr/>
            </p:nvSpPr>
            <p:spPr>
              <a:xfrm>
                <a:off x="3104285" y="2584784"/>
                <a:ext cx="3175001" cy="113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1−4+1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=−2/3</m:t>
                      </m:r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=±60°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285" y="2584784"/>
                <a:ext cx="3175001" cy="1136721"/>
              </a:xfrm>
              <a:prstGeom prst="rect">
                <a:avLst/>
              </a:prstGeom>
              <a:blipFill>
                <a:blip r:embed="rId2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增益范围">
                <a:extLst>
                  <a:ext uri="{FF2B5EF4-FFF2-40B4-BE49-F238E27FC236}">
                    <a16:creationId xmlns:a16="http://schemas.microsoft.com/office/drawing/2014/main" id="{350732C6-7AA5-EA46-065F-611FA46EB334}"/>
                  </a:ext>
                </a:extLst>
              </p:cNvPr>
              <p:cNvSpPr txBox="1"/>
              <p:nvPr/>
            </p:nvSpPr>
            <p:spPr>
              <a:xfrm>
                <a:off x="303555" y="5395521"/>
                <a:ext cx="7641732" cy="599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box>
                      <m:box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2(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+16</m:t>
                            </m:r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box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=0.49,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=−2.26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26" name="增益范围">
                <a:extLst>
                  <a:ext uri="{FF2B5EF4-FFF2-40B4-BE49-F238E27FC236}">
                    <a16:creationId xmlns:a16="http://schemas.microsoft.com/office/drawing/2014/main" id="{350732C6-7AA5-EA46-065F-611FA46EB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55" y="5395521"/>
                <a:ext cx="7641732" cy="599908"/>
              </a:xfrm>
              <a:prstGeom prst="rect">
                <a:avLst/>
              </a:prstGeom>
              <a:blipFill>
                <a:blip r:embed="rId2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特征方程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/>
              <p:nvPr/>
            </p:nvSpPr>
            <p:spPr>
              <a:xfrm>
                <a:off x="313112" y="831079"/>
                <a:ext cx="5710086" cy="7908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800" dirty="0"/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4" name="特征方程">
                <a:extLst>
                  <a:ext uri="{FF2B5EF4-FFF2-40B4-BE49-F238E27FC236}">
                    <a16:creationId xmlns:a16="http://schemas.microsoft.com/office/drawing/2014/main" id="{5940161C-D3BF-ACE8-C588-036F3BDB6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2" y="831079"/>
                <a:ext cx="5710086" cy="790858"/>
              </a:xfrm>
              <a:prstGeom prst="rect">
                <a:avLst/>
              </a:prstGeom>
              <a:blipFill>
                <a:blip r:embed="rId26"/>
                <a:stretch>
                  <a:fillRect l="-443" b="-7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78539" y="352651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实轴轨迹">
                <a:extLst>
                  <a:ext uri="{FF2B5EF4-FFF2-40B4-BE49-F238E27FC236}">
                    <a16:creationId xmlns:a16="http://schemas.microsoft.com/office/drawing/2014/main" id="{AECD1CE7-62FC-9C56-50CE-68D570DCD47D}"/>
                  </a:ext>
                </a:extLst>
              </p:cNvPr>
              <p:cNvSpPr txBox="1"/>
              <p:nvPr/>
            </p:nvSpPr>
            <p:spPr>
              <a:xfrm>
                <a:off x="330756" y="5947299"/>
                <a:ext cx="6040684" cy="8680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+4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+16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  <m:limUpp>
                      <m:limUp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lim>
                        <m:eqArr>
                          <m:eqArr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=0.49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=−2.26</m:t>
                            </m:r>
                          </m:e>
                        </m:eqArr>
                      </m:lim>
                    </m:limUp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3.05,70.6</m:t>
                    </m:r>
                  </m:oMath>
                </a14:m>
                <a:r>
                  <a:rPr lang="zh-CN" altLang="en-US" sz="2400" dirty="0">
                    <a:effectLst/>
                  </a:rPr>
                  <a:t> </a:t>
                </a:r>
                <a:r>
                  <a:rPr lang="zh-CN" altLang="zh-CN" sz="2400" dirty="0">
                    <a:effectLst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8" name="实轴轨迹">
                <a:extLst>
                  <a:ext uri="{FF2B5EF4-FFF2-40B4-BE49-F238E27FC236}">
                    <a16:creationId xmlns:a16="http://schemas.microsoft.com/office/drawing/2014/main" id="{AECD1CE7-62FC-9C56-50CE-68D570DCD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56" y="5947299"/>
                <a:ext cx="6040684" cy="868058"/>
              </a:xfrm>
              <a:prstGeom prst="rect">
                <a:avLst/>
              </a:prstGeom>
              <a:blipFill>
                <a:blip r:embed="rId27"/>
                <a:stretch>
                  <a:fillRect l="-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210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107" grpId="0"/>
      <p:bldP spid="111" grpId="0"/>
      <p:bldP spid="124" grpId="0"/>
      <p:bldP spid="126" grpId="0"/>
      <p:bldP spid="34" grpId="0"/>
      <p:bldP spid="45" grpId="0"/>
      <p:bldP spid="10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坐标轴">
            <a:extLst>
              <a:ext uri="{FF2B5EF4-FFF2-40B4-BE49-F238E27FC236}">
                <a16:creationId xmlns:a16="http://schemas.microsoft.com/office/drawing/2014/main" id="{78ADC401-5AC9-4286-02E9-8EECE83768B5}"/>
              </a:ext>
            </a:extLst>
          </p:cNvPr>
          <p:cNvGrpSpPr/>
          <p:nvPr/>
        </p:nvGrpSpPr>
        <p:grpSpPr>
          <a:xfrm>
            <a:off x="7894638" y="1772816"/>
            <a:ext cx="3958444" cy="4608512"/>
            <a:chOff x="7905396" y="1050948"/>
            <a:chExt cx="3958444" cy="4608512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7905396" y="3427857"/>
              <a:ext cx="3958444" cy="1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4027" y="1050948"/>
              <a:ext cx="9828" cy="46085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ytick1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ytick-1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tick-2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ytick2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xtixk-1">
              <a:extLst>
                <a:ext uri="{FF2B5EF4-FFF2-40B4-BE49-F238E27FC236}">
                  <a16:creationId xmlns:a16="http://schemas.microsoft.com/office/drawing/2014/main" id="{AEBBED5C-227A-256A-9403-3EB96EFC8A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xtixk-2">
              <a:extLst>
                <a:ext uri="{FF2B5EF4-FFF2-40B4-BE49-F238E27FC236}">
                  <a16:creationId xmlns:a16="http://schemas.microsoft.com/office/drawing/2014/main" id="{CE84F53D-5D41-22E7-FC5B-C4179606D9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xtixk1">
              <a:extLst>
                <a:ext uri="{FF2B5EF4-FFF2-40B4-BE49-F238E27FC236}">
                  <a16:creationId xmlns:a16="http://schemas.microsoft.com/office/drawing/2014/main" id="{2BFF7E53-2FB1-BF80-10D5-72BC64EA00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xtixk2">
              <a:extLst>
                <a:ext uri="{FF2B5EF4-FFF2-40B4-BE49-F238E27FC236}">
                  <a16:creationId xmlns:a16="http://schemas.microsoft.com/office/drawing/2014/main" id="{7C4887B3-F262-E201-24C8-AAF0A716D4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7" name="辅助线1">
            <a:extLst>
              <a:ext uri="{FF2B5EF4-FFF2-40B4-BE49-F238E27FC236}">
                <a16:creationId xmlns:a16="http://schemas.microsoft.com/office/drawing/2014/main" id="{C83BE1C9-AD46-4798-176B-FEC2E314D79A}"/>
              </a:ext>
            </a:extLst>
          </p:cNvPr>
          <p:cNvCxnSpPr>
            <a:cxnSpLocks/>
          </p:cNvCxnSpPr>
          <p:nvPr/>
        </p:nvCxnSpPr>
        <p:spPr>
          <a:xfrm flipH="1" flipV="1">
            <a:off x="10057862" y="2908033"/>
            <a:ext cx="1230" cy="246935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辅助线2">
            <a:extLst>
              <a:ext uri="{FF2B5EF4-FFF2-40B4-BE49-F238E27FC236}">
                <a16:creationId xmlns:a16="http://schemas.microsoft.com/office/drawing/2014/main" id="{7DF0AE6C-3CB2-ACEC-5DB5-2691B0821F00}"/>
              </a:ext>
            </a:extLst>
          </p:cNvPr>
          <p:cNvCxnSpPr>
            <a:cxnSpLocks/>
            <a:stCxn id="89" idx="1"/>
          </p:cNvCxnSpPr>
          <p:nvPr/>
        </p:nvCxnSpPr>
        <p:spPr>
          <a:xfrm flipH="1" flipV="1">
            <a:off x="10071326" y="2909502"/>
            <a:ext cx="273399" cy="11706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辅助线3">
            <a:extLst>
              <a:ext uri="{FF2B5EF4-FFF2-40B4-BE49-F238E27FC236}">
                <a16:creationId xmlns:a16="http://schemas.microsoft.com/office/drawing/2014/main" id="{2A82E1F0-13AF-0E7B-4115-68487C8626DE}"/>
              </a:ext>
            </a:extLst>
          </p:cNvPr>
          <p:cNvCxnSpPr>
            <a:cxnSpLocks/>
            <a:stCxn id="91" idx="2"/>
          </p:cNvCxnSpPr>
          <p:nvPr/>
        </p:nvCxnSpPr>
        <p:spPr>
          <a:xfrm flipH="1" flipV="1">
            <a:off x="10061429" y="2909735"/>
            <a:ext cx="781625" cy="131683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辅助线4">
            <a:extLst>
              <a:ext uri="{FF2B5EF4-FFF2-40B4-BE49-F238E27FC236}">
                <a16:creationId xmlns:a16="http://schemas.microsoft.com/office/drawing/2014/main" id="{4E4E23FE-4418-8F59-9150-E47942D9646F}"/>
              </a:ext>
            </a:extLst>
          </p:cNvPr>
          <p:cNvCxnSpPr>
            <a:cxnSpLocks/>
            <a:stCxn id="92" idx="2"/>
          </p:cNvCxnSpPr>
          <p:nvPr/>
        </p:nvCxnSpPr>
        <p:spPr>
          <a:xfrm flipH="1" flipV="1">
            <a:off x="10062248" y="2901902"/>
            <a:ext cx="1238573" cy="132466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零极点">
            <a:extLst>
              <a:ext uri="{FF2B5EF4-FFF2-40B4-BE49-F238E27FC236}">
                <a16:creationId xmlns:a16="http://schemas.microsoft.com/office/drawing/2014/main" id="{22D39EC7-0652-EF01-CAC9-43ED4E8B07A2}"/>
              </a:ext>
            </a:extLst>
          </p:cNvPr>
          <p:cNvGrpSpPr/>
          <p:nvPr/>
        </p:nvGrpSpPr>
        <p:grpSpPr>
          <a:xfrm>
            <a:off x="9913846" y="2759569"/>
            <a:ext cx="1456153" cy="2803304"/>
            <a:chOff x="9913846" y="2759569"/>
            <a:chExt cx="1456153" cy="2803304"/>
          </a:xfrm>
        </p:grpSpPr>
        <p:sp>
          <p:nvSpPr>
            <p:cNvPr id="89" name="零点">
              <a:extLst>
                <a:ext uri="{FF2B5EF4-FFF2-40B4-BE49-F238E27FC236}">
                  <a16:creationId xmlns:a16="http://schemas.microsoft.com/office/drawing/2014/main" id="{8CF3FF96-D414-8298-4EA5-320C31143932}"/>
                </a:ext>
              </a:extLst>
            </p:cNvPr>
            <p:cNvSpPr/>
            <p:nvPr/>
          </p:nvSpPr>
          <p:spPr>
            <a:xfrm>
              <a:off x="10313093" y="4048545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极点3">
              <a:extLst>
                <a:ext uri="{FF2B5EF4-FFF2-40B4-BE49-F238E27FC236}">
                  <a16:creationId xmlns:a16="http://schemas.microsoft.com/office/drawing/2014/main" id="{5FCC0545-F905-1DB6-5AE8-AC325993CD6E}"/>
                </a:ext>
              </a:extLst>
            </p:cNvPr>
            <p:cNvSpPr/>
            <p:nvPr/>
          </p:nvSpPr>
          <p:spPr>
            <a:xfrm>
              <a:off x="9913846" y="275956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1" name="极点4">
              <a:extLst>
                <a:ext uri="{FF2B5EF4-FFF2-40B4-BE49-F238E27FC236}">
                  <a16:creationId xmlns:a16="http://schemas.microsoft.com/office/drawing/2014/main" id="{935D1F8A-1FDF-DDF5-6A66-6645E169FAF2}"/>
                </a:ext>
              </a:extLst>
            </p:cNvPr>
            <p:cNvSpPr/>
            <p:nvPr/>
          </p:nvSpPr>
          <p:spPr>
            <a:xfrm>
              <a:off x="9913846" y="527484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1" name="极点1">
              <a:extLst>
                <a:ext uri="{FF2B5EF4-FFF2-40B4-BE49-F238E27FC236}">
                  <a16:creationId xmlns:a16="http://schemas.microsoft.com/office/drawing/2014/main" id="{4FD9D290-D370-609A-AC3C-1AC7390FD6FF}"/>
                </a:ext>
              </a:extLst>
            </p:cNvPr>
            <p:cNvSpPr/>
            <p:nvPr/>
          </p:nvSpPr>
          <p:spPr>
            <a:xfrm>
              <a:off x="10624200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2" name="极点2">
              <a:extLst>
                <a:ext uri="{FF2B5EF4-FFF2-40B4-BE49-F238E27FC236}">
                  <a16:creationId xmlns:a16="http://schemas.microsoft.com/office/drawing/2014/main" id="{615AC79C-A8F1-0EF7-B0A8-A09D101F2DA6}"/>
                </a:ext>
              </a:extLst>
            </p:cNvPr>
            <p:cNvSpPr/>
            <p:nvPr/>
          </p:nvSpPr>
          <p:spPr>
            <a:xfrm>
              <a:off x="11081967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136" name="渐近线1">
            <a:extLst>
              <a:ext uri="{FF2B5EF4-FFF2-40B4-BE49-F238E27FC236}">
                <a16:creationId xmlns:a16="http://schemas.microsoft.com/office/drawing/2014/main" id="{AD344A82-8AD0-3280-EDA9-83978BAF4E2A}"/>
              </a:ext>
            </a:extLst>
          </p:cNvPr>
          <p:cNvCxnSpPr>
            <a:cxnSpLocks/>
            <a:endCxn id="89" idx="6"/>
          </p:cNvCxnSpPr>
          <p:nvPr/>
        </p:nvCxnSpPr>
        <p:spPr>
          <a:xfrm flipH="1" flipV="1">
            <a:off x="10529093" y="4156545"/>
            <a:ext cx="982658" cy="144491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渐近线2">
            <a:extLst>
              <a:ext uri="{FF2B5EF4-FFF2-40B4-BE49-F238E27FC236}">
                <a16:creationId xmlns:a16="http://schemas.microsoft.com/office/drawing/2014/main" id="{CABE4BCD-31BC-A0E3-BF4D-20DDA6E4CC60}"/>
              </a:ext>
            </a:extLst>
          </p:cNvPr>
          <p:cNvCxnSpPr>
            <a:cxnSpLocks/>
            <a:endCxn id="89" idx="6"/>
          </p:cNvCxnSpPr>
          <p:nvPr/>
        </p:nvCxnSpPr>
        <p:spPr>
          <a:xfrm flipH="1">
            <a:off x="10529093" y="2705965"/>
            <a:ext cx="986699" cy="14505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实轴根轨迹1">
            <a:extLst>
              <a:ext uri="{FF2B5EF4-FFF2-40B4-BE49-F238E27FC236}">
                <a16:creationId xmlns:a16="http://schemas.microsoft.com/office/drawing/2014/main" id="{C36D2C56-68DA-7C4D-1D8B-F336E443A2F9}"/>
              </a:ext>
            </a:extLst>
          </p:cNvPr>
          <p:cNvCxnSpPr>
            <a:cxnSpLocks/>
          </p:cNvCxnSpPr>
          <p:nvPr/>
        </p:nvCxnSpPr>
        <p:spPr>
          <a:xfrm flipH="1">
            <a:off x="10773895" y="4149725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实轴根轨迹2">
            <a:extLst>
              <a:ext uri="{FF2B5EF4-FFF2-40B4-BE49-F238E27FC236}">
                <a16:creationId xmlns:a16="http://schemas.microsoft.com/office/drawing/2014/main" id="{F3802E55-6914-DEFF-E87F-67B8D143AB98}"/>
              </a:ext>
            </a:extLst>
          </p:cNvPr>
          <p:cNvCxnSpPr>
            <a:cxnSpLocks/>
            <a:stCxn id="89" idx="2"/>
          </p:cNvCxnSpPr>
          <p:nvPr/>
        </p:nvCxnSpPr>
        <p:spPr>
          <a:xfrm flipH="1" flipV="1">
            <a:off x="7204540" y="4149725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分离点">
            <a:extLst>
              <a:ext uri="{FF2B5EF4-FFF2-40B4-BE49-F238E27FC236}">
                <a16:creationId xmlns:a16="http://schemas.microsoft.com/office/drawing/2014/main" id="{9472A301-439F-C66F-BB31-FFE94083D78B}"/>
              </a:ext>
            </a:extLst>
          </p:cNvPr>
          <p:cNvGrpSpPr/>
          <p:nvPr/>
        </p:nvGrpSpPr>
        <p:grpSpPr>
          <a:xfrm>
            <a:off x="9489607" y="3534934"/>
            <a:ext cx="2034559" cy="670025"/>
            <a:chOff x="9489607" y="3534934"/>
            <a:chExt cx="2034559" cy="670025"/>
          </a:xfrm>
        </p:grpSpPr>
        <p:sp>
          <p:nvSpPr>
            <p:cNvPr id="95" name="分离点1">
              <a:extLst>
                <a:ext uri="{FF2B5EF4-FFF2-40B4-BE49-F238E27FC236}">
                  <a16:creationId xmlns:a16="http://schemas.microsoft.com/office/drawing/2014/main" id="{CF7390F7-4A08-4F31-6FE4-D362D39E6118}"/>
                </a:ext>
              </a:extLst>
            </p:cNvPr>
            <p:cNvSpPr/>
            <p:nvPr/>
          </p:nvSpPr>
          <p:spPr>
            <a:xfrm>
              <a:off x="10944981" y="4108037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分离点2">
              <a:extLst>
                <a:ext uri="{FF2B5EF4-FFF2-40B4-BE49-F238E27FC236}">
                  <a16:creationId xmlns:a16="http://schemas.microsoft.com/office/drawing/2014/main" id="{1C882218-F0D4-7CDC-E008-6C852FCCE883}"/>
                </a:ext>
              </a:extLst>
            </p:cNvPr>
            <p:cNvSpPr/>
            <p:nvPr/>
          </p:nvSpPr>
          <p:spPr>
            <a:xfrm>
              <a:off x="9800184" y="4113265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/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/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143" r="-2381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出射角绘图">
            <a:extLst>
              <a:ext uri="{FF2B5EF4-FFF2-40B4-BE49-F238E27FC236}">
                <a16:creationId xmlns:a16="http://schemas.microsoft.com/office/drawing/2014/main" id="{4D4EEC4A-7970-B302-93E0-73B534459DA4}"/>
              </a:ext>
            </a:extLst>
          </p:cNvPr>
          <p:cNvGrpSpPr/>
          <p:nvPr/>
        </p:nvGrpSpPr>
        <p:grpSpPr>
          <a:xfrm>
            <a:off x="8859983" y="2356830"/>
            <a:ext cx="1929978" cy="905475"/>
            <a:chOff x="9231324" y="2866066"/>
            <a:chExt cx="1929978" cy="905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/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=−54.9°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307" r="-13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量角器">
              <a:extLst>
                <a:ext uri="{FF2B5EF4-FFF2-40B4-BE49-F238E27FC236}">
                  <a16:creationId xmlns:a16="http://schemas.microsoft.com/office/drawing/2014/main" id="{389BBAA8-1AD4-D79B-8DF2-DB4DEE81EB53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88396"/>
              <a:chOff x="10197602" y="3183145"/>
              <a:chExt cx="592627" cy="588396"/>
            </a:xfrm>
          </p:grpSpPr>
          <p:cxnSp>
            <p:nvCxnSpPr>
              <p:cNvPr id="21" name="角度2">
                <a:extLst>
                  <a:ext uri="{FF2B5EF4-FFF2-40B4-BE49-F238E27FC236}">
                    <a16:creationId xmlns:a16="http://schemas.microsoft.com/office/drawing/2014/main" id="{2E920C8B-DC4C-1E5A-2583-7308CE8EBDE4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角度1">
                <a:extLst>
                  <a:ext uri="{FF2B5EF4-FFF2-40B4-BE49-F238E27FC236}">
                    <a16:creationId xmlns:a16="http://schemas.microsoft.com/office/drawing/2014/main" id="{D677F919-E4CB-4F58-8DE6-E403C57A5C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04634" cy="349926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角度弧">
                <a:extLst>
                  <a:ext uri="{FF2B5EF4-FFF2-40B4-BE49-F238E27FC236}">
                    <a16:creationId xmlns:a16="http://schemas.microsoft.com/office/drawing/2014/main" id="{9C8C85D7-B2C7-443B-6DF8-013C4890AA0B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3358980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3" name="虚轴交点组合">
            <a:extLst>
              <a:ext uri="{FF2B5EF4-FFF2-40B4-BE49-F238E27FC236}">
                <a16:creationId xmlns:a16="http://schemas.microsoft.com/office/drawing/2014/main" id="{636967F8-797B-13B5-4263-2A6CBB94350A}"/>
              </a:ext>
            </a:extLst>
          </p:cNvPr>
          <p:cNvGrpSpPr/>
          <p:nvPr/>
        </p:nvGrpSpPr>
        <p:grpSpPr>
          <a:xfrm>
            <a:off x="10722508" y="3134181"/>
            <a:ext cx="103533" cy="1987827"/>
            <a:chOff x="10722508" y="3134181"/>
            <a:chExt cx="103533" cy="1987827"/>
          </a:xfrm>
        </p:grpSpPr>
        <p:sp>
          <p:nvSpPr>
            <p:cNvPr id="104" name="虚轴交点2">
              <a:extLst>
                <a:ext uri="{FF2B5EF4-FFF2-40B4-BE49-F238E27FC236}">
                  <a16:creationId xmlns:a16="http://schemas.microsoft.com/office/drawing/2014/main" id="{59899C6B-3E7D-43A4-54C6-0B83E08D32CA}"/>
                </a:ext>
              </a:extLst>
            </p:cNvPr>
            <p:cNvSpPr/>
            <p:nvPr/>
          </p:nvSpPr>
          <p:spPr>
            <a:xfrm>
              <a:off x="10733177" y="4556559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虚轴交点1">
              <a:extLst>
                <a:ext uri="{FF2B5EF4-FFF2-40B4-BE49-F238E27FC236}">
                  <a16:creationId xmlns:a16="http://schemas.microsoft.com/office/drawing/2014/main" id="{B8BC99F1-1409-42AA-91EC-0B64203EAB9D}"/>
                </a:ext>
              </a:extLst>
            </p:cNvPr>
            <p:cNvSpPr/>
            <p:nvPr/>
          </p:nvSpPr>
          <p:spPr>
            <a:xfrm>
              <a:off x="10734347" y="362790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虚轴交点2">
              <a:extLst>
                <a:ext uri="{FF2B5EF4-FFF2-40B4-BE49-F238E27FC236}">
                  <a16:creationId xmlns:a16="http://schemas.microsoft.com/office/drawing/2014/main" id="{51BD39E4-29A1-E18A-B076-175A6CFFA8F3}"/>
                </a:ext>
              </a:extLst>
            </p:cNvPr>
            <p:cNvSpPr/>
            <p:nvPr/>
          </p:nvSpPr>
          <p:spPr>
            <a:xfrm>
              <a:off x="10734347" y="5030314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虚轴交点2">
              <a:extLst>
                <a:ext uri="{FF2B5EF4-FFF2-40B4-BE49-F238E27FC236}">
                  <a16:creationId xmlns:a16="http://schemas.microsoft.com/office/drawing/2014/main" id="{B23FB1E7-C33D-E662-8E0B-B16709740246}"/>
                </a:ext>
              </a:extLst>
            </p:cNvPr>
            <p:cNvSpPr/>
            <p:nvPr/>
          </p:nvSpPr>
          <p:spPr>
            <a:xfrm>
              <a:off x="10722508" y="3134181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217954" y="866285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/16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54" y="866285"/>
                <a:ext cx="2088232" cy="523220"/>
              </a:xfrm>
              <a:prstGeom prst="rect">
                <a:avLst/>
              </a:prstGeom>
              <a:blipFill>
                <a:blip r:embed="rId1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方框图">
            <a:extLst>
              <a:ext uri="{FF2B5EF4-FFF2-40B4-BE49-F238E27FC236}">
                <a16:creationId xmlns:a16="http://schemas.microsoft.com/office/drawing/2014/main" id="{A40420FE-AEC0-2D1D-8008-0295664A3E3D}"/>
              </a:ext>
            </a:extLst>
          </p:cNvPr>
          <p:cNvGrpSpPr/>
          <p:nvPr/>
        </p:nvGrpSpPr>
        <p:grpSpPr>
          <a:xfrm>
            <a:off x="6095206" y="190901"/>
            <a:ext cx="5399882" cy="954732"/>
            <a:chOff x="7610417" y="260648"/>
            <a:chExt cx="5399882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 (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+16)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blipFill>
                  <a:blip r:embed="rId17"/>
                  <a:stretch>
                    <a:fillRect b="-615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12010870" y="783868"/>
              <a:ext cx="999429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1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10424237" y="-1118678"/>
              <a:ext cx="144000" cy="3949093"/>
            </a:xfrm>
            <a:prstGeom prst="bentConnector3">
              <a:avLst>
                <a:gd name="adj1" fmla="val 42631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>
              <a:off x="8665690" y="783868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/>
              <p:nvPr/>
            </p:nvSpPr>
            <p:spPr>
              <a:xfrm>
                <a:off x="3093971" y="1397735"/>
                <a:ext cx="27852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−∞,−1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971" y="1397735"/>
                <a:ext cx="2785211" cy="523220"/>
              </a:xfrm>
              <a:prstGeom prst="rect">
                <a:avLst/>
              </a:prstGeom>
              <a:blipFill>
                <a:blip r:embed="rId22"/>
                <a:stretch>
                  <a:fillRect r="-2273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/>
              <p:nvPr/>
            </p:nvSpPr>
            <p:spPr>
              <a:xfrm>
                <a:off x="2853099" y="3072371"/>
                <a:ext cx="18045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=−54.9°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99" y="3072371"/>
                <a:ext cx="180452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76666" y="1340768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5" name="步骤2">
            <a:extLst>
              <a:ext uri="{FF2B5EF4-FFF2-40B4-BE49-F238E27FC236}">
                <a16:creationId xmlns:a16="http://schemas.microsoft.com/office/drawing/2014/main" id="{A42A4B37-8B24-03D9-009F-D735AD88A73A}"/>
              </a:ext>
            </a:extLst>
          </p:cNvPr>
          <p:cNvGrpSpPr/>
          <p:nvPr/>
        </p:nvGrpSpPr>
        <p:grpSpPr>
          <a:xfrm>
            <a:off x="267522" y="2125000"/>
            <a:ext cx="2682119" cy="725177"/>
            <a:chOff x="4943078" y="1700704"/>
            <a:chExt cx="2682119" cy="725177"/>
          </a:xfrm>
        </p:grpSpPr>
        <p:sp>
          <p:nvSpPr>
            <p:cNvPr id="116" name="标题">
              <a:extLst>
                <a:ext uri="{FF2B5EF4-FFF2-40B4-BE49-F238E27FC236}">
                  <a16:creationId xmlns:a16="http://schemas.microsoft.com/office/drawing/2014/main" id="{655C2BCA-0C34-0A45-D4A1-7CA14EA990AA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17" name="序号">
              <a:extLst>
                <a:ext uri="{FF2B5EF4-FFF2-40B4-BE49-F238E27FC236}">
                  <a16:creationId xmlns:a16="http://schemas.microsoft.com/office/drawing/2014/main" id="{803D861C-6CE3-319B-9886-46B8720EC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8" name="步骤3">
            <a:extLst>
              <a:ext uri="{FF2B5EF4-FFF2-40B4-BE49-F238E27FC236}">
                <a16:creationId xmlns:a16="http://schemas.microsoft.com/office/drawing/2014/main" id="{28C86A64-4E0A-11CE-BECF-A6A6C05728FF}"/>
              </a:ext>
            </a:extLst>
          </p:cNvPr>
          <p:cNvGrpSpPr/>
          <p:nvPr/>
        </p:nvGrpSpPr>
        <p:grpSpPr>
          <a:xfrm>
            <a:off x="273276" y="2911906"/>
            <a:ext cx="2682119" cy="725177"/>
            <a:chOff x="4943078" y="1700704"/>
            <a:chExt cx="2682119" cy="725177"/>
          </a:xfrm>
        </p:grpSpPr>
        <p:sp>
          <p:nvSpPr>
            <p:cNvPr id="119" name="标题">
              <a:extLst>
                <a:ext uri="{FF2B5EF4-FFF2-40B4-BE49-F238E27FC236}">
                  <a16:creationId xmlns:a16="http://schemas.microsoft.com/office/drawing/2014/main" id="{0CB9CC0F-44EE-CA42-4AE6-BD43FFE5FF5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出射角</a:t>
              </a:r>
            </a:p>
          </p:txBody>
        </p:sp>
        <p:sp>
          <p:nvSpPr>
            <p:cNvPr id="120" name="序号">
              <a:extLst>
                <a:ext uri="{FF2B5EF4-FFF2-40B4-BE49-F238E27FC236}">
                  <a16:creationId xmlns:a16="http://schemas.microsoft.com/office/drawing/2014/main" id="{B03A18E1-5F5C-A1C7-D1E6-992BFA088E7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1" name="步骤4">
            <a:extLst>
              <a:ext uri="{FF2B5EF4-FFF2-40B4-BE49-F238E27FC236}">
                <a16:creationId xmlns:a16="http://schemas.microsoft.com/office/drawing/2014/main" id="{EDBB4EE1-696A-CCF5-F8FE-AA955B4A2A5D}"/>
              </a:ext>
            </a:extLst>
          </p:cNvPr>
          <p:cNvGrpSpPr/>
          <p:nvPr/>
        </p:nvGrpSpPr>
        <p:grpSpPr>
          <a:xfrm>
            <a:off x="273224" y="3700979"/>
            <a:ext cx="2682115" cy="725177"/>
            <a:chOff x="4943078" y="1700704"/>
            <a:chExt cx="2682115" cy="725177"/>
          </a:xfrm>
        </p:grpSpPr>
        <p:sp>
          <p:nvSpPr>
            <p:cNvPr id="122" name="标题">
              <a:extLst>
                <a:ext uri="{FF2B5EF4-FFF2-40B4-BE49-F238E27FC236}">
                  <a16:creationId xmlns:a16="http://schemas.microsoft.com/office/drawing/2014/main" id="{9DCC84EB-CDD8-9FBA-3499-5CF3BB13F168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23" name="序号">
              <a:extLst>
                <a:ext uri="{FF2B5EF4-FFF2-40B4-BE49-F238E27FC236}">
                  <a16:creationId xmlns:a16="http://schemas.microsoft.com/office/drawing/2014/main" id="{11163DEF-EB11-7386-3836-4BBAF2A54D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/>
              <p:nvPr/>
            </p:nvSpPr>
            <p:spPr>
              <a:xfrm>
                <a:off x="3109940" y="1866735"/>
                <a:ext cx="3175001" cy="113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1−4+1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=−2/3</m:t>
                      </m:r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=±60°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,±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940" y="1866735"/>
                <a:ext cx="3175001" cy="1136721"/>
              </a:xfrm>
              <a:prstGeom prst="rect">
                <a:avLst/>
              </a:prstGeom>
              <a:blipFill>
                <a:blip r:embed="rId24"/>
                <a:stretch>
                  <a:fillRect b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78539" y="352651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0AB8F8EB-4427-7FD8-6F9D-3708EBE28434}"/>
                  </a:ext>
                </a:extLst>
              </p:cNvPr>
              <p:cNvSpPr txBox="1"/>
              <p:nvPr/>
            </p:nvSpPr>
            <p:spPr>
              <a:xfrm>
                <a:off x="2850694" y="3727265"/>
                <a:ext cx="2819577" cy="719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=0.49,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=3.05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=−2.26,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70.6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0AB8F8EB-4427-7FD8-6F9D-3708EBE28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694" y="3727265"/>
                <a:ext cx="2819577" cy="71949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步骤5">
            <a:extLst>
              <a:ext uri="{FF2B5EF4-FFF2-40B4-BE49-F238E27FC236}">
                <a16:creationId xmlns:a16="http://schemas.microsoft.com/office/drawing/2014/main" id="{1B65856F-D8DB-B845-06EB-C7B4B00180DF}"/>
              </a:ext>
            </a:extLst>
          </p:cNvPr>
          <p:cNvGrpSpPr/>
          <p:nvPr/>
        </p:nvGrpSpPr>
        <p:grpSpPr>
          <a:xfrm>
            <a:off x="267526" y="4478705"/>
            <a:ext cx="2682115" cy="725177"/>
            <a:chOff x="4943078" y="1700704"/>
            <a:chExt cx="2682115" cy="725177"/>
          </a:xfrm>
        </p:grpSpPr>
        <p:sp>
          <p:nvSpPr>
            <p:cNvPr id="97" name="标题">
              <a:extLst>
                <a:ext uri="{FF2B5EF4-FFF2-40B4-BE49-F238E27FC236}">
                  <a16:creationId xmlns:a16="http://schemas.microsoft.com/office/drawing/2014/main" id="{5D28E385-AED3-7E00-E065-F8ECBD90CB4F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虚轴交点</a:t>
              </a:r>
            </a:p>
          </p:txBody>
        </p:sp>
        <p:sp>
          <p:nvSpPr>
            <p:cNvPr id="99" name="序号">
              <a:extLst>
                <a:ext uri="{FF2B5EF4-FFF2-40B4-BE49-F238E27FC236}">
                  <a16:creationId xmlns:a16="http://schemas.microsoft.com/office/drawing/2014/main" id="{2A763346-1131-C375-0BEA-8D982FE31A2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虚轴交点计算">
                <a:extLst>
                  <a:ext uri="{FF2B5EF4-FFF2-40B4-BE49-F238E27FC236}">
                    <a16:creationId xmlns:a16="http://schemas.microsoft.com/office/drawing/2014/main" id="{AEB8905E-8A0E-72A0-1FC8-B27B24669E4E}"/>
                  </a:ext>
                </a:extLst>
              </p:cNvPr>
              <p:cNvSpPr txBox="1"/>
              <p:nvPr/>
            </p:nvSpPr>
            <p:spPr>
              <a:xfrm>
                <a:off x="271382" y="5646578"/>
                <a:ext cx="6183393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−12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zh-CN" alt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−16)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" name="虚轴交点计算">
                <a:extLst>
                  <a:ext uri="{FF2B5EF4-FFF2-40B4-BE49-F238E27FC236}">
                    <a16:creationId xmlns:a16="http://schemas.microsoft.com/office/drawing/2014/main" id="{AEB8905E-8A0E-72A0-1FC8-B27B24669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82" y="5646578"/>
                <a:ext cx="6183393" cy="1211422"/>
              </a:xfrm>
              <a:prstGeom prst="rect">
                <a:avLst/>
              </a:prstGeom>
              <a:blipFill>
                <a:blip r:embed="rId26"/>
                <a:stretch>
                  <a:fillRect l="-32377" t="-208333" r="-1230" b="-2989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特征方程">
                <a:extLst>
                  <a:ext uri="{FF2B5EF4-FFF2-40B4-BE49-F238E27FC236}">
                    <a16:creationId xmlns:a16="http://schemas.microsoft.com/office/drawing/2014/main" id="{E9337722-BD8D-755E-5A9F-3F7D6A750612}"/>
                  </a:ext>
                </a:extLst>
              </p:cNvPr>
              <p:cNvSpPr txBox="1"/>
              <p:nvPr/>
            </p:nvSpPr>
            <p:spPr>
              <a:xfrm>
                <a:off x="184764" y="5214491"/>
                <a:ext cx="76665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+12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−16)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1" name="特征方程">
                <a:extLst>
                  <a:ext uri="{FF2B5EF4-FFF2-40B4-BE49-F238E27FC236}">
                    <a16:creationId xmlns:a16="http://schemas.microsoft.com/office/drawing/2014/main" id="{E9337722-BD8D-755E-5A9F-3F7D6A750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64" y="5214491"/>
                <a:ext cx="7666525" cy="523220"/>
              </a:xfrm>
              <a:prstGeom prst="rect">
                <a:avLst/>
              </a:prstGeom>
              <a:blipFill>
                <a:blip r:embed="rId27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虚轴交点">
                <a:extLst>
                  <a:ext uri="{FF2B5EF4-FFF2-40B4-BE49-F238E27FC236}">
                    <a16:creationId xmlns:a16="http://schemas.microsoft.com/office/drawing/2014/main" id="{67CBE4D8-8BE0-AC59-99E8-89B406A77998}"/>
                  </a:ext>
                </a:extLst>
              </p:cNvPr>
              <p:cNvSpPr txBox="1"/>
              <p:nvPr/>
            </p:nvSpPr>
            <p:spPr>
              <a:xfrm>
                <a:off x="6212379" y="5692328"/>
                <a:ext cx="4919659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.46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2.56</m:t>
                              </m:r>
                            </m:e>
                          </m:eqAr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zh-CN" alt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19.7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1" lang="zh-CN" alt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35.7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" name="虚轴交点">
                <a:extLst>
                  <a:ext uri="{FF2B5EF4-FFF2-40B4-BE49-F238E27FC236}">
                    <a16:creationId xmlns:a16="http://schemas.microsoft.com/office/drawing/2014/main" id="{67CBE4D8-8BE0-AC59-99E8-89B406A77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379" y="5692328"/>
                <a:ext cx="4919659" cy="1053494"/>
              </a:xfrm>
              <a:prstGeom prst="rect">
                <a:avLst/>
              </a:prstGeom>
              <a:blipFill>
                <a:blip r:embed="rId28"/>
                <a:stretch>
                  <a:fillRect l="-23711"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555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坐标轴">
            <a:extLst>
              <a:ext uri="{FF2B5EF4-FFF2-40B4-BE49-F238E27FC236}">
                <a16:creationId xmlns:a16="http://schemas.microsoft.com/office/drawing/2014/main" id="{78ADC401-5AC9-4286-02E9-8EECE83768B5}"/>
              </a:ext>
            </a:extLst>
          </p:cNvPr>
          <p:cNvGrpSpPr/>
          <p:nvPr/>
        </p:nvGrpSpPr>
        <p:grpSpPr>
          <a:xfrm>
            <a:off x="7894638" y="1772816"/>
            <a:ext cx="3958444" cy="4608512"/>
            <a:chOff x="7905396" y="1050948"/>
            <a:chExt cx="3958444" cy="4608512"/>
          </a:xfrm>
        </p:grpSpPr>
        <p:cxnSp>
          <p:nvCxnSpPr>
            <p:cNvPr id="40" name="x轴">
              <a:extLst>
                <a:ext uri="{FF2B5EF4-FFF2-40B4-BE49-F238E27FC236}">
                  <a16:creationId xmlns:a16="http://schemas.microsoft.com/office/drawing/2014/main" id="{E1E2C2EE-4DAF-14FB-8DFE-69A5A1BD95E3}"/>
                </a:ext>
              </a:extLst>
            </p:cNvPr>
            <p:cNvCxnSpPr>
              <a:cxnSpLocks/>
            </p:cNvCxnSpPr>
            <p:nvPr/>
          </p:nvCxnSpPr>
          <p:spPr>
            <a:xfrm>
              <a:off x="7905396" y="3427857"/>
              <a:ext cx="3958444" cy="1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轴">
              <a:extLst>
                <a:ext uri="{FF2B5EF4-FFF2-40B4-BE49-F238E27FC236}">
                  <a16:creationId xmlns:a16="http://schemas.microsoft.com/office/drawing/2014/main" id="{DBE1C450-8479-2EC6-B493-D509C90280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4027" y="1050948"/>
              <a:ext cx="9828" cy="46085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ytick1">
              <a:extLst>
                <a:ext uri="{FF2B5EF4-FFF2-40B4-BE49-F238E27FC236}">
                  <a16:creationId xmlns:a16="http://schemas.microsoft.com/office/drawing/2014/main" id="{ECF8D7D1-12E7-76FA-8D83-68814CE4618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ytick-1">
              <a:extLst>
                <a:ext uri="{FF2B5EF4-FFF2-40B4-BE49-F238E27FC236}">
                  <a16:creationId xmlns:a16="http://schemas.microsoft.com/office/drawing/2014/main" id="{5B097998-D780-69D1-C514-CAF8F0F7797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ytick-2">
              <a:extLst>
                <a:ext uri="{FF2B5EF4-FFF2-40B4-BE49-F238E27FC236}">
                  <a16:creationId xmlns:a16="http://schemas.microsoft.com/office/drawing/2014/main" id="{E7E01392-0CA1-EFDD-1DDD-57EBAA1AE32C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ytick2">
              <a:extLst>
                <a:ext uri="{FF2B5EF4-FFF2-40B4-BE49-F238E27FC236}">
                  <a16:creationId xmlns:a16="http://schemas.microsoft.com/office/drawing/2014/main" id="{F62872DC-29AC-D5C3-ABFC-12ED71B8AE62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xtixk-1">
              <a:extLst>
                <a:ext uri="{FF2B5EF4-FFF2-40B4-BE49-F238E27FC236}">
                  <a16:creationId xmlns:a16="http://schemas.microsoft.com/office/drawing/2014/main" id="{AEBBED5C-227A-256A-9403-3EB96EFC8A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xtixk-2">
              <a:extLst>
                <a:ext uri="{FF2B5EF4-FFF2-40B4-BE49-F238E27FC236}">
                  <a16:creationId xmlns:a16="http://schemas.microsoft.com/office/drawing/2014/main" id="{CE84F53D-5D41-22E7-FC5B-C4179606D9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xtixk1">
              <a:extLst>
                <a:ext uri="{FF2B5EF4-FFF2-40B4-BE49-F238E27FC236}">
                  <a16:creationId xmlns:a16="http://schemas.microsoft.com/office/drawing/2014/main" id="{2BFF7E53-2FB1-BF80-10D5-72BC64EA00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xtixk2">
              <a:extLst>
                <a:ext uri="{FF2B5EF4-FFF2-40B4-BE49-F238E27FC236}">
                  <a16:creationId xmlns:a16="http://schemas.microsoft.com/office/drawing/2014/main" id="{7C4887B3-F262-E201-24C8-AAF0A716D4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7" name="辅助线1">
            <a:extLst>
              <a:ext uri="{FF2B5EF4-FFF2-40B4-BE49-F238E27FC236}">
                <a16:creationId xmlns:a16="http://schemas.microsoft.com/office/drawing/2014/main" id="{C83BE1C9-AD46-4798-176B-FEC2E314D79A}"/>
              </a:ext>
            </a:extLst>
          </p:cNvPr>
          <p:cNvCxnSpPr>
            <a:cxnSpLocks/>
          </p:cNvCxnSpPr>
          <p:nvPr/>
        </p:nvCxnSpPr>
        <p:spPr>
          <a:xfrm flipH="1" flipV="1">
            <a:off x="10057862" y="2908033"/>
            <a:ext cx="1230" cy="246935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辅助线2">
            <a:extLst>
              <a:ext uri="{FF2B5EF4-FFF2-40B4-BE49-F238E27FC236}">
                <a16:creationId xmlns:a16="http://schemas.microsoft.com/office/drawing/2014/main" id="{7DF0AE6C-3CB2-ACEC-5DB5-2691B0821F00}"/>
              </a:ext>
            </a:extLst>
          </p:cNvPr>
          <p:cNvCxnSpPr>
            <a:cxnSpLocks/>
            <a:stCxn id="89" idx="1"/>
          </p:cNvCxnSpPr>
          <p:nvPr/>
        </p:nvCxnSpPr>
        <p:spPr>
          <a:xfrm flipH="1" flipV="1">
            <a:off x="10071326" y="2909502"/>
            <a:ext cx="273399" cy="11706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辅助线3">
            <a:extLst>
              <a:ext uri="{FF2B5EF4-FFF2-40B4-BE49-F238E27FC236}">
                <a16:creationId xmlns:a16="http://schemas.microsoft.com/office/drawing/2014/main" id="{2A82E1F0-13AF-0E7B-4115-68487C8626DE}"/>
              </a:ext>
            </a:extLst>
          </p:cNvPr>
          <p:cNvCxnSpPr>
            <a:cxnSpLocks/>
            <a:stCxn id="91" idx="2"/>
          </p:cNvCxnSpPr>
          <p:nvPr/>
        </p:nvCxnSpPr>
        <p:spPr>
          <a:xfrm flipH="1" flipV="1">
            <a:off x="10061429" y="2909735"/>
            <a:ext cx="781625" cy="131683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辅助线4">
            <a:extLst>
              <a:ext uri="{FF2B5EF4-FFF2-40B4-BE49-F238E27FC236}">
                <a16:creationId xmlns:a16="http://schemas.microsoft.com/office/drawing/2014/main" id="{4E4E23FE-4418-8F59-9150-E47942D9646F}"/>
              </a:ext>
            </a:extLst>
          </p:cNvPr>
          <p:cNvCxnSpPr>
            <a:cxnSpLocks/>
            <a:stCxn id="92" idx="2"/>
          </p:cNvCxnSpPr>
          <p:nvPr/>
        </p:nvCxnSpPr>
        <p:spPr>
          <a:xfrm flipH="1" flipV="1">
            <a:off x="10062248" y="2901902"/>
            <a:ext cx="1238573" cy="132466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零极点">
            <a:extLst>
              <a:ext uri="{FF2B5EF4-FFF2-40B4-BE49-F238E27FC236}">
                <a16:creationId xmlns:a16="http://schemas.microsoft.com/office/drawing/2014/main" id="{22D39EC7-0652-EF01-CAC9-43ED4E8B07A2}"/>
              </a:ext>
            </a:extLst>
          </p:cNvPr>
          <p:cNvGrpSpPr/>
          <p:nvPr/>
        </p:nvGrpSpPr>
        <p:grpSpPr>
          <a:xfrm>
            <a:off x="9913846" y="2759569"/>
            <a:ext cx="1456153" cy="2803304"/>
            <a:chOff x="9913846" y="2759569"/>
            <a:chExt cx="1456153" cy="2803304"/>
          </a:xfrm>
        </p:grpSpPr>
        <p:sp>
          <p:nvSpPr>
            <p:cNvPr id="89" name="零点">
              <a:extLst>
                <a:ext uri="{FF2B5EF4-FFF2-40B4-BE49-F238E27FC236}">
                  <a16:creationId xmlns:a16="http://schemas.microsoft.com/office/drawing/2014/main" id="{8CF3FF96-D414-8298-4EA5-320C31143932}"/>
                </a:ext>
              </a:extLst>
            </p:cNvPr>
            <p:cNvSpPr/>
            <p:nvPr/>
          </p:nvSpPr>
          <p:spPr>
            <a:xfrm>
              <a:off x="10313093" y="4048545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极点3">
              <a:extLst>
                <a:ext uri="{FF2B5EF4-FFF2-40B4-BE49-F238E27FC236}">
                  <a16:creationId xmlns:a16="http://schemas.microsoft.com/office/drawing/2014/main" id="{5FCC0545-F905-1DB6-5AE8-AC325993CD6E}"/>
                </a:ext>
              </a:extLst>
            </p:cNvPr>
            <p:cNvSpPr/>
            <p:nvPr/>
          </p:nvSpPr>
          <p:spPr>
            <a:xfrm>
              <a:off x="9913846" y="275956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51" name="极点4">
              <a:extLst>
                <a:ext uri="{FF2B5EF4-FFF2-40B4-BE49-F238E27FC236}">
                  <a16:creationId xmlns:a16="http://schemas.microsoft.com/office/drawing/2014/main" id="{935D1F8A-1FDF-DDF5-6A66-6645E169FAF2}"/>
                </a:ext>
              </a:extLst>
            </p:cNvPr>
            <p:cNvSpPr/>
            <p:nvPr/>
          </p:nvSpPr>
          <p:spPr>
            <a:xfrm>
              <a:off x="9913846" y="527484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1" name="极点1">
              <a:extLst>
                <a:ext uri="{FF2B5EF4-FFF2-40B4-BE49-F238E27FC236}">
                  <a16:creationId xmlns:a16="http://schemas.microsoft.com/office/drawing/2014/main" id="{4FD9D290-D370-609A-AC3C-1AC7390FD6FF}"/>
                </a:ext>
              </a:extLst>
            </p:cNvPr>
            <p:cNvSpPr/>
            <p:nvPr/>
          </p:nvSpPr>
          <p:spPr>
            <a:xfrm>
              <a:off x="10624200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2" name="极点2">
              <a:extLst>
                <a:ext uri="{FF2B5EF4-FFF2-40B4-BE49-F238E27FC236}">
                  <a16:creationId xmlns:a16="http://schemas.microsoft.com/office/drawing/2014/main" id="{615AC79C-A8F1-0EF7-B0A8-A09D101F2DA6}"/>
                </a:ext>
              </a:extLst>
            </p:cNvPr>
            <p:cNvSpPr/>
            <p:nvPr/>
          </p:nvSpPr>
          <p:spPr>
            <a:xfrm>
              <a:off x="11081967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136" name="渐近线1">
            <a:extLst>
              <a:ext uri="{FF2B5EF4-FFF2-40B4-BE49-F238E27FC236}">
                <a16:creationId xmlns:a16="http://schemas.microsoft.com/office/drawing/2014/main" id="{AD344A82-8AD0-3280-EDA9-83978BAF4E2A}"/>
              </a:ext>
            </a:extLst>
          </p:cNvPr>
          <p:cNvCxnSpPr>
            <a:cxnSpLocks/>
            <a:endCxn id="89" idx="6"/>
          </p:cNvCxnSpPr>
          <p:nvPr/>
        </p:nvCxnSpPr>
        <p:spPr>
          <a:xfrm flipH="1" flipV="1">
            <a:off x="10529093" y="4156545"/>
            <a:ext cx="982658" cy="144491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渐近线2">
            <a:extLst>
              <a:ext uri="{FF2B5EF4-FFF2-40B4-BE49-F238E27FC236}">
                <a16:creationId xmlns:a16="http://schemas.microsoft.com/office/drawing/2014/main" id="{CABE4BCD-31BC-A0E3-BF4D-20DDA6E4CC60}"/>
              </a:ext>
            </a:extLst>
          </p:cNvPr>
          <p:cNvCxnSpPr>
            <a:cxnSpLocks/>
            <a:endCxn id="89" idx="6"/>
          </p:cNvCxnSpPr>
          <p:nvPr/>
        </p:nvCxnSpPr>
        <p:spPr>
          <a:xfrm flipH="1">
            <a:off x="10529093" y="2705965"/>
            <a:ext cx="986699" cy="14505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实轴根轨迹1" hidden="1">
            <a:extLst>
              <a:ext uri="{FF2B5EF4-FFF2-40B4-BE49-F238E27FC236}">
                <a16:creationId xmlns:a16="http://schemas.microsoft.com/office/drawing/2014/main" id="{C36D2C56-68DA-7C4D-1D8B-F336E443A2F9}"/>
              </a:ext>
            </a:extLst>
          </p:cNvPr>
          <p:cNvCxnSpPr>
            <a:cxnSpLocks/>
          </p:cNvCxnSpPr>
          <p:nvPr/>
        </p:nvCxnSpPr>
        <p:spPr>
          <a:xfrm flipH="1">
            <a:off x="10773895" y="4149725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实轴根轨迹2" hidden="1">
            <a:extLst>
              <a:ext uri="{FF2B5EF4-FFF2-40B4-BE49-F238E27FC236}">
                <a16:creationId xmlns:a16="http://schemas.microsoft.com/office/drawing/2014/main" id="{F3802E55-6914-DEFF-E87F-67B8D143AB98}"/>
              </a:ext>
            </a:extLst>
          </p:cNvPr>
          <p:cNvCxnSpPr>
            <a:cxnSpLocks/>
            <a:stCxn id="89" idx="2"/>
          </p:cNvCxnSpPr>
          <p:nvPr/>
        </p:nvCxnSpPr>
        <p:spPr>
          <a:xfrm flipH="1" flipV="1">
            <a:off x="7204540" y="4149725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分离点">
            <a:extLst>
              <a:ext uri="{FF2B5EF4-FFF2-40B4-BE49-F238E27FC236}">
                <a16:creationId xmlns:a16="http://schemas.microsoft.com/office/drawing/2014/main" id="{9472A301-439F-C66F-BB31-FFE94083D78B}"/>
              </a:ext>
            </a:extLst>
          </p:cNvPr>
          <p:cNvGrpSpPr/>
          <p:nvPr/>
        </p:nvGrpSpPr>
        <p:grpSpPr>
          <a:xfrm>
            <a:off x="9489607" y="3534934"/>
            <a:ext cx="2034559" cy="670025"/>
            <a:chOff x="9489607" y="3534934"/>
            <a:chExt cx="2034559" cy="670025"/>
          </a:xfrm>
        </p:grpSpPr>
        <p:sp>
          <p:nvSpPr>
            <p:cNvPr id="95" name="分离点1">
              <a:extLst>
                <a:ext uri="{FF2B5EF4-FFF2-40B4-BE49-F238E27FC236}">
                  <a16:creationId xmlns:a16="http://schemas.microsoft.com/office/drawing/2014/main" id="{CF7390F7-4A08-4F31-6FE4-D362D39E6118}"/>
                </a:ext>
              </a:extLst>
            </p:cNvPr>
            <p:cNvSpPr/>
            <p:nvPr/>
          </p:nvSpPr>
          <p:spPr>
            <a:xfrm>
              <a:off x="10944981" y="4108037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分离点2">
              <a:extLst>
                <a:ext uri="{FF2B5EF4-FFF2-40B4-BE49-F238E27FC236}">
                  <a16:creationId xmlns:a16="http://schemas.microsoft.com/office/drawing/2014/main" id="{1C882218-F0D4-7CDC-E008-6C852FCCE883}"/>
                </a:ext>
              </a:extLst>
            </p:cNvPr>
            <p:cNvSpPr/>
            <p:nvPr/>
          </p:nvSpPr>
          <p:spPr>
            <a:xfrm>
              <a:off x="9800184" y="4113265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/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/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143" r="-2381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出射角绘图">
            <a:extLst>
              <a:ext uri="{FF2B5EF4-FFF2-40B4-BE49-F238E27FC236}">
                <a16:creationId xmlns:a16="http://schemas.microsoft.com/office/drawing/2014/main" id="{4D4EEC4A-7970-B302-93E0-73B534459DA4}"/>
              </a:ext>
            </a:extLst>
          </p:cNvPr>
          <p:cNvGrpSpPr/>
          <p:nvPr/>
        </p:nvGrpSpPr>
        <p:grpSpPr>
          <a:xfrm>
            <a:off x="8859983" y="2356830"/>
            <a:ext cx="1929978" cy="905475"/>
            <a:chOff x="9231324" y="2866066"/>
            <a:chExt cx="1929978" cy="905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/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=−54.9°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307" r="-13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量角器">
              <a:extLst>
                <a:ext uri="{FF2B5EF4-FFF2-40B4-BE49-F238E27FC236}">
                  <a16:creationId xmlns:a16="http://schemas.microsoft.com/office/drawing/2014/main" id="{389BBAA8-1AD4-D79B-8DF2-DB4DEE81EB53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88396"/>
              <a:chOff x="10197602" y="3183145"/>
              <a:chExt cx="592627" cy="588396"/>
            </a:xfrm>
          </p:grpSpPr>
          <p:cxnSp>
            <p:nvCxnSpPr>
              <p:cNvPr id="21" name="角度2">
                <a:extLst>
                  <a:ext uri="{FF2B5EF4-FFF2-40B4-BE49-F238E27FC236}">
                    <a16:creationId xmlns:a16="http://schemas.microsoft.com/office/drawing/2014/main" id="{2E920C8B-DC4C-1E5A-2583-7308CE8EBDE4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角度1">
                <a:extLst>
                  <a:ext uri="{FF2B5EF4-FFF2-40B4-BE49-F238E27FC236}">
                    <a16:creationId xmlns:a16="http://schemas.microsoft.com/office/drawing/2014/main" id="{D677F919-E4CB-4F58-8DE6-E403C57A5C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04634" cy="349926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角度弧">
                <a:extLst>
                  <a:ext uri="{FF2B5EF4-FFF2-40B4-BE49-F238E27FC236}">
                    <a16:creationId xmlns:a16="http://schemas.microsoft.com/office/drawing/2014/main" id="{9C8C85D7-B2C7-443B-6DF8-013C4890AA0B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3358980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103" name="根轨迹1">
            <a:extLst>
              <a:ext uri="{FF2B5EF4-FFF2-40B4-BE49-F238E27FC236}">
                <a16:creationId xmlns:a16="http://schemas.microsoft.com/office/drawing/2014/main" id="{3A748EEC-A79B-2AA5-6434-A1AD7D90B97D}"/>
              </a:ext>
            </a:extLst>
          </p:cNvPr>
          <p:cNvSpPr/>
          <p:nvPr/>
        </p:nvSpPr>
        <p:spPr>
          <a:xfrm flipV="1">
            <a:off x="7583588" y="2904818"/>
            <a:ext cx="2659843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9843" h="1248788">
                <a:moveTo>
                  <a:pt x="2435943" y="1248788"/>
                </a:moveTo>
                <a:cubicBezTo>
                  <a:pt x="3017998" y="614846"/>
                  <a:pt x="2282152" y="767588"/>
                  <a:pt x="2274877" y="0"/>
                </a:cubicBezTo>
                <a:lnTo>
                  <a:pt x="0" y="8040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6" name="根轨迹4">
            <a:extLst>
              <a:ext uri="{FF2B5EF4-FFF2-40B4-BE49-F238E27FC236}">
                <a16:creationId xmlns:a16="http://schemas.microsoft.com/office/drawing/2014/main" id="{2F59AA35-DE07-6AF3-DAB4-C32BF4B62125}"/>
              </a:ext>
            </a:extLst>
          </p:cNvPr>
          <p:cNvSpPr/>
          <p:nvPr/>
        </p:nvSpPr>
        <p:spPr>
          <a:xfrm>
            <a:off x="10652433" y="4146997"/>
            <a:ext cx="911342" cy="167475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589197 w 911342"/>
              <a:gd name="connsiteY0" fmla="*/ 6050 h 1674751"/>
              <a:gd name="connsiteX1" fmla="*/ 355208 w 911342"/>
              <a:gd name="connsiteY1" fmla="*/ 0 h 1674751"/>
              <a:gd name="connsiteX2" fmla="*/ 3070 w 911342"/>
              <a:gd name="connsiteY2" fmla="*/ 823198 h 1674751"/>
              <a:gd name="connsiteX3" fmla="*/ 911342 w 911342"/>
              <a:gd name="connsiteY3" fmla="*/ 1674751 h 167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4751">
                <a:moveTo>
                  <a:pt x="589197" y="6050"/>
                </a:moveTo>
                <a:lnTo>
                  <a:pt x="355208" y="0"/>
                </a:lnTo>
                <a:cubicBezTo>
                  <a:pt x="344359" y="387415"/>
                  <a:pt x="-37892" y="467354"/>
                  <a:pt x="3070" y="823198"/>
                </a:cubicBezTo>
                <a:cubicBezTo>
                  <a:pt x="50906" y="1087708"/>
                  <a:pt x="400983" y="944162"/>
                  <a:pt x="911342" y="1674751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3" name="虚轴交点组合">
            <a:extLst>
              <a:ext uri="{FF2B5EF4-FFF2-40B4-BE49-F238E27FC236}">
                <a16:creationId xmlns:a16="http://schemas.microsoft.com/office/drawing/2014/main" id="{636967F8-797B-13B5-4263-2A6CBB94350A}"/>
              </a:ext>
            </a:extLst>
          </p:cNvPr>
          <p:cNvGrpSpPr/>
          <p:nvPr/>
        </p:nvGrpSpPr>
        <p:grpSpPr>
          <a:xfrm>
            <a:off x="10722508" y="3134181"/>
            <a:ext cx="103533" cy="2026601"/>
            <a:chOff x="10722508" y="3134181"/>
            <a:chExt cx="103533" cy="2026601"/>
          </a:xfrm>
        </p:grpSpPr>
        <p:sp>
          <p:nvSpPr>
            <p:cNvPr id="104" name="虚轴交点2">
              <a:extLst>
                <a:ext uri="{FF2B5EF4-FFF2-40B4-BE49-F238E27FC236}">
                  <a16:creationId xmlns:a16="http://schemas.microsoft.com/office/drawing/2014/main" id="{59899C6B-3E7D-43A4-54C6-0B83E08D32CA}"/>
                </a:ext>
              </a:extLst>
            </p:cNvPr>
            <p:cNvSpPr/>
            <p:nvPr/>
          </p:nvSpPr>
          <p:spPr>
            <a:xfrm>
              <a:off x="10733177" y="4556559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虚轴交点1">
              <a:extLst>
                <a:ext uri="{FF2B5EF4-FFF2-40B4-BE49-F238E27FC236}">
                  <a16:creationId xmlns:a16="http://schemas.microsoft.com/office/drawing/2014/main" id="{B8BC99F1-1409-42AA-91EC-0B64203EAB9D}"/>
                </a:ext>
              </a:extLst>
            </p:cNvPr>
            <p:cNvSpPr/>
            <p:nvPr/>
          </p:nvSpPr>
          <p:spPr>
            <a:xfrm>
              <a:off x="10734347" y="362790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虚轴交点2">
              <a:extLst>
                <a:ext uri="{FF2B5EF4-FFF2-40B4-BE49-F238E27FC236}">
                  <a16:creationId xmlns:a16="http://schemas.microsoft.com/office/drawing/2014/main" id="{51BD39E4-29A1-E18A-B076-175A6CFFA8F3}"/>
                </a:ext>
              </a:extLst>
            </p:cNvPr>
            <p:cNvSpPr/>
            <p:nvPr/>
          </p:nvSpPr>
          <p:spPr>
            <a:xfrm>
              <a:off x="10728048" y="506908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虚轴交点2">
              <a:extLst>
                <a:ext uri="{FF2B5EF4-FFF2-40B4-BE49-F238E27FC236}">
                  <a16:creationId xmlns:a16="http://schemas.microsoft.com/office/drawing/2014/main" id="{B23FB1E7-C33D-E662-8E0B-B16709740246}"/>
                </a:ext>
              </a:extLst>
            </p:cNvPr>
            <p:cNvSpPr/>
            <p:nvPr/>
          </p:nvSpPr>
          <p:spPr>
            <a:xfrm>
              <a:off x="10722508" y="3134181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43" name="实轴根轨迹2">
            <a:extLst>
              <a:ext uri="{FF2B5EF4-FFF2-40B4-BE49-F238E27FC236}">
                <a16:creationId xmlns:a16="http://schemas.microsoft.com/office/drawing/2014/main" id="{3453A677-F352-1155-EA65-EA72DEBB3DD0}"/>
              </a:ext>
            </a:extLst>
          </p:cNvPr>
          <p:cNvCxnSpPr>
            <a:cxnSpLocks/>
          </p:cNvCxnSpPr>
          <p:nvPr/>
        </p:nvCxnSpPr>
        <p:spPr>
          <a:xfrm flipH="1" flipV="1">
            <a:off x="7212856" y="4143352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实轴根轨迹1">
            <a:extLst>
              <a:ext uri="{FF2B5EF4-FFF2-40B4-BE49-F238E27FC236}">
                <a16:creationId xmlns:a16="http://schemas.microsoft.com/office/drawing/2014/main" id="{20B6EF04-67EE-24A7-B05A-742150F80C3C}"/>
              </a:ext>
            </a:extLst>
          </p:cNvPr>
          <p:cNvCxnSpPr>
            <a:cxnSpLocks/>
          </p:cNvCxnSpPr>
          <p:nvPr/>
        </p:nvCxnSpPr>
        <p:spPr>
          <a:xfrm flipH="1">
            <a:off x="10783097" y="4149725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根轨迹3">
            <a:extLst>
              <a:ext uri="{FF2B5EF4-FFF2-40B4-BE49-F238E27FC236}">
                <a16:creationId xmlns:a16="http://schemas.microsoft.com/office/drawing/2014/main" id="{4E4A3A08-9D7B-11A9-6701-3B2EB541400C}"/>
              </a:ext>
            </a:extLst>
          </p:cNvPr>
          <p:cNvSpPr/>
          <p:nvPr/>
        </p:nvSpPr>
        <p:spPr>
          <a:xfrm flipV="1">
            <a:off x="10642726" y="2472988"/>
            <a:ext cx="911342" cy="167687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6871">
                <a:moveTo>
                  <a:pt x="134768" y="2628"/>
                </a:moveTo>
                <a:cubicBezTo>
                  <a:pt x="248240" y="-550"/>
                  <a:pt x="286879" y="-996"/>
                  <a:pt x="355208" y="2120"/>
                </a:cubicBezTo>
                <a:cubicBezTo>
                  <a:pt x="344359" y="389535"/>
                  <a:pt x="-37892" y="469474"/>
                  <a:pt x="3070" y="825318"/>
                </a:cubicBezTo>
                <a:cubicBezTo>
                  <a:pt x="50906" y="1089828"/>
                  <a:pt x="400983" y="946282"/>
                  <a:pt x="911342" y="1676871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8" name="根轨迹2">
            <a:extLst>
              <a:ext uri="{FF2B5EF4-FFF2-40B4-BE49-F238E27FC236}">
                <a16:creationId xmlns:a16="http://schemas.microsoft.com/office/drawing/2014/main" id="{E41A3FDB-4112-54AB-0BF7-D0621C29C8CD}"/>
              </a:ext>
            </a:extLst>
          </p:cNvPr>
          <p:cNvSpPr/>
          <p:nvPr/>
        </p:nvSpPr>
        <p:spPr>
          <a:xfrm>
            <a:off x="9865550" y="4147105"/>
            <a:ext cx="456212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161066 w 456212"/>
              <a:gd name="connsiteY0" fmla="*/ 1248788 h 1248788"/>
              <a:gd name="connsiteX1" fmla="*/ 0 w 456212"/>
              <a:gd name="connsiteY1" fmla="*/ 0 h 1248788"/>
              <a:gd name="connsiteX2" fmla="*/ 456212 w 456212"/>
              <a:gd name="connsiteY2" fmla="*/ 1984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212" h="1248788">
                <a:moveTo>
                  <a:pt x="161066" y="1248788"/>
                </a:moveTo>
                <a:cubicBezTo>
                  <a:pt x="743121" y="614846"/>
                  <a:pt x="7275" y="767588"/>
                  <a:pt x="0" y="0"/>
                </a:cubicBezTo>
                <a:lnTo>
                  <a:pt x="456212" y="1984"/>
                </a:ln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217954" y="866285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/16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54" y="866285"/>
                <a:ext cx="2088232" cy="523220"/>
              </a:xfrm>
              <a:prstGeom prst="rect">
                <a:avLst/>
              </a:prstGeom>
              <a:blipFill>
                <a:blip r:embed="rId1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方框图">
            <a:extLst>
              <a:ext uri="{FF2B5EF4-FFF2-40B4-BE49-F238E27FC236}">
                <a16:creationId xmlns:a16="http://schemas.microsoft.com/office/drawing/2014/main" id="{A40420FE-AEC0-2D1D-8008-0295664A3E3D}"/>
              </a:ext>
            </a:extLst>
          </p:cNvPr>
          <p:cNvGrpSpPr/>
          <p:nvPr/>
        </p:nvGrpSpPr>
        <p:grpSpPr>
          <a:xfrm>
            <a:off x="6095206" y="190901"/>
            <a:ext cx="5399882" cy="954732"/>
            <a:chOff x="7610417" y="260648"/>
            <a:chExt cx="5399882" cy="95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/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 (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+16)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G">
                  <a:extLst>
                    <a:ext uri="{FF2B5EF4-FFF2-40B4-BE49-F238E27FC236}">
                      <a16:creationId xmlns:a16="http://schemas.microsoft.com/office/drawing/2014/main" id="{CB986FF4-2811-6496-45A8-51DB0254CB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7" y="388120"/>
                  <a:ext cx="2550373" cy="792000"/>
                </a:xfrm>
                <a:prstGeom prst="rect">
                  <a:avLst/>
                </a:prstGeom>
                <a:blipFill>
                  <a:blip r:embed="rId17"/>
                  <a:stretch>
                    <a:fillRect b="-615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输入">
              <a:extLst>
                <a:ext uri="{FF2B5EF4-FFF2-40B4-BE49-F238E27FC236}">
                  <a16:creationId xmlns:a16="http://schemas.microsoft.com/office/drawing/2014/main" id="{CC66B74A-F5CE-97C8-DD71-8D02FF803B6B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输出">
              <a:extLst>
                <a:ext uri="{FF2B5EF4-FFF2-40B4-BE49-F238E27FC236}">
                  <a16:creationId xmlns:a16="http://schemas.microsoft.com/office/drawing/2014/main" id="{ACC51C41-A068-DBA4-CB12-1F0A758D1EF1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 flipV="1">
              <a:off x="12010870" y="783868"/>
              <a:ext cx="999429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/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">
                  <a:extLst>
                    <a:ext uri="{FF2B5EF4-FFF2-40B4-BE49-F238E27FC236}">
                      <a16:creationId xmlns:a16="http://schemas.microsoft.com/office/drawing/2014/main" id="{064AD2FB-821E-0B84-6503-D123C230F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731" y="260648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sum">
              <a:extLst>
                <a:ext uri="{FF2B5EF4-FFF2-40B4-BE49-F238E27FC236}">
                  <a16:creationId xmlns:a16="http://schemas.microsoft.com/office/drawing/2014/main" id="{7EEB6B78-5320-6BEC-74EB-A2A61E6443BC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反馈1">
              <a:extLst>
                <a:ext uri="{FF2B5EF4-FFF2-40B4-BE49-F238E27FC236}">
                  <a16:creationId xmlns:a16="http://schemas.microsoft.com/office/drawing/2014/main" id="{C0F42A36-5398-8988-F435-4A794147478D}"/>
                </a:ext>
              </a:extLst>
            </p:cNvPr>
            <p:cNvCxnSpPr>
              <a:cxnSpLocks/>
              <a:stCxn id="36" idx="2"/>
              <a:endCxn id="38" idx="4"/>
            </p:cNvCxnSpPr>
            <p:nvPr/>
          </p:nvCxnSpPr>
          <p:spPr>
            <a:xfrm rot="5400000">
              <a:off x="10424237" y="-1118678"/>
              <a:ext cx="144000" cy="3949093"/>
            </a:xfrm>
            <a:prstGeom prst="bentConnector3">
              <a:avLst>
                <a:gd name="adj1" fmla="val 42631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连接">
              <a:extLst>
                <a:ext uri="{FF2B5EF4-FFF2-40B4-BE49-F238E27FC236}">
                  <a16:creationId xmlns:a16="http://schemas.microsoft.com/office/drawing/2014/main" id="{9D3130FF-320C-CBF3-4685-A1D208B26CA5}"/>
                </a:ext>
              </a:extLst>
            </p:cNvPr>
            <p:cNvCxnSpPr>
              <a:cxnSpLocks/>
              <a:stCxn id="38" idx="6"/>
              <a:endCxn id="30" idx="1"/>
            </p:cNvCxnSpPr>
            <p:nvPr/>
          </p:nvCxnSpPr>
          <p:spPr>
            <a:xfrm>
              <a:off x="8665690" y="783868"/>
              <a:ext cx="794807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/>
              <p:nvPr/>
            </p:nvSpPr>
            <p:spPr>
              <a:xfrm>
                <a:off x="3093971" y="1397735"/>
                <a:ext cx="27852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−∞,−1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[0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971" y="1397735"/>
                <a:ext cx="2785211" cy="523220"/>
              </a:xfrm>
              <a:prstGeom prst="rect">
                <a:avLst/>
              </a:prstGeom>
              <a:blipFill>
                <a:blip r:embed="rId22"/>
                <a:stretch>
                  <a:fillRect r="-2273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/>
              <p:nvPr/>
            </p:nvSpPr>
            <p:spPr>
              <a:xfrm>
                <a:off x="2853099" y="3072371"/>
                <a:ext cx="18045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=−54.9°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" name="出射角">
                <a:extLst>
                  <a:ext uri="{FF2B5EF4-FFF2-40B4-BE49-F238E27FC236}">
                    <a16:creationId xmlns:a16="http://schemas.microsoft.com/office/drawing/2014/main" id="{05BA371F-4270-226A-0C3F-18B5E0D8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99" y="3072371"/>
                <a:ext cx="180452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76666" y="1340768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实轴轨迹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5" name="步骤2">
            <a:extLst>
              <a:ext uri="{FF2B5EF4-FFF2-40B4-BE49-F238E27FC236}">
                <a16:creationId xmlns:a16="http://schemas.microsoft.com/office/drawing/2014/main" id="{A42A4B37-8B24-03D9-009F-D735AD88A73A}"/>
              </a:ext>
            </a:extLst>
          </p:cNvPr>
          <p:cNvGrpSpPr/>
          <p:nvPr/>
        </p:nvGrpSpPr>
        <p:grpSpPr>
          <a:xfrm>
            <a:off x="267522" y="2125000"/>
            <a:ext cx="2682119" cy="725177"/>
            <a:chOff x="4943078" y="1700704"/>
            <a:chExt cx="2682119" cy="725177"/>
          </a:xfrm>
        </p:grpSpPr>
        <p:sp>
          <p:nvSpPr>
            <p:cNvPr id="116" name="标题">
              <a:extLst>
                <a:ext uri="{FF2B5EF4-FFF2-40B4-BE49-F238E27FC236}">
                  <a16:creationId xmlns:a16="http://schemas.microsoft.com/office/drawing/2014/main" id="{655C2BCA-0C34-0A45-D4A1-7CA14EA990AA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渐近线</a:t>
              </a:r>
            </a:p>
          </p:txBody>
        </p:sp>
        <p:sp>
          <p:nvSpPr>
            <p:cNvPr id="117" name="序号">
              <a:extLst>
                <a:ext uri="{FF2B5EF4-FFF2-40B4-BE49-F238E27FC236}">
                  <a16:creationId xmlns:a16="http://schemas.microsoft.com/office/drawing/2014/main" id="{803D861C-6CE3-319B-9886-46B8720EC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8" name="步骤3">
            <a:extLst>
              <a:ext uri="{FF2B5EF4-FFF2-40B4-BE49-F238E27FC236}">
                <a16:creationId xmlns:a16="http://schemas.microsoft.com/office/drawing/2014/main" id="{28C86A64-4E0A-11CE-BECF-A6A6C05728FF}"/>
              </a:ext>
            </a:extLst>
          </p:cNvPr>
          <p:cNvGrpSpPr/>
          <p:nvPr/>
        </p:nvGrpSpPr>
        <p:grpSpPr>
          <a:xfrm>
            <a:off x="273276" y="2911906"/>
            <a:ext cx="2682119" cy="725177"/>
            <a:chOff x="4943078" y="1700704"/>
            <a:chExt cx="2682119" cy="725177"/>
          </a:xfrm>
        </p:grpSpPr>
        <p:sp>
          <p:nvSpPr>
            <p:cNvPr id="119" name="标题">
              <a:extLst>
                <a:ext uri="{FF2B5EF4-FFF2-40B4-BE49-F238E27FC236}">
                  <a16:creationId xmlns:a16="http://schemas.microsoft.com/office/drawing/2014/main" id="{0CB9CC0F-44EE-CA42-4AE6-BD43FFE5FF51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出射角</a:t>
              </a:r>
            </a:p>
          </p:txBody>
        </p:sp>
        <p:sp>
          <p:nvSpPr>
            <p:cNvPr id="120" name="序号">
              <a:extLst>
                <a:ext uri="{FF2B5EF4-FFF2-40B4-BE49-F238E27FC236}">
                  <a16:creationId xmlns:a16="http://schemas.microsoft.com/office/drawing/2014/main" id="{B03A18E1-5F5C-A1C7-D1E6-992BFA088E7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21" name="步骤4">
            <a:extLst>
              <a:ext uri="{FF2B5EF4-FFF2-40B4-BE49-F238E27FC236}">
                <a16:creationId xmlns:a16="http://schemas.microsoft.com/office/drawing/2014/main" id="{EDBB4EE1-696A-CCF5-F8FE-AA955B4A2A5D}"/>
              </a:ext>
            </a:extLst>
          </p:cNvPr>
          <p:cNvGrpSpPr/>
          <p:nvPr/>
        </p:nvGrpSpPr>
        <p:grpSpPr>
          <a:xfrm>
            <a:off x="273224" y="3700979"/>
            <a:ext cx="2682115" cy="725177"/>
            <a:chOff x="4943078" y="1700704"/>
            <a:chExt cx="2682115" cy="725177"/>
          </a:xfrm>
        </p:grpSpPr>
        <p:sp>
          <p:nvSpPr>
            <p:cNvPr id="122" name="标题">
              <a:extLst>
                <a:ext uri="{FF2B5EF4-FFF2-40B4-BE49-F238E27FC236}">
                  <a16:creationId xmlns:a16="http://schemas.microsoft.com/office/drawing/2014/main" id="{9DCC84EB-CDD8-9FBA-3499-5CF3BB13F168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123" name="序号">
              <a:extLst>
                <a:ext uri="{FF2B5EF4-FFF2-40B4-BE49-F238E27FC236}">
                  <a16:creationId xmlns:a16="http://schemas.microsoft.com/office/drawing/2014/main" id="{11163DEF-EB11-7386-3836-4BBAF2A54DB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/>
              <p:nvPr/>
            </p:nvSpPr>
            <p:spPr>
              <a:xfrm>
                <a:off x="3109940" y="1866735"/>
                <a:ext cx="3175001" cy="1136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1−4+1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=−2/3</m:t>
                      </m:r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=±60°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,±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dirty="0">
                  <a:solidFill>
                    <a:srgbClr val="159F84"/>
                  </a:solidFill>
                </a:endParaRPr>
              </a:p>
            </p:txBody>
          </p:sp>
        </mc:Choice>
        <mc:Fallback xmlns="">
          <p:sp>
            <p:nvSpPr>
              <p:cNvPr id="124" name="渐近线计算">
                <a:extLst>
                  <a:ext uri="{FF2B5EF4-FFF2-40B4-BE49-F238E27FC236}">
                    <a16:creationId xmlns:a16="http://schemas.microsoft.com/office/drawing/2014/main" id="{6D3D47EA-373F-F8E9-5B34-80267C801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940" y="1866735"/>
                <a:ext cx="3175001" cy="1136721"/>
              </a:xfrm>
              <a:prstGeom prst="rect">
                <a:avLst/>
              </a:prstGeom>
              <a:blipFill>
                <a:blip r:embed="rId24"/>
                <a:stretch>
                  <a:fillRect b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78539" y="352651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利用根轨迹分析系统性能例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0AB8F8EB-4427-7FD8-6F9D-3708EBE28434}"/>
                  </a:ext>
                </a:extLst>
              </p:cNvPr>
              <p:cNvSpPr txBox="1"/>
              <p:nvPr/>
            </p:nvSpPr>
            <p:spPr>
              <a:xfrm>
                <a:off x="2850694" y="3727265"/>
                <a:ext cx="2819577" cy="719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=0.49,</m:t>
                      </m:r>
                      <m:sSubSup>
                        <m:sSubSup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=3.05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=−2.26,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70.6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0AB8F8EB-4427-7FD8-6F9D-3708EBE28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694" y="3727265"/>
                <a:ext cx="2819577" cy="71949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步骤5">
            <a:extLst>
              <a:ext uri="{FF2B5EF4-FFF2-40B4-BE49-F238E27FC236}">
                <a16:creationId xmlns:a16="http://schemas.microsoft.com/office/drawing/2014/main" id="{1B65856F-D8DB-B845-06EB-C7B4B00180DF}"/>
              </a:ext>
            </a:extLst>
          </p:cNvPr>
          <p:cNvGrpSpPr/>
          <p:nvPr/>
        </p:nvGrpSpPr>
        <p:grpSpPr>
          <a:xfrm>
            <a:off x="267526" y="4478705"/>
            <a:ext cx="2682115" cy="725177"/>
            <a:chOff x="4943078" y="1700704"/>
            <a:chExt cx="2682115" cy="725177"/>
          </a:xfrm>
        </p:grpSpPr>
        <p:sp>
          <p:nvSpPr>
            <p:cNvPr id="97" name="标题">
              <a:extLst>
                <a:ext uri="{FF2B5EF4-FFF2-40B4-BE49-F238E27FC236}">
                  <a16:creationId xmlns:a16="http://schemas.microsoft.com/office/drawing/2014/main" id="{5D28E385-AED3-7E00-E065-F8ECBD90CB4F}"/>
                </a:ext>
              </a:extLst>
            </p:cNvPr>
            <p:cNvSpPr/>
            <p:nvPr/>
          </p:nvSpPr>
          <p:spPr bwMode="auto">
            <a:xfrm>
              <a:off x="5375126" y="1769619"/>
              <a:ext cx="2250067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虚轴交点</a:t>
              </a:r>
            </a:p>
          </p:txBody>
        </p:sp>
        <p:sp>
          <p:nvSpPr>
            <p:cNvPr id="99" name="序号">
              <a:extLst>
                <a:ext uri="{FF2B5EF4-FFF2-40B4-BE49-F238E27FC236}">
                  <a16:creationId xmlns:a16="http://schemas.microsoft.com/office/drawing/2014/main" id="{2A763346-1131-C375-0BEA-8D982FE31A2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虚轴交点">
                <a:extLst>
                  <a:ext uri="{FF2B5EF4-FFF2-40B4-BE49-F238E27FC236}">
                    <a16:creationId xmlns:a16="http://schemas.microsoft.com/office/drawing/2014/main" id="{67CBE4D8-8BE0-AC59-99E8-89B406A77998}"/>
                  </a:ext>
                </a:extLst>
              </p:cNvPr>
              <p:cNvSpPr txBox="1"/>
              <p:nvPr/>
            </p:nvSpPr>
            <p:spPr>
              <a:xfrm>
                <a:off x="2817779" y="4386596"/>
                <a:ext cx="4177025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.46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2.56</m:t>
                              </m:r>
                            </m:e>
                          </m:eqAr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zh-CN" alt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19.7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1" lang="zh-CN" altLang="en-US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35.7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" name="虚轴交点">
                <a:extLst>
                  <a:ext uri="{FF2B5EF4-FFF2-40B4-BE49-F238E27FC236}">
                    <a16:creationId xmlns:a16="http://schemas.microsoft.com/office/drawing/2014/main" id="{67CBE4D8-8BE0-AC59-99E8-89B406A77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779" y="4386596"/>
                <a:ext cx="4177025" cy="1053494"/>
              </a:xfrm>
              <a:prstGeom prst="rect">
                <a:avLst/>
              </a:prstGeom>
              <a:blipFill>
                <a:blip r:embed="rId26"/>
                <a:stretch>
                  <a:fillRect l="-36364"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增益范围2">
                <a:extLst>
                  <a:ext uri="{FF2B5EF4-FFF2-40B4-BE49-F238E27FC236}">
                    <a16:creationId xmlns:a16="http://schemas.microsoft.com/office/drawing/2014/main" id="{A68858C3-65A0-1635-50F2-021628A7BBD5}"/>
                  </a:ext>
                </a:extLst>
              </p:cNvPr>
              <p:cNvSpPr txBox="1"/>
              <p:nvPr/>
            </p:nvSpPr>
            <p:spPr>
              <a:xfrm>
                <a:off x="3148955" y="5518211"/>
                <a:ext cx="34330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19.7&lt;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&lt;35.7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0" name="增益范围2">
                <a:extLst>
                  <a:ext uri="{FF2B5EF4-FFF2-40B4-BE49-F238E27FC236}">
                    <a16:creationId xmlns:a16="http://schemas.microsoft.com/office/drawing/2014/main" id="{A68858C3-65A0-1635-50F2-021628A7B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955" y="5518211"/>
                <a:ext cx="3433067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增益范围1">
                <a:extLst>
                  <a:ext uri="{FF2B5EF4-FFF2-40B4-BE49-F238E27FC236}">
                    <a16:creationId xmlns:a16="http://schemas.microsoft.com/office/drawing/2014/main" id="{18F2FEFF-D946-3AF2-AE0A-19A44300E300}"/>
                  </a:ext>
                </a:extLst>
              </p:cNvPr>
              <p:cNvSpPr txBox="1"/>
              <p:nvPr/>
            </p:nvSpPr>
            <p:spPr>
              <a:xfrm>
                <a:off x="3217848" y="6115455"/>
                <a:ext cx="31432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1.234&lt;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&lt;2.23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1" name="增益范围1">
                <a:extLst>
                  <a:ext uri="{FF2B5EF4-FFF2-40B4-BE49-F238E27FC236}">
                    <a16:creationId xmlns:a16="http://schemas.microsoft.com/office/drawing/2014/main" id="{18F2FEFF-D946-3AF2-AE0A-19A44300E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848" y="6115455"/>
                <a:ext cx="3143293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重要1">
                <a:extLst>
                  <a:ext uri="{FF2B5EF4-FFF2-40B4-BE49-F238E27FC236}">
                    <a16:creationId xmlns:a16="http://schemas.microsoft.com/office/drawing/2014/main" id="{7EAC006F-E7F0-18FE-D195-BB391112F88D}"/>
                  </a:ext>
                </a:extLst>
              </p:cNvPr>
              <p:cNvSpPr txBox="1"/>
              <p:nvPr/>
            </p:nvSpPr>
            <p:spPr>
              <a:xfrm>
                <a:off x="334963" y="5440090"/>
                <a:ext cx="2785759" cy="599123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chemeClr val="bg1"/>
                    </a:solidFill>
                  </a:rPr>
                  <a:t>稳定的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" altLang="zh-CN" sz="2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kumimoji="1" lang="en" altLang="zh-CN" sz="2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2800" dirty="0">
                    <a:solidFill>
                      <a:schemeClr val="bg1"/>
                    </a:solidFill>
                  </a:rPr>
                  <a:t>范围</a:t>
                </a:r>
                <a:r>
                  <a:rPr kumimoji="1" lang="en-US" altLang="zh-CN" sz="2800" dirty="0">
                    <a:solidFill>
                      <a:schemeClr val="bg1"/>
                    </a:solidFill>
                  </a:rPr>
                  <a:t>:</a:t>
                </a:r>
                <a:endParaRPr kumimoji="1" lang="zh-CN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8" name="重要1">
                <a:extLst>
                  <a:ext uri="{FF2B5EF4-FFF2-40B4-BE49-F238E27FC236}">
                    <a16:creationId xmlns:a16="http://schemas.microsoft.com/office/drawing/2014/main" id="{7EAC006F-E7F0-18FE-D195-BB391112F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5440090"/>
                <a:ext cx="2785759" cy="599123"/>
              </a:xfrm>
              <a:prstGeom prst="roundRect">
                <a:avLst>
                  <a:gd name="adj" fmla="val 22661"/>
                </a:avLst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重要2">
                <a:extLst>
                  <a:ext uri="{FF2B5EF4-FFF2-40B4-BE49-F238E27FC236}">
                    <a16:creationId xmlns:a16="http://schemas.microsoft.com/office/drawing/2014/main" id="{D0446809-D6D4-A2B0-1F3F-2F38E906F64E}"/>
                  </a:ext>
                </a:extLst>
              </p:cNvPr>
              <p:cNvSpPr txBox="1"/>
              <p:nvPr/>
            </p:nvSpPr>
            <p:spPr>
              <a:xfrm>
                <a:off x="327755" y="6153626"/>
                <a:ext cx="2800173" cy="599123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chemeClr val="bg1"/>
                    </a:solidFill>
                  </a:rPr>
                  <a:t>稳定的 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CN" altLang="en-US" sz="2800" dirty="0">
                    <a:solidFill>
                      <a:schemeClr val="bg1"/>
                    </a:solidFill>
                  </a:rPr>
                  <a:t>范围</a:t>
                </a:r>
                <a:r>
                  <a:rPr kumimoji="1" lang="en-US" altLang="zh-CN" sz="2800" dirty="0">
                    <a:solidFill>
                      <a:schemeClr val="bg1"/>
                    </a:solidFill>
                  </a:rPr>
                  <a:t>:</a:t>
                </a:r>
                <a:endParaRPr kumimoji="1" lang="zh-CN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9" name="重要2">
                <a:extLst>
                  <a:ext uri="{FF2B5EF4-FFF2-40B4-BE49-F238E27FC236}">
                    <a16:creationId xmlns:a16="http://schemas.microsoft.com/office/drawing/2014/main" id="{D0446809-D6D4-A2B0-1F3F-2F38E906F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55" y="6153626"/>
                <a:ext cx="2800173" cy="599123"/>
              </a:xfrm>
              <a:prstGeom prst="roundRect">
                <a:avLst>
                  <a:gd name="adj" fmla="val 22661"/>
                </a:avLst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854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26" grpId="0" animBg="1"/>
      <p:bldP spid="110" grpId="0" animBg="1"/>
      <p:bldP spid="108" grpId="0" animBg="1"/>
      <p:bldP spid="140" grpId="0"/>
      <p:bldP spid="141" grpId="0"/>
      <p:bldP spid="138" grpId="0" animBg="1"/>
      <p:bldP spid="1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297684" cy="725177"/>
            <a:chOff x="4943078" y="1700704"/>
            <a:chExt cx="3297684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7" y="1739799"/>
              <a:ext cx="2737945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根轨迹要点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3585716" cy="725177"/>
            <a:chOff x="4943078" y="1700704"/>
            <a:chExt cx="3585716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311110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参数稳定范围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3597889" cy="725177"/>
            <a:chOff x="4943078" y="1700704"/>
            <a:chExt cx="3597889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3081107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选择极点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585716" cy="725177"/>
            <a:chOff x="4943078" y="1700704"/>
            <a:chExt cx="3585716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311110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根轨迹增益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756440" y="865146"/>
            <a:ext cx="78912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起点、终点、实轴根轨迹、分离点，出射角，入射角，渐近线，虚轴交点，根之和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4150990" y="1880312"/>
            <a:ext cx="7762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以虚轴为边界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4169105" y="2703727"/>
            <a:ext cx="7762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应用时需化为开环增益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4132127" y="3550762"/>
            <a:ext cx="669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应用主导极点选择，考虑阻尼和振荡频率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工程思维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303118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图形化思考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207768" cy="1001329"/>
            <a:chOff x="5348307" y="5538470"/>
            <a:chExt cx="6207768" cy="1001329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20700" y="5585692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分析例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中稳定情况下系统性能指标的范围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如性能指标不满足</a:t>
              </a:r>
              <a:r>
                <a:rPr kumimoji="1" lang="zh-CN" altLang="en-US" sz="280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要求，考虑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可能的校正手段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8" name="坐标轴">
            <a:extLst>
              <a:ext uri="{FF2B5EF4-FFF2-40B4-BE49-F238E27FC236}">
                <a16:creationId xmlns:a16="http://schemas.microsoft.com/office/drawing/2014/main" id="{22787401-E8F4-A09E-0174-5AA1AFE2C9C8}"/>
              </a:ext>
            </a:extLst>
          </p:cNvPr>
          <p:cNvGrpSpPr/>
          <p:nvPr/>
        </p:nvGrpSpPr>
        <p:grpSpPr>
          <a:xfrm>
            <a:off x="7894638" y="863857"/>
            <a:ext cx="3958444" cy="4608512"/>
            <a:chOff x="7905396" y="1050948"/>
            <a:chExt cx="3958444" cy="4608512"/>
          </a:xfrm>
        </p:grpSpPr>
        <p:cxnSp>
          <p:nvCxnSpPr>
            <p:cNvPr id="89" name="x轴">
              <a:extLst>
                <a:ext uri="{FF2B5EF4-FFF2-40B4-BE49-F238E27FC236}">
                  <a16:creationId xmlns:a16="http://schemas.microsoft.com/office/drawing/2014/main" id="{739E69FE-39FF-A8BF-D672-5AE0D065F2C7}"/>
                </a:ext>
              </a:extLst>
            </p:cNvPr>
            <p:cNvCxnSpPr>
              <a:cxnSpLocks/>
            </p:cNvCxnSpPr>
            <p:nvPr/>
          </p:nvCxnSpPr>
          <p:spPr>
            <a:xfrm>
              <a:off x="7905396" y="3427857"/>
              <a:ext cx="3958444" cy="1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y轴">
              <a:extLst>
                <a:ext uri="{FF2B5EF4-FFF2-40B4-BE49-F238E27FC236}">
                  <a16:creationId xmlns:a16="http://schemas.microsoft.com/office/drawing/2014/main" id="{B9551C9A-D87F-6BA7-FC29-CCB2E46504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4027" y="1050948"/>
              <a:ext cx="9828" cy="46085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labelj">
                  <a:extLst>
                    <a:ext uri="{FF2B5EF4-FFF2-40B4-BE49-F238E27FC236}">
                      <a16:creationId xmlns:a16="http://schemas.microsoft.com/office/drawing/2014/main" id="{1D7B7621-654C-A930-C4DB-C09CBF49E570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label0">
                  <a:extLst>
                    <a:ext uri="{FF2B5EF4-FFF2-40B4-BE49-F238E27FC236}">
                      <a16:creationId xmlns:a16="http://schemas.microsoft.com/office/drawing/2014/main" id="{67169191-640A-4428-0792-984A3503644A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ytick1">
              <a:extLst>
                <a:ext uri="{FF2B5EF4-FFF2-40B4-BE49-F238E27FC236}">
                  <a16:creationId xmlns:a16="http://schemas.microsoft.com/office/drawing/2014/main" id="{D59A8701-2035-B094-7A3E-ECA7EF33693A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ytick-1">
              <a:extLst>
                <a:ext uri="{FF2B5EF4-FFF2-40B4-BE49-F238E27FC236}">
                  <a16:creationId xmlns:a16="http://schemas.microsoft.com/office/drawing/2014/main" id="{EECFEC1D-EAE3-E2C7-6095-C14099A70860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ytick-2">
              <a:extLst>
                <a:ext uri="{FF2B5EF4-FFF2-40B4-BE49-F238E27FC236}">
                  <a16:creationId xmlns:a16="http://schemas.microsoft.com/office/drawing/2014/main" id="{12AC0C8D-6945-4720-90A3-97CBCA4ED38F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ytick2">
              <a:extLst>
                <a:ext uri="{FF2B5EF4-FFF2-40B4-BE49-F238E27FC236}">
                  <a16:creationId xmlns:a16="http://schemas.microsoft.com/office/drawing/2014/main" id="{AD2A7926-6985-1E15-9CEE-83D95C1F63EB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xtixk-1">
              <a:extLst>
                <a:ext uri="{FF2B5EF4-FFF2-40B4-BE49-F238E27FC236}">
                  <a16:creationId xmlns:a16="http://schemas.microsoft.com/office/drawing/2014/main" id="{7CDD0E4C-F31A-3A63-46B9-F81E374F3D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xtixk-2">
              <a:extLst>
                <a:ext uri="{FF2B5EF4-FFF2-40B4-BE49-F238E27FC236}">
                  <a16:creationId xmlns:a16="http://schemas.microsoft.com/office/drawing/2014/main" id="{2BFE4D54-57EC-7D7E-39F5-99E209BA27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xtixk1">
              <a:extLst>
                <a:ext uri="{FF2B5EF4-FFF2-40B4-BE49-F238E27FC236}">
                  <a16:creationId xmlns:a16="http://schemas.microsoft.com/office/drawing/2014/main" id="{04873409-7939-761E-DC64-629A5ABF2F0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xtixk2">
              <a:extLst>
                <a:ext uri="{FF2B5EF4-FFF2-40B4-BE49-F238E27FC236}">
                  <a16:creationId xmlns:a16="http://schemas.microsoft.com/office/drawing/2014/main" id="{131E648B-D9EA-3A5D-51FD-734A5E55ABA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xlabel2">
                  <a:extLst>
                    <a:ext uri="{FF2B5EF4-FFF2-40B4-BE49-F238E27FC236}">
                      <a16:creationId xmlns:a16="http://schemas.microsoft.com/office/drawing/2014/main" id="{4CB318D2-763C-2184-3107-2A197AC45A16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xlabel1">
                  <a:extLst>
                    <a:ext uri="{FF2B5EF4-FFF2-40B4-BE49-F238E27FC236}">
                      <a16:creationId xmlns:a16="http://schemas.microsoft.com/office/drawing/2014/main" id="{E004BB8B-8B0E-A7A6-F8B9-F5D20D0CC4BC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xlabel-1">
                  <a:extLst>
                    <a:ext uri="{FF2B5EF4-FFF2-40B4-BE49-F238E27FC236}">
                      <a16:creationId xmlns:a16="http://schemas.microsoft.com/office/drawing/2014/main" id="{F1FBA96B-6C80-B3F8-A366-AC874253AF5D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xlabel-2">
                  <a:extLst>
                    <a:ext uri="{FF2B5EF4-FFF2-40B4-BE49-F238E27FC236}">
                      <a16:creationId xmlns:a16="http://schemas.microsoft.com/office/drawing/2014/main" id="{5588C4F0-C018-99C6-744F-5BEC6F6F29A7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ylabel2">
                  <a:extLst>
                    <a:ext uri="{FF2B5EF4-FFF2-40B4-BE49-F238E27FC236}">
                      <a16:creationId xmlns:a16="http://schemas.microsoft.com/office/drawing/2014/main" id="{F2F2CFB6-E5FF-A8E3-0AE0-AE278C146633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ylabel4">
                  <a:extLst>
                    <a:ext uri="{FF2B5EF4-FFF2-40B4-BE49-F238E27FC236}">
                      <a16:creationId xmlns:a16="http://schemas.microsoft.com/office/drawing/2014/main" id="{A45A8CC6-1928-B10A-DDAB-9506EEAE5A85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ylabel-2">
                  <a:extLst>
                    <a:ext uri="{FF2B5EF4-FFF2-40B4-BE49-F238E27FC236}">
                      <a16:creationId xmlns:a16="http://schemas.microsoft.com/office/drawing/2014/main" id="{CCF27ABA-88C5-43D7-08AC-335C57C03955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ylabel-4">
                  <a:extLst>
                    <a:ext uri="{FF2B5EF4-FFF2-40B4-BE49-F238E27FC236}">
                      <a16:creationId xmlns:a16="http://schemas.microsoft.com/office/drawing/2014/main" id="{F02DD065-5414-203C-05FC-9643A740E0CE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9" name="辅助线1">
            <a:extLst>
              <a:ext uri="{FF2B5EF4-FFF2-40B4-BE49-F238E27FC236}">
                <a16:creationId xmlns:a16="http://schemas.microsoft.com/office/drawing/2014/main" id="{60D7E0E2-24BB-7537-CF75-DC49E6997375}"/>
              </a:ext>
            </a:extLst>
          </p:cNvPr>
          <p:cNvCxnSpPr>
            <a:cxnSpLocks/>
          </p:cNvCxnSpPr>
          <p:nvPr/>
        </p:nvCxnSpPr>
        <p:spPr>
          <a:xfrm flipH="1" flipV="1">
            <a:off x="10057862" y="1999074"/>
            <a:ext cx="1230" cy="246935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辅助线2">
            <a:extLst>
              <a:ext uri="{FF2B5EF4-FFF2-40B4-BE49-F238E27FC236}">
                <a16:creationId xmlns:a16="http://schemas.microsoft.com/office/drawing/2014/main" id="{56FE0968-F33A-08A1-37D7-A9852871813D}"/>
              </a:ext>
            </a:extLst>
          </p:cNvPr>
          <p:cNvCxnSpPr>
            <a:cxnSpLocks/>
            <a:stCxn id="114" idx="1"/>
          </p:cNvCxnSpPr>
          <p:nvPr/>
        </p:nvCxnSpPr>
        <p:spPr>
          <a:xfrm flipH="1" flipV="1">
            <a:off x="10071326" y="2000543"/>
            <a:ext cx="273399" cy="11706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辅助线3">
            <a:extLst>
              <a:ext uri="{FF2B5EF4-FFF2-40B4-BE49-F238E27FC236}">
                <a16:creationId xmlns:a16="http://schemas.microsoft.com/office/drawing/2014/main" id="{14A17786-D909-8219-0C9A-935FBFC3FF5B}"/>
              </a:ext>
            </a:extLst>
          </p:cNvPr>
          <p:cNvCxnSpPr>
            <a:cxnSpLocks/>
            <a:stCxn id="117" idx="2"/>
          </p:cNvCxnSpPr>
          <p:nvPr/>
        </p:nvCxnSpPr>
        <p:spPr>
          <a:xfrm flipH="1" flipV="1">
            <a:off x="10061429" y="2000776"/>
            <a:ext cx="781625" cy="131683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辅助线4">
            <a:extLst>
              <a:ext uri="{FF2B5EF4-FFF2-40B4-BE49-F238E27FC236}">
                <a16:creationId xmlns:a16="http://schemas.microsoft.com/office/drawing/2014/main" id="{066C8AF3-9713-D8C2-1335-D31B023C8FCE}"/>
              </a:ext>
            </a:extLst>
          </p:cNvPr>
          <p:cNvCxnSpPr>
            <a:cxnSpLocks/>
            <a:stCxn id="118" idx="2"/>
          </p:cNvCxnSpPr>
          <p:nvPr/>
        </p:nvCxnSpPr>
        <p:spPr>
          <a:xfrm flipH="1" flipV="1">
            <a:off x="10062248" y="1992943"/>
            <a:ext cx="1238573" cy="132466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零极点">
            <a:extLst>
              <a:ext uri="{FF2B5EF4-FFF2-40B4-BE49-F238E27FC236}">
                <a16:creationId xmlns:a16="http://schemas.microsoft.com/office/drawing/2014/main" id="{001584C6-E9E0-AB36-B74C-A34083511D4F}"/>
              </a:ext>
            </a:extLst>
          </p:cNvPr>
          <p:cNvGrpSpPr/>
          <p:nvPr/>
        </p:nvGrpSpPr>
        <p:grpSpPr>
          <a:xfrm>
            <a:off x="9913846" y="1850610"/>
            <a:ext cx="1456153" cy="2803304"/>
            <a:chOff x="9913846" y="2759569"/>
            <a:chExt cx="1456153" cy="2803304"/>
          </a:xfrm>
        </p:grpSpPr>
        <p:sp>
          <p:nvSpPr>
            <p:cNvPr id="114" name="零点">
              <a:extLst>
                <a:ext uri="{FF2B5EF4-FFF2-40B4-BE49-F238E27FC236}">
                  <a16:creationId xmlns:a16="http://schemas.microsoft.com/office/drawing/2014/main" id="{5D4A28C0-C8E5-2DB8-B40A-949772CE5819}"/>
                </a:ext>
              </a:extLst>
            </p:cNvPr>
            <p:cNvSpPr/>
            <p:nvPr/>
          </p:nvSpPr>
          <p:spPr>
            <a:xfrm>
              <a:off x="10313093" y="4048545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极点3">
              <a:extLst>
                <a:ext uri="{FF2B5EF4-FFF2-40B4-BE49-F238E27FC236}">
                  <a16:creationId xmlns:a16="http://schemas.microsoft.com/office/drawing/2014/main" id="{48DFCEB3-E233-0678-06E2-BB1F5AB9C9A5}"/>
                </a:ext>
              </a:extLst>
            </p:cNvPr>
            <p:cNvSpPr/>
            <p:nvPr/>
          </p:nvSpPr>
          <p:spPr>
            <a:xfrm>
              <a:off x="9913846" y="275956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6" name="极点4">
              <a:extLst>
                <a:ext uri="{FF2B5EF4-FFF2-40B4-BE49-F238E27FC236}">
                  <a16:creationId xmlns:a16="http://schemas.microsoft.com/office/drawing/2014/main" id="{C30E4D99-3478-533B-CFE7-097D1DB224E4}"/>
                </a:ext>
              </a:extLst>
            </p:cNvPr>
            <p:cNvSpPr/>
            <p:nvPr/>
          </p:nvSpPr>
          <p:spPr>
            <a:xfrm>
              <a:off x="9913846" y="527484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7" name="极点1">
              <a:extLst>
                <a:ext uri="{FF2B5EF4-FFF2-40B4-BE49-F238E27FC236}">
                  <a16:creationId xmlns:a16="http://schemas.microsoft.com/office/drawing/2014/main" id="{2702E1D5-F9A5-0E2F-8826-EB28D42C9679}"/>
                </a:ext>
              </a:extLst>
            </p:cNvPr>
            <p:cNvSpPr/>
            <p:nvPr/>
          </p:nvSpPr>
          <p:spPr>
            <a:xfrm>
              <a:off x="10624200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8" name="极点2">
              <a:extLst>
                <a:ext uri="{FF2B5EF4-FFF2-40B4-BE49-F238E27FC236}">
                  <a16:creationId xmlns:a16="http://schemas.microsoft.com/office/drawing/2014/main" id="{5F596FE7-301D-20DB-772F-5620F4B0CC45}"/>
                </a:ext>
              </a:extLst>
            </p:cNvPr>
            <p:cNvSpPr/>
            <p:nvPr/>
          </p:nvSpPr>
          <p:spPr>
            <a:xfrm>
              <a:off x="11081967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119" name="渐近线1">
            <a:extLst>
              <a:ext uri="{FF2B5EF4-FFF2-40B4-BE49-F238E27FC236}">
                <a16:creationId xmlns:a16="http://schemas.microsoft.com/office/drawing/2014/main" id="{253E015F-50F3-5348-F051-3EF3C5B20AB2}"/>
              </a:ext>
            </a:extLst>
          </p:cNvPr>
          <p:cNvCxnSpPr>
            <a:cxnSpLocks/>
            <a:endCxn id="114" idx="6"/>
          </p:cNvCxnSpPr>
          <p:nvPr/>
        </p:nvCxnSpPr>
        <p:spPr>
          <a:xfrm flipH="1" flipV="1">
            <a:off x="10529093" y="3247586"/>
            <a:ext cx="982658" cy="144491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渐近线2">
            <a:extLst>
              <a:ext uri="{FF2B5EF4-FFF2-40B4-BE49-F238E27FC236}">
                <a16:creationId xmlns:a16="http://schemas.microsoft.com/office/drawing/2014/main" id="{6AD32227-E6F7-8FC9-B37B-9F38712399A2}"/>
              </a:ext>
            </a:extLst>
          </p:cNvPr>
          <p:cNvCxnSpPr>
            <a:cxnSpLocks/>
            <a:endCxn id="114" idx="6"/>
          </p:cNvCxnSpPr>
          <p:nvPr/>
        </p:nvCxnSpPr>
        <p:spPr>
          <a:xfrm flipH="1">
            <a:off x="10529093" y="1797006"/>
            <a:ext cx="986699" cy="14505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分离点">
            <a:extLst>
              <a:ext uri="{FF2B5EF4-FFF2-40B4-BE49-F238E27FC236}">
                <a16:creationId xmlns:a16="http://schemas.microsoft.com/office/drawing/2014/main" id="{30C5B4E7-C43B-F494-278B-0D725A408F0B}"/>
              </a:ext>
            </a:extLst>
          </p:cNvPr>
          <p:cNvGrpSpPr/>
          <p:nvPr/>
        </p:nvGrpSpPr>
        <p:grpSpPr>
          <a:xfrm>
            <a:off x="9489607" y="2625975"/>
            <a:ext cx="2034559" cy="670025"/>
            <a:chOff x="9489607" y="3534934"/>
            <a:chExt cx="2034559" cy="670025"/>
          </a:xfrm>
        </p:grpSpPr>
        <p:sp>
          <p:nvSpPr>
            <p:cNvPr id="122" name="分离点1">
              <a:extLst>
                <a:ext uri="{FF2B5EF4-FFF2-40B4-BE49-F238E27FC236}">
                  <a16:creationId xmlns:a16="http://schemas.microsoft.com/office/drawing/2014/main" id="{F0D7EE42-10E7-654F-20DC-0B56FD004E0C}"/>
                </a:ext>
              </a:extLst>
            </p:cNvPr>
            <p:cNvSpPr/>
            <p:nvPr/>
          </p:nvSpPr>
          <p:spPr>
            <a:xfrm>
              <a:off x="10944981" y="4108037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分离点2">
              <a:extLst>
                <a:ext uri="{FF2B5EF4-FFF2-40B4-BE49-F238E27FC236}">
                  <a16:creationId xmlns:a16="http://schemas.microsoft.com/office/drawing/2014/main" id="{DEDC96AF-4622-D46F-DC7B-6045F70D9587}"/>
                </a:ext>
              </a:extLst>
            </p:cNvPr>
            <p:cNvSpPr/>
            <p:nvPr/>
          </p:nvSpPr>
          <p:spPr>
            <a:xfrm>
              <a:off x="9800184" y="4113265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d1">
                  <a:extLst>
                    <a:ext uri="{FF2B5EF4-FFF2-40B4-BE49-F238E27FC236}">
                      <a16:creationId xmlns:a16="http://schemas.microsoft.com/office/drawing/2014/main" id="{7F8F6EE2-168E-F74F-1669-E62AE8C29C63}"/>
                    </a:ext>
                  </a:extLst>
                </p:cNvPr>
                <p:cNvSpPr txBox="1"/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d2">
                  <a:extLst>
                    <a:ext uri="{FF2B5EF4-FFF2-40B4-BE49-F238E27FC236}">
                      <a16:creationId xmlns:a16="http://schemas.microsoft.com/office/drawing/2014/main" id="{6D39ADC6-FC6C-AEEA-9BFB-D997C973A222}"/>
                    </a:ext>
                  </a:extLst>
                </p:cNvPr>
                <p:cNvSpPr txBox="1"/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143" r="-2381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出射角绘图">
            <a:extLst>
              <a:ext uri="{FF2B5EF4-FFF2-40B4-BE49-F238E27FC236}">
                <a16:creationId xmlns:a16="http://schemas.microsoft.com/office/drawing/2014/main" id="{839AC610-8BDF-6117-7805-A5328A17182B}"/>
              </a:ext>
            </a:extLst>
          </p:cNvPr>
          <p:cNvGrpSpPr/>
          <p:nvPr/>
        </p:nvGrpSpPr>
        <p:grpSpPr>
          <a:xfrm>
            <a:off x="8859983" y="1447871"/>
            <a:ext cx="1929978" cy="905475"/>
            <a:chOff x="9231324" y="2866066"/>
            <a:chExt cx="1929978" cy="905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出射角">
                  <a:extLst>
                    <a:ext uri="{FF2B5EF4-FFF2-40B4-BE49-F238E27FC236}">
                      <a16:creationId xmlns:a16="http://schemas.microsoft.com/office/drawing/2014/main" id="{F019206F-6846-15AF-5BC8-D31C56694A0F}"/>
                    </a:ext>
                  </a:extLst>
                </p:cNvPr>
                <p:cNvSpPr txBox="1"/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=−54.9°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307" r="-13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8" name="量角器">
              <a:extLst>
                <a:ext uri="{FF2B5EF4-FFF2-40B4-BE49-F238E27FC236}">
                  <a16:creationId xmlns:a16="http://schemas.microsoft.com/office/drawing/2014/main" id="{D45918B7-55B0-666F-315D-3DC38E026B88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88396"/>
              <a:chOff x="10197602" y="3183145"/>
              <a:chExt cx="592627" cy="588396"/>
            </a:xfrm>
          </p:grpSpPr>
          <p:cxnSp>
            <p:nvCxnSpPr>
              <p:cNvPr id="129" name="角度2">
                <a:extLst>
                  <a:ext uri="{FF2B5EF4-FFF2-40B4-BE49-F238E27FC236}">
                    <a16:creationId xmlns:a16="http://schemas.microsoft.com/office/drawing/2014/main" id="{4F118A60-557E-10F4-9032-36AD19F66BF6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角度1">
                <a:extLst>
                  <a:ext uri="{FF2B5EF4-FFF2-40B4-BE49-F238E27FC236}">
                    <a16:creationId xmlns:a16="http://schemas.microsoft.com/office/drawing/2014/main" id="{BC4DAC03-52F1-EA82-DB7B-79353F5D2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04634" cy="349926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角度弧">
                <a:extLst>
                  <a:ext uri="{FF2B5EF4-FFF2-40B4-BE49-F238E27FC236}">
                    <a16:creationId xmlns:a16="http://schemas.microsoft.com/office/drawing/2014/main" id="{6909735B-9554-0E48-CC09-B6263E64CF7C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3358980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136" name="虚轴交点组合">
            <a:extLst>
              <a:ext uri="{FF2B5EF4-FFF2-40B4-BE49-F238E27FC236}">
                <a16:creationId xmlns:a16="http://schemas.microsoft.com/office/drawing/2014/main" id="{1652419C-62F9-2D65-6510-3CAE96F25EF2}"/>
              </a:ext>
            </a:extLst>
          </p:cNvPr>
          <p:cNvGrpSpPr/>
          <p:nvPr/>
        </p:nvGrpSpPr>
        <p:grpSpPr>
          <a:xfrm>
            <a:off x="10722508" y="2225222"/>
            <a:ext cx="103533" cy="2026601"/>
            <a:chOff x="10722508" y="3134181"/>
            <a:chExt cx="103533" cy="2026601"/>
          </a:xfrm>
        </p:grpSpPr>
        <p:sp>
          <p:nvSpPr>
            <p:cNvPr id="137" name="虚轴交点2">
              <a:extLst>
                <a:ext uri="{FF2B5EF4-FFF2-40B4-BE49-F238E27FC236}">
                  <a16:creationId xmlns:a16="http://schemas.microsoft.com/office/drawing/2014/main" id="{AA7E22F2-4470-D144-54B8-330690FC8CF8}"/>
                </a:ext>
              </a:extLst>
            </p:cNvPr>
            <p:cNvSpPr/>
            <p:nvPr/>
          </p:nvSpPr>
          <p:spPr>
            <a:xfrm>
              <a:off x="10733177" y="4556559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8" name="虚轴交点1">
              <a:extLst>
                <a:ext uri="{FF2B5EF4-FFF2-40B4-BE49-F238E27FC236}">
                  <a16:creationId xmlns:a16="http://schemas.microsoft.com/office/drawing/2014/main" id="{7CA514C8-0F08-234F-E3E7-EA0F3A610DA4}"/>
                </a:ext>
              </a:extLst>
            </p:cNvPr>
            <p:cNvSpPr/>
            <p:nvPr/>
          </p:nvSpPr>
          <p:spPr>
            <a:xfrm>
              <a:off x="10734347" y="362790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9" name="虚轴交点2">
              <a:extLst>
                <a:ext uri="{FF2B5EF4-FFF2-40B4-BE49-F238E27FC236}">
                  <a16:creationId xmlns:a16="http://schemas.microsoft.com/office/drawing/2014/main" id="{975C02A9-A608-40A2-2120-D77764818956}"/>
                </a:ext>
              </a:extLst>
            </p:cNvPr>
            <p:cNvSpPr/>
            <p:nvPr/>
          </p:nvSpPr>
          <p:spPr>
            <a:xfrm>
              <a:off x="10728048" y="506908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0" name="虚轴交点2">
              <a:extLst>
                <a:ext uri="{FF2B5EF4-FFF2-40B4-BE49-F238E27FC236}">
                  <a16:creationId xmlns:a16="http://schemas.microsoft.com/office/drawing/2014/main" id="{8F317F52-EDFE-81BE-A7AD-427D6365C02F}"/>
                </a:ext>
              </a:extLst>
            </p:cNvPr>
            <p:cNvSpPr/>
            <p:nvPr/>
          </p:nvSpPr>
          <p:spPr>
            <a:xfrm>
              <a:off x="10722508" y="3134181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41" name="实轴根轨迹2">
            <a:extLst>
              <a:ext uri="{FF2B5EF4-FFF2-40B4-BE49-F238E27FC236}">
                <a16:creationId xmlns:a16="http://schemas.microsoft.com/office/drawing/2014/main" id="{22E5CFB4-050E-97A0-89B3-6945B24A00F7}"/>
              </a:ext>
            </a:extLst>
          </p:cNvPr>
          <p:cNvCxnSpPr>
            <a:cxnSpLocks/>
          </p:cNvCxnSpPr>
          <p:nvPr/>
        </p:nvCxnSpPr>
        <p:spPr>
          <a:xfrm flipH="1" flipV="1">
            <a:off x="7212856" y="3234393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实轴根轨迹1">
            <a:extLst>
              <a:ext uri="{FF2B5EF4-FFF2-40B4-BE49-F238E27FC236}">
                <a16:creationId xmlns:a16="http://schemas.microsoft.com/office/drawing/2014/main" id="{1D75F521-72F2-5DD3-66F3-3410D31CD785}"/>
              </a:ext>
            </a:extLst>
          </p:cNvPr>
          <p:cNvCxnSpPr>
            <a:cxnSpLocks/>
          </p:cNvCxnSpPr>
          <p:nvPr/>
        </p:nvCxnSpPr>
        <p:spPr>
          <a:xfrm flipH="1">
            <a:off x="10783097" y="3240766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根轨迹1">
            <a:extLst>
              <a:ext uri="{FF2B5EF4-FFF2-40B4-BE49-F238E27FC236}">
                <a16:creationId xmlns:a16="http://schemas.microsoft.com/office/drawing/2014/main" id="{8874DF2B-F4BD-C79F-1DE0-E41C8AB6A414}"/>
              </a:ext>
            </a:extLst>
          </p:cNvPr>
          <p:cNvSpPr/>
          <p:nvPr/>
        </p:nvSpPr>
        <p:spPr>
          <a:xfrm flipV="1">
            <a:off x="7583588" y="1995859"/>
            <a:ext cx="2659843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9843" h="1248788">
                <a:moveTo>
                  <a:pt x="2435943" y="1248788"/>
                </a:moveTo>
                <a:cubicBezTo>
                  <a:pt x="3017998" y="614846"/>
                  <a:pt x="2282152" y="767588"/>
                  <a:pt x="2274877" y="0"/>
                </a:cubicBezTo>
                <a:lnTo>
                  <a:pt x="0" y="8040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根轨迹2">
            <a:extLst>
              <a:ext uri="{FF2B5EF4-FFF2-40B4-BE49-F238E27FC236}">
                <a16:creationId xmlns:a16="http://schemas.microsoft.com/office/drawing/2014/main" id="{6A46592D-C250-1374-F902-47B849CB638F}"/>
              </a:ext>
            </a:extLst>
          </p:cNvPr>
          <p:cNvSpPr/>
          <p:nvPr/>
        </p:nvSpPr>
        <p:spPr>
          <a:xfrm>
            <a:off x="9865550" y="3238146"/>
            <a:ext cx="456212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161066 w 456212"/>
              <a:gd name="connsiteY0" fmla="*/ 1248788 h 1248788"/>
              <a:gd name="connsiteX1" fmla="*/ 0 w 456212"/>
              <a:gd name="connsiteY1" fmla="*/ 0 h 1248788"/>
              <a:gd name="connsiteX2" fmla="*/ 456212 w 456212"/>
              <a:gd name="connsiteY2" fmla="*/ 1984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212" h="1248788">
                <a:moveTo>
                  <a:pt x="161066" y="1248788"/>
                </a:moveTo>
                <a:cubicBezTo>
                  <a:pt x="743121" y="614846"/>
                  <a:pt x="7275" y="767588"/>
                  <a:pt x="0" y="0"/>
                </a:cubicBezTo>
                <a:lnTo>
                  <a:pt x="456212" y="1984"/>
                </a:ln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4" name="根轨迹3">
            <a:extLst>
              <a:ext uri="{FF2B5EF4-FFF2-40B4-BE49-F238E27FC236}">
                <a16:creationId xmlns:a16="http://schemas.microsoft.com/office/drawing/2014/main" id="{CF67877F-2102-6898-3973-0A3A034DDE85}"/>
              </a:ext>
            </a:extLst>
          </p:cNvPr>
          <p:cNvSpPr/>
          <p:nvPr/>
        </p:nvSpPr>
        <p:spPr>
          <a:xfrm flipV="1">
            <a:off x="10642726" y="1564029"/>
            <a:ext cx="911342" cy="167687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6871">
                <a:moveTo>
                  <a:pt x="134768" y="2628"/>
                </a:moveTo>
                <a:cubicBezTo>
                  <a:pt x="248240" y="-550"/>
                  <a:pt x="286879" y="-996"/>
                  <a:pt x="355208" y="2120"/>
                </a:cubicBezTo>
                <a:cubicBezTo>
                  <a:pt x="344359" y="389535"/>
                  <a:pt x="-37892" y="469474"/>
                  <a:pt x="3070" y="825318"/>
                </a:cubicBezTo>
                <a:cubicBezTo>
                  <a:pt x="50906" y="1089828"/>
                  <a:pt x="400983" y="946282"/>
                  <a:pt x="911342" y="1676871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5" name="根轨迹4">
            <a:extLst>
              <a:ext uri="{FF2B5EF4-FFF2-40B4-BE49-F238E27FC236}">
                <a16:creationId xmlns:a16="http://schemas.microsoft.com/office/drawing/2014/main" id="{9F77A562-BB95-335D-DA84-C66561C52BDE}"/>
              </a:ext>
            </a:extLst>
          </p:cNvPr>
          <p:cNvSpPr/>
          <p:nvPr/>
        </p:nvSpPr>
        <p:spPr>
          <a:xfrm>
            <a:off x="10652433" y="3238038"/>
            <a:ext cx="911342" cy="167475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589197 w 911342"/>
              <a:gd name="connsiteY0" fmla="*/ 6050 h 1674751"/>
              <a:gd name="connsiteX1" fmla="*/ 355208 w 911342"/>
              <a:gd name="connsiteY1" fmla="*/ 0 h 1674751"/>
              <a:gd name="connsiteX2" fmla="*/ 3070 w 911342"/>
              <a:gd name="connsiteY2" fmla="*/ 823198 h 1674751"/>
              <a:gd name="connsiteX3" fmla="*/ 911342 w 911342"/>
              <a:gd name="connsiteY3" fmla="*/ 1674751 h 167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4751">
                <a:moveTo>
                  <a:pt x="589197" y="6050"/>
                </a:moveTo>
                <a:lnTo>
                  <a:pt x="355208" y="0"/>
                </a:lnTo>
                <a:cubicBezTo>
                  <a:pt x="344359" y="387415"/>
                  <a:pt x="-37892" y="467354"/>
                  <a:pt x="3070" y="823198"/>
                </a:cubicBezTo>
                <a:cubicBezTo>
                  <a:pt x="50906" y="1087708"/>
                  <a:pt x="400983" y="944162"/>
                  <a:pt x="911342" y="1674751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133" grpId="0" animBg="1"/>
      <p:bldP spid="134" grpId="0" animBg="1"/>
      <p:bldP spid="1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 err="1"/>
              <a:t>Doria-Cerezo</a:t>
            </a:r>
            <a:r>
              <a:rPr lang="en" altLang="zh-CN" sz="2800" dirty="0"/>
              <a:t>, A., &amp; </a:t>
            </a:r>
            <a:r>
              <a:rPr lang="en" altLang="zh-CN" sz="2800" dirty="0" err="1"/>
              <a:t>Bodson</a:t>
            </a:r>
            <a:r>
              <a:rPr lang="en" altLang="zh-CN" sz="2800" dirty="0"/>
              <a:t>, M. (2016). Design of controllers for electrical power systems using a complex root locus method. IEEE transactions on Industrial Electronics, 63(6), 3706-3716.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Bollinger, K., </a:t>
            </a:r>
            <a:r>
              <a:rPr lang="en" altLang="zh-CN" sz="2800" dirty="0" err="1"/>
              <a:t>Laha</a:t>
            </a:r>
            <a:r>
              <a:rPr lang="en" altLang="zh-CN" sz="2800" dirty="0"/>
              <a:t>, A., Hamilton, R., &amp; </a:t>
            </a:r>
            <a:r>
              <a:rPr lang="en" altLang="zh-CN" sz="2800" dirty="0" err="1"/>
              <a:t>Harras</a:t>
            </a:r>
            <a:r>
              <a:rPr lang="en" altLang="zh-CN" sz="2800" dirty="0"/>
              <a:t>, T. (1975). Power stabilizer design using root locus methods. IEEE Transactions on power apparatus and systems, 94(5), 1484-1488.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33AC0E3-22D3-AF39-9651-0583CE0C35A8}"/>
              </a:ext>
            </a:extLst>
          </p:cNvPr>
          <p:cNvGrpSpPr/>
          <p:nvPr/>
        </p:nvGrpSpPr>
        <p:grpSpPr>
          <a:xfrm>
            <a:off x="872763" y="1275502"/>
            <a:ext cx="10983083" cy="3731473"/>
            <a:chOff x="872763" y="1275502"/>
            <a:chExt cx="10983083" cy="3731473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915698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dirty="0"/>
                <a:t>DR_CAN</a:t>
              </a:r>
              <a:r>
                <a:rPr lang="zh-CN" altLang="en-US" sz="2800" dirty="0"/>
                <a:t>含有初始条件的传递函数：</a:t>
              </a:r>
              <a:r>
                <a:rPr lang="en" altLang="zh-CN" sz="2800" dirty="0"/>
                <a:t> 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/video/BV13J411m7n1?share_source=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文本&#10;&#10;描述已自动生成">
              <a:extLst>
                <a:ext uri="{FF2B5EF4-FFF2-40B4-BE49-F238E27FC236}">
                  <a16:creationId xmlns:a16="http://schemas.microsoft.com/office/drawing/2014/main" id="{E355C61C-75AB-58D2-5232-A8A01D1AB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763" y="1429186"/>
              <a:ext cx="2070100" cy="132080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1B3AD7B-4F1C-91A5-2666-CDDCCA1D80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0563" y="3292475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FB225CC-811E-1DCB-AF8F-BD8E944331F1}"/>
              </a:ext>
            </a:extLst>
          </p:cNvPr>
          <p:cNvGrpSpPr/>
          <p:nvPr/>
        </p:nvGrpSpPr>
        <p:grpSpPr>
          <a:xfrm>
            <a:off x="4654550" y="3624179"/>
            <a:ext cx="7029450" cy="2870200"/>
            <a:chOff x="4654550" y="3624179"/>
            <a:chExt cx="7029450" cy="28702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077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078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中度可信度描述已自动生成">
              <a:extLst>
                <a:ext uri="{FF2B5EF4-FFF2-40B4-BE49-F238E27FC236}">
                  <a16:creationId xmlns:a16="http://schemas.microsoft.com/office/drawing/2014/main" id="{980FC56A-6A59-98B4-55C0-E329802C9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47200" y="3624179"/>
              <a:ext cx="2336800" cy="2870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32" name="节段15">
            <a:extLst>
              <a:ext uri="{FF2B5EF4-FFF2-40B4-BE49-F238E27FC236}">
                <a16:creationId xmlns:a16="http://schemas.microsoft.com/office/drawing/2014/main" id="{AE405B31-6E3C-C2D8-2C91-C68411939EBB}"/>
              </a:ext>
            </a:extLst>
          </p:cNvPr>
          <p:cNvSpPr/>
          <p:nvPr/>
        </p:nvSpPr>
        <p:spPr bwMode="auto">
          <a:xfrm>
            <a:off x="551399" y="1291384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grpSp>
        <p:nvGrpSpPr>
          <p:cNvPr id="33" name="坐标轴">
            <a:extLst>
              <a:ext uri="{FF2B5EF4-FFF2-40B4-BE49-F238E27FC236}">
                <a16:creationId xmlns:a16="http://schemas.microsoft.com/office/drawing/2014/main" id="{8020ECFF-77B0-1578-29C7-0C36622C8005}"/>
              </a:ext>
            </a:extLst>
          </p:cNvPr>
          <p:cNvGrpSpPr/>
          <p:nvPr/>
        </p:nvGrpSpPr>
        <p:grpSpPr>
          <a:xfrm>
            <a:off x="7463358" y="1124744"/>
            <a:ext cx="3958444" cy="4608512"/>
            <a:chOff x="7905396" y="1050948"/>
            <a:chExt cx="3958444" cy="4608512"/>
          </a:xfrm>
        </p:grpSpPr>
        <p:cxnSp>
          <p:nvCxnSpPr>
            <p:cNvPr id="34" name="x轴">
              <a:extLst>
                <a:ext uri="{FF2B5EF4-FFF2-40B4-BE49-F238E27FC236}">
                  <a16:creationId xmlns:a16="http://schemas.microsoft.com/office/drawing/2014/main" id="{342DD700-6408-DBB9-1B46-B36C163C956E}"/>
                </a:ext>
              </a:extLst>
            </p:cNvPr>
            <p:cNvCxnSpPr>
              <a:cxnSpLocks/>
            </p:cNvCxnSpPr>
            <p:nvPr/>
          </p:nvCxnSpPr>
          <p:spPr>
            <a:xfrm>
              <a:off x="7905396" y="3427857"/>
              <a:ext cx="3958444" cy="15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y轴">
              <a:extLst>
                <a:ext uri="{FF2B5EF4-FFF2-40B4-BE49-F238E27FC236}">
                  <a16:creationId xmlns:a16="http://schemas.microsoft.com/office/drawing/2014/main" id="{B8026B02-A593-9FD7-6392-69BE02FA79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84027" y="1050948"/>
              <a:ext cx="9828" cy="46085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labelj">
                  <a:extLst>
                    <a:ext uri="{FF2B5EF4-FFF2-40B4-BE49-F238E27FC236}">
                      <a16:creationId xmlns:a16="http://schemas.microsoft.com/office/drawing/2014/main" id="{0F64B44E-B441-6FC5-40AE-084F207B230D}"/>
                    </a:ext>
                  </a:extLst>
                </p:cNvPr>
                <p:cNvSpPr txBox="1"/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" name="labelj">
                  <a:extLst>
                    <a:ext uri="{FF2B5EF4-FFF2-40B4-BE49-F238E27FC236}">
                      <a16:creationId xmlns:a16="http://schemas.microsoft.com/office/drawing/2014/main" id="{D62E26C5-B270-A4D0-C0B7-0E7AF9F59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582" y="1259174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label0">
                  <a:extLst>
                    <a:ext uri="{FF2B5EF4-FFF2-40B4-BE49-F238E27FC236}">
                      <a16:creationId xmlns:a16="http://schemas.microsoft.com/office/drawing/2014/main" id="{0ABE7774-F186-54DA-C376-DE31D359088B}"/>
                    </a:ext>
                  </a:extLst>
                </p:cNvPr>
                <p:cNvSpPr txBox="1"/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0">
                  <a:extLst>
                    <a:ext uri="{FF2B5EF4-FFF2-40B4-BE49-F238E27FC236}">
                      <a16:creationId xmlns:a16="http://schemas.microsoft.com/office/drawing/2014/main" id="{835F3066-76E2-B95E-3568-11E75C89C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417" y="3464273"/>
                  <a:ext cx="229717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0526" r="-7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ytick1">
              <a:extLst>
                <a:ext uri="{FF2B5EF4-FFF2-40B4-BE49-F238E27FC236}">
                  <a16:creationId xmlns:a16="http://schemas.microsoft.com/office/drawing/2014/main" id="{2F3FA38B-EE70-0A17-82E1-3F06125219C9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53" y="269963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ytick-1">
              <a:extLst>
                <a:ext uri="{FF2B5EF4-FFF2-40B4-BE49-F238E27FC236}">
                  <a16:creationId xmlns:a16="http://schemas.microsoft.com/office/drawing/2014/main" id="{509706DD-90AD-9412-CC57-7CFD50A1330D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150" y="4137868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ytick-2">
              <a:extLst>
                <a:ext uri="{FF2B5EF4-FFF2-40B4-BE49-F238E27FC236}">
                  <a16:creationId xmlns:a16="http://schemas.microsoft.com/office/drawing/2014/main" id="{75382F7D-DB40-C2B9-0B89-FCA1C3386356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4" y="4855723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ytick2">
              <a:extLst>
                <a:ext uri="{FF2B5EF4-FFF2-40B4-BE49-F238E27FC236}">
                  <a16:creationId xmlns:a16="http://schemas.microsoft.com/office/drawing/2014/main" id="{0CF7D5CC-0CEE-B09E-75A1-87C0141BE7DC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343" y="1970694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xtixk-1">
              <a:extLst>
                <a:ext uri="{FF2B5EF4-FFF2-40B4-BE49-F238E27FC236}">
                  <a16:creationId xmlns:a16="http://schemas.microsoft.com/office/drawing/2014/main" id="{9F797648-F6D5-353D-851F-58A91316308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76266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xtixk-2">
              <a:extLst>
                <a:ext uri="{FF2B5EF4-FFF2-40B4-BE49-F238E27FC236}">
                  <a16:creationId xmlns:a16="http://schemas.microsoft.com/office/drawing/2014/main" id="{22ABC963-BD1B-DCE8-873B-938BBFC84E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55541" y="3504211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xtixk1">
              <a:extLst>
                <a:ext uri="{FF2B5EF4-FFF2-40B4-BE49-F238E27FC236}">
                  <a16:creationId xmlns:a16="http://schemas.microsoft.com/office/drawing/2014/main" id="{915CB0EC-4DBE-504B-AB2E-71D2BA5D758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005190" y="3489410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xtixk2">
              <a:extLst>
                <a:ext uri="{FF2B5EF4-FFF2-40B4-BE49-F238E27FC236}">
                  <a16:creationId xmlns:a16="http://schemas.microsoft.com/office/drawing/2014/main" id="{9FF6C9C4-FB55-5785-A489-9E2CAC67CF5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449554" y="3485357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xlabel2">
                  <a:extLst>
                    <a:ext uri="{FF2B5EF4-FFF2-40B4-BE49-F238E27FC236}">
                      <a16:creationId xmlns:a16="http://schemas.microsoft.com/office/drawing/2014/main" id="{CC371ED3-8C89-70E7-DD2A-8F1357A4F025}"/>
                    </a:ext>
                  </a:extLst>
                </p:cNvPr>
                <p:cNvSpPr txBox="1"/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2" name="xlabel2">
                  <a:extLst>
                    <a:ext uri="{FF2B5EF4-FFF2-40B4-BE49-F238E27FC236}">
                      <a16:creationId xmlns:a16="http://schemas.microsoft.com/office/drawing/2014/main" id="{F1807406-C2BA-0EAA-AB6B-52A569742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375" y="3473837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xlabel1">
                  <a:extLst>
                    <a:ext uri="{FF2B5EF4-FFF2-40B4-BE49-F238E27FC236}">
                      <a16:creationId xmlns:a16="http://schemas.microsoft.com/office/drawing/2014/main" id="{B172050A-5048-5C2A-8E21-33F92526A3D7}"/>
                    </a:ext>
                  </a:extLst>
                </p:cNvPr>
                <p:cNvSpPr txBox="1"/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3" name="xlabel1">
                  <a:extLst>
                    <a:ext uri="{FF2B5EF4-FFF2-40B4-BE49-F238E27FC236}">
                      <a16:creationId xmlns:a16="http://schemas.microsoft.com/office/drawing/2014/main" id="{16C78553-D936-E8F3-1E8F-A96816EF6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4743" y="3469815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1076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xlabel-1">
                  <a:extLst>
                    <a:ext uri="{FF2B5EF4-FFF2-40B4-BE49-F238E27FC236}">
                      <a16:creationId xmlns:a16="http://schemas.microsoft.com/office/drawing/2014/main" id="{5E0BB536-FAA0-E944-2D2B-9F216D1AB25D}"/>
                    </a:ext>
                  </a:extLst>
                </p:cNvPr>
                <p:cNvSpPr txBox="1"/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4" name="xlabel-1">
                  <a:extLst>
                    <a:ext uri="{FF2B5EF4-FFF2-40B4-BE49-F238E27FC236}">
                      <a16:creationId xmlns:a16="http://schemas.microsoft.com/office/drawing/2014/main" id="{C710E95D-7467-6E9F-BACB-EE98B9C47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828" y="3465898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xlabel-2">
                  <a:extLst>
                    <a:ext uri="{FF2B5EF4-FFF2-40B4-BE49-F238E27FC236}">
                      <a16:creationId xmlns:a16="http://schemas.microsoft.com/office/drawing/2014/main" id="{3C74765E-0A07-56BE-B9C5-F4C6ECD7959D}"/>
                    </a:ext>
                  </a:extLst>
                </p:cNvPr>
                <p:cNvSpPr txBox="1"/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5" name="xlabel-2">
                  <a:extLst>
                    <a:ext uri="{FF2B5EF4-FFF2-40B4-BE49-F238E27FC236}">
                      <a16:creationId xmlns:a16="http://schemas.microsoft.com/office/drawing/2014/main" id="{8522BB3C-1C3C-769C-707A-CA168AF5F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589" y="346427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ylabel2">
                  <a:extLst>
                    <a:ext uri="{FF2B5EF4-FFF2-40B4-BE49-F238E27FC236}">
                      <a16:creationId xmlns:a16="http://schemas.microsoft.com/office/drawing/2014/main" id="{C794B3A8-EF0C-4FB3-B792-CEBEA0B5CA81}"/>
                    </a:ext>
                  </a:extLst>
                </p:cNvPr>
                <p:cNvSpPr txBox="1"/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ylabel2">
                  <a:extLst>
                    <a:ext uri="{FF2B5EF4-FFF2-40B4-BE49-F238E27FC236}">
                      <a16:creationId xmlns:a16="http://schemas.microsoft.com/office/drawing/2014/main" id="{36B76DB4-0BBF-F247-2B4C-35E7185BB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2438028"/>
                  <a:ext cx="322182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ylabel4">
                  <a:extLst>
                    <a:ext uri="{FF2B5EF4-FFF2-40B4-BE49-F238E27FC236}">
                      <a16:creationId xmlns:a16="http://schemas.microsoft.com/office/drawing/2014/main" id="{D346BA5F-D00D-78D6-422C-FC8AB44A9AE8}"/>
                    </a:ext>
                  </a:extLst>
                </p:cNvPr>
                <p:cNvSpPr txBox="1"/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ylabel4">
                  <a:extLst>
                    <a:ext uri="{FF2B5EF4-FFF2-40B4-BE49-F238E27FC236}">
                      <a16:creationId xmlns:a16="http://schemas.microsoft.com/office/drawing/2014/main" id="{23F8F6B5-D898-6455-D5BC-8B756909F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5739" y="1715280"/>
                  <a:ext cx="322182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ylabel-2">
                  <a:extLst>
                    <a:ext uri="{FF2B5EF4-FFF2-40B4-BE49-F238E27FC236}">
                      <a16:creationId xmlns:a16="http://schemas.microsoft.com/office/drawing/2014/main" id="{FF35A1B8-4B47-573E-2312-E65FBB776725}"/>
                    </a:ext>
                  </a:extLst>
                </p:cNvPr>
                <p:cNvSpPr txBox="1"/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ylabel-2">
                  <a:extLst>
                    <a:ext uri="{FF2B5EF4-FFF2-40B4-BE49-F238E27FC236}">
                      <a16:creationId xmlns:a16="http://schemas.microsoft.com/office/drawing/2014/main" id="{222A6C5B-CD2F-A4FA-4573-D05004ADF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1031" y="3871979"/>
                  <a:ext cx="520701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ylabel-4">
                  <a:extLst>
                    <a:ext uri="{FF2B5EF4-FFF2-40B4-BE49-F238E27FC236}">
                      <a16:creationId xmlns:a16="http://schemas.microsoft.com/office/drawing/2014/main" id="{4460B505-D621-4F8D-CA30-17D366FB9751}"/>
                    </a:ext>
                  </a:extLst>
                </p:cNvPr>
                <p:cNvSpPr txBox="1"/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ylabel-4">
                  <a:extLst>
                    <a:ext uri="{FF2B5EF4-FFF2-40B4-BE49-F238E27FC236}">
                      <a16:creationId xmlns:a16="http://schemas.microsoft.com/office/drawing/2014/main" id="{C80BC108-5A8B-3C0A-6A5F-5FD61AE24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975" y="4580834"/>
                  <a:ext cx="520701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2" name="辅助线1">
            <a:extLst>
              <a:ext uri="{FF2B5EF4-FFF2-40B4-BE49-F238E27FC236}">
                <a16:creationId xmlns:a16="http://schemas.microsoft.com/office/drawing/2014/main" id="{CBC1B765-A05C-347D-6DF7-581FF02B15C9}"/>
              </a:ext>
            </a:extLst>
          </p:cNvPr>
          <p:cNvCxnSpPr>
            <a:cxnSpLocks/>
          </p:cNvCxnSpPr>
          <p:nvPr/>
        </p:nvCxnSpPr>
        <p:spPr>
          <a:xfrm flipH="1" flipV="1">
            <a:off x="9626582" y="2259961"/>
            <a:ext cx="1230" cy="246935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辅助线2">
            <a:extLst>
              <a:ext uri="{FF2B5EF4-FFF2-40B4-BE49-F238E27FC236}">
                <a16:creationId xmlns:a16="http://schemas.microsoft.com/office/drawing/2014/main" id="{A545CAD8-400D-7ADA-308D-CD2813798C31}"/>
              </a:ext>
            </a:extLst>
          </p:cNvPr>
          <p:cNvCxnSpPr>
            <a:cxnSpLocks/>
            <a:stCxn id="87" idx="1"/>
          </p:cNvCxnSpPr>
          <p:nvPr/>
        </p:nvCxnSpPr>
        <p:spPr>
          <a:xfrm flipH="1" flipV="1">
            <a:off x="9640046" y="2261430"/>
            <a:ext cx="273399" cy="11706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辅助线3">
            <a:extLst>
              <a:ext uri="{FF2B5EF4-FFF2-40B4-BE49-F238E27FC236}">
                <a16:creationId xmlns:a16="http://schemas.microsoft.com/office/drawing/2014/main" id="{B4CDC9E5-933D-44EE-A62E-1744E0395150}"/>
              </a:ext>
            </a:extLst>
          </p:cNvPr>
          <p:cNvCxnSpPr>
            <a:cxnSpLocks/>
            <a:stCxn id="90" idx="2"/>
          </p:cNvCxnSpPr>
          <p:nvPr/>
        </p:nvCxnSpPr>
        <p:spPr>
          <a:xfrm flipH="1" flipV="1">
            <a:off x="9630149" y="2261663"/>
            <a:ext cx="781625" cy="131683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辅助线4">
            <a:extLst>
              <a:ext uri="{FF2B5EF4-FFF2-40B4-BE49-F238E27FC236}">
                <a16:creationId xmlns:a16="http://schemas.microsoft.com/office/drawing/2014/main" id="{279F9DC9-1082-6F0E-3343-51975F21352B}"/>
              </a:ext>
            </a:extLst>
          </p:cNvPr>
          <p:cNvCxnSpPr>
            <a:cxnSpLocks/>
            <a:stCxn id="91" idx="2"/>
          </p:cNvCxnSpPr>
          <p:nvPr/>
        </p:nvCxnSpPr>
        <p:spPr>
          <a:xfrm flipH="1" flipV="1">
            <a:off x="9630968" y="2253830"/>
            <a:ext cx="1238573" cy="132466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零极点">
            <a:extLst>
              <a:ext uri="{FF2B5EF4-FFF2-40B4-BE49-F238E27FC236}">
                <a16:creationId xmlns:a16="http://schemas.microsoft.com/office/drawing/2014/main" id="{AF534857-ED88-1F5D-1030-8F2BE726407C}"/>
              </a:ext>
            </a:extLst>
          </p:cNvPr>
          <p:cNvGrpSpPr/>
          <p:nvPr/>
        </p:nvGrpSpPr>
        <p:grpSpPr>
          <a:xfrm>
            <a:off x="9482566" y="2111497"/>
            <a:ext cx="1456153" cy="2803304"/>
            <a:chOff x="9913846" y="2759569"/>
            <a:chExt cx="1456153" cy="2803304"/>
          </a:xfrm>
        </p:grpSpPr>
        <p:sp>
          <p:nvSpPr>
            <p:cNvPr id="87" name="零点">
              <a:extLst>
                <a:ext uri="{FF2B5EF4-FFF2-40B4-BE49-F238E27FC236}">
                  <a16:creationId xmlns:a16="http://schemas.microsoft.com/office/drawing/2014/main" id="{C73CE933-1F79-CF70-D279-AE205EA2347C}"/>
                </a:ext>
              </a:extLst>
            </p:cNvPr>
            <p:cNvSpPr/>
            <p:nvPr/>
          </p:nvSpPr>
          <p:spPr>
            <a:xfrm>
              <a:off x="10313093" y="4048545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极点3">
              <a:extLst>
                <a:ext uri="{FF2B5EF4-FFF2-40B4-BE49-F238E27FC236}">
                  <a16:creationId xmlns:a16="http://schemas.microsoft.com/office/drawing/2014/main" id="{49C94B61-56BA-B33A-3442-CDC90B166278}"/>
                </a:ext>
              </a:extLst>
            </p:cNvPr>
            <p:cNvSpPr/>
            <p:nvPr/>
          </p:nvSpPr>
          <p:spPr>
            <a:xfrm>
              <a:off x="9913846" y="2759569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89" name="极点4">
              <a:extLst>
                <a:ext uri="{FF2B5EF4-FFF2-40B4-BE49-F238E27FC236}">
                  <a16:creationId xmlns:a16="http://schemas.microsoft.com/office/drawing/2014/main" id="{0BEC2A07-F971-EB48-FC43-4ABE0A361752}"/>
                </a:ext>
              </a:extLst>
            </p:cNvPr>
            <p:cNvSpPr/>
            <p:nvPr/>
          </p:nvSpPr>
          <p:spPr>
            <a:xfrm>
              <a:off x="9913846" y="527484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0" name="极点1">
              <a:extLst>
                <a:ext uri="{FF2B5EF4-FFF2-40B4-BE49-F238E27FC236}">
                  <a16:creationId xmlns:a16="http://schemas.microsoft.com/office/drawing/2014/main" id="{12900E91-E6EF-64EC-D0AE-8CC23ECEFFF4}"/>
                </a:ext>
              </a:extLst>
            </p:cNvPr>
            <p:cNvSpPr/>
            <p:nvPr/>
          </p:nvSpPr>
          <p:spPr>
            <a:xfrm>
              <a:off x="10624200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1" name="极点2">
              <a:extLst>
                <a:ext uri="{FF2B5EF4-FFF2-40B4-BE49-F238E27FC236}">
                  <a16:creationId xmlns:a16="http://schemas.microsoft.com/office/drawing/2014/main" id="{A709C18A-338C-BBBC-A6AD-3AAAE2E684F7}"/>
                </a:ext>
              </a:extLst>
            </p:cNvPr>
            <p:cNvSpPr/>
            <p:nvPr/>
          </p:nvSpPr>
          <p:spPr>
            <a:xfrm>
              <a:off x="11081967" y="4007717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</p:grpSp>
      <p:cxnSp>
        <p:nvCxnSpPr>
          <p:cNvPr id="92" name="渐近线1">
            <a:extLst>
              <a:ext uri="{FF2B5EF4-FFF2-40B4-BE49-F238E27FC236}">
                <a16:creationId xmlns:a16="http://schemas.microsoft.com/office/drawing/2014/main" id="{187BF438-F09C-A0E5-EB44-AA6BE457FEE0}"/>
              </a:ext>
            </a:extLst>
          </p:cNvPr>
          <p:cNvCxnSpPr>
            <a:cxnSpLocks/>
            <a:endCxn id="87" idx="6"/>
          </p:cNvCxnSpPr>
          <p:nvPr/>
        </p:nvCxnSpPr>
        <p:spPr>
          <a:xfrm flipH="1" flipV="1">
            <a:off x="10097813" y="3508473"/>
            <a:ext cx="982658" cy="1444912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渐近线2">
            <a:extLst>
              <a:ext uri="{FF2B5EF4-FFF2-40B4-BE49-F238E27FC236}">
                <a16:creationId xmlns:a16="http://schemas.microsoft.com/office/drawing/2014/main" id="{4FCCF7BB-9543-0DBC-3262-403E19801D79}"/>
              </a:ext>
            </a:extLst>
          </p:cNvPr>
          <p:cNvCxnSpPr>
            <a:cxnSpLocks/>
            <a:endCxn id="87" idx="6"/>
          </p:cNvCxnSpPr>
          <p:nvPr/>
        </p:nvCxnSpPr>
        <p:spPr>
          <a:xfrm flipH="1">
            <a:off x="10097813" y="2057893"/>
            <a:ext cx="986699" cy="145058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分离点">
            <a:extLst>
              <a:ext uri="{FF2B5EF4-FFF2-40B4-BE49-F238E27FC236}">
                <a16:creationId xmlns:a16="http://schemas.microsoft.com/office/drawing/2014/main" id="{D774FB4B-9D34-6D78-BC71-F49DC3D6699D}"/>
              </a:ext>
            </a:extLst>
          </p:cNvPr>
          <p:cNvGrpSpPr/>
          <p:nvPr/>
        </p:nvGrpSpPr>
        <p:grpSpPr>
          <a:xfrm>
            <a:off x="9058327" y="2886862"/>
            <a:ext cx="2034559" cy="670025"/>
            <a:chOff x="9489607" y="3534934"/>
            <a:chExt cx="2034559" cy="670025"/>
          </a:xfrm>
        </p:grpSpPr>
        <p:sp>
          <p:nvSpPr>
            <p:cNvPr id="95" name="分离点1">
              <a:extLst>
                <a:ext uri="{FF2B5EF4-FFF2-40B4-BE49-F238E27FC236}">
                  <a16:creationId xmlns:a16="http://schemas.microsoft.com/office/drawing/2014/main" id="{DFCA9512-9395-8289-7224-3D3F10E5CA8D}"/>
                </a:ext>
              </a:extLst>
            </p:cNvPr>
            <p:cNvSpPr/>
            <p:nvPr/>
          </p:nvSpPr>
          <p:spPr>
            <a:xfrm>
              <a:off x="10944981" y="4108037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分离点2">
              <a:extLst>
                <a:ext uri="{FF2B5EF4-FFF2-40B4-BE49-F238E27FC236}">
                  <a16:creationId xmlns:a16="http://schemas.microsoft.com/office/drawing/2014/main" id="{FB5D4593-31F7-3C86-0974-B151051437C5}"/>
                </a:ext>
              </a:extLst>
            </p:cNvPr>
            <p:cNvSpPr/>
            <p:nvPr/>
          </p:nvSpPr>
          <p:spPr>
            <a:xfrm>
              <a:off x="9800184" y="4113265"/>
              <a:ext cx="91694" cy="91694"/>
            </a:xfrm>
            <a:prstGeom prst="ellipse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d1">
                  <a:extLst>
                    <a:ext uri="{FF2B5EF4-FFF2-40B4-BE49-F238E27FC236}">
                      <a16:creationId xmlns:a16="http://schemas.microsoft.com/office/drawing/2014/main" id="{4D85E4B2-9D3D-3B60-1879-028E2C60DF74}"/>
                    </a:ext>
                  </a:extLst>
                </p:cNvPr>
                <p:cNvSpPr txBox="1"/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5" name="d1">
                  <a:extLst>
                    <a:ext uri="{FF2B5EF4-FFF2-40B4-BE49-F238E27FC236}">
                      <a16:creationId xmlns:a16="http://schemas.microsoft.com/office/drawing/2014/main" id="{E3C07F9A-EBC8-FB1E-AD1D-766DB49372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9607" y="3564236"/>
                  <a:ext cx="520701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d2">
                  <a:extLst>
                    <a:ext uri="{FF2B5EF4-FFF2-40B4-BE49-F238E27FC236}">
                      <a16:creationId xmlns:a16="http://schemas.microsoft.com/office/drawing/2014/main" id="{66E8CEE7-7C40-5089-FAFF-C2EA3C766C32}"/>
                    </a:ext>
                  </a:extLst>
                </p:cNvPr>
                <p:cNvSpPr txBox="1"/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7" name="d2">
                  <a:extLst>
                    <a:ext uri="{FF2B5EF4-FFF2-40B4-BE49-F238E27FC236}">
                      <a16:creationId xmlns:a16="http://schemas.microsoft.com/office/drawing/2014/main" id="{B1F80077-AD23-F908-86FE-0F2EE4880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3465" y="3534934"/>
                  <a:ext cx="520701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7143" r="-2381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出射角绘图">
            <a:extLst>
              <a:ext uri="{FF2B5EF4-FFF2-40B4-BE49-F238E27FC236}">
                <a16:creationId xmlns:a16="http://schemas.microsoft.com/office/drawing/2014/main" id="{6DEE41E1-D7B3-B473-6623-A5DA438C632B}"/>
              </a:ext>
            </a:extLst>
          </p:cNvPr>
          <p:cNvGrpSpPr/>
          <p:nvPr/>
        </p:nvGrpSpPr>
        <p:grpSpPr>
          <a:xfrm>
            <a:off x="8428703" y="1708758"/>
            <a:ext cx="1929978" cy="905475"/>
            <a:chOff x="9231324" y="2866066"/>
            <a:chExt cx="1929978" cy="905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出射角">
                  <a:extLst>
                    <a:ext uri="{FF2B5EF4-FFF2-40B4-BE49-F238E27FC236}">
                      <a16:creationId xmlns:a16="http://schemas.microsoft.com/office/drawing/2014/main" id="{F56566A1-8AE2-B009-3580-73860AE69389}"/>
                    </a:ext>
                  </a:extLst>
                </p:cNvPr>
                <p:cNvSpPr txBox="1"/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=−54.9°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出射角">
                  <a:extLst>
                    <a:ext uri="{FF2B5EF4-FFF2-40B4-BE49-F238E27FC236}">
                      <a16:creationId xmlns:a16="http://schemas.microsoft.com/office/drawing/2014/main" id="{E0A7C885-6CA1-ACDB-D7CA-85EBDE966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324" y="2866066"/>
                  <a:ext cx="1929978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307" r="-13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量角器">
              <a:extLst>
                <a:ext uri="{FF2B5EF4-FFF2-40B4-BE49-F238E27FC236}">
                  <a16:creationId xmlns:a16="http://schemas.microsoft.com/office/drawing/2014/main" id="{ED6E8CED-DB32-BE00-F6F0-F3C3405DF9F8}"/>
                </a:ext>
              </a:extLst>
            </p:cNvPr>
            <p:cNvGrpSpPr/>
            <p:nvPr/>
          </p:nvGrpSpPr>
          <p:grpSpPr>
            <a:xfrm>
              <a:off x="10197602" y="3183145"/>
              <a:ext cx="592627" cy="588396"/>
              <a:chOff x="10197602" y="3183145"/>
              <a:chExt cx="592627" cy="588396"/>
            </a:xfrm>
          </p:grpSpPr>
          <p:cxnSp>
            <p:nvCxnSpPr>
              <p:cNvPr id="102" name="角度2">
                <a:extLst>
                  <a:ext uri="{FF2B5EF4-FFF2-40B4-BE49-F238E27FC236}">
                    <a16:creationId xmlns:a16="http://schemas.microsoft.com/office/drawing/2014/main" id="{CD23C48A-CB3C-1BF9-E67E-D28C54F936D1}"/>
                  </a:ext>
                </a:extLst>
              </p:cNvPr>
              <p:cNvCxnSpPr/>
              <p:nvPr/>
            </p:nvCxnSpPr>
            <p:spPr>
              <a:xfrm>
                <a:off x="10430711" y="3420781"/>
                <a:ext cx="359518" cy="2307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角度1">
                <a:extLst>
                  <a:ext uri="{FF2B5EF4-FFF2-40B4-BE49-F238E27FC236}">
                    <a16:creationId xmlns:a16="http://schemas.microsoft.com/office/drawing/2014/main" id="{197DCE85-BEAD-94FB-22B9-13D9A67E8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7081" y="3421615"/>
                <a:ext cx="304634" cy="349926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角度弧">
                <a:extLst>
                  <a:ext uri="{FF2B5EF4-FFF2-40B4-BE49-F238E27FC236}">
                    <a16:creationId xmlns:a16="http://schemas.microsoft.com/office/drawing/2014/main" id="{16B8C328-7346-A486-1FD2-C9759EA15CA7}"/>
                  </a:ext>
                </a:extLst>
              </p:cNvPr>
              <p:cNvSpPr/>
              <p:nvPr/>
            </p:nvSpPr>
            <p:spPr>
              <a:xfrm>
                <a:off x="10197602" y="3183145"/>
                <a:ext cx="503534" cy="503534"/>
              </a:xfrm>
              <a:prstGeom prst="arc">
                <a:avLst>
                  <a:gd name="adj1" fmla="val 12561"/>
                  <a:gd name="adj2" fmla="val 3358980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107" name="虚轴交点组合">
            <a:extLst>
              <a:ext uri="{FF2B5EF4-FFF2-40B4-BE49-F238E27FC236}">
                <a16:creationId xmlns:a16="http://schemas.microsoft.com/office/drawing/2014/main" id="{C03760AA-1738-C4F2-CFB6-9BC7781AD32D}"/>
              </a:ext>
            </a:extLst>
          </p:cNvPr>
          <p:cNvGrpSpPr/>
          <p:nvPr/>
        </p:nvGrpSpPr>
        <p:grpSpPr>
          <a:xfrm>
            <a:off x="10291228" y="2486109"/>
            <a:ext cx="103533" cy="2026601"/>
            <a:chOff x="10722508" y="3134181"/>
            <a:chExt cx="103533" cy="2026601"/>
          </a:xfrm>
        </p:grpSpPr>
        <p:sp>
          <p:nvSpPr>
            <p:cNvPr id="108" name="虚轴交点2">
              <a:extLst>
                <a:ext uri="{FF2B5EF4-FFF2-40B4-BE49-F238E27FC236}">
                  <a16:creationId xmlns:a16="http://schemas.microsoft.com/office/drawing/2014/main" id="{8E5BCEBF-8E66-9278-1FFB-82129687825E}"/>
                </a:ext>
              </a:extLst>
            </p:cNvPr>
            <p:cNvSpPr/>
            <p:nvPr/>
          </p:nvSpPr>
          <p:spPr>
            <a:xfrm>
              <a:off x="10733177" y="4556559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虚轴交点1">
              <a:extLst>
                <a:ext uri="{FF2B5EF4-FFF2-40B4-BE49-F238E27FC236}">
                  <a16:creationId xmlns:a16="http://schemas.microsoft.com/office/drawing/2014/main" id="{4E84FF86-E005-B48D-3AF8-80839C0121E0}"/>
                </a:ext>
              </a:extLst>
            </p:cNvPr>
            <p:cNvSpPr/>
            <p:nvPr/>
          </p:nvSpPr>
          <p:spPr>
            <a:xfrm>
              <a:off x="10734347" y="362790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虚轴交点2">
              <a:extLst>
                <a:ext uri="{FF2B5EF4-FFF2-40B4-BE49-F238E27FC236}">
                  <a16:creationId xmlns:a16="http://schemas.microsoft.com/office/drawing/2014/main" id="{DA8E322F-3D76-F2C3-3B0B-7AD8F5008029}"/>
                </a:ext>
              </a:extLst>
            </p:cNvPr>
            <p:cNvSpPr/>
            <p:nvPr/>
          </p:nvSpPr>
          <p:spPr>
            <a:xfrm>
              <a:off x="10728048" y="5069088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虚轴交点2">
              <a:extLst>
                <a:ext uri="{FF2B5EF4-FFF2-40B4-BE49-F238E27FC236}">
                  <a16:creationId xmlns:a16="http://schemas.microsoft.com/office/drawing/2014/main" id="{C2B4D19C-C520-78B6-81FA-7CD0583C7792}"/>
                </a:ext>
              </a:extLst>
            </p:cNvPr>
            <p:cNvSpPr/>
            <p:nvPr/>
          </p:nvSpPr>
          <p:spPr>
            <a:xfrm>
              <a:off x="10722508" y="3134181"/>
              <a:ext cx="91694" cy="91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12" name="实轴根轨迹2" hidden="1">
            <a:extLst>
              <a:ext uri="{FF2B5EF4-FFF2-40B4-BE49-F238E27FC236}">
                <a16:creationId xmlns:a16="http://schemas.microsoft.com/office/drawing/2014/main" id="{E3BFF0B5-75EB-88CB-D2B8-45B1CB7B3820}"/>
              </a:ext>
            </a:extLst>
          </p:cNvPr>
          <p:cNvCxnSpPr>
            <a:cxnSpLocks/>
          </p:cNvCxnSpPr>
          <p:nvPr/>
        </p:nvCxnSpPr>
        <p:spPr>
          <a:xfrm flipH="1" flipV="1">
            <a:off x="6781576" y="3495280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实轴根轨迹1" hidden="1">
            <a:extLst>
              <a:ext uri="{FF2B5EF4-FFF2-40B4-BE49-F238E27FC236}">
                <a16:creationId xmlns:a16="http://schemas.microsoft.com/office/drawing/2014/main" id="{D3BFAEBF-E730-5646-6B89-280B20B81EF2}"/>
              </a:ext>
            </a:extLst>
          </p:cNvPr>
          <p:cNvCxnSpPr>
            <a:cxnSpLocks/>
          </p:cNvCxnSpPr>
          <p:nvPr/>
        </p:nvCxnSpPr>
        <p:spPr>
          <a:xfrm flipH="1">
            <a:off x="10351817" y="3501653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根轨迹1">
            <a:extLst>
              <a:ext uri="{FF2B5EF4-FFF2-40B4-BE49-F238E27FC236}">
                <a16:creationId xmlns:a16="http://schemas.microsoft.com/office/drawing/2014/main" id="{107C596C-0CDB-72EC-92C8-5A8F66BD62B8}"/>
              </a:ext>
            </a:extLst>
          </p:cNvPr>
          <p:cNvSpPr/>
          <p:nvPr/>
        </p:nvSpPr>
        <p:spPr>
          <a:xfrm flipV="1">
            <a:off x="7152308" y="2256746"/>
            <a:ext cx="2659843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9843" h="1248788">
                <a:moveTo>
                  <a:pt x="2435943" y="1248788"/>
                </a:moveTo>
                <a:cubicBezTo>
                  <a:pt x="3017998" y="614846"/>
                  <a:pt x="2282152" y="767588"/>
                  <a:pt x="2274877" y="0"/>
                </a:cubicBezTo>
                <a:lnTo>
                  <a:pt x="0" y="8040"/>
                </a:ln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6" name="根轨迹4">
            <a:extLst>
              <a:ext uri="{FF2B5EF4-FFF2-40B4-BE49-F238E27FC236}">
                <a16:creationId xmlns:a16="http://schemas.microsoft.com/office/drawing/2014/main" id="{DF95EE91-AA44-2401-E2BB-2E9AA9BF2937}"/>
              </a:ext>
            </a:extLst>
          </p:cNvPr>
          <p:cNvSpPr/>
          <p:nvPr/>
        </p:nvSpPr>
        <p:spPr>
          <a:xfrm>
            <a:off x="10221153" y="3498925"/>
            <a:ext cx="911342" cy="167475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589197 w 911342"/>
              <a:gd name="connsiteY0" fmla="*/ 6050 h 1674751"/>
              <a:gd name="connsiteX1" fmla="*/ 355208 w 911342"/>
              <a:gd name="connsiteY1" fmla="*/ 0 h 1674751"/>
              <a:gd name="connsiteX2" fmla="*/ 3070 w 911342"/>
              <a:gd name="connsiteY2" fmla="*/ 823198 h 1674751"/>
              <a:gd name="connsiteX3" fmla="*/ 911342 w 911342"/>
              <a:gd name="connsiteY3" fmla="*/ 1674751 h 167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4751">
                <a:moveTo>
                  <a:pt x="589197" y="6050"/>
                </a:moveTo>
                <a:lnTo>
                  <a:pt x="355208" y="0"/>
                </a:lnTo>
                <a:cubicBezTo>
                  <a:pt x="344359" y="387415"/>
                  <a:pt x="-37892" y="467354"/>
                  <a:pt x="3070" y="823198"/>
                </a:cubicBezTo>
                <a:cubicBezTo>
                  <a:pt x="50906" y="1087708"/>
                  <a:pt x="400983" y="944162"/>
                  <a:pt x="911342" y="1674751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根轨迹3">
            <a:extLst>
              <a:ext uri="{FF2B5EF4-FFF2-40B4-BE49-F238E27FC236}">
                <a16:creationId xmlns:a16="http://schemas.microsoft.com/office/drawing/2014/main" id="{6EB50EA2-E60C-1D40-5A22-E439CDF332CB}"/>
              </a:ext>
            </a:extLst>
          </p:cNvPr>
          <p:cNvSpPr/>
          <p:nvPr/>
        </p:nvSpPr>
        <p:spPr>
          <a:xfrm flipV="1">
            <a:off x="10211446" y="1824916"/>
            <a:ext cx="911342" cy="167687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2762946 w 2937102"/>
              <a:gd name="connsiteY0" fmla="*/ 1763516 h 1763516"/>
              <a:gd name="connsiteX1" fmla="*/ 2274877 w 2937102"/>
              <a:gd name="connsiteY1" fmla="*/ 0 h 1763516"/>
              <a:gd name="connsiteX2" fmla="*/ 0 w 2937102"/>
              <a:gd name="connsiteY2" fmla="*/ 8040 h 1763516"/>
              <a:gd name="connsiteX0" fmla="*/ 2762946 w 3096816"/>
              <a:gd name="connsiteY0" fmla="*/ 1755476 h 1985655"/>
              <a:gd name="connsiteX1" fmla="*/ 2983386 w 3096816"/>
              <a:gd name="connsiteY1" fmla="*/ 1748093 h 1985655"/>
              <a:gd name="connsiteX2" fmla="*/ 0 w 3096816"/>
              <a:gd name="connsiteY2" fmla="*/ 0 h 1985655"/>
              <a:gd name="connsiteX0" fmla="*/ 0 w 664540"/>
              <a:gd name="connsiteY0" fmla="*/ 170573 h 1915250"/>
              <a:gd name="connsiteX1" fmla="*/ 220440 w 664540"/>
              <a:gd name="connsiteY1" fmla="*/ 163190 h 1915250"/>
              <a:gd name="connsiteX2" fmla="*/ 664540 w 664540"/>
              <a:gd name="connsiteY2" fmla="*/ 1915250 h 191525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7383 h 1752060"/>
              <a:gd name="connsiteX1" fmla="*/ 220440 w 664540"/>
              <a:gd name="connsiteY1" fmla="*/ 0 h 1752060"/>
              <a:gd name="connsiteX2" fmla="*/ 664540 w 664540"/>
              <a:gd name="connsiteY2" fmla="*/ 1752060 h 1752060"/>
              <a:gd name="connsiteX0" fmla="*/ 0 w 664540"/>
              <a:gd name="connsiteY0" fmla="*/ 132399 h 1877076"/>
              <a:gd name="connsiteX1" fmla="*/ 220440 w 664540"/>
              <a:gd name="connsiteY1" fmla="*/ 125016 h 1877076"/>
              <a:gd name="connsiteX2" fmla="*/ 225584 w 664540"/>
              <a:gd name="connsiteY2" fmla="*/ 131524 h 1877076"/>
              <a:gd name="connsiteX3" fmla="*/ 664540 w 664540"/>
              <a:gd name="connsiteY3" fmla="*/ 1877076 h 1877076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9716 w 804256"/>
              <a:gd name="connsiteY0" fmla="*/ 7384 h 1752061"/>
              <a:gd name="connsiteX1" fmla="*/ 360156 w 804256"/>
              <a:gd name="connsiteY1" fmla="*/ 1 h 1752061"/>
              <a:gd name="connsiteX2" fmla="*/ 8018 w 804256"/>
              <a:gd name="connsiteY2" fmla="*/ 830074 h 1752061"/>
              <a:gd name="connsiteX3" fmla="*/ 804256 w 804256"/>
              <a:gd name="connsiteY3" fmla="*/ 1752061 h 1752061"/>
              <a:gd name="connsiteX0" fmla="*/ 132028 w 796568"/>
              <a:gd name="connsiteY0" fmla="*/ 7384 h 1752061"/>
              <a:gd name="connsiteX1" fmla="*/ 352468 w 796568"/>
              <a:gd name="connsiteY1" fmla="*/ 1 h 1752061"/>
              <a:gd name="connsiteX2" fmla="*/ 330 w 796568"/>
              <a:gd name="connsiteY2" fmla="*/ 830074 h 1752061"/>
              <a:gd name="connsiteX3" fmla="*/ 796568 w 796568"/>
              <a:gd name="connsiteY3" fmla="*/ 1752061 h 1752061"/>
              <a:gd name="connsiteX0" fmla="*/ 132053 w 796593"/>
              <a:gd name="connsiteY0" fmla="*/ 7383 h 1752060"/>
              <a:gd name="connsiteX1" fmla="*/ 352493 w 796593"/>
              <a:gd name="connsiteY1" fmla="*/ 0 h 1752060"/>
              <a:gd name="connsiteX2" fmla="*/ 355 w 796593"/>
              <a:gd name="connsiteY2" fmla="*/ 830073 h 1752060"/>
              <a:gd name="connsiteX3" fmla="*/ 796593 w 796593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7383 h 1752060"/>
              <a:gd name="connsiteX1" fmla="*/ 352511 w 796611"/>
              <a:gd name="connsiteY1" fmla="*/ 0 h 1752060"/>
              <a:gd name="connsiteX2" fmla="*/ 373 w 796611"/>
              <a:gd name="connsiteY2" fmla="*/ 830073 h 1752060"/>
              <a:gd name="connsiteX3" fmla="*/ 796611 w 796611"/>
              <a:gd name="connsiteY3" fmla="*/ 1752060 h 1752060"/>
              <a:gd name="connsiteX0" fmla="*/ 132071 w 796611"/>
              <a:gd name="connsiteY0" fmla="*/ 9384 h 1754061"/>
              <a:gd name="connsiteX1" fmla="*/ 352511 w 796611"/>
              <a:gd name="connsiteY1" fmla="*/ 2001 h 1754061"/>
              <a:gd name="connsiteX2" fmla="*/ 373 w 796611"/>
              <a:gd name="connsiteY2" fmla="*/ 832074 h 1754061"/>
              <a:gd name="connsiteX3" fmla="*/ 796611 w 796611"/>
              <a:gd name="connsiteY3" fmla="*/ 1754061 h 1754061"/>
              <a:gd name="connsiteX0" fmla="*/ 132071 w 796611"/>
              <a:gd name="connsiteY0" fmla="*/ 2976 h 1747653"/>
              <a:gd name="connsiteX1" fmla="*/ 352511 w 796611"/>
              <a:gd name="connsiteY1" fmla="*/ 2468 h 1747653"/>
              <a:gd name="connsiteX2" fmla="*/ 373 w 796611"/>
              <a:gd name="connsiteY2" fmla="*/ 825666 h 1747653"/>
              <a:gd name="connsiteX3" fmla="*/ 796611 w 796611"/>
              <a:gd name="connsiteY3" fmla="*/ 1747653 h 1747653"/>
              <a:gd name="connsiteX0" fmla="*/ 132071 w 796611"/>
              <a:gd name="connsiteY0" fmla="*/ 5575 h 1750252"/>
              <a:gd name="connsiteX1" fmla="*/ 352511 w 796611"/>
              <a:gd name="connsiteY1" fmla="*/ 5067 h 1750252"/>
              <a:gd name="connsiteX2" fmla="*/ 373 w 796611"/>
              <a:gd name="connsiteY2" fmla="*/ 828265 h 1750252"/>
              <a:gd name="connsiteX3" fmla="*/ 796611 w 796611"/>
              <a:gd name="connsiteY3" fmla="*/ 1750252 h 1750252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2071 w 796611"/>
              <a:gd name="connsiteY0" fmla="*/ 2628 h 1747305"/>
              <a:gd name="connsiteX1" fmla="*/ 352511 w 796611"/>
              <a:gd name="connsiteY1" fmla="*/ 2120 h 1747305"/>
              <a:gd name="connsiteX2" fmla="*/ 373 w 796611"/>
              <a:gd name="connsiteY2" fmla="*/ 825318 h 1747305"/>
              <a:gd name="connsiteX3" fmla="*/ 796611 w 796611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799308"/>
              <a:gd name="connsiteY0" fmla="*/ 2628 h 1747305"/>
              <a:gd name="connsiteX1" fmla="*/ 355208 w 799308"/>
              <a:gd name="connsiteY1" fmla="*/ 2120 h 1747305"/>
              <a:gd name="connsiteX2" fmla="*/ 3070 w 799308"/>
              <a:gd name="connsiteY2" fmla="*/ 825318 h 1747305"/>
              <a:gd name="connsiteX3" fmla="*/ 799308 w 799308"/>
              <a:gd name="connsiteY3" fmla="*/ 1747305 h 1747305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861185"/>
              <a:gd name="connsiteY0" fmla="*/ 2628 h 1692304"/>
              <a:gd name="connsiteX1" fmla="*/ 355208 w 861185"/>
              <a:gd name="connsiteY1" fmla="*/ 2120 h 1692304"/>
              <a:gd name="connsiteX2" fmla="*/ 3070 w 861185"/>
              <a:gd name="connsiteY2" fmla="*/ 825318 h 1692304"/>
              <a:gd name="connsiteX3" fmla="*/ 861185 w 861185"/>
              <a:gd name="connsiteY3" fmla="*/ 1692304 h 1692304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  <a:gd name="connsiteX0" fmla="*/ 134768 w 911342"/>
              <a:gd name="connsiteY0" fmla="*/ 2628 h 1676871"/>
              <a:gd name="connsiteX1" fmla="*/ 355208 w 911342"/>
              <a:gd name="connsiteY1" fmla="*/ 2120 h 1676871"/>
              <a:gd name="connsiteX2" fmla="*/ 3070 w 911342"/>
              <a:gd name="connsiteY2" fmla="*/ 825318 h 1676871"/>
              <a:gd name="connsiteX3" fmla="*/ 911342 w 911342"/>
              <a:gd name="connsiteY3" fmla="*/ 1676871 h 167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342" h="1676871">
                <a:moveTo>
                  <a:pt x="134768" y="2628"/>
                </a:moveTo>
                <a:cubicBezTo>
                  <a:pt x="248240" y="-550"/>
                  <a:pt x="286879" y="-996"/>
                  <a:pt x="355208" y="2120"/>
                </a:cubicBezTo>
                <a:cubicBezTo>
                  <a:pt x="344359" y="389535"/>
                  <a:pt x="-37892" y="469474"/>
                  <a:pt x="3070" y="825318"/>
                </a:cubicBezTo>
                <a:cubicBezTo>
                  <a:pt x="50906" y="1089828"/>
                  <a:pt x="400983" y="946282"/>
                  <a:pt x="911342" y="1676871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5" name="根轨迹2">
            <a:extLst>
              <a:ext uri="{FF2B5EF4-FFF2-40B4-BE49-F238E27FC236}">
                <a16:creationId xmlns:a16="http://schemas.microsoft.com/office/drawing/2014/main" id="{1322ECA7-ECB5-864E-0920-64098D259BBF}"/>
              </a:ext>
            </a:extLst>
          </p:cNvPr>
          <p:cNvSpPr/>
          <p:nvPr/>
        </p:nvSpPr>
        <p:spPr>
          <a:xfrm>
            <a:off x="9434270" y="3499033"/>
            <a:ext cx="456212" cy="12487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32 w 3060560"/>
              <a:gd name="connsiteY0" fmla="*/ 2048131 h 2048131"/>
              <a:gd name="connsiteX1" fmla="*/ 3060560 w 3060560"/>
              <a:gd name="connsiteY1" fmla="*/ 0 h 2048131"/>
              <a:gd name="connsiteX0" fmla="*/ 0 w 3060528"/>
              <a:gd name="connsiteY0" fmla="*/ 2048131 h 2048151"/>
              <a:gd name="connsiteX1" fmla="*/ 3060528 w 3060528"/>
              <a:gd name="connsiteY1" fmla="*/ 0 h 2048151"/>
              <a:gd name="connsiteX0" fmla="*/ 0 w 626165"/>
              <a:gd name="connsiteY0" fmla="*/ 0 h 1710546"/>
              <a:gd name="connsiteX1" fmla="*/ 626165 w 626165"/>
              <a:gd name="connsiteY1" fmla="*/ 1064462 h 1710546"/>
              <a:gd name="connsiteX0" fmla="*/ 0 w 886452"/>
              <a:gd name="connsiteY0" fmla="*/ 0 h 1064462"/>
              <a:gd name="connsiteX1" fmla="*/ 626165 w 886452"/>
              <a:gd name="connsiteY1" fmla="*/ 1064462 h 1064462"/>
              <a:gd name="connsiteX0" fmla="*/ 0 w 886452"/>
              <a:gd name="connsiteY0" fmla="*/ 0 h 1142152"/>
              <a:gd name="connsiteX1" fmla="*/ 626165 w 886452"/>
              <a:gd name="connsiteY1" fmla="*/ 1064462 h 1142152"/>
              <a:gd name="connsiteX2" fmla="*/ 634260 w 886452"/>
              <a:gd name="connsiteY2" fmla="*/ 1060392 h 1142152"/>
              <a:gd name="connsiteX0" fmla="*/ 0 w 886452"/>
              <a:gd name="connsiteY0" fmla="*/ 0 h 1332900"/>
              <a:gd name="connsiteX1" fmla="*/ 626165 w 886452"/>
              <a:gd name="connsiteY1" fmla="*/ 1064462 h 1332900"/>
              <a:gd name="connsiteX2" fmla="*/ 301200 w 886452"/>
              <a:gd name="connsiteY2" fmla="*/ 1332895 h 1332900"/>
              <a:gd name="connsiteX0" fmla="*/ 0 w 1097535"/>
              <a:gd name="connsiteY0" fmla="*/ 146557 h 1479452"/>
              <a:gd name="connsiteX1" fmla="*/ 874446 w 1097535"/>
              <a:gd name="connsiteY1" fmla="*/ 145228 h 1479452"/>
              <a:gd name="connsiteX2" fmla="*/ 301200 w 1097535"/>
              <a:gd name="connsiteY2" fmla="*/ 1479452 h 1479452"/>
              <a:gd name="connsiteX0" fmla="*/ 0 w 885598"/>
              <a:gd name="connsiteY0" fmla="*/ 6679 h 1339574"/>
              <a:gd name="connsiteX1" fmla="*/ 874446 w 885598"/>
              <a:gd name="connsiteY1" fmla="*/ 5350 h 1339574"/>
              <a:gd name="connsiteX2" fmla="*/ 301200 w 885598"/>
              <a:gd name="connsiteY2" fmla="*/ 1339574 h 1339574"/>
              <a:gd name="connsiteX0" fmla="*/ 0 w 874455"/>
              <a:gd name="connsiteY0" fmla="*/ 6679 h 1339574"/>
              <a:gd name="connsiteX1" fmla="*/ 874446 w 874455"/>
              <a:gd name="connsiteY1" fmla="*/ 5350 h 1339574"/>
              <a:gd name="connsiteX2" fmla="*/ 301200 w 874455"/>
              <a:gd name="connsiteY2" fmla="*/ 1339574 h 1339574"/>
              <a:gd name="connsiteX0" fmla="*/ 25806 w 900258"/>
              <a:gd name="connsiteY0" fmla="*/ 6679 h 1884580"/>
              <a:gd name="connsiteX1" fmla="*/ 900252 w 900258"/>
              <a:gd name="connsiteY1" fmla="*/ 5350 h 1884580"/>
              <a:gd name="connsiteX2" fmla="*/ 2 w 900258"/>
              <a:gd name="connsiteY2" fmla="*/ 1884580 h 1884580"/>
              <a:gd name="connsiteX0" fmla="*/ 25806 w 918425"/>
              <a:gd name="connsiteY0" fmla="*/ 17084 h 1894985"/>
              <a:gd name="connsiteX1" fmla="*/ 918419 w 918425"/>
              <a:gd name="connsiteY1" fmla="*/ 3643 h 1894985"/>
              <a:gd name="connsiteX2" fmla="*/ 2 w 918425"/>
              <a:gd name="connsiteY2" fmla="*/ 1894985 h 1894985"/>
              <a:gd name="connsiteX0" fmla="*/ 25806 w 918481"/>
              <a:gd name="connsiteY0" fmla="*/ 17084 h 1894985"/>
              <a:gd name="connsiteX1" fmla="*/ 918419 w 918481"/>
              <a:gd name="connsiteY1" fmla="*/ 3643 h 1894985"/>
              <a:gd name="connsiteX2" fmla="*/ 2 w 918481"/>
              <a:gd name="connsiteY2" fmla="*/ 1894985 h 1894985"/>
              <a:gd name="connsiteX0" fmla="*/ 25806 w 918481"/>
              <a:gd name="connsiteY0" fmla="*/ 13534 h 1891435"/>
              <a:gd name="connsiteX1" fmla="*/ 918419 w 918481"/>
              <a:gd name="connsiteY1" fmla="*/ 93 h 1891435"/>
              <a:gd name="connsiteX2" fmla="*/ 2 w 918481"/>
              <a:gd name="connsiteY2" fmla="*/ 1891435 h 1891435"/>
              <a:gd name="connsiteX0" fmla="*/ 25806 w 918481"/>
              <a:gd name="connsiteY0" fmla="*/ 13579 h 1891480"/>
              <a:gd name="connsiteX1" fmla="*/ 918419 w 918481"/>
              <a:gd name="connsiteY1" fmla="*/ 138 h 1891480"/>
              <a:gd name="connsiteX2" fmla="*/ 2 w 918481"/>
              <a:gd name="connsiteY2" fmla="*/ 1891480 h 1891480"/>
              <a:gd name="connsiteX0" fmla="*/ 2865896 w 2899989"/>
              <a:gd name="connsiteY0" fmla="*/ 528173 h 1891346"/>
              <a:gd name="connsiteX1" fmla="*/ 918419 w 2899989"/>
              <a:gd name="connsiteY1" fmla="*/ 4 h 1891346"/>
              <a:gd name="connsiteX2" fmla="*/ 2 w 2899989"/>
              <a:gd name="connsiteY2" fmla="*/ 1891346 h 1891346"/>
              <a:gd name="connsiteX0" fmla="*/ 2865895 w 2954511"/>
              <a:gd name="connsiteY0" fmla="*/ 1260901 h 2624074"/>
              <a:gd name="connsiteX1" fmla="*/ 2698773 w 2954511"/>
              <a:gd name="connsiteY1" fmla="*/ 1 h 2624074"/>
              <a:gd name="connsiteX2" fmla="*/ 1 w 2954511"/>
              <a:gd name="connsiteY2" fmla="*/ 2624074 h 2624074"/>
              <a:gd name="connsiteX0" fmla="*/ 2429889 w 2518505"/>
              <a:gd name="connsiteY0" fmla="*/ 1260901 h 1260901"/>
              <a:gd name="connsiteX1" fmla="*/ 2262767 w 2518505"/>
              <a:gd name="connsiteY1" fmla="*/ 1 h 1260901"/>
              <a:gd name="connsiteX2" fmla="*/ 1 w 2518505"/>
              <a:gd name="connsiteY2" fmla="*/ 8042 h 1260901"/>
              <a:gd name="connsiteX0" fmla="*/ 2429889 w 2601303"/>
              <a:gd name="connsiteY0" fmla="*/ 1260902 h 1260902"/>
              <a:gd name="connsiteX1" fmla="*/ 2262767 w 2601303"/>
              <a:gd name="connsiteY1" fmla="*/ 2 h 1260902"/>
              <a:gd name="connsiteX2" fmla="*/ 1 w 2601303"/>
              <a:gd name="connsiteY2" fmla="*/ 8043 h 1260902"/>
              <a:gd name="connsiteX0" fmla="*/ 2429888 w 2601302"/>
              <a:gd name="connsiteY0" fmla="*/ 1260902 h 1260902"/>
              <a:gd name="connsiteX1" fmla="*/ 2262766 w 2601302"/>
              <a:gd name="connsiteY1" fmla="*/ 2 h 1260902"/>
              <a:gd name="connsiteX2" fmla="*/ 0 w 2601302"/>
              <a:gd name="connsiteY2" fmla="*/ 8043 h 1260902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2613"/>
              <a:gd name="connsiteY0" fmla="*/ 1260900 h 1260900"/>
              <a:gd name="connsiteX1" fmla="*/ 2262766 w 2652613"/>
              <a:gd name="connsiteY1" fmla="*/ 0 h 1260900"/>
              <a:gd name="connsiteX2" fmla="*/ 0 w 2652613"/>
              <a:gd name="connsiteY2" fmla="*/ 8041 h 1260900"/>
              <a:gd name="connsiteX0" fmla="*/ 2429888 w 2653788"/>
              <a:gd name="connsiteY0" fmla="*/ 1252859 h 1252859"/>
              <a:gd name="connsiteX1" fmla="*/ 2268822 w 2653788"/>
              <a:gd name="connsiteY1" fmla="*/ 4071 h 1252859"/>
              <a:gd name="connsiteX2" fmla="*/ 0 w 2653788"/>
              <a:gd name="connsiteY2" fmla="*/ 0 h 1252859"/>
              <a:gd name="connsiteX0" fmla="*/ 2435943 w 2659843"/>
              <a:gd name="connsiteY0" fmla="*/ 1248788 h 1248788"/>
              <a:gd name="connsiteX1" fmla="*/ 2274877 w 2659843"/>
              <a:gd name="connsiteY1" fmla="*/ 0 h 1248788"/>
              <a:gd name="connsiteX2" fmla="*/ 0 w 2659843"/>
              <a:gd name="connsiteY2" fmla="*/ 8040 h 1248788"/>
              <a:gd name="connsiteX0" fmla="*/ 161066 w 456212"/>
              <a:gd name="connsiteY0" fmla="*/ 1248788 h 1248788"/>
              <a:gd name="connsiteX1" fmla="*/ 0 w 456212"/>
              <a:gd name="connsiteY1" fmla="*/ 0 h 1248788"/>
              <a:gd name="connsiteX2" fmla="*/ 456212 w 456212"/>
              <a:gd name="connsiteY2" fmla="*/ 1984 h 124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6212" h="1248788">
                <a:moveTo>
                  <a:pt x="161066" y="1248788"/>
                </a:moveTo>
                <a:cubicBezTo>
                  <a:pt x="743121" y="614846"/>
                  <a:pt x="7275" y="767588"/>
                  <a:pt x="0" y="0"/>
                </a:cubicBezTo>
                <a:lnTo>
                  <a:pt x="456212" y="1984"/>
                </a:ln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1" animBg="1"/>
      <p:bldP spid="106" grpId="1" animBg="1"/>
      <p:bldP spid="114" grpId="1" animBg="1"/>
      <p:bldP spid="115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19069</TotalTime>
  <Words>1870</Words>
  <Application>Microsoft Macintosh PowerPoint</Application>
  <PresentationFormat>自定义</PresentationFormat>
  <Paragraphs>458</Paragraphs>
  <Slides>20</Slides>
  <Notes>19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566</cp:revision>
  <dcterms:created xsi:type="dcterms:W3CDTF">2012-09-21T08:06:35Z</dcterms:created>
  <dcterms:modified xsi:type="dcterms:W3CDTF">2024-04-28T02:32:49Z</dcterms:modified>
  <cp:category/>
</cp:coreProperties>
</file>