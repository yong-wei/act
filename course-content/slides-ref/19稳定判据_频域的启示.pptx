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353" r:id="rId2"/>
    <p:sldId id="522" r:id="rId3"/>
    <p:sldId id="523" r:id="rId4"/>
    <p:sldId id="568" r:id="rId5"/>
    <p:sldId id="569" r:id="rId6"/>
    <p:sldId id="529" r:id="rId7"/>
    <p:sldId id="550" r:id="rId8"/>
    <p:sldId id="551" r:id="rId9"/>
    <p:sldId id="571" r:id="rId10"/>
    <p:sldId id="552" r:id="rId11"/>
    <p:sldId id="572" r:id="rId12"/>
    <p:sldId id="573" r:id="rId13"/>
    <p:sldId id="574" r:id="rId14"/>
    <p:sldId id="575" r:id="rId15"/>
    <p:sldId id="553" r:id="rId16"/>
    <p:sldId id="576" r:id="rId17"/>
    <p:sldId id="577" r:id="rId18"/>
    <p:sldId id="578" r:id="rId19"/>
    <p:sldId id="579" r:id="rId20"/>
    <p:sldId id="580" r:id="rId21"/>
    <p:sldId id="581" r:id="rId22"/>
    <p:sldId id="582" r:id="rId23"/>
    <p:sldId id="583" r:id="rId24"/>
    <p:sldId id="584" r:id="rId25"/>
    <p:sldId id="585" r:id="rId26"/>
    <p:sldId id="586" r:id="rId27"/>
    <p:sldId id="587" r:id="rId28"/>
    <p:sldId id="588" r:id="rId29"/>
    <p:sldId id="589" r:id="rId30"/>
    <p:sldId id="590" r:id="rId31"/>
    <p:sldId id="591" r:id="rId32"/>
    <p:sldId id="592" r:id="rId33"/>
    <p:sldId id="593" r:id="rId34"/>
    <p:sldId id="565" r:id="rId35"/>
    <p:sldId id="566" r:id="rId36"/>
    <p:sldId id="556" r:id="rId37"/>
    <p:sldId id="567" r:id="rId38"/>
    <p:sldId id="558" r:id="rId39"/>
  </p:sldIdLst>
  <p:sldSz cx="12190413"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15EF9F2-8EA0-DF4B-B42A-9E3BA9F18F4C}">
          <p14:sldIdLst>
            <p14:sldId id="353"/>
            <p14:sldId id="522"/>
            <p14:sldId id="523"/>
            <p14:sldId id="568"/>
            <p14:sldId id="569"/>
            <p14:sldId id="529"/>
            <p14:sldId id="550"/>
            <p14:sldId id="551"/>
            <p14:sldId id="571"/>
            <p14:sldId id="552"/>
            <p14:sldId id="572"/>
            <p14:sldId id="573"/>
            <p14:sldId id="574"/>
            <p14:sldId id="575"/>
            <p14:sldId id="553"/>
            <p14:sldId id="576"/>
            <p14:sldId id="577"/>
            <p14:sldId id="578"/>
            <p14:sldId id="579"/>
            <p14:sldId id="580"/>
            <p14:sldId id="581"/>
            <p14:sldId id="582"/>
            <p14:sldId id="583"/>
            <p14:sldId id="584"/>
            <p14:sldId id="585"/>
            <p14:sldId id="586"/>
            <p14:sldId id="587"/>
            <p14:sldId id="588"/>
            <p14:sldId id="589"/>
            <p14:sldId id="590"/>
            <p14:sldId id="591"/>
            <p14:sldId id="592"/>
            <p14:sldId id="593"/>
            <p14:sldId id="565"/>
            <p14:sldId id="566"/>
            <p14:sldId id="556"/>
            <p14:sldId id="567"/>
            <p14:sldId id="558"/>
          </p14:sldIdLst>
        </p14:section>
      </p14:sectionLst>
    </p:ext>
    <p:ext uri="{EFAFB233-063F-42B5-8137-9DF3F51BA10A}">
      <p15:sldGuideLst xmlns:p15="http://schemas.microsoft.com/office/powerpoint/2012/main">
        <p15:guide id="1" orient="horz" pos="3067" userDrawn="1">
          <p15:clr>
            <a:srgbClr val="A4A3A4"/>
          </p15:clr>
        </p15:guide>
        <p15:guide id="2" orient="horz" pos="2160" userDrawn="1">
          <p15:clr>
            <a:srgbClr val="A4A3A4"/>
          </p15:clr>
        </p15:guide>
        <p15:guide id="3" pos="3840">
          <p15:clr>
            <a:srgbClr val="A4A3A4"/>
          </p15:clr>
        </p15:guide>
        <p15:guide id="4" pos="211" userDrawn="1">
          <p15:clr>
            <a:srgbClr val="A4A3A4"/>
          </p15:clr>
        </p15:guide>
        <p15:guide id="5" pos="6788" userDrawn="1">
          <p15:clr>
            <a:srgbClr val="A4A3A4"/>
          </p15:clr>
        </p15:guide>
        <p15:guide id="6" pos="3613" userDrawn="1">
          <p15:clr>
            <a:srgbClr val="A4A3A4"/>
          </p15:clr>
        </p15:guide>
        <p15:guide id="7" pos="5881" userDrawn="1">
          <p15:clr>
            <a:srgbClr val="A4A3A4"/>
          </p15:clr>
        </p15:guide>
        <p15:guide id="8" orient="horz" pos="2614" userDrawn="1">
          <p15:clr>
            <a:srgbClr val="A4A3A4"/>
          </p15:clr>
        </p15:guide>
        <p15:guide id="9" pos="6334" userDrawn="1">
          <p15:clr>
            <a:srgbClr val="A4A3A4"/>
          </p15:clr>
        </p15:guide>
        <p15:guide id="11" orient="horz" pos="1706" userDrawn="1">
          <p15:clr>
            <a:srgbClr val="A4A3A4"/>
          </p15:clr>
        </p15:guide>
        <p15:guide id="13" pos="5427" userDrawn="1">
          <p15:clr>
            <a:srgbClr val="A4A3A4"/>
          </p15:clr>
        </p15:guide>
        <p15:guide id="14" pos="4973" userDrawn="1">
          <p15:clr>
            <a:srgbClr val="A4A3A4"/>
          </p15:clr>
        </p15:guide>
        <p15:guide id="15" orient="horz" pos="1253" userDrawn="1">
          <p15:clr>
            <a:srgbClr val="A4A3A4"/>
          </p15:clr>
        </p15:guide>
        <p15:guide id="16" orient="horz" pos="3521" userDrawn="1">
          <p15:clr>
            <a:srgbClr val="A4A3A4"/>
          </p15:clr>
        </p15:guide>
        <p15:guide id="17" orient="horz" pos="799" userDrawn="1">
          <p15:clr>
            <a:srgbClr val="A4A3A4"/>
          </p15:clr>
        </p15:guide>
        <p15:guide id="18" orient="horz" pos="3974" userDrawn="1">
          <p15:clr>
            <a:srgbClr val="A4A3A4"/>
          </p15:clr>
        </p15:guide>
        <p15:guide id="19" orient="horz" pos="346" userDrawn="1">
          <p15:clr>
            <a:srgbClr val="A4A3A4"/>
          </p15:clr>
        </p15:guide>
        <p15:guide id="20" pos="4520" userDrawn="1">
          <p15:clr>
            <a:srgbClr val="A4A3A4"/>
          </p15:clr>
        </p15:guide>
        <p15:guide id="21" pos="4066" userDrawn="1">
          <p15:clr>
            <a:srgbClr val="A4A3A4"/>
          </p15:clr>
        </p15:guide>
        <p15:guide id="22" pos="72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4860"/>
    <a:srgbClr val="2980B9"/>
    <a:srgbClr val="F6973B"/>
    <a:srgbClr val="768395"/>
    <a:srgbClr val="159F84"/>
    <a:srgbClr val="F29B11"/>
    <a:srgbClr val="1C1C1C"/>
    <a:srgbClr val="9BBB59"/>
    <a:srgbClr val="FFFFFF"/>
    <a:srgbClr val="EF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00" autoAdjust="0"/>
    <p:restoredTop sz="92482" autoAdjust="0"/>
  </p:normalViewPr>
  <p:slideViewPr>
    <p:cSldViewPr>
      <p:cViewPr varScale="1">
        <p:scale>
          <a:sx n="95" d="100"/>
          <a:sy n="95" d="100"/>
        </p:scale>
        <p:origin x="608" y="472"/>
      </p:cViewPr>
      <p:guideLst>
        <p:guide orient="horz" pos="3067"/>
        <p:guide orient="horz" pos="2160"/>
        <p:guide pos="3840"/>
        <p:guide pos="211"/>
        <p:guide pos="6788"/>
        <p:guide pos="3613"/>
        <p:guide pos="5881"/>
        <p:guide orient="horz" pos="2614"/>
        <p:guide pos="6334"/>
        <p:guide orient="horz" pos="1706"/>
        <p:guide pos="5427"/>
        <p:guide pos="4973"/>
        <p:guide orient="horz" pos="1253"/>
        <p:guide orient="horz" pos="3521"/>
        <p:guide orient="horz" pos="799"/>
        <p:guide orient="horz" pos="3974"/>
        <p:guide orient="horz" pos="346"/>
        <p:guide pos="4520"/>
        <p:guide pos="4066"/>
        <p:guide pos="7241"/>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336"/>
    </p:cViewPr>
  </p:sorterViewPr>
  <p:notesViewPr>
    <p:cSldViewPr>
      <p:cViewPr varScale="1">
        <p:scale>
          <a:sx n="118" d="100"/>
          <a:sy n="118" d="100"/>
        </p:scale>
        <p:origin x="375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8805445-DD02-4A4D-85F2-00571D19ED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FE41B0AF-3333-FD46-B79E-50FD8A79D1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2A9F75-F87F-124E-A6E0-5AA7D52145C2}" type="datetimeFigureOut">
              <a:rPr kumimoji="1" lang="zh-CN" altLang="en-US" smtClean="0"/>
              <a:t>2025/4/28</a:t>
            </a:fld>
            <a:endParaRPr kumimoji="1" lang="zh-CN" altLang="en-US"/>
          </a:p>
        </p:txBody>
      </p:sp>
      <p:sp>
        <p:nvSpPr>
          <p:cNvPr id="4" name="页脚占位符 3">
            <a:extLst>
              <a:ext uri="{FF2B5EF4-FFF2-40B4-BE49-F238E27FC236}">
                <a16:creationId xmlns:a16="http://schemas.microsoft.com/office/drawing/2014/main" id="{8BF8CD6C-5D36-1743-972A-01D811956D4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5D92A2E0-40E1-5149-9E4A-F475CD689D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2A3159-7C85-5C48-9D59-18AED36800EB}" type="slidenum">
              <a:rPr kumimoji="1" lang="zh-CN" altLang="en-US" smtClean="0"/>
              <a:t>‹#›</a:t>
            </a:fld>
            <a:endParaRPr kumimoji="1" lang="zh-CN" altLang="en-US"/>
          </a:p>
        </p:txBody>
      </p:sp>
    </p:spTree>
    <p:extLst>
      <p:ext uri="{BB962C8B-B14F-4D97-AF65-F5344CB8AC3E}">
        <p14:creationId xmlns:p14="http://schemas.microsoft.com/office/powerpoint/2010/main" val="42163310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DCC928-7A32-4383-8C66-886F513D06F6}" type="datetimeFigureOut">
              <a:rPr lang="zh-CN" altLang="en-US" smtClean="0"/>
              <a:t>2025/4/28</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936B7B-B83E-48FC-9145-C5D7D2DAFA4C}" type="slidenum">
              <a:rPr lang="zh-CN" altLang="en-US" smtClean="0"/>
              <a:t>‹#›</a:t>
            </a:fld>
            <a:endParaRPr lang="zh-CN" altLang="en-US"/>
          </a:p>
        </p:txBody>
      </p:sp>
    </p:spTree>
    <p:extLst>
      <p:ext uri="{BB962C8B-B14F-4D97-AF65-F5344CB8AC3E}">
        <p14:creationId xmlns:p14="http://schemas.microsoft.com/office/powerpoint/2010/main" val="391940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r>
              <a:rPr lang="en-US" altLang="zh-CN"/>
              <a:t>1</a:t>
            </a:r>
            <a:endParaRPr lang="zh-CN" altLang="en-US"/>
          </a:p>
        </p:txBody>
      </p:sp>
    </p:spTree>
    <p:extLst>
      <p:ext uri="{BB962C8B-B14F-4D97-AF65-F5344CB8AC3E}">
        <p14:creationId xmlns:p14="http://schemas.microsoft.com/office/powerpoint/2010/main" val="3456931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a:t>
            </a:fld>
            <a:endParaRPr lang="zh-CN" altLang="en-US"/>
          </a:p>
        </p:txBody>
      </p:sp>
    </p:spTree>
    <p:extLst>
      <p:ext uri="{BB962C8B-B14F-4D97-AF65-F5344CB8AC3E}">
        <p14:creationId xmlns:p14="http://schemas.microsoft.com/office/powerpoint/2010/main" val="827018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4</a:t>
            </a:fld>
            <a:endParaRPr lang="zh-CN" altLang="en-US"/>
          </a:p>
        </p:txBody>
      </p:sp>
    </p:spTree>
    <p:extLst>
      <p:ext uri="{BB962C8B-B14F-4D97-AF65-F5344CB8AC3E}">
        <p14:creationId xmlns:p14="http://schemas.microsoft.com/office/powerpoint/2010/main" val="3884920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5</a:t>
            </a:fld>
            <a:endParaRPr lang="zh-CN" altLang="en-US"/>
          </a:p>
        </p:txBody>
      </p:sp>
    </p:spTree>
    <p:extLst>
      <p:ext uri="{BB962C8B-B14F-4D97-AF65-F5344CB8AC3E}">
        <p14:creationId xmlns:p14="http://schemas.microsoft.com/office/powerpoint/2010/main" val="168790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6</a:t>
            </a:fld>
            <a:endParaRPr lang="zh-CN" altLang="en-US"/>
          </a:p>
        </p:txBody>
      </p:sp>
    </p:spTree>
    <p:extLst>
      <p:ext uri="{BB962C8B-B14F-4D97-AF65-F5344CB8AC3E}">
        <p14:creationId xmlns:p14="http://schemas.microsoft.com/office/powerpoint/2010/main" val="3401853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7</a:t>
            </a:fld>
            <a:endParaRPr lang="zh-CN" altLang="en-US"/>
          </a:p>
        </p:txBody>
      </p:sp>
    </p:spTree>
    <p:extLst>
      <p:ext uri="{BB962C8B-B14F-4D97-AF65-F5344CB8AC3E}">
        <p14:creationId xmlns:p14="http://schemas.microsoft.com/office/powerpoint/2010/main" val="1165656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8</a:t>
            </a:fld>
            <a:endParaRPr lang="zh-CN" altLang="en-US"/>
          </a:p>
        </p:txBody>
      </p:sp>
    </p:spTree>
    <p:extLst>
      <p:ext uri="{BB962C8B-B14F-4D97-AF65-F5344CB8AC3E}">
        <p14:creationId xmlns:p14="http://schemas.microsoft.com/office/powerpoint/2010/main" val="1157974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9</a:t>
            </a:fld>
            <a:endParaRPr lang="zh-CN" altLang="en-US"/>
          </a:p>
        </p:txBody>
      </p:sp>
    </p:spTree>
    <p:extLst>
      <p:ext uri="{BB962C8B-B14F-4D97-AF65-F5344CB8AC3E}">
        <p14:creationId xmlns:p14="http://schemas.microsoft.com/office/powerpoint/2010/main" val="1389416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10</a:t>
            </a:fld>
            <a:endParaRPr lang="zh-CN" altLang="en-US"/>
          </a:p>
        </p:txBody>
      </p:sp>
    </p:spTree>
    <p:extLst>
      <p:ext uri="{BB962C8B-B14F-4D97-AF65-F5344CB8AC3E}">
        <p14:creationId xmlns:p14="http://schemas.microsoft.com/office/powerpoint/2010/main" val="83159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11</a:t>
            </a:fld>
            <a:endParaRPr lang="zh-CN" altLang="en-US"/>
          </a:p>
        </p:txBody>
      </p:sp>
    </p:spTree>
    <p:extLst>
      <p:ext uri="{BB962C8B-B14F-4D97-AF65-F5344CB8AC3E}">
        <p14:creationId xmlns:p14="http://schemas.microsoft.com/office/powerpoint/2010/main" val="3065653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12</a:t>
            </a:fld>
            <a:endParaRPr lang="zh-CN" altLang="en-US"/>
          </a:p>
        </p:txBody>
      </p:sp>
    </p:spTree>
    <p:extLst>
      <p:ext uri="{BB962C8B-B14F-4D97-AF65-F5344CB8AC3E}">
        <p14:creationId xmlns:p14="http://schemas.microsoft.com/office/powerpoint/2010/main" val="3954181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13</a:t>
            </a:fld>
            <a:endParaRPr lang="zh-CN" altLang="en-US"/>
          </a:p>
        </p:txBody>
      </p:sp>
    </p:spTree>
    <p:extLst>
      <p:ext uri="{BB962C8B-B14F-4D97-AF65-F5344CB8AC3E}">
        <p14:creationId xmlns:p14="http://schemas.microsoft.com/office/powerpoint/2010/main" val="3229200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14</a:t>
            </a:fld>
            <a:endParaRPr lang="zh-CN" altLang="en-US"/>
          </a:p>
        </p:txBody>
      </p:sp>
    </p:spTree>
    <p:extLst>
      <p:ext uri="{BB962C8B-B14F-4D97-AF65-F5344CB8AC3E}">
        <p14:creationId xmlns:p14="http://schemas.microsoft.com/office/powerpoint/2010/main" val="339948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15</a:t>
            </a:fld>
            <a:endParaRPr lang="zh-CN" altLang="en-US"/>
          </a:p>
        </p:txBody>
      </p:sp>
    </p:spTree>
    <p:extLst>
      <p:ext uri="{BB962C8B-B14F-4D97-AF65-F5344CB8AC3E}">
        <p14:creationId xmlns:p14="http://schemas.microsoft.com/office/powerpoint/2010/main" val="2616495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16</a:t>
            </a:fld>
            <a:endParaRPr lang="zh-CN" altLang="en-US"/>
          </a:p>
        </p:txBody>
      </p:sp>
    </p:spTree>
    <p:extLst>
      <p:ext uri="{BB962C8B-B14F-4D97-AF65-F5344CB8AC3E}">
        <p14:creationId xmlns:p14="http://schemas.microsoft.com/office/powerpoint/2010/main" val="1214033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17</a:t>
            </a:fld>
            <a:endParaRPr lang="zh-CN" altLang="en-US"/>
          </a:p>
        </p:txBody>
      </p:sp>
    </p:spTree>
    <p:extLst>
      <p:ext uri="{BB962C8B-B14F-4D97-AF65-F5344CB8AC3E}">
        <p14:creationId xmlns:p14="http://schemas.microsoft.com/office/powerpoint/2010/main" val="2395618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18</a:t>
            </a:fld>
            <a:endParaRPr lang="zh-CN" altLang="en-US"/>
          </a:p>
        </p:txBody>
      </p:sp>
    </p:spTree>
    <p:extLst>
      <p:ext uri="{BB962C8B-B14F-4D97-AF65-F5344CB8AC3E}">
        <p14:creationId xmlns:p14="http://schemas.microsoft.com/office/powerpoint/2010/main" val="875339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19</a:t>
            </a:fld>
            <a:endParaRPr lang="zh-CN" altLang="en-US"/>
          </a:p>
        </p:txBody>
      </p:sp>
    </p:spTree>
    <p:extLst>
      <p:ext uri="{BB962C8B-B14F-4D97-AF65-F5344CB8AC3E}">
        <p14:creationId xmlns:p14="http://schemas.microsoft.com/office/powerpoint/2010/main" val="238828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20</a:t>
            </a:fld>
            <a:endParaRPr lang="zh-CN" altLang="en-US"/>
          </a:p>
        </p:txBody>
      </p:sp>
    </p:spTree>
    <p:extLst>
      <p:ext uri="{BB962C8B-B14F-4D97-AF65-F5344CB8AC3E}">
        <p14:creationId xmlns:p14="http://schemas.microsoft.com/office/powerpoint/2010/main" val="2378620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21</a:t>
            </a:fld>
            <a:endParaRPr lang="zh-CN" altLang="en-US"/>
          </a:p>
        </p:txBody>
      </p:sp>
    </p:spTree>
    <p:extLst>
      <p:ext uri="{BB962C8B-B14F-4D97-AF65-F5344CB8AC3E}">
        <p14:creationId xmlns:p14="http://schemas.microsoft.com/office/powerpoint/2010/main" val="2292169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22</a:t>
            </a:fld>
            <a:endParaRPr lang="zh-CN" altLang="en-US"/>
          </a:p>
        </p:txBody>
      </p:sp>
    </p:spTree>
    <p:extLst>
      <p:ext uri="{BB962C8B-B14F-4D97-AF65-F5344CB8AC3E}">
        <p14:creationId xmlns:p14="http://schemas.microsoft.com/office/powerpoint/2010/main" val="4218764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23</a:t>
            </a:fld>
            <a:endParaRPr lang="zh-CN" altLang="en-US"/>
          </a:p>
        </p:txBody>
      </p:sp>
    </p:spTree>
    <p:extLst>
      <p:ext uri="{BB962C8B-B14F-4D97-AF65-F5344CB8AC3E}">
        <p14:creationId xmlns:p14="http://schemas.microsoft.com/office/powerpoint/2010/main" val="581713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24</a:t>
            </a:fld>
            <a:endParaRPr lang="zh-CN" altLang="en-US"/>
          </a:p>
        </p:txBody>
      </p:sp>
    </p:spTree>
    <p:extLst>
      <p:ext uri="{BB962C8B-B14F-4D97-AF65-F5344CB8AC3E}">
        <p14:creationId xmlns:p14="http://schemas.microsoft.com/office/powerpoint/2010/main" val="5844138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25</a:t>
            </a:fld>
            <a:endParaRPr lang="zh-CN" altLang="en-US"/>
          </a:p>
        </p:txBody>
      </p:sp>
    </p:spTree>
    <p:extLst>
      <p:ext uri="{BB962C8B-B14F-4D97-AF65-F5344CB8AC3E}">
        <p14:creationId xmlns:p14="http://schemas.microsoft.com/office/powerpoint/2010/main" val="3851625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26</a:t>
            </a:fld>
            <a:endParaRPr lang="zh-CN" altLang="en-US"/>
          </a:p>
        </p:txBody>
      </p:sp>
    </p:spTree>
    <p:extLst>
      <p:ext uri="{BB962C8B-B14F-4D97-AF65-F5344CB8AC3E}">
        <p14:creationId xmlns:p14="http://schemas.microsoft.com/office/powerpoint/2010/main" val="3005108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jjNyquist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27</a:t>
            </a:fld>
            <a:endParaRPr lang="zh-CN" altLang="en-US"/>
          </a:p>
        </p:txBody>
      </p:sp>
    </p:spTree>
    <p:extLst>
      <p:ext uri="{BB962C8B-B14F-4D97-AF65-F5344CB8AC3E}">
        <p14:creationId xmlns:p14="http://schemas.microsoft.com/office/powerpoint/2010/main" val="349553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GHjjNyquist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28</a:t>
            </a:fld>
            <a:endParaRPr lang="zh-CN" altLang="en-US"/>
          </a:p>
        </p:txBody>
      </p:sp>
    </p:spTree>
    <p:extLst>
      <p:ext uri="{BB962C8B-B14F-4D97-AF65-F5344CB8AC3E}">
        <p14:creationId xmlns:p14="http://schemas.microsoft.com/office/powerpoint/2010/main" val="39742940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GHjjNyquist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29</a:t>
            </a:fld>
            <a:endParaRPr lang="zh-CN" altLang="en-US"/>
          </a:p>
        </p:txBody>
      </p:sp>
    </p:spTree>
    <p:extLst>
      <p:ext uri="{BB962C8B-B14F-4D97-AF65-F5344CB8AC3E}">
        <p14:creationId xmlns:p14="http://schemas.microsoft.com/office/powerpoint/2010/main" val="1602072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GHjjNyquist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30</a:t>
            </a:fld>
            <a:endParaRPr lang="zh-CN" altLang="en-US"/>
          </a:p>
        </p:txBody>
      </p:sp>
    </p:spTree>
    <p:extLst>
      <p:ext uri="{BB962C8B-B14F-4D97-AF65-F5344CB8AC3E}">
        <p14:creationId xmlns:p14="http://schemas.microsoft.com/office/powerpoint/2010/main" val="9935084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GHjjNyquist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31</a:t>
            </a:fld>
            <a:endParaRPr lang="zh-CN" altLang="en-US"/>
          </a:p>
        </p:txBody>
      </p:sp>
    </p:spTree>
    <p:extLst>
      <p:ext uri="{BB962C8B-B14F-4D97-AF65-F5344CB8AC3E}">
        <p14:creationId xmlns:p14="http://schemas.microsoft.com/office/powerpoint/2010/main" val="2966448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GHjjNyquist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32</a:t>
            </a:fld>
            <a:endParaRPr lang="zh-CN" altLang="en-US"/>
          </a:p>
        </p:txBody>
      </p:sp>
    </p:spTree>
    <p:extLst>
      <p:ext uri="{BB962C8B-B14F-4D97-AF65-F5344CB8AC3E}">
        <p14:creationId xmlns:p14="http://schemas.microsoft.com/office/powerpoint/2010/main" val="2138812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GHjjNyquist</a:t>
            </a:r>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33</a:t>
            </a:fld>
            <a:endParaRPr lang="zh-CN" altLang="en-US"/>
          </a:p>
        </p:txBody>
      </p:sp>
    </p:spTree>
    <p:extLst>
      <p:ext uri="{BB962C8B-B14F-4D97-AF65-F5344CB8AC3E}">
        <p14:creationId xmlns:p14="http://schemas.microsoft.com/office/powerpoint/2010/main" val="9091481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34</a:t>
            </a:fld>
            <a:endParaRPr lang="zh-CN" altLang="en-US"/>
          </a:p>
        </p:txBody>
      </p:sp>
    </p:spTree>
    <p:extLst>
      <p:ext uri="{BB962C8B-B14F-4D97-AF65-F5344CB8AC3E}">
        <p14:creationId xmlns:p14="http://schemas.microsoft.com/office/powerpoint/2010/main" val="9995671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35</a:t>
            </a:fld>
            <a:endParaRPr lang="zh-CN" altLang="en-US"/>
          </a:p>
        </p:txBody>
      </p:sp>
    </p:spTree>
    <p:extLst>
      <p:ext uri="{BB962C8B-B14F-4D97-AF65-F5344CB8AC3E}">
        <p14:creationId xmlns:p14="http://schemas.microsoft.com/office/powerpoint/2010/main" val="12206475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36</a:t>
            </a:fld>
            <a:endParaRPr lang="zh-CN" altLang="en-US"/>
          </a:p>
        </p:txBody>
      </p:sp>
    </p:spTree>
    <p:extLst>
      <p:ext uri="{BB962C8B-B14F-4D97-AF65-F5344CB8AC3E}">
        <p14:creationId xmlns:p14="http://schemas.microsoft.com/office/powerpoint/2010/main" val="23204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37</a:t>
            </a:fld>
            <a:endParaRPr lang="zh-CN" altLang="en-US"/>
          </a:p>
        </p:txBody>
      </p:sp>
    </p:spTree>
    <p:extLst>
      <p:ext uri="{BB962C8B-B14F-4D97-AF65-F5344CB8AC3E}">
        <p14:creationId xmlns:p14="http://schemas.microsoft.com/office/powerpoint/2010/main" val="23645877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38</a:t>
            </a:fld>
            <a:endParaRPr lang="zh-CN" altLang="en-US"/>
          </a:p>
        </p:txBody>
      </p:sp>
    </p:spTree>
    <p:extLst>
      <p:ext uri="{BB962C8B-B14F-4D97-AF65-F5344CB8AC3E}">
        <p14:creationId xmlns:p14="http://schemas.microsoft.com/office/powerpoint/2010/main" val="207474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442475"/>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7CCF719-0B4D-4198-B5BC-2D0F73DC268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3" name="矩形: 圆角 2">
            <a:extLst>
              <a:ext uri="{FF2B5EF4-FFF2-40B4-BE49-F238E27FC236}">
                <a16:creationId xmlns:a16="http://schemas.microsoft.com/office/drawing/2014/main" id="{141282B4-7D1A-4CA4-B97C-AECB47C3A3B9}"/>
              </a:ext>
            </a:extLst>
          </p:cNvPr>
          <p:cNvSpPr/>
          <p:nvPr userDrawn="1"/>
        </p:nvSpPr>
        <p:spPr>
          <a:xfrm>
            <a:off x="118541" y="356166"/>
            <a:ext cx="1512168"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基本情况</a:t>
            </a:r>
          </a:p>
        </p:txBody>
      </p:sp>
      <p:sp>
        <p:nvSpPr>
          <p:cNvPr id="18" name="矩形: 圆角 17">
            <a:extLst>
              <a:ext uri="{FF2B5EF4-FFF2-40B4-BE49-F238E27FC236}">
                <a16:creationId xmlns:a16="http://schemas.microsoft.com/office/drawing/2014/main" id="{56B3B556-EBE2-4F68-9A8E-D8E9A97279D5}"/>
              </a:ext>
            </a:extLst>
          </p:cNvPr>
          <p:cNvSpPr/>
          <p:nvPr userDrawn="1"/>
        </p:nvSpPr>
        <p:spPr>
          <a:xfrm>
            <a:off x="1677453" y="356166"/>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2928175394"/>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7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DAD0CA0-9EB6-46FD-A5D1-35CBE479CB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674869" y="353986"/>
            <a:ext cx="5059282"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 name="矩形: 圆角 18">
            <a:extLst>
              <a:ext uri="{FF2B5EF4-FFF2-40B4-BE49-F238E27FC236}">
                <a16:creationId xmlns:a16="http://schemas.microsoft.com/office/drawing/2014/main" id="{536B85F6-A5BC-46DF-8D38-ACEA958A78FA}"/>
              </a:ext>
            </a:extLst>
          </p:cNvPr>
          <p:cNvSpPr/>
          <p:nvPr userDrawn="1"/>
        </p:nvSpPr>
        <p:spPr>
          <a:xfrm>
            <a:off x="129898" y="356166"/>
            <a:ext cx="1512168"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创新设计</a:t>
            </a:r>
          </a:p>
        </p:txBody>
      </p:sp>
      <p:sp>
        <p:nvSpPr>
          <p:cNvPr id="8" name="矩形: 圆角 17">
            <a:extLst>
              <a:ext uri="{FF2B5EF4-FFF2-40B4-BE49-F238E27FC236}">
                <a16:creationId xmlns:a16="http://schemas.microsoft.com/office/drawing/2014/main" id="{2C7DE445-257D-1547-A5A3-2C9ECB3DCED5}"/>
              </a:ext>
            </a:extLst>
          </p:cNvPr>
          <p:cNvSpPr/>
          <p:nvPr userDrawn="1"/>
        </p:nvSpPr>
        <p:spPr>
          <a:xfrm>
            <a:off x="6773974" y="353986"/>
            <a:ext cx="5286541"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1736408579"/>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5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8FC1B26-5F6B-454B-B6A7-6C43341F23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702718" y="359234"/>
            <a:ext cx="5616623" cy="514375"/>
          </a:xfrm>
          <a:prstGeom prst="roundRect">
            <a:avLst/>
          </a:prstGeom>
          <a:solidFill>
            <a:srgbClr val="E4486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 name="矩形: 圆角 19">
            <a:extLst>
              <a:ext uri="{FF2B5EF4-FFF2-40B4-BE49-F238E27FC236}">
                <a16:creationId xmlns:a16="http://schemas.microsoft.com/office/drawing/2014/main" id="{AC4C1D17-F9AA-4AA7-B29E-EA7C89094028}"/>
              </a:ext>
            </a:extLst>
          </p:cNvPr>
          <p:cNvSpPr/>
          <p:nvPr userDrawn="1"/>
        </p:nvSpPr>
        <p:spPr>
          <a:xfrm>
            <a:off x="121965" y="359235"/>
            <a:ext cx="1512168" cy="514375"/>
          </a:xfrm>
          <a:prstGeom prst="roundRect">
            <a:avLst/>
          </a:prstGeom>
          <a:solidFill>
            <a:srgbClr val="E4486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创新效果</a:t>
            </a:r>
          </a:p>
        </p:txBody>
      </p:sp>
    </p:spTree>
    <p:extLst>
      <p:ext uri="{BB962C8B-B14F-4D97-AF65-F5344CB8AC3E}">
        <p14:creationId xmlns:p14="http://schemas.microsoft.com/office/powerpoint/2010/main" val="2005898724"/>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6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E375F02-5481-4F79-8E14-2A5CA78A8E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91"/>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702718" y="356166"/>
            <a:ext cx="5616623" cy="514375"/>
          </a:xfrm>
          <a:prstGeom prst="roundRect">
            <a:avLst/>
          </a:prstGeom>
          <a:solidFill>
            <a:schemeClr val="tx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 name="矩形: 圆角 20">
            <a:extLst>
              <a:ext uri="{FF2B5EF4-FFF2-40B4-BE49-F238E27FC236}">
                <a16:creationId xmlns:a16="http://schemas.microsoft.com/office/drawing/2014/main" id="{53C5F6E7-E625-494B-89C2-3D62A6B97957}"/>
              </a:ext>
            </a:extLst>
          </p:cNvPr>
          <p:cNvSpPr/>
          <p:nvPr userDrawn="1"/>
        </p:nvSpPr>
        <p:spPr>
          <a:xfrm>
            <a:off x="118541" y="356166"/>
            <a:ext cx="1512168" cy="514375"/>
          </a:xfrm>
          <a:prstGeom prst="roundRect">
            <a:avLst/>
          </a:prstGeom>
          <a:solidFill>
            <a:schemeClr val="tx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教学成果</a:t>
            </a:r>
          </a:p>
        </p:txBody>
      </p:sp>
    </p:spTree>
    <p:extLst>
      <p:ext uri="{BB962C8B-B14F-4D97-AF65-F5344CB8AC3E}">
        <p14:creationId xmlns:p14="http://schemas.microsoft.com/office/powerpoint/2010/main" val="2493030061"/>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003EC96-1FAD-E241-A4B7-1ED9CE341E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4" name="矩形: 圆角 17">
            <a:extLst>
              <a:ext uri="{FF2B5EF4-FFF2-40B4-BE49-F238E27FC236}">
                <a16:creationId xmlns:a16="http://schemas.microsoft.com/office/drawing/2014/main" id="{1EA45D98-DEC5-264D-BA21-59DABF9CB484}"/>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571413893"/>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26FE7A8-4B06-47F3-B893-C94D3CF39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Tree>
    <p:extLst>
      <p:ext uri="{BB962C8B-B14F-4D97-AF65-F5344CB8AC3E}">
        <p14:creationId xmlns:p14="http://schemas.microsoft.com/office/powerpoint/2010/main" val="2717091939"/>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教学分析">
    <p:spTree>
      <p:nvGrpSpPr>
        <p:cNvPr id="1" name=""/>
        <p:cNvGrpSpPr/>
        <p:nvPr/>
      </p:nvGrpSpPr>
      <p:grpSpPr>
        <a:xfrm>
          <a:off x="0" y="0"/>
          <a:ext cx="0" cy="0"/>
          <a:chOff x="0" y="0"/>
          <a:chExt cx="0" cy="0"/>
        </a:xfrm>
      </p:grpSpPr>
      <p:sp>
        <p:nvSpPr>
          <p:cNvPr id="2" name="矩形: 圆角 17">
            <a:extLst>
              <a:ext uri="{FF2B5EF4-FFF2-40B4-BE49-F238E27FC236}">
                <a16:creationId xmlns:a16="http://schemas.microsoft.com/office/drawing/2014/main" id="{3B45C2DF-0EC4-B246-BC5F-91F7278EBADC}"/>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1071863972"/>
      </p:ext>
    </p:extLst>
  </p:cSld>
  <p:clrMapOvr>
    <a:masterClrMapping/>
  </p:clrMapOvr>
  <p:transition spd="slow">
    <p:strips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教学分析">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840991"/>
      </p:ext>
    </p:extLst>
  </p:cSld>
  <p:clrMapOvr>
    <a:masterClrMapping/>
  </p:clrMapOvr>
  <p:transition spd="slow">
    <p:strips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教学分析">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8152828"/>
      </p:ext>
    </p:extLst>
  </p:cSld>
  <p:clrMapOvr>
    <a:masterClrMapping/>
  </p:clrMapOvr>
  <p:transition spd="slow">
    <p:strips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教学策略">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762767"/>
      </p:ext>
    </p:extLst>
  </p:cSld>
  <p:clrMapOvr>
    <a:masterClrMapping/>
  </p:clrMapOvr>
  <p:transition spd="slow">
    <p:strips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教学策略">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231392"/>
      </p:ext>
    </p:extLst>
  </p:cSld>
  <p:clrMapOvr>
    <a:masterClrMapping/>
  </p:clrMapOvr>
  <p:transition spd="slow">
    <p:strips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教学过程">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4435023"/>
      </p:ext>
    </p:extLst>
  </p:cSld>
  <p:clrMapOvr>
    <a:masterClrMapping/>
  </p:clrMapOvr>
  <p:transition spd="slow">
    <p:strips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教学过程">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532170"/>
      </p:ext>
    </p:extLst>
  </p:cSld>
  <p:clrMapOvr>
    <a:masterClrMapping/>
  </p:clrMapOvr>
  <p:transition spd="slow">
    <p:strips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教学效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9634117"/>
      </p:ext>
    </p:extLst>
  </p:cSld>
  <p:clrMapOvr>
    <a:masterClrMapping/>
  </p:clrMapOvr>
  <p:transition spd="slow">
    <p:strips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17031"/>
      </p:ext>
    </p:extLst>
  </p:cSld>
  <p:clrMapOvr>
    <a:masterClrMapping/>
  </p:clrMapOvr>
  <p:transition spd="slow">
    <p:strips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D4A263-5145-4800-9735-38896831F9DE}"/>
              </a:ext>
            </a:extLst>
          </p:cNvPr>
          <p:cNvSpPr>
            <a:spLocks noGrp="1"/>
          </p:cNvSpPr>
          <p:nvPr>
            <p:ph type="title"/>
          </p:nvPr>
        </p:nvSpPr>
        <p:spPr>
          <a:xfrm>
            <a:off x="838200" y="365125"/>
            <a:ext cx="10514013"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93926514"/>
      </p:ext>
    </p:extLst>
  </p:cSld>
  <p:clrMapOvr>
    <a:masterClrMapping/>
  </p:clrMapOvr>
  <p:transition spd="slow">
    <p:strips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教学效果">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516710"/>
      </p:ext>
    </p:extLst>
  </p:cSld>
  <p:clrMapOvr>
    <a:masterClrMapping/>
  </p:clrMapOvr>
  <p:transition spd="slow">
    <p:strips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空白地图背景">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26FE7A8-4B06-47F3-B893-C94D3CF39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Tree>
    <p:extLst>
      <p:ext uri="{BB962C8B-B14F-4D97-AF65-F5344CB8AC3E}">
        <p14:creationId xmlns:p14="http://schemas.microsoft.com/office/powerpoint/2010/main" val="3337073589"/>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绿条空白">
    <p:spTree>
      <p:nvGrpSpPr>
        <p:cNvPr id="1" name=""/>
        <p:cNvGrpSpPr/>
        <p:nvPr/>
      </p:nvGrpSpPr>
      <p:grpSpPr>
        <a:xfrm>
          <a:off x="0" y="0"/>
          <a:ext cx="0" cy="0"/>
          <a:chOff x="0" y="0"/>
          <a:chExt cx="0" cy="0"/>
        </a:xfrm>
      </p:grpSpPr>
      <p:sp>
        <p:nvSpPr>
          <p:cNvPr id="2" name="矩形: 圆角 17">
            <a:extLst>
              <a:ext uri="{FF2B5EF4-FFF2-40B4-BE49-F238E27FC236}">
                <a16:creationId xmlns:a16="http://schemas.microsoft.com/office/drawing/2014/main" id="{3B45C2DF-0EC4-B246-BC5F-91F7278EBADC}"/>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4056751184"/>
      </p:ext>
    </p:extLst>
  </p:cSld>
  <p:clrMapOvr>
    <a:masterClrMapping/>
  </p:clrMapOvr>
  <p:transition spd="slow">
    <p:strips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2" name="TextBox 31" hidden="1"/>
          <p:cNvSpPr txBox="1"/>
          <p:nvPr userDrawn="1"/>
        </p:nvSpPr>
        <p:spPr>
          <a:xfrm>
            <a:off x="25134" y="-14371"/>
            <a:ext cx="2299539" cy="584775"/>
          </a:xfrm>
          <a:prstGeom prst="rect">
            <a:avLst/>
          </a:prstGeom>
          <a:noFill/>
        </p:spPr>
        <p:txBody>
          <a:bodyPr wrap="square" rtlCol="0">
            <a:spAutoFit/>
          </a:bodyPr>
          <a:lstStyle/>
          <a:p>
            <a:r>
              <a:rPr lang="en-US" altLang="zh-CN" sz="3200">
                <a:solidFill>
                  <a:srgbClr val="333333"/>
                </a:solidFill>
                <a:latin typeface="Gill Sans Ultra Bold" pitchFamily="34" charset="0"/>
              </a:rPr>
              <a:t>LOGO</a:t>
            </a:r>
            <a:endParaRPr lang="zh-CN" altLang="en-US" sz="3200" dirty="0">
              <a:solidFill>
                <a:srgbClr val="333333"/>
              </a:solidFill>
              <a:latin typeface="Gill Sans Ultra Bold" pitchFamily="34" charset="0"/>
            </a:endParaRPr>
          </a:p>
        </p:txBody>
      </p:sp>
    </p:spTree>
    <p:extLst>
      <p:ext uri="{BB962C8B-B14F-4D97-AF65-F5344CB8AC3E}">
        <p14:creationId xmlns:p14="http://schemas.microsoft.com/office/powerpoint/2010/main" val="1571502896"/>
      </p:ext>
    </p:extLst>
  </p:cSld>
  <p:clrMap bg1="lt1" tx1="dk1" bg2="lt2" tx2="dk2" accent1="accent1" accent2="accent2" accent3="accent3" accent4="accent4" accent5="accent5" accent6="accent6" hlink="hlink" folHlink="folHlink"/>
  <p:sldLayoutIdLst>
    <p:sldLayoutId id="2147483664" r:id="rId1"/>
    <p:sldLayoutId id="2147483668" r:id="rId2"/>
    <p:sldLayoutId id="2147483671" r:id="rId3"/>
    <p:sldLayoutId id="2147483669" r:id="rId4"/>
    <p:sldLayoutId id="2147483670" r:id="rId5"/>
    <p:sldLayoutId id="2147483654" r:id="rId6"/>
    <p:sldLayoutId id="2147483663" r:id="rId7"/>
    <p:sldLayoutId id="2147483659" r:id="rId8"/>
    <p:sldLayoutId id="2147483667" r:id="rId9"/>
    <p:sldLayoutId id="2147483655" r:id="rId10"/>
    <p:sldLayoutId id="2147483651" r:id="rId11"/>
    <p:sldLayoutId id="2147483656" r:id="rId12"/>
    <p:sldLayoutId id="2147483652" r:id="rId13"/>
    <p:sldLayoutId id="2147483657" r:id="rId14"/>
    <p:sldLayoutId id="2147483653" r:id="rId15"/>
    <p:sldLayoutId id="2147483666" r:id="rId16"/>
    <p:sldLayoutId id="2147483665" r:id="rId17"/>
    <p:sldLayoutId id="2147483658" r:id="rId18"/>
    <p:sldLayoutId id="2147483672" r:id="rId19"/>
    <p:sldLayoutId id="2147483673" r:id="rId20"/>
  </p:sldLayoutIdLst>
  <p:transition spd="slow">
    <p:strips dir="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510.png"/><Relationship Id="rId21" Type="http://schemas.openxmlformats.org/officeDocument/2006/relationships/image" Target="../media/image29.png"/><Relationship Id="rId12" Type="http://schemas.openxmlformats.org/officeDocument/2006/relationships/image" Target="../media/image19.png"/><Relationship Id="rId17" Type="http://schemas.openxmlformats.org/officeDocument/2006/relationships/image" Target="../media/image25.png"/><Relationship Id="rId2" Type="http://schemas.openxmlformats.org/officeDocument/2006/relationships/notesSlide" Target="../notesSlides/notesSlide7.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8.xml"/><Relationship Id="rId11" Type="http://schemas.openxmlformats.org/officeDocument/2006/relationships/image" Target="../media/image18.png"/><Relationship Id="rId24" Type="http://schemas.openxmlformats.org/officeDocument/2006/relationships/image" Target="../media/image32.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7.png"/><Relationship Id="rId19" Type="http://schemas.openxmlformats.org/officeDocument/2006/relationships/image" Target="../media/image27.png"/><Relationship Id="rId9" Type="http://schemas.openxmlformats.org/officeDocument/2006/relationships/image" Target="../media/image16.png"/><Relationship Id="rId14" Type="http://schemas.openxmlformats.org/officeDocument/2006/relationships/image" Target="../media/image22.png"/><Relationship Id="rId22"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27.png"/><Relationship Id="rId18" Type="http://schemas.openxmlformats.org/officeDocument/2006/relationships/image" Target="../media/image30.png"/><Relationship Id="rId26" Type="http://schemas.openxmlformats.org/officeDocument/2006/relationships/image" Target="../media/image22.png"/><Relationship Id="rId3" Type="http://schemas.openxmlformats.org/officeDocument/2006/relationships/image" Target="../media/image33.png"/><Relationship Id="rId21" Type="http://schemas.openxmlformats.org/officeDocument/2006/relationships/image" Target="../media/image16.png"/><Relationship Id="rId12" Type="http://schemas.openxmlformats.org/officeDocument/2006/relationships/image" Target="../media/image26.png"/><Relationship Id="rId25" Type="http://schemas.openxmlformats.org/officeDocument/2006/relationships/image" Target="../media/image21.png"/><Relationship Id="rId2" Type="http://schemas.openxmlformats.org/officeDocument/2006/relationships/notesSlide" Target="../notesSlides/notesSlide8.xml"/><Relationship Id="rId20" Type="http://schemas.openxmlformats.org/officeDocument/2006/relationships/image" Target="../media/image36.png"/><Relationship Id="rId1" Type="http://schemas.openxmlformats.org/officeDocument/2006/relationships/slideLayout" Target="../slideLayouts/slideLayout8.xml"/><Relationship Id="rId11" Type="http://schemas.openxmlformats.org/officeDocument/2006/relationships/image" Target="../media/image25.png"/><Relationship Id="rId24" Type="http://schemas.openxmlformats.org/officeDocument/2006/relationships/image" Target="../media/image19.png"/><Relationship Id="rId23" Type="http://schemas.openxmlformats.org/officeDocument/2006/relationships/image" Target="../media/image18.png"/><Relationship Id="rId10" Type="http://schemas.openxmlformats.org/officeDocument/2006/relationships/image" Target="../media/image24.png"/><Relationship Id="rId19" Type="http://schemas.openxmlformats.org/officeDocument/2006/relationships/image" Target="../media/image35.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17.png"/><Relationship Id="rId27"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7.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40.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430.png"/><Relationship Id="rId14" Type="http://schemas.openxmlformats.org/officeDocument/2006/relationships/image" Target="../media/image48.png"/></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image" Target="../media/image54.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notesSlide" Target="../notesSlides/notesSlide11.xml"/><Relationship Id="rId16" Type="http://schemas.openxmlformats.org/officeDocument/2006/relationships/image" Target="../media/image66.png"/><Relationship Id="rId1" Type="http://schemas.openxmlformats.org/officeDocument/2006/relationships/slideLayout" Target="../slideLayouts/slideLayout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1710.png"/><Relationship Id="rId15" Type="http://schemas.openxmlformats.org/officeDocument/2006/relationships/image" Target="../media/image65.png"/><Relationship Id="rId10" Type="http://schemas.openxmlformats.org/officeDocument/2006/relationships/image" Target="../media/image60.png"/><Relationship Id="rId4" Type="http://schemas.openxmlformats.org/officeDocument/2006/relationships/image" Target="../media/image55.png"/><Relationship Id="rId9" Type="http://schemas.openxmlformats.org/officeDocument/2006/relationships/image" Target="../media/image59.png"/><Relationship Id="rId14" Type="http://schemas.openxmlformats.org/officeDocument/2006/relationships/image" Target="../media/image64.png"/></Relationships>
</file>

<file path=ppt/slides/_rels/slide13.xml.rels><?xml version="1.0" encoding="UTF-8" standalone="yes"?>
<Relationships xmlns="http://schemas.openxmlformats.org/package/2006/relationships"><Relationship Id="rId8" Type="http://schemas.openxmlformats.org/officeDocument/2006/relationships/image" Target="../media/image1710.png"/><Relationship Id="rId13" Type="http://schemas.openxmlformats.org/officeDocument/2006/relationships/image" Target="../media/image78.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7.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72.png"/><Relationship Id="rId11" Type="http://schemas.openxmlformats.org/officeDocument/2006/relationships/image" Target="../media/image76.png"/><Relationship Id="rId5" Type="http://schemas.openxmlformats.org/officeDocument/2006/relationships/image" Target="../media/image71.png"/><Relationship Id="rId15" Type="http://schemas.openxmlformats.org/officeDocument/2006/relationships/image" Target="../media/image62.png"/><Relationship Id="rId10" Type="http://schemas.openxmlformats.org/officeDocument/2006/relationships/image" Target="../media/image75.png"/><Relationship Id="rId4" Type="http://schemas.openxmlformats.org/officeDocument/2006/relationships/image" Target="../media/image70.png"/><Relationship Id="rId9" Type="http://schemas.openxmlformats.org/officeDocument/2006/relationships/image" Target="../media/image74.png"/><Relationship Id="rId14" Type="http://schemas.openxmlformats.org/officeDocument/2006/relationships/image" Target="../media/image61.png"/></Relationships>
</file>

<file path=ppt/slides/_rels/slide14.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79.png"/><Relationship Id="rId7" Type="http://schemas.openxmlformats.org/officeDocument/2006/relationships/image" Target="../media/image1710.png"/><Relationship Id="rId12"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55.png"/><Relationship Id="rId11" Type="http://schemas.openxmlformats.org/officeDocument/2006/relationships/image" Target="../media/image59.png"/><Relationship Id="rId5" Type="http://schemas.openxmlformats.org/officeDocument/2006/relationships/image" Target="../media/image81.png"/><Relationship Id="rId10" Type="http://schemas.openxmlformats.org/officeDocument/2006/relationships/image" Target="../media/image58.png"/><Relationship Id="rId4" Type="http://schemas.openxmlformats.org/officeDocument/2006/relationships/image" Target="../media/image80.png"/><Relationship Id="rId9" Type="http://schemas.openxmlformats.org/officeDocument/2006/relationships/image" Target="../media/image57.png"/><Relationship Id="rId14" Type="http://schemas.openxmlformats.org/officeDocument/2006/relationships/image" Target="../media/image62.png"/></Relationships>
</file>

<file path=ppt/slides/_rels/slide15.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18" Type="http://schemas.openxmlformats.org/officeDocument/2006/relationships/image" Target="../media/image97.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91.png"/><Relationship Id="rId17" Type="http://schemas.openxmlformats.org/officeDocument/2006/relationships/image" Target="../media/image96.png"/><Relationship Id="rId2" Type="http://schemas.openxmlformats.org/officeDocument/2006/relationships/notesSlide" Target="../notesSlides/notesSlide14.xml"/><Relationship Id="rId16" Type="http://schemas.openxmlformats.org/officeDocument/2006/relationships/image" Target="../media/image95.png"/><Relationship Id="rId1" Type="http://schemas.openxmlformats.org/officeDocument/2006/relationships/slideLayout" Target="../slideLayouts/slideLayout8.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 Id="rId14" Type="http://schemas.openxmlformats.org/officeDocument/2006/relationships/image" Target="../media/image93.png"/></Relationships>
</file>

<file path=ppt/slides/_rels/slide16.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18" Type="http://schemas.openxmlformats.org/officeDocument/2006/relationships/image" Target="../media/image101.png"/><Relationship Id="rId3" Type="http://schemas.openxmlformats.org/officeDocument/2006/relationships/image" Target="../media/image82.png"/><Relationship Id="rId7" Type="http://schemas.openxmlformats.org/officeDocument/2006/relationships/image" Target="../media/image98.png"/><Relationship Id="rId12" Type="http://schemas.openxmlformats.org/officeDocument/2006/relationships/image" Target="../media/image90.png"/><Relationship Id="rId17" Type="http://schemas.openxmlformats.org/officeDocument/2006/relationships/image" Target="../media/image100.png"/><Relationship Id="rId2" Type="http://schemas.openxmlformats.org/officeDocument/2006/relationships/notesSlide" Target="../notesSlides/notesSlide15.xml"/><Relationship Id="rId16" Type="http://schemas.openxmlformats.org/officeDocument/2006/relationships/image" Target="../media/image95.png"/><Relationship Id="rId1" Type="http://schemas.openxmlformats.org/officeDocument/2006/relationships/slideLayout" Target="../slideLayouts/slideLayout8.xml"/><Relationship Id="rId6" Type="http://schemas.openxmlformats.org/officeDocument/2006/relationships/image" Target="../media/image97.png"/><Relationship Id="rId11" Type="http://schemas.openxmlformats.org/officeDocument/2006/relationships/image" Target="../media/image89.png"/><Relationship Id="rId5" Type="http://schemas.openxmlformats.org/officeDocument/2006/relationships/image" Target="../media/image84.png"/><Relationship Id="rId15" Type="http://schemas.openxmlformats.org/officeDocument/2006/relationships/image" Target="../media/image99.png"/><Relationship Id="rId10" Type="http://schemas.openxmlformats.org/officeDocument/2006/relationships/image" Target="../media/image88.png"/><Relationship Id="rId19" Type="http://schemas.openxmlformats.org/officeDocument/2006/relationships/image" Target="../media/image102.png"/><Relationship Id="rId4" Type="http://schemas.openxmlformats.org/officeDocument/2006/relationships/image" Target="../media/image83.png"/><Relationship Id="rId9" Type="http://schemas.openxmlformats.org/officeDocument/2006/relationships/image" Target="../media/image87.png"/><Relationship Id="rId14" Type="http://schemas.openxmlformats.org/officeDocument/2006/relationships/image" Target="../media/image93.png"/></Relationships>
</file>

<file path=ppt/slides/_rels/slide17.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3.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 Type="http://schemas.openxmlformats.org/officeDocument/2006/relationships/notesSlide" Target="../notesSlides/notesSlide16.xml"/><Relationship Id="rId16" Type="http://schemas.openxmlformats.org/officeDocument/2006/relationships/image" Target="../media/image115.png"/><Relationship Id="rId1" Type="http://schemas.openxmlformats.org/officeDocument/2006/relationships/slideLayout" Target="../slideLayouts/slideLayout8.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55.png"/><Relationship Id="rId9" Type="http://schemas.openxmlformats.org/officeDocument/2006/relationships/image" Target="../media/image108.png"/><Relationship Id="rId14" Type="http://schemas.openxmlformats.org/officeDocument/2006/relationships/image" Target="../media/image113.png"/></Relationships>
</file>

<file path=ppt/slides/_rels/slide1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18.png"/></Relationships>
</file>

<file path=ppt/slides/_rels/slide19.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18" Type="http://schemas.openxmlformats.org/officeDocument/2006/relationships/image" Target="../media/image97.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91.png"/><Relationship Id="rId17" Type="http://schemas.openxmlformats.org/officeDocument/2006/relationships/image" Target="../media/image96.png"/><Relationship Id="rId2" Type="http://schemas.openxmlformats.org/officeDocument/2006/relationships/notesSlide" Target="../notesSlides/notesSlide18.xml"/><Relationship Id="rId16" Type="http://schemas.openxmlformats.org/officeDocument/2006/relationships/image" Target="../media/image95.png"/><Relationship Id="rId1" Type="http://schemas.openxmlformats.org/officeDocument/2006/relationships/slideLayout" Target="../slideLayouts/slideLayout8.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5" Type="http://schemas.openxmlformats.org/officeDocument/2006/relationships/image" Target="../media/image94.png"/><Relationship Id="rId10" Type="http://schemas.openxmlformats.org/officeDocument/2006/relationships/image" Target="../media/image89.png"/><Relationship Id="rId19" Type="http://schemas.openxmlformats.org/officeDocument/2006/relationships/image" Target="../media/image119.png"/><Relationship Id="rId4" Type="http://schemas.openxmlformats.org/officeDocument/2006/relationships/image" Target="../media/image83.png"/><Relationship Id="rId9" Type="http://schemas.openxmlformats.org/officeDocument/2006/relationships/image" Target="../media/image88.png"/><Relationship Id="rId14" Type="http://schemas.openxmlformats.org/officeDocument/2006/relationships/image" Target="../media/image93.png"/></Relationships>
</file>

<file path=ppt/slides/_rels/slide20.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18" Type="http://schemas.openxmlformats.org/officeDocument/2006/relationships/image" Target="../media/image101.png"/><Relationship Id="rId3" Type="http://schemas.openxmlformats.org/officeDocument/2006/relationships/image" Target="../media/image82.png"/><Relationship Id="rId7" Type="http://schemas.openxmlformats.org/officeDocument/2006/relationships/image" Target="../media/image98.png"/><Relationship Id="rId12" Type="http://schemas.openxmlformats.org/officeDocument/2006/relationships/image" Target="../media/image90.png"/><Relationship Id="rId17" Type="http://schemas.openxmlformats.org/officeDocument/2006/relationships/image" Target="../media/image100.png"/><Relationship Id="rId2" Type="http://schemas.openxmlformats.org/officeDocument/2006/relationships/notesSlide" Target="../notesSlides/notesSlide19.xml"/><Relationship Id="rId16" Type="http://schemas.openxmlformats.org/officeDocument/2006/relationships/image" Target="../media/image95.png"/><Relationship Id="rId20" Type="http://schemas.openxmlformats.org/officeDocument/2006/relationships/image" Target="../media/image119.png"/><Relationship Id="rId1" Type="http://schemas.openxmlformats.org/officeDocument/2006/relationships/slideLayout" Target="../slideLayouts/slideLayout8.xml"/><Relationship Id="rId6" Type="http://schemas.openxmlformats.org/officeDocument/2006/relationships/image" Target="../media/image97.png"/><Relationship Id="rId11" Type="http://schemas.openxmlformats.org/officeDocument/2006/relationships/image" Target="../media/image89.png"/><Relationship Id="rId5" Type="http://schemas.openxmlformats.org/officeDocument/2006/relationships/image" Target="../media/image84.png"/><Relationship Id="rId15" Type="http://schemas.openxmlformats.org/officeDocument/2006/relationships/image" Target="../media/image99.png"/><Relationship Id="rId10" Type="http://schemas.openxmlformats.org/officeDocument/2006/relationships/image" Target="../media/image88.png"/><Relationship Id="rId19" Type="http://schemas.openxmlformats.org/officeDocument/2006/relationships/image" Target="../media/image102.png"/><Relationship Id="rId4" Type="http://schemas.openxmlformats.org/officeDocument/2006/relationships/image" Target="../media/image83.png"/><Relationship Id="rId9" Type="http://schemas.openxmlformats.org/officeDocument/2006/relationships/image" Target="../media/image87.png"/><Relationship Id="rId14" Type="http://schemas.openxmlformats.org/officeDocument/2006/relationships/image" Target="../media/image93.png"/></Relationships>
</file>

<file path=ppt/slides/_rels/slide21.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6.png"/><Relationship Id="rId3" Type="http://schemas.openxmlformats.org/officeDocument/2006/relationships/image" Target="../media/image103.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21.png"/><Relationship Id="rId2" Type="http://schemas.openxmlformats.org/officeDocument/2006/relationships/notesSlide" Target="../notesSlides/notesSlide20.xml"/><Relationship Id="rId16" Type="http://schemas.openxmlformats.org/officeDocument/2006/relationships/image" Target="../media/image120.png"/><Relationship Id="rId1" Type="http://schemas.openxmlformats.org/officeDocument/2006/relationships/slideLayout" Target="../slideLayouts/slideLayout8.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55.png"/><Relationship Id="rId9" Type="http://schemas.openxmlformats.org/officeDocument/2006/relationships/image" Target="../media/image108.png"/><Relationship Id="rId14" Type="http://schemas.openxmlformats.org/officeDocument/2006/relationships/image" Target="../media/image113.png"/></Relationships>
</file>

<file path=ppt/slides/_rels/slide2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24.png"/><Relationship Id="rId4" Type="http://schemas.openxmlformats.org/officeDocument/2006/relationships/image" Target="../media/image123.png"/></Relationships>
</file>

<file path=ppt/slides/_rels/slide2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18" Type="http://schemas.openxmlformats.org/officeDocument/2006/relationships/image" Target="../media/image97.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126.png"/><Relationship Id="rId17" Type="http://schemas.openxmlformats.org/officeDocument/2006/relationships/image" Target="../media/image128.png"/><Relationship Id="rId2" Type="http://schemas.openxmlformats.org/officeDocument/2006/relationships/notesSlide" Target="../notesSlides/notesSlide22.xml"/><Relationship Id="rId16" Type="http://schemas.openxmlformats.org/officeDocument/2006/relationships/image" Target="../media/image127.png"/><Relationship Id="rId1" Type="http://schemas.openxmlformats.org/officeDocument/2006/relationships/slideLayout" Target="../slideLayouts/slideLayout8.xml"/><Relationship Id="rId6" Type="http://schemas.openxmlformats.org/officeDocument/2006/relationships/image" Target="../media/image85.png"/><Relationship Id="rId11" Type="http://schemas.openxmlformats.org/officeDocument/2006/relationships/image" Target="../media/image125.png"/><Relationship Id="rId5" Type="http://schemas.openxmlformats.org/officeDocument/2006/relationships/image" Target="../media/image84.png"/><Relationship Id="rId15" Type="http://schemas.openxmlformats.org/officeDocument/2006/relationships/image" Target="../media/image94.png"/><Relationship Id="rId10" Type="http://schemas.openxmlformats.org/officeDocument/2006/relationships/image" Target="../media/image89.png"/><Relationship Id="rId19" Type="http://schemas.openxmlformats.org/officeDocument/2006/relationships/image" Target="../media/image119.png"/><Relationship Id="rId4" Type="http://schemas.openxmlformats.org/officeDocument/2006/relationships/image" Target="../media/image83.png"/><Relationship Id="rId9" Type="http://schemas.openxmlformats.org/officeDocument/2006/relationships/image" Target="../media/image88.png"/><Relationship Id="rId14" Type="http://schemas.openxmlformats.org/officeDocument/2006/relationships/image" Target="../media/image93.png"/></Relationships>
</file>

<file path=ppt/slides/_rels/slide24.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126.png"/><Relationship Id="rId18" Type="http://schemas.openxmlformats.org/officeDocument/2006/relationships/image" Target="../media/image101.png"/><Relationship Id="rId3" Type="http://schemas.openxmlformats.org/officeDocument/2006/relationships/image" Target="../media/image82.png"/><Relationship Id="rId7" Type="http://schemas.openxmlformats.org/officeDocument/2006/relationships/image" Target="../media/image98.png"/><Relationship Id="rId12" Type="http://schemas.openxmlformats.org/officeDocument/2006/relationships/image" Target="../media/image125.png"/><Relationship Id="rId17" Type="http://schemas.openxmlformats.org/officeDocument/2006/relationships/image" Target="../media/image129.png"/><Relationship Id="rId2" Type="http://schemas.openxmlformats.org/officeDocument/2006/relationships/notesSlide" Target="../notesSlides/notesSlide23.xml"/><Relationship Id="rId16" Type="http://schemas.openxmlformats.org/officeDocument/2006/relationships/image" Target="../media/image127.png"/><Relationship Id="rId20" Type="http://schemas.openxmlformats.org/officeDocument/2006/relationships/image" Target="../media/image119.png"/><Relationship Id="rId1" Type="http://schemas.openxmlformats.org/officeDocument/2006/relationships/slideLayout" Target="../slideLayouts/slideLayout8.xml"/><Relationship Id="rId6" Type="http://schemas.openxmlformats.org/officeDocument/2006/relationships/image" Target="../media/image97.png"/><Relationship Id="rId11" Type="http://schemas.openxmlformats.org/officeDocument/2006/relationships/image" Target="../media/image89.png"/><Relationship Id="rId5" Type="http://schemas.openxmlformats.org/officeDocument/2006/relationships/image" Target="../media/image84.png"/><Relationship Id="rId15" Type="http://schemas.openxmlformats.org/officeDocument/2006/relationships/image" Target="../media/image99.png"/><Relationship Id="rId10" Type="http://schemas.openxmlformats.org/officeDocument/2006/relationships/image" Target="../media/image88.png"/><Relationship Id="rId19" Type="http://schemas.openxmlformats.org/officeDocument/2006/relationships/image" Target="../media/image102.png"/><Relationship Id="rId4" Type="http://schemas.openxmlformats.org/officeDocument/2006/relationships/image" Target="../media/image83.png"/><Relationship Id="rId9" Type="http://schemas.openxmlformats.org/officeDocument/2006/relationships/image" Target="../media/image87.png"/><Relationship Id="rId14" Type="http://schemas.openxmlformats.org/officeDocument/2006/relationships/image" Target="../media/image93.png"/></Relationships>
</file>

<file path=ppt/slides/_rels/slide25.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6.png"/><Relationship Id="rId3" Type="http://schemas.openxmlformats.org/officeDocument/2006/relationships/image" Target="../media/image103.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21.png"/><Relationship Id="rId2" Type="http://schemas.openxmlformats.org/officeDocument/2006/relationships/notesSlide" Target="../notesSlides/notesSlide24.xml"/><Relationship Id="rId16" Type="http://schemas.openxmlformats.org/officeDocument/2006/relationships/image" Target="../media/image120.png"/><Relationship Id="rId1" Type="http://schemas.openxmlformats.org/officeDocument/2006/relationships/slideLayout" Target="../slideLayouts/slideLayout8.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31.png"/><Relationship Id="rId4" Type="http://schemas.openxmlformats.org/officeDocument/2006/relationships/image" Target="../media/image55.png"/><Relationship Id="rId9" Type="http://schemas.openxmlformats.org/officeDocument/2006/relationships/image" Target="../media/image130.png"/><Relationship Id="rId14" Type="http://schemas.openxmlformats.org/officeDocument/2006/relationships/image" Target="../media/image113.png"/></Relationships>
</file>

<file path=ppt/slides/_rels/slide26.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41.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5" Type="http://schemas.openxmlformats.org/officeDocument/2006/relationships/image" Target="../media/image14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s>
</file>

<file path=ppt/slides/_rels/slide27.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 Id="rId9" Type="http://schemas.openxmlformats.org/officeDocument/2006/relationships/image" Target="../media/image151.png"/></Relationships>
</file>

<file path=ppt/slides/_rels/slide2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s>
</file>

<file path=ppt/slides/_rels/slide29.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4.png"/><Relationship Id="rId18" Type="http://schemas.openxmlformats.org/officeDocument/2006/relationships/image" Target="../media/image169.png"/><Relationship Id="rId3" Type="http://schemas.openxmlformats.org/officeDocument/2006/relationships/image" Target="../media/image156.png"/><Relationship Id="rId7" Type="http://schemas.openxmlformats.org/officeDocument/2006/relationships/image" Target="../media/image160.png"/><Relationship Id="rId12" Type="http://schemas.openxmlformats.org/officeDocument/2006/relationships/image" Target="../media/image163.png"/><Relationship Id="rId17" Type="http://schemas.openxmlformats.org/officeDocument/2006/relationships/image" Target="../media/image168.png"/><Relationship Id="rId2" Type="http://schemas.openxmlformats.org/officeDocument/2006/relationships/notesSlide" Target="../notesSlides/notesSlide28.xml"/><Relationship Id="rId16" Type="http://schemas.openxmlformats.org/officeDocument/2006/relationships/image" Target="../media/image167.png"/><Relationship Id="rId1" Type="http://schemas.openxmlformats.org/officeDocument/2006/relationships/slideLayout" Target="../slideLayouts/slideLayout8.xml"/><Relationship Id="rId6" Type="http://schemas.openxmlformats.org/officeDocument/2006/relationships/image" Target="../media/image159.png"/><Relationship Id="rId11" Type="http://schemas.openxmlformats.org/officeDocument/2006/relationships/image" Target="../media/image162.png"/><Relationship Id="rId5" Type="http://schemas.openxmlformats.org/officeDocument/2006/relationships/image" Target="../media/image158.png"/><Relationship Id="rId15" Type="http://schemas.openxmlformats.org/officeDocument/2006/relationships/image" Target="../media/image166.png"/><Relationship Id="rId10" Type="http://schemas.openxmlformats.org/officeDocument/2006/relationships/image" Target="../media/image138.png"/><Relationship Id="rId4" Type="http://schemas.openxmlformats.org/officeDocument/2006/relationships/image" Target="../media/image157.png"/><Relationship Id="rId9" Type="http://schemas.openxmlformats.org/officeDocument/2006/relationships/image" Target="../media/image86.png"/><Relationship Id="rId14" Type="http://schemas.openxmlformats.org/officeDocument/2006/relationships/image" Target="../media/image165.png"/></Relationships>
</file>

<file path=ppt/slides/_rels/slide30.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174.png"/><Relationship Id="rId3" Type="http://schemas.openxmlformats.org/officeDocument/2006/relationships/image" Target="../media/image170.png"/><Relationship Id="rId7" Type="http://schemas.openxmlformats.org/officeDocument/2006/relationships/image" Target="../media/image161.png"/><Relationship Id="rId12" Type="http://schemas.openxmlformats.org/officeDocument/2006/relationships/image" Target="../media/image166.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173.png"/><Relationship Id="rId11" Type="http://schemas.openxmlformats.org/officeDocument/2006/relationships/image" Target="../media/image165.png"/><Relationship Id="rId5" Type="http://schemas.openxmlformats.org/officeDocument/2006/relationships/image" Target="../media/image172.png"/><Relationship Id="rId10" Type="http://schemas.openxmlformats.org/officeDocument/2006/relationships/image" Target="../media/image162.png"/><Relationship Id="rId4" Type="http://schemas.openxmlformats.org/officeDocument/2006/relationships/image" Target="../media/image171.png"/><Relationship Id="rId9" Type="http://schemas.openxmlformats.org/officeDocument/2006/relationships/image" Target="../media/image138.png"/><Relationship Id="rId14" Type="http://schemas.openxmlformats.org/officeDocument/2006/relationships/image" Target="../media/image175.png"/></Relationships>
</file>

<file path=ppt/slides/_rels/slide31.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3" Type="http://schemas.openxmlformats.org/officeDocument/2006/relationships/image" Target="../media/image176.png"/><Relationship Id="rId7" Type="http://schemas.openxmlformats.org/officeDocument/2006/relationships/image" Target="../media/image180.png"/><Relationship Id="rId12" Type="http://schemas.openxmlformats.org/officeDocument/2006/relationships/image" Target="../media/image185.png"/><Relationship Id="rId2" Type="http://schemas.openxmlformats.org/officeDocument/2006/relationships/notesSlide" Target="../notesSlides/notesSlide30.xml"/><Relationship Id="rId16" Type="http://schemas.openxmlformats.org/officeDocument/2006/relationships/image" Target="../media/image189.png"/><Relationship Id="rId1" Type="http://schemas.openxmlformats.org/officeDocument/2006/relationships/slideLayout" Target="../slideLayouts/slideLayout8.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png"/><Relationship Id="rId15" Type="http://schemas.openxmlformats.org/officeDocument/2006/relationships/image" Target="../media/image188.png"/><Relationship Id="rId10"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82.png"/><Relationship Id="rId14" Type="http://schemas.openxmlformats.org/officeDocument/2006/relationships/image" Target="../media/image187.png"/></Relationships>
</file>

<file path=ppt/slides/_rels/slide32.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0.png"/><Relationship Id="rId18" Type="http://schemas.openxmlformats.org/officeDocument/2006/relationships/image" Target="../media/image205.png"/><Relationship Id="rId3" Type="http://schemas.openxmlformats.org/officeDocument/2006/relationships/image" Target="../media/image190.png"/><Relationship Id="rId21" Type="http://schemas.openxmlformats.org/officeDocument/2006/relationships/image" Target="../media/image208.png"/><Relationship Id="rId7" Type="http://schemas.openxmlformats.org/officeDocument/2006/relationships/image" Target="../media/image194.png"/><Relationship Id="rId12" Type="http://schemas.openxmlformats.org/officeDocument/2006/relationships/image" Target="../media/image199.png"/><Relationship Id="rId17" Type="http://schemas.openxmlformats.org/officeDocument/2006/relationships/image" Target="../media/image204.png"/><Relationship Id="rId25" Type="http://schemas.openxmlformats.org/officeDocument/2006/relationships/image" Target="../media/image212.png"/><Relationship Id="rId2" Type="http://schemas.openxmlformats.org/officeDocument/2006/relationships/notesSlide" Target="../notesSlides/notesSlide31.xml"/><Relationship Id="rId16" Type="http://schemas.openxmlformats.org/officeDocument/2006/relationships/image" Target="../media/image203.png"/><Relationship Id="rId20" Type="http://schemas.openxmlformats.org/officeDocument/2006/relationships/image" Target="../media/image207.png"/><Relationship Id="rId1" Type="http://schemas.openxmlformats.org/officeDocument/2006/relationships/slideLayout" Target="../slideLayouts/slideLayout8.xml"/><Relationship Id="rId6" Type="http://schemas.openxmlformats.org/officeDocument/2006/relationships/image" Target="../media/image193.png"/><Relationship Id="rId11" Type="http://schemas.openxmlformats.org/officeDocument/2006/relationships/image" Target="../media/image198.png"/><Relationship Id="rId24" Type="http://schemas.openxmlformats.org/officeDocument/2006/relationships/image" Target="../media/image211.png"/><Relationship Id="rId5" Type="http://schemas.openxmlformats.org/officeDocument/2006/relationships/image" Target="../media/image192.png"/><Relationship Id="rId15" Type="http://schemas.openxmlformats.org/officeDocument/2006/relationships/image" Target="../media/image202.png"/><Relationship Id="rId23" Type="http://schemas.openxmlformats.org/officeDocument/2006/relationships/image" Target="../media/image210.png"/><Relationship Id="rId10" Type="http://schemas.openxmlformats.org/officeDocument/2006/relationships/image" Target="../media/image197.png"/><Relationship Id="rId19" Type="http://schemas.openxmlformats.org/officeDocument/2006/relationships/image" Target="../media/image206.png"/><Relationship Id="rId4" Type="http://schemas.openxmlformats.org/officeDocument/2006/relationships/image" Target="../media/image191.png"/><Relationship Id="rId9" Type="http://schemas.openxmlformats.org/officeDocument/2006/relationships/image" Target="../media/image196.png"/><Relationship Id="rId14" Type="http://schemas.openxmlformats.org/officeDocument/2006/relationships/image" Target="../media/image201.png"/><Relationship Id="rId22" Type="http://schemas.openxmlformats.org/officeDocument/2006/relationships/image" Target="../media/image209.png"/></Relationships>
</file>

<file path=ppt/slides/_rels/slide33.xml.rels><?xml version="1.0" encoding="UTF-8" standalone="yes"?>
<Relationships xmlns="http://schemas.openxmlformats.org/package/2006/relationships"><Relationship Id="rId8" Type="http://schemas.openxmlformats.org/officeDocument/2006/relationships/image" Target="../media/image218.png"/><Relationship Id="rId13" Type="http://schemas.openxmlformats.org/officeDocument/2006/relationships/image" Target="../media/image223.png"/><Relationship Id="rId18" Type="http://schemas.openxmlformats.org/officeDocument/2006/relationships/image" Target="../media/image228.png"/><Relationship Id="rId26" Type="http://schemas.openxmlformats.org/officeDocument/2006/relationships/image" Target="../media/image138.png"/><Relationship Id="rId3" Type="http://schemas.openxmlformats.org/officeDocument/2006/relationships/image" Target="../media/image213.png"/><Relationship Id="rId21" Type="http://schemas.openxmlformats.org/officeDocument/2006/relationships/image" Target="../media/image231.png"/><Relationship Id="rId7" Type="http://schemas.openxmlformats.org/officeDocument/2006/relationships/image" Target="../media/image217.png"/><Relationship Id="rId12" Type="http://schemas.openxmlformats.org/officeDocument/2006/relationships/image" Target="../media/image222.png"/><Relationship Id="rId17" Type="http://schemas.openxmlformats.org/officeDocument/2006/relationships/image" Target="../media/image227.png"/><Relationship Id="rId25" Type="http://schemas.openxmlformats.org/officeDocument/2006/relationships/image" Target="../media/image86.png"/><Relationship Id="rId2" Type="http://schemas.openxmlformats.org/officeDocument/2006/relationships/notesSlide" Target="../notesSlides/notesSlide32.xml"/><Relationship Id="rId16" Type="http://schemas.openxmlformats.org/officeDocument/2006/relationships/image" Target="../media/image226.png"/><Relationship Id="rId20" Type="http://schemas.openxmlformats.org/officeDocument/2006/relationships/image" Target="../media/image230.png"/><Relationship Id="rId29" Type="http://schemas.openxmlformats.org/officeDocument/2006/relationships/image" Target="../media/image237.png"/><Relationship Id="rId1" Type="http://schemas.openxmlformats.org/officeDocument/2006/relationships/slideLayout" Target="../slideLayouts/slideLayout8.xml"/><Relationship Id="rId6" Type="http://schemas.openxmlformats.org/officeDocument/2006/relationships/image" Target="../media/image216.png"/><Relationship Id="rId11" Type="http://schemas.openxmlformats.org/officeDocument/2006/relationships/image" Target="../media/image221.png"/><Relationship Id="rId24" Type="http://schemas.openxmlformats.org/officeDocument/2006/relationships/image" Target="../media/image234.png"/><Relationship Id="rId32" Type="http://schemas.openxmlformats.org/officeDocument/2006/relationships/image" Target="../media/image240.png"/><Relationship Id="rId5" Type="http://schemas.openxmlformats.org/officeDocument/2006/relationships/image" Target="../media/image215.png"/><Relationship Id="rId15" Type="http://schemas.openxmlformats.org/officeDocument/2006/relationships/image" Target="../media/image225.png"/><Relationship Id="rId23" Type="http://schemas.openxmlformats.org/officeDocument/2006/relationships/image" Target="../media/image233.png"/><Relationship Id="rId28" Type="http://schemas.openxmlformats.org/officeDocument/2006/relationships/image" Target="../media/image236.png"/><Relationship Id="rId10" Type="http://schemas.openxmlformats.org/officeDocument/2006/relationships/image" Target="../media/image220.png"/><Relationship Id="rId19" Type="http://schemas.openxmlformats.org/officeDocument/2006/relationships/image" Target="../media/image229.png"/><Relationship Id="rId31" Type="http://schemas.openxmlformats.org/officeDocument/2006/relationships/image" Target="../media/image239.png"/><Relationship Id="rId4" Type="http://schemas.openxmlformats.org/officeDocument/2006/relationships/image" Target="../media/image214.png"/><Relationship Id="rId9" Type="http://schemas.openxmlformats.org/officeDocument/2006/relationships/image" Target="../media/image219.png"/><Relationship Id="rId14" Type="http://schemas.openxmlformats.org/officeDocument/2006/relationships/image" Target="../media/image224.png"/><Relationship Id="rId22" Type="http://schemas.openxmlformats.org/officeDocument/2006/relationships/image" Target="../media/image232.png"/><Relationship Id="rId27" Type="http://schemas.openxmlformats.org/officeDocument/2006/relationships/image" Target="../media/image235.png"/><Relationship Id="rId30" Type="http://schemas.openxmlformats.org/officeDocument/2006/relationships/image" Target="../media/image238.png"/></Relationships>
</file>

<file path=ppt/slides/_rels/slide34.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33.xml"/><Relationship Id="rId1" Type="http://schemas.openxmlformats.org/officeDocument/2006/relationships/slideLayout" Target="../slideLayouts/slideLayout20.xml"/><Relationship Id="rId6" Type="http://schemas.openxmlformats.org/officeDocument/2006/relationships/image" Target="../media/image244.png"/><Relationship Id="rId5" Type="http://schemas.openxmlformats.org/officeDocument/2006/relationships/image" Target="../media/image243.png"/><Relationship Id="rId4" Type="http://schemas.openxmlformats.org/officeDocument/2006/relationships/image" Target="../media/image242.png"/></Relationships>
</file>

<file path=ppt/slides/_rels/slide35.xml.rels><?xml version="1.0" encoding="UTF-8" standalone="yes"?>
<Relationships xmlns="http://schemas.openxmlformats.org/package/2006/relationships"><Relationship Id="rId8" Type="http://schemas.openxmlformats.org/officeDocument/2006/relationships/image" Target="../media/image248.png"/><Relationship Id="rId13" Type="http://schemas.openxmlformats.org/officeDocument/2006/relationships/image" Target="../media/image253.png"/><Relationship Id="rId3" Type="http://schemas.openxmlformats.org/officeDocument/2006/relationships/image" Target="../media/image245.png"/><Relationship Id="rId7" Type="http://schemas.openxmlformats.org/officeDocument/2006/relationships/image" Target="../media/image247.png"/><Relationship Id="rId12" Type="http://schemas.openxmlformats.org/officeDocument/2006/relationships/image" Target="../media/image252.png"/><Relationship Id="rId2" Type="http://schemas.openxmlformats.org/officeDocument/2006/relationships/notesSlide" Target="../notesSlides/notesSlide34.xml"/><Relationship Id="rId1" Type="http://schemas.openxmlformats.org/officeDocument/2006/relationships/slideLayout" Target="../slideLayouts/slideLayout20.xml"/><Relationship Id="rId6" Type="http://schemas.openxmlformats.org/officeDocument/2006/relationships/image" Target="../media/image246.png"/><Relationship Id="rId11" Type="http://schemas.openxmlformats.org/officeDocument/2006/relationships/image" Target="../media/image251.png"/><Relationship Id="rId5" Type="http://schemas.openxmlformats.org/officeDocument/2006/relationships/image" Target="../media/image104.png"/><Relationship Id="rId15" Type="http://schemas.openxmlformats.org/officeDocument/2006/relationships/image" Target="../media/image255.png"/><Relationship Id="rId10" Type="http://schemas.openxmlformats.org/officeDocument/2006/relationships/image" Target="../media/image250.png"/><Relationship Id="rId4" Type="http://schemas.openxmlformats.org/officeDocument/2006/relationships/image" Target="../media/image55.png"/><Relationship Id="rId9" Type="http://schemas.openxmlformats.org/officeDocument/2006/relationships/image" Target="../media/image249.png"/><Relationship Id="rId14" Type="http://schemas.openxmlformats.org/officeDocument/2006/relationships/image" Target="../media/image254.png"/></Relationships>
</file>

<file path=ppt/slides/_rels/slide36.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notesSlide" Target="../notesSlides/notesSlide35.xml"/><Relationship Id="rId1" Type="http://schemas.openxmlformats.org/officeDocument/2006/relationships/slideLayout" Target="../slideLayouts/slideLayout20.xml"/><Relationship Id="rId4" Type="http://schemas.openxmlformats.org/officeDocument/2006/relationships/image" Target="../media/image257.png"/></Relationships>
</file>

<file path=ppt/slides/_rels/slide37.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notesSlide" Target="../notesSlides/notesSlide36.xml"/><Relationship Id="rId1" Type="http://schemas.openxmlformats.org/officeDocument/2006/relationships/slideLayout" Target="../slideLayouts/slideLayout20.xml"/><Relationship Id="rId6" Type="http://schemas.openxmlformats.org/officeDocument/2006/relationships/image" Target="../media/image261.png"/><Relationship Id="rId5" Type="http://schemas.openxmlformats.org/officeDocument/2006/relationships/image" Target="../media/image260.png"/><Relationship Id="rId4" Type="http://schemas.openxmlformats.org/officeDocument/2006/relationships/image" Target="../media/image259.svg"/></Relationships>
</file>

<file path=ppt/slides/_rels/slide38.xml.rels><?xml version="1.0" encoding="UTF-8" standalone="yes"?>
<Relationships xmlns="http://schemas.openxmlformats.org/package/2006/relationships"><Relationship Id="rId3" Type="http://schemas.openxmlformats.org/officeDocument/2006/relationships/image" Target="../media/image262.jpeg"/><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ontrol, feedback, management, systems icon - Download on Iconfinder">
            <a:extLst>
              <a:ext uri="{FF2B5EF4-FFF2-40B4-BE49-F238E27FC236}">
                <a16:creationId xmlns:a16="http://schemas.microsoft.com/office/drawing/2014/main" id="{B897A1C7-629A-B247-B7B1-EA7AC37975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644" y="828695"/>
            <a:ext cx="5139557" cy="513955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a:extLst>
              <a:ext uri="{FF2B5EF4-FFF2-40B4-BE49-F238E27FC236}">
                <a16:creationId xmlns:a16="http://schemas.microsoft.com/office/drawing/2014/main" id="{E323DC9A-B9F0-664E-8D8B-4D4B3CB163A9}"/>
              </a:ext>
            </a:extLst>
          </p:cNvPr>
          <p:cNvGrpSpPr/>
          <p:nvPr/>
        </p:nvGrpSpPr>
        <p:grpSpPr>
          <a:xfrm>
            <a:off x="3386174" y="828695"/>
            <a:ext cx="9221717" cy="3766808"/>
            <a:chOff x="1559098" y="1196752"/>
            <a:chExt cx="9221717" cy="3766808"/>
          </a:xfrm>
        </p:grpSpPr>
        <p:pic>
          <p:nvPicPr>
            <p:cNvPr id="139" name="图片 138">
              <a:extLst>
                <a:ext uri="{FF2B5EF4-FFF2-40B4-BE49-F238E27FC236}">
                  <a16:creationId xmlns:a16="http://schemas.microsoft.com/office/drawing/2014/main" id="{6C5D6197-A7EB-4453-845C-A17502C9F71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559098" y="1196752"/>
              <a:ext cx="9221717" cy="3766808"/>
            </a:xfrm>
            <a:prstGeom prst="rect">
              <a:avLst/>
            </a:prstGeom>
          </p:spPr>
        </p:pic>
        <p:sp>
          <p:nvSpPr>
            <p:cNvPr id="126" name="矩形 125">
              <a:extLst>
                <a:ext uri="{FF2B5EF4-FFF2-40B4-BE49-F238E27FC236}">
                  <a16:creationId xmlns:a16="http://schemas.microsoft.com/office/drawing/2014/main" id="{FD70EB58-BC11-49B8-8525-EF7D1AAA3845}"/>
                </a:ext>
              </a:extLst>
            </p:cNvPr>
            <p:cNvSpPr/>
            <p:nvPr/>
          </p:nvSpPr>
          <p:spPr>
            <a:xfrm>
              <a:off x="3186339" y="2802637"/>
              <a:ext cx="5818976" cy="1015663"/>
            </a:xfrm>
            <a:prstGeom prst="rect">
              <a:avLst/>
            </a:prstGeom>
            <a:solidFill>
              <a:schemeClr val="accent2"/>
            </a:solidFill>
          </p:spPr>
          <p:txBody>
            <a:bodyPr wrap="square" anchor="ctr">
              <a:spAutoFit/>
            </a:bodyPr>
            <a:lstStyle/>
            <a:p>
              <a:pPr algn="ctr"/>
              <a:r>
                <a:rPr lang="zh-CN" altLang="en-US" sz="6000" dirty="0">
                  <a:solidFill>
                    <a:schemeClr val="bg1"/>
                  </a:solidFill>
                  <a:effectLst/>
                  <a:latin typeface="汉仪菱心体简" panose="02010609000101010101" pitchFamily="49" charset="-122"/>
                  <a:ea typeface="汉仪菱心体简" panose="02010609000101010101" pitchFamily="49" charset="-122"/>
                </a:rPr>
                <a:t>自动控制</a:t>
              </a:r>
              <a:r>
                <a:rPr lang="zh-CN" altLang="en-US" sz="6000" dirty="0">
                  <a:solidFill>
                    <a:schemeClr val="bg1"/>
                  </a:solidFill>
                  <a:latin typeface="汉仪菱心体简" panose="02010609000101010101" pitchFamily="49" charset="-122"/>
                  <a:ea typeface="汉仪菱心体简" panose="02010609000101010101" pitchFamily="49" charset="-122"/>
                </a:rPr>
                <a:t>原理</a:t>
              </a:r>
              <a:endParaRPr lang="zh-CN" altLang="en-US" sz="6000" dirty="0">
                <a:solidFill>
                  <a:schemeClr val="bg1"/>
                </a:solidFill>
                <a:effectLst/>
                <a:latin typeface="汉仪菱心体简" panose="02010609000101010101" pitchFamily="49" charset="-122"/>
                <a:ea typeface="汉仪菱心体简" panose="02010609000101010101" pitchFamily="49" charset="-122"/>
              </a:endParaRPr>
            </a:p>
          </p:txBody>
        </p:sp>
      </p:grpSp>
      <p:grpSp>
        <p:nvGrpSpPr>
          <p:cNvPr id="2" name="组合 1">
            <a:extLst>
              <a:ext uri="{FF2B5EF4-FFF2-40B4-BE49-F238E27FC236}">
                <a16:creationId xmlns:a16="http://schemas.microsoft.com/office/drawing/2014/main" id="{F4AFD571-840D-952F-75A6-6D63BF5E3168}"/>
              </a:ext>
            </a:extLst>
          </p:cNvPr>
          <p:cNvGrpSpPr/>
          <p:nvPr/>
        </p:nvGrpSpPr>
        <p:grpSpPr>
          <a:xfrm>
            <a:off x="6454025" y="320863"/>
            <a:ext cx="5300128" cy="1015663"/>
            <a:chOff x="6454025" y="320863"/>
            <a:chExt cx="5300128" cy="1015663"/>
          </a:xfrm>
        </p:grpSpPr>
        <p:grpSp>
          <p:nvGrpSpPr>
            <p:cNvPr id="3" name="组合 2">
              <a:extLst>
                <a:ext uri="{FF2B5EF4-FFF2-40B4-BE49-F238E27FC236}">
                  <a16:creationId xmlns:a16="http://schemas.microsoft.com/office/drawing/2014/main" id="{5924B88B-80B8-D71F-7454-C8FDC76DECD4}"/>
                </a:ext>
              </a:extLst>
            </p:cNvPr>
            <p:cNvGrpSpPr/>
            <p:nvPr/>
          </p:nvGrpSpPr>
          <p:grpSpPr>
            <a:xfrm>
              <a:off x="6454025" y="320863"/>
              <a:ext cx="4143411" cy="1015663"/>
              <a:chOff x="8681781" y="504363"/>
              <a:chExt cx="3090550" cy="757578"/>
            </a:xfrm>
          </p:grpSpPr>
          <p:cxnSp>
            <p:nvCxnSpPr>
              <p:cNvPr id="5" name="直接连接符 12">
                <a:extLst>
                  <a:ext uri="{FF2B5EF4-FFF2-40B4-BE49-F238E27FC236}">
                    <a16:creationId xmlns:a16="http://schemas.microsoft.com/office/drawing/2014/main" id="{0756419B-1BFE-45B5-7355-4F956B221264}"/>
                  </a:ext>
                </a:extLst>
              </p:cNvPr>
              <p:cNvCxnSpPr>
                <a:cxnSpLocks/>
              </p:cNvCxnSpPr>
              <p:nvPr/>
            </p:nvCxnSpPr>
            <p:spPr>
              <a:xfrm>
                <a:off x="9534041" y="528966"/>
                <a:ext cx="0" cy="702644"/>
              </a:xfrm>
              <a:prstGeom prst="line">
                <a:avLst/>
              </a:prstGeom>
              <a:ln w="76200">
                <a:solidFill>
                  <a:srgbClr val="F09524"/>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778FF045-E97D-A976-BA2B-CEEAE742FD38}"/>
                  </a:ext>
                </a:extLst>
              </p:cNvPr>
              <p:cNvGrpSpPr/>
              <p:nvPr/>
            </p:nvGrpSpPr>
            <p:grpSpPr>
              <a:xfrm>
                <a:off x="8681781" y="504363"/>
                <a:ext cx="763836" cy="757578"/>
                <a:chOff x="8364926" y="513787"/>
                <a:chExt cx="817174" cy="810479"/>
              </a:xfrm>
            </p:grpSpPr>
            <p:sp>
              <p:nvSpPr>
                <p:cNvPr id="10" name="椭圆 9">
                  <a:extLst>
                    <a:ext uri="{FF2B5EF4-FFF2-40B4-BE49-F238E27FC236}">
                      <a16:creationId xmlns:a16="http://schemas.microsoft.com/office/drawing/2014/main" id="{180CA4F3-EF2C-194F-1224-E2B41B07BB65}"/>
                    </a:ext>
                  </a:extLst>
                </p:cNvPr>
                <p:cNvSpPr/>
                <p:nvPr/>
              </p:nvSpPr>
              <p:spPr>
                <a:xfrm>
                  <a:off x="8400771" y="544432"/>
                  <a:ext cx="756000" cy="75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object 5">
                  <a:extLst>
                    <a:ext uri="{FF2B5EF4-FFF2-40B4-BE49-F238E27FC236}">
                      <a16:creationId xmlns:a16="http://schemas.microsoft.com/office/drawing/2014/main" id="{EC13B3E8-ABA7-DAF8-54B0-8859A1598509}"/>
                    </a:ext>
                  </a:extLst>
                </p:cNvPr>
                <p:cNvSpPr/>
                <p:nvPr/>
              </p:nvSpPr>
              <p:spPr>
                <a:xfrm>
                  <a:off x="8364926" y="513787"/>
                  <a:ext cx="817174" cy="810479"/>
                </a:xfrm>
                <a:prstGeom prst="rect">
                  <a:avLst/>
                </a:prstGeom>
                <a:blipFill>
                  <a:blip r:embed="rId5" cstate="print"/>
                  <a:stretch>
                    <a:fillRect l="-73502" t="-34930" r="-66194" b="-35851"/>
                  </a:stretch>
                </a:blipFill>
              </p:spPr>
              <p:txBody>
                <a:bodyPr wrap="square" lIns="0" tIns="0" rIns="0" bIns="0" rtlCol="0"/>
                <a:lstStyle/>
                <a:p>
                  <a:endParaRPr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8" name="图片 7">
                <a:extLst>
                  <a:ext uri="{FF2B5EF4-FFF2-40B4-BE49-F238E27FC236}">
                    <a16:creationId xmlns:a16="http://schemas.microsoft.com/office/drawing/2014/main" id="{0A27B8CC-4ADF-893C-3D08-A6B4E256D8E2}"/>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l="23280"/>
              <a:stretch/>
            </p:blipFill>
            <p:spPr>
              <a:xfrm>
                <a:off x="9632991" y="593311"/>
                <a:ext cx="2139340" cy="571505"/>
              </a:xfrm>
              <a:prstGeom prst="rect">
                <a:avLst/>
              </a:prstGeom>
            </p:spPr>
          </p:pic>
        </p:grpSp>
        <p:pic>
          <p:nvPicPr>
            <p:cNvPr id="4" name="图片 3" descr="图片包含 房间, 标志, 桌子, 游戏机&#10;&#10;描述已自动生成">
              <a:extLst>
                <a:ext uri="{FF2B5EF4-FFF2-40B4-BE49-F238E27FC236}">
                  <a16:creationId xmlns:a16="http://schemas.microsoft.com/office/drawing/2014/main" id="{D9F6DF85-3C14-4AE4-CE1F-9061569BB9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29775" y="338055"/>
              <a:ext cx="1024378" cy="998471"/>
            </a:xfrm>
            <a:prstGeom prst="rect">
              <a:avLst/>
            </a:prstGeom>
          </p:spPr>
        </p:pic>
      </p:grpSp>
    </p:spTree>
    <p:extLst>
      <p:ext uri="{BB962C8B-B14F-4D97-AF65-F5344CB8AC3E}">
        <p14:creationId xmlns:p14="http://schemas.microsoft.com/office/powerpoint/2010/main" val="1443650723"/>
      </p:ext>
    </p:extLst>
  </p:cSld>
  <p:clrMapOvr>
    <a:masterClrMapping/>
  </p:clrMapOvr>
  <p:transition spd="slow">
    <p:strips dir="ru"/>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节段1">
            <a:extLst>
              <a:ext uri="{FF2B5EF4-FFF2-40B4-BE49-F238E27FC236}">
                <a16:creationId xmlns:a16="http://schemas.microsoft.com/office/drawing/2014/main" id="{326390C7-593C-216D-15DE-BC137E98C6F2}"/>
              </a:ext>
            </a:extLst>
          </p:cNvPr>
          <p:cNvSpPr/>
          <p:nvPr/>
        </p:nvSpPr>
        <p:spPr bwMode="auto">
          <a:xfrm>
            <a:off x="334963" y="259834"/>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a:t>
            </a:r>
            <a:r>
              <a:rPr lang="zh-CN" altLang="en-US" sz="2800" b="1" dirty="0">
                <a:solidFill>
                  <a:schemeClr val="bg1"/>
                </a:solidFill>
                <a:latin typeface="Stencil" panose="040409050D0802020404" pitchFamily="82" charset="0"/>
              </a:rPr>
              <a:t>   反馈：控制原理的核心思想</a:t>
            </a:r>
          </a:p>
        </p:txBody>
      </p:sp>
      <p:sp>
        <p:nvSpPr>
          <p:cNvPr id="3" name="节段2">
            <a:extLst>
              <a:ext uri="{FF2B5EF4-FFF2-40B4-BE49-F238E27FC236}">
                <a16:creationId xmlns:a16="http://schemas.microsoft.com/office/drawing/2014/main" id="{6D0DC964-4888-22F0-0529-3ADBE19BCAC7}"/>
              </a:ext>
            </a:extLst>
          </p:cNvPr>
          <p:cNvSpPr/>
          <p:nvPr/>
        </p:nvSpPr>
        <p:spPr bwMode="auto">
          <a:xfrm>
            <a:off x="334963" y="904947"/>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2.</a:t>
            </a:r>
            <a:r>
              <a:rPr lang="zh-CN" altLang="en-US" sz="2800" b="1" dirty="0">
                <a:solidFill>
                  <a:schemeClr val="bg1"/>
                </a:solidFill>
                <a:latin typeface="Stencil" panose="040409050D0802020404" pitchFamily="82" charset="0"/>
              </a:rPr>
              <a:t>   传递函数：控制系统数学模型</a:t>
            </a:r>
          </a:p>
        </p:txBody>
      </p:sp>
      <p:sp>
        <p:nvSpPr>
          <p:cNvPr id="4" name="节段3">
            <a:extLst>
              <a:ext uri="{FF2B5EF4-FFF2-40B4-BE49-F238E27FC236}">
                <a16:creationId xmlns:a16="http://schemas.microsoft.com/office/drawing/2014/main" id="{2ED134D8-4396-5957-E553-8ABF4E57D6EF}"/>
              </a:ext>
            </a:extLst>
          </p:cNvPr>
          <p:cNvSpPr/>
          <p:nvPr/>
        </p:nvSpPr>
        <p:spPr bwMode="auto">
          <a:xfrm>
            <a:off x="334965" y="1550060"/>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3.</a:t>
            </a:r>
            <a:r>
              <a:rPr lang="zh-CN" altLang="en-US" sz="2800" b="1" dirty="0">
                <a:solidFill>
                  <a:schemeClr val="bg1"/>
                </a:solidFill>
                <a:latin typeface="Stencil" panose="040409050D0802020404" pitchFamily="82" charset="0"/>
              </a:rPr>
              <a:t>   方框图：控制系统结构</a:t>
            </a:r>
          </a:p>
        </p:txBody>
      </p:sp>
      <p:sp>
        <p:nvSpPr>
          <p:cNvPr id="5" name="节段4">
            <a:extLst>
              <a:ext uri="{FF2B5EF4-FFF2-40B4-BE49-F238E27FC236}">
                <a16:creationId xmlns:a16="http://schemas.microsoft.com/office/drawing/2014/main" id="{4C7CB016-BBEE-BDEA-03F5-5613FC7FAF97}"/>
              </a:ext>
            </a:extLst>
          </p:cNvPr>
          <p:cNvSpPr/>
          <p:nvPr/>
        </p:nvSpPr>
        <p:spPr bwMode="auto">
          <a:xfrm>
            <a:off x="334965" y="2195173"/>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4.</a:t>
            </a:r>
            <a:r>
              <a:rPr lang="zh-CN" altLang="en-US" sz="2800" b="1" dirty="0">
                <a:solidFill>
                  <a:schemeClr val="bg1"/>
                </a:solidFill>
                <a:latin typeface="Stencil" panose="040409050D0802020404" pitchFamily="82" charset="0"/>
              </a:rPr>
              <a:t>   信号流图：控制系统拓扑结</a:t>
            </a:r>
          </a:p>
        </p:txBody>
      </p:sp>
      <p:sp>
        <p:nvSpPr>
          <p:cNvPr id="6" name="节段5">
            <a:extLst>
              <a:ext uri="{FF2B5EF4-FFF2-40B4-BE49-F238E27FC236}">
                <a16:creationId xmlns:a16="http://schemas.microsoft.com/office/drawing/2014/main" id="{9B528F5E-5B56-04D6-8D5E-5117B2A82704}"/>
              </a:ext>
            </a:extLst>
          </p:cNvPr>
          <p:cNvSpPr/>
          <p:nvPr/>
        </p:nvSpPr>
        <p:spPr bwMode="auto">
          <a:xfrm>
            <a:off x="334965" y="2840286"/>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5.</a:t>
            </a:r>
            <a:r>
              <a:rPr lang="zh-CN" altLang="en-US" sz="2800" b="1" dirty="0">
                <a:solidFill>
                  <a:schemeClr val="bg1"/>
                </a:solidFill>
                <a:latin typeface="Stencil" panose="040409050D0802020404" pitchFamily="82" charset="0"/>
              </a:rPr>
              <a:t>   梅森公式：数圈圈与消消乐</a:t>
            </a:r>
          </a:p>
        </p:txBody>
      </p:sp>
      <p:sp>
        <p:nvSpPr>
          <p:cNvPr id="7" name="节段6">
            <a:extLst>
              <a:ext uri="{FF2B5EF4-FFF2-40B4-BE49-F238E27FC236}">
                <a16:creationId xmlns:a16="http://schemas.microsoft.com/office/drawing/2014/main" id="{90E00070-848F-4C0E-5B96-BFE9A9C47D9C}"/>
              </a:ext>
            </a:extLst>
          </p:cNvPr>
          <p:cNvSpPr/>
          <p:nvPr/>
        </p:nvSpPr>
        <p:spPr bwMode="auto">
          <a:xfrm>
            <a:off x="334965" y="3485399"/>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6.</a:t>
            </a:r>
            <a:r>
              <a:rPr lang="zh-CN" altLang="en-US" sz="2800" b="1" dirty="0">
                <a:solidFill>
                  <a:schemeClr val="bg1"/>
                </a:solidFill>
                <a:latin typeface="Stencil" panose="040409050D0802020404" pitchFamily="82" charset="0"/>
              </a:rPr>
              <a:t>   性能指标：控制效果评价</a:t>
            </a:r>
          </a:p>
        </p:txBody>
      </p:sp>
      <p:sp>
        <p:nvSpPr>
          <p:cNvPr id="8" name="节段7">
            <a:extLst>
              <a:ext uri="{FF2B5EF4-FFF2-40B4-BE49-F238E27FC236}">
                <a16:creationId xmlns:a16="http://schemas.microsoft.com/office/drawing/2014/main" id="{B1007742-24A6-63C8-03B7-1F283F0F1CF9}"/>
              </a:ext>
            </a:extLst>
          </p:cNvPr>
          <p:cNvSpPr/>
          <p:nvPr/>
        </p:nvSpPr>
        <p:spPr bwMode="auto">
          <a:xfrm>
            <a:off x="334965" y="4130512"/>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7.</a:t>
            </a:r>
            <a:r>
              <a:rPr lang="zh-CN" altLang="en-US" sz="2800" b="1" dirty="0">
                <a:solidFill>
                  <a:schemeClr val="bg1"/>
                </a:solidFill>
                <a:latin typeface="Stencil" panose="040409050D0802020404" pitchFamily="82" charset="0"/>
              </a:rPr>
              <a:t>   衰减振荡：欠阻尼二阶系统</a:t>
            </a:r>
          </a:p>
        </p:txBody>
      </p:sp>
      <p:sp>
        <p:nvSpPr>
          <p:cNvPr id="9" name="节段8">
            <a:extLst>
              <a:ext uri="{FF2B5EF4-FFF2-40B4-BE49-F238E27FC236}">
                <a16:creationId xmlns:a16="http://schemas.microsoft.com/office/drawing/2014/main" id="{B78CDD92-DB86-441A-13AD-955229A45886}"/>
              </a:ext>
            </a:extLst>
          </p:cNvPr>
          <p:cNvSpPr/>
          <p:nvPr/>
        </p:nvSpPr>
        <p:spPr bwMode="auto">
          <a:xfrm>
            <a:off x="334965" y="4775625"/>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8.</a:t>
            </a:r>
            <a:r>
              <a:rPr lang="zh-CN" altLang="en-US" sz="2800" b="1" dirty="0">
                <a:solidFill>
                  <a:schemeClr val="bg1"/>
                </a:solidFill>
                <a:latin typeface="Stencil" panose="040409050D0802020404" pitchFamily="82" charset="0"/>
              </a:rPr>
              <a:t>   稳定：控制系统首要任务</a:t>
            </a:r>
          </a:p>
        </p:txBody>
      </p:sp>
      <p:sp>
        <p:nvSpPr>
          <p:cNvPr id="10" name="节段9">
            <a:extLst>
              <a:ext uri="{FF2B5EF4-FFF2-40B4-BE49-F238E27FC236}">
                <a16:creationId xmlns:a16="http://schemas.microsoft.com/office/drawing/2014/main" id="{0F46DBF7-59DB-8E9C-851E-C9935EA9B4C8}"/>
              </a:ext>
            </a:extLst>
          </p:cNvPr>
          <p:cNvSpPr/>
          <p:nvPr/>
        </p:nvSpPr>
        <p:spPr bwMode="auto">
          <a:xfrm>
            <a:off x="334965" y="5420738"/>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9.</a:t>
            </a:r>
            <a:r>
              <a:rPr lang="zh-CN" altLang="en-US" sz="2800" b="1" dirty="0">
                <a:solidFill>
                  <a:schemeClr val="bg1"/>
                </a:solidFill>
                <a:latin typeface="Stencil" panose="040409050D0802020404" pitchFamily="82" charset="0"/>
              </a:rPr>
              <a:t>   稳态误差：准确性的度量</a:t>
            </a:r>
          </a:p>
        </p:txBody>
      </p:sp>
      <p:sp>
        <p:nvSpPr>
          <p:cNvPr id="11" name="节段10">
            <a:extLst>
              <a:ext uri="{FF2B5EF4-FFF2-40B4-BE49-F238E27FC236}">
                <a16:creationId xmlns:a16="http://schemas.microsoft.com/office/drawing/2014/main" id="{557367C6-4C24-FCB2-4C28-DA0D4AAC94D9}"/>
              </a:ext>
            </a:extLst>
          </p:cNvPr>
          <p:cNvSpPr/>
          <p:nvPr/>
        </p:nvSpPr>
        <p:spPr bwMode="auto">
          <a:xfrm>
            <a:off x="334965" y="6065848"/>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10.</a:t>
            </a:r>
            <a:r>
              <a:rPr lang="zh-CN" altLang="en-US" sz="2800" b="1" dirty="0">
                <a:solidFill>
                  <a:schemeClr val="bg1"/>
                </a:solidFill>
                <a:latin typeface="Stencil" panose="040409050D0802020404" pitchFamily="82" charset="0"/>
              </a:rPr>
              <a:t> 校正：实现控制的手段</a:t>
            </a:r>
          </a:p>
        </p:txBody>
      </p:sp>
      <p:sp>
        <p:nvSpPr>
          <p:cNvPr id="12" name="节段11">
            <a:extLst>
              <a:ext uri="{FF2B5EF4-FFF2-40B4-BE49-F238E27FC236}">
                <a16:creationId xmlns:a16="http://schemas.microsoft.com/office/drawing/2014/main" id="{4730885B-C9BD-725C-5B54-A3B36C6A83E6}"/>
              </a:ext>
            </a:extLst>
          </p:cNvPr>
          <p:cNvSpPr/>
          <p:nvPr/>
        </p:nvSpPr>
        <p:spPr bwMode="auto">
          <a:xfrm>
            <a:off x="6304250" y="259834"/>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11.</a:t>
            </a:r>
            <a:r>
              <a:rPr lang="zh-CN" altLang="en-US" sz="2800" b="1" dirty="0">
                <a:solidFill>
                  <a:schemeClr val="bg1"/>
                </a:solidFill>
                <a:latin typeface="Stencil" panose="040409050D0802020404" pitchFamily="82" charset="0"/>
              </a:rPr>
              <a:t> 放眼大局：根轨迹法</a:t>
            </a:r>
          </a:p>
        </p:txBody>
      </p:sp>
      <p:sp>
        <p:nvSpPr>
          <p:cNvPr id="13" name="节段12">
            <a:extLst>
              <a:ext uri="{FF2B5EF4-FFF2-40B4-BE49-F238E27FC236}">
                <a16:creationId xmlns:a16="http://schemas.microsoft.com/office/drawing/2014/main" id="{05520C60-051F-B4C9-EB2A-308DC70F4BFA}"/>
              </a:ext>
            </a:extLst>
          </p:cNvPr>
          <p:cNvSpPr/>
          <p:nvPr/>
        </p:nvSpPr>
        <p:spPr bwMode="auto">
          <a:xfrm>
            <a:off x="6304250" y="904947"/>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12.</a:t>
            </a:r>
            <a:r>
              <a:rPr lang="zh-CN" altLang="en-US" sz="2800" b="1" dirty="0">
                <a:solidFill>
                  <a:schemeClr val="bg1"/>
                </a:solidFill>
                <a:latin typeface="Stencil" panose="040409050D0802020404" pitchFamily="82" charset="0"/>
              </a:rPr>
              <a:t> 根轨迹：基本形态</a:t>
            </a:r>
          </a:p>
        </p:txBody>
      </p:sp>
      <p:sp>
        <p:nvSpPr>
          <p:cNvPr id="14" name="节段13">
            <a:extLst>
              <a:ext uri="{FF2B5EF4-FFF2-40B4-BE49-F238E27FC236}">
                <a16:creationId xmlns:a16="http://schemas.microsoft.com/office/drawing/2014/main" id="{27219438-65AD-FDC9-1DA8-7FFE9BA859DA}"/>
              </a:ext>
            </a:extLst>
          </p:cNvPr>
          <p:cNvSpPr/>
          <p:nvPr/>
        </p:nvSpPr>
        <p:spPr bwMode="auto">
          <a:xfrm>
            <a:off x="6304250" y="1550060"/>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13.</a:t>
            </a:r>
            <a:r>
              <a:rPr lang="zh-CN" altLang="en-US" sz="2800" b="1" dirty="0">
                <a:solidFill>
                  <a:schemeClr val="bg1"/>
                </a:solidFill>
                <a:latin typeface="Stencil" panose="040409050D0802020404" pitchFamily="82" charset="0"/>
              </a:rPr>
              <a:t> 根轨迹：细节修正</a:t>
            </a:r>
          </a:p>
        </p:txBody>
      </p:sp>
      <p:sp>
        <p:nvSpPr>
          <p:cNvPr id="15" name="节段14">
            <a:extLst>
              <a:ext uri="{FF2B5EF4-FFF2-40B4-BE49-F238E27FC236}">
                <a16:creationId xmlns:a16="http://schemas.microsoft.com/office/drawing/2014/main" id="{3FE30DB7-AAE2-AC3E-BDA2-5E92E22FCAFC}"/>
              </a:ext>
            </a:extLst>
          </p:cNvPr>
          <p:cNvSpPr/>
          <p:nvPr/>
        </p:nvSpPr>
        <p:spPr bwMode="auto">
          <a:xfrm>
            <a:off x="6304250" y="2195173"/>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14.</a:t>
            </a:r>
            <a:r>
              <a:rPr lang="zh-CN" altLang="en-US" sz="2800" b="1" dirty="0">
                <a:solidFill>
                  <a:schemeClr val="bg1"/>
                </a:solidFill>
                <a:latin typeface="Stencil" panose="040409050D0802020404" pitchFamily="82" charset="0"/>
              </a:rPr>
              <a:t> 参数根轨迹：广义定义</a:t>
            </a:r>
          </a:p>
        </p:txBody>
      </p:sp>
      <p:sp>
        <p:nvSpPr>
          <p:cNvPr id="16" name="节段15">
            <a:extLst>
              <a:ext uri="{FF2B5EF4-FFF2-40B4-BE49-F238E27FC236}">
                <a16:creationId xmlns:a16="http://schemas.microsoft.com/office/drawing/2014/main" id="{44E77EBF-CB85-6E3D-429B-345397FD531D}"/>
              </a:ext>
            </a:extLst>
          </p:cNvPr>
          <p:cNvSpPr/>
          <p:nvPr/>
        </p:nvSpPr>
        <p:spPr bwMode="auto">
          <a:xfrm>
            <a:off x="6304250" y="2840286"/>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15.</a:t>
            </a:r>
            <a:r>
              <a:rPr lang="zh-CN" altLang="en-US" sz="2800" b="1" dirty="0">
                <a:solidFill>
                  <a:schemeClr val="bg1"/>
                </a:solidFill>
                <a:latin typeface="Stencil" panose="040409050D0802020404" pitchFamily="82" charset="0"/>
              </a:rPr>
              <a:t> 根轨迹法：图形化思考</a:t>
            </a:r>
          </a:p>
        </p:txBody>
      </p:sp>
      <p:sp>
        <p:nvSpPr>
          <p:cNvPr id="17" name="节段16">
            <a:extLst>
              <a:ext uri="{FF2B5EF4-FFF2-40B4-BE49-F238E27FC236}">
                <a16:creationId xmlns:a16="http://schemas.microsoft.com/office/drawing/2014/main" id="{4FFAB4B2-AD9B-7207-955C-82823BE1A7DC}"/>
              </a:ext>
            </a:extLst>
          </p:cNvPr>
          <p:cNvSpPr/>
          <p:nvPr/>
        </p:nvSpPr>
        <p:spPr bwMode="auto">
          <a:xfrm>
            <a:off x="6304250" y="3485399"/>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16.</a:t>
            </a:r>
            <a:r>
              <a:rPr lang="zh-CN" altLang="en-US" sz="2800" b="1" dirty="0">
                <a:solidFill>
                  <a:schemeClr val="bg1"/>
                </a:solidFill>
                <a:latin typeface="Stencil" panose="040409050D0802020404" pitchFamily="82" charset="0"/>
              </a:rPr>
              <a:t> 频率特性：换个角度看控制</a:t>
            </a:r>
          </a:p>
        </p:txBody>
      </p:sp>
      <p:sp>
        <p:nvSpPr>
          <p:cNvPr id="18" name="节段17">
            <a:extLst>
              <a:ext uri="{FF2B5EF4-FFF2-40B4-BE49-F238E27FC236}">
                <a16:creationId xmlns:a16="http://schemas.microsoft.com/office/drawing/2014/main" id="{2AB691DA-CCE3-3AC9-8BC7-F7DDC8B4E416}"/>
              </a:ext>
            </a:extLst>
          </p:cNvPr>
          <p:cNvSpPr/>
          <p:nvPr/>
        </p:nvSpPr>
        <p:spPr bwMode="auto">
          <a:xfrm>
            <a:off x="6304250" y="4130512"/>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17.</a:t>
            </a:r>
            <a:r>
              <a:rPr lang="zh-CN" altLang="en-US" sz="2800" b="1" dirty="0">
                <a:solidFill>
                  <a:schemeClr val="bg1"/>
                </a:solidFill>
                <a:latin typeface="Stencil" panose="040409050D0802020404" pitchFamily="82" charset="0"/>
              </a:rPr>
              <a:t> 近似叠加：绘制伯德图</a:t>
            </a:r>
          </a:p>
        </p:txBody>
      </p:sp>
      <p:sp>
        <p:nvSpPr>
          <p:cNvPr id="19" name="节段18">
            <a:extLst>
              <a:ext uri="{FF2B5EF4-FFF2-40B4-BE49-F238E27FC236}">
                <a16:creationId xmlns:a16="http://schemas.microsoft.com/office/drawing/2014/main" id="{DF446F78-25D4-B970-C8AF-750C9ADE0345}"/>
              </a:ext>
            </a:extLst>
          </p:cNvPr>
          <p:cNvSpPr/>
          <p:nvPr/>
        </p:nvSpPr>
        <p:spPr bwMode="auto">
          <a:xfrm>
            <a:off x="6304250" y="4775625"/>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18.</a:t>
            </a:r>
            <a:r>
              <a:rPr lang="zh-CN" altLang="en-US" sz="2800" b="1" dirty="0">
                <a:solidFill>
                  <a:schemeClr val="bg1"/>
                </a:solidFill>
                <a:latin typeface="Stencil" panose="040409050D0802020404" pitchFamily="82" charset="0"/>
              </a:rPr>
              <a:t> 按图索骥：伯德图求传递函数</a:t>
            </a:r>
          </a:p>
        </p:txBody>
      </p:sp>
      <p:sp>
        <p:nvSpPr>
          <p:cNvPr id="20" name="节段19">
            <a:extLst>
              <a:ext uri="{FF2B5EF4-FFF2-40B4-BE49-F238E27FC236}">
                <a16:creationId xmlns:a16="http://schemas.microsoft.com/office/drawing/2014/main" id="{DF2ADB47-5AEA-CD80-150C-0162DF80BE07}"/>
              </a:ext>
            </a:extLst>
          </p:cNvPr>
          <p:cNvSpPr/>
          <p:nvPr/>
        </p:nvSpPr>
        <p:spPr bwMode="auto">
          <a:xfrm>
            <a:off x="6304250" y="5420738"/>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19.</a:t>
            </a:r>
            <a:r>
              <a:rPr lang="zh-CN" altLang="en-US" sz="2800" b="1" dirty="0">
                <a:solidFill>
                  <a:schemeClr val="bg1"/>
                </a:solidFill>
                <a:latin typeface="Stencil" panose="040409050D0802020404" pitchFamily="82" charset="0"/>
              </a:rPr>
              <a:t> 幅相特性：换个角度看频域</a:t>
            </a:r>
          </a:p>
        </p:txBody>
      </p:sp>
      <p:sp>
        <p:nvSpPr>
          <p:cNvPr id="21" name="节段20">
            <a:extLst>
              <a:ext uri="{FF2B5EF4-FFF2-40B4-BE49-F238E27FC236}">
                <a16:creationId xmlns:a16="http://schemas.microsoft.com/office/drawing/2014/main" id="{F9A31E65-9F86-1A47-9B88-A7D69C156BFC}"/>
              </a:ext>
            </a:extLst>
          </p:cNvPr>
          <p:cNvSpPr/>
          <p:nvPr/>
        </p:nvSpPr>
        <p:spPr bwMode="auto">
          <a:xfrm>
            <a:off x="6304250" y="6065848"/>
            <a:ext cx="5551200" cy="578882"/>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20.</a:t>
            </a:r>
            <a:r>
              <a:rPr lang="zh-CN" altLang="en-US" sz="2800" b="1" dirty="0">
                <a:solidFill>
                  <a:schemeClr val="bg1"/>
                </a:solidFill>
                <a:latin typeface="Stencil" panose="040409050D0802020404" pitchFamily="82" charset="0"/>
              </a:rPr>
              <a:t> 宽备窄用：稳定裕度</a:t>
            </a:r>
          </a:p>
        </p:txBody>
      </p:sp>
      <p:pic>
        <p:nvPicPr>
          <p:cNvPr id="22" name="Picture 2" descr="Control, feedback, management, systems icon - Download on Iconfinder">
            <a:extLst>
              <a:ext uri="{FF2B5EF4-FFF2-40B4-BE49-F238E27FC236}">
                <a16:creationId xmlns:a16="http://schemas.microsoft.com/office/drawing/2014/main" id="{CB8E2FDB-E3D1-C271-FF75-70A28B3C03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8928" y="1579946"/>
            <a:ext cx="5139557" cy="5139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458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ontrol, feedback, management, systems icon - Download on Iconfinder">
            <a:extLst>
              <a:ext uri="{FF2B5EF4-FFF2-40B4-BE49-F238E27FC236}">
                <a16:creationId xmlns:a16="http://schemas.microsoft.com/office/drawing/2014/main" id="{DF15CB57-691D-80E9-32D3-AD4DADA3F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77" y="1592972"/>
            <a:ext cx="5139557" cy="513955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步骤1">
            <a:extLst>
              <a:ext uri="{FF2B5EF4-FFF2-40B4-BE49-F238E27FC236}">
                <a16:creationId xmlns:a16="http://schemas.microsoft.com/office/drawing/2014/main" id="{2334E117-E373-0616-6D0E-DD1101F13686}"/>
              </a:ext>
            </a:extLst>
          </p:cNvPr>
          <p:cNvGrpSpPr/>
          <p:nvPr/>
        </p:nvGrpSpPr>
        <p:grpSpPr>
          <a:xfrm>
            <a:off x="5735166" y="2516366"/>
            <a:ext cx="6120284" cy="725177"/>
            <a:chOff x="4943078" y="1700704"/>
            <a:chExt cx="6120284" cy="725177"/>
          </a:xfrm>
        </p:grpSpPr>
        <p:sp>
          <p:nvSpPr>
            <p:cNvPr id="6" name="标题">
              <a:extLst>
                <a:ext uri="{FF2B5EF4-FFF2-40B4-BE49-F238E27FC236}">
                  <a16:creationId xmlns:a16="http://schemas.microsoft.com/office/drawing/2014/main" id="{DCCBC4C8-E173-BC5A-8A28-F389626E647F}"/>
                </a:ext>
              </a:extLst>
            </p:cNvPr>
            <p:cNvSpPr/>
            <p:nvPr/>
          </p:nvSpPr>
          <p:spPr bwMode="auto">
            <a:xfrm>
              <a:off x="5459860" y="1773851"/>
              <a:ext cx="5603502" cy="578882"/>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800" b="1" dirty="0">
                  <a:solidFill>
                    <a:schemeClr val="bg1"/>
                  </a:solidFill>
                  <a:latin typeface="Stencil" panose="040409050D0802020404" pitchFamily="82" charset="0"/>
                </a:rPr>
                <a:t>能解释幅角原理</a:t>
              </a:r>
            </a:p>
          </p:txBody>
        </p:sp>
        <p:sp>
          <p:nvSpPr>
            <p:cNvPr id="7" name="序号">
              <a:extLst>
                <a:ext uri="{FF2B5EF4-FFF2-40B4-BE49-F238E27FC236}">
                  <a16:creationId xmlns:a16="http://schemas.microsoft.com/office/drawing/2014/main" id="{232BA269-03F5-04FE-0B57-13EFF01505B3}"/>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01</a:t>
              </a:r>
              <a:endParaRPr lang="zh-CN" altLang="en-US" sz="3200" dirty="0">
                <a:solidFill>
                  <a:schemeClr val="bg1"/>
                </a:solidFill>
                <a:latin typeface="Stencil" panose="040409050D0802020404" pitchFamily="82" charset="0"/>
              </a:endParaRPr>
            </a:p>
          </p:txBody>
        </p:sp>
      </p:grpSp>
      <p:grpSp>
        <p:nvGrpSpPr>
          <p:cNvPr id="11" name="步骤2">
            <a:extLst>
              <a:ext uri="{FF2B5EF4-FFF2-40B4-BE49-F238E27FC236}">
                <a16:creationId xmlns:a16="http://schemas.microsoft.com/office/drawing/2014/main" id="{25C68FF5-996A-6B65-D290-8429DAC47274}"/>
              </a:ext>
            </a:extLst>
          </p:cNvPr>
          <p:cNvGrpSpPr/>
          <p:nvPr/>
        </p:nvGrpSpPr>
        <p:grpSpPr>
          <a:xfrm>
            <a:off x="5735166" y="3498606"/>
            <a:ext cx="6120284" cy="725177"/>
            <a:chOff x="4943078" y="1700704"/>
            <a:chExt cx="6120284" cy="725177"/>
          </a:xfrm>
        </p:grpSpPr>
        <p:sp>
          <p:nvSpPr>
            <p:cNvPr id="12" name="标题">
              <a:extLst>
                <a:ext uri="{FF2B5EF4-FFF2-40B4-BE49-F238E27FC236}">
                  <a16:creationId xmlns:a16="http://schemas.microsoft.com/office/drawing/2014/main" id="{173CCDD5-9C46-591E-DB05-E8BCD41337D0}"/>
                </a:ext>
              </a:extLst>
            </p:cNvPr>
            <p:cNvSpPr/>
            <p:nvPr/>
          </p:nvSpPr>
          <p:spPr bwMode="auto">
            <a:xfrm>
              <a:off x="5459860" y="1807903"/>
              <a:ext cx="5603502" cy="510778"/>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400" b="1" dirty="0">
                  <a:solidFill>
                    <a:schemeClr val="bg1"/>
                  </a:solidFill>
                  <a:latin typeface="Stencil" panose="040409050D0802020404" pitchFamily="82" charset="0"/>
                </a:rPr>
                <a:t>能使用奈奎斯特判据判断稳定性</a:t>
              </a:r>
            </a:p>
          </p:txBody>
        </p:sp>
        <p:sp>
          <p:nvSpPr>
            <p:cNvPr id="13" name="序号">
              <a:extLst>
                <a:ext uri="{FF2B5EF4-FFF2-40B4-BE49-F238E27FC236}">
                  <a16:creationId xmlns:a16="http://schemas.microsoft.com/office/drawing/2014/main" id="{4512248E-BA27-4F3B-BB37-D47B51452393}"/>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02</a:t>
              </a:r>
              <a:endParaRPr lang="zh-CN" altLang="en-US" sz="3200" dirty="0">
                <a:solidFill>
                  <a:schemeClr val="bg1"/>
                </a:solidFill>
                <a:latin typeface="Stencil" panose="040409050D0802020404" pitchFamily="82" charset="0"/>
              </a:endParaRPr>
            </a:p>
          </p:txBody>
        </p:sp>
      </p:grpSp>
      <p:grpSp>
        <p:nvGrpSpPr>
          <p:cNvPr id="14" name="步骤3">
            <a:extLst>
              <a:ext uri="{FF2B5EF4-FFF2-40B4-BE49-F238E27FC236}">
                <a16:creationId xmlns:a16="http://schemas.microsoft.com/office/drawing/2014/main" id="{B96B03B9-B2AB-DA88-5522-8E71F1F384AA}"/>
              </a:ext>
            </a:extLst>
          </p:cNvPr>
          <p:cNvGrpSpPr/>
          <p:nvPr/>
        </p:nvGrpSpPr>
        <p:grpSpPr>
          <a:xfrm>
            <a:off x="5735166" y="4480846"/>
            <a:ext cx="6120284" cy="725177"/>
            <a:chOff x="4943078" y="1700704"/>
            <a:chExt cx="6120284" cy="725177"/>
          </a:xfrm>
        </p:grpSpPr>
        <p:sp>
          <p:nvSpPr>
            <p:cNvPr id="15" name="标题">
              <a:extLst>
                <a:ext uri="{FF2B5EF4-FFF2-40B4-BE49-F238E27FC236}">
                  <a16:creationId xmlns:a16="http://schemas.microsoft.com/office/drawing/2014/main" id="{EB9E02EF-7D2B-02DA-3C74-5B28CE440FEB}"/>
                </a:ext>
              </a:extLst>
            </p:cNvPr>
            <p:cNvSpPr/>
            <p:nvPr/>
          </p:nvSpPr>
          <p:spPr bwMode="auto">
            <a:xfrm>
              <a:off x="5459860" y="1807903"/>
              <a:ext cx="5603502" cy="510778"/>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400" b="1" dirty="0">
                  <a:solidFill>
                    <a:schemeClr val="bg1"/>
                  </a:solidFill>
                  <a:latin typeface="Stencil" panose="040409050D0802020404" pitchFamily="82" charset="0"/>
                </a:rPr>
                <a:t>能使用简化判据判断稳定性</a:t>
              </a:r>
            </a:p>
          </p:txBody>
        </p:sp>
        <p:sp>
          <p:nvSpPr>
            <p:cNvPr id="16" name="序号">
              <a:extLst>
                <a:ext uri="{FF2B5EF4-FFF2-40B4-BE49-F238E27FC236}">
                  <a16:creationId xmlns:a16="http://schemas.microsoft.com/office/drawing/2014/main" id="{E749324C-E86E-7EF5-6347-DDC3A7346693}"/>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03</a:t>
              </a:r>
              <a:endParaRPr lang="zh-CN" altLang="en-US" sz="3200" dirty="0">
                <a:solidFill>
                  <a:schemeClr val="bg1"/>
                </a:solidFill>
                <a:latin typeface="Stencil" panose="040409050D0802020404" pitchFamily="82" charset="0"/>
              </a:endParaRPr>
            </a:p>
          </p:txBody>
        </p:sp>
      </p:grpSp>
      <p:grpSp>
        <p:nvGrpSpPr>
          <p:cNvPr id="17" name="步骤4">
            <a:extLst>
              <a:ext uri="{FF2B5EF4-FFF2-40B4-BE49-F238E27FC236}">
                <a16:creationId xmlns:a16="http://schemas.microsoft.com/office/drawing/2014/main" id="{74A91B15-9FD5-97BB-0766-BB3812A25282}"/>
              </a:ext>
            </a:extLst>
          </p:cNvPr>
          <p:cNvGrpSpPr/>
          <p:nvPr/>
        </p:nvGrpSpPr>
        <p:grpSpPr>
          <a:xfrm>
            <a:off x="5735166" y="5463087"/>
            <a:ext cx="6120284" cy="725177"/>
            <a:chOff x="4943078" y="1700704"/>
            <a:chExt cx="6120284" cy="725177"/>
          </a:xfrm>
        </p:grpSpPr>
        <p:sp>
          <p:nvSpPr>
            <p:cNvPr id="18" name="标题">
              <a:extLst>
                <a:ext uri="{FF2B5EF4-FFF2-40B4-BE49-F238E27FC236}">
                  <a16:creationId xmlns:a16="http://schemas.microsoft.com/office/drawing/2014/main" id="{8DEA9CB0-0441-88E1-21D6-8155790CAB78}"/>
                </a:ext>
              </a:extLst>
            </p:cNvPr>
            <p:cNvSpPr/>
            <p:nvPr/>
          </p:nvSpPr>
          <p:spPr bwMode="auto">
            <a:xfrm>
              <a:off x="5459860" y="1807902"/>
              <a:ext cx="5603502" cy="510778"/>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400" b="1" dirty="0">
                  <a:solidFill>
                    <a:schemeClr val="bg1"/>
                  </a:solidFill>
                  <a:latin typeface="Stencil" panose="040409050D0802020404" pitchFamily="82" charset="0"/>
                </a:rPr>
                <a:t>能使用对数稳定判据判断稳定性</a:t>
              </a:r>
            </a:p>
          </p:txBody>
        </p:sp>
        <p:sp>
          <p:nvSpPr>
            <p:cNvPr id="19" name="序号">
              <a:extLst>
                <a:ext uri="{FF2B5EF4-FFF2-40B4-BE49-F238E27FC236}">
                  <a16:creationId xmlns:a16="http://schemas.microsoft.com/office/drawing/2014/main" id="{8221103E-E915-9992-911C-50C0B81E40C4}"/>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04</a:t>
              </a:r>
              <a:endParaRPr lang="zh-CN" altLang="en-US" sz="3200" dirty="0">
                <a:solidFill>
                  <a:schemeClr val="bg1"/>
                </a:solidFill>
                <a:latin typeface="Stencil" panose="040409050D0802020404" pitchFamily="82" charset="0"/>
              </a:endParaRPr>
            </a:p>
          </p:txBody>
        </p:sp>
      </p:grpSp>
      <p:sp>
        <p:nvSpPr>
          <p:cNvPr id="26" name="学习目标">
            <a:extLst>
              <a:ext uri="{FF2B5EF4-FFF2-40B4-BE49-F238E27FC236}">
                <a16:creationId xmlns:a16="http://schemas.microsoft.com/office/drawing/2014/main" id="{75F2FD80-C54D-CDC7-7E54-494CB4F6BFF0}"/>
              </a:ext>
            </a:extLst>
          </p:cNvPr>
          <p:cNvSpPr/>
          <p:nvPr/>
        </p:nvSpPr>
        <p:spPr bwMode="auto">
          <a:xfrm>
            <a:off x="8257290" y="1279325"/>
            <a:ext cx="1888036"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zh-CN" altLang="en-US" sz="3200" b="1" dirty="0">
                <a:solidFill>
                  <a:schemeClr val="bg1"/>
                </a:solidFill>
                <a:latin typeface="Stencil" panose="040409050D0802020404" pitchFamily="82" charset="0"/>
              </a:rPr>
              <a:t>学习目标</a:t>
            </a:r>
          </a:p>
        </p:txBody>
      </p:sp>
      <p:sp>
        <p:nvSpPr>
          <p:cNvPr id="2" name="燕尾形 1">
            <a:extLst>
              <a:ext uri="{FF2B5EF4-FFF2-40B4-BE49-F238E27FC236}">
                <a16:creationId xmlns:a16="http://schemas.microsoft.com/office/drawing/2014/main" id="{870C4953-2275-A95B-BFD3-F6796FC19636}"/>
              </a:ext>
            </a:extLst>
          </p:cNvPr>
          <p:cNvSpPr/>
          <p:nvPr/>
        </p:nvSpPr>
        <p:spPr>
          <a:xfrm>
            <a:off x="7097877" y="1350973"/>
            <a:ext cx="316556" cy="503689"/>
          </a:xfrm>
          <a:prstGeom prst="chevron">
            <a:avLst>
              <a:gd name="adj" fmla="val 48030"/>
            </a:avLst>
          </a:prstGeom>
          <a:solidFill>
            <a:schemeClr val="accent2"/>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solidFill>
                <a:schemeClr val="tx1"/>
              </a:solidFill>
            </a:endParaRPr>
          </a:p>
        </p:txBody>
      </p:sp>
      <p:graphicFrame>
        <p:nvGraphicFramePr>
          <p:cNvPr id="23" name="章节">
            <a:extLst>
              <a:ext uri="{FF2B5EF4-FFF2-40B4-BE49-F238E27FC236}">
                <a16:creationId xmlns:a16="http://schemas.microsoft.com/office/drawing/2014/main" id="{6816B119-56A5-89AC-69AF-B75726CA019A}"/>
              </a:ext>
            </a:extLst>
          </p:cNvPr>
          <p:cNvGraphicFramePr>
            <a:graphicFrameLocks noGrp="1"/>
          </p:cNvGraphicFramePr>
          <p:nvPr/>
        </p:nvGraphicFramePr>
        <p:xfrm>
          <a:off x="-1" y="0"/>
          <a:ext cx="12190416" cy="1036320"/>
        </p:xfrm>
        <a:graphic>
          <a:graphicData uri="http://schemas.openxmlformats.org/drawingml/2006/table">
            <a:tbl>
              <a:tblPr firstRow="1" bandRow="1">
                <a:tableStyleId>{2D5ABB26-0587-4C30-8999-92F81FD0307C}</a:tableStyleId>
              </a:tblPr>
              <a:tblGrid>
                <a:gridCol w="2031736">
                  <a:extLst>
                    <a:ext uri="{9D8B030D-6E8A-4147-A177-3AD203B41FA5}">
                      <a16:colId xmlns:a16="http://schemas.microsoft.com/office/drawing/2014/main" val="3932476852"/>
                    </a:ext>
                  </a:extLst>
                </a:gridCol>
                <a:gridCol w="2031736">
                  <a:extLst>
                    <a:ext uri="{9D8B030D-6E8A-4147-A177-3AD203B41FA5}">
                      <a16:colId xmlns:a16="http://schemas.microsoft.com/office/drawing/2014/main" val="820694549"/>
                    </a:ext>
                  </a:extLst>
                </a:gridCol>
                <a:gridCol w="2031736">
                  <a:extLst>
                    <a:ext uri="{9D8B030D-6E8A-4147-A177-3AD203B41FA5}">
                      <a16:colId xmlns:a16="http://schemas.microsoft.com/office/drawing/2014/main" val="1219869502"/>
                    </a:ext>
                  </a:extLst>
                </a:gridCol>
                <a:gridCol w="2031736">
                  <a:extLst>
                    <a:ext uri="{9D8B030D-6E8A-4147-A177-3AD203B41FA5}">
                      <a16:colId xmlns:a16="http://schemas.microsoft.com/office/drawing/2014/main" val="3167948240"/>
                    </a:ext>
                  </a:extLst>
                </a:gridCol>
                <a:gridCol w="2031736">
                  <a:extLst>
                    <a:ext uri="{9D8B030D-6E8A-4147-A177-3AD203B41FA5}">
                      <a16:colId xmlns:a16="http://schemas.microsoft.com/office/drawing/2014/main" val="4246396411"/>
                    </a:ext>
                  </a:extLst>
                </a:gridCol>
                <a:gridCol w="2031736">
                  <a:extLst>
                    <a:ext uri="{9D8B030D-6E8A-4147-A177-3AD203B41FA5}">
                      <a16:colId xmlns:a16="http://schemas.microsoft.com/office/drawing/2014/main" val="527655691"/>
                    </a:ext>
                  </a:extLst>
                </a:gridCol>
              </a:tblGrid>
              <a:tr h="370840">
                <a:tc>
                  <a:txBody>
                    <a:bodyPr/>
                    <a:lstStyle/>
                    <a:p>
                      <a:pPr algn="ctr"/>
                      <a:r>
                        <a:rPr lang="zh-CN" altLang="en-US" sz="2800" dirty="0">
                          <a:solidFill>
                            <a:srgbClr val="002060"/>
                          </a:solidFill>
                        </a:rPr>
                        <a:t>第一章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第二章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第三章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第四章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第五章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第六章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extLst>
                  <a:ext uri="{0D108BD9-81ED-4DB2-BD59-A6C34878D82A}">
                    <a16:rowId xmlns:a16="http://schemas.microsoft.com/office/drawing/2014/main" val="1851994583"/>
                  </a:ext>
                </a:extLst>
              </a:tr>
              <a:tr h="370840">
                <a:tc>
                  <a:txBody>
                    <a:bodyPr/>
                    <a:lstStyle/>
                    <a:p>
                      <a:pPr algn="ctr"/>
                      <a:r>
                        <a:rPr lang="zh-CN" altLang="en-US" sz="2800" dirty="0">
                          <a:solidFill>
                            <a:srgbClr val="002060"/>
                          </a:solidFill>
                        </a:rPr>
                        <a:t>基本概念</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数学模型</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时域分析法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根轨迹法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频域分析法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校正方法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extLst>
                  <a:ext uri="{0D108BD9-81ED-4DB2-BD59-A6C34878D82A}">
                    <a16:rowId xmlns:a16="http://schemas.microsoft.com/office/drawing/2014/main" val="1535605781"/>
                  </a:ext>
                </a:extLst>
              </a:tr>
            </a:tbl>
          </a:graphicData>
        </a:graphic>
      </p:graphicFrame>
      <p:sp>
        <p:nvSpPr>
          <p:cNvPr id="25" name="强调">
            <a:extLst>
              <a:ext uri="{FF2B5EF4-FFF2-40B4-BE49-F238E27FC236}">
                <a16:creationId xmlns:a16="http://schemas.microsoft.com/office/drawing/2014/main" id="{7A050445-FC6D-0973-47D8-556F335924C5}"/>
              </a:ext>
            </a:extLst>
          </p:cNvPr>
          <p:cNvSpPr/>
          <p:nvPr/>
        </p:nvSpPr>
        <p:spPr>
          <a:xfrm>
            <a:off x="8118526" y="0"/>
            <a:ext cx="2026800" cy="103632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重点">
            <a:extLst>
              <a:ext uri="{FF2B5EF4-FFF2-40B4-BE49-F238E27FC236}">
                <a16:creationId xmlns:a16="http://schemas.microsoft.com/office/drawing/2014/main" id="{E7AF913B-94CD-0D9E-9D1E-15E41E75B3A9}"/>
              </a:ext>
            </a:extLst>
          </p:cNvPr>
          <p:cNvSpPr/>
          <p:nvPr/>
        </p:nvSpPr>
        <p:spPr bwMode="auto">
          <a:xfrm>
            <a:off x="5735166" y="3498606"/>
            <a:ext cx="725177" cy="725177"/>
          </a:xfrm>
          <a:prstGeom prst="ellipse">
            <a:avLst/>
          </a:prstGeom>
          <a:solidFill>
            <a:srgbClr val="E44860"/>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zh-CN" altLang="en-US" sz="3200" b="1" dirty="0">
                <a:solidFill>
                  <a:schemeClr val="bg1"/>
                </a:solidFill>
                <a:latin typeface="Stencil" panose="040409050D0802020404" pitchFamily="82" charset="0"/>
              </a:rPr>
              <a:t>重</a:t>
            </a:r>
          </a:p>
        </p:txBody>
      </p:sp>
      <p:sp>
        <p:nvSpPr>
          <p:cNvPr id="30" name="难点">
            <a:extLst>
              <a:ext uri="{FF2B5EF4-FFF2-40B4-BE49-F238E27FC236}">
                <a16:creationId xmlns:a16="http://schemas.microsoft.com/office/drawing/2014/main" id="{76867F75-98E0-71CE-4432-9B760E5E57B4}"/>
              </a:ext>
            </a:extLst>
          </p:cNvPr>
          <p:cNvSpPr/>
          <p:nvPr/>
        </p:nvSpPr>
        <p:spPr bwMode="auto">
          <a:xfrm>
            <a:off x="5736746" y="4486278"/>
            <a:ext cx="725177" cy="725177"/>
          </a:xfrm>
          <a:prstGeom prst="ellipse">
            <a:avLst/>
          </a:prstGeom>
          <a:solidFill>
            <a:schemeClr val="tx1"/>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zh-CN" altLang="en-US" sz="3200" b="1" dirty="0">
                <a:solidFill>
                  <a:schemeClr val="bg1"/>
                </a:solidFill>
                <a:latin typeface="Stencil" panose="040409050D0802020404" pitchFamily="82" charset="0"/>
              </a:rPr>
              <a:t>难</a:t>
            </a:r>
          </a:p>
        </p:txBody>
      </p:sp>
      <p:sp>
        <p:nvSpPr>
          <p:cNvPr id="28" name="节段20">
            <a:extLst>
              <a:ext uri="{FF2B5EF4-FFF2-40B4-BE49-F238E27FC236}">
                <a16:creationId xmlns:a16="http://schemas.microsoft.com/office/drawing/2014/main" id="{512DBACE-FB71-DF1D-FAF4-E8E348567407}"/>
              </a:ext>
            </a:extLst>
          </p:cNvPr>
          <p:cNvSpPr/>
          <p:nvPr/>
        </p:nvSpPr>
        <p:spPr bwMode="auto">
          <a:xfrm>
            <a:off x="562387" y="1281349"/>
            <a:ext cx="5551200"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3200" b="1" dirty="0">
                <a:solidFill>
                  <a:schemeClr val="bg1"/>
                </a:solidFill>
                <a:latin typeface="Stencil" panose="040409050D0802020404" pitchFamily="82" charset="0"/>
              </a:rPr>
              <a:t>19.</a:t>
            </a:r>
            <a:r>
              <a:rPr lang="zh-CN" altLang="en-US" sz="3200" b="1" dirty="0">
                <a:solidFill>
                  <a:schemeClr val="bg1"/>
                </a:solidFill>
                <a:latin typeface="Stencil" panose="040409050D0802020404" pitchFamily="82" charset="0"/>
              </a:rPr>
              <a:t> 稳定判据：频域的启示</a:t>
            </a:r>
          </a:p>
        </p:txBody>
      </p:sp>
    </p:spTree>
    <p:extLst>
      <p:ext uri="{BB962C8B-B14F-4D97-AF65-F5344CB8AC3E}">
        <p14:creationId xmlns:p14="http://schemas.microsoft.com/office/powerpoint/2010/main" val="2826082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0-#ppt_w/2"/>
                                          </p:val>
                                        </p:tav>
                                        <p:tav tm="100000">
                                          <p:val>
                                            <p:strVal val="#ppt_x"/>
                                          </p:val>
                                        </p:tav>
                                      </p:tavLst>
                                    </p:anim>
                                    <p:anim calcmode="lin" valueType="num">
                                      <p:cBhvr additive="base">
                                        <p:cTn id="14" dur="500" fill="hold"/>
                                        <p:tgtEl>
                                          <p:spTgt spid="25"/>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12" presetClass="entr" presetSubtype="8"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ppt_x</p:attrName>
                                        </p:attrNameLst>
                                      </p:cBhvr>
                                      <p:tavLst>
                                        <p:tav tm="0">
                                          <p:val>
                                            <p:strVal val="#ppt_x-#ppt_w*1.125000"/>
                                          </p:val>
                                        </p:tav>
                                        <p:tav tm="100000">
                                          <p:val>
                                            <p:strVal val="#ppt_x"/>
                                          </p:val>
                                        </p:tav>
                                      </p:tavLst>
                                    </p:anim>
                                    <p:animEffect transition="in" filter="wipe(right)">
                                      <p:cBhvr>
                                        <p:cTn id="19" dur="500"/>
                                        <p:tgtEl>
                                          <p:spTgt spid="2"/>
                                        </p:tgtEl>
                                      </p:cBhvr>
                                    </p:animEffect>
                                  </p:childTnLst>
                                </p:cTn>
                              </p:par>
                            </p:childTnLst>
                          </p:cTn>
                        </p:par>
                        <p:par>
                          <p:cTn id="20" fill="hold">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p:tgtEl>
                                          <p:spTgt spid="26"/>
                                        </p:tgtEl>
                                        <p:attrNameLst>
                                          <p:attrName>ppt_x</p:attrName>
                                        </p:attrNameLst>
                                      </p:cBhvr>
                                      <p:tavLst>
                                        <p:tav tm="0">
                                          <p:val>
                                            <p:strVal val="#ppt_x-#ppt_w*1.125000"/>
                                          </p:val>
                                        </p:tav>
                                        <p:tav tm="100000">
                                          <p:val>
                                            <p:strVal val="#ppt_x"/>
                                          </p:val>
                                        </p:tav>
                                      </p:tavLst>
                                    </p:anim>
                                    <p:animEffect transition="in" filter="wipe(right)">
                                      <p:cBhvr>
                                        <p:cTn id="24" dur="500"/>
                                        <p:tgtEl>
                                          <p:spTgt spid="26"/>
                                        </p:tgtEl>
                                      </p:cBhvr>
                                    </p:animEffect>
                                  </p:childTnLst>
                                </p:cTn>
                              </p:par>
                            </p:childTnLst>
                          </p:cTn>
                        </p:par>
                        <p:par>
                          <p:cTn id="25" fill="hold">
                            <p:stCondLst>
                              <p:cond delay="25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3000"/>
                            </p:stCondLst>
                            <p:childTnLst>
                              <p:par>
                                <p:cTn id="30" presetID="22" presetClass="entr" presetSubtype="8"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par>
                          <p:cTn id="33" fill="hold">
                            <p:stCondLst>
                              <p:cond delay="3500"/>
                            </p:stCondLst>
                            <p:childTnLst>
                              <p:par>
                                <p:cTn id="34" presetID="22" presetClass="entr" presetSubtype="8" fill="hold"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par>
                          <p:cTn id="37" fill="hold">
                            <p:stCondLst>
                              <p:cond delay="4000"/>
                            </p:stCondLst>
                            <p:childTnLst>
                              <p:par>
                                <p:cTn id="38" presetID="22" presetClass="entr" presetSubtype="8" fill="hold"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32"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p:cTn id="45" dur="500" fill="hold"/>
                                        <p:tgtEl>
                                          <p:spTgt spid="29"/>
                                        </p:tgtEl>
                                        <p:attrNameLst>
                                          <p:attrName>ppt_w</p:attrName>
                                        </p:attrNameLst>
                                      </p:cBhvr>
                                      <p:tavLst>
                                        <p:tav tm="0">
                                          <p:val>
                                            <p:strVal val="4*#ppt_w"/>
                                          </p:val>
                                        </p:tav>
                                        <p:tav tm="100000">
                                          <p:val>
                                            <p:strVal val="#ppt_w"/>
                                          </p:val>
                                        </p:tav>
                                      </p:tavLst>
                                    </p:anim>
                                    <p:anim calcmode="lin" valueType="num">
                                      <p:cBhvr>
                                        <p:cTn id="46" dur="500" fill="hold"/>
                                        <p:tgtEl>
                                          <p:spTgt spid="29"/>
                                        </p:tgtEl>
                                        <p:attrNameLst>
                                          <p:attrName>ppt_h</p:attrName>
                                        </p:attrNameLst>
                                      </p:cBhvr>
                                      <p:tavLst>
                                        <p:tav tm="0">
                                          <p:val>
                                            <p:strVal val="4*#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32"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 calcmode="lin" valueType="num">
                                      <p:cBhvr>
                                        <p:cTn id="51" dur="500" fill="hold"/>
                                        <p:tgtEl>
                                          <p:spTgt spid="30"/>
                                        </p:tgtEl>
                                        <p:attrNameLst>
                                          <p:attrName>ppt_w</p:attrName>
                                        </p:attrNameLst>
                                      </p:cBhvr>
                                      <p:tavLst>
                                        <p:tav tm="0">
                                          <p:val>
                                            <p:strVal val="4*#ppt_w"/>
                                          </p:val>
                                        </p:tav>
                                        <p:tav tm="100000">
                                          <p:val>
                                            <p:strVal val="#ppt_w"/>
                                          </p:val>
                                        </p:tav>
                                      </p:tavLst>
                                    </p:anim>
                                    <p:anim calcmode="lin" valueType="num">
                                      <p:cBhvr>
                                        <p:cTn id="52" dur="500" fill="hold"/>
                                        <p:tgtEl>
                                          <p:spTgt spid="30"/>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 grpId="0" animBg="1"/>
      <p:bldP spid="25"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商务人士指向低处">
            <a:extLst>
              <a:ext uri="{FF2B5EF4-FFF2-40B4-BE49-F238E27FC236}">
                <a16:creationId xmlns:a16="http://schemas.microsoft.com/office/drawing/2014/main" id="{672FBDAF-49E0-FB07-F642-44E50CFBFF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2798" y="2653655"/>
            <a:ext cx="1667325" cy="3645024"/>
          </a:xfrm>
          <a:prstGeom prst="rect">
            <a:avLst/>
          </a:prstGeom>
        </p:spPr>
      </p:pic>
      <p:sp>
        <p:nvSpPr>
          <p:cNvPr id="13" name="文本框 12">
            <a:extLst>
              <a:ext uri="{FF2B5EF4-FFF2-40B4-BE49-F238E27FC236}">
                <a16:creationId xmlns:a16="http://schemas.microsoft.com/office/drawing/2014/main" id="{487EA601-61B8-B935-870E-79FC5897BCB5}"/>
              </a:ext>
            </a:extLst>
          </p:cNvPr>
          <p:cNvSpPr txBox="1"/>
          <p:nvPr/>
        </p:nvSpPr>
        <p:spPr>
          <a:xfrm>
            <a:off x="2392243" y="620688"/>
            <a:ext cx="2838867" cy="1055608"/>
          </a:xfrm>
          <a:prstGeom prst="wedgeRoundRectCallout">
            <a:avLst>
              <a:gd name="adj1" fmla="val -37504"/>
              <a:gd name="adj2" fmla="val 103660"/>
              <a:gd name="adj3" fmla="val 16667"/>
            </a:avLst>
          </a:prstGeom>
          <a:noFill/>
          <a:ln w="25400">
            <a:solidFill>
              <a:schemeClr val="accent1">
                <a:shade val="50000"/>
              </a:schemeClr>
            </a:solidFill>
          </a:ln>
        </p:spPr>
        <p:txBody>
          <a:bodyPr wrap="square" rtlCol="0">
            <a:spAutoFit/>
          </a:bodyPr>
          <a:lstStyle/>
          <a:p>
            <a:pPr algn="ctr"/>
            <a:r>
              <a:rPr kumimoji="1" lang="zh-CN" altLang="en-US" sz="2800" dirty="0"/>
              <a:t>你能判断这个系统的稳定性吗？</a:t>
            </a:r>
          </a:p>
        </p:txBody>
      </p:sp>
      <p:sp>
        <p:nvSpPr>
          <p:cNvPr id="14" name="文本框 13">
            <a:extLst>
              <a:ext uri="{FF2B5EF4-FFF2-40B4-BE49-F238E27FC236}">
                <a16:creationId xmlns:a16="http://schemas.microsoft.com/office/drawing/2014/main" id="{C3544037-31E8-7CD3-A5FB-DAAB1C2A3C43}"/>
              </a:ext>
            </a:extLst>
          </p:cNvPr>
          <p:cNvSpPr txBox="1"/>
          <p:nvPr/>
        </p:nvSpPr>
        <p:spPr>
          <a:xfrm>
            <a:off x="7607896" y="1386855"/>
            <a:ext cx="3239838" cy="578882"/>
          </a:xfrm>
          <a:prstGeom prst="wedgeRoundRectCallout">
            <a:avLst>
              <a:gd name="adj1" fmla="val 19793"/>
              <a:gd name="adj2" fmla="val 92814"/>
              <a:gd name="adj3" fmla="val 16667"/>
            </a:avLst>
          </a:prstGeom>
          <a:noFill/>
          <a:ln w="25400">
            <a:solidFill>
              <a:schemeClr val="accent1">
                <a:shade val="50000"/>
              </a:schemeClr>
            </a:solidFill>
            <a:extLst>
              <a:ext uri="{C807C97D-BFC1-408E-A445-0C87EB9F89A2}">
                <ask:lineSketchStyleProps xmlns:ask="http://schemas.microsoft.com/office/drawing/2018/sketchyshapes" sd="1219033472">
                  <a:custGeom>
                    <a:avLst/>
                    <a:gdLst>
                      <a:gd name="connsiteX0" fmla="*/ 0 w 2227361"/>
                      <a:gd name="connsiteY0" fmla="*/ 175938 h 1055608"/>
                      <a:gd name="connsiteX1" fmla="*/ 175938 w 2227361"/>
                      <a:gd name="connsiteY1" fmla="*/ 0 h 1055608"/>
                      <a:gd name="connsiteX2" fmla="*/ 760083 w 2227361"/>
                      <a:gd name="connsiteY2" fmla="*/ 0 h 1055608"/>
                      <a:gd name="connsiteX3" fmla="*/ 1299294 w 2227361"/>
                      <a:gd name="connsiteY3" fmla="*/ 0 h 1055608"/>
                      <a:gd name="connsiteX4" fmla="*/ 1299294 w 2227361"/>
                      <a:gd name="connsiteY4" fmla="*/ 0 h 1055608"/>
                      <a:gd name="connsiteX5" fmla="*/ 1856134 w 2227361"/>
                      <a:gd name="connsiteY5" fmla="*/ 0 h 1055608"/>
                      <a:gd name="connsiteX6" fmla="*/ 2051423 w 2227361"/>
                      <a:gd name="connsiteY6" fmla="*/ 0 h 1055608"/>
                      <a:gd name="connsiteX7" fmla="*/ 2227361 w 2227361"/>
                      <a:gd name="connsiteY7" fmla="*/ 175938 h 1055608"/>
                      <a:gd name="connsiteX8" fmla="*/ 2227361 w 2227361"/>
                      <a:gd name="connsiteY8" fmla="*/ 615771 h 1055608"/>
                      <a:gd name="connsiteX9" fmla="*/ 2227361 w 2227361"/>
                      <a:gd name="connsiteY9" fmla="*/ 615771 h 1055608"/>
                      <a:gd name="connsiteX10" fmla="*/ 2227361 w 2227361"/>
                      <a:gd name="connsiteY10" fmla="*/ 879673 h 1055608"/>
                      <a:gd name="connsiteX11" fmla="*/ 2227361 w 2227361"/>
                      <a:gd name="connsiteY11" fmla="*/ 879670 h 1055608"/>
                      <a:gd name="connsiteX12" fmla="*/ 2051423 w 2227361"/>
                      <a:gd name="connsiteY12" fmla="*/ 1055608 h 1055608"/>
                      <a:gd name="connsiteX13" fmla="*/ 1856134 w 2227361"/>
                      <a:gd name="connsiteY13" fmla="*/ 1055608 h 1055608"/>
                      <a:gd name="connsiteX14" fmla="*/ 1894482 w 2227361"/>
                      <a:gd name="connsiteY14" fmla="*/ 1384229 h 1055608"/>
                      <a:gd name="connsiteX15" fmla="*/ 1584984 w 2227361"/>
                      <a:gd name="connsiteY15" fmla="*/ 1213346 h 1055608"/>
                      <a:gd name="connsiteX16" fmla="*/ 1299294 w 2227361"/>
                      <a:gd name="connsiteY16" fmla="*/ 1055608 h 1055608"/>
                      <a:gd name="connsiteX17" fmla="*/ 726382 w 2227361"/>
                      <a:gd name="connsiteY17" fmla="*/ 1055608 h 1055608"/>
                      <a:gd name="connsiteX18" fmla="*/ 175938 w 2227361"/>
                      <a:gd name="connsiteY18" fmla="*/ 1055608 h 1055608"/>
                      <a:gd name="connsiteX19" fmla="*/ 0 w 2227361"/>
                      <a:gd name="connsiteY19" fmla="*/ 879670 h 1055608"/>
                      <a:gd name="connsiteX20" fmla="*/ 0 w 2227361"/>
                      <a:gd name="connsiteY20" fmla="*/ 879673 h 1055608"/>
                      <a:gd name="connsiteX21" fmla="*/ 0 w 2227361"/>
                      <a:gd name="connsiteY21" fmla="*/ 615771 h 1055608"/>
                      <a:gd name="connsiteX22" fmla="*/ 0 w 2227361"/>
                      <a:gd name="connsiteY22" fmla="*/ 615771 h 1055608"/>
                      <a:gd name="connsiteX23" fmla="*/ 0 w 2227361"/>
                      <a:gd name="connsiteY23" fmla="*/ 175938 h 105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27361" h="1055608" extrusionOk="0">
                        <a:moveTo>
                          <a:pt x="0" y="175938"/>
                        </a:moveTo>
                        <a:cubicBezTo>
                          <a:pt x="-8379" y="73602"/>
                          <a:pt x="74941" y="1437"/>
                          <a:pt x="175938" y="0"/>
                        </a:cubicBezTo>
                        <a:cubicBezTo>
                          <a:pt x="327942" y="-64131"/>
                          <a:pt x="628761" y="41756"/>
                          <a:pt x="760083" y="0"/>
                        </a:cubicBezTo>
                        <a:cubicBezTo>
                          <a:pt x="891406" y="-41756"/>
                          <a:pt x="1042745" y="60515"/>
                          <a:pt x="1299294" y="0"/>
                        </a:cubicBezTo>
                        <a:lnTo>
                          <a:pt x="1299294" y="0"/>
                        </a:lnTo>
                        <a:cubicBezTo>
                          <a:pt x="1576136" y="-45227"/>
                          <a:pt x="1593192" y="37244"/>
                          <a:pt x="1856134" y="0"/>
                        </a:cubicBezTo>
                        <a:cubicBezTo>
                          <a:pt x="1944353" y="-22208"/>
                          <a:pt x="1965301" y="19537"/>
                          <a:pt x="2051423" y="0"/>
                        </a:cubicBezTo>
                        <a:cubicBezTo>
                          <a:pt x="2140350" y="7759"/>
                          <a:pt x="2224796" y="54311"/>
                          <a:pt x="2227361" y="175938"/>
                        </a:cubicBezTo>
                        <a:cubicBezTo>
                          <a:pt x="2276524" y="390928"/>
                          <a:pt x="2184921" y="466368"/>
                          <a:pt x="2227361" y="615771"/>
                        </a:cubicBezTo>
                        <a:lnTo>
                          <a:pt x="2227361" y="615771"/>
                        </a:lnTo>
                        <a:cubicBezTo>
                          <a:pt x="2248827" y="706418"/>
                          <a:pt x="2221537" y="783229"/>
                          <a:pt x="2227361" y="879673"/>
                        </a:cubicBezTo>
                        <a:lnTo>
                          <a:pt x="2227361" y="879670"/>
                        </a:lnTo>
                        <a:cubicBezTo>
                          <a:pt x="2240230" y="995995"/>
                          <a:pt x="2150225" y="1072535"/>
                          <a:pt x="2051423" y="1055608"/>
                        </a:cubicBezTo>
                        <a:cubicBezTo>
                          <a:pt x="1982194" y="1076160"/>
                          <a:pt x="1952681" y="1047161"/>
                          <a:pt x="1856134" y="1055608"/>
                        </a:cubicBezTo>
                        <a:cubicBezTo>
                          <a:pt x="1899636" y="1208407"/>
                          <a:pt x="1851762" y="1302045"/>
                          <a:pt x="1894482" y="1384229"/>
                        </a:cubicBezTo>
                        <a:cubicBezTo>
                          <a:pt x="1776915" y="1359032"/>
                          <a:pt x="1745915" y="1276643"/>
                          <a:pt x="1584984" y="1213346"/>
                        </a:cubicBezTo>
                        <a:cubicBezTo>
                          <a:pt x="1424053" y="1150049"/>
                          <a:pt x="1375528" y="1079930"/>
                          <a:pt x="1299294" y="1055608"/>
                        </a:cubicBezTo>
                        <a:cubicBezTo>
                          <a:pt x="1044726" y="1111011"/>
                          <a:pt x="1004272" y="1046688"/>
                          <a:pt x="726382" y="1055608"/>
                        </a:cubicBezTo>
                        <a:cubicBezTo>
                          <a:pt x="448492" y="1064528"/>
                          <a:pt x="349480" y="1055509"/>
                          <a:pt x="175938" y="1055608"/>
                        </a:cubicBezTo>
                        <a:cubicBezTo>
                          <a:pt x="90421" y="1048697"/>
                          <a:pt x="-14062" y="999163"/>
                          <a:pt x="0" y="879670"/>
                        </a:cubicBezTo>
                        <a:lnTo>
                          <a:pt x="0" y="879673"/>
                        </a:lnTo>
                        <a:cubicBezTo>
                          <a:pt x="-20358" y="791123"/>
                          <a:pt x="15951" y="681439"/>
                          <a:pt x="0" y="615771"/>
                        </a:cubicBezTo>
                        <a:lnTo>
                          <a:pt x="0" y="615771"/>
                        </a:lnTo>
                        <a:cubicBezTo>
                          <a:pt x="-48458" y="437856"/>
                          <a:pt x="23737" y="277093"/>
                          <a:pt x="0" y="175938"/>
                        </a:cubicBezTo>
                        <a:close/>
                      </a:path>
                    </a:pathLst>
                  </a:custGeom>
                  <ask:type>
                    <ask:lineSketchNone/>
                  </ask:type>
                </ask:lineSketchStyleProps>
              </a:ext>
            </a:extLst>
          </a:ln>
        </p:spPr>
        <p:txBody>
          <a:bodyPr wrap="square" rtlCol="0">
            <a:spAutoFit/>
          </a:bodyPr>
          <a:lstStyle/>
          <a:p>
            <a:r>
              <a:rPr kumimoji="1" lang="zh-CN" altLang="en-US" sz="2800" dirty="0"/>
              <a:t>没问题！传函给我</a:t>
            </a:r>
          </a:p>
        </p:txBody>
      </p:sp>
      <p:pic>
        <p:nvPicPr>
          <p:cNvPr id="8" name="图片 7" descr="青年商务人士举拳">
            <a:extLst>
              <a:ext uri="{FF2B5EF4-FFF2-40B4-BE49-F238E27FC236}">
                <a16:creationId xmlns:a16="http://schemas.microsoft.com/office/drawing/2014/main" id="{B0825310-8761-7509-FD33-C249B726DC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0467" y="2271873"/>
            <a:ext cx="1631241" cy="4026806"/>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72F9D66-CDAD-261D-211B-8BE6FEB84E3B}"/>
                  </a:ext>
                </a:extLst>
              </p:cNvPr>
              <p:cNvSpPr/>
              <p:nvPr/>
            </p:nvSpPr>
            <p:spPr>
              <a:xfrm>
                <a:off x="4439022" y="2653655"/>
                <a:ext cx="1038202" cy="660673"/>
              </a:xfrm>
              <a:prstGeom prst="rect">
                <a:avLst/>
              </a:prstGeom>
              <a:solidFill>
                <a:schemeClr val="accent1">
                  <a:lumMod val="20000"/>
                  <a:lumOff val="80000"/>
                </a:schemeClr>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Ins="36000" rtlCol="0" anchor="ctr"/>
              <a:lstStyle/>
              <a:p>
                <a:pPr algn="ct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𝐺</m:t>
                      </m:r>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𝑠</m:t>
                      </m:r>
                      <m:r>
                        <a:rPr lang="en-US" altLang="zh-CN" sz="2800" b="0" i="1" smtClean="0">
                          <a:solidFill>
                            <a:schemeClr val="tx1"/>
                          </a:solidFill>
                          <a:latin typeface="Cambria Math" panose="02040503050406030204" pitchFamily="18" charset="0"/>
                          <a:ea typeface="Cambria Math" panose="02040503050406030204" pitchFamily="18" charset="0"/>
                        </a:rPr>
                        <m:t>)</m:t>
                      </m:r>
                    </m:oMath>
                  </m:oMathPara>
                </a14:m>
                <a:endParaRPr kumimoji="1" lang="zh-CN" altLang="en-US" sz="2800" dirty="0">
                  <a:solidFill>
                    <a:schemeClr val="tx1"/>
                  </a:solidFill>
                </a:endParaRPr>
              </a:p>
            </p:txBody>
          </p:sp>
        </mc:Choice>
        <mc:Fallback xmlns="">
          <p:sp>
            <p:nvSpPr>
              <p:cNvPr id="9" name="矩形 8">
                <a:extLst>
                  <a:ext uri="{FF2B5EF4-FFF2-40B4-BE49-F238E27FC236}">
                    <a16:creationId xmlns:a16="http://schemas.microsoft.com/office/drawing/2014/main" id="{372F9D66-CDAD-261D-211B-8BE6FEB84E3B}"/>
                  </a:ext>
                </a:extLst>
              </p:cNvPr>
              <p:cNvSpPr>
                <a:spLocks noRot="1" noChangeAspect="1" noMove="1" noResize="1" noEditPoints="1" noAdjustHandles="1" noChangeArrowheads="1" noChangeShapeType="1" noTextEdit="1"/>
              </p:cNvSpPr>
              <p:nvPr/>
            </p:nvSpPr>
            <p:spPr>
              <a:xfrm>
                <a:off x="4439022" y="2653655"/>
                <a:ext cx="1038202" cy="660673"/>
              </a:xfrm>
              <a:prstGeom prst="rect">
                <a:avLst/>
              </a:prstGeom>
              <a:blipFill>
                <a:blip r:embed="rId5"/>
                <a:stretch>
                  <a:fillRect b="-1786"/>
                </a:stretch>
              </a:blipFill>
              <a:ln w="25400">
                <a:solidFill>
                  <a:srgbClr val="0070C0"/>
                </a:solidFill>
              </a:ln>
            </p:spPr>
            <p:txBody>
              <a:bodyPr/>
              <a:lstStyle/>
              <a:p>
                <a:r>
                  <a:rPr lang="zh-CN" altLang="en-US">
                    <a:noFill/>
                  </a:rPr>
                  <a:t> </a:t>
                </a:r>
              </a:p>
            </p:txBody>
          </p:sp>
        </mc:Fallback>
      </mc:AlternateContent>
    </p:spTree>
    <p:extLst>
      <p:ext uri="{BB962C8B-B14F-4D97-AF65-F5344CB8AC3E}">
        <p14:creationId xmlns:p14="http://schemas.microsoft.com/office/powerpoint/2010/main" val="3323924899"/>
      </p:ext>
    </p:extLst>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商务人士指向低处">
            <a:extLst>
              <a:ext uri="{FF2B5EF4-FFF2-40B4-BE49-F238E27FC236}">
                <a16:creationId xmlns:a16="http://schemas.microsoft.com/office/drawing/2014/main" id="{672FBDAF-49E0-FB07-F642-44E50CFBFF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2798" y="2653655"/>
            <a:ext cx="1667325" cy="3645024"/>
          </a:xfrm>
          <a:prstGeom prst="rect">
            <a:avLst/>
          </a:prstGeom>
        </p:spPr>
      </p:pic>
      <p:sp>
        <p:nvSpPr>
          <p:cNvPr id="13" name="文本框 12">
            <a:extLst>
              <a:ext uri="{FF2B5EF4-FFF2-40B4-BE49-F238E27FC236}">
                <a16:creationId xmlns:a16="http://schemas.microsoft.com/office/drawing/2014/main" id="{487EA601-61B8-B935-870E-79FC5897BCB5}"/>
              </a:ext>
            </a:extLst>
          </p:cNvPr>
          <p:cNvSpPr txBox="1"/>
          <p:nvPr/>
        </p:nvSpPr>
        <p:spPr>
          <a:xfrm>
            <a:off x="1342678" y="1196752"/>
            <a:ext cx="3375106" cy="578882"/>
          </a:xfrm>
          <a:prstGeom prst="wedgeRoundRectCallout">
            <a:avLst>
              <a:gd name="adj1" fmla="val -15570"/>
              <a:gd name="adj2" fmla="val 152101"/>
              <a:gd name="adj3" fmla="val 16667"/>
            </a:avLst>
          </a:prstGeom>
          <a:noFill/>
          <a:ln w="25400">
            <a:solidFill>
              <a:schemeClr val="accent1">
                <a:shade val="50000"/>
              </a:schemeClr>
            </a:solidFill>
          </a:ln>
        </p:spPr>
        <p:txBody>
          <a:bodyPr wrap="square" rtlCol="0">
            <a:spAutoFit/>
          </a:bodyPr>
          <a:lstStyle/>
          <a:p>
            <a:pPr algn="ctr"/>
            <a:r>
              <a:rPr kumimoji="1" lang="zh-CN" altLang="en-US" sz="2800" dirty="0"/>
              <a:t>传函我也不清楚啊？</a:t>
            </a:r>
          </a:p>
        </p:txBody>
      </p:sp>
      <p:sp>
        <p:nvSpPr>
          <p:cNvPr id="14" name="文本框 13">
            <a:extLst>
              <a:ext uri="{FF2B5EF4-FFF2-40B4-BE49-F238E27FC236}">
                <a16:creationId xmlns:a16="http://schemas.microsoft.com/office/drawing/2014/main" id="{C3544037-31E8-7CD3-A5FB-DAAB1C2A3C43}"/>
              </a:ext>
            </a:extLst>
          </p:cNvPr>
          <p:cNvSpPr txBox="1"/>
          <p:nvPr/>
        </p:nvSpPr>
        <p:spPr>
          <a:xfrm>
            <a:off x="7823136" y="1419682"/>
            <a:ext cx="1611869" cy="578882"/>
          </a:xfrm>
          <a:prstGeom prst="wedgeRoundRectCallout">
            <a:avLst>
              <a:gd name="adj1" fmla="val 27523"/>
              <a:gd name="adj2" fmla="val 88865"/>
              <a:gd name="adj3" fmla="val 16667"/>
            </a:avLst>
          </a:prstGeom>
          <a:noFill/>
          <a:ln w="25400">
            <a:solidFill>
              <a:schemeClr val="accent1">
                <a:shade val="50000"/>
              </a:schemeClr>
            </a:solidFill>
            <a:prstDash val="sysDash"/>
            <a:extLst>
              <a:ext uri="{C807C97D-BFC1-408E-A445-0C87EB9F89A2}">
                <ask:lineSketchStyleProps xmlns:ask="http://schemas.microsoft.com/office/drawing/2018/sketchyshapes" sd="1219033472">
                  <a:custGeom>
                    <a:avLst/>
                    <a:gdLst>
                      <a:gd name="connsiteX0" fmla="*/ 0 w 2227361"/>
                      <a:gd name="connsiteY0" fmla="*/ 175938 h 1055608"/>
                      <a:gd name="connsiteX1" fmla="*/ 175938 w 2227361"/>
                      <a:gd name="connsiteY1" fmla="*/ 0 h 1055608"/>
                      <a:gd name="connsiteX2" fmla="*/ 760083 w 2227361"/>
                      <a:gd name="connsiteY2" fmla="*/ 0 h 1055608"/>
                      <a:gd name="connsiteX3" fmla="*/ 1299294 w 2227361"/>
                      <a:gd name="connsiteY3" fmla="*/ 0 h 1055608"/>
                      <a:gd name="connsiteX4" fmla="*/ 1299294 w 2227361"/>
                      <a:gd name="connsiteY4" fmla="*/ 0 h 1055608"/>
                      <a:gd name="connsiteX5" fmla="*/ 1856134 w 2227361"/>
                      <a:gd name="connsiteY5" fmla="*/ 0 h 1055608"/>
                      <a:gd name="connsiteX6" fmla="*/ 2051423 w 2227361"/>
                      <a:gd name="connsiteY6" fmla="*/ 0 h 1055608"/>
                      <a:gd name="connsiteX7" fmla="*/ 2227361 w 2227361"/>
                      <a:gd name="connsiteY7" fmla="*/ 175938 h 1055608"/>
                      <a:gd name="connsiteX8" fmla="*/ 2227361 w 2227361"/>
                      <a:gd name="connsiteY8" fmla="*/ 615771 h 1055608"/>
                      <a:gd name="connsiteX9" fmla="*/ 2227361 w 2227361"/>
                      <a:gd name="connsiteY9" fmla="*/ 615771 h 1055608"/>
                      <a:gd name="connsiteX10" fmla="*/ 2227361 w 2227361"/>
                      <a:gd name="connsiteY10" fmla="*/ 879673 h 1055608"/>
                      <a:gd name="connsiteX11" fmla="*/ 2227361 w 2227361"/>
                      <a:gd name="connsiteY11" fmla="*/ 879670 h 1055608"/>
                      <a:gd name="connsiteX12" fmla="*/ 2051423 w 2227361"/>
                      <a:gd name="connsiteY12" fmla="*/ 1055608 h 1055608"/>
                      <a:gd name="connsiteX13" fmla="*/ 1856134 w 2227361"/>
                      <a:gd name="connsiteY13" fmla="*/ 1055608 h 1055608"/>
                      <a:gd name="connsiteX14" fmla="*/ 1894482 w 2227361"/>
                      <a:gd name="connsiteY14" fmla="*/ 1384229 h 1055608"/>
                      <a:gd name="connsiteX15" fmla="*/ 1584984 w 2227361"/>
                      <a:gd name="connsiteY15" fmla="*/ 1213346 h 1055608"/>
                      <a:gd name="connsiteX16" fmla="*/ 1299294 w 2227361"/>
                      <a:gd name="connsiteY16" fmla="*/ 1055608 h 1055608"/>
                      <a:gd name="connsiteX17" fmla="*/ 726382 w 2227361"/>
                      <a:gd name="connsiteY17" fmla="*/ 1055608 h 1055608"/>
                      <a:gd name="connsiteX18" fmla="*/ 175938 w 2227361"/>
                      <a:gd name="connsiteY18" fmla="*/ 1055608 h 1055608"/>
                      <a:gd name="connsiteX19" fmla="*/ 0 w 2227361"/>
                      <a:gd name="connsiteY19" fmla="*/ 879670 h 1055608"/>
                      <a:gd name="connsiteX20" fmla="*/ 0 w 2227361"/>
                      <a:gd name="connsiteY20" fmla="*/ 879673 h 1055608"/>
                      <a:gd name="connsiteX21" fmla="*/ 0 w 2227361"/>
                      <a:gd name="connsiteY21" fmla="*/ 615771 h 1055608"/>
                      <a:gd name="connsiteX22" fmla="*/ 0 w 2227361"/>
                      <a:gd name="connsiteY22" fmla="*/ 615771 h 1055608"/>
                      <a:gd name="connsiteX23" fmla="*/ 0 w 2227361"/>
                      <a:gd name="connsiteY23" fmla="*/ 175938 h 105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27361" h="1055608" extrusionOk="0">
                        <a:moveTo>
                          <a:pt x="0" y="175938"/>
                        </a:moveTo>
                        <a:cubicBezTo>
                          <a:pt x="-8379" y="73602"/>
                          <a:pt x="74941" y="1437"/>
                          <a:pt x="175938" y="0"/>
                        </a:cubicBezTo>
                        <a:cubicBezTo>
                          <a:pt x="327942" y="-64131"/>
                          <a:pt x="628761" y="41756"/>
                          <a:pt x="760083" y="0"/>
                        </a:cubicBezTo>
                        <a:cubicBezTo>
                          <a:pt x="891406" y="-41756"/>
                          <a:pt x="1042745" y="60515"/>
                          <a:pt x="1299294" y="0"/>
                        </a:cubicBezTo>
                        <a:lnTo>
                          <a:pt x="1299294" y="0"/>
                        </a:lnTo>
                        <a:cubicBezTo>
                          <a:pt x="1576136" y="-45227"/>
                          <a:pt x="1593192" y="37244"/>
                          <a:pt x="1856134" y="0"/>
                        </a:cubicBezTo>
                        <a:cubicBezTo>
                          <a:pt x="1944353" y="-22208"/>
                          <a:pt x="1965301" y="19537"/>
                          <a:pt x="2051423" y="0"/>
                        </a:cubicBezTo>
                        <a:cubicBezTo>
                          <a:pt x="2140350" y="7759"/>
                          <a:pt x="2224796" y="54311"/>
                          <a:pt x="2227361" y="175938"/>
                        </a:cubicBezTo>
                        <a:cubicBezTo>
                          <a:pt x="2276524" y="390928"/>
                          <a:pt x="2184921" y="466368"/>
                          <a:pt x="2227361" y="615771"/>
                        </a:cubicBezTo>
                        <a:lnTo>
                          <a:pt x="2227361" y="615771"/>
                        </a:lnTo>
                        <a:cubicBezTo>
                          <a:pt x="2248827" y="706418"/>
                          <a:pt x="2221537" y="783229"/>
                          <a:pt x="2227361" y="879673"/>
                        </a:cubicBezTo>
                        <a:lnTo>
                          <a:pt x="2227361" y="879670"/>
                        </a:lnTo>
                        <a:cubicBezTo>
                          <a:pt x="2240230" y="995995"/>
                          <a:pt x="2150225" y="1072535"/>
                          <a:pt x="2051423" y="1055608"/>
                        </a:cubicBezTo>
                        <a:cubicBezTo>
                          <a:pt x="1982194" y="1076160"/>
                          <a:pt x="1952681" y="1047161"/>
                          <a:pt x="1856134" y="1055608"/>
                        </a:cubicBezTo>
                        <a:cubicBezTo>
                          <a:pt x="1899636" y="1208407"/>
                          <a:pt x="1851762" y="1302045"/>
                          <a:pt x="1894482" y="1384229"/>
                        </a:cubicBezTo>
                        <a:cubicBezTo>
                          <a:pt x="1776915" y="1359032"/>
                          <a:pt x="1745915" y="1276643"/>
                          <a:pt x="1584984" y="1213346"/>
                        </a:cubicBezTo>
                        <a:cubicBezTo>
                          <a:pt x="1424053" y="1150049"/>
                          <a:pt x="1375528" y="1079930"/>
                          <a:pt x="1299294" y="1055608"/>
                        </a:cubicBezTo>
                        <a:cubicBezTo>
                          <a:pt x="1044726" y="1111011"/>
                          <a:pt x="1004272" y="1046688"/>
                          <a:pt x="726382" y="1055608"/>
                        </a:cubicBezTo>
                        <a:cubicBezTo>
                          <a:pt x="448492" y="1064528"/>
                          <a:pt x="349480" y="1055509"/>
                          <a:pt x="175938" y="1055608"/>
                        </a:cubicBezTo>
                        <a:cubicBezTo>
                          <a:pt x="90421" y="1048697"/>
                          <a:pt x="-14062" y="999163"/>
                          <a:pt x="0" y="879670"/>
                        </a:cubicBezTo>
                        <a:lnTo>
                          <a:pt x="0" y="879673"/>
                        </a:lnTo>
                        <a:cubicBezTo>
                          <a:pt x="-20358" y="791123"/>
                          <a:pt x="15951" y="681439"/>
                          <a:pt x="0" y="615771"/>
                        </a:cubicBezTo>
                        <a:lnTo>
                          <a:pt x="0" y="615771"/>
                        </a:lnTo>
                        <a:cubicBezTo>
                          <a:pt x="-48458" y="437856"/>
                          <a:pt x="23737" y="277093"/>
                          <a:pt x="0" y="175938"/>
                        </a:cubicBezTo>
                        <a:close/>
                      </a:path>
                    </a:pathLst>
                  </a:custGeom>
                  <ask:type>
                    <ask:lineSketchNone/>
                  </ask:type>
                </ask:lineSketchStyleProps>
              </a:ext>
            </a:extLst>
          </a:ln>
        </p:spPr>
        <p:txBody>
          <a:bodyPr wrap="square" rtlCol="0">
            <a:spAutoFit/>
          </a:bodyPr>
          <a:lstStyle/>
          <a:p>
            <a:r>
              <a:rPr kumimoji="1" lang="zh-CN" altLang="en-US" sz="2800" dirty="0"/>
              <a:t>自闭中</a:t>
            </a:r>
          </a:p>
        </p:txBody>
      </p:sp>
      <p:pic>
        <p:nvPicPr>
          <p:cNvPr id="6" name="图片 5" descr="手掌放在脸上的青年商务人士">
            <a:extLst>
              <a:ext uri="{FF2B5EF4-FFF2-40B4-BE49-F238E27FC236}">
                <a16:creationId xmlns:a16="http://schemas.microsoft.com/office/drawing/2014/main" id="{EB11E0BF-D137-D127-E80F-9746EAF0C0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7345" y="2375950"/>
            <a:ext cx="1173633" cy="3918913"/>
          </a:xfrm>
          <a:prstGeom prst="rect">
            <a:avLst/>
          </a:prstGeom>
        </p:spPr>
      </p:pic>
    </p:spTree>
    <p:extLst>
      <p:ext uri="{BB962C8B-B14F-4D97-AF65-F5344CB8AC3E}">
        <p14:creationId xmlns:p14="http://schemas.microsoft.com/office/powerpoint/2010/main" val="4098105389"/>
      </p:ext>
    </p:extLst>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a:t>
            </a:r>
          </a:p>
        </p:txBody>
      </p:sp>
      <p:sp>
        <p:nvSpPr>
          <p:cNvPr id="35" name="说明2">
            <a:extLst>
              <a:ext uri="{FF2B5EF4-FFF2-40B4-BE49-F238E27FC236}">
                <a16:creationId xmlns:a16="http://schemas.microsoft.com/office/drawing/2014/main" id="{F0710B0E-033C-CBE9-CD0C-032B1852DE5B}"/>
              </a:ext>
            </a:extLst>
          </p:cNvPr>
          <p:cNvSpPr txBox="1"/>
          <p:nvPr/>
        </p:nvSpPr>
        <p:spPr>
          <a:xfrm>
            <a:off x="384741" y="2034452"/>
            <a:ext cx="7724043"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zh-CN" altLang="en-US" sz="2800" dirty="0">
                <a:solidFill>
                  <a:schemeClr val="accent1"/>
                </a:solidFill>
              </a:rPr>
              <a:t>由闭环特征多项式系数</a:t>
            </a:r>
            <a:r>
              <a:rPr kumimoji="1" lang="en-US" altLang="zh-CN" sz="2800" dirty="0">
                <a:solidFill>
                  <a:schemeClr val="accent1"/>
                </a:solidFill>
              </a:rPr>
              <a:t>(</a:t>
            </a:r>
            <a:r>
              <a:rPr kumimoji="1" lang="zh-CN" altLang="en-US" sz="2800" dirty="0">
                <a:solidFill>
                  <a:schemeClr val="accent1"/>
                </a:solidFill>
              </a:rPr>
              <a:t>不解根</a:t>
            </a:r>
            <a:r>
              <a:rPr kumimoji="1" lang="en-US" altLang="zh-CN" sz="2800" dirty="0">
                <a:solidFill>
                  <a:schemeClr val="accent1"/>
                </a:solidFill>
              </a:rPr>
              <a:t>)</a:t>
            </a:r>
            <a:r>
              <a:rPr kumimoji="1" lang="zh-CN" altLang="en-US" sz="2800" dirty="0">
                <a:solidFill>
                  <a:schemeClr val="accent1"/>
                </a:solidFill>
              </a:rPr>
              <a:t>判定系统稳定性</a:t>
            </a:r>
          </a:p>
        </p:txBody>
      </p:sp>
      <p:sp>
        <p:nvSpPr>
          <p:cNvPr id="4" name="小标题3">
            <a:extLst>
              <a:ext uri="{FF2B5EF4-FFF2-40B4-BE49-F238E27FC236}">
                <a16:creationId xmlns:a16="http://schemas.microsoft.com/office/drawing/2014/main" id="{4F33C706-3BBF-CD57-7A18-CC4939B2B34C}"/>
              </a:ext>
            </a:extLst>
          </p:cNvPr>
          <p:cNvSpPr/>
          <p:nvPr/>
        </p:nvSpPr>
        <p:spPr bwMode="auto">
          <a:xfrm>
            <a:off x="268976" y="1196752"/>
            <a:ext cx="2808312"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dirty="0">
                <a:solidFill>
                  <a:schemeClr val="bg1"/>
                </a:solidFill>
                <a:latin typeface="+mn-ea"/>
              </a:rPr>
              <a:t>代数稳定判据</a:t>
            </a:r>
          </a:p>
        </p:txBody>
      </p:sp>
      <p:sp>
        <p:nvSpPr>
          <p:cNvPr id="5" name="重要1">
            <a:extLst>
              <a:ext uri="{FF2B5EF4-FFF2-40B4-BE49-F238E27FC236}">
                <a16:creationId xmlns:a16="http://schemas.microsoft.com/office/drawing/2014/main" id="{E0081512-7248-0AE2-DBD5-45068C4030B5}"/>
              </a:ext>
            </a:extLst>
          </p:cNvPr>
          <p:cNvSpPr txBox="1"/>
          <p:nvPr/>
        </p:nvSpPr>
        <p:spPr>
          <a:xfrm>
            <a:off x="3574926" y="1196752"/>
            <a:ext cx="2447876" cy="576000"/>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r>
              <a:rPr kumimoji="1" lang="en-US" altLang="zh-CN" sz="3200" b="1" dirty="0">
                <a:solidFill>
                  <a:schemeClr val="bg1"/>
                </a:solidFill>
              </a:rPr>
              <a:t>Routh</a:t>
            </a:r>
            <a:r>
              <a:rPr kumimoji="1" lang="zh-CN" altLang="en-US" sz="3200" b="1" dirty="0">
                <a:solidFill>
                  <a:schemeClr val="bg1"/>
                </a:solidFill>
              </a:rPr>
              <a:t>判据</a:t>
            </a:r>
          </a:p>
        </p:txBody>
      </p:sp>
      <p:sp>
        <p:nvSpPr>
          <p:cNvPr id="6" name="小标题3">
            <a:extLst>
              <a:ext uri="{FF2B5EF4-FFF2-40B4-BE49-F238E27FC236}">
                <a16:creationId xmlns:a16="http://schemas.microsoft.com/office/drawing/2014/main" id="{5B765413-A6E5-4309-E169-B3E70CFDF1F4}"/>
              </a:ext>
            </a:extLst>
          </p:cNvPr>
          <p:cNvSpPr/>
          <p:nvPr/>
        </p:nvSpPr>
        <p:spPr bwMode="auto">
          <a:xfrm>
            <a:off x="268976" y="3717096"/>
            <a:ext cx="2808312"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dirty="0">
                <a:solidFill>
                  <a:schemeClr val="bg1"/>
                </a:solidFill>
                <a:latin typeface="+mn-ea"/>
              </a:rPr>
              <a:t>频域稳定判据</a:t>
            </a:r>
          </a:p>
        </p:txBody>
      </p:sp>
      <p:sp>
        <p:nvSpPr>
          <p:cNvPr id="7" name="重要1">
            <a:extLst>
              <a:ext uri="{FF2B5EF4-FFF2-40B4-BE49-F238E27FC236}">
                <a16:creationId xmlns:a16="http://schemas.microsoft.com/office/drawing/2014/main" id="{7207C089-6970-C9C8-2EEB-889058D42ADE}"/>
              </a:ext>
            </a:extLst>
          </p:cNvPr>
          <p:cNvSpPr txBox="1"/>
          <p:nvPr/>
        </p:nvSpPr>
        <p:spPr>
          <a:xfrm>
            <a:off x="3574926" y="3717096"/>
            <a:ext cx="2447876" cy="576000"/>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r>
              <a:rPr kumimoji="1" lang="en-US" altLang="zh-CN" sz="3200" b="1" dirty="0">
                <a:solidFill>
                  <a:schemeClr val="bg1"/>
                </a:solidFill>
              </a:rPr>
              <a:t>Nyquist</a:t>
            </a:r>
            <a:r>
              <a:rPr kumimoji="1" lang="zh-CN" altLang="en-US" sz="3200" b="1" dirty="0">
                <a:solidFill>
                  <a:schemeClr val="bg1"/>
                </a:solidFill>
              </a:rPr>
              <a:t>判据</a:t>
            </a:r>
          </a:p>
        </p:txBody>
      </p:sp>
      <p:sp>
        <p:nvSpPr>
          <p:cNvPr id="8" name="重要1">
            <a:extLst>
              <a:ext uri="{FF2B5EF4-FFF2-40B4-BE49-F238E27FC236}">
                <a16:creationId xmlns:a16="http://schemas.microsoft.com/office/drawing/2014/main" id="{C60AA736-7A6A-6411-C9A8-6F73A3CC8B96}"/>
              </a:ext>
            </a:extLst>
          </p:cNvPr>
          <p:cNvSpPr txBox="1"/>
          <p:nvPr/>
        </p:nvSpPr>
        <p:spPr>
          <a:xfrm>
            <a:off x="6311230" y="3717096"/>
            <a:ext cx="2808312" cy="576000"/>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r>
              <a:rPr kumimoji="1" lang="zh-CN" altLang="en-US" sz="3200" b="1" dirty="0">
                <a:solidFill>
                  <a:schemeClr val="bg1"/>
                </a:solidFill>
              </a:rPr>
              <a:t>对数稳定判据</a:t>
            </a:r>
          </a:p>
        </p:txBody>
      </p:sp>
      <p:sp>
        <p:nvSpPr>
          <p:cNvPr id="9" name="说明2">
            <a:extLst>
              <a:ext uri="{FF2B5EF4-FFF2-40B4-BE49-F238E27FC236}">
                <a16:creationId xmlns:a16="http://schemas.microsoft.com/office/drawing/2014/main" id="{098BEC9E-584B-4793-C684-B788250D8E15}"/>
              </a:ext>
            </a:extLst>
          </p:cNvPr>
          <p:cNvSpPr txBox="1"/>
          <p:nvPr/>
        </p:nvSpPr>
        <p:spPr>
          <a:xfrm>
            <a:off x="384741" y="2814210"/>
            <a:ext cx="10955253"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zh-CN" altLang="en-US" sz="2800" dirty="0">
                <a:solidFill>
                  <a:schemeClr val="accent1"/>
                </a:solidFill>
              </a:rPr>
              <a:t>不能用于研究如何调整系统结构参数来改善系统稳定性及性能的问题</a:t>
            </a:r>
          </a:p>
        </p:txBody>
      </p:sp>
      <p:sp>
        <p:nvSpPr>
          <p:cNvPr id="10" name="说明2">
            <a:extLst>
              <a:ext uri="{FF2B5EF4-FFF2-40B4-BE49-F238E27FC236}">
                <a16:creationId xmlns:a16="http://schemas.microsoft.com/office/drawing/2014/main" id="{3DF8C21B-DB1E-5807-8605-986F3A4E0294}"/>
              </a:ext>
            </a:extLst>
          </p:cNvPr>
          <p:cNvSpPr txBox="1"/>
          <p:nvPr/>
        </p:nvSpPr>
        <p:spPr>
          <a:xfrm>
            <a:off x="396537" y="4617100"/>
            <a:ext cx="7104526"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zh-CN" altLang="en-US" sz="2800" dirty="0">
                <a:solidFill>
                  <a:schemeClr val="accent1"/>
                </a:solidFill>
              </a:rPr>
              <a:t>由开环频率特性直接判定闭环系统的稳定性</a:t>
            </a:r>
          </a:p>
        </p:txBody>
      </p:sp>
      <p:sp>
        <p:nvSpPr>
          <p:cNvPr id="11" name="说明2">
            <a:extLst>
              <a:ext uri="{FF2B5EF4-FFF2-40B4-BE49-F238E27FC236}">
                <a16:creationId xmlns:a16="http://schemas.microsoft.com/office/drawing/2014/main" id="{4FE48693-A962-7768-08D0-7E42C31A00C1}"/>
              </a:ext>
            </a:extLst>
          </p:cNvPr>
          <p:cNvSpPr txBox="1"/>
          <p:nvPr/>
        </p:nvSpPr>
        <p:spPr>
          <a:xfrm>
            <a:off x="384741" y="5408173"/>
            <a:ext cx="9192757"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zh-CN" altLang="en-US" sz="2800" dirty="0">
                <a:solidFill>
                  <a:schemeClr val="accent1"/>
                </a:solidFill>
              </a:rPr>
              <a:t>可研究如何调整系统结构参数改善系统稳定性及性能问题</a:t>
            </a:r>
          </a:p>
        </p:txBody>
      </p:sp>
    </p:spTree>
    <p:extLst>
      <p:ext uri="{BB962C8B-B14F-4D97-AF65-F5344CB8AC3E}">
        <p14:creationId xmlns:p14="http://schemas.microsoft.com/office/powerpoint/2010/main" val="1210654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1"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down)">
                                      <p:cBhvr>
                                        <p:cTn id="23" dur="500"/>
                                        <p:tgtEl>
                                          <p:spTgt spid="3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down)">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down)">
                                      <p:cBhvr>
                                        <p:cTn id="5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35" grpId="1" animBg="1"/>
      <p:bldP spid="4" grpId="0" animBg="1"/>
      <p:bldP spid="5" grpId="0" animBg="1"/>
      <p:bldP spid="6"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幅角原理</a:t>
            </a:r>
          </a:p>
        </p:txBody>
      </p:sp>
      <mc:AlternateContent xmlns:mc="http://schemas.openxmlformats.org/markup-compatibility/2006" xmlns:a14="http://schemas.microsoft.com/office/drawing/2010/main">
        <mc:Choice Requires="a14">
          <p:sp>
            <p:nvSpPr>
              <p:cNvPr id="32" name="小标题1">
                <a:extLst>
                  <a:ext uri="{FF2B5EF4-FFF2-40B4-BE49-F238E27FC236}">
                    <a16:creationId xmlns:a16="http://schemas.microsoft.com/office/drawing/2014/main" id="{ADC23408-5D06-3F66-22F1-CA321942FF1C}"/>
                  </a:ext>
                </a:extLst>
              </p:cNvPr>
              <p:cNvSpPr/>
              <p:nvPr/>
            </p:nvSpPr>
            <p:spPr bwMode="auto">
              <a:xfrm>
                <a:off x="334963" y="1005076"/>
                <a:ext cx="11520883" cy="2711956"/>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just"/>
                <a:r>
                  <a:rPr lang="zh-CN" altLang="en-US" sz="3200" b="1" dirty="0">
                    <a:solidFill>
                      <a:schemeClr val="bg1"/>
                    </a:solidFill>
                    <a:latin typeface="+mn-ea"/>
                  </a:rPr>
                  <a:t>设函数</a:t>
                </a:r>
                <a14:m>
                  <m:oMath xmlns:m="http://schemas.openxmlformats.org/officeDocument/2006/math">
                    <m:r>
                      <a:rPr lang="en-US" altLang="zh-CN" sz="3200" b="1" i="1" smtClean="0">
                        <a:solidFill>
                          <a:schemeClr val="bg1"/>
                        </a:solidFill>
                        <a:latin typeface="Cambria Math" panose="02040503050406030204" pitchFamily="18" charset="0"/>
                      </a:rPr>
                      <m:t>𝑭</m:t>
                    </m:r>
                    <m:r>
                      <a:rPr lang="en-US" altLang="zh-CN" sz="3200" b="1" i="1" smtClean="0">
                        <a:solidFill>
                          <a:schemeClr val="bg1"/>
                        </a:solidFill>
                        <a:latin typeface="Cambria Math" panose="02040503050406030204" pitchFamily="18" charset="0"/>
                      </a:rPr>
                      <m:t>(</m:t>
                    </m:r>
                    <m:r>
                      <a:rPr lang="en-US" altLang="zh-CN" sz="3200" b="1" i="1" smtClean="0">
                        <a:solidFill>
                          <a:schemeClr val="bg1"/>
                        </a:solidFill>
                        <a:latin typeface="Cambria Math" panose="02040503050406030204" pitchFamily="18" charset="0"/>
                      </a:rPr>
                      <m:t>𝒔</m:t>
                    </m:r>
                    <m:r>
                      <a:rPr lang="en-US" altLang="zh-CN" sz="3200" b="1" i="1" smtClean="0">
                        <a:solidFill>
                          <a:schemeClr val="bg1"/>
                        </a:solidFill>
                        <a:latin typeface="Cambria Math" panose="02040503050406030204" pitchFamily="18" charset="0"/>
                      </a:rPr>
                      <m:t>)</m:t>
                    </m:r>
                  </m:oMath>
                </a14:m>
                <a:r>
                  <a:rPr lang="zh-CN" altLang="en-US" sz="3200" b="1" dirty="0">
                    <a:solidFill>
                      <a:schemeClr val="bg1"/>
                    </a:solidFill>
                    <a:latin typeface="+mn-ea"/>
                  </a:rPr>
                  <a:t>在</a:t>
                </a:r>
                <a14:m>
                  <m:oMath xmlns:m="http://schemas.openxmlformats.org/officeDocument/2006/math">
                    <m:r>
                      <a:rPr lang="en-US" altLang="zh-CN" sz="3200" b="1" i="1" dirty="0" smtClean="0">
                        <a:solidFill>
                          <a:schemeClr val="bg1"/>
                        </a:solidFill>
                        <a:latin typeface="Cambria Math" panose="02040503050406030204" pitchFamily="18" charset="0"/>
                      </a:rPr>
                      <m:t>𝒔</m:t>
                    </m:r>
                  </m:oMath>
                </a14:m>
                <a:r>
                  <a:rPr lang="zh-CN" altLang="en-US" sz="3200" b="1" dirty="0">
                    <a:solidFill>
                      <a:schemeClr val="bg1"/>
                    </a:solidFill>
                    <a:latin typeface="+mn-ea"/>
                  </a:rPr>
                  <a:t>平面上任一闭合曲线</a:t>
                </a:r>
                <a14:m>
                  <m:oMath xmlns:m="http://schemas.openxmlformats.org/officeDocument/2006/math">
                    <m:sSub>
                      <m:sSubPr>
                        <m:ctrlPr>
                          <a:rPr lang="en-US" altLang="zh-CN" sz="3200" b="1" i="1" smtClean="0">
                            <a:solidFill>
                              <a:schemeClr val="bg1"/>
                            </a:solidFill>
                            <a:latin typeface="Cambria Math" panose="02040503050406030204" pitchFamily="18" charset="0"/>
                          </a:rPr>
                        </m:ctrlPr>
                      </m:sSubPr>
                      <m:e>
                        <m:r>
                          <a:rPr lang="zh-CN" altLang="en-US" sz="3200" b="1" i="1" smtClean="0">
                            <a:solidFill>
                              <a:schemeClr val="bg1"/>
                            </a:solidFill>
                            <a:latin typeface="Cambria Math" panose="02040503050406030204" pitchFamily="18" charset="0"/>
                          </a:rPr>
                          <m:t>𝚪</m:t>
                        </m:r>
                      </m:e>
                      <m:sub>
                        <m:r>
                          <a:rPr lang="en-US" altLang="zh-CN" sz="3200" b="1" i="1" smtClean="0">
                            <a:solidFill>
                              <a:schemeClr val="bg1"/>
                            </a:solidFill>
                            <a:latin typeface="Cambria Math" panose="02040503050406030204" pitchFamily="18" charset="0"/>
                          </a:rPr>
                          <m:t>𝒔</m:t>
                        </m:r>
                      </m:sub>
                    </m:sSub>
                  </m:oMath>
                </a14:m>
                <a:r>
                  <a:rPr lang="zh-CN" altLang="en-US" sz="3200" b="1" dirty="0">
                    <a:solidFill>
                      <a:schemeClr val="bg1"/>
                    </a:solidFill>
                    <a:latin typeface="+mn-ea"/>
                  </a:rPr>
                  <a:t>上处处解析且不为</a:t>
                </a:r>
                <a:r>
                  <a:rPr lang="en-US" altLang="zh-CN" sz="3200" b="1" dirty="0">
                    <a:solidFill>
                      <a:schemeClr val="bg1"/>
                    </a:solidFill>
                    <a:latin typeface="+mn-ea"/>
                  </a:rPr>
                  <a:t>0</a:t>
                </a:r>
                <a:r>
                  <a:rPr lang="zh-CN" altLang="en-US" sz="3200" b="1" dirty="0">
                    <a:solidFill>
                      <a:schemeClr val="bg1"/>
                    </a:solidFill>
                    <a:latin typeface="+mn-ea"/>
                  </a:rPr>
                  <a:t>，即曲线</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r>
                  <a:rPr lang="zh-CN" altLang="en-US" sz="3200" b="1" dirty="0">
                    <a:solidFill>
                      <a:schemeClr val="bg1"/>
                    </a:solidFill>
                    <a:latin typeface="+mn-ea"/>
                  </a:rPr>
                  <a:t>上任意点都不是</a:t>
                </a:r>
                <a14:m>
                  <m:oMath xmlns:m="http://schemas.openxmlformats.org/officeDocument/2006/math">
                    <m:r>
                      <a:rPr lang="en-US" altLang="zh-CN" sz="3200" b="1" i="1">
                        <a:solidFill>
                          <a:schemeClr val="bg1"/>
                        </a:solidFill>
                        <a:latin typeface="Cambria Math" panose="02040503050406030204" pitchFamily="18" charset="0"/>
                      </a:rPr>
                      <m:t>𝑭</m:t>
                    </m:r>
                    <m:r>
                      <a:rPr lang="en-US" altLang="zh-CN" sz="3200" b="1" i="1">
                        <a:solidFill>
                          <a:schemeClr val="bg1"/>
                        </a:solidFill>
                        <a:latin typeface="Cambria Math" panose="02040503050406030204" pitchFamily="18" charset="0"/>
                      </a:rPr>
                      <m:t>(</m:t>
                    </m:r>
                    <m:r>
                      <a:rPr lang="en-US" altLang="zh-CN" sz="3200" b="1" i="1">
                        <a:solidFill>
                          <a:schemeClr val="bg1"/>
                        </a:solidFill>
                        <a:latin typeface="Cambria Math" panose="02040503050406030204" pitchFamily="18" charset="0"/>
                      </a:rPr>
                      <m:t>𝒔</m:t>
                    </m:r>
                    <m:r>
                      <a:rPr lang="en-US" altLang="zh-CN" sz="3200" b="1" i="1">
                        <a:solidFill>
                          <a:schemeClr val="bg1"/>
                        </a:solidFill>
                        <a:latin typeface="Cambria Math" panose="02040503050406030204" pitchFamily="18" charset="0"/>
                      </a:rPr>
                      <m:t>)</m:t>
                    </m:r>
                  </m:oMath>
                </a14:m>
                <a:r>
                  <a:rPr lang="zh-CN" altLang="en-US" sz="3200" b="1" dirty="0">
                    <a:solidFill>
                      <a:schemeClr val="bg1"/>
                    </a:solidFill>
                    <a:latin typeface="+mn-ea"/>
                  </a:rPr>
                  <a:t>的零点和极点。如果曲线</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r>
                  <a:rPr lang="zh-CN" altLang="en-US" sz="3200" b="1" dirty="0">
                    <a:solidFill>
                      <a:schemeClr val="bg1"/>
                    </a:solidFill>
                    <a:latin typeface="+mn-ea"/>
                  </a:rPr>
                  <a:t>包围</a:t>
                </a:r>
                <a14:m>
                  <m:oMath xmlns:m="http://schemas.openxmlformats.org/officeDocument/2006/math">
                    <m:r>
                      <a:rPr lang="en-US" altLang="zh-CN" sz="3200" b="1" i="1">
                        <a:solidFill>
                          <a:schemeClr val="bg1"/>
                        </a:solidFill>
                        <a:latin typeface="Cambria Math" panose="02040503050406030204" pitchFamily="18" charset="0"/>
                      </a:rPr>
                      <m:t>𝑭</m:t>
                    </m:r>
                    <m:r>
                      <a:rPr lang="en-US" altLang="zh-CN" sz="3200" b="1" i="1">
                        <a:solidFill>
                          <a:schemeClr val="bg1"/>
                        </a:solidFill>
                        <a:latin typeface="Cambria Math" panose="02040503050406030204" pitchFamily="18" charset="0"/>
                      </a:rPr>
                      <m:t>(</m:t>
                    </m:r>
                    <m:r>
                      <a:rPr lang="en-US" altLang="zh-CN" sz="3200" b="1" i="1">
                        <a:solidFill>
                          <a:schemeClr val="bg1"/>
                        </a:solidFill>
                        <a:latin typeface="Cambria Math" panose="02040503050406030204" pitchFamily="18" charset="0"/>
                      </a:rPr>
                      <m:t>𝒔</m:t>
                    </m:r>
                    <m:r>
                      <a:rPr lang="en-US" altLang="zh-CN" sz="3200" b="1" i="1">
                        <a:solidFill>
                          <a:schemeClr val="bg1"/>
                        </a:solidFill>
                        <a:latin typeface="Cambria Math" panose="02040503050406030204" pitchFamily="18" charset="0"/>
                      </a:rPr>
                      <m:t>)</m:t>
                    </m:r>
                  </m:oMath>
                </a14:m>
                <a:r>
                  <a:rPr lang="zh-CN" altLang="en-US" sz="3200" b="1" dirty="0">
                    <a:solidFill>
                      <a:schemeClr val="bg1"/>
                    </a:solidFill>
                    <a:latin typeface="+mn-ea"/>
                  </a:rPr>
                  <a:t>的</a:t>
                </a:r>
                <a14:m>
                  <m:oMath xmlns:m="http://schemas.openxmlformats.org/officeDocument/2006/math">
                    <m:r>
                      <a:rPr lang="en-US" altLang="zh-CN" sz="3200" b="1" i="1" dirty="0" smtClean="0">
                        <a:solidFill>
                          <a:schemeClr val="bg1"/>
                        </a:solidFill>
                        <a:latin typeface="Cambria Math" panose="02040503050406030204" pitchFamily="18" charset="0"/>
                      </a:rPr>
                      <m:t>𝒁</m:t>
                    </m:r>
                  </m:oMath>
                </a14:m>
                <a:r>
                  <a:rPr lang="zh-CN" altLang="en-US" sz="3200" b="1" dirty="0">
                    <a:solidFill>
                      <a:schemeClr val="bg1"/>
                    </a:solidFill>
                    <a:latin typeface="+mn-ea"/>
                  </a:rPr>
                  <a:t>个零点和</a:t>
                </a:r>
                <a14:m>
                  <m:oMath xmlns:m="http://schemas.openxmlformats.org/officeDocument/2006/math">
                    <m:r>
                      <a:rPr lang="en-US" altLang="zh-CN" sz="3200" b="1" i="1" smtClean="0">
                        <a:solidFill>
                          <a:schemeClr val="bg1"/>
                        </a:solidFill>
                        <a:latin typeface="Cambria Math" panose="02040503050406030204" pitchFamily="18" charset="0"/>
                      </a:rPr>
                      <m:t>𝑷</m:t>
                    </m:r>
                  </m:oMath>
                </a14:m>
                <a:r>
                  <a:rPr lang="zh-CN" altLang="en-US" sz="3200" b="1" dirty="0">
                    <a:solidFill>
                      <a:schemeClr val="bg1"/>
                    </a:solidFill>
                    <a:latin typeface="+mn-ea"/>
                  </a:rPr>
                  <a:t>个极点，则当动点</a:t>
                </a:r>
                <a14:m>
                  <m:oMath xmlns:m="http://schemas.openxmlformats.org/officeDocument/2006/math">
                    <m:sSub>
                      <m:sSubPr>
                        <m:ctrlPr>
                          <a:rPr lang="en-US" altLang="zh-CN" sz="3200" b="1" i="1" smtClean="0">
                            <a:solidFill>
                              <a:schemeClr val="bg1"/>
                            </a:solidFill>
                            <a:latin typeface="Cambria Math" panose="02040503050406030204" pitchFamily="18" charset="0"/>
                          </a:rPr>
                        </m:ctrlPr>
                      </m:sSubPr>
                      <m:e>
                        <m:r>
                          <a:rPr lang="en-US" altLang="zh-CN" sz="3200" b="1" i="1" smtClean="0">
                            <a:solidFill>
                              <a:schemeClr val="bg1"/>
                            </a:solidFill>
                            <a:latin typeface="Cambria Math" panose="02040503050406030204" pitchFamily="18" charset="0"/>
                          </a:rPr>
                          <m:t>𝒔</m:t>
                        </m:r>
                      </m:e>
                      <m:sub>
                        <m:r>
                          <a:rPr lang="en-US" altLang="zh-CN" sz="3200" b="1" i="1" smtClean="0">
                            <a:solidFill>
                              <a:schemeClr val="bg1"/>
                            </a:solidFill>
                            <a:latin typeface="Cambria Math" panose="02040503050406030204" pitchFamily="18" charset="0"/>
                          </a:rPr>
                          <m:t>𝟏</m:t>
                        </m:r>
                      </m:sub>
                    </m:sSub>
                  </m:oMath>
                </a14:m>
                <a:r>
                  <a:rPr lang="zh-CN" altLang="en-US" sz="3200" b="1" dirty="0">
                    <a:solidFill>
                      <a:schemeClr val="bg1"/>
                    </a:solidFill>
                    <a:latin typeface="+mn-ea"/>
                  </a:rPr>
                  <a:t>在</a:t>
                </a:r>
                <a14:m>
                  <m:oMath xmlns:m="http://schemas.openxmlformats.org/officeDocument/2006/math">
                    <m:r>
                      <a:rPr lang="en-US" altLang="zh-CN" sz="3200" b="1" i="1" dirty="0" smtClean="0">
                        <a:solidFill>
                          <a:schemeClr val="bg1"/>
                        </a:solidFill>
                        <a:latin typeface="Cambria Math" panose="02040503050406030204" pitchFamily="18" charset="0"/>
                      </a:rPr>
                      <m:t>𝒔</m:t>
                    </m:r>
                  </m:oMath>
                </a14:m>
                <a:r>
                  <a:rPr lang="zh-CN" altLang="en-US" sz="3200" b="1" dirty="0">
                    <a:solidFill>
                      <a:schemeClr val="bg1"/>
                    </a:solidFill>
                    <a:latin typeface="+mn-ea"/>
                  </a:rPr>
                  <a:t>平面上顺时针沿</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r>
                  <a:rPr lang="zh-CN" altLang="en-US" sz="3200" b="1" dirty="0">
                    <a:solidFill>
                      <a:schemeClr val="bg1"/>
                    </a:solidFill>
                    <a:latin typeface="+mn-ea"/>
                  </a:rPr>
                  <a:t>绕一周时，在</a:t>
                </a:r>
                <a14:m>
                  <m:oMath xmlns:m="http://schemas.openxmlformats.org/officeDocument/2006/math">
                    <m:r>
                      <a:rPr lang="en-US" altLang="zh-CN" sz="3200" b="1" i="1">
                        <a:solidFill>
                          <a:schemeClr val="bg1"/>
                        </a:solidFill>
                        <a:latin typeface="Cambria Math" panose="02040503050406030204" pitchFamily="18" charset="0"/>
                      </a:rPr>
                      <m:t>𝑭</m:t>
                    </m:r>
                    <m:r>
                      <a:rPr lang="en-US" altLang="zh-CN" sz="3200" b="1" i="1">
                        <a:solidFill>
                          <a:schemeClr val="bg1"/>
                        </a:solidFill>
                        <a:latin typeface="Cambria Math" panose="02040503050406030204" pitchFamily="18" charset="0"/>
                      </a:rPr>
                      <m:t>(</m:t>
                    </m:r>
                    <m:r>
                      <a:rPr lang="en-US" altLang="zh-CN" sz="3200" b="1" i="1">
                        <a:solidFill>
                          <a:schemeClr val="bg1"/>
                        </a:solidFill>
                        <a:latin typeface="Cambria Math" panose="02040503050406030204" pitchFamily="18" charset="0"/>
                      </a:rPr>
                      <m:t>𝒔</m:t>
                    </m:r>
                    <m:r>
                      <a:rPr lang="en-US" altLang="zh-CN" sz="3200" b="1" i="1">
                        <a:solidFill>
                          <a:schemeClr val="bg1"/>
                        </a:solidFill>
                        <a:latin typeface="Cambria Math" panose="02040503050406030204" pitchFamily="18" charset="0"/>
                      </a:rPr>
                      <m:t>)</m:t>
                    </m:r>
                  </m:oMath>
                </a14:m>
                <a:r>
                  <a:rPr lang="zh-CN" altLang="en-US" sz="3200" b="1" dirty="0">
                    <a:solidFill>
                      <a:schemeClr val="bg1"/>
                    </a:solidFill>
                    <a:latin typeface="+mn-ea"/>
                  </a:rPr>
                  <a:t>平面上也将映射出一条闭合曲线</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smtClean="0">
                            <a:solidFill>
                              <a:schemeClr val="bg1"/>
                            </a:solidFill>
                            <a:latin typeface="Cambria Math" panose="02040503050406030204" pitchFamily="18" charset="0"/>
                          </a:rPr>
                          <m:t>𝑭</m:t>
                        </m:r>
                      </m:sub>
                    </m:sSub>
                  </m:oMath>
                </a14:m>
                <a:r>
                  <a:rPr lang="zh-CN" altLang="en-US" sz="3200" b="1" dirty="0">
                    <a:solidFill>
                      <a:schemeClr val="bg1"/>
                    </a:solidFill>
                    <a:latin typeface="+mn-ea"/>
                  </a:rPr>
                  <a:t>，且包围原点的圈数</a:t>
                </a:r>
                <a14:m>
                  <m:oMath xmlns:m="http://schemas.openxmlformats.org/officeDocument/2006/math">
                    <m:r>
                      <a:rPr lang="en-US" altLang="zh-CN" sz="3200" b="1" i="1" smtClean="0">
                        <a:solidFill>
                          <a:schemeClr val="bg1"/>
                        </a:solidFill>
                        <a:latin typeface="Cambria Math" panose="02040503050406030204" pitchFamily="18" charset="0"/>
                      </a:rPr>
                      <m:t>𝑹</m:t>
                    </m:r>
                    <m:r>
                      <a:rPr lang="en-US" altLang="zh-CN" sz="3200" b="1" i="1" smtClean="0">
                        <a:solidFill>
                          <a:schemeClr val="bg1"/>
                        </a:solidFill>
                        <a:latin typeface="Cambria Math" panose="02040503050406030204" pitchFamily="18" charset="0"/>
                      </a:rPr>
                      <m:t>=</m:t>
                    </m:r>
                    <m:r>
                      <a:rPr lang="en-US" altLang="zh-CN" sz="3200" b="1" i="1" smtClean="0">
                        <a:solidFill>
                          <a:schemeClr val="bg1"/>
                        </a:solidFill>
                        <a:latin typeface="Cambria Math" panose="02040503050406030204" pitchFamily="18" charset="0"/>
                      </a:rPr>
                      <m:t>𝑷</m:t>
                    </m:r>
                    <m:r>
                      <a:rPr lang="en-US" altLang="zh-CN" sz="3200" b="1" i="1" smtClean="0">
                        <a:solidFill>
                          <a:schemeClr val="bg1"/>
                        </a:solidFill>
                        <a:latin typeface="Cambria Math" panose="02040503050406030204" pitchFamily="18" charset="0"/>
                      </a:rPr>
                      <m:t>−</m:t>
                    </m:r>
                    <m:r>
                      <a:rPr lang="en-US" altLang="zh-CN" sz="3200" b="1" i="1" smtClean="0">
                        <a:solidFill>
                          <a:schemeClr val="bg1"/>
                        </a:solidFill>
                        <a:latin typeface="Cambria Math" panose="02040503050406030204" pitchFamily="18" charset="0"/>
                      </a:rPr>
                      <m:t>𝒁</m:t>
                    </m:r>
                  </m:oMath>
                </a14:m>
                <a:r>
                  <a:rPr lang="zh-CN" altLang="en-US" sz="3200" b="1" dirty="0">
                    <a:solidFill>
                      <a:schemeClr val="bg1"/>
                    </a:solidFill>
                    <a:latin typeface="+mn-ea"/>
                  </a:rPr>
                  <a:t>。</a:t>
                </a:r>
              </a:p>
            </p:txBody>
          </p:sp>
        </mc:Choice>
        <mc:Fallback xmlns="">
          <p:sp>
            <p:nvSpPr>
              <p:cNvPr id="32" name="小标题1">
                <a:extLst>
                  <a:ext uri="{FF2B5EF4-FFF2-40B4-BE49-F238E27FC236}">
                    <a16:creationId xmlns:a16="http://schemas.microsoft.com/office/drawing/2014/main" id="{ADC23408-5D06-3F66-22F1-CA321942FF1C}"/>
                  </a:ext>
                </a:extLst>
              </p:cNvPr>
              <p:cNvSpPr>
                <a:spLocks noRot="1" noChangeAspect="1" noMove="1" noResize="1" noEditPoints="1" noAdjustHandles="1" noChangeArrowheads="1" noChangeShapeType="1" noTextEdit="1"/>
              </p:cNvSpPr>
              <p:nvPr/>
            </p:nvSpPr>
            <p:spPr bwMode="auto">
              <a:xfrm>
                <a:off x="334963" y="1005076"/>
                <a:ext cx="11520883" cy="2711956"/>
              </a:xfrm>
              <a:prstGeom prst="roundRect">
                <a:avLst/>
              </a:prstGeom>
              <a:blipFill>
                <a:blip r:embed="rId3"/>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重要1">
                <a:extLst>
                  <a:ext uri="{FF2B5EF4-FFF2-40B4-BE49-F238E27FC236}">
                    <a16:creationId xmlns:a16="http://schemas.microsoft.com/office/drawing/2014/main" id="{E1C30330-12AF-9FAA-27A3-C16C8100C4DA}"/>
                  </a:ext>
                </a:extLst>
              </p:cNvPr>
              <p:cNvSpPr txBox="1"/>
              <p:nvPr/>
            </p:nvSpPr>
            <p:spPr>
              <a:xfrm>
                <a:off x="482058" y="4005064"/>
                <a:ext cx="6405236" cy="576000"/>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14:m>
                  <m:oMath xmlns:m="http://schemas.openxmlformats.org/officeDocument/2006/math">
                    <m:r>
                      <a:rPr kumimoji="1" lang="en-US" altLang="zh-CN" sz="3200" b="1" i="1" smtClean="0">
                        <a:solidFill>
                          <a:schemeClr val="bg1"/>
                        </a:solidFill>
                        <a:latin typeface="Cambria Math" panose="02040503050406030204" pitchFamily="18" charset="0"/>
                      </a:rPr>
                      <m:t>𝑹</m:t>
                    </m:r>
                    <m:r>
                      <a:rPr kumimoji="1" lang="en-US" altLang="zh-CN" sz="3200" b="1" i="1" smtClean="0">
                        <a:solidFill>
                          <a:schemeClr val="bg1"/>
                        </a:solidFill>
                        <a:latin typeface="Cambria Math" panose="02040503050406030204" pitchFamily="18" charset="0"/>
                      </a:rPr>
                      <m:t>&lt;</m:t>
                    </m:r>
                    <m:r>
                      <a:rPr kumimoji="1" lang="en-US" altLang="zh-CN" sz="3200" b="1" i="1" smtClean="0">
                        <a:solidFill>
                          <a:schemeClr val="bg1"/>
                        </a:solidFill>
                        <a:latin typeface="Cambria Math" panose="02040503050406030204" pitchFamily="18" charset="0"/>
                      </a:rPr>
                      <m:t>𝟎</m:t>
                    </m:r>
                  </m:oMath>
                </a14:m>
                <a:r>
                  <a:rPr kumimoji="1" lang="zh-CN" altLang="en-US" sz="3200" b="1" dirty="0">
                    <a:solidFill>
                      <a:schemeClr val="bg1"/>
                    </a:solidFill>
                  </a:rPr>
                  <a:t>，</a:t>
                </a:r>
                <a:r>
                  <a:rPr kumimoji="1" lang="zh-CN" altLang="en-US" sz="3200" b="1" dirty="0">
                    <a:solidFill>
                      <a:srgbClr val="00B0F0"/>
                    </a:solidFill>
                  </a:rPr>
                  <a:t>顺</a:t>
                </a:r>
                <a:r>
                  <a:rPr kumimoji="1" lang="zh-CN" altLang="en-US" sz="3200" b="1" dirty="0">
                    <a:solidFill>
                      <a:schemeClr val="bg1"/>
                    </a:solidFill>
                  </a:rPr>
                  <a:t>时针包围</a:t>
                </a:r>
                <a14:m>
                  <m:oMath xmlns:m="http://schemas.openxmlformats.org/officeDocument/2006/math">
                    <m:r>
                      <a:rPr lang="en-US" altLang="zh-CN" sz="3200" b="1" i="1">
                        <a:solidFill>
                          <a:schemeClr val="bg1"/>
                        </a:solidFill>
                        <a:latin typeface="Cambria Math" panose="02040503050406030204" pitchFamily="18" charset="0"/>
                      </a:rPr>
                      <m:t>𝑭</m:t>
                    </m:r>
                    <m:r>
                      <a:rPr lang="en-US" altLang="zh-CN" sz="3200" b="1" i="1">
                        <a:solidFill>
                          <a:schemeClr val="bg1"/>
                        </a:solidFill>
                        <a:latin typeface="Cambria Math" panose="02040503050406030204" pitchFamily="18" charset="0"/>
                      </a:rPr>
                      <m:t>(</m:t>
                    </m:r>
                    <m:r>
                      <a:rPr lang="en-US" altLang="zh-CN" sz="3200" b="1" i="1">
                        <a:solidFill>
                          <a:schemeClr val="bg1"/>
                        </a:solidFill>
                        <a:latin typeface="Cambria Math" panose="02040503050406030204" pitchFamily="18" charset="0"/>
                      </a:rPr>
                      <m:t>𝒔</m:t>
                    </m:r>
                    <m:r>
                      <a:rPr lang="en-US" altLang="zh-CN" sz="3200" b="1" i="1">
                        <a:solidFill>
                          <a:schemeClr val="bg1"/>
                        </a:solidFill>
                        <a:latin typeface="Cambria Math" panose="02040503050406030204" pitchFamily="18" charset="0"/>
                      </a:rPr>
                      <m:t>)</m:t>
                    </m:r>
                  </m:oMath>
                </a14:m>
                <a:r>
                  <a:rPr kumimoji="1" lang="zh-CN" altLang="en-US" sz="3200" b="1" dirty="0">
                    <a:solidFill>
                      <a:schemeClr val="bg1"/>
                    </a:solidFill>
                  </a:rPr>
                  <a:t>平面原点</a:t>
                </a:r>
              </a:p>
            </p:txBody>
          </p:sp>
        </mc:Choice>
        <mc:Fallback xmlns="">
          <p:sp>
            <p:nvSpPr>
              <p:cNvPr id="2" name="重要1">
                <a:extLst>
                  <a:ext uri="{FF2B5EF4-FFF2-40B4-BE49-F238E27FC236}">
                    <a16:creationId xmlns:a16="http://schemas.microsoft.com/office/drawing/2014/main" id="{E1C30330-12AF-9FAA-27A3-C16C8100C4DA}"/>
                  </a:ext>
                </a:extLst>
              </p:cNvPr>
              <p:cNvSpPr txBox="1">
                <a:spLocks noRot="1" noChangeAspect="1" noMove="1" noResize="1" noEditPoints="1" noAdjustHandles="1" noChangeArrowheads="1" noChangeShapeType="1" noTextEdit="1"/>
              </p:cNvSpPr>
              <p:nvPr/>
            </p:nvSpPr>
            <p:spPr>
              <a:xfrm>
                <a:off x="482058" y="4005064"/>
                <a:ext cx="6405236" cy="576000"/>
              </a:xfrm>
              <a:prstGeom prst="roundRect">
                <a:avLst>
                  <a:gd name="adj" fmla="val 22661"/>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重要1">
                <a:extLst>
                  <a:ext uri="{FF2B5EF4-FFF2-40B4-BE49-F238E27FC236}">
                    <a16:creationId xmlns:a16="http://schemas.microsoft.com/office/drawing/2014/main" id="{4EBAAFE3-6482-7BFF-798E-3D4D1083C50B}"/>
                  </a:ext>
                </a:extLst>
              </p:cNvPr>
              <p:cNvSpPr txBox="1"/>
              <p:nvPr/>
            </p:nvSpPr>
            <p:spPr>
              <a:xfrm>
                <a:off x="503077" y="4842991"/>
                <a:ext cx="6405236" cy="576000"/>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14:m>
                  <m:oMath xmlns:m="http://schemas.openxmlformats.org/officeDocument/2006/math">
                    <m:r>
                      <a:rPr kumimoji="1" lang="en-US" altLang="zh-CN" sz="3200" b="1" i="1" smtClean="0">
                        <a:solidFill>
                          <a:schemeClr val="bg1"/>
                        </a:solidFill>
                        <a:latin typeface="Cambria Math" panose="02040503050406030204" pitchFamily="18" charset="0"/>
                      </a:rPr>
                      <m:t>𝑹</m:t>
                    </m:r>
                    <m:r>
                      <a:rPr kumimoji="1" lang="en-US" altLang="zh-CN" sz="3200" b="1" i="1" smtClean="0">
                        <a:solidFill>
                          <a:schemeClr val="bg1"/>
                        </a:solidFill>
                        <a:latin typeface="Cambria Math" panose="02040503050406030204" pitchFamily="18" charset="0"/>
                      </a:rPr>
                      <m:t>&gt;</m:t>
                    </m:r>
                    <m:r>
                      <a:rPr kumimoji="1" lang="en-US" altLang="zh-CN" sz="3200" b="1" i="1" smtClean="0">
                        <a:solidFill>
                          <a:schemeClr val="bg1"/>
                        </a:solidFill>
                        <a:latin typeface="Cambria Math" panose="02040503050406030204" pitchFamily="18" charset="0"/>
                      </a:rPr>
                      <m:t>𝟎</m:t>
                    </m:r>
                  </m:oMath>
                </a14:m>
                <a:r>
                  <a:rPr kumimoji="1" lang="zh-CN" altLang="en-US" sz="3200" b="1" dirty="0">
                    <a:solidFill>
                      <a:schemeClr val="bg1"/>
                    </a:solidFill>
                  </a:rPr>
                  <a:t>，</a:t>
                </a:r>
                <a:r>
                  <a:rPr kumimoji="1" lang="zh-CN" altLang="en-US" sz="3200" b="1" dirty="0">
                    <a:solidFill>
                      <a:srgbClr val="00B0F0"/>
                    </a:solidFill>
                  </a:rPr>
                  <a:t>逆</a:t>
                </a:r>
                <a:r>
                  <a:rPr kumimoji="1" lang="zh-CN" altLang="en-US" sz="3200" b="1" dirty="0">
                    <a:solidFill>
                      <a:schemeClr val="bg1"/>
                    </a:solidFill>
                  </a:rPr>
                  <a:t>时针包围</a:t>
                </a:r>
                <a14:m>
                  <m:oMath xmlns:m="http://schemas.openxmlformats.org/officeDocument/2006/math">
                    <m:r>
                      <a:rPr lang="en-US" altLang="zh-CN" sz="3200" b="1" i="1">
                        <a:solidFill>
                          <a:schemeClr val="bg1"/>
                        </a:solidFill>
                        <a:latin typeface="Cambria Math" panose="02040503050406030204" pitchFamily="18" charset="0"/>
                      </a:rPr>
                      <m:t>𝑭</m:t>
                    </m:r>
                    <m:r>
                      <a:rPr lang="en-US" altLang="zh-CN" sz="3200" b="1" i="1">
                        <a:solidFill>
                          <a:schemeClr val="bg1"/>
                        </a:solidFill>
                        <a:latin typeface="Cambria Math" panose="02040503050406030204" pitchFamily="18" charset="0"/>
                      </a:rPr>
                      <m:t>(</m:t>
                    </m:r>
                    <m:r>
                      <a:rPr lang="en-US" altLang="zh-CN" sz="3200" b="1" i="1">
                        <a:solidFill>
                          <a:schemeClr val="bg1"/>
                        </a:solidFill>
                        <a:latin typeface="Cambria Math" panose="02040503050406030204" pitchFamily="18" charset="0"/>
                      </a:rPr>
                      <m:t>𝒔</m:t>
                    </m:r>
                    <m:r>
                      <a:rPr lang="en-US" altLang="zh-CN" sz="3200" b="1" i="1">
                        <a:solidFill>
                          <a:schemeClr val="bg1"/>
                        </a:solidFill>
                        <a:latin typeface="Cambria Math" panose="02040503050406030204" pitchFamily="18" charset="0"/>
                      </a:rPr>
                      <m:t>)</m:t>
                    </m:r>
                  </m:oMath>
                </a14:m>
                <a:r>
                  <a:rPr kumimoji="1" lang="zh-CN" altLang="en-US" sz="3200" b="1" dirty="0">
                    <a:solidFill>
                      <a:schemeClr val="bg1"/>
                    </a:solidFill>
                  </a:rPr>
                  <a:t>平面原点</a:t>
                </a:r>
              </a:p>
            </p:txBody>
          </p:sp>
        </mc:Choice>
        <mc:Fallback xmlns="">
          <p:sp>
            <p:nvSpPr>
              <p:cNvPr id="4" name="重要1">
                <a:extLst>
                  <a:ext uri="{FF2B5EF4-FFF2-40B4-BE49-F238E27FC236}">
                    <a16:creationId xmlns:a16="http://schemas.microsoft.com/office/drawing/2014/main" id="{4EBAAFE3-6482-7BFF-798E-3D4D1083C50B}"/>
                  </a:ext>
                </a:extLst>
              </p:cNvPr>
              <p:cNvSpPr txBox="1">
                <a:spLocks noRot="1" noChangeAspect="1" noMove="1" noResize="1" noEditPoints="1" noAdjustHandles="1" noChangeArrowheads="1" noChangeShapeType="1" noTextEdit="1"/>
              </p:cNvSpPr>
              <p:nvPr/>
            </p:nvSpPr>
            <p:spPr>
              <a:xfrm>
                <a:off x="503077" y="4842991"/>
                <a:ext cx="6405236" cy="576000"/>
              </a:xfrm>
              <a:prstGeom prst="roundRect">
                <a:avLst>
                  <a:gd name="adj" fmla="val 22661"/>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重要1">
                <a:extLst>
                  <a:ext uri="{FF2B5EF4-FFF2-40B4-BE49-F238E27FC236}">
                    <a16:creationId xmlns:a16="http://schemas.microsoft.com/office/drawing/2014/main" id="{68CF2791-7E76-AE51-C17F-C95A0A54BE87}"/>
                  </a:ext>
                </a:extLst>
              </p:cNvPr>
              <p:cNvSpPr txBox="1"/>
              <p:nvPr/>
            </p:nvSpPr>
            <p:spPr>
              <a:xfrm>
                <a:off x="503077" y="5669939"/>
                <a:ext cx="6405236" cy="576000"/>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14:m>
                  <m:oMath xmlns:m="http://schemas.openxmlformats.org/officeDocument/2006/math">
                    <m:r>
                      <a:rPr kumimoji="1" lang="en-US" altLang="zh-CN" sz="3200" b="1" i="1" smtClean="0">
                        <a:solidFill>
                          <a:schemeClr val="bg1"/>
                        </a:solidFill>
                        <a:latin typeface="Cambria Math" panose="02040503050406030204" pitchFamily="18" charset="0"/>
                      </a:rPr>
                      <m:t>𝑹</m:t>
                    </m:r>
                    <m:r>
                      <a:rPr kumimoji="1" lang="en-US" altLang="zh-CN" sz="3200" b="1" i="1" smtClean="0">
                        <a:solidFill>
                          <a:schemeClr val="bg1"/>
                        </a:solidFill>
                        <a:latin typeface="Cambria Math" panose="02040503050406030204" pitchFamily="18" charset="0"/>
                      </a:rPr>
                      <m:t>=</m:t>
                    </m:r>
                    <m:r>
                      <a:rPr kumimoji="1" lang="en-US" altLang="zh-CN" sz="3200" b="1" i="1" smtClean="0">
                        <a:solidFill>
                          <a:schemeClr val="bg1"/>
                        </a:solidFill>
                        <a:latin typeface="Cambria Math" panose="02040503050406030204" pitchFamily="18" charset="0"/>
                      </a:rPr>
                      <m:t>𝟎</m:t>
                    </m:r>
                  </m:oMath>
                </a14:m>
                <a:r>
                  <a:rPr kumimoji="1" lang="zh-CN" altLang="en-US" sz="3200" b="1" dirty="0">
                    <a:solidFill>
                      <a:schemeClr val="bg1"/>
                    </a:solidFill>
                    <a:latin typeface="+mn-ea"/>
                  </a:rPr>
                  <a:t>，</a:t>
                </a:r>
                <a:r>
                  <a:rPr kumimoji="1" lang="zh-CN" altLang="en-US" sz="3200" b="1" dirty="0">
                    <a:solidFill>
                      <a:srgbClr val="00B0F0"/>
                    </a:solidFill>
                    <a:latin typeface="+mn-ea"/>
                  </a:rPr>
                  <a:t>不</a:t>
                </a:r>
                <a:r>
                  <a:rPr kumimoji="1" lang="zh-CN" altLang="en-US" sz="3200" b="1" dirty="0">
                    <a:solidFill>
                      <a:schemeClr val="bg1"/>
                    </a:solidFill>
                    <a:latin typeface="+mn-ea"/>
                  </a:rPr>
                  <a:t>包围</a:t>
                </a:r>
                <a14:m>
                  <m:oMath xmlns:m="http://schemas.openxmlformats.org/officeDocument/2006/math">
                    <m:r>
                      <a:rPr lang="en-US" altLang="zh-CN" sz="3200" b="1" i="1">
                        <a:solidFill>
                          <a:schemeClr val="bg1"/>
                        </a:solidFill>
                        <a:latin typeface="Cambria Math" panose="02040503050406030204" pitchFamily="18" charset="0"/>
                      </a:rPr>
                      <m:t>𝑭</m:t>
                    </m:r>
                    <m:r>
                      <a:rPr lang="en-US" altLang="zh-CN" sz="3200" b="1" i="1">
                        <a:solidFill>
                          <a:schemeClr val="bg1"/>
                        </a:solidFill>
                        <a:latin typeface="Cambria Math" panose="02040503050406030204" pitchFamily="18" charset="0"/>
                      </a:rPr>
                      <m:t>(</m:t>
                    </m:r>
                    <m:r>
                      <a:rPr lang="en-US" altLang="zh-CN" sz="3200" b="1" i="1">
                        <a:solidFill>
                          <a:schemeClr val="bg1"/>
                        </a:solidFill>
                        <a:latin typeface="Cambria Math" panose="02040503050406030204" pitchFamily="18" charset="0"/>
                      </a:rPr>
                      <m:t>𝒔</m:t>
                    </m:r>
                    <m:r>
                      <a:rPr lang="en-US" altLang="zh-CN" sz="3200" b="1" i="1">
                        <a:solidFill>
                          <a:schemeClr val="bg1"/>
                        </a:solidFill>
                        <a:latin typeface="Cambria Math" panose="02040503050406030204" pitchFamily="18" charset="0"/>
                      </a:rPr>
                      <m:t>)</m:t>
                    </m:r>
                  </m:oMath>
                </a14:m>
                <a:r>
                  <a:rPr kumimoji="1" lang="zh-CN" altLang="en-US" sz="3200" b="1" dirty="0">
                    <a:solidFill>
                      <a:schemeClr val="bg1"/>
                    </a:solidFill>
                    <a:latin typeface="+mn-ea"/>
                  </a:rPr>
                  <a:t>平面原点</a:t>
                </a:r>
              </a:p>
            </p:txBody>
          </p:sp>
        </mc:Choice>
        <mc:Fallback xmlns="">
          <p:sp>
            <p:nvSpPr>
              <p:cNvPr id="6" name="重要1">
                <a:extLst>
                  <a:ext uri="{FF2B5EF4-FFF2-40B4-BE49-F238E27FC236}">
                    <a16:creationId xmlns:a16="http://schemas.microsoft.com/office/drawing/2014/main" id="{68CF2791-7E76-AE51-C17F-C95A0A54BE87}"/>
                  </a:ext>
                </a:extLst>
              </p:cNvPr>
              <p:cNvSpPr txBox="1">
                <a:spLocks noRot="1" noChangeAspect="1" noMove="1" noResize="1" noEditPoints="1" noAdjustHandles="1" noChangeArrowheads="1" noChangeShapeType="1" noTextEdit="1"/>
              </p:cNvSpPr>
              <p:nvPr/>
            </p:nvSpPr>
            <p:spPr>
              <a:xfrm>
                <a:off x="503077" y="5669939"/>
                <a:ext cx="6405236" cy="576000"/>
              </a:xfrm>
              <a:prstGeom prst="roundRect">
                <a:avLst>
                  <a:gd name="adj" fmla="val 22661"/>
                </a:avLst>
              </a:prstGeom>
              <a:blipFill>
                <a:blip r:embed="rId6"/>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pic>
        <p:nvPicPr>
          <p:cNvPr id="5" name="图片 4" descr="QR 代码&#10;&#10;AI 生成的内容可能不正确。">
            <a:extLst>
              <a:ext uri="{FF2B5EF4-FFF2-40B4-BE49-F238E27FC236}">
                <a16:creationId xmlns:a16="http://schemas.microsoft.com/office/drawing/2014/main" id="{DE876C00-528F-A1D3-8B4A-4DF79BBFCA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91550" y="3853492"/>
            <a:ext cx="2857500" cy="2857500"/>
          </a:xfrm>
          <a:prstGeom prst="rect">
            <a:avLst/>
          </a:prstGeom>
        </p:spPr>
      </p:pic>
      <p:sp>
        <p:nvSpPr>
          <p:cNvPr id="7" name="说明2">
            <a:extLst>
              <a:ext uri="{FF2B5EF4-FFF2-40B4-BE49-F238E27FC236}">
                <a16:creationId xmlns:a16="http://schemas.microsoft.com/office/drawing/2014/main" id="{70D1FEB5-AB56-FC36-D088-A0D8EF8A3095}"/>
              </a:ext>
            </a:extLst>
          </p:cNvPr>
          <p:cNvSpPr txBox="1"/>
          <p:nvPr/>
        </p:nvSpPr>
        <p:spPr>
          <a:xfrm>
            <a:off x="7373593" y="4902331"/>
            <a:ext cx="1872208"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zh-CN" altLang="en-US" sz="2800" dirty="0">
                <a:solidFill>
                  <a:schemeClr val="accent1"/>
                </a:solidFill>
              </a:rPr>
              <a:t>幅角原理演示</a:t>
            </a:r>
          </a:p>
        </p:txBody>
      </p:sp>
    </p:spTree>
    <p:extLst>
      <p:ext uri="{BB962C8B-B14F-4D97-AF65-F5344CB8AC3E}">
        <p14:creationId xmlns:p14="http://schemas.microsoft.com/office/powerpoint/2010/main" val="2799973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ppt_y</p:attrName>
                                        </p:attrNameLst>
                                      </p:cBhvr>
                                      <p:tavLst>
                                        <p:tav tm="0">
                                          <p:val>
                                            <p:strVal val="#ppt_y+#ppt_h*1.125000"/>
                                          </p:val>
                                        </p:tav>
                                        <p:tav tm="100000">
                                          <p:val>
                                            <p:strVal val="#ppt_y"/>
                                          </p:val>
                                        </p:tav>
                                      </p:tavLst>
                                    </p:anim>
                                    <p:animEffect transition="in" filter="wipe(up)">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wipe(down)">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down)">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32" grpId="0" animBg="1"/>
      <p:bldP spid="2" grpId="0" animBg="1"/>
      <p:bldP spid="4"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选择曲线</a:t>
                </a:r>
                <a14:m>
                  <m:oMath xmlns:m="http://schemas.openxmlformats.org/officeDocument/2006/math">
                    <m:sSub>
                      <m:sSubPr>
                        <m:ctrlPr>
                          <a:rPr lang="en-US" altLang="zh-CN" sz="2800" b="1" i="1" smtClean="0">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𝚪</m:t>
                        </m:r>
                      </m:e>
                      <m:sub>
                        <m:r>
                          <a:rPr lang="en-US" altLang="zh-CN" sz="2800" b="1" i="1">
                            <a:solidFill>
                              <a:schemeClr val="bg1"/>
                            </a:solidFill>
                            <a:latin typeface="Cambria Math" panose="02040503050406030204" pitchFamily="18" charset="0"/>
                          </a:rPr>
                          <m:t>𝒔</m:t>
                        </m:r>
                      </m:sub>
                    </m:sSub>
                  </m:oMath>
                </a14:m>
                <a:r>
                  <a:rPr lang="zh-CN" altLang="en-US" sz="2800" b="1" dirty="0">
                    <a:solidFill>
                      <a:schemeClr val="bg1"/>
                    </a:solidFill>
                    <a:latin typeface="微软雅黑" panose="020B0503020204020204" pitchFamily="34" charset="-122"/>
                    <a:ea typeface="微软雅黑" panose="020B0503020204020204" pitchFamily="34" charset="-122"/>
                  </a:rPr>
                  <a:t>围绕</a:t>
                </a:r>
                <a14:m>
                  <m:oMath xmlns:m="http://schemas.openxmlformats.org/officeDocument/2006/math">
                    <m:r>
                      <a:rPr lang="en-US" altLang="zh-CN" sz="2800" b="1" i="1">
                        <a:solidFill>
                          <a:schemeClr val="bg1"/>
                        </a:solidFill>
                        <a:latin typeface="Cambria Math" panose="02040503050406030204" pitchFamily="18" charset="0"/>
                      </a:rPr>
                      <m:t>𝑭</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𝒔</m:t>
                    </m:r>
                    <m:r>
                      <a:rPr lang="en-US" altLang="zh-CN" sz="2800" b="1" i="1">
                        <a:solidFill>
                          <a:schemeClr val="bg1"/>
                        </a:solidFill>
                        <a:latin typeface="Cambria Math" panose="02040503050406030204" pitchFamily="18" charset="0"/>
                      </a:rPr>
                      <m:t>)</m:t>
                    </m:r>
                  </m:oMath>
                </a14:m>
                <a:r>
                  <a:rPr lang="zh-CN" altLang="en-US" sz="2800" b="1" dirty="0">
                    <a:solidFill>
                      <a:schemeClr val="bg1"/>
                    </a:solidFill>
                    <a:latin typeface="微软雅黑" panose="020B0503020204020204" pitchFamily="34" charset="-122"/>
                    <a:ea typeface="微软雅黑" panose="020B0503020204020204" pitchFamily="34" charset="-122"/>
                  </a:rPr>
                  <a:t>的一个</a:t>
                </a:r>
                <a:r>
                  <a:rPr lang="zh-CN" altLang="en-US" sz="2800" b="1" dirty="0">
                    <a:solidFill>
                      <a:srgbClr val="FF0000"/>
                    </a:solidFill>
                    <a:latin typeface="微软雅黑" panose="020B0503020204020204" pitchFamily="34" charset="-122"/>
                    <a:ea typeface="微软雅黑" panose="020B0503020204020204" pitchFamily="34" charset="-122"/>
                  </a:rPr>
                  <a:t>零点</a:t>
                </a:r>
              </a:p>
            </p:txBody>
          </p:sp>
        </mc:Choice>
        <mc:Fallback xmlns="">
          <p:sp>
            <p:nvSpPr>
              <p:cNvPr id="45" name="标题">
                <a:extLst>
                  <a:ext uri="{FF2B5EF4-FFF2-40B4-BE49-F238E27FC236}">
                    <a16:creationId xmlns:a16="http://schemas.microsoft.com/office/drawing/2014/main" id="{83FE2B42-5ECC-BC4E-A248-5C517753D47C}"/>
                  </a:ext>
                </a:extLst>
              </p:cNvPr>
              <p:cNvSpPr txBox="1">
                <a:spLocks noRot="1" noChangeAspect="1" noMove="1" noResize="1" noEditPoints="1" noAdjustHandles="1" noChangeArrowheads="1" noChangeShapeType="1" noTextEdit="1"/>
              </p:cNvSpPr>
              <p:nvPr/>
            </p:nvSpPr>
            <p:spPr>
              <a:xfrm>
                <a:off x="268976" y="345396"/>
                <a:ext cx="5321917" cy="523220"/>
              </a:xfrm>
              <a:prstGeom prst="rect">
                <a:avLst/>
              </a:prstGeom>
              <a:blipFill>
                <a:blip r:embed="rId3"/>
                <a:stretch>
                  <a:fillRect l="-2381" t="-11905" b="-33333"/>
                </a:stretch>
              </a:blipFill>
            </p:spPr>
            <p:txBody>
              <a:bodyPr/>
              <a:lstStyle/>
              <a:p>
                <a:r>
                  <a:rPr lang="zh-CN" altLang="en-US">
                    <a:noFill/>
                  </a:rPr>
                  <a:t> </a:t>
                </a:r>
              </a:p>
            </p:txBody>
          </p:sp>
        </mc:Fallback>
      </mc:AlternateContent>
      <p:sp>
        <p:nvSpPr>
          <p:cNvPr id="35" name="幅相">
            <a:extLst>
              <a:ext uri="{FF2B5EF4-FFF2-40B4-BE49-F238E27FC236}">
                <a16:creationId xmlns:a16="http://schemas.microsoft.com/office/drawing/2014/main" id="{6D9CB9E4-827A-67BE-4B81-4879FE516102}"/>
              </a:ext>
            </a:extLst>
          </p:cNvPr>
          <p:cNvSpPr/>
          <p:nvPr/>
        </p:nvSpPr>
        <p:spPr>
          <a:xfrm flipV="1">
            <a:off x="3265213" y="2005147"/>
            <a:ext cx="1374975" cy="143474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85187"/>
              <a:gd name="connsiteY0" fmla="*/ 0 h 2145227"/>
              <a:gd name="connsiteX1" fmla="*/ 685187 w 685187"/>
              <a:gd name="connsiteY1" fmla="*/ 1761144 h 2145227"/>
              <a:gd name="connsiteX0" fmla="*/ 0 w 685187"/>
              <a:gd name="connsiteY0" fmla="*/ 0 h 1761144"/>
              <a:gd name="connsiteX1" fmla="*/ 685187 w 685187"/>
              <a:gd name="connsiteY1" fmla="*/ 1761144 h 1761144"/>
              <a:gd name="connsiteX0" fmla="*/ 197033 w 203028"/>
              <a:gd name="connsiteY0" fmla="*/ 0 h 1743192"/>
              <a:gd name="connsiteX1" fmla="*/ 186819 w 203028"/>
              <a:gd name="connsiteY1" fmla="*/ 1743192 h 1743192"/>
              <a:gd name="connsiteX0" fmla="*/ 368073 w 368073"/>
              <a:gd name="connsiteY0" fmla="*/ 0 h 1743192"/>
              <a:gd name="connsiteX1" fmla="*/ 357859 w 368073"/>
              <a:gd name="connsiteY1" fmla="*/ 1743192 h 1743192"/>
              <a:gd name="connsiteX0" fmla="*/ 433742 w 433742"/>
              <a:gd name="connsiteY0" fmla="*/ 0 h 1743218"/>
              <a:gd name="connsiteX1" fmla="*/ 423528 w 433742"/>
              <a:gd name="connsiteY1" fmla="*/ 1743192 h 1743218"/>
              <a:gd name="connsiteX0" fmla="*/ 500497 w 500497"/>
              <a:gd name="connsiteY0" fmla="*/ 0 h 1743218"/>
              <a:gd name="connsiteX1" fmla="*/ 490283 w 500497"/>
              <a:gd name="connsiteY1" fmla="*/ 1743192 h 1743218"/>
              <a:gd name="connsiteX0" fmla="*/ 488340 w 488340"/>
              <a:gd name="connsiteY0" fmla="*/ 0 h 1743218"/>
              <a:gd name="connsiteX1" fmla="*/ 478126 w 488340"/>
              <a:gd name="connsiteY1" fmla="*/ 1743192 h 1743218"/>
              <a:gd name="connsiteX0" fmla="*/ 500497 w 500497"/>
              <a:gd name="connsiteY0" fmla="*/ 0 h 1743218"/>
              <a:gd name="connsiteX1" fmla="*/ 490283 w 500497"/>
              <a:gd name="connsiteY1" fmla="*/ 1743192 h 1743218"/>
              <a:gd name="connsiteX0" fmla="*/ 498000 w 517255"/>
              <a:gd name="connsiteY0" fmla="*/ 0 h 1743218"/>
              <a:gd name="connsiteX1" fmla="*/ 517255 w 517255"/>
              <a:gd name="connsiteY1" fmla="*/ 58345 h 1743218"/>
              <a:gd name="connsiteX2" fmla="*/ 487786 w 517255"/>
              <a:gd name="connsiteY2" fmla="*/ 1743192 h 1743218"/>
              <a:gd name="connsiteX0" fmla="*/ 378382 w 675797"/>
              <a:gd name="connsiteY0" fmla="*/ 32747 h 1775962"/>
              <a:gd name="connsiteX1" fmla="*/ 675798 w 675797"/>
              <a:gd name="connsiteY1" fmla="*/ 1330 h 1775962"/>
              <a:gd name="connsiteX2" fmla="*/ 368168 w 675797"/>
              <a:gd name="connsiteY2" fmla="*/ 1775939 h 1775962"/>
              <a:gd name="connsiteX0" fmla="*/ 378382 w 675798"/>
              <a:gd name="connsiteY0" fmla="*/ 32747 h 1775963"/>
              <a:gd name="connsiteX1" fmla="*/ 675798 w 675798"/>
              <a:gd name="connsiteY1" fmla="*/ 1330 h 1775963"/>
              <a:gd name="connsiteX2" fmla="*/ 368168 w 675798"/>
              <a:gd name="connsiteY2" fmla="*/ 1775939 h 1775963"/>
              <a:gd name="connsiteX0" fmla="*/ 466631 w 550077"/>
              <a:gd name="connsiteY0" fmla="*/ 137 h 1743359"/>
              <a:gd name="connsiteX1" fmla="*/ 550077 w 550077"/>
              <a:gd name="connsiteY1" fmla="*/ 309817 h 1743359"/>
              <a:gd name="connsiteX2" fmla="*/ 456417 w 550077"/>
              <a:gd name="connsiteY2" fmla="*/ 1743329 h 1743359"/>
              <a:gd name="connsiteX0" fmla="*/ 1065748 w 1073535"/>
              <a:gd name="connsiteY0" fmla="*/ 245 h 1474179"/>
              <a:gd name="connsiteX1" fmla="*/ 550077 w 1073535"/>
              <a:gd name="connsiteY1" fmla="*/ 40637 h 1474179"/>
              <a:gd name="connsiteX2" fmla="*/ 456417 w 1073535"/>
              <a:gd name="connsiteY2" fmla="*/ 1474149 h 1474179"/>
              <a:gd name="connsiteX0" fmla="*/ 1086404 w 1093852"/>
              <a:gd name="connsiteY0" fmla="*/ 248219 h 1722148"/>
              <a:gd name="connsiteX1" fmla="*/ 527939 w 1093852"/>
              <a:gd name="connsiteY1" fmla="*/ 1370 h 1722148"/>
              <a:gd name="connsiteX2" fmla="*/ 477073 w 1093852"/>
              <a:gd name="connsiteY2" fmla="*/ 1722123 h 1722148"/>
              <a:gd name="connsiteX0" fmla="*/ 1086404 w 1111208"/>
              <a:gd name="connsiteY0" fmla="*/ 248219 h 1722148"/>
              <a:gd name="connsiteX1" fmla="*/ 527939 w 1111208"/>
              <a:gd name="connsiteY1" fmla="*/ 1370 h 1722148"/>
              <a:gd name="connsiteX2" fmla="*/ 477073 w 1111208"/>
              <a:gd name="connsiteY2" fmla="*/ 1722123 h 1722148"/>
              <a:gd name="connsiteX0" fmla="*/ 497986 w 746033"/>
              <a:gd name="connsiteY0" fmla="*/ 1702373 h 1722148"/>
              <a:gd name="connsiteX1" fmla="*/ 527939 w 746033"/>
              <a:gd name="connsiteY1" fmla="*/ 1370 h 1722148"/>
              <a:gd name="connsiteX2" fmla="*/ 477073 w 746033"/>
              <a:gd name="connsiteY2" fmla="*/ 1722123 h 1722148"/>
              <a:gd name="connsiteX0" fmla="*/ 497986 w 910779"/>
              <a:gd name="connsiteY0" fmla="*/ 1702373 h 1722148"/>
              <a:gd name="connsiteX1" fmla="*/ 527939 w 910779"/>
              <a:gd name="connsiteY1" fmla="*/ 1370 h 1722148"/>
              <a:gd name="connsiteX2" fmla="*/ 477073 w 910779"/>
              <a:gd name="connsiteY2" fmla="*/ 1722123 h 1722148"/>
              <a:gd name="connsiteX0" fmla="*/ 497986 w 1004274"/>
              <a:gd name="connsiteY0" fmla="*/ 1702373 h 1722148"/>
              <a:gd name="connsiteX1" fmla="*/ 527939 w 1004274"/>
              <a:gd name="connsiteY1" fmla="*/ 1370 h 1722148"/>
              <a:gd name="connsiteX2" fmla="*/ 477073 w 1004274"/>
              <a:gd name="connsiteY2" fmla="*/ 1722123 h 1722148"/>
              <a:gd name="connsiteX0" fmla="*/ 497986 w 962529"/>
              <a:gd name="connsiteY0" fmla="*/ 1702373 h 1722148"/>
              <a:gd name="connsiteX1" fmla="*/ 527939 w 962529"/>
              <a:gd name="connsiteY1" fmla="*/ 1370 h 1722148"/>
              <a:gd name="connsiteX2" fmla="*/ 477073 w 962529"/>
              <a:gd name="connsiteY2" fmla="*/ 1722123 h 1722148"/>
              <a:gd name="connsiteX0" fmla="*/ 497986 w 979057"/>
              <a:gd name="connsiteY0" fmla="*/ 1702373 h 1722148"/>
              <a:gd name="connsiteX1" fmla="*/ 527939 w 979057"/>
              <a:gd name="connsiteY1" fmla="*/ 1370 h 1722148"/>
              <a:gd name="connsiteX2" fmla="*/ 477073 w 979057"/>
              <a:gd name="connsiteY2" fmla="*/ 1722123 h 1722148"/>
              <a:gd name="connsiteX0" fmla="*/ 494012 w 975083"/>
              <a:gd name="connsiteY0" fmla="*/ 1701207 h 1720983"/>
              <a:gd name="connsiteX1" fmla="*/ 523965 w 975083"/>
              <a:gd name="connsiteY1" fmla="*/ 204 h 1720983"/>
              <a:gd name="connsiteX2" fmla="*/ 473099 w 975083"/>
              <a:gd name="connsiteY2" fmla="*/ 1720957 h 1720983"/>
              <a:gd name="connsiteX0" fmla="*/ 499482 w 980553"/>
              <a:gd name="connsiteY0" fmla="*/ 1701206 h 1720982"/>
              <a:gd name="connsiteX1" fmla="*/ 529435 w 980553"/>
              <a:gd name="connsiteY1" fmla="*/ 203 h 1720982"/>
              <a:gd name="connsiteX2" fmla="*/ 467870 w 980553"/>
              <a:gd name="connsiteY2" fmla="*/ 1720956 h 1720982"/>
              <a:gd name="connsiteX0" fmla="*/ 576445 w 1057516"/>
              <a:gd name="connsiteY0" fmla="*/ 1701207 h 1703030"/>
              <a:gd name="connsiteX1" fmla="*/ 606398 w 1057516"/>
              <a:gd name="connsiteY1" fmla="*/ 204 h 1703030"/>
              <a:gd name="connsiteX2" fmla="*/ 405752 w 1057516"/>
              <a:gd name="connsiteY2" fmla="*/ 1703004 h 1703030"/>
              <a:gd name="connsiteX0" fmla="*/ 597842 w 1067726"/>
              <a:gd name="connsiteY0" fmla="*/ 1683255 h 1703030"/>
              <a:gd name="connsiteX1" fmla="*/ 606398 w 1067726"/>
              <a:gd name="connsiteY1" fmla="*/ 204 h 1703030"/>
              <a:gd name="connsiteX2" fmla="*/ 405752 w 1067726"/>
              <a:gd name="connsiteY2" fmla="*/ 1703004 h 1703030"/>
              <a:gd name="connsiteX0" fmla="*/ 587144 w 1062587"/>
              <a:gd name="connsiteY0" fmla="*/ 1683255 h 1703030"/>
              <a:gd name="connsiteX1" fmla="*/ 606398 w 1062587"/>
              <a:gd name="connsiteY1" fmla="*/ 204 h 1703030"/>
              <a:gd name="connsiteX2" fmla="*/ 405752 w 1062587"/>
              <a:gd name="connsiteY2" fmla="*/ 1703004 h 1703030"/>
              <a:gd name="connsiteX0" fmla="*/ 587144 w 1094258"/>
              <a:gd name="connsiteY0" fmla="*/ 1683255 h 1703030"/>
              <a:gd name="connsiteX1" fmla="*/ 606398 w 1094258"/>
              <a:gd name="connsiteY1" fmla="*/ 204 h 1703030"/>
              <a:gd name="connsiteX2" fmla="*/ 405752 w 1094258"/>
              <a:gd name="connsiteY2" fmla="*/ 1703004 h 1703030"/>
              <a:gd name="connsiteX0" fmla="*/ 587144 w 1114584"/>
              <a:gd name="connsiteY0" fmla="*/ 1683255 h 1703030"/>
              <a:gd name="connsiteX1" fmla="*/ 606398 w 1114584"/>
              <a:gd name="connsiteY1" fmla="*/ 204 h 1703030"/>
              <a:gd name="connsiteX2" fmla="*/ 405752 w 1114584"/>
              <a:gd name="connsiteY2" fmla="*/ 1703004 h 1703030"/>
              <a:gd name="connsiteX0" fmla="*/ 587144 w 1114584"/>
              <a:gd name="connsiteY0" fmla="*/ 1719159 h 1719943"/>
              <a:gd name="connsiteX1" fmla="*/ 606398 w 1114584"/>
              <a:gd name="connsiteY1" fmla="*/ 204 h 1719943"/>
              <a:gd name="connsiteX2" fmla="*/ 405752 w 1114584"/>
              <a:gd name="connsiteY2" fmla="*/ 1703004 h 1719943"/>
              <a:gd name="connsiteX0" fmla="*/ 587144 w 1078282"/>
              <a:gd name="connsiteY0" fmla="*/ 1719159 h 1719184"/>
              <a:gd name="connsiteX1" fmla="*/ 606398 w 1078282"/>
              <a:gd name="connsiteY1" fmla="*/ 204 h 1719184"/>
              <a:gd name="connsiteX2" fmla="*/ 405752 w 1078282"/>
              <a:gd name="connsiteY2" fmla="*/ 1703004 h 1719184"/>
              <a:gd name="connsiteX0" fmla="*/ 515719 w 1006857"/>
              <a:gd name="connsiteY0" fmla="*/ 1719159 h 1719183"/>
              <a:gd name="connsiteX1" fmla="*/ 534973 w 1006857"/>
              <a:gd name="connsiteY1" fmla="*/ 204 h 1719183"/>
              <a:gd name="connsiteX2" fmla="*/ 462709 w 1006857"/>
              <a:gd name="connsiteY2" fmla="*/ 1703004 h 1719183"/>
              <a:gd name="connsiteX0" fmla="*/ 523983 w 1015121"/>
              <a:gd name="connsiteY0" fmla="*/ 1719161 h 1719185"/>
              <a:gd name="connsiteX1" fmla="*/ 543237 w 1015121"/>
              <a:gd name="connsiteY1" fmla="*/ 206 h 1719185"/>
              <a:gd name="connsiteX2" fmla="*/ 470973 w 1015121"/>
              <a:gd name="connsiteY2" fmla="*/ 1703006 h 1719185"/>
              <a:gd name="connsiteX0" fmla="*/ 529085 w 1014806"/>
              <a:gd name="connsiteY0" fmla="*/ 1737112 h 1737135"/>
              <a:gd name="connsiteX1" fmla="*/ 537641 w 1014806"/>
              <a:gd name="connsiteY1" fmla="*/ 204 h 1737135"/>
              <a:gd name="connsiteX2" fmla="*/ 476075 w 1014806"/>
              <a:gd name="connsiteY2" fmla="*/ 1720957 h 1737135"/>
              <a:gd name="connsiteX0" fmla="*/ 529085 w 1038241"/>
              <a:gd name="connsiteY0" fmla="*/ 1737112 h 1737136"/>
              <a:gd name="connsiteX1" fmla="*/ 537641 w 1038241"/>
              <a:gd name="connsiteY1" fmla="*/ 204 h 1737136"/>
              <a:gd name="connsiteX2" fmla="*/ 476075 w 1038241"/>
              <a:gd name="connsiteY2" fmla="*/ 1720957 h 1737136"/>
              <a:gd name="connsiteX0" fmla="*/ 525193 w 1030239"/>
              <a:gd name="connsiteY0" fmla="*/ 1736992 h 1737015"/>
              <a:gd name="connsiteX1" fmla="*/ 533749 w 1030239"/>
              <a:gd name="connsiteY1" fmla="*/ 84 h 1737015"/>
              <a:gd name="connsiteX2" fmla="*/ 472183 w 1030239"/>
              <a:gd name="connsiteY2" fmla="*/ 1720837 h 1737015"/>
              <a:gd name="connsiteX0" fmla="*/ 540866 w 1062437"/>
              <a:gd name="connsiteY0" fmla="*/ 1736992 h 1737015"/>
              <a:gd name="connsiteX1" fmla="*/ 549422 w 1062437"/>
              <a:gd name="connsiteY1" fmla="*/ 84 h 1737015"/>
              <a:gd name="connsiteX2" fmla="*/ 487856 w 1062437"/>
              <a:gd name="connsiteY2" fmla="*/ 1720837 h 1737015"/>
              <a:gd name="connsiteX0" fmla="*/ 597205 w 900553"/>
              <a:gd name="connsiteY0" fmla="*/ 1737511 h 1737536"/>
              <a:gd name="connsiteX1" fmla="*/ 605761 w 900553"/>
              <a:gd name="connsiteY1" fmla="*/ 603 h 1737536"/>
              <a:gd name="connsiteX2" fmla="*/ 223240 w 900553"/>
              <a:gd name="connsiteY2" fmla="*/ 1523877 h 1737536"/>
              <a:gd name="connsiteX0" fmla="*/ 684663 w 1135190"/>
              <a:gd name="connsiteY0" fmla="*/ 1737048 h 1737071"/>
              <a:gd name="connsiteX1" fmla="*/ 693219 w 1135190"/>
              <a:gd name="connsiteY1" fmla="*/ 140 h 1737071"/>
              <a:gd name="connsiteX2" fmla="*/ 310698 w 1135190"/>
              <a:gd name="connsiteY2" fmla="*/ 1523414 h 1737071"/>
              <a:gd name="connsiteX0" fmla="*/ 706705 w 985877"/>
              <a:gd name="connsiteY0" fmla="*/ 1737511 h 1737535"/>
              <a:gd name="connsiteX1" fmla="*/ 608276 w 985877"/>
              <a:gd name="connsiteY1" fmla="*/ 604 h 1737535"/>
              <a:gd name="connsiteX2" fmla="*/ 225755 w 985877"/>
              <a:gd name="connsiteY2" fmla="*/ 1523878 h 1737535"/>
              <a:gd name="connsiteX0" fmla="*/ 781241 w 1169805"/>
              <a:gd name="connsiteY0" fmla="*/ 1737048 h 1737071"/>
              <a:gd name="connsiteX1" fmla="*/ 682812 w 1169805"/>
              <a:gd name="connsiteY1" fmla="*/ 141 h 1737071"/>
              <a:gd name="connsiteX2" fmla="*/ 300291 w 1169805"/>
              <a:gd name="connsiteY2" fmla="*/ 1523415 h 1737071"/>
              <a:gd name="connsiteX0" fmla="*/ 816251 w 1074815"/>
              <a:gd name="connsiteY0" fmla="*/ 1665365 h 1665391"/>
              <a:gd name="connsiteX1" fmla="*/ 610837 w 1074815"/>
              <a:gd name="connsiteY1" fmla="*/ 268 h 1665391"/>
              <a:gd name="connsiteX2" fmla="*/ 228316 w 1074815"/>
              <a:gd name="connsiteY2" fmla="*/ 1523542 h 1665391"/>
              <a:gd name="connsiteX0" fmla="*/ 892174 w 1246931"/>
              <a:gd name="connsiteY0" fmla="*/ 1665113 h 1665137"/>
              <a:gd name="connsiteX1" fmla="*/ 686760 w 1246931"/>
              <a:gd name="connsiteY1" fmla="*/ 16 h 1665137"/>
              <a:gd name="connsiteX2" fmla="*/ 304239 w 1246931"/>
              <a:gd name="connsiteY2" fmla="*/ 1523290 h 1665137"/>
              <a:gd name="connsiteX0" fmla="*/ 558447 w 807793"/>
              <a:gd name="connsiteY0" fmla="*/ 1665098 h 1666895"/>
              <a:gd name="connsiteX1" fmla="*/ 353033 w 807793"/>
              <a:gd name="connsiteY1" fmla="*/ 1 h 1666895"/>
              <a:gd name="connsiteX2" fmla="*/ 280769 w 807793"/>
              <a:gd name="connsiteY2" fmla="*/ 1666894 h 1666895"/>
              <a:gd name="connsiteX0" fmla="*/ 669436 w 867033"/>
              <a:gd name="connsiteY0" fmla="*/ 1736907 h 1738702"/>
              <a:gd name="connsiteX1" fmla="*/ 132368 w 867033"/>
              <a:gd name="connsiteY1" fmla="*/ 0 h 1738702"/>
              <a:gd name="connsiteX2" fmla="*/ 391758 w 867033"/>
              <a:gd name="connsiteY2" fmla="*/ 1738703 h 1738702"/>
              <a:gd name="connsiteX0" fmla="*/ 550847 w 806644"/>
              <a:gd name="connsiteY0" fmla="*/ 1826669 h 1828465"/>
              <a:gd name="connsiteX1" fmla="*/ 377528 w 806644"/>
              <a:gd name="connsiteY1" fmla="*/ 0 h 1828465"/>
              <a:gd name="connsiteX2" fmla="*/ 273169 w 806644"/>
              <a:gd name="connsiteY2" fmla="*/ 1828465 h 1828465"/>
              <a:gd name="connsiteX0" fmla="*/ 649313 w 994597"/>
              <a:gd name="connsiteY0" fmla="*/ 1827812 h 1829608"/>
              <a:gd name="connsiteX1" fmla="*/ 475994 w 994597"/>
              <a:gd name="connsiteY1" fmla="*/ 1143 h 1829608"/>
              <a:gd name="connsiteX2" fmla="*/ 371635 w 994597"/>
              <a:gd name="connsiteY2" fmla="*/ 1829608 h 1829608"/>
              <a:gd name="connsiteX0" fmla="*/ 649313 w 994598"/>
              <a:gd name="connsiteY0" fmla="*/ 1827812 h 1829608"/>
              <a:gd name="connsiteX1" fmla="*/ 475994 w 994598"/>
              <a:gd name="connsiteY1" fmla="*/ 1143 h 1829608"/>
              <a:gd name="connsiteX2" fmla="*/ 371635 w 994598"/>
              <a:gd name="connsiteY2" fmla="*/ 1829608 h 1829608"/>
              <a:gd name="connsiteX0" fmla="*/ 657307 w 995629"/>
              <a:gd name="connsiteY0" fmla="*/ 1702225 h 1704021"/>
              <a:gd name="connsiteX1" fmla="*/ 462591 w 995629"/>
              <a:gd name="connsiteY1" fmla="*/ 1223 h 1704021"/>
              <a:gd name="connsiteX2" fmla="*/ 379629 w 995629"/>
              <a:gd name="connsiteY2" fmla="*/ 1704021 h 1704021"/>
              <a:gd name="connsiteX0" fmla="*/ 657307 w 1022369"/>
              <a:gd name="connsiteY0" fmla="*/ 1701002 h 1702798"/>
              <a:gd name="connsiteX1" fmla="*/ 462591 w 1022369"/>
              <a:gd name="connsiteY1" fmla="*/ 0 h 1702798"/>
              <a:gd name="connsiteX2" fmla="*/ 379629 w 1022369"/>
              <a:gd name="connsiteY2" fmla="*/ 1702798 h 1702798"/>
              <a:gd name="connsiteX0" fmla="*/ 709327 w 1074389"/>
              <a:gd name="connsiteY0" fmla="*/ 1701002 h 1702798"/>
              <a:gd name="connsiteX1" fmla="*/ 514611 w 1074389"/>
              <a:gd name="connsiteY1" fmla="*/ 0 h 1702798"/>
              <a:gd name="connsiteX2" fmla="*/ 431649 w 1074389"/>
              <a:gd name="connsiteY2" fmla="*/ 1702798 h 1702798"/>
              <a:gd name="connsiteX0" fmla="*/ 538151 w 971924"/>
              <a:gd name="connsiteY0" fmla="*/ 1701002 h 1702798"/>
              <a:gd name="connsiteX1" fmla="*/ 514611 w 971924"/>
              <a:gd name="connsiteY1" fmla="*/ 0 h 1702798"/>
              <a:gd name="connsiteX2" fmla="*/ 431649 w 971924"/>
              <a:gd name="connsiteY2" fmla="*/ 1702798 h 1702798"/>
              <a:gd name="connsiteX0" fmla="*/ 516754 w 960338"/>
              <a:gd name="connsiteY0" fmla="*/ 1736906 h 1736930"/>
              <a:gd name="connsiteX1" fmla="*/ 514611 w 960338"/>
              <a:gd name="connsiteY1" fmla="*/ 0 h 1736930"/>
              <a:gd name="connsiteX2" fmla="*/ 431649 w 960338"/>
              <a:gd name="connsiteY2" fmla="*/ 1702798 h 1736930"/>
              <a:gd name="connsiteX0" fmla="*/ 487470 w 931054"/>
              <a:gd name="connsiteY0" fmla="*/ 1736906 h 1774609"/>
              <a:gd name="connsiteX1" fmla="*/ 485327 w 931054"/>
              <a:gd name="connsiteY1" fmla="*/ 0 h 1774609"/>
              <a:gd name="connsiteX2" fmla="*/ 455857 w 931054"/>
              <a:gd name="connsiteY2" fmla="*/ 1774609 h 1774609"/>
              <a:gd name="connsiteX0" fmla="*/ 487470 w 974223"/>
              <a:gd name="connsiteY0" fmla="*/ 1736906 h 1774609"/>
              <a:gd name="connsiteX1" fmla="*/ 485327 w 974223"/>
              <a:gd name="connsiteY1" fmla="*/ 0 h 1774609"/>
              <a:gd name="connsiteX2" fmla="*/ 455857 w 974223"/>
              <a:gd name="connsiteY2" fmla="*/ 1774609 h 1774609"/>
              <a:gd name="connsiteX0" fmla="*/ 526743 w 1013496"/>
              <a:gd name="connsiteY0" fmla="*/ 1736906 h 1774609"/>
              <a:gd name="connsiteX1" fmla="*/ 524600 w 1013496"/>
              <a:gd name="connsiteY1" fmla="*/ 0 h 1774609"/>
              <a:gd name="connsiteX2" fmla="*/ 495130 w 1013496"/>
              <a:gd name="connsiteY2" fmla="*/ 1774609 h 1774609"/>
            </a:gdLst>
            <a:ahLst/>
            <a:cxnLst>
              <a:cxn ang="0">
                <a:pos x="connsiteX0" y="connsiteY0"/>
              </a:cxn>
              <a:cxn ang="0">
                <a:pos x="connsiteX1" y="connsiteY1"/>
              </a:cxn>
              <a:cxn ang="0">
                <a:pos x="connsiteX2" y="connsiteY2"/>
              </a:cxn>
            </a:cxnLst>
            <a:rect l="l" t="t" r="r" b="b"/>
            <a:pathLst>
              <a:path w="1013496" h="1774609">
                <a:moveTo>
                  <a:pt x="526743" y="1736906"/>
                </a:moveTo>
                <a:cubicBezTo>
                  <a:pt x="1171506" y="1744385"/>
                  <a:pt x="1180694" y="17653"/>
                  <a:pt x="524600" y="0"/>
                </a:cubicBezTo>
                <a:cubicBezTo>
                  <a:pt x="-184987" y="18251"/>
                  <a:pt x="-154924" y="1764468"/>
                  <a:pt x="495130" y="1774609"/>
                </a:cubicBezTo>
              </a:path>
            </a:pathLst>
          </a:custGeom>
          <a:noFill/>
          <a:ln w="38100">
            <a:solidFill>
              <a:srgbClr val="E4486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77" name="说明3">
                <a:extLst>
                  <a:ext uri="{FF2B5EF4-FFF2-40B4-BE49-F238E27FC236}">
                    <a16:creationId xmlns:a16="http://schemas.microsoft.com/office/drawing/2014/main" id="{3BE806FA-DA2B-4F96-8D98-4704BED9F673}"/>
                  </a:ext>
                </a:extLst>
              </p:cNvPr>
              <p:cNvSpPr txBox="1"/>
              <p:nvPr/>
            </p:nvSpPr>
            <p:spPr>
              <a:xfrm>
                <a:off x="6311230" y="341161"/>
                <a:ext cx="2821909"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选</a:t>
                </a:r>
                <a14:m>
                  <m:oMath xmlns:m="http://schemas.openxmlformats.org/officeDocument/2006/math">
                    <m:r>
                      <a:rPr kumimoji="1" lang="en-US" altLang="zh-CN" sz="2800" b="0" i="1" smtClean="0">
                        <a:solidFill>
                          <a:srgbClr val="2980B9"/>
                        </a:solidFill>
                        <a:latin typeface="Cambria Math" panose="02040503050406030204" pitchFamily="18" charset="0"/>
                      </a:rPr>
                      <m:t>𝐹</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𝑠</m:t>
                        </m:r>
                      </m:e>
                    </m:d>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−2</m:t>
                    </m:r>
                  </m:oMath>
                </a14:m>
                <a:endParaRPr kumimoji="1" lang="zh-CN" altLang="en-US" sz="2800" dirty="0">
                  <a:solidFill>
                    <a:srgbClr val="2980B9"/>
                  </a:solidFill>
                </a:endParaRPr>
              </a:p>
            </p:txBody>
          </p:sp>
        </mc:Choice>
        <mc:Fallback xmlns="">
          <p:sp>
            <p:nvSpPr>
              <p:cNvPr id="77" name="说明3">
                <a:extLst>
                  <a:ext uri="{FF2B5EF4-FFF2-40B4-BE49-F238E27FC236}">
                    <a16:creationId xmlns:a16="http://schemas.microsoft.com/office/drawing/2014/main" id="{3BE806FA-DA2B-4F96-8D98-4704BED9F673}"/>
                  </a:ext>
                </a:extLst>
              </p:cNvPr>
              <p:cNvSpPr txBox="1">
                <a:spLocks noRot="1" noChangeAspect="1" noMove="1" noResize="1" noEditPoints="1" noAdjustHandles="1" noChangeArrowheads="1" noChangeShapeType="1" noTextEdit="1"/>
              </p:cNvSpPr>
              <p:nvPr/>
            </p:nvSpPr>
            <p:spPr>
              <a:xfrm>
                <a:off x="6311230" y="341161"/>
                <a:ext cx="2821909" cy="578882"/>
              </a:xfrm>
              <a:prstGeom prst="flowChartAlternateProcess">
                <a:avLst/>
              </a:prstGeom>
              <a:blipFill>
                <a:blip r:embed="rId8"/>
                <a:stretch>
                  <a:fillRect l="-2667" t="-4082" b="-20408"/>
                </a:stretch>
              </a:blipFill>
              <a:ln>
                <a:prstDash val="sysDot"/>
              </a:ln>
            </p:spPr>
            <p:txBody>
              <a:bodyPr/>
              <a:lstStyle/>
              <a:p>
                <a:r>
                  <a:rPr lang="zh-CN" altLang="en-US">
                    <a:noFill/>
                  </a:rPr>
                  <a:t> </a:t>
                </a:r>
              </a:p>
            </p:txBody>
          </p:sp>
        </mc:Fallback>
      </mc:AlternateContent>
      <p:grpSp>
        <p:nvGrpSpPr>
          <p:cNvPr id="3" name="坐标轴1">
            <a:extLst>
              <a:ext uri="{FF2B5EF4-FFF2-40B4-BE49-F238E27FC236}">
                <a16:creationId xmlns:a16="http://schemas.microsoft.com/office/drawing/2014/main" id="{BD4BBFFB-EA4D-FAC5-C73C-1DCB67490A00}"/>
              </a:ext>
            </a:extLst>
          </p:cNvPr>
          <p:cNvGrpSpPr/>
          <p:nvPr/>
        </p:nvGrpSpPr>
        <p:grpSpPr>
          <a:xfrm>
            <a:off x="699027" y="950018"/>
            <a:ext cx="4642768" cy="2983038"/>
            <a:chOff x="699027" y="950018"/>
            <a:chExt cx="4642768" cy="2983038"/>
          </a:xfrm>
        </p:grpSpPr>
        <p:cxnSp>
          <p:nvCxnSpPr>
            <p:cNvPr id="28" name="实轴">
              <a:extLst>
                <a:ext uri="{FF2B5EF4-FFF2-40B4-BE49-F238E27FC236}">
                  <a16:creationId xmlns:a16="http://schemas.microsoft.com/office/drawing/2014/main" id="{0B3FFAE2-5E10-D833-BE14-F71AEA2F80FC}"/>
                </a:ext>
              </a:extLst>
            </p:cNvPr>
            <p:cNvCxnSpPr>
              <a:cxnSpLocks/>
              <a:stCxn id="38" idx="1"/>
            </p:cNvCxnSpPr>
            <p:nvPr/>
          </p:nvCxnSpPr>
          <p:spPr>
            <a:xfrm flipH="1">
              <a:off x="699027" y="2729373"/>
              <a:ext cx="4066232" cy="14158"/>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2528520" y="1211628"/>
              <a:ext cx="0" cy="272142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4765259" y="246776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4765259" y="2467763"/>
                  <a:ext cx="576536" cy="523220"/>
                </a:xfrm>
                <a:prstGeom prst="rect">
                  <a:avLst/>
                </a:prstGeom>
                <a:blipFill>
                  <a:blip r:embed="rId9"/>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1774490" y="950018"/>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1774490" y="950018"/>
                  <a:ext cx="576536" cy="523220"/>
                </a:xfrm>
                <a:prstGeom prst="rect">
                  <a:avLst/>
                </a:prstGeom>
                <a:blipFill>
                  <a:blip r:embed="rId10"/>
                  <a:stretch>
                    <a:fillRect l="-4255" r="-85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原点">
                  <a:extLst>
                    <a:ext uri="{FF2B5EF4-FFF2-40B4-BE49-F238E27FC236}">
                      <a16:creationId xmlns:a16="http://schemas.microsoft.com/office/drawing/2014/main" id="{13603334-87A6-3819-C090-B07D7217257D}"/>
                    </a:ext>
                  </a:extLst>
                </p:cNvPr>
                <p:cNvSpPr txBox="1"/>
                <p:nvPr/>
              </p:nvSpPr>
              <p:spPr>
                <a:xfrm>
                  <a:off x="2017461" y="2753606"/>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53" name="原点">
                  <a:extLst>
                    <a:ext uri="{FF2B5EF4-FFF2-40B4-BE49-F238E27FC236}">
                      <a16:creationId xmlns:a16="http://schemas.microsoft.com/office/drawing/2014/main" id="{13603334-87A6-3819-C090-B07D7217257D}"/>
                    </a:ext>
                  </a:extLst>
                </p:cNvPr>
                <p:cNvSpPr txBox="1">
                  <a:spLocks noRot="1" noChangeAspect="1" noMove="1" noResize="1" noEditPoints="1" noAdjustHandles="1" noChangeArrowheads="1" noChangeShapeType="1" noTextEdit="1"/>
                </p:cNvSpPr>
                <p:nvPr/>
              </p:nvSpPr>
              <p:spPr>
                <a:xfrm>
                  <a:off x="2017461" y="2753606"/>
                  <a:ext cx="545352" cy="52469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label2">
                  <a:extLst>
                    <a:ext uri="{FF2B5EF4-FFF2-40B4-BE49-F238E27FC236}">
                      <a16:creationId xmlns:a16="http://schemas.microsoft.com/office/drawing/2014/main" id="{5EFF7C26-62BD-82A6-17CA-51A8F0110784}"/>
                    </a:ext>
                  </a:extLst>
                </p:cNvPr>
                <p:cNvSpPr txBox="1"/>
                <p:nvPr/>
              </p:nvSpPr>
              <p:spPr>
                <a:xfrm>
                  <a:off x="2817693" y="2755329"/>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63" name="label2">
                  <a:extLst>
                    <a:ext uri="{FF2B5EF4-FFF2-40B4-BE49-F238E27FC236}">
                      <a16:creationId xmlns:a16="http://schemas.microsoft.com/office/drawing/2014/main" id="{5EFF7C26-62BD-82A6-17CA-51A8F0110784}"/>
                    </a:ext>
                  </a:extLst>
                </p:cNvPr>
                <p:cNvSpPr txBox="1">
                  <a:spLocks noRot="1" noChangeAspect="1" noMove="1" noResize="1" noEditPoints="1" noAdjustHandles="1" noChangeArrowheads="1" noChangeShapeType="1" noTextEdit="1"/>
                </p:cNvSpPr>
                <p:nvPr/>
              </p:nvSpPr>
              <p:spPr>
                <a:xfrm>
                  <a:off x="2817693" y="2755329"/>
                  <a:ext cx="801225" cy="52322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label2">
                  <a:extLst>
                    <a:ext uri="{FF2B5EF4-FFF2-40B4-BE49-F238E27FC236}">
                      <a16:creationId xmlns:a16="http://schemas.microsoft.com/office/drawing/2014/main" id="{D8791D4E-DAC4-D8FE-81BF-F5EBEB1CB214}"/>
                    </a:ext>
                  </a:extLst>
                </p:cNvPr>
                <p:cNvSpPr txBox="1"/>
                <p:nvPr/>
              </p:nvSpPr>
              <p:spPr>
                <a:xfrm>
                  <a:off x="3563499" y="274987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2</m:t>
                        </m:r>
                      </m:oMath>
                    </m:oMathPara>
                  </a14:m>
                  <a:endParaRPr lang="zh-CN" altLang="en-US" sz="2800" dirty="0"/>
                </a:p>
              </p:txBody>
            </p:sp>
          </mc:Choice>
          <mc:Fallback xmlns="">
            <p:sp>
              <p:nvSpPr>
                <p:cNvPr id="2" name="label2">
                  <a:extLst>
                    <a:ext uri="{FF2B5EF4-FFF2-40B4-BE49-F238E27FC236}">
                      <a16:creationId xmlns:a16="http://schemas.microsoft.com/office/drawing/2014/main" id="{D8791D4E-DAC4-D8FE-81BF-F5EBEB1CB214}"/>
                    </a:ext>
                  </a:extLst>
                </p:cNvPr>
                <p:cNvSpPr txBox="1">
                  <a:spLocks noRot="1" noChangeAspect="1" noMove="1" noResize="1" noEditPoints="1" noAdjustHandles="1" noChangeArrowheads="1" noChangeShapeType="1" noTextEdit="1"/>
                </p:cNvSpPr>
                <p:nvPr/>
              </p:nvSpPr>
              <p:spPr>
                <a:xfrm>
                  <a:off x="3563499" y="2749877"/>
                  <a:ext cx="801225" cy="524695"/>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Im">
                  <a:extLst>
                    <a:ext uri="{FF2B5EF4-FFF2-40B4-BE49-F238E27FC236}">
                      <a16:creationId xmlns:a16="http://schemas.microsoft.com/office/drawing/2014/main" id="{61F4C09C-2F6F-6F60-E4BA-1DA99D9453D0}"/>
                    </a:ext>
                  </a:extLst>
                </p:cNvPr>
                <p:cNvSpPr txBox="1"/>
                <p:nvPr/>
              </p:nvSpPr>
              <p:spPr>
                <a:xfrm>
                  <a:off x="2674188" y="959213"/>
                  <a:ext cx="576536"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𝑠</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4" name="Im">
                  <a:extLst>
                    <a:ext uri="{FF2B5EF4-FFF2-40B4-BE49-F238E27FC236}">
                      <a16:creationId xmlns:a16="http://schemas.microsoft.com/office/drawing/2014/main" id="{61F4C09C-2F6F-6F60-E4BA-1DA99D9453D0}"/>
                    </a:ext>
                  </a:extLst>
                </p:cNvPr>
                <p:cNvSpPr txBox="1">
                  <a:spLocks noRot="1" noChangeAspect="1" noMove="1" noResize="1" noEditPoints="1" noAdjustHandles="1" noChangeArrowheads="1" noChangeShapeType="1" noTextEdit="1"/>
                </p:cNvSpPr>
                <p:nvPr/>
              </p:nvSpPr>
              <p:spPr>
                <a:xfrm>
                  <a:off x="2674188" y="959213"/>
                  <a:ext cx="576536" cy="524695"/>
                </a:xfrm>
                <a:prstGeom prst="rect">
                  <a:avLst/>
                </a:prstGeom>
                <a:blipFill>
                  <a:blip r:embed="rId14"/>
                  <a:stretch>
                    <a:fillRect l="-13043" r="-17391" b="-19048"/>
                  </a:stretch>
                </a:blipFill>
              </p:spPr>
              <p:txBody>
                <a:bodyPr/>
                <a:lstStyle/>
                <a:p>
                  <a:r>
                    <a:rPr lang="zh-CN" altLang="en-US">
                      <a:noFill/>
                    </a:rPr>
                    <a:t> </a:t>
                  </a:r>
                </a:p>
              </p:txBody>
            </p:sp>
          </mc:Fallback>
        </mc:AlternateContent>
      </p:grpSp>
      <p:grpSp>
        <p:nvGrpSpPr>
          <p:cNvPr id="5" name="坐标轴2">
            <a:extLst>
              <a:ext uri="{FF2B5EF4-FFF2-40B4-BE49-F238E27FC236}">
                <a16:creationId xmlns:a16="http://schemas.microsoft.com/office/drawing/2014/main" id="{96CD90A7-3251-40B4-FBFB-8446336D9BC7}"/>
              </a:ext>
            </a:extLst>
          </p:cNvPr>
          <p:cNvGrpSpPr/>
          <p:nvPr/>
        </p:nvGrpSpPr>
        <p:grpSpPr>
          <a:xfrm>
            <a:off x="7128923" y="938186"/>
            <a:ext cx="4366883" cy="2983038"/>
            <a:chOff x="7128923" y="938186"/>
            <a:chExt cx="4366883" cy="2983038"/>
          </a:xfrm>
        </p:grpSpPr>
        <p:cxnSp>
          <p:nvCxnSpPr>
            <p:cNvPr id="8" name="实轴">
              <a:extLst>
                <a:ext uri="{FF2B5EF4-FFF2-40B4-BE49-F238E27FC236}">
                  <a16:creationId xmlns:a16="http://schemas.microsoft.com/office/drawing/2014/main" id="{A04F5B9A-0B1B-8E73-BA79-CBF95EED9B41}"/>
                </a:ext>
              </a:extLst>
            </p:cNvPr>
            <p:cNvCxnSpPr>
              <a:cxnSpLocks/>
            </p:cNvCxnSpPr>
            <p:nvPr/>
          </p:nvCxnSpPr>
          <p:spPr>
            <a:xfrm flipH="1">
              <a:off x="7128923" y="2731699"/>
              <a:ext cx="3672408"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虚轴">
              <a:extLst>
                <a:ext uri="{FF2B5EF4-FFF2-40B4-BE49-F238E27FC236}">
                  <a16:creationId xmlns:a16="http://schemas.microsoft.com/office/drawing/2014/main" id="{DFF75DDC-9C11-7161-1167-11B595B01142}"/>
                </a:ext>
              </a:extLst>
            </p:cNvPr>
            <p:cNvCxnSpPr>
              <a:cxnSpLocks/>
            </p:cNvCxnSpPr>
            <p:nvPr/>
          </p:nvCxnSpPr>
          <p:spPr>
            <a:xfrm flipV="1">
              <a:off x="8958416" y="1199796"/>
              <a:ext cx="0" cy="272142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
                  <a:extLst>
                    <a:ext uri="{FF2B5EF4-FFF2-40B4-BE49-F238E27FC236}">
                      <a16:creationId xmlns:a16="http://schemas.microsoft.com/office/drawing/2014/main" id="{B9F3609E-D5B9-4BF5-9C06-9F9DC058F496}"/>
                    </a:ext>
                  </a:extLst>
                </p:cNvPr>
                <p:cNvSpPr txBox="1"/>
                <p:nvPr/>
              </p:nvSpPr>
              <p:spPr>
                <a:xfrm>
                  <a:off x="10919270" y="246776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1" name="Re">
                  <a:extLst>
                    <a:ext uri="{FF2B5EF4-FFF2-40B4-BE49-F238E27FC236}">
                      <a16:creationId xmlns:a16="http://schemas.microsoft.com/office/drawing/2014/main" id="{B9F3609E-D5B9-4BF5-9C06-9F9DC058F496}"/>
                    </a:ext>
                  </a:extLst>
                </p:cNvPr>
                <p:cNvSpPr txBox="1">
                  <a:spLocks noRot="1" noChangeAspect="1" noMove="1" noResize="1" noEditPoints="1" noAdjustHandles="1" noChangeArrowheads="1" noChangeShapeType="1" noTextEdit="1"/>
                </p:cNvSpPr>
                <p:nvPr/>
              </p:nvSpPr>
              <p:spPr>
                <a:xfrm>
                  <a:off x="10919270" y="2467763"/>
                  <a:ext cx="576536" cy="523220"/>
                </a:xfrm>
                <a:prstGeom prst="rect">
                  <a:avLst/>
                </a:prstGeom>
                <a:blipFill>
                  <a:blip r:embed="rId15"/>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Im">
                  <a:extLst>
                    <a:ext uri="{FF2B5EF4-FFF2-40B4-BE49-F238E27FC236}">
                      <a16:creationId xmlns:a16="http://schemas.microsoft.com/office/drawing/2014/main" id="{07719A7D-1613-0E4A-DA47-27667B1D129B}"/>
                    </a:ext>
                  </a:extLst>
                </p:cNvPr>
                <p:cNvSpPr txBox="1"/>
                <p:nvPr/>
              </p:nvSpPr>
              <p:spPr>
                <a:xfrm>
                  <a:off x="8204386" y="93818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12" name="Im">
                  <a:extLst>
                    <a:ext uri="{FF2B5EF4-FFF2-40B4-BE49-F238E27FC236}">
                      <a16:creationId xmlns:a16="http://schemas.microsoft.com/office/drawing/2014/main" id="{07719A7D-1613-0E4A-DA47-27667B1D129B}"/>
                    </a:ext>
                  </a:extLst>
                </p:cNvPr>
                <p:cNvSpPr txBox="1">
                  <a:spLocks noRot="1" noChangeAspect="1" noMove="1" noResize="1" noEditPoints="1" noAdjustHandles="1" noChangeArrowheads="1" noChangeShapeType="1" noTextEdit="1"/>
                </p:cNvSpPr>
                <p:nvPr/>
              </p:nvSpPr>
              <p:spPr>
                <a:xfrm>
                  <a:off x="8204386" y="938186"/>
                  <a:ext cx="576536" cy="523220"/>
                </a:xfrm>
                <a:prstGeom prst="rect">
                  <a:avLst/>
                </a:prstGeom>
                <a:blipFill>
                  <a:blip r:embed="rId16"/>
                  <a:stretch>
                    <a:fillRect l="-6522" r="-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原点">
                  <a:extLst>
                    <a:ext uri="{FF2B5EF4-FFF2-40B4-BE49-F238E27FC236}">
                      <a16:creationId xmlns:a16="http://schemas.microsoft.com/office/drawing/2014/main" id="{3217BCCA-71D8-BBA4-2883-A9E07E54FF81}"/>
                    </a:ext>
                  </a:extLst>
                </p:cNvPr>
                <p:cNvSpPr txBox="1"/>
                <p:nvPr/>
              </p:nvSpPr>
              <p:spPr>
                <a:xfrm>
                  <a:off x="8447357" y="274177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13" name="原点">
                  <a:extLst>
                    <a:ext uri="{FF2B5EF4-FFF2-40B4-BE49-F238E27FC236}">
                      <a16:creationId xmlns:a16="http://schemas.microsoft.com/office/drawing/2014/main" id="{3217BCCA-71D8-BBA4-2883-A9E07E54FF81}"/>
                    </a:ext>
                  </a:extLst>
                </p:cNvPr>
                <p:cNvSpPr txBox="1">
                  <a:spLocks noRot="1" noChangeAspect="1" noMove="1" noResize="1" noEditPoints="1" noAdjustHandles="1" noChangeArrowheads="1" noChangeShapeType="1" noTextEdit="1"/>
                </p:cNvSpPr>
                <p:nvPr/>
              </p:nvSpPr>
              <p:spPr>
                <a:xfrm>
                  <a:off x="8447357" y="2741774"/>
                  <a:ext cx="545352" cy="524695"/>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label2">
                  <a:extLst>
                    <a:ext uri="{FF2B5EF4-FFF2-40B4-BE49-F238E27FC236}">
                      <a16:creationId xmlns:a16="http://schemas.microsoft.com/office/drawing/2014/main" id="{051D3C8C-1F93-9F33-1DDA-F6DB0C77385E}"/>
                    </a:ext>
                  </a:extLst>
                </p:cNvPr>
                <p:cNvSpPr txBox="1"/>
                <p:nvPr/>
              </p:nvSpPr>
              <p:spPr>
                <a:xfrm>
                  <a:off x="9247589" y="2743497"/>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14" name="label2">
                  <a:extLst>
                    <a:ext uri="{FF2B5EF4-FFF2-40B4-BE49-F238E27FC236}">
                      <a16:creationId xmlns:a16="http://schemas.microsoft.com/office/drawing/2014/main" id="{051D3C8C-1F93-9F33-1DDA-F6DB0C77385E}"/>
                    </a:ext>
                  </a:extLst>
                </p:cNvPr>
                <p:cNvSpPr txBox="1">
                  <a:spLocks noRot="1" noChangeAspect="1" noMove="1" noResize="1" noEditPoints="1" noAdjustHandles="1" noChangeArrowheads="1" noChangeShapeType="1" noTextEdit="1"/>
                </p:cNvSpPr>
                <p:nvPr/>
              </p:nvSpPr>
              <p:spPr>
                <a:xfrm>
                  <a:off x="9247589" y="2743497"/>
                  <a:ext cx="801225" cy="523220"/>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label2">
                  <a:extLst>
                    <a:ext uri="{FF2B5EF4-FFF2-40B4-BE49-F238E27FC236}">
                      <a16:creationId xmlns:a16="http://schemas.microsoft.com/office/drawing/2014/main" id="{2AFE4128-6389-7BFA-A1D3-7D5020CF2924}"/>
                    </a:ext>
                  </a:extLst>
                </p:cNvPr>
                <p:cNvSpPr txBox="1"/>
                <p:nvPr/>
              </p:nvSpPr>
              <p:spPr>
                <a:xfrm>
                  <a:off x="9993395" y="2738045"/>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2</m:t>
                        </m:r>
                      </m:oMath>
                    </m:oMathPara>
                  </a14:m>
                  <a:endParaRPr lang="zh-CN" altLang="en-US" sz="2800" dirty="0"/>
                </a:p>
              </p:txBody>
            </p:sp>
          </mc:Choice>
          <mc:Fallback xmlns="">
            <p:sp>
              <p:nvSpPr>
                <p:cNvPr id="15" name="label2">
                  <a:extLst>
                    <a:ext uri="{FF2B5EF4-FFF2-40B4-BE49-F238E27FC236}">
                      <a16:creationId xmlns:a16="http://schemas.microsoft.com/office/drawing/2014/main" id="{2AFE4128-6389-7BFA-A1D3-7D5020CF2924}"/>
                    </a:ext>
                  </a:extLst>
                </p:cNvPr>
                <p:cNvSpPr txBox="1">
                  <a:spLocks noRot="1" noChangeAspect="1" noMove="1" noResize="1" noEditPoints="1" noAdjustHandles="1" noChangeArrowheads="1" noChangeShapeType="1" noTextEdit="1"/>
                </p:cNvSpPr>
                <p:nvPr/>
              </p:nvSpPr>
              <p:spPr>
                <a:xfrm>
                  <a:off x="9993395" y="2738045"/>
                  <a:ext cx="801225" cy="524695"/>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Im">
                  <a:extLst>
                    <a:ext uri="{FF2B5EF4-FFF2-40B4-BE49-F238E27FC236}">
                      <a16:creationId xmlns:a16="http://schemas.microsoft.com/office/drawing/2014/main" id="{2C58B61B-E278-5845-8A05-75B2B51725F9}"/>
                    </a:ext>
                  </a:extLst>
                </p:cNvPr>
                <p:cNvSpPr txBox="1"/>
                <p:nvPr/>
              </p:nvSpPr>
              <p:spPr>
                <a:xfrm>
                  <a:off x="9104084" y="947381"/>
                  <a:ext cx="576536"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𝑠</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16" name="Im">
                  <a:extLst>
                    <a:ext uri="{FF2B5EF4-FFF2-40B4-BE49-F238E27FC236}">
                      <a16:creationId xmlns:a16="http://schemas.microsoft.com/office/drawing/2014/main" id="{2C58B61B-E278-5845-8A05-75B2B51725F9}"/>
                    </a:ext>
                  </a:extLst>
                </p:cNvPr>
                <p:cNvSpPr txBox="1">
                  <a:spLocks noRot="1" noChangeAspect="1" noMove="1" noResize="1" noEditPoints="1" noAdjustHandles="1" noChangeArrowheads="1" noChangeShapeType="1" noTextEdit="1"/>
                </p:cNvSpPr>
                <p:nvPr/>
              </p:nvSpPr>
              <p:spPr>
                <a:xfrm>
                  <a:off x="9104084" y="947381"/>
                  <a:ext cx="576536" cy="524695"/>
                </a:xfrm>
                <a:prstGeom prst="rect">
                  <a:avLst/>
                </a:prstGeom>
                <a:blipFill>
                  <a:blip r:embed="rId20"/>
                  <a:stretch>
                    <a:fillRect l="-12766" r="-17021" b="-19048"/>
                  </a:stretch>
                </a:blipFill>
              </p:spPr>
              <p:txBody>
                <a:bodyPr/>
                <a:lstStyle/>
                <a:p>
                  <a:r>
                    <a:rPr lang="zh-CN" altLang="en-US">
                      <a:noFill/>
                    </a:rPr>
                    <a:t> </a:t>
                  </a:r>
                </a:p>
              </p:txBody>
            </p:sp>
          </mc:Fallback>
        </mc:AlternateContent>
      </p:grpSp>
      <p:sp>
        <p:nvSpPr>
          <p:cNvPr id="18" name="幅相">
            <a:extLst>
              <a:ext uri="{FF2B5EF4-FFF2-40B4-BE49-F238E27FC236}">
                <a16:creationId xmlns:a16="http://schemas.microsoft.com/office/drawing/2014/main" id="{2E9E7C45-1EA9-88F8-E32D-0E464D0FE828}"/>
              </a:ext>
            </a:extLst>
          </p:cNvPr>
          <p:cNvSpPr/>
          <p:nvPr/>
        </p:nvSpPr>
        <p:spPr>
          <a:xfrm flipV="1">
            <a:off x="8282218" y="1967733"/>
            <a:ext cx="1374975" cy="143474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85187"/>
              <a:gd name="connsiteY0" fmla="*/ 0 h 2145227"/>
              <a:gd name="connsiteX1" fmla="*/ 685187 w 685187"/>
              <a:gd name="connsiteY1" fmla="*/ 1761144 h 2145227"/>
              <a:gd name="connsiteX0" fmla="*/ 0 w 685187"/>
              <a:gd name="connsiteY0" fmla="*/ 0 h 1761144"/>
              <a:gd name="connsiteX1" fmla="*/ 685187 w 685187"/>
              <a:gd name="connsiteY1" fmla="*/ 1761144 h 1761144"/>
              <a:gd name="connsiteX0" fmla="*/ 197033 w 203028"/>
              <a:gd name="connsiteY0" fmla="*/ 0 h 1743192"/>
              <a:gd name="connsiteX1" fmla="*/ 186819 w 203028"/>
              <a:gd name="connsiteY1" fmla="*/ 1743192 h 1743192"/>
              <a:gd name="connsiteX0" fmla="*/ 368073 w 368073"/>
              <a:gd name="connsiteY0" fmla="*/ 0 h 1743192"/>
              <a:gd name="connsiteX1" fmla="*/ 357859 w 368073"/>
              <a:gd name="connsiteY1" fmla="*/ 1743192 h 1743192"/>
              <a:gd name="connsiteX0" fmla="*/ 433742 w 433742"/>
              <a:gd name="connsiteY0" fmla="*/ 0 h 1743218"/>
              <a:gd name="connsiteX1" fmla="*/ 423528 w 433742"/>
              <a:gd name="connsiteY1" fmla="*/ 1743192 h 1743218"/>
              <a:gd name="connsiteX0" fmla="*/ 500497 w 500497"/>
              <a:gd name="connsiteY0" fmla="*/ 0 h 1743218"/>
              <a:gd name="connsiteX1" fmla="*/ 490283 w 500497"/>
              <a:gd name="connsiteY1" fmla="*/ 1743192 h 1743218"/>
              <a:gd name="connsiteX0" fmla="*/ 488340 w 488340"/>
              <a:gd name="connsiteY0" fmla="*/ 0 h 1743218"/>
              <a:gd name="connsiteX1" fmla="*/ 478126 w 488340"/>
              <a:gd name="connsiteY1" fmla="*/ 1743192 h 1743218"/>
              <a:gd name="connsiteX0" fmla="*/ 500497 w 500497"/>
              <a:gd name="connsiteY0" fmla="*/ 0 h 1743218"/>
              <a:gd name="connsiteX1" fmla="*/ 490283 w 500497"/>
              <a:gd name="connsiteY1" fmla="*/ 1743192 h 1743218"/>
              <a:gd name="connsiteX0" fmla="*/ 498000 w 517255"/>
              <a:gd name="connsiteY0" fmla="*/ 0 h 1743218"/>
              <a:gd name="connsiteX1" fmla="*/ 517255 w 517255"/>
              <a:gd name="connsiteY1" fmla="*/ 58345 h 1743218"/>
              <a:gd name="connsiteX2" fmla="*/ 487786 w 517255"/>
              <a:gd name="connsiteY2" fmla="*/ 1743192 h 1743218"/>
              <a:gd name="connsiteX0" fmla="*/ 378382 w 675797"/>
              <a:gd name="connsiteY0" fmla="*/ 32747 h 1775962"/>
              <a:gd name="connsiteX1" fmla="*/ 675798 w 675797"/>
              <a:gd name="connsiteY1" fmla="*/ 1330 h 1775962"/>
              <a:gd name="connsiteX2" fmla="*/ 368168 w 675797"/>
              <a:gd name="connsiteY2" fmla="*/ 1775939 h 1775962"/>
              <a:gd name="connsiteX0" fmla="*/ 378382 w 675798"/>
              <a:gd name="connsiteY0" fmla="*/ 32747 h 1775963"/>
              <a:gd name="connsiteX1" fmla="*/ 675798 w 675798"/>
              <a:gd name="connsiteY1" fmla="*/ 1330 h 1775963"/>
              <a:gd name="connsiteX2" fmla="*/ 368168 w 675798"/>
              <a:gd name="connsiteY2" fmla="*/ 1775939 h 1775963"/>
              <a:gd name="connsiteX0" fmla="*/ 466631 w 550077"/>
              <a:gd name="connsiteY0" fmla="*/ 137 h 1743359"/>
              <a:gd name="connsiteX1" fmla="*/ 550077 w 550077"/>
              <a:gd name="connsiteY1" fmla="*/ 309817 h 1743359"/>
              <a:gd name="connsiteX2" fmla="*/ 456417 w 550077"/>
              <a:gd name="connsiteY2" fmla="*/ 1743329 h 1743359"/>
              <a:gd name="connsiteX0" fmla="*/ 1065748 w 1073535"/>
              <a:gd name="connsiteY0" fmla="*/ 245 h 1474179"/>
              <a:gd name="connsiteX1" fmla="*/ 550077 w 1073535"/>
              <a:gd name="connsiteY1" fmla="*/ 40637 h 1474179"/>
              <a:gd name="connsiteX2" fmla="*/ 456417 w 1073535"/>
              <a:gd name="connsiteY2" fmla="*/ 1474149 h 1474179"/>
              <a:gd name="connsiteX0" fmla="*/ 1086404 w 1093852"/>
              <a:gd name="connsiteY0" fmla="*/ 248219 h 1722148"/>
              <a:gd name="connsiteX1" fmla="*/ 527939 w 1093852"/>
              <a:gd name="connsiteY1" fmla="*/ 1370 h 1722148"/>
              <a:gd name="connsiteX2" fmla="*/ 477073 w 1093852"/>
              <a:gd name="connsiteY2" fmla="*/ 1722123 h 1722148"/>
              <a:gd name="connsiteX0" fmla="*/ 1086404 w 1111208"/>
              <a:gd name="connsiteY0" fmla="*/ 248219 h 1722148"/>
              <a:gd name="connsiteX1" fmla="*/ 527939 w 1111208"/>
              <a:gd name="connsiteY1" fmla="*/ 1370 h 1722148"/>
              <a:gd name="connsiteX2" fmla="*/ 477073 w 1111208"/>
              <a:gd name="connsiteY2" fmla="*/ 1722123 h 1722148"/>
              <a:gd name="connsiteX0" fmla="*/ 497986 w 746033"/>
              <a:gd name="connsiteY0" fmla="*/ 1702373 h 1722148"/>
              <a:gd name="connsiteX1" fmla="*/ 527939 w 746033"/>
              <a:gd name="connsiteY1" fmla="*/ 1370 h 1722148"/>
              <a:gd name="connsiteX2" fmla="*/ 477073 w 746033"/>
              <a:gd name="connsiteY2" fmla="*/ 1722123 h 1722148"/>
              <a:gd name="connsiteX0" fmla="*/ 497986 w 910779"/>
              <a:gd name="connsiteY0" fmla="*/ 1702373 h 1722148"/>
              <a:gd name="connsiteX1" fmla="*/ 527939 w 910779"/>
              <a:gd name="connsiteY1" fmla="*/ 1370 h 1722148"/>
              <a:gd name="connsiteX2" fmla="*/ 477073 w 910779"/>
              <a:gd name="connsiteY2" fmla="*/ 1722123 h 1722148"/>
              <a:gd name="connsiteX0" fmla="*/ 497986 w 1004274"/>
              <a:gd name="connsiteY0" fmla="*/ 1702373 h 1722148"/>
              <a:gd name="connsiteX1" fmla="*/ 527939 w 1004274"/>
              <a:gd name="connsiteY1" fmla="*/ 1370 h 1722148"/>
              <a:gd name="connsiteX2" fmla="*/ 477073 w 1004274"/>
              <a:gd name="connsiteY2" fmla="*/ 1722123 h 1722148"/>
              <a:gd name="connsiteX0" fmla="*/ 497986 w 962529"/>
              <a:gd name="connsiteY0" fmla="*/ 1702373 h 1722148"/>
              <a:gd name="connsiteX1" fmla="*/ 527939 w 962529"/>
              <a:gd name="connsiteY1" fmla="*/ 1370 h 1722148"/>
              <a:gd name="connsiteX2" fmla="*/ 477073 w 962529"/>
              <a:gd name="connsiteY2" fmla="*/ 1722123 h 1722148"/>
              <a:gd name="connsiteX0" fmla="*/ 497986 w 979057"/>
              <a:gd name="connsiteY0" fmla="*/ 1702373 h 1722148"/>
              <a:gd name="connsiteX1" fmla="*/ 527939 w 979057"/>
              <a:gd name="connsiteY1" fmla="*/ 1370 h 1722148"/>
              <a:gd name="connsiteX2" fmla="*/ 477073 w 979057"/>
              <a:gd name="connsiteY2" fmla="*/ 1722123 h 1722148"/>
              <a:gd name="connsiteX0" fmla="*/ 494012 w 975083"/>
              <a:gd name="connsiteY0" fmla="*/ 1701207 h 1720983"/>
              <a:gd name="connsiteX1" fmla="*/ 523965 w 975083"/>
              <a:gd name="connsiteY1" fmla="*/ 204 h 1720983"/>
              <a:gd name="connsiteX2" fmla="*/ 473099 w 975083"/>
              <a:gd name="connsiteY2" fmla="*/ 1720957 h 1720983"/>
              <a:gd name="connsiteX0" fmla="*/ 499482 w 980553"/>
              <a:gd name="connsiteY0" fmla="*/ 1701206 h 1720982"/>
              <a:gd name="connsiteX1" fmla="*/ 529435 w 980553"/>
              <a:gd name="connsiteY1" fmla="*/ 203 h 1720982"/>
              <a:gd name="connsiteX2" fmla="*/ 467870 w 980553"/>
              <a:gd name="connsiteY2" fmla="*/ 1720956 h 1720982"/>
              <a:gd name="connsiteX0" fmla="*/ 576445 w 1057516"/>
              <a:gd name="connsiteY0" fmla="*/ 1701207 h 1703030"/>
              <a:gd name="connsiteX1" fmla="*/ 606398 w 1057516"/>
              <a:gd name="connsiteY1" fmla="*/ 204 h 1703030"/>
              <a:gd name="connsiteX2" fmla="*/ 405752 w 1057516"/>
              <a:gd name="connsiteY2" fmla="*/ 1703004 h 1703030"/>
              <a:gd name="connsiteX0" fmla="*/ 597842 w 1067726"/>
              <a:gd name="connsiteY0" fmla="*/ 1683255 h 1703030"/>
              <a:gd name="connsiteX1" fmla="*/ 606398 w 1067726"/>
              <a:gd name="connsiteY1" fmla="*/ 204 h 1703030"/>
              <a:gd name="connsiteX2" fmla="*/ 405752 w 1067726"/>
              <a:gd name="connsiteY2" fmla="*/ 1703004 h 1703030"/>
              <a:gd name="connsiteX0" fmla="*/ 587144 w 1062587"/>
              <a:gd name="connsiteY0" fmla="*/ 1683255 h 1703030"/>
              <a:gd name="connsiteX1" fmla="*/ 606398 w 1062587"/>
              <a:gd name="connsiteY1" fmla="*/ 204 h 1703030"/>
              <a:gd name="connsiteX2" fmla="*/ 405752 w 1062587"/>
              <a:gd name="connsiteY2" fmla="*/ 1703004 h 1703030"/>
              <a:gd name="connsiteX0" fmla="*/ 587144 w 1094258"/>
              <a:gd name="connsiteY0" fmla="*/ 1683255 h 1703030"/>
              <a:gd name="connsiteX1" fmla="*/ 606398 w 1094258"/>
              <a:gd name="connsiteY1" fmla="*/ 204 h 1703030"/>
              <a:gd name="connsiteX2" fmla="*/ 405752 w 1094258"/>
              <a:gd name="connsiteY2" fmla="*/ 1703004 h 1703030"/>
              <a:gd name="connsiteX0" fmla="*/ 587144 w 1114584"/>
              <a:gd name="connsiteY0" fmla="*/ 1683255 h 1703030"/>
              <a:gd name="connsiteX1" fmla="*/ 606398 w 1114584"/>
              <a:gd name="connsiteY1" fmla="*/ 204 h 1703030"/>
              <a:gd name="connsiteX2" fmla="*/ 405752 w 1114584"/>
              <a:gd name="connsiteY2" fmla="*/ 1703004 h 1703030"/>
              <a:gd name="connsiteX0" fmla="*/ 587144 w 1114584"/>
              <a:gd name="connsiteY0" fmla="*/ 1719159 h 1719943"/>
              <a:gd name="connsiteX1" fmla="*/ 606398 w 1114584"/>
              <a:gd name="connsiteY1" fmla="*/ 204 h 1719943"/>
              <a:gd name="connsiteX2" fmla="*/ 405752 w 1114584"/>
              <a:gd name="connsiteY2" fmla="*/ 1703004 h 1719943"/>
              <a:gd name="connsiteX0" fmla="*/ 587144 w 1078282"/>
              <a:gd name="connsiteY0" fmla="*/ 1719159 h 1719184"/>
              <a:gd name="connsiteX1" fmla="*/ 606398 w 1078282"/>
              <a:gd name="connsiteY1" fmla="*/ 204 h 1719184"/>
              <a:gd name="connsiteX2" fmla="*/ 405752 w 1078282"/>
              <a:gd name="connsiteY2" fmla="*/ 1703004 h 1719184"/>
              <a:gd name="connsiteX0" fmla="*/ 515719 w 1006857"/>
              <a:gd name="connsiteY0" fmla="*/ 1719159 h 1719183"/>
              <a:gd name="connsiteX1" fmla="*/ 534973 w 1006857"/>
              <a:gd name="connsiteY1" fmla="*/ 204 h 1719183"/>
              <a:gd name="connsiteX2" fmla="*/ 462709 w 1006857"/>
              <a:gd name="connsiteY2" fmla="*/ 1703004 h 1719183"/>
              <a:gd name="connsiteX0" fmla="*/ 523983 w 1015121"/>
              <a:gd name="connsiteY0" fmla="*/ 1719161 h 1719185"/>
              <a:gd name="connsiteX1" fmla="*/ 543237 w 1015121"/>
              <a:gd name="connsiteY1" fmla="*/ 206 h 1719185"/>
              <a:gd name="connsiteX2" fmla="*/ 470973 w 1015121"/>
              <a:gd name="connsiteY2" fmla="*/ 1703006 h 1719185"/>
              <a:gd name="connsiteX0" fmla="*/ 529085 w 1014806"/>
              <a:gd name="connsiteY0" fmla="*/ 1737112 h 1737135"/>
              <a:gd name="connsiteX1" fmla="*/ 537641 w 1014806"/>
              <a:gd name="connsiteY1" fmla="*/ 204 h 1737135"/>
              <a:gd name="connsiteX2" fmla="*/ 476075 w 1014806"/>
              <a:gd name="connsiteY2" fmla="*/ 1720957 h 1737135"/>
              <a:gd name="connsiteX0" fmla="*/ 529085 w 1038241"/>
              <a:gd name="connsiteY0" fmla="*/ 1737112 h 1737136"/>
              <a:gd name="connsiteX1" fmla="*/ 537641 w 1038241"/>
              <a:gd name="connsiteY1" fmla="*/ 204 h 1737136"/>
              <a:gd name="connsiteX2" fmla="*/ 476075 w 1038241"/>
              <a:gd name="connsiteY2" fmla="*/ 1720957 h 1737136"/>
              <a:gd name="connsiteX0" fmla="*/ 525193 w 1030239"/>
              <a:gd name="connsiteY0" fmla="*/ 1736992 h 1737015"/>
              <a:gd name="connsiteX1" fmla="*/ 533749 w 1030239"/>
              <a:gd name="connsiteY1" fmla="*/ 84 h 1737015"/>
              <a:gd name="connsiteX2" fmla="*/ 472183 w 1030239"/>
              <a:gd name="connsiteY2" fmla="*/ 1720837 h 1737015"/>
              <a:gd name="connsiteX0" fmla="*/ 540866 w 1062437"/>
              <a:gd name="connsiteY0" fmla="*/ 1736992 h 1737015"/>
              <a:gd name="connsiteX1" fmla="*/ 549422 w 1062437"/>
              <a:gd name="connsiteY1" fmla="*/ 84 h 1737015"/>
              <a:gd name="connsiteX2" fmla="*/ 487856 w 1062437"/>
              <a:gd name="connsiteY2" fmla="*/ 1720837 h 1737015"/>
              <a:gd name="connsiteX0" fmla="*/ 597205 w 900553"/>
              <a:gd name="connsiteY0" fmla="*/ 1737511 h 1737536"/>
              <a:gd name="connsiteX1" fmla="*/ 605761 w 900553"/>
              <a:gd name="connsiteY1" fmla="*/ 603 h 1737536"/>
              <a:gd name="connsiteX2" fmla="*/ 223240 w 900553"/>
              <a:gd name="connsiteY2" fmla="*/ 1523877 h 1737536"/>
              <a:gd name="connsiteX0" fmla="*/ 684663 w 1135190"/>
              <a:gd name="connsiteY0" fmla="*/ 1737048 h 1737071"/>
              <a:gd name="connsiteX1" fmla="*/ 693219 w 1135190"/>
              <a:gd name="connsiteY1" fmla="*/ 140 h 1737071"/>
              <a:gd name="connsiteX2" fmla="*/ 310698 w 1135190"/>
              <a:gd name="connsiteY2" fmla="*/ 1523414 h 1737071"/>
              <a:gd name="connsiteX0" fmla="*/ 706705 w 985877"/>
              <a:gd name="connsiteY0" fmla="*/ 1737511 h 1737535"/>
              <a:gd name="connsiteX1" fmla="*/ 608276 w 985877"/>
              <a:gd name="connsiteY1" fmla="*/ 604 h 1737535"/>
              <a:gd name="connsiteX2" fmla="*/ 225755 w 985877"/>
              <a:gd name="connsiteY2" fmla="*/ 1523878 h 1737535"/>
              <a:gd name="connsiteX0" fmla="*/ 781241 w 1169805"/>
              <a:gd name="connsiteY0" fmla="*/ 1737048 h 1737071"/>
              <a:gd name="connsiteX1" fmla="*/ 682812 w 1169805"/>
              <a:gd name="connsiteY1" fmla="*/ 141 h 1737071"/>
              <a:gd name="connsiteX2" fmla="*/ 300291 w 1169805"/>
              <a:gd name="connsiteY2" fmla="*/ 1523415 h 1737071"/>
              <a:gd name="connsiteX0" fmla="*/ 816251 w 1074815"/>
              <a:gd name="connsiteY0" fmla="*/ 1665365 h 1665391"/>
              <a:gd name="connsiteX1" fmla="*/ 610837 w 1074815"/>
              <a:gd name="connsiteY1" fmla="*/ 268 h 1665391"/>
              <a:gd name="connsiteX2" fmla="*/ 228316 w 1074815"/>
              <a:gd name="connsiteY2" fmla="*/ 1523542 h 1665391"/>
              <a:gd name="connsiteX0" fmla="*/ 892174 w 1246931"/>
              <a:gd name="connsiteY0" fmla="*/ 1665113 h 1665137"/>
              <a:gd name="connsiteX1" fmla="*/ 686760 w 1246931"/>
              <a:gd name="connsiteY1" fmla="*/ 16 h 1665137"/>
              <a:gd name="connsiteX2" fmla="*/ 304239 w 1246931"/>
              <a:gd name="connsiteY2" fmla="*/ 1523290 h 1665137"/>
              <a:gd name="connsiteX0" fmla="*/ 558447 w 807793"/>
              <a:gd name="connsiteY0" fmla="*/ 1665098 h 1666895"/>
              <a:gd name="connsiteX1" fmla="*/ 353033 w 807793"/>
              <a:gd name="connsiteY1" fmla="*/ 1 h 1666895"/>
              <a:gd name="connsiteX2" fmla="*/ 280769 w 807793"/>
              <a:gd name="connsiteY2" fmla="*/ 1666894 h 1666895"/>
              <a:gd name="connsiteX0" fmla="*/ 669436 w 867033"/>
              <a:gd name="connsiteY0" fmla="*/ 1736907 h 1738702"/>
              <a:gd name="connsiteX1" fmla="*/ 132368 w 867033"/>
              <a:gd name="connsiteY1" fmla="*/ 0 h 1738702"/>
              <a:gd name="connsiteX2" fmla="*/ 391758 w 867033"/>
              <a:gd name="connsiteY2" fmla="*/ 1738703 h 1738702"/>
              <a:gd name="connsiteX0" fmla="*/ 550847 w 806644"/>
              <a:gd name="connsiteY0" fmla="*/ 1826669 h 1828465"/>
              <a:gd name="connsiteX1" fmla="*/ 377528 w 806644"/>
              <a:gd name="connsiteY1" fmla="*/ 0 h 1828465"/>
              <a:gd name="connsiteX2" fmla="*/ 273169 w 806644"/>
              <a:gd name="connsiteY2" fmla="*/ 1828465 h 1828465"/>
              <a:gd name="connsiteX0" fmla="*/ 649313 w 994597"/>
              <a:gd name="connsiteY0" fmla="*/ 1827812 h 1829608"/>
              <a:gd name="connsiteX1" fmla="*/ 475994 w 994597"/>
              <a:gd name="connsiteY1" fmla="*/ 1143 h 1829608"/>
              <a:gd name="connsiteX2" fmla="*/ 371635 w 994597"/>
              <a:gd name="connsiteY2" fmla="*/ 1829608 h 1829608"/>
              <a:gd name="connsiteX0" fmla="*/ 649313 w 994598"/>
              <a:gd name="connsiteY0" fmla="*/ 1827812 h 1829608"/>
              <a:gd name="connsiteX1" fmla="*/ 475994 w 994598"/>
              <a:gd name="connsiteY1" fmla="*/ 1143 h 1829608"/>
              <a:gd name="connsiteX2" fmla="*/ 371635 w 994598"/>
              <a:gd name="connsiteY2" fmla="*/ 1829608 h 1829608"/>
              <a:gd name="connsiteX0" fmla="*/ 657307 w 995629"/>
              <a:gd name="connsiteY0" fmla="*/ 1702225 h 1704021"/>
              <a:gd name="connsiteX1" fmla="*/ 462591 w 995629"/>
              <a:gd name="connsiteY1" fmla="*/ 1223 h 1704021"/>
              <a:gd name="connsiteX2" fmla="*/ 379629 w 995629"/>
              <a:gd name="connsiteY2" fmla="*/ 1704021 h 1704021"/>
              <a:gd name="connsiteX0" fmla="*/ 657307 w 1022369"/>
              <a:gd name="connsiteY0" fmla="*/ 1701002 h 1702798"/>
              <a:gd name="connsiteX1" fmla="*/ 462591 w 1022369"/>
              <a:gd name="connsiteY1" fmla="*/ 0 h 1702798"/>
              <a:gd name="connsiteX2" fmla="*/ 379629 w 1022369"/>
              <a:gd name="connsiteY2" fmla="*/ 1702798 h 1702798"/>
              <a:gd name="connsiteX0" fmla="*/ 709327 w 1074389"/>
              <a:gd name="connsiteY0" fmla="*/ 1701002 h 1702798"/>
              <a:gd name="connsiteX1" fmla="*/ 514611 w 1074389"/>
              <a:gd name="connsiteY1" fmla="*/ 0 h 1702798"/>
              <a:gd name="connsiteX2" fmla="*/ 431649 w 1074389"/>
              <a:gd name="connsiteY2" fmla="*/ 1702798 h 1702798"/>
              <a:gd name="connsiteX0" fmla="*/ 538151 w 971924"/>
              <a:gd name="connsiteY0" fmla="*/ 1701002 h 1702798"/>
              <a:gd name="connsiteX1" fmla="*/ 514611 w 971924"/>
              <a:gd name="connsiteY1" fmla="*/ 0 h 1702798"/>
              <a:gd name="connsiteX2" fmla="*/ 431649 w 971924"/>
              <a:gd name="connsiteY2" fmla="*/ 1702798 h 1702798"/>
              <a:gd name="connsiteX0" fmla="*/ 516754 w 960338"/>
              <a:gd name="connsiteY0" fmla="*/ 1736906 h 1736930"/>
              <a:gd name="connsiteX1" fmla="*/ 514611 w 960338"/>
              <a:gd name="connsiteY1" fmla="*/ 0 h 1736930"/>
              <a:gd name="connsiteX2" fmla="*/ 431649 w 960338"/>
              <a:gd name="connsiteY2" fmla="*/ 1702798 h 1736930"/>
              <a:gd name="connsiteX0" fmla="*/ 487470 w 931054"/>
              <a:gd name="connsiteY0" fmla="*/ 1736906 h 1774609"/>
              <a:gd name="connsiteX1" fmla="*/ 485327 w 931054"/>
              <a:gd name="connsiteY1" fmla="*/ 0 h 1774609"/>
              <a:gd name="connsiteX2" fmla="*/ 455857 w 931054"/>
              <a:gd name="connsiteY2" fmla="*/ 1774609 h 1774609"/>
              <a:gd name="connsiteX0" fmla="*/ 487470 w 974223"/>
              <a:gd name="connsiteY0" fmla="*/ 1736906 h 1774609"/>
              <a:gd name="connsiteX1" fmla="*/ 485327 w 974223"/>
              <a:gd name="connsiteY1" fmla="*/ 0 h 1774609"/>
              <a:gd name="connsiteX2" fmla="*/ 455857 w 974223"/>
              <a:gd name="connsiteY2" fmla="*/ 1774609 h 1774609"/>
              <a:gd name="connsiteX0" fmla="*/ 526743 w 1013496"/>
              <a:gd name="connsiteY0" fmla="*/ 1736906 h 1774609"/>
              <a:gd name="connsiteX1" fmla="*/ 524600 w 1013496"/>
              <a:gd name="connsiteY1" fmla="*/ 0 h 1774609"/>
              <a:gd name="connsiteX2" fmla="*/ 495130 w 1013496"/>
              <a:gd name="connsiteY2" fmla="*/ 1774609 h 1774609"/>
            </a:gdLst>
            <a:ahLst/>
            <a:cxnLst>
              <a:cxn ang="0">
                <a:pos x="connsiteX0" y="connsiteY0"/>
              </a:cxn>
              <a:cxn ang="0">
                <a:pos x="connsiteX1" y="connsiteY1"/>
              </a:cxn>
              <a:cxn ang="0">
                <a:pos x="connsiteX2" y="connsiteY2"/>
              </a:cxn>
            </a:cxnLst>
            <a:rect l="l" t="t" r="r" b="b"/>
            <a:pathLst>
              <a:path w="1013496" h="1774609">
                <a:moveTo>
                  <a:pt x="526743" y="1736906"/>
                </a:moveTo>
                <a:cubicBezTo>
                  <a:pt x="1171506" y="1744385"/>
                  <a:pt x="1180694" y="17653"/>
                  <a:pt x="524600" y="0"/>
                </a:cubicBezTo>
                <a:cubicBezTo>
                  <a:pt x="-184987" y="18251"/>
                  <a:pt x="-154924" y="1764468"/>
                  <a:pt x="495130" y="1774609"/>
                </a:cubicBezTo>
              </a:path>
            </a:pathLst>
          </a:custGeom>
          <a:noFill/>
          <a:ln w="38100">
            <a:solidFill>
              <a:srgbClr val="E4486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19" name="小标题1">
                <a:extLst>
                  <a:ext uri="{FF2B5EF4-FFF2-40B4-BE49-F238E27FC236}">
                    <a16:creationId xmlns:a16="http://schemas.microsoft.com/office/drawing/2014/main" id="{68C42B9C-85DA-E639-D266-F9436FC19ADC}"/>
                  </a:ext>
                </a:extLst>
              </p:cNvPr>
              <p:cNvSpPr/>
              <p:nvPr/>
            </p:nvSpPr>
            <p:spPr bwMode="auto">
              <a:xfrm>
                <a:off x="1113997" y="4777366"/>
                <a:ext cx="3407391"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14:m>
                  <m:oMath xmlns:m="http://schemas.openxmlformats.org/officeDocument/2006/math">
                    <m:r>
                      <a:rPr lang="en-US" altLang="zh-CN" sz="3200" b="1" i="1" smtClean="0">
                        <a:solidFill>
                          <a:schemeClr val="bg1"/>
                        </a:solidFill>
                        <a:latin typeface="Cambria Math" panose="02040503050406030204" pitchFamily="18" charset="0"/>
                      </a:rPr>
                      <m:t>𝒔</m:t>
                    </m:r>
                  </m:oMath>
                </a14:m>
                <a:r>
                  <a:rPr lang="zh-CN" altLang="en-US" sz="3200" b="1" dirty="0">
                    <a:solidFill>
                      <a:schemeClr val="bg1"/>
                    </a:solidFill>
                    <a:latin typeface="+mn-ea"/>
                  </a:rPr>
                  <a:t>平面上的曲线</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endParaRPr lang="zh-CN" altLang="en-US" sz="3200" b="1" dirty="0">
                  <a:solidFill>
                    <a:schemeClr val="bg1"/>
                  </a:solidFill>
                  <a:latin typeface="+mn-ea"/>
                </a:endParaRPr>
              </a:p>
            </p:txBody>
          </p:sp>
        </mc:Choice>
        <mc:Fallback xmlns="">
          <p:sp>
            <p:nvSpPr>
              <p:cNvPr id="19" name="小标题1">
                <a:extLst>
                  <a:ext uri="{FF2B5EF4-FFF2-40B4-BE49-F238E27FC236}">
                    <a16:creationId xmlns:a16="http://schemas.microsoft.com/office/drawing/2014/main" id="{68C42B9C-85DA-E639-D266-F9436FC19ADC}"/>
                  </a:ext>
                </a:extLst>
              </p:cNvPr>
              <p:cNvSpPr>
                <a:spLocks noRot="1" noChangeAspect="1" noMove="1" noResize="1" noEditPoints="1" noAdjustHandles="1" noChangeArrowheads="1" noChangeShapeType="1" noTextEdit="1"/>
              </p:cNvSpPr>
              <p:nvPr/>
            </p:nvSpPr>
            <p:spPr bwMode="auto">
              <a:xfrm>
                <a:off x="1113997" y="4777366"/>
                <a:ext cx="3407391" cy="576000"/>
              </a:xfrm>
              <a:prstGeom prst="roundRect">
                <a:avLst/>
              </a:prstGeom>
              <a:blipFill>
                <a:blip r:embed="rId21"/>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小标题1">
                <a:extLst>
                  <a:ext uri="{FF2B5EF4-FFF2-40B4-BE49-F238E27FC236}">
                    <a16:creationId xmlns:a16="http://schemas.microsoft.com/office/drawing/2014/main" id="{CB0A1890-247E-C56C-C2C0-85004F7CF6FE}"/>
                  </a:ext>
                </a:extLst>
              </p:cNvPr>
              <p:cNvSpPr/>
              <p:nvPr/>
            </p:nvSpPr>
            <p:spPr bwMode="auto">
              <a:xfrm>
                <a:off x="6546575" y="4777366"/>
                <a:ext cx="4706848"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14:m>
                  <m:oMath xmlns:m="http://schemas.openxmlformats.org/officeDocument/2006/math">
                    <m:sSub>
                      <m:sSubPr>
                        <m:ctrlPr>
                          <a:rPr lang="en-US" altLang="zh-CN" sz="3200" b="1" i="1" smtClean="0">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r>
                  <a:rPr lang="zh-CN" altLang="en-US" sz="3200" b="1" dirty="0">
                    <a:solidFill>
                      <a:schemeClr val="bg1"/>
                    </a:solidFill>
                  </a:rPr>
                  <a:t>在</a:t>
                </a:r>
                <a14:m>
                  <m:oMath xmlns:m="http://schemas.openxmlformats.org/officeDocument/2006/math">
                    <m:r>
                      <a:rPr lang="en-US" altLang="zh-CN" sz="3200" b="1" i="1" dirty="0" smtClean="0">
                        <a:solidFill>
                          <a:schemeClr val="bg1"/>
                        </a:solidFill>
                        <a:latin typeface="Cambria Math" panose="02040503050406030204" pitchFamily="18" charset="0"/>
                      </a:rPr>
                      <m:t>𝑭</m:t>
                    </m:r>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𝒔</m:t>
                    </m:r>
                    <m:r>
                      <a:rPr lang="en-US" altLang="zh-CN" sz="3200" b="1" i="1" dirty="0" smtClean="0">
                        <a:solidFill>
                          <a:schemeClr val="bg1"/>
                        </a:solidFill>
                        <a:latin typeface="Cambria Math" panose="02040503050406030204" pitchFamily="18" charset="0"/>
                      </a:rPr>
                      <m:t>)</m:t>
                    </m:r>
                  </m:oMath>
                </a14:m>
                <a:r>
                  <a:rPr lang="zh-CN" altLang="en-US" sz="3200" b="1" dirty="0">
                    <a:solidFill>
                      <a:schemeClr val="bg1"/>
                    </a:solidFill>
                    <a:latin typeface="+mn-ea"/>
                  </a:rPr>
                  <a:t>平面上的映射</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smtClean="0">
                            <a:solidFill>
                              <a:schemeClr val="bg1"/>
                            </a:solidFill>
                            <a:latin typeface="Cambria Math" panose="02040503050406030204" pitchFamily="18" charset="0"/>
                          </a:rPr>
                          <m:t>𝑭</m:t>
                        </m:r>
                      </m:sub>
                    </m:sSub>
                  </m:oMath>
                </a14:m>
                <a:endParaRPr lang="zh-CN" altLang="en-US" sz="3200" b="1" dirty="0">
                  <a:solidFill>
                    <a:schemeClr val="bg1"/>
                  </a:solidFill>
                  <a:latin typeface="+mn-ea"/>
                </a:endParaRPr>
              </a:p>
            </p:txBody>
          </p:sp>
        </mc:Choice>
        <mc:Fallback xmlns="">
          <p:sp>
            <p:nvSpPr>
              <p:cNvPr id="20" name="小标题1">
                <a:extLst>
                  <a:ext uri="{FF2B5EF4-FFF2-40B4-BE49-F238E27FC236}">
                    <a16:creationId xmlns:a16="http://schemas.microsoft.com/office/drawing/2014/main" id="{CB0A1890-247E-C56C-C2C0-85004F7CF6FE}"/>
                  </a:ext>
                </a:extLst>
              </p:cNvPr>
              <p:cNvSpPr>
                <a:spLocks noRot="1" noChangeAspect="1" noMove="1" noResize="1" noEditPoints="1" noAdjustHandles="1" noChangeArrowheads="1" noChangeShapeType="1" noTextEdit="1"/>
              </p:cNvSpPr>
              <p:nvPr/>
            </p:nvSpPr>
            <p:spPr bwMode="auto">
              <a:xfrm>
                <a:off x="6546575" y="4777366"/>
                <a:ext cx="4706848" cy="576000"/>
              </a:xfrm>
              <a:prstGeom prst="roundRect">
                <a:avLst/>
              </a:prstGeom>
              <a:blipFill>
                <a:blip r:embed="rId22"/>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说明3">
                <a:extLst>
                  <a:ext uri="{FF2B5EF4-FFF2-40B4-BE49-F238E27FC236}">
                    <a16:creationId xmlns:a16="http://schemas.microsoft.com/office/drawing/2014/main" id="{EC131747-8E81-90B5-395F-C2D60D619A61}"/>
                  </a:ext>
                </a:extLst>
              </p:cNvPr>
              <p:cNvSpPr txBox="1"/>
              <p:nvPr/>
            </p:nvSpPr>
            <p:spPr>
              <a:xfrm>
                <a:off x="6778971" y="4077072"/>
                <a:ext cx="4242057"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rgbClr val="2980B9"/>
                          </a:solidFill>
                          <a:latin typeface="Cambria Math" panose="02040503050406030204" pitchFamily="18" charset="0"/>
                        </a:rPr>
                        <m:t>𝑅</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𝑃</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𝑍</m:t>
                      </m:r>
                      <m:r>
                        <a:rPr kumimoji="1" lang="en-US" altLang="zh-CN" sz="2800" b="0" i="1" smtClean="0">
                          <a:solidFill>
                            <a:srgbClr val="2980B9"/>
                          </a:solidFill>
                          <a:latin typeface="Cambria Math" panose="02040503050406030204" pitchFamily="18" charset="0"/>
                        </a:rPr>
                        <m:t>=0−1=−1</m:t>
                      </m:r>
                    </m:oMath>
                  </m:oMathPara>
                </a14:m>
                <a:endParaRPr kumimoji="1" lang="zh-CN" altLang="en-US" sz="2800" dirty="0">
                  <a:solidFill>
                    <a:srgbClr val="2980B9"/>
                  </a:solidFill>
                </a:endParaRPr>
              </a:p>
            </p:txBody>
          </p:sp>
        </mc:Choice>
        <mc:Fallback xmlns="">
          <p:sp>
            <p:nvSpPr>
              <p:cNvPr id="21" name="说明3">
                <a:extLst>
                  <a:ext uri="{FF2B5EF4-FFF2-40B4-BE49-F238E27FC236}">
                    <a16:creationId xmlns:a16="http://schemas.microsoft.com/office/drawing/2014/main" id="{EC131747-8E81-90B5-395F-C2D60D619A61}"/>
                  </a:ext>
                </a:extLst>
              </p:cNvPr>
              <p:cNvSpPr txBox="1">
                <a:spLocks noRot="1" noChangeAspect="1" noMove="1" noResize="1" noEditPoints="1" noAdjustHandles="1" noChangeArrowheads="1" noChangeShapeType="1" noTextEdit="1"/>
              </p:cNvSpPr>
              <p:nvPr/>
            </p:nvSpPr>
            <p:spPr>
              <a:xfrm>
                <a:off x="6778971" y="4077072"/>
                <a:ext cx="4242057" cy="578882"/>
              </a:xfrm>
              <a:prstGeom prst="flowChartAlternateProcess">
                <a:avLst/>
              </a:prstGeom>
              <a:blipFill>
                <a:blip r:embed="rId23"/>
                <a:stretch>
                  <a:fillRect/>
                </a:stretch>
              </a:blipFill>
              <a:ln>
                <a:prstDash val="sysDot"/>
              </a:ln>
            </p:spPr>
            <p:txBody>
              <a:bodyPr/>
              <a:lstStyle/>
              <a:p>
                <a:r>
                  <a:rPr lang="zh-CN" altLang="en-US">
                    <a:noFill/>
                  </a:rPr>
                  <a:t> </a:t>
                </a:r>
              </a:p>
            </p:txBody>
          </p:sp>
        </mc:Fallback>
      </mc:AlternateContent>
      <p:sp>
        <p:nvSpPr>
          <p:cNvPr id="22" name="重要1">
            <a:extLst>
              <a:ext uri="{FF2B5EF4-FFF2-40B4-BE49-F238E27FC236}">
                <a16:creationId xmlns:a16="http://schemas.microsoft.com/office/drawing/2014/main" id="{ECA41592-49F4-EB2D-560D-1F507017BA3F}"/>
              </a:ext>
            </a:extLst>
          </p:cNvPr>
          <p:cNvSpPr txBox="1"/>
          <p:nvPr/>
        </p:nvSpPr>
        <p:spPr>
          <a:xfrm>
            <a:off x="286414" y="5734308"/>
            <a:ext cx="1432997"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kumimoji="1" lang="zh-CN" altLang="en-US" sz="3200" b="1" dirty="0">
                <a:solidFill>
                  <a:schemeClr val="bg1"/>
                </a:solidFill>
              </a:rPr>
              <a:t>结论</a:t>
            </a:r>
          </a:p>
        </p:txBody>
      </p:sp>
      <mc:AlternateContent xmlns:mc="http://schemas.openxmlformats.org/markup-compatibility/2006" xmlns:a14="http://schemas.microsoft.com/office/drawing/2010/main">
        <mc:Choice Requires="a14">
          <p:sp>
            <p:nvSpPr>
              <p:cNvPr id="23" name="说明3">
                <a:extLst>
                  <a:ext uri="{FF2B5EF4-FFF2-40B4-BE49-F238E27FC236}">
                    <a16:creationId xmlns:a16="http://schemas.microsoft.com/office/drawing/2014/main" id="{DD130DF6-9179-64D2-8CBE-A0079907A665}"/>
                  </a:ext>
                </a:extLst>
              </p:cNvPr>
              <p:cNvSpPr txBox="1"/>
              <p:nvPr/>
            </p:nvSpPr>
            <p:spPr>
              <a:xfrm>
                <a:off x="2017461" y="5541308"/>
                <a:ext cx="10052420"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kumimoji="1" lang="en-US" altLang="zh-CN" sz="2800" i="1" dirty="0" smtClean="0">
                            <a:solidFill>
                              <a:srgbClr val="2980B9"/>
                            </a:solidFill>
                            <a:latin typeface="Cambria Math" panose="02040503050406030204" pitchFamily="18" charset="0"/>
                          </a:rPr>
                        </m:ctrlPr>
                      </m:sSubPr>
                      <m:e>
                        <m:r>
                          <a:rPr kumimoji="1" lang="zh-CN" altLang="en-US" sz="2800" i="1" dirty="0" smtClean="0">
                            <a:solidFill>
                              <a:srgbClr val="2980B9"/>
                            </a:solidFill>
                            <a:latin typeface="Cambria Math" panose="02040503050406030204" pitchFamily="18" charset="0"/>
                          </a:rPr>
                          <m:t>𝚪</m:t>
                        </m:r>
                      </m:e>
                      <m:sub>
                        <m:r>
                          <a:rPr kumimoji="1" lang="en-US" altLang="zh-CN" sz="2800" i="1" dirty="0" smtClean="0">
                            <a:solidFill>
                              <a:srgbClr val="2980B9"/>
                            </a:solidFill>
                            <a:latin typeface="Cambria Math" panose="02040503050406030204" pitchFamily="18" charset="0"/>
                          </a:rPr>
                          <m:t>𝑠</m:t>
                        </m:r>
                      </m:sub>
                    </m:sSub>
                  </m:oMath>
                </a14:m>
                <a:r>
                  <a:rPr kumimoji="1" lang="zh-CN" altLang="en-US" sz="2800" dirty="0">
                    <a:solidFill>
                      <a:srgbClr val="2980B9"/>
                    </a:solidFill>
                  </a:rPr>
                  <a:t>按顺时针方向围绕</a:t>
                </a:r>
                <a14:m>
                  <m:oMath xmlns:m="http://schemas.openxmlformats.org/officeDocument/2006/math">
                    <m:r>
                      <a:rPr kumimoji="1" lang="en-US" altLang="zh-CN" sz="2800" b="0" i="1" smtClean="0">
                        <a:solidFill>
                          <a:srgbClr val="2980B9"/>
                        </a:solidFill>
                        <a:latin typeface="Cambria Math" panose="02040503050406030204" pitchFamily="18" charset="0"/>
                      </a:rPr>
                      <m:t>𝐹</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oMath>
                </a14:m>
                <a:r>
                  <a:rPr kumimoji="1" lang="zh-CN" altLang="en-US" sz="2800" dirty="0">
                    <a:solidFill>
                      <a:srgbClr val="2980B9"/>
                    </a:solidFill>
                  </a:rPr>
                  <a:t>的一个零点，则其在</a:t>
                </a:r>
                <a14:m>
                  <m:oMath xmlns:m="http://schemas.openxmlformats.org/officeDocument/2006/math">
                    <m:r>
                      <a:rPr kumimoji="1" lang="en-US" altLang="zh-CN" sz="2800" b="0" i="1" smtClean="0">
                        <a:solidFill>
                          <a:srgbClr val="2980B9"/>
                        </a:solidFill>
                        <a:latin typeface="Cambria Math" panose="02040503050406030204" pitchFamily="18" charset="0"/>
                      </a:rPr>
                      <m:t>𝐹</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oMath>
                </a14:m>
                <a:r>
                  <a:rPr kumimoji="1" lang="zh-CN" altLang="en-US" sz="2800" dirty="0">
                    <a:solidFill>
                      <a:srgbClr val="2980B9"/>
                    </a:solidFill>
                  </a:rPr>
                  <a:t>平面上的映射曲线</a:t>
                </a:r>
                <a14:m>
                  <m:oMath xmlns:m="http://schemas.openxmlformats.org/officeDocument/2006/math">
                    <m:sSub>
                      <m:sSubPr>
                        <m:ctrlPr>
                          <a:rPr kumimoji="1" lang="en-US" altLang="zh-CN" sz="2800" i="1" dirty="0">
                            <a:solidFill>
                              <a:srgbClr val="2980B9"/>
                            </a:solidFill>
                            <a:latin typeface="Cambria Math" panose="02040503050406030204" pitchFamily="18" charset="0"/>
                          </a:rPr>
                        </m:ctrlPr>
                      </m:sSubPr>
                      <m:e>
                        <m:r>
                          <a:rPr kumimoji="1" lang="zh-CN" altLang="en-US" sz="2800" i="1" dirty="0">
                            <a:solidFill>
                              <a:srgbClr val="2980B9"/>
                            </a:solidFill>
                            <a:latin typeface="Cambria Math" panose="02040503050406030204" pitchFamily="18" charset="0"/>
                          </a:rPr>
                          <m:t>𝚪</m:t>
                        </m:r>
                      </m:e>
                      <m:sub>
                        <m:r>
                          <a:rPr kumimoji="1" lang="en-US" altLang="zh-CN" sz="2800" b="0" i="1" dirty="0" smtClean="0">
                            <a:solidFill>
                              <a:srgbClr val="2980B9"/>
                            </a:solidFill>
                            <a:latin typeface="Cambria Math" panose="02040503050406030204" pitchFamily="18" charset="0"/>
                          </a:rPr>
                          <m:t>𝐹</m:t>
                        </m:r>
                      </m:sub>
                    </m:sSub>
                  </m:oMath>
                </a14:m>
                <a:r>
                  <a:rPr kumimoji="1" lang="zh-CN" altLang="en-US" sz="2800" dirty="0">
                    <a:solidFill>
                      <a:srgbClr val="2980B9"/>
                    </a:solidFill>
                  </a:rPr>
                  <a:t>也按顺时针方向围绕</a:t>
                </a:r>
                <a14:m>
                  <m:oMath xmlns:m="http://schemas.openxmlformats.org/officeDocument/2006/math">
                    <m:r>
                      <a:rPr kumimoji="1" lang="en-US" altLang="zh-CN" sz="2800" i="1">
                        <a:solidFill>
                          <a:srgbClr val="2980B9"/>
                        </a:solidFill>
                        <a:latin typeface="Cambria Math" panose="02040503050406030204" pitchFamily="18" charset="0"/>
                      </a:rPr>
                      <m:t>𝐹</m:t>
                    </m:r>
                    <m:r>
                      <a:rPr kumimoji="1" lang="en-US" altLang="zh-CN" sz="2800" i="1">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𝑠</m:t>
                    </m:r>
                    <m:r>
                      <a:rPr kumimoji="1" lang="en-US" altLang="zh-CN" sz="2800" i="1">
                        <a:solidFill>
                          <a:srgbClr val="2980B9"/>
                        </a:solidFill>
                        <a:latin typeface="Cambria Math" panose="02040503050406030204" pitchFamily="18" charset="0"/>
                      </a:rPr>
                      <m:t>)</m:t>
                    </m:r>
                  </m:oMath>
                </a14:m>
                <a:r>
                  <a:rPr kumimoji="1" lang="zh-CN" altLang="en-US" sz="2800" dirty="0">
                    <a:solidFill>
                      <a:srgbClr val="2980B9"/>
                    </a:solidFill>
                  </a:rPr>
                  <a:t>平面的坐标原点旋转一周。</a:t>
                </a:r>
              </a:p>
            </p:txBody>
          </p:sp>
        </mc:Choice>
        <mc:Fallback xmlns="">
          <p:sp>
            <p:nvSpPr>
              <p:cNvPr id="23" name="说明3">
                <a:extLst>
                  <a:ext uri="{FF2B5EF4-FFF2-40B4-BE49-F238E27FC236}">
                    <a16:creationId xmlns:a16="http://schemas.microsoft.com/office/drawing/2014/main" id="{DD130DF6-9179-64D2-8CBE-A0079907A665}"/>
                  </a:ext>
                </a:extLst>
              </p:cNvPr>
              <p:cNvSpPr txBox="1">
                <a:spLocks noRot="1" noChangeAspect="1" noMove="1" noResize="1" noEditPoints="1" noAdjustHandles="1" noChangeArrowheads="1" noChangeShapeType="1" noTextEdit="1"/>
              </p:cNvSpPr>
              <p:nvPr/>
            </p:nvSpPr>
            <p:spPr>
              <a:xfrm>
                <a:off x="2017461" y="5541308"/>
                <a:ext cx="10052420" cy="1055608"/>
              </a:xfrm>
              <a:prstGeom prst="flowChartAlternateProcess">
                <a:avLst/>
              </a:prstGeom>
              <a:blipFill>
                <a:blip r:embed="rId24"/>
                <a:stretch>
                  <a:fillRect l="-629" b="-8140"/>
                </a:stretch>
              </a:blipFill>
              <a:ln>
                <a:prstDash val="sysDot"/>
              </a:ln>
            </p:spPr>
            <p:txBody>
              <a:bodyPr/>
              <a:lstStyle/>
              <a:p>
                <a:r>
                  <a:rPr lang="zh-CN" altLang="en-US">
                    <a:noFill/>
                  </a:rPr>
                  <a:t> </a:t>
                </a:r>
              </a:p>
            </p:txBody>
          </p:sp>
        </mc:Fallback>
      </mc:AlternateContent>
    </p:spTree>
    <p:extLst>
      <p:ext uri="{BB962C8B-B14F-4D97-AF65-F5344CB8AC3E}">
        <p14:creationId xmlns:p14="http://schemas.microsoft.com/office/powerpoint/2010/main" val="2541286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22" presetClass="entr" presetSubtype="4"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wipe(down)">
                                      <p:cBhvr>
                                        <p:cTn id="9" dur="500"/>
                                        <p:tgtEl>
                                          <p:spTgt spid="19"/>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wipe(down)">
                                      <p:cBhvr>
                                        <p:cTn id="13" dur="500"/>
                                        <p:tgtEl>
                                          <p:spTgt spid="77"/>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heel(1)">
                                      <p:cBhvr>
                                        <p:cTn id="18" dur="10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2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down)">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heel(1)">
                                      <p:cBhvr>
                                        <p:cTn id="30" dur="10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down)">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down)">
                                      <p:cBhvr>
                                        <p:cTn id="40" dur="500"/>
                                        <p:tgtEl>
                                          <p:spTgt spid="22"/>
                                        </p:tgtEl>
                                      </p:cBhvr>
                                    </p:animEffect>
                                  </p:childTnLst>
                                </p:cTn>
                              </p:par>
                            </p:childTnLst>
                          </p:cTn>
                        </p:par>
                        <p:par>
                          <p:cTn id="41" fill="hold">
                            <p:stCondLst>
                              <p:cond delay="500"/>
                            </p:stCondLst>
                            <p:childTnLst>
                              <p:par>
                                <p:cTn id="42" presetID="22" presetClass="entr" presetSubtype="4" fill="hold" grpId="0" nodeType="after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down)">
                                      <p:cBhvr>
                                        <p:cTn id="4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77" grpId="0" animBg="1"/>
      <p:bldP spid="18"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选择曲线</a:t>
                </a:r>
                <a14:m>
                  <m:oMath xmlns:m="http://schemas.openxmlformats.org/officeDocument/2006/math">
                    <m:sSub>
                      <m:sSubPr>
                        <m:ctrlPr>
                          <a:rPr lang="en-US" altLang="zh-CN" sz="2800" b="1" i="1" smtClean="0">
                            <a:solidFill>
                              <a:schemeClr val="bg1"/>
                            </a:solidFill>
                            <a:latin typeface="Cambria Math" panose="02040503050406030204" pitchFamily="18" charset="0"/>
                          </a:rPr>
                        </m:ctrlPr>
                      </m:sSubPr>
                      <m:e>
                        <m:r>
                          <a:rPr lang="zh-CN" altLang="en-US" sz="2800" b="1" i="1">
                            <a:solidFill>
                              <a:schemeClr val="bg1"/>
                            </a:solidFill>
                            <a:latin typeface="Cambria Math" panose="02040503050406030204" pitchFamily="18" charset="0"/>
                          </a:rPr>
                          <m:t>𝚪</m:t>
                        </m:r>
                      </m:e>
                      <m:sub>
                        <m:r>
                          <a:rPr lang="en-US" altLang="zh-CN" sz="2800" b="1" i="1">
                            <a:solidFill>
                              <a:schemeClr val="bg1"/>
                            </a:solidFill>
                            <a:latin typeface="Cambria Math" panose="02040503050406030204" pitchFamily="18" charset="0"/>
                          </a:rPr>
                          <m:t>𝒔</m:t>
                        </m:r>
                      </m:sub>
                    </m:sSub>
                  </m:oMath>
                </a14:m>
                <a:r>
                  <a:rPr lang="zh-CN" altLang="en-US" sz="2800" b="1" dirty="0">
                    <a:solidFill>
                      <a:schemeClr val="bg1"/>
                    </a:solidFill>
                    <a:latin typeface="微软雅黑" panose="020B0503020204020204" pitchFamily="34" charset="-122"/>
                    <a:ea typeface="微软雅黑" panose="020B0503020204020204" pitchFamily="34" charset="-122"/>
                  </a:rPr>
                  <a:t>围绕</a:t>
                </a:r>
                <a14:m>
                  <m:oMath xmlns:m="http://schemas.openxmlformats.org/officeDocument/2006/math">
                    <m:r>
                      <a:rPr lang="en-US" altLang="zh-CN" sz="2800" b="1" i="1">
                        <a:solidFill>
                          <a:schemeClr val="bg1"/>
                        </a:solidFill>
                        <a:latin typeface="Cambria Math" panose="02040503050406030204" pitchFamily="18" charset="0"/>
                      </a:rPr>
                      <m:t>𝑭</m:t>
                    </m:r>
                    <m:r>
                      <a:rPr lang="en-US" altLang="zh-CN" sz="2800" b="1" i="1">
                        <a:solidFill>
                          <a:schemeClr val="bg1"/>
                        </a:solidFill>
                        <a:latin typeface="Cambria Math" panose="02040503050406030204" pitchFamily="18" charset="0"/>
                      </a:rPr>
                      <m:t>(</m:t>
                    </m:r>
                    <m:r>
                      <a:rPr lang="en-US" altLang="zh-CN" sz="2800" b="1" i="1">
                        <a:solidFill>
                          <a:schemeClr val="bg1"/>
                        </a:solidFill>
                        <a:latin typeface="Cambria Math" panose="02040503050406030204" pitchFamily="18" charset="0"/>
                      </a:rPr>
                      <m:t>𝒔</m:t>
                    </m:r>
                    <m:r>
                      <a:rPr lang="en-US" altLang="zh-CN" sz="2800" b="1" i="1">
                        <a:solidFill>
                          <a:schemeClr val="bg1"/>
                        </a:solidFill>
                        <a:latin typeface="Cambria Math" panose="02040503050406030204" pitchFamily="18" charset="0"/>
                      </a:rPr>
                      <m:t>)</m:t>
                    </m:r>
                  </m:oMath>
                </a14:m>
                <a:r>
                  <a:rPr lang="zh-CN" altLang="en-US" sz="2800" b="1" dirty="0">
                    <a:solidFill>
                      <a:schemeClr val="bg1"/>
                    </a:solidFill>
                    <a:latin typeface="微软雅黑" panose="020B0503020204020204" pitchFamily="34" charset="-122"/>
                    <a:ea typeface="微软雅黑" panose="020B0503020204020204" pitchFamily="34" charset="-122"/>
                  </a:rPr>
                  <a:t>的一个</a:t>
                </a:r>
                <a:r>
                  <a:rPr lang="zh-CN" altLang="en-US" sz="2800" b="1" dirty="0">
                    <a:solidFill>
                      <a:srgbClr val="FF0000"/>
                    </a:solidFill>
                    <a:latin typeface="微软雅黑" panose="020B0503020204020204" pitchFamily="34" charset="-122"/>
                    <a:ea typeface="微软雅黑" panose="020B0503020204020204" pitchFamily="34" charset="-122"/>
                  </a:rPr>
                  <a:t>极点</a:t>
                </a:r>
              </a:p>
            </p:txBody>
          </p:sp>
        </mc:Choice>
        <mc:Fallback xmlns="">
          <p:sp>
            <p:nvSpPr>
              <p:cNvPr id="45" name="标题">
                <a:extLst>
                  <a:ext uri="{FF2B5EF4-FFF2-40B4-BE49-F238E27FC236}">
                    <a16:creationId xmlns:a16="http://schemas.microsoft.com/office/drawing/2014/main" id="{83FE2B42-5ECC-BC4E-A248-5C517753D47C}"/>
                  </a:ext>
                </a:extLst>
              </p:cNvPr>
              <p:cNvSpPr txBox="1">
                <a:spLocks noRot="1" noChangeAspect="1" noMove="1" noResize="1" noEditPoints="1" noAdjustHandles="1" noChangeArrowheads="1" noChangeShapeType="1" noTextEdit="1"/>
              </p:cNvSpPr>
              <p:nvPr/>
            </p:nvSpPr>
            <p:spPr>
              <a:xfrm>
                <a:off x="268976" y="345396"/>
                <a:ext cx="5321917" cy="523220"/>
              </a:xfrm>
              <a:prstGeom prst="rect">
                <a:avLst/>
              </a:prstGeom>
              <a:blipFill>
                <a:blip r:embed="rId3"/>
                <a:stretch>
                  <a:fillRect l="-2381" t="-11905"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说明3">
                <a:extLst>
                  <a:ext uri="{FF2B5EF4-FFF2-40B4-BE49-F238E27FC236}">
                    <a16:creationId xmlns:a16="http://schemas.microsoft.com/office/drawing/2014/main" id="{3BE806FA-DA2B-4F96-8D98-4704BED9F673}"/>
                  </a:ext>
                </a:extLst>
              </p:cNvPr>
              <p:cNvSpPr txBox="1"/>
              <p:nvPr/>
            </p:nvSpPr>
            <p:spPr>
              <a:xfrm>
                <a:off x="6170800" y="211986"/>
                <a:ext cx="2821909" cy="77780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选</a:t>
                </a:r>
                <a14:m>
                  <m:oMath xmlns:m="http://schemas.openxmlformats.org/officeDocument/2006/math">
                    <m:r>
                      <a:rPr kumimoji="1" lang="en-US" altLang="zh-CN" sz="2800" b="0" i="1" smtClean="0">
                        <a:solidFill>
                          <a:srgbClr val="2980B9"/>
                        </a:solidFill>
                        <a:latin typeface="Cambria Math" panose="02040503050406030204" pitchFamily="18" charset="0"/>
                      </a:rPr>
                      <m:t>𝐹</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𝑠</m:t>
                        </m:r>
                      </m:e>
                    </m:d>
                    <m:r>
                      <a:rPr kumimoji="1" lang="en-US" altLang="zh-CN" sz="2800" b="0" i="1" smtClean="0">
                        <a:solidFill>
                          <a:srgbClr val="2980B9"/>
                        </a:solidFill>
                        <a:latin typeface="Cambria Math" panose="02040503050406030204" pitchFamily="18" charset="0"/>
                      </a:rPr>
                      <m:t>=</m:t>
                    </m:r>
                    <m:f>
                      <m:fPr>
                        <m:ctrlPr>
                          <a:rPr kumimoji="1" lang="en-US" altLang="zh-CN" sz="2800" b="0" i="1" smtClean="0">
                            <a:solidFill>
                              <a:srgbClr val="2980B9"/>
                            </a:solidFill>
                            <a:latin typeface="Cambria Math" panose="02040503050406030204" pitchFamily="18" charset="0"/>
                          </a:rPr>
                        </m:ctrlPr>
                      </m:fPr>
                      <m:num>
                        <m:r>
                          <a:rPr kumimoji="1" lang="en-US" altLang="zh-CN" sz="2800" b="0" i="1" smtClean="0">
                            <a:solidFill>
                              <a:srgbClr val="2980B9"/>
                            </a:solidFill>
                            <a:latin typeface="Cambria Math" panose="02040503050406030204" pitchFamily="18" charset="0"/>
                          </a:rPr>
                          <m:t>1</m:t>
                        </m:r>
                      </m:num>
                      <m:den>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−2</m:t>
                        </m:r>
                      </m:den>
                    </m:f>
                  </m:oMath>
                </a14:m>
                <a:endParaRPr kumimoji="1" lang="zh-CN" altLang="en-US" sz="2800" dirty="0">
                  <a:solidFill>
                    <a:srgbClr val="2980B9"/>
                  </a:solidFill>
                </a:endParaRPr>
              </a:p>
            </p:txBody>
          </p:sp>
        </mc:Choice>
        <mc:Fallback xmlns="">
          <p:sp>
            <p:nvSpPr>
              <p:cNvPr id="77" name="说明3">
                <a:extLst>
                  <a:ext uri="{FF2B5EF4-FFF2-40B4-BE49-F238E27FC236}">
                    <a16:creationId xmlns:a16="http://schemas.microsoft.com/office/drawing/2014/main" id="{3BE806FA-DA2B-4F96-8D98-4704BED9F673}"/>
                  </a:ext>
                </a:extLst>
              </p:cNvPr>
              <p:cNvSpPr txBox="1">
                <a:spLocks noRot="1" noChangeAspect="1" noMove="1" noResize="1" noEditPoints="1" noAdjustHandles="1" noChangeArrowheads="1" noChangeShapeType="1" noTextEdit="1"/>
              </p:cNvSpPr>
              <p:nvPr/>
            </p:nvSpPr>
            <p:spPr>
              <a:xfrm>
                <a:off x="6170800" y="211986"/>
                <a:ext cx="2821909" cy="777802"/>
              </a:xfrm>
              <a:prstGeom prst="flowChartAlternateProcess">
                <a:avLst/>
              </a:prstGeom>
              <a:blipFill>
                <a:blip r:embed="rId8"/>
                <a:stretch>
                  <a:fillRect l="-2222" b="-3125"/>
                </a:stretch>
              </a:blipFill>
              <a:ln>
                <a:prstDash val="sysDot"/>
              </a:ln>
            </p:spPr>
            <p:txBody>
              <a:bodyPr/>
              <a:lstStyle/>
              <a:p>
                <a:r>
                  <a:rPr lang="zh-CN" altLang="en-US">
                    <a:noFill/>
                  </a:rPr>
                  <a:t> </a:t>
                </a:r>
              </a:p>
            </p:txBody>
          </p:sp>
        </mc:Fallback>
      </mc:AlternateContent>
      <p:grpSp>
        <p:nvGrpSpPr>
          <p:cNvPr id="33" name="坐标轴2">
            <a:extLst>
              <a:ext uri="{FF2B5EF4-FFF2-40B4-BE49-F238E27FC236}">
                <a16:creationId xmlns:a16="http://schemas.microsoft.com/office/drawing/2014/main" id="{79A20E00-AB42-DF8D-10F8-19661DD4A336}"/>
              </a:ext>
            </a:extLst>
          </p:cNvPr>
          <p:cNvGrpSpPr/>
          <p:nvPr/>
        </p:nvGrpSpPr>
        <p:grpSpPr>
          <a:xfrm>
            <a:off x="7128923" y="938186"/>
            <a:ext cx="4366883" cy="2983038"/>
            <a:chOff x="7128923" y="938186"/>
            <a:chExt cx="4366883" cy="2983038"/>
          </a:xfrm>
        </p:grpSpPr>
        <p:cxnSp>
          <p:nvCxnSpPr>
            <p:cNvPr id="8" name="实轴">
              <a:extLst>
                <a:ext uri="{FF2B5EF4-FFF2-40B4-BE49-F238E27FC236}">
                  <a16:creationId xmlns:a16="http://schemas.microsoft.com/office/drawing/2014/main" id="{A04F5B9A-0B1B-8E73-BA79-CBF95EED9B41}"/>
                </a:ext>
              </a:extLst>
            </p:cNvPr>
            <p:cNvCxnSpPr>
              <a:cxnSpLocks/>
            </p:cNvCxnSpPr>
            <p:nvPr/>
          </p:nvCxnSpPr>
          <p:spPr>
            <a:xfrm flipH="1">
              <a:off x="7128923" y="2731699"/>
              <a:ext cx="3672408"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虚轴">
              <a:extLst>
                <a:ext uri="{FF2B5EF4-FFF2-40B4-BE49-F238E27FC236}">
                  <a16:creationId xmlns:a16="http://schemas.microsoft.com/office/drawing/2014/main" id="{DFF75DDC-9C11-7161-1167-11B595B01142}"/>
                </a:ext>
              </a:extLst>
            </p:cNvPr>
            <p:cNvCxnSpPr>
              <a:cxnSpLocks/>
            </p:cNvCxnSpPr>
            <p:nvPr/>
          </p:nvCxnSpPr>
          <p:spPr>
            <a:xfrm flipV="1">
              <a:off x="8958416" y="1199796"/>
              <a:ext cx="0" cy="272142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
                  <a:extLst>
                    <a:ext uri="{FF2B5EF4-FFF2-40B4-BE49-F238E27FC236}">
                      <a16:creationId xmlns:a16="http://schemas.microsoft.com/office/drawing/2014/main" id="{B9F3609E-D5B9-4BF5-9C06-9F9DC058F496}"/>
                    </a:ext>
                  </a:extLst>
                </p:cNvPr>
                <p:cNvSpPr txBox="1"/>
                <p:nvPr/>
              </p:nvSpPr>
              <p:spPr>
                <a:xfrm>
                  <a:off x="10919270" y="246776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1" name="Re">
                  <a:extLst>
                    <a:ext uri="{FF2B5EF4-FFF2-40B4-BE49-F238E27FC236}">
                      <a16:creationId xmlns:a16="http://schemas.microsoft.com/office/drawing/2014/main" id="{B9F3609E-D5B9-4BF5-9C06-9F9DC058F496}"/>
                    </a:ext>
                  </a:extLst>
                </p:cNvPr>
                <p:cNvSpPr txBox="1">
                  <a:spLocks noRot="1" noChangeAspect="1" noMove="1" noResize="1" noEditPoints="1" noAdjustHandles="1" noChangeArrowheads="1" noChangeShapeType="1" noTextEdit="1"/>
                </p:cNvSpPr>
                <p:nvPr/>
              </p:nvSpPr>
              <p:spPr>
                <a:xfrm>
                  <a:off x="10919270" y="2467763"/>
                  <a:ext cx="576536" cy="523220"/>
                </a:xfrm>
                <a:prstGeom prst="rect">
                  <a:avLst/>
                </a:prstGeom>
                <a:blipFill>
                  <a:blip r:embed="rId9"/>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Im">
                  <a:extLst>
                    <a:ext uri="{FF2B5EF4-FFF2-40B4-BE49-F238E27FC236}">
                      <a16:creationId xmlns:a16="http://schemas.microsoft.com/office/drawing/2014/main" id="{07719A7D-1613-0E4A-DA47-27667B1D129B}"/>
                    </a:ext>
                  </a:extLst>
                </p:cNvPr>
                <p:cNvSpPr txBox="1"/>
                <p:nvPr/>
              </p:nvSpPr>
              <p:spPr>
                <a:xfrm>
                  <a:off x="8204386" y="93818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12" name="Im">
                  <a:extLst>
                    <a:ext uri="{FF2B5EF4-FFF2-40B4-BE49-F238E27FC236}">
                      <a16:creationId xmlns:a16="http://schemas.microsoft.com/office/drawing/2014/main" id="{07719A7D-1613-0E4A-DA47-27667B1D129B}"/>
                    </a:ext>
                  </a:extLst>
                </p:cNvPr>
                <p:cNvSpPr txBox="1">
                  <a:spLocks noRot="1" noChangeAspect="1" noMove="1" noResize="1" noEditPoints="1" noAdjustHandles="1" noChangeArrowheads="1" noChangeShapeType="1" noTextEdit="1"/>
                </p:cNvSpPr>
                <p:nvPr/>
              </p:nvSpPr>
              <p:spPr>
                <a:xfrm>
                  <a:off x="8204386" y="938186"/>
                  <a:ext cx="576536" cy="523220"/>
                </a:xfrm>
                <a:prstGeom prst="rect">
                  <a:avLst/>
                </a:prstGeom>
                <a:blipFill>
                  <a:blip r:embed="rId10"/>
                  <a:stretch>
                    <a:fillRect l="-6522" r="-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原点">
                  <a:extLst>
                    <a:ext uri="{FF2B5EF4-FFF2-40B4-BE49-F238E27FC236}">
                      <a16:creationId xmlns:a16="http://schemas.microsoft.com/office/drawing/2014/main" id="{3217BCCA-71D8-BBA4-2883-A9E07E54FF81}"/>
                    </a:ext>
                  </a:extLst>
                </p:cNvPr>
                <p:cNvSpPr txBox="1"/>
                <p:nvPr/>
              </p:nvSpPr>
              <p:spPr>
                <a:xfrm>
                  <a:off x="8447357" y="274177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13" name="原点">
                  <a:extLst>
                    <a:ext uri="{FF2B5EF4-FFF2-40B4-BE49-F238E27FC236}">
                      <a16:creationId xmlns:a16="http://schemas.microsoft.com/office/drawing/2014/main" id="{3217BCCA-71D8-BBA4-2883-A9E07E54FF81}"/>
                    </a:ext>
                  </a:extLst>
                </p:cNvPr>
                <p:cNvSpPr txBox="1">
                  <a:spLocks noRot="1" noChangeAspect="1" noMove="1" noResize="1" noEditPoints="1" noAdjustHandles="1" noChangeArrowheads="1" noChangeShapeType="1" noTextEdit="1"/>
                </p:cNvSpPr>
                <p:nvPr/>
              </p:nvSpPr>
              <p:spPr>
                <a:xfrm>
                  <a:off x="8447357" y="2741774"/>
                  <a:ext cx="545352" cy="52469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label2">
                  <a:extLst>
                    <a:ext uri="{FF2B5EF4-FFF2-40B4-BE49-F238E27FC236}">
                      <a16:creationId xmlns:a16="http://schemas.microsoft.com/office/drawing/2014/main" id="{051D3C8C-1F93-9F33-1DDA-F6DB0C77385E}"/>
                    </a:ext>
                  </a:extLst>
                </p:cNvPr>
                <p:cNvSpPr txBox="1"/>
                <p:nvPr/>
              </p:nvSpPr>
              <p:spPr>
                <a:xfrm>
                  <a:off x="9247589" y="2743497"/>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14" name="label2">
                  <a:extLst>
                    <a:ext uri="{FF2B5EF4-FFF2-40B4-BE49-F238E27FC236}">
                      <a16:creationId xmlns:a16="http://schemas.microsoft.com/office/drawing/2014/main" id="{051D3C8C-1F93-9F33-1DDA-F6DB0C77385E}"/>
                    </a:ext>
                  </a:extLst>
                </p:cNvPr>
                <p:cNvSpPr txBox="1">
                  <a:spLocks noRot="1" noChangeAspect="1" noMove="1" noResize="1" noEditPoints="1" noAdjustHandles="1" noChangeArrowheads="1" noChangeShapeType="1" noTextEdit="1"/>
                </p:cNvSpPr>
                <p:nvPr/>
              </p:nvSpPr>
              <p:spPr>
                <a:xfrm>
                  <a:off x="9247589" y="2743497"/>
                  <a:ext cx="801225" cy="52322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label2">
                  <a:extLst>
                    <a:ext uri="{FF2B5EF4-FFF2-40B4-BE49-F238E27FC236}">
                      <a16:creationId xmlns:a16="http://schemas.microsoft.com/office/drawing/2014/main" id="{2AFE4128-6389-7BFA-A1D3-7D5020CF2924}"/>
                    </a:ext>
                  </a:extLst>
                </p:cNvPr>
                <p:cNvSpPr txBox="1"/>
                <p:nvPr/>
              </p:nvSpPr>
              <p:spPr>
                <a:xfrm>
                  <a:off x="9993395" y="2738045"/>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2</m:t>
                        </m:r>
                      </m:oMath>
                    </m:oMathPara>
                  </a14:m>
                  <a:endParaRPr lang="zh-CN" altLang="en-US" sz="2800" dirty="0"/>
                </a:p>
              </p:txBody>
            </p:sp>
          </mc:Choice>
          <mc:Fallback xmlns="">
            <p:sp>
              <p:nvSpPr>
                <p:cNvPr id="15" name="label2">
                  <a:extLst>
                    <a:ext uri="{FF2B5EF4-FFF2-40B4-BE49-F238E27FC236}">
                      <a16:creationId xmlns:a16="http://schemas.microsoft.com/office/drawing/2014/main" id="{2AFE4128-6389-7BFA-A1D3-7D5020CF2924}"/>
                    </a:ext>
                  </a:extLst>
                </p:cNvPr>
                <p:cNvSpPr txBox="1">
                  <a:spLocks noRot="1" noChangeAspect="1" noMove="1" noResize="1" noEditPoints="1" noAdjustHandles="1" noChangeArrowheads="1" noChangeShapeType="1" noTextEdit="1"/>
                </p:cNvSpPr>
                <p:nvPr/>
              </p:nvSpPr>
              <p:spPr>
                <a:xfrm>
                  <a:off x="9993395" y="2738045"/>
                  <a:ext cx="801225" cy="524695"/>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Im">
                  <a:extLst>
                    <a:ext uri="{FF2B5EF4-FFF2-40B4-BE49-F238E27FC236}">
                      <a16:creationId xmlns:a16="http://schemas.microsoft.com/office/drawing/2014/main" id="{2C58B61B-E278-5845-8A05-75B2B51725F9}"/>
                    </a:ext>
                  </a:extLst>
                </p:cNvPr>
                <p:cNvSpPr txBox="1"/>
                <p:nvPr/>
              </p:nvSpPr>
              <p:spPr>
                <a:xfrm>
                  <a:off x="9104084" y="947381"/>
                  <a:ext cx="576536"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𝑠</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16" name="Im">
                  <a:extLst>
                    <a:ext uri="{FF2B5EF4-FFF2-40B4-BE49-F238E27FC236}">
                      <a16:creationId xmlns:a16="http://schemas.microsoft.com/office/drawing/2014/main" id="{2C58B61B-E278-5845-8A05-75B2B51725F9}"/>
                    </a:ext>
                  </a:extLst>
                </p:cNvPr>
                <p:cNvSpPr txBox="1">
                  <a:spLocks noRot="1" noChangeAspect="1" noMove="1" noResize="1" noEditPoints="1" noAdjustHandles="1" noChangeArrowheads="1" noChangeShapeType="1" noTextEdit="1"/>
                </p:cNvSpPr>
                <p:nvPr/>
              </p:nvSpPr>
              <p:spPr>
                <a:xfrm>
                  <a:off x="9104084" y="947381"/>
                  <a:ext cx="576536" cy="524695"/>
                </a:xfrm>
                <a:prstGeom prst="rect">
                  <a:avLst/>
                </a:prstGeom>
                <a:blipFill>
                  <a:blip r:embed="rId14"/>
                  <a:stretch>
                    <a:fillRect l="-12766" r="-17021" b="-19048"/>
                  </a:stretch>
                </a:blipFill>
              </p:spPr>
              <p:txBody>
                <a:bodyPr/>
                <a:lstStyle/>
                <a:p>
                  <a:r>
                    <a:rPr lang="zh-CN" altLang="en-US">
                      <a:noFill/>
                    </a:rPr>
                    <a:t> </a:t>
                  </a:r>
                </a:p>
              </p:txBody>
            </p:sp>
          </mc:Fallback>
        </mc:AlternateContent>
      </p:grpSp>
      <p:sp>
        <p:nvSpPr>
          <p:cNvPr id="18" name="幅相">
            <a:extLst>
              <a:ext uri="{FF2B5EF4-FFF2-40B4-BE49-F238E27FC236}">
                <a16:creationId xmlns:a16="http://schemas.microsoft.com/office/drawing/2014/main" id="{2E9E7C45-1EA9-88F8-E32D-0E464D0FE828}"/>
              </a:ext>
            </a:extLst>
          </p:cNvPr>
          <p:cNvSpPr/>
          <p:nvPr/>
        </p:nvSpPr>
        <p:spPr>
          <a:xfrm flipV="1">
            <a:off x="8282218" y="1967733"/>
            <a:ext cx="1374975" cy="143474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85187"/>
              <a:gd name="connsiteY0" fmla="*/ 0 h 2145227"/>
              <a:gd name="connsiteX1" fmla="*/ 685187 w 685187"/>
              <a:gd name="connsiteY1" fmla="*/ 1761144 h 2145227"/>
              <a:gd name="connsiteX0" fmla="*/ 0 w 685187"/>
              <a:gd name="connsiteY0" fmla="*/ 0 h 1761144"/>
              <a:gd name="connsiteX1" fmla="*/ 685187 w 685187"/>
              <a:gd name="connsiteY1" fmla="*/ 1761144 h 1761144"/>
              <a:gd name="connsiteX0" fmla="*/ 197033 w 203028"/>
              <a:gd name="connsiteY0" fmla="*/ 0 h 1743192"/>
              <a:gd name="connsiteX1" fmla="*/ 186819 w 203028"/>
              <a:gd name="connsiteY1" fmla="*/ 1743192 h 1743192"/>
              <a:gd name="connsiteX0" fmla="*/ 368073 w 368073"/>
              <a:gd name="connsiteY0" fmla="*/ 0 h 1743192"/>
              <a:gd name="connsiteX1" fmla="*/ 357859 w 368073"/>
              <a:gd name="connsiteY1" fmla="*/ 1743192 h 1743192"/>
              <a:gd name="connsiteX0" fmla="*/ 433742 w 433742"/>
              <a:gd name="connsiteY0" fmla="*/ 0 h 1743218"/>
              <a:gd name="connsiteX1" fmla="*/ 423528 w 433742"/>
              <a:gd name="connsiteY1" fmla="*/ 1743192 h 1743218"/>
              <a:gd name="connsiteX0" fmla="*/ 500497 w 500497"/>
              <a:gd name="connsiteY0" fmla="*/ 0 h 1743218"/>
              <a:gd name="connsiteX1" fmla="*/ 490283 w 500497"/>
              <a:gd name="connsiteY1" fmla="*/ 1743192 h 1743218"/>
              <a:gd name="connsiteX0" fmla="*/ 488340 w 488340"/>
              <a:gd name="connsiteY0" fmla="*/ 0 h 1743218"/>
              <a:gd name="connsiteX1" fmla="*/ 478126 w 488340"/>
              <a:gd name="connsiteY1" fmla="*/ 1743192 h 1743218"/>
              <a:gd name="connsiteX0" fmla="*/ 500497 w 500497"/>
              <a:gd name="connsiteY0" fmla="*/ 0 h 1743218"/>
              <a:gd name="connsiteX1" fmla="*/ 490283 w 500497"/>
              <a:gd name="connsiteY1" fmla="*/ 1743192 h 1743218"/>
              <a:gd name="connsiteX0" fmla="*/ 498000 w 517255"/>
              <a:gd name="connsiteY0" fmla="*/ 0 h 1743218"/>
              <a:gd name="connsiteX1" fmla="*/ 517255 w 517255"/>
              <a:gd name="connsiteY1" fmla="*/ 58345 h 1743218"/>
              <a:gd name="connsiteX2" fmla="*/ 487786 w 517255"/>
              <a:gd name="connsiteY2" fmla="*/ 1743192 h 1743218"/>
              <a:gd name="connsiteX0" fmla="*/ 378382 w 675797"/>
              <a:gd name="connsiteY0" fmla="*/ 32747 h 1775962"/>
              <a:gd name="connsiteX1" fmla="*/ 675798 w 675797"/>
              <a:gd name="connsiteY1" fmla="*/ 1330 h 1775962"/>
              <a:gd name="connsiteX2" fmla="*/ 368168 w 675797"/>
              <a:gd name="connsiteY2" fmla="*/ 1775939 h 1775962"/>
              <a:gd name="connsiteX0" fmla="*/ 378382 w 675798"/>
              <a:gd name="connsiteY0" fmla="*/ 32747 h 1775963"/>
              <a:gd name="connsiteX1" fmla="*/ 675798 w 675798"/>
              <a:gd name="connsiteY1" fmla="*/ 1330 h 1775963"/>
              <a:gd name="connsiteX2" fmla="*/ 368168 w 675798"/>
              <a:gd name="connsiteY2" fmla="*/ 1775939 h 1775963"/>
              <a:gd name="connsiteX0" fmla="*/ 466631 w 550077"/>
              <a:gd name="connsiteY0" fmla="*/ 137 h 1743359"/>
              <a:gd name="connsiteX1" fmla="*/ 550077 w 550077"/>
              <a:gd name="connsiteY1" fmla="*/ 309817 h 1743359"/>
              <a:gd name="connsiteX2" fmla="*/ 456417 w 550077"/>
              <a:gd name="connsiteY2" fmla="*/ 1743329 h 1743359"/>
              <a:gd name="connsiteX0" fmla="*/ 1065748 w 1073535"/>
              <a:gd name="connsiteY0" fmla="*/ 245 h 1474179"/>
              <a:gd name="connsiteX1" fmla="*/ 550077 w 1073535"/>
              <a:gd name="connsiteY1" fmla="*/ 40637 h 1474179"/>
              <a:gd name="connsiteX2" fmla="*/ 456417 w 1073535"/>
              <a:gd name="connsiteY2" fmla="*/ 1474149 h 1474179"/>
              <a:gd name="connsiteX0" fmla="*/ 1086404 w 1093852"/>
              <a:gd name="connsiteY0" fmla="*/ 248219 h 1722148"/>
              <a:gd name="connsiteX1" fmla="*/ 527939 w 1093852"/>
              <a:gd name="connsiteY1" fmla="*/ 1370 h 1722148"/>
              <a:gd name="connsiteX2" fmla="*/ 477073 w 1093852"/>
              <a:gd name="connsiteY2" fmla="*/ 1722123 h 1722148"/>
              <a:gd name="connsiteX0" fmla="*/ 1086404 w 1111208"/>
              <a:gd name="connsiteY0" fmla="*/ 248219 h 1722148"/>
              <a:gd name="connsiteX1" fmla="*/ 527939 w 1111208"/>
              <a:gd name="connsiteY1" fmla="*/ 1370 h 1722148"/>
              <a:gd name="connsiteX2" fmla="*/ 477073 w 1111208"/>
              <a:gd name="connsiteY2" fmla="*/ 1722123 h 1722148"/>
              <a:gd name="connsiteX0" fmla="*/ 497986 w 746033"/>
              <a:gd name="connsiteY0" fmla="*/ 1702373 h 1722148"/>
              <a:gd name="connsiteX1" fmla="*/ 527939 w 746033"/>
              <a:gd name="connsiteY1" fmla="*/ 1370 h 1722148"/>
              <a:gd name="connsiteX2" fmla="*/ 477073 w 746033"/>
              <a:gd name="connsiteY2" fmla="*/ 1722123 h 1722148"/>
              <a:gd name="connsiteX0" fmla="*/ 497986 w 910779"/>
              <a:gd name="connsiteY0" fmla="*/ 1702373 h 1722148"/>
              <a:gd name="connsiteX1" fmla="*/ 527939 w 910779"/>
              <a:gd name="connsiteY1" fmla="*/ 1370 h 1722148"/>
              <a:gd name="connsiteX2" fmla="*/ 477073 w 910779"/>
              <a:gd name="connsiteY2" fmla="*/ 1722123 h 1722148"/>
              <a:gd name="connsiteX0" fmla="*/ 497986 w 1004274"/>
              <a:gd name="connsiteY0" fmla="*/ 1702373 h 1722148"/>
              <a:gd name="connsiteX1" fmla="*/ 527939 w 1004274"/>
              <a:gd name="connsiteY1" fmla="*/ 1370 h 1722148"/>
              <a:gd name="connsiteX2" fmla="*/ 477073 w 1004274"/>
              <a:gd name="connsiteY2" fmla="*/ 1722123 h 1722148"/>
              <a:gd name="connsiteX0" fmla="*/ 497986 w 962529"/>
              <a:gd name="connsiteY0" fmla="*/ 1702373 h 1722148"/>
              <a:gd name="connsiteX1" fmla="*/ 527939 w 962529"/>
              <a:gd name="connsiteY1" fmla="*/ 1370 h 1722148"/>
              <a:gd name="connsiteX2" fmla="*/ 477073 w 962529"/>
              <a:gd name="connsiteY2" fmla="*/ 1722123 h 1722148"/>
              <a:gd name="connsiteX0" fmla="*/ 497986 w 979057"/>
              <a:gd name="connsiteY0" fmla="*/ 1702373 h 1722148"/>
              <a:gd name="connsiteX1" fmla="*/ 527939 w 979057"/>
              <a:gd name="connsiteY1" fmla="*/ 1370 h 1722148"/>
              <a:gd name="connsiteX2" fmla="*/ 477073 w 979057"/>
              <a:gd name="connsiteY2" fmla="*/ 1722123 h 1722148"/>
              <a:gd name="connsiteX0" fmla="*/ 494012 w 975083"/>
              <a:gd name="connsiteY0" fmla="*/ 1701207 h 1720983"/>
              <a:gd name="connsiteX1" fmla="*/ 523965 w 975083"/>
              <a:gd name="connsiteY1" fmla="*/ 204 h 1720983"/>
              <a:gd name="connsiteX2" fmla="*/ 473099 w 975083"/>
              <a:gd name="connsiteY2" fmla="*/ 1720957 h 1720983"/>
              <a:gd name="connsiteX0" fmla="*/ 499482 w 980553"/>
              <a:gd name="connsiteY0" fmla="*/ 1701206 h 1720982"/>
              <a:gd name="connsiteX1" fmla="*/ 529435 w 980553"/>
              <a:gd name="connsiteY1" fmla="*/ 203 h 1720982"/>
              <a:gd name="connsiteX2" fmla="*/ 467870 w 980553"/>
              <a:gd name="connsiteY2" fmla="*/ 1720956 h 1720982"/>
              <a:gd name="connsiteX0" fmla="*/ 576445 w 1057516"/>
              <a:gd name="connsiteY0" fmla="*/ 1701207 h 1703030"/>
              <a:gd name="connsiteX1" fmla="*/ 606398 w 1057516"/>
              <a:gd name="connsiteY1" fmla="*/ 204 h 1703030"/>
              <a:gd name="connsiteX2" fmla="*/ 405752 w 1057516"/>
              <a:gd name="connsiteY2" fmla="*/ 1703004 h 1703030"/>
              <a:gd name="connsiteX0" fmla="*/ 597842 w 1067726"/>
              <a:gd name="connsiteY0" fmla="*/ 1683255 h 1703030"/>
              <a:gd name="connsiteX1" fmla="*/ 606398 w 1067726"/>
              <a:gd name="connsiteY1" fmla="*/ 204 h 1703030"/>
              <a:gd name="connsiteX2" fmla="*/ 405752 w 1067726"/>
              <a:gd name="connsiteY2" fmla="*/ 1703004 h 1703030"/>
              <a:gd name="connsiteX0" fmla="*/ 587144 w 1062587"/>
              <a:gd name="connsiteY0" fmla="*/ 1683255 h 1703030"/>
              <a:gd name="connsiteX1" fmla="*/ 606398 w 1062587"/>
              <a:gd name="connsiteY1" fmla="*/ 204 h 1703030"/>
              <a:gd name="connsiteX2" fmla="*/ 405752 w 1062587"/>
              <a:gd name="connsiteY2" fmla="*/ 1703004 h 1703030"/>
              <a:gd name="connsiteX0" fmla="*/ 587144 w 1094258"/>
              <a:gd name="connsiteY0" fmla="*/ 1683255 h 1703030"/>
              <a:gd name="connsiteX1" fmla="*/ 606398 w 1094258"/>
              <a:gd name="connsiteY1" fmla="*/ 204 h 1703030"/>
              <a:gd name="connsiteX2" fmla="*/ 405752 w 1094258"/>
              <a:gd name="connsiteY2" fmla="*/ 1703004 h 1703030"/>
              <a:gd name="connsiteX0" fmla="*/ 587144 w 1114584"/>
              <a:gd name="connsiteY0" fmla="*/ 1683255 h 1703030"/>
              <a:gd name="connsiteX1" fmla="*/ 606398 w 1114584"/>
              <a:gd name="connsiteY1" fmla="*/ 204 h 1703030"/>
              <a:gd name="connsiteX2" fmla="*/ 405752 w 1114584"/>
              <a:gd name="connsiteY2" fmla="*/ 1703004 h 1703030"/>
              <a:gd name="connsiteX0" fmla="*/ 587144 w 1114584"/>
              <a:gd name="connsiteY0" fmla="*/ 1719159 h 1719943"/>
              <a:gd name="connsiteX1" fmla="*/ 606398 w 1114584"/>
              <a:gd name="connsiteY1" fmla="*/ 204 h 1719943"/>
              <a:gd name="connsiteX2" fmla="*/ 405752 w 1114584"/>
              <a:gd name="connsiteY2" fmla="*/ 1703004 h 1719943"/>
              <a:gd name="connsiteX0" fmla="*/ 587144 w 1078282"/>
              <a:gd name="connsiteY0" fmla="*/ 1719159 h 1719184"/>
              <a:gd name="connsiteX1" fmla="*/ 606398 w 1078282"/>
              <a:gd name="connsiteY1" fmla="*/ 204 h 1719184"/>
              <a:gd name="connsiteX2" fmla="*/ 405752 w 1078282"/>
              <a:gd name="connsiteY2" fmla="*/ 1703004 h 1719184"/>
              <a:gd name="connsiteX0" fmla="*/ 515719 w 1006857"/>
              <a:gd name="connsiteY0" fmla="*/ 1719159 h 1719183"/>
              <a:gd name="connsiteX1" fmla="*/ 534973 w 1006857"/>
              <a:gd name="connsiteY1" fmla="*/ 204 h 1719183"/>
              <a:gd name="connsiteX2" fmla="*/ 462709 w 1006857"/>
              <a:gd name="connsiteY2" fmla="*/ 1703004 h 1719183"/>
              <a:gd name="connsiteX0" fmla="*/ 523983 w 1015121"/>
              <a:gd name="connsiteY0" fmla="*/ 1719161 h 1719185"/>
              <a:gd name="connsiteX1" fmla="*/ 543237 w 1015121"/>
              <a:gd name="connsiteY1" fmla="*/ 206 h 1719185"/>
              <a:gd name="connsiteX2" fmla="*/ 470973 w 1015121"/>
              <a:gd name="connsiteY2" fmla="*/ 1703006 h 1719185"/>
              <a:gd name="connsiteX0" fmla="*/ 529085 w 1014806"/>
              <a:gd name="connsiteY0" fmla="*/ 1737112 h 1737135"/>
              <a:gd name="connsiteX1" fmla="*/ 537641 w 1014806"/>
              <a:gd name="connsiteY1" fmla="*/ 204 h 1737135"/>
              <a:gd name="connsiteX2" fmla="*/ 476075 w 1014806"/>
              <a:gd name="connsiteY2" fmla="*/ 1720957 h 1737135"/>
              <a:gd name="connsiteX0" fmla="*/ 529085 w 1038241"/>
              <a:gd name="connsiteY0" fmla="*/ 1737112 h 1737136"/>
              <a:gd name="connsiteX1" fmla="*/ 537641 w 1038241"/>
              <a:gd name="connsiteY1" fmla="*/ 204 h 1737136"/>
              <a:gd name="connsiteX2" fmla="*/ 476075 w 1038241"/>
              <a:gd name="connsiteY2" fmla="*/ 1720957 h 1737136"/>
              <a:gd name="connsiteX0" fmla="*/ 525193 w 1030239"/>
              <a:gd name="connsiteY0" fmla="*/ 1736992 h 1737015"/>
              <a:gd name="connsiteX1" fmla="*/ 533749 w 1030239"/>
              <a:gd name="connsiteY1" fmla="*/ 84 h 1737015"/>
              <a:gd name="connsiteX2" fmla="*/ 472183 w 1030239"/>
              <a:gd name="connsiteY2" fmla="*/ 1720837 h 1737015"/>
              <a:gd name="connsiteX0" fmla="*/ 540866 w 1062437"/>
              <a:gd name="connsiteY0" fmla="*/ 1736992 h 1737015"/>
              <a:gd name="connsiteX1" fmla="*/ 549422 w 1062437"/>
              <a:gd name="connsiteY1" fmla="*/ 84 h 1737015"/>
              <a:gd name="connsiteX2" fmla="*/ 487856 w 1062437"/>
              <a:gd name="connsiteY2" fmla="*/ 1720837 h 1737015"/>
              <a:gd name="connsiteX0" fmla="*/ 597205 w 900553"/>
              <a:gd name="connsiteY0" fmla="*/ 1737511 h 1737536"/>
              <a:gd name="connsiteX1" fmla="*/ 605761 w 900553"/>
              <a:gd name="connsiteY1" fmla="*/ 603 h 1737536"/>
              <a:gd name="connsiteX2" fmla="*/ 223240 w 900553"/>
              <a:gd name="connsiteY2" fmla="*/ 1523877 h 1737536"/>
              <a:gd name="connsiteX0" fmla="*/ 684663 w 1135190"/>
              <a:gd name="connsiteY0" fmla="*/ 1737048 h 1737071"/>
              <a:gd name="connsiteX1" fmla="*/ 693219 w 1135190"/>
              <a:gd name="connsiteY1" fmla="*/ 140 h 1737071"/>
              <a:gd name="connsiteX2" fmla="*/ 310698 w 1135190"/>
              <a:gd name="connsiteY2" fmla="*/ 1523414 h 1737071"/>
              <a:gd name="connsiteX0" fmla="*/ 706705 w 985877"/>
              <a:gd name="connsiteY0" fmla="*/ 1737511 h 1737535"/>
              <a:gd name="connsiteX1" fmla="*/ 608276 w 985877"/>
              <a:gd name="connsiteY1" fmla="*/ 604 h 1737535"/>
              <a:gd name="connsiteX2" fmla="*/ 225755 w 985877"/>
              <a:gd name="connsiteY2" fmla="*/ 1523878 h 1737535"/>
              <a:gd name="connsiteX0" fmla="*/ 781241 w 1169805"/>
              <a:gd name="connsiteY0" fmla="*/ 1737048 h 1737071"/>
              <a:gd name="connsiteX1" fmla="*/ 682812 w 1169805"/>
              <a:gd name="connsiteY1" fmla="*/ 141 h 1737071"/>
              <a:gd name="connsiteX2" fmla="*/ 300291 w 1169805"/>
              <a:gd name="connsiteY2" fmla="*/ 1523415 h 1737071"/>
              <a:gd name="connsiteX0" fmla="*/ 816251 w 1074815"/>
              <a:gd name="connsiteY0" fmla="*/ 1665365 h 1665391"/>
              <a:gd name="connsiteX1" fmla="*/ 610837 w 1074815"/>
              <a:gd name="connsiteY1" fmla="*/ 268 h 1665391"/>
              <a:gd name="connsiteX2" fmla="*/ 228316 w 1074815"/>
              <a:gd name="connsiteY2" fmla="*/ 1523542 h 1665391"/>
              <a:gd name="connsiteX0" fmla="*/ 892174 w 1246931"/>
              <a:gd name="connsiteY0" fmla="*/ 1665113 h 1665137"/>
              <a:gd name="connsiteX1" fmla="*/ 686760 w 1246931"/>
              <a:gd name="connsiteY1" fmla="*/ 16 h 1665137"/>
              <a:gd name="connsiteX2" fmla="*/ 304239 w 1246931"/>
              <a:gd name="connsiteY2" fmla="*/ 1523290 h 1665137"/>
              <a:gd name="connsiteX0" fmla="*/ 558447 w 807793"/>
              <a:gd name="connsiteY0" fmla="*/ 1665098 h 1666895"/>
              <a:gd name="connsiteX1" fmla="*/ 353033 w 807793"/>
              <a:gd name="connsiteY1" fmla="*/ 1 h 1666895"/>
              <a:gd name="connsiteX2" fmla="*/ 280769 w 807793"/>
              <a:gd name="connsiteY2" fmla="*/ 1666894 h 1666895"/>
              <a:gd name="connsiteX0" fmla="*/ 669436 w 867033"/>
              <a:gd name="connsiteY0" fmla="*/ 1736907 h 1738702"/>
              <a:gd name="connsiteX1" fmla="*/ 132368 w 867033"/>
              <a:gd name="connsiteY1" fmla="*/ 0 h 1738702"/>
              <a:gd name="connsiteX2" fmla="*/ 391758 w 867033"/>
              <a:gd name="connsiteY2" fmla="*/ 1738703 h 1738702"/>
              <a:gd name="connsiteX0" fmla="*/ 550847 w 806644"/>
              <a:gd name="connsiteY0" fmla="*/ 1826669 h 1828465"/>
              <a:gd name="connsiteX1" fmla="*/ 377528 w 806644"/>
              <a:gd name="connsiteY1" fmla="*/ 0 h 1828465"/>
              <a:gd name="connsiteX2" fmla="*/ 273169 w 806644"/>
              <a:gd name="connsiteY2" fmla="*/ 1828465 h 1828465"/>
              <a:gd name="connsiteX0" fmla="*/ 649313 w 994597"/>
              <a:gd name="connsiteY0" fmla="*/ 1827812 h 1829608"/>
              <a:gd name="connsiteX1" fmla="*/ 475994 w 994597"/>
              <a:gd name="connsiteY1" fmla="*/ 1143 h 1829608"/>
              <a:gd name="connsiteX2" fmla="*/ 371635 w 994597"/>
              <a:gd name="connsiteY2" fmla="*/ 1829608 h 1829608"/>
              <a:gd name="connsiteX0" fmla="*/ 649313 w 994598"/>
              <a:gd name="connsiteY0" fmla="*/ 1827812 h 1829608"/>
              <a:gd name="connsiteX1" fmla="*/ 475994 w 994598"/>
              <a:gd name="connsiteY1" fmla="*/ 1143 h 1829608"/>
              <a:gd name="connsiteX2" fmla="*/ 371635 w 994598"/>
              <a:gd name="connsiteY2" fmla="*/ 1829608 h 1829608"/>
              <a:gd name="connsiteX0" fmla="*/ 657307 w 995629"/>
              <a:gd name="connsiteY0" fmla="*/ 1702225 h 1704021"/>
              <a:gd name="connsiteX1" fmla="*/ 462591 w 995629"/>
              <a:gd name="connsiteY1" fmla="*/ 1223 h 1704021"/>
              <a:gd name="connsiteX2" fmla="*/ 379629 w 995629"/>
              <a:gd name="connsiteY2" fmla="*/ 1704021 h 1704021"/>
              <a:gd name="connsiteX0" fmla="*/ 657307 w 1022369"/>
              <a:gd name="connsiteY0" fmla="*/ 1701002 h 1702798"/>
              <a:gd name="connsiteX1" fmla="*/ 462591 w 1022369"/>
              <a:gd name="connsiteY1" fmla="*/ 0 h 1702798"/>
              <a:gd name="connsiteX2" fmla="*/ 379629 w 1022369"/>
              <a:gd name="connsiteY2" fmla="*/ 1702798 h 1702798"/>
              <a:gd name="connsiteX0" fmla="*/ 709327 w 1074389"/>
              <a:gd name="connsiteY0" fmla="*/ 1701002 h 1702798"/>
              <a:gd name="connsiteX1" fmla="*/ 514611 w 1074389"/>
              <a:gd name="connsiteY1" fmla="*/ 0 h 1702798"/>
              <a:gd name="connsiteX2" fmla="*/ 431649 w 1074389"/>
              <a:gd name="connsiteY2" fmla="*/ 1702798 h 1702798"/>
              <a:gd name="connsiteX0" fmla="*/ 538151 w 971924"/>
              <a:gd name="connsiteY0" fmla="*/ 1701002 h 1702798"/>
              <a:gd name="connsiteX1" fmla="*/ 514611 w 971924"/>
              <a:gd name="connsiteY1" fmla="*/ 0 h 1702798"/>
              <a:gd name="connsiteX2" fmla="*/ 431649 w 971924"/>
              <a:gd name="connsiteY2" fmla="*/ 1702798 h 1702798"/>
              <a:gd name="connsiteX0" fmla="*/ 516754 w 960338"/>
              <a:gd name="connsiteY0" fmla="*/ 1736906 h 1736930"/>
              <a:gd name="connsiteX1" fmla="*/ 514611 w 960338"/>
              <a:gd name="connsiteY1" fmla="*/ 0 h 1736930"/>
              <a:gd name="connsiteX2" fmla="*/ 431649 w 960338"/>
              <a:gd name="connsiteY2" fmla="*/ 1702798 h 1736930"/>
              <a:gd name="connsiteX0" fmla="*/ 487470 w 931054"/>
              <a:gd name="connsiteY0" fmla="*/ 1736906 h 1774609"/>
              <a:gd name="connsiteX1" fmla="*/ 485327 w 931054"/>
              <a:gd name="connsiteY1" fmla="*/ 0 h 1774609"/>
              <a:gd name="connsiteX2" fmla="*/ 455857 w 931054"/>
              <a:gd name="connsiteY2" fmla="*/ 1774609 h 1774609"/>
              <a:gd name="connsiteX0" fmla="*/ 487470 w 974223"/>
              <a:gd name="connsiteY0" fmla="*/ 1736906 h 1774609"/>
              <a:gd name="connsiteX1" fmla="*/ 485327 w 974223"/>
              <a:gd name="connsiteY1" fmla="*/ 0 h 1774609"/>
              <a:gd name="connsiteX2" fmla="*/ 455857 w 974223"/>
              <a:gd name="connsiteY2" fmla="*/ 1774609 h 1774609"/>
              <a:gd name="connsiteX0" fmla="*/ 526743 w 1013496"/>
              <a:gd name="connsiteY0" fmla="*/ 1736906 h 1774609"/>
              <a:gd name="connsiteX1" fmla="*/ 524600 w 1013496"/>
              <a:gd name="connsiteY1" fmla="*/ 0 h 1774609"/>
              <a:gd name="connsiteX2" fmla="*/ 495130 w 1013496"/>
              <a:gd name="connsiteY2" fmla="*/ 1774609 h 1774609"/>
            </a:gdLst>
            <a:ahLst/>
            <a:cxnLst>
              <a:cxn ang="0">
                <a:pos x="connsiteX0" y="connsiteY0"/>
              </a:cxn>
              <a:cxn ang="0">
                <a:pos x="connsiteX1" y="connsiteY1"/>
              </a:cxn>
              <a:cxn ang="0">
                <a:pos x="connsiteX2" y="connsiteY2"/>
              </a:cxn>
            </a:cxnLst>
            <a:rect l="l" t="t" r="r" b="b"/>
            <a:pathLst>
              <a:path w="1013496" h="1774609">
                <a:moveTo>
                  <a:pt x="526743" y="1736906"/>
                </a:moveTo>
                <a:cubicBezTo>
                  <a:pt x="1171506" y="1744385"/>
                  <a:pt x="1180694" y="17653"/>
                  <a:pt x="524600" y="0"/>
                </a:cubicBezTo>
                <a:cubicBezTo>
                  <a:pt x="-184987" y="18251"/>
                  <a:pt x="-154924" y="1764468"/>
                  <a:pt x="495130" y="1774609"/>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20" name="小标题1">
                <a:extLst>
                  <a:ext uri="{FF2B5EF4-FFF2-40B4-BE49-F238E27FC236}">
                    <a16:creationId xmlns:a16="http://schemas.microsoft.com/office/drawing/2014/main" id="{CB0A1890-247E-C56C-C2C0-85004F7CF6FE}"/>
                  </a:ext>
                </a:extLst>
              </p:cNvPr>
              <p:cNvSpPr/>
              <p:nvPr/>
            </p:nvSpPr>
            <p:spPr bwMode="auto">
              <a:xfrm>
                <a:off x="6546575" y="4777366"/>
                <a:ext cx="4706848"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14:m>
                  <m:oMath xmlns:m="http://schemas.openxmlformats.org/officeDocument/2006/math">
                    <m:sSub>
                      <m:sSubPr>
                        <m:ctrlPr>
                          <a:rPr lang="en-US" altLang="zh-CN" sz="3200" b="1" i="1" smtClean="0">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r>
                  <a:rPr lang="zh-CN" altLang="en-US" sz="3200" b="1" dirty="0">
                    <a:solidFill>
                      <a:schemeClr val="bg1"/>
                    </a:solidFill>
                  </a:rPr>
                  <a:t>在</a:t>
                </a:r>
                <a14:m>
                  <m:oMath xmlns:m="http://schemas.openxmlformats.org/officeDocument/2006/math">
                    <m:r>
                      <a:rPr lang="en-US" altLang="zh-CN" sz="3200" b="1" i="1" dirty="0" smtClean="0">
                        <a:solidFill>
                          <a:schemeClr val="bg1"/>
                        </a:solidFill>
                        <a:latin typeface="Cambria Math" panose="02040503050406030204" pitchFamily="18" charset="0"/>
                      </a:rPr>
                      <m:t>𝑭</m:t>
                    </m:r>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𝒔</m:t>
                    </m:r>
                    <m:r>
                      <a:rPr lang="en-US" altLang="zh-CN" sz="3200" b="1" i="1" dirty="0" smtClean="0">
                        <a:solidFill>
                          <a:schemeClr val="bg1"/>
                        </a:solidFill>
                        <a:latin typeface="Cambria Math" panose="02040503050406030204" pitchFamily="18" charset="0"/>
                      </a:rPr>
                      <m:t>)</m:t>
                    </m:r>
                  </m:oMath>
                </a14:m>
                <a:r>
                  <a:rPr lang="zh-CN" altLang="en-US" sz="3200" b="1" dirty="0">
                    <a:solidFill>
                      <a:schemeClr val="bg1"/>
                    </a:solidFill>
                    <a:latin typeface="+mn-ea"/>
                  </a:rPr>
                  <a:t>平面上的映射</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smtClean="0">
                            <a:solidFill>
                              <a:schemeClr val="bg1"/>
                            </a:solidFill>
                            <a:latin typeface="Cambria Math" panose="02040503050406030204" pitchFamily="18" charset="0"/>
                          </a:rPr>
                          <m:t>𝑭</m:t>
                        </m:r>
                      </m:sub>
                    </m:sSub>
                  </m:oMath>
                </a14:m>
                <a:endParaRPr lang="zh-CN" altLang="en-US" sz="3200" b="1" dirty="0">
                  <a:solidFill>
                    <a:schemeClr val="bg1"/>
                  </a:solidFill>
                  <a:latin typeface="+mn-ea"/>
                </a:endParaRPr>
              </a:p>
            </p:txBody>
          </p:sp>
        </mc:Choice>
        <mc:Fallback xmlns="">
          <p:sp>
            <p:nvSpPr>
              <p:cNvPr id="20" name="小标题1">
                <a:extLst>
                  <a:ext uri="{FF2B5EF4-FFF2-40B4-BE49-F238E27FC236}">
                    <a16:creationId xmlns:a16="http://schemas.microsoft.com/office/drawing/2014/main" id="{CB0A1890-247E-C56C-C2C0-85004F7CF6FE}"/>
                  </a:ext>
                </a:extLst>
              </p:cNvPr>
              <p:cNvSpPr>
                <a:spLocks noRot="1" noChangeAspect="1" noMove="1" noResize="1" noEditPoints="1" noAdjustHandles="1" noChangeArrowheads="1" noChangeShapeType="1" noTextEdit="1"/>
              </p:cNvSpPr>
              <p:nvPr/>
            </p:nvSpPr>
            <p:spPr bwMode="auto">
              <a:xfrm>
                <a:off x="6546575" y="4777366"/>
                <a:ext cx="4706848" cy="576000"/>
              </a:xfrm>
              <a:prstGeom prst="roundRect">
                <a:avLst/>
              </a:prstGeom>
              <a:blipFill>
                <a:blip r:embed="rId18"/>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说明3">
                <a:extLst>
                  <a:ext uri="{FF2B5EF4-FFF2-40B4-BE49-F238E27FC236}">
                    <a16:creationId xmlns:a16="http://schemas.microsoft.com/office/drawing/2014/main" id="{EC131747-8E81-90B5-395F-C2D60D619A61}"/>
                  </a:ext>
                </a:extLst>
              </p:cNvPr>
              <p:cNvSpPr txBox="1"/>
              <p:nvPr/>
            </p:nvSpPr>
            <p:spPr>
              <a:xfrm>
                <a:off x="6778971" y="4077072"/>
                <a:ext cx="4242057"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rgbClr val="2980B9"/>
                          </a:solidFill>
                          <a:latin typeface="Cambria Math" panose="02040503050406030204" pitchFamily="18" charset="0"/>
                        </a:rPr>
                        <m:t>𝑅</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𝑃</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𝑍</m:t>
                      </m:r>
                      <m:r>
                        <a:rPr kumimoji="1" lang="en-US" altLang="zh-CN" sz="2800" b="0" i="1" smtClean="0">
                          <a:solidFill>
                            <a:srgbClr val="2980B9"/>
                          </a:solidFill>
                          <a:latin typeface="Cambria Math" panose="02040503050406030204" pitchFamily="18" charset="0"/>
                        </a:rPr>
                        <m:t>=1−0=1</m:t>
                      </m:r>
                    </m:oMath>
                  </m:oMathPara>
                </a14:m>
                <a:endParaRPr kumimoji="1" lang="zh-CN" altLang="en-US" sz="2800" dirty="0">
                  <a:solidFill>
                    <a:srgbClr val="2980B9"/>
                  </a:solidFill>
                </a:endParaRPr>
              </a:p>
            </p:txBody>
          </p:sp>
        </mc:Choice>
        <mc:Fallback xmlns="">
          <p:sp>
            <p:nvSpPr>
              <p:cNvPr id="21" name="说明3">
                <a:extLst>
                  <a:ext uri="{FF2B5EF4-FFF2-40B4-BE49-F238E27FC236}">
                    <a16:creationId xmlns:a16="http://schemas.microsoft.com/office/drawing/2014/main" id="{EC131747-8E81-90B5-395F-C2D60D619A61}"/>
                  </a:ext>
                </a:extLst>
              </p:cNvPr>
              <p:cNvSpPr txBox="1">
                <a:spLocks noRot="1" noChangeAspect="1" noMove="1" noResize="1" noEditPoints="1" noAdjustHandles="1" noChangeArrowheads="1" noChangeShapeType="1" noTextEdit="1"/>
              </p:cNvSpPr>
              <p:nvPr/>
            </p:nvSpPr>
            <p:spPr>
              <a:xfrm>
                <a:off x="6778971" y="4077072"/>
                <a:ext cx="4242057" cy="578882"/>
              </a:xfrm>
              <a:prstGeom prst="flowChartAlternateProcess">
                <a:avLst/>
              </a:prstGeom>
              <a:blipFill>
                <a:blip r:embed="rId19"/>
                <a:stretch>
                  <a:fillRect/>
                </a:stretch>
              </a:blipFill>
              <a:ln>
                <a:prstDash val="sysDot"/>
              </a:ln>
            </p:spPr>
            <p:txBody>
              <a:bodyPr/>
              <a:lstStyle/>
              <a:p>
                <a:r>
                  <a:rPr lang="zh-CN" altLang="en-US">
                    <a:noFill/>
                  </a:rPr>
                  <a:t> </a:t>
                </a:r>
              </a:p>
            </p:txBody>
          </p:sp>
        </mc:Fallback>
      </mc:AlternateContent>
      <p:sp>
        <p:nvSpPr>
          <p:cNvPr id="22" name="重要1">
            <a:extLst>
              <a:ext uri="{FF2B5EF4-FFF2-40B4-BE49-F238E27FC236}">
                <a16:creationId xmlns:a16="http://schemas.microsoft.com/office/drawing/2014/main" id="{ECA41592-49F4-EB2D-560D-1F507017BA3F}"/>
              </a:ext>
            </a:extLst>
          </p:cNvPr>
          <p:cNvSpPr txBox="1"/>
          <p:nvPr/>
        </p:nvSpPr>
        <p:spPr>
          <a:xfrm>
            <a:off x="286414" y="5734308"/>
            <a:ext cx="1432997"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kumimoji="1" lang="zh-CN" altLang="en-US" sz="3200" b="1" dirty="0">
                <a:solidFill>
                  <a:schemeClr val="bg1"/>
                </a:solidFill>
              </a:rPr>
              <a:t>结论</a:t>
            </a:r>
          </a:p>
        </p:txBody>
      </p:sp>
      <mc:AlternateContent xmlns:mc="http://schemas.openxmlformats.org/markup-compatibility/2006" xmlns:a14="http://schemas.microsoft.com/office/drawing/2010/main">
        <mc:Choice Requires="a14">
          <p:sp>
            <p:nvSpPr>
              <p:cNvPr id="23" name="说明3">
                <a:extLst>
                  <a:ext uri="{FF2B5EF4-FFF2-40B4-BE49-F238E27FC236}">
                    <a16:creationId xmlns:a16="http://schemas.microsoft.com/office/drawing/2014/main" id="{DD130DF6-9179-64D2-8CBE-A0079907A665}"/>
                  </a:ext>
                </a:extLst>
              </p:cNvPr>
              <p:cNvSpPr txBox="1"/>
              <p:nvPr/>
            </p:nvSpPr>
            <p:spPr>
              <a:xfrm>
                <a:off x="2017461" y="5541308"/>
                <a:ext cx="10052420"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kumimoji="1" lang="en-US" altLang="zh-CN" sz="2800" i="1" dirty="0" smtClean="0">
                            <a:solidFill>
                              <a:srgbClr val="2980B9"/>
                            </a:solidFill>
                            <a:latin typeface="Cambria Math" panose="02040503050406030204" pitchFamily="18" charset="0"/>
                          </a:rPr>
                        </m:ctrlPr>
                      </m:sSubPr>
                      <m:e>
                        <m:r>
                          <m:rPr>
                            <m:sty m:val="p"/>
                          </m:rPr>
                          <a:rPr kumimoji="1" lang="zh-CN" altLang="en-US" sz="2800" b="0" i="0" dirty="0" smtClean="0">
                            <a:solidFill>
                              <a:srgbClr val="2980B9"/>
                            </a:solidFill>
                            <a:latin typeface="Cambria Math" panose="02040503050406030204" pitchFamily="18" charset="0"/>
                          </a:rPr>
                          <m:t>Γ</m:t>
                        </m:r>
                      </m:e>
                      <m:sub>
                        <m:r>
                          <a:rPr kumimoji="1" lang="en-US" altLang="zh-CN" sz="2800" i="1" dirty="0" smtClean="0">
                            <a:solidFill>
                              <a:srgbClr val="2980B9"/>
                            </a:solidFill>
                            <a:latin typeface="Cambria Math" panose="02040503050406030204" pitchFamily="18" charset="0"/>
                          </a:rPr>
                          <m:t>𝑠</m:t>
                        </m:r>
                      </m:sub>
                    </m:sSub>
                  </m:oMath>
                </a14:m>
                <a:r>
                  <a:rPr kumimoji="1" lang="zh-CN" altLang="en-US" sz="2800" dirty="0">
                    <a:solidFill>
                      <a:srgbClr val="2980B9"/>
                    </a:solidFill>
                  </a:rPr>
                  <a:t>按顺时针方向围绕</a:t>
                </a:r>
                <a14:m>
                  <m:oMath xmlns:m="http://schemas.openxmlformats.org/officeDocument/2006/math">
                    <m:r>
                      <a:rPr kumimoji="1" lang="en-US" altLang="zh-CN" sz="2800" b="0" i="1" smtClean="0">
                        <a:solidFill>
                          <a:srgbClr val="2980B9"/>
                        </a:solidFill>
                        <a:latin typeface="Cambria Math" panose="02040503050406030204" pitchFamily="18" charset="0"/>
                      </a:rPr>
                      <m:t>𝐹</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oMath>
                </a14:m>
                <a:r>
                  <a:rPr kumimoji="1" lang="zh-CN" altLang="en-US" sz="2800" dirty="0">
                    <a:solidFill>
                      <a:srgbClr val="2980B9"/>
                    </a:solidFill>
                  </a:rPr>
                  <a:t>的一个</a:t>
                </a:r>
                <a:r>
                  <a:rPr kumimoji="1" lang="zh-CN" altLang="en-US" sz="2800" dirty="0">
                    <a:solidFill>
                      <a:srgbClr val="FF0000"/>
                    </a:solidFill>
                  </a:rPr>
                  <a:t>极</a:t>
                </a:r>
                <a:r>
                  <a:rPr kumimoji="1" lang="zh-CN" altLang="en-US" sz="2800" dirty="0">
                    <a:solidFill>
                      <a:srgbClr val="2980B9"/>
                    </a:solidFill>
                  </a:rPr>
                  <a:t>点，则其在</a:t>
                </a:r>
                <a14:m>
                  <m:oMath xmlns:m="http://schemas.openxmlformats.org/officeDocument/2006/math">
                    <m:r>
                      <a:rPr kumimoji="1" lang="en-US" altLang="zh-CN" sz="2800" b="0" i="1" smtClean="0">
                        <a:solidFill>
                          <a:srgbClr val="2980B9"/>
                        </a:solidFill>
                        <a:latin typeface="Cambria Math" panose="02040503050406030204" pitchFamily="18" charset="0"/>
                      </a:rPr>
                      <m:t>𝐹</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oMath>
                </a14:m>
                <a:r>
                  <a:rPr kumimoji="1" lang="zh-CN" altLang="en-US" sz="2800" dirty="0">
                    <a:solidFill>
                      <a:srgbClr val="2980B9"/>
                    </a:solidFill>
                  </a:rPr>
                  <a:t>平面上的映射曲线</a:t>
                </a:r>
                <a14:m>
                  <m:oMath xmlns:m="http://schemas.openxmlformats.org/officeDocument/2006/math">
                    <m:sSub>
                      <m:sSubPr>
                        <m:ctrlPr>
                          <a:rPr kumimoji="1" lang="en-US" altLang="zh-CN" sz="2800" i="1" dirty="0">
                            <a:solidFill>
                              <a:srgbClr val="2980B9"/>
                            </a:solidFill>
                            <a:latin typeface="Cambria Math" panose="02040503050406030204" pitchFamily="18" charset="0"/>
                          </a:rPr>
                        </m:ctrlPr>
                      </m:sSubPr>
                      <m:e>
                        <m:r>
                          <m:rPr>
                            <m:sty m:val="p"/>
                          </m:rPr>
                          <a:rPr kumimoji="1" lang="zh-CN" altLang="en-US" sz="2800" b="0" i="0" dirty="0">
                            <a:solidFill>
                              <a:srgbClr val="2980B9"/>
                            </a:solidFill>
                            <a:latin typeface="Cambria Math" panose="02040503050406030204" pitchFamily="18" charset="0"/>
                          </a:rPr>
                          <m:t>Γ</m:t>
                        </m:r>
                      </m:e>
                      <m:sub>
                        <m:r>
                          <a:rPr kumimoji="1" lang="en-US" altLang="zh-CN" sz="2800" b="0" i="1" dirty="0" smtClean="0">
                            <a:solidFill>
                              <a:srgbClr val="2980B9"/>
                            </a:solidFill>
                            <a:latin typeface="Cambria Math" panose="02040503050406030204" pitchFamily="18" charset="0"/>
                          </a:rPr>
                          <m:t>𝐹</m:t>
                        </m:r>
                      </m:sub>
                    </m:sSub>
                  </m:oMath>
                </a14:m>
                <a:r>
                  <a:rPr kumimoji="1" lang="zh-CN" altLang="en-US" sz="2800" dirty="0">
                    <a:solidFill>
                      <a:srgbClr val="2980B9"/>
                    </a:solidFill>
                  </a:rPr>
                  <a:t>按</a:t>
                </a:r>
                <a:r>
                  <a:rPr kumimoji="1" lang="zh-CN" altLang="en-US" sz="2800" dirty="0">
                    <a:solidFill>
                      <a:srgbClr val="FF0000"/>
                    </a:solidFill>
                  </a:rPr>
                  <a:t>逆</a:t>
                </a:r>
                <a:r>
                  <a:rPr kumimoji="1" lang="zh-CN" altLang="en-US" sz="2800" dirty="0">
                    <a:solidFill>
                      <a:srgbClr val="2980B9"/>
                    </a:solidFill>
                  </a:rPr>
                  <a:t>时针方向围绕</a:t>
                </a:r>
                <a14:m>
                  <m:oMath xmlns:m="http://schemas.openxmlformats.org/officeDocument/2006/math">
                    <m:r>
                      <a:rPr kumimoji="1" lang="en-US" altLang="zh-CN" sz="2800" i="1">
                        <a:solidFill>
                          <a:srgbClr val="2980B9"/>
                        </a:solidFill>
                        <a:latin typeface="Cambria Math" panose="02040503050406030204" pitchFamily="18" charset="0"/>
                      </a:rPr>
                      <m:t>𝐹</m:t>
                    </m:r>
                    <m:r>
                      <a:rPr kumimoji="1" lang="en-US" altLang="zh-CN" sz="2800" i="1">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𝑠</m:t>
                    </m:r>
                    <m:r>
                      <a:rPr kumimoji="1" lang="en-US" altLang="zh-CN" sz="2800" i="1">
                        <a:solidFill>
                          <a:srgbClr val="2980B9"/>
                        </a:solidFill>
                        <a:latin typeface="Cambria Math" panose="02040503050406030204" pitchFamily="18" charset="0"/>
                      </a:rPr>
                      <m:t>)</m:t>
                    </m:r>
                  </m:oMath>
                </a14:m>
                <a:r>
                  <a:rPr kumimoji="1" lang="zh-CN" altLang="en-US" sz="2800" dirty="0">
                    <a:solidFill>
                      <a:srgbClr val="2980B9"/>
                    </a:solidFill>
                  </a:rPr>
                  <a:t>平面的坐标原点旋转一周。</a:t>
                </a:r>
              </a:p>
            </p:txBody>
          </p:sp>
        </mc:Choice>
        <mc:Fallback xmlns="">
          <p:sp>
            <p:nvSpPr>
              <p:cNvPr id="23" name="说明3">
                <a:extLst>
                  <a:ext uri="{FF2B5EF4-FFF2-40B4-BE49-F238E27FC236}">
                    <a16:creationId xmlns:a16="http://schemas.microsoft.com/office/drawing/2014/main" id="{DD130DF6-9179-64D2-8CBE-A0079907A665}"/>
                  </a:ext>
                </a:extLst>
              </p:cNvPr>
              <p:cNvSpPr txBox="1">
                <a:spLocks noRot="1" noChangeAspect="1" noMove="1" noResize="1" noEditPoints="1" noAdjustHandles="1" noChangeArrowheads="1" noChangeShapeType="1" noTextEdit="1"/>
              </p:cNvSpPr>
              <p:nvPr/>
            </p:nvSpPr>
            <p:spPr>
              <a:xfrm>
                <a:off x="2017461" y="5541308"/>
                <a:ext cx="10052420" cy="1055608"/>
              </a:xfrm>
              <a:prstGeom prst="flowChartAlternateProcess">
                <a:avLst/>
              </a:prstGeom>
              <a:blipFill>
                <a:blip r:embed="rId20"/>
                <a:stretch>
                  <a:fillRect l="-629" b="-8140"/>
                </a:stretch>
              </a:blipFill>
              <a:ln>
                <a:prstDash val="sysDot"/>
              </a:ln>
            </p:spPr>
            <p:txBody>
              <a:bodyPr/>
              <a:lstStyle/>
              <a:p>
                <a:r>
                  <a:rPr lang="zh-CN" altLang="en-US">
                    <a:noFill/>
                  </a:rPr>
                  <a:t> </a:t>
                </a:r>
              </a:p>
            </p:txBody>
          </p:sp>
        </mc:Fallback>
      </mc:AlternateContent>
      <p:sp>
        <p:nvSpPr>
          <p:cNvPr id="3" name="幅相">
            <a:extLst>
              <a:ext uri="{FF2B5EF4-FFF2-40B4-BE49-F238E27FC236}">
                <a16:creationId xmlns:a16="http://schemas.microsoft.com/office/drawing/2014/main" id="{860A2259-8859-4237-9AD3-9CE9A238A4CF}"/>
              </a:ext>
            </a:extLst>
          </p:cNvPr>
          <p:cNvSpPr/>
          <p:nvPr/>
        </p:nvSpPr>
        <p:spPr>
          <a:xfrm flipV="1">
            <a:off x="3265213" y="2005147"/>
            <a:ext cx="1374975" cy="143474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85187"/>
              <a:gd name="connsiteY0" fmla="*/ 0 h 2145227"/>
              <a:gd name="connsiteX1" fmla="*/ 685187 w 685187"/>
              <a:gd name="connsiteY1" fmla="*/ 1761144 h 2145227"/>
              <a:gd name="connsiteX0" fmla="*/ 0 w 685187"/>
              <a:gd name="connsiteY0" fmla="*/ 0 h 1761144"/>
              <a:gd name="connsiteX1" fmla="*/ 685187 w 685187"/>
              <a:gd name="connsiteY1" fmla="*/ 1761144 h 1761144"/>
              <a:gd name="connsiteX0" fmla="*/ 197033 w 203028"/>
              <a:gd name="connsiteY0" fmla="*/ 0 h 1743192"/>
              <a:gd name="connsiteX1" fmla="*/ 186819 w 203028"/>
              <a:gd name="connsiteY1" fmla="*/ 1743192 h 1743192"/>
              <a:gd name="connsiteX0" fmla="*/ 368073 w 368073"/>
              <a:gd name="connsiteY0" fmla="*/ 0 h 1743192"/>
              <a:gd name="connsiteX1" fmla="*/ 357859 w 368073"/>
              <a:gd name="connsiteY1" fmla="*/ 1743192 h 1743192"/>
              <a:gd name="connsiteX0" fmla="*/ 433742 w 433742"/>
              <a:gd name="connsiteY0" fmla="*/ 0 h 1743218"/>
              <a:gd name="connsiteX1" fmla="*/ 423528 w 433742"/>
              <a:gd name="connsiteY1" fmla="*/ 1743192 h 1743218"/>
              <a:gd name="connsiteX0" fmla="*/ 500497 w 500497"/>
              <a:gd name="connsiteY0" fmla="*/ 0 h 1743218"/>
              <a:gd name="connsiteX1" fmla="*/ 490283 w 500497"/>
              <a:gd name="connsiteY1" fmla="*/ 1743192 h 1743218"/>
              <a:gd name="connsiteX0" fmla="*/ 488340 w 488340"/>
              <a:gd name="connsiteY0" fmla="*/ 0 h 1743218"/>
              <a:gd name="connsiteX1" fmla="*/ 478126 w 488340"/>
              <a:gd name="connsiteY1" fmla="*/ 1743192 h 1743218"/>
              <a:gd name="connsiteX0" fmla="*/ 500497 w 500497"/>
              <a:gd name="connsiteY0" fmla="*/ 0 h 1743218"/>
              <a:gd name="connsiteX1" fmla="*/ 490283 w 500497"/>
              <a:gd name="connsiteY1" fmla="*/ 1743192 h 1743218"/>
              <a:gd name="connsiteX0" fmla="*/ 498000 w 517255"/>
              <a:gd name="connsiteY0" fmla="*/ 0 h 1743218"/>
              <a:gd name="connsiteX1" fmla="*/ 517255 w 517255"/>
              <a:gd name="connsiteY1" fmla="*/ 58345 h 1743218"/>
              <a:gd name="connsiteX2" fmla="*/ 487786 w 517255"/>
              <a:gd name="connsiteY2" fmla="*/ 1743192 h 1743218"/>
              <a:gd name="connsiteX0" fmla="*/ 378382 w 675797"/>
              <a:gd name="connsiteY0" fmla="*/ 32747 h 1775962"/>
              <a:gd name="connsiteX1" fmla="*/ 675798 w 675797"/>
              <a:gd name="connsiteY1" fmla="*/ 1330 h 1775962"/>
              <a:gd name="connsiteX2" fmla="*/ 368168 w 675797"/>
              <a:gd name="connsiteY2" fmla="*/ 1775939 h 1775962"/>
              <a:gd name="connsiteX0" fmla="*/ 378382 w 675798"/>
              <a:gd name="connsiteY0" fmla="*/ 32747 h 1775963"/>
              <a:gd name="connsiteX1" fmla="*/ 675798 w 675798"/>
              <a:gd name="connsiteY1" fmla="*/ 1330 h 1775963"/>
              <a:gd name="connsiteX2" fmla="*/ 368168 w 675798"/>
              <a:gd name="connsiteY2" fmla="*/ 1775939 h 1775963"/>
              <a:gd name="connsiteX0" fmla="*/ 466631 w 550077"/>
              <a:gd name="connsiteY0" fmla="*/ 137 h 1743359"/>
              <a:gd name="connsiteX1" fmla="*/ 550077 w 550077"/>
              <a:gd name="connsiteY1" fmla="*/ 309817 h 1743359"/>
              <a:gd name="connsiteX2" fmla="*/ 456417 w 550077"/>
              <a:gd name="connsiteY2" fmla="*/ 1743329 h 1743359"/>
              <a:gd name="connsiteX0" fmla="*/ 1065748 w 1073535"/>
              <a:gd name="connsiteY0" fmla="*/ 245 h 1474179"/>
              <a:gd name="connsiteX1" fmla="*/ 550077 w 1073535"/>
              <a:gd name="connsiteY1" fmla="*/ 40637 h 1474179"/>
              <a:gd name="connsiteX2" fmla="*/ 456417 w 1073535"/>
              <a:gd name="connsiteY2" fmla="*/ 1474149 h 1474179"/>
              <a:gd name="connsiteX0" fmla="*/ 1086404 w 1093852"/>
              <a:gd name="connsiteY0" fmla="*/ 248219 h 1722148"/>
              <a:gd name="connsiteX1" fmla="*/ 527939 w 1093852"/>
              <a:gd name="connsiteY1" fmla="*/ 1370 h 1722148"/>
              <a:gd name="connsiteX2" fmla="*/ 477073 w 1093852"/>
              <a:gd name="connsiteY2" fmla="*/ 1722123 h 1722148"/>
              <a:gd name="connsiteX0" fmla="*/ 1086404 w 1111208"/>
              <a:gd name="connsiteY0" fmla="*/ 248219 h 1722148"/>
              <a:gd name="connsiteX1" fmla="*/ 527939 w 1111208"/>
              <a:gd name="connsiteY1" fmla="*/ 1370 h 1722148"/>
              <a:gd name="connsiteX2" fmla="*/ 477073 w 1111208"/>
              <a:gd name="connsiteY2" fmla="*/ 1722123 h 1722148"/>
              <a:gd name="connsiteX0" fmla="*/ 497986 w 746033"/>
              <a:gd name="connsiteY0" fmla="*/ 1702373 h 1722148"/>
              <a:gd name="connsiteX1" fmla="*/ 527939 w 746033"/>
              <a:gd name="connsiteY1" fmla="*/ 1370 h 1722148"/>
              <a:gd name="connsiteX2" fmla="*/ 477073 w 746033"/>
              <a:gd name="connsiteY2" fmla="*/ 1722123 h 1722148"/>
              <a:gd name="connsiteX0" fmla="*/ 497986 w 910779"/>
              <a:gd name="connsiteY0" fmla="*/ 1702373 h 1722148"/>
              <a:gd name="connsiteX1" fmla="*/ 527939 w 910779"/>
              <a:gd name="connsiteY1" fmla="*/ 1370 h 1722148"/>
              <a:gd name="connsiteX2" fmla="*/ 477073 w 910779"/>
              <a:gd name="connsiteY2" fmla="*/ 1722123 h 1722148"/>
              <a:gd name="connsiteX0" fmla="*/ 497986 w 1004274"/>
              <a:gd name="connsiteY0" fmla="*/ 1702373 h 1722148"/>
              <a:gd name="connsiteX1" fmla="*/ 527939 w 1004274"/>
              <a:gd name="connsiteY1" fmla="*/ 1370 h 1722148"/>
              <a:gd name="connsiteX2" fmla="*/ 477073 w 1004274"/>
              <a:gd name="connsiteY2" fmla="*/ 1722123 h 1722148"/>
              <a:gd name="connsiteX0" fmla="*/ 497986 w 962529"/>
              <a:gd name="connsiteY0" fmla="*/ 1702373 h 1722148"/>
              <a:gd name="connsiteX1" fmla="*/ 527939 w 962529"/>
              <a:gd name="connsiteY1" fmla="*/ 1370 h 1722148"/>
              <a:gd name="connsiteX2" fmla="*/ 477073 w 962529"/>
              <a:gd name="connsiteY2" fmla="*/ 1722123 h 1722148"/>
              <a:gd name="connsiteX0" fmla="*/ 497986 w 979057"/>
              <a:gd name="connsiteY0" fmla="*/ 1702373 h 1722148"/>
              <a:gd name="connsiteX1" fmla="*/ 527939 w 979057"/>
              <a:gd name="connsiteY1" fmla="*/ 1370 h 1722148"/>
              <a:gd name="connsiteX2" fmla="*/ 477073 w 979057"/>
              <a:gd name="connsiteY2" fmla="*/ 1722123 h 1722148"/>
              <a:gd name="connsiteX0" fmla="*/ 494012 w 975083"/>
              <a:gd name="connsiteY0" fmla="*/ 1701207 h 1720983"/>
              <a:gd name="connsiteX1" fmla="*/ 523965 w 975083"/>
              <a:gd name="connsiteY1" fmla="*/ 204 h 1720983"/>
              <a:gd name="connsiteX2" fmla="*/ 473099 w 975083"/>
              <a:gd name="connsiteY2" fmla="*/ 1720957 h 1720983"/>
              <a:gd name="connsiteX0" fmla="*/ 499482 w 980553"/>
              <a:gd name="connsiteY0" fmla="*/ 1701206 h 1720982"/>
              <a:gd name="connsiteX1" fmla="*/ 529435 w 980553"/>
              <a:gd name="connsiteY1" fmla="*/ 203 h 1720982"/>
              <a:gd name="connsiteX2" fmla="*/ 467870 w 980553"/>
              <a:gd name="connsiteY2" fmla="*/ 1720956 h 1720982"/>
              <a:gd name="connsiteX0" fmla="*/ 576445 w 1057516"/>
              <a:gd name="connsiteY0" fmla="*/ 1701207 h 1703030"/>
              <a:gd name="connsiteX1" fmla="*/ 606398 w 1057516"/>
              <a:gd name="connsiteY1" fmla="*/ 204 h 1703030"/>
              <a:gd name="connsiteX2" fmla="*/ 405752 w 1057516"/>
              <a:gd name="connsiteY2" fmla="*/ 1703004 h 1703030"/>
              <a:gd name="connsiteX0" fmla="*/ 597842 w 1067726"/>
              <a:gd name="connsiteY0" fmla="*/ 1683255 h 1703030"/>
              <a:gd name="connsiteX1" fmla="*/ 606398 w 1067726"/>
              <a:gd name="connsiteY1" fmla="*/ 204 h 1703030"/>
              <a:gd name="connsiteX2" fmla="*/ 405752 w 1067726"/>
              <a:gd name="connsiteY2" fmla="*/ 1703004 h 1703030"/>
              <a:gd name="connsiteX0" fmla="*/ 587144 w 1062587"/>
              <a:gd name="connsiteY0" fmla="*/ 1683255 h 1703030"/>
              <a:gd name="connsiteX1" fmla="*/ 606398 w 1062587"/>
              <a:gd name="connsiteY1" fmla="*/ 204 h 1703030"/>
              <a:gd name="connsiteX2" fmla="*/ 405752 w 1062587"/>
              <a:gd name="connsiteY2" fmla="*/ 1703004 h 1703030"/>
              <a:gd name="connsiteX0" fmla="*/ 587144 w 1094258"/>
              <a:gd name="connsiteY0" fmla="*/ 1683255 h 1703030"/>
              <a:gd name="connsiteX1" fmla="*/ 606398 w 1094258"/>
              <a:gd name="connsiteY1" fmla="*/ 204 h 1703030"/>
              <a:gd name="connsiteX2" fmla="*/ 405752 w 1094258"/>
              <a:gd name="connsiteY2" fmla="*/ 1703004 h 1703030"/>
              <a:gd name="connsiteX0" fmla="*/ 587144 w 1114584"/>
              <a:gd name="connsiteY0" fmla="*/ 1683255 h 1703030"/>
              <a:gd name="connsiteX1" fmla="*/ 606398 w 1114584"/>
              <a:gd name="connsiteY1" fmla="*/ 204 h 1703030"/>
              <a:gd name="connsiteX2" fmla="*/ 405752 w 1114584"/>
              <a:gd name="connsiteY2" fmla="*/ 1703004 h 1703030"/>
              <a:gd name="connsiteX0" fmla="*/ 587144 w 1114584"/>
              <a:gd name="connsiteY0" fmla="*/ 1719159 h 1719943"/>
              <a:gd name="connsiteX1" fmla="*/ 606398 w 1114584"/>
              <a:gd name="connsiteY1" fmla="*/ 204 h 1719943"/>
              <a:gd name="connsiteX2" fmla="*/ 405752 w 1114584"/>
              <a:gd name="connsiteY2" fmla="*/ 1703004 h 1719943"/>
              <a:gd name="connsiteX0" fmla="*/ 587144 w 1078282"/>
              <a:gd name="connsiteY0" fmla="*/ 1719159 h 1719184"/>
              <a:gd name="connsiteX1" fmla="*/ 606398 w 1078282"/>
              <a:gd name="connsiteY1" fmla="*/ 204 h 1719184"/>
              <a:gd name="connsiteX2" fmla="*/ 405752 w 1078282"/>
              <a:gd name="connsiteY2" fmla="*/ 1703004 h 1719184"/>
              <a:gd name="connsiteX0" fmla="*/ 515719 w 1006857"/>
              <a:gd name="connsiteY0" fmla="*/ 1719159 h 1719183"/>
              <a:gd name="connsiteX1" fmla="*/ 534973 w 1006857"/>
              <a:gd name="connsiteY1" fmla="*/ 204 h 1719183"/>
              <a:gd name="connsiteX2" fmla="*/ 462709 w 1006857"/>
              <a:gd name="connsiteY2" fmla="*/ 1703004 h 1719183"/>
              <a:gd name="connsiteX0" fmla="*/ 523983 w 1015121"/>
              <a:gd name="connsiteY0" fmla="*/ 1719161 h 1719185"/>
              <a:gd name="connsiteX1" fmla="*/ 543237 w 1015121"/>
              <a:gd name="connsiteY1" fmla="*/ 206 h 1719185"/>
              <a:gd name="connsiteX2" fmla="*/ 470973 w 1015121"/>
              <a:gd name="connsiteY2" fmla="*/ 1703006 h 1719185"/>
              <a:gd name="connsiteX0" fmla="*/ 529085 w 1014806"/>
              <a:gd name="connsiteY0" fmla="*/ 1737112 h 1737135"/>
              <a:gd name="connsiteX1" fmla="*/ 537641 w 1014806"/>
              <a:gd name="connsiteY1" fmla="*/ 204 h 1737135"/>
              <a:gd name="connsiteX2" fmla="*/ 476075 w 1014806"/>
              <a:gd name="connsiteY2" fmla="*/ 1720957 h 1737135"/>
              <a:gd name="connsiteX0" fmla="*/ 529085 w 1038241"/>
              <a:gd name="connsiteY0" fmla="*/ 1737112 h 1737136"/>
              <a:gd name="connsiteX1" fmla="*/ 537641 w 1038241"/>
              <a:gd name="connsiteY1" fmla="*/ 204 h 1737136"/>
              <a:gd name="connsiteX2" fmla="*/ 476075 w 1038241"/>
              <a:gd name="connsiteY2" fmla="*/ 1720957 h 1737136"/>
              <a:gd name="connsiteX0" fmla="*/ 525193 w 1030239"/>
              <a:gd name="connsiteY0" fmla="*/ 1736992 h 1737015"/>
              <a:gd name="connsiteX1" fmla="*/ 533749 w 1030239"/>
              <a:gd name="connsiteY1" fmla="*/ 84 h 1737015"/>
              <a:gd name="connsiteX2" fmla="*/ 472183 w 1030239"/>
              <a:gd name="connsiteY2" fmla="*/ 1720837 h 1737015"/>
              <a:gd name="connsiteX0" fmla="*/ 540866 w 1062437"/>
              <a:gd name="connsiteY0" fmla="*/ 1736992 h 1737015"/>
              <a:gd name="connsiteX1" fmla="*/ 549422 w 1062437"/>
              <a:gd name="connsiteY1" fmla="*/ 84 h 1737015"/>
              <a:gd name="connsiteX2" fmla="*/ 487856 w 1062437"/>
              <a:gd name="connsiteY2" fmla="*/ 1720837 h 1737015"/>
              <a:gd name="connsiteX0" fmla="*/ 597205 w 900553"/>
              <a:gd name="connsiteY0" fmla="*/ 1737511 h 1737536"/>
              <a:gd name="connsiteX1" fmla="*/ 605761 w 900553"/>
              <a:gd name="connsiteY1" fmla="*/ 603 h 1737536"/>
              <a:gd name="connsiteX2" fmla="*/ 223240 w 900553"/>
              <a:gd name="connsiteY2" fmla="*/ 1523877 h 1737536"/>
              <a:gd name="connsiteX0" fmla="*/ 684663 w 1135190"/>
              <a:gd name="connsiteY0" fmla="*/ 1737048 h 1737071"/>
              <a:gd name="connsiteX1" fmla="*/ 693219 w 1135190"/>
              <a:gd name="connsiteY1" fmla="*/ 140 h 1737071"/>
              <a:gd name="connsiteX2" fmla="*/ 310698 w 1135190"/>
              <a:gd name="connsiteY2" fmla="*/ 1523414 h 1737071"/>
              <a:gd name="connsiteX0" fmla="*/ 706705 w 985877"/>
              <a:gd name="connsiteY0" fmla="*/ 1737511 h 1737535"/>
              <a:gd name="connsiteX1" fmla="*/ 608276 w 985877"/>
              <a:gd name="connsiteY1" fmla="*/ 604 h 1737535"/>
              <a:gd name="connsiteX2" fmla="*/ 225755 w 985877"/>
              <a:gd name="connsiteY2" fmla="*/ 1523878 h 1737535"/>
              <a:gd name="connsiteX0" fmla="*/ 781241 w 1169805"/>
              <a:gd name="connsiteY0" fmla="*/ 1737048 h 1737071"/>
              <a:gd name="connsiteX1" fmla="*/ 682812 w 1169805"/>
              <a:gd name="connsiteY1" fmla="*/ 141 h 1737071"/>
              <a:gd name="connsiteX2" fmla="*/ 300291 w 1169805"/>
              <a:gd name="connsiteY2" fmla="*/ 1523415 h 1737071"/>
              <a:gd name="connsiteX0" fmla="*/ 816251 w 1074815"/>
              <a:gd name="connsiteY0" fmla="*/ 1665365 h 1665391"/>
              <a:gd name="connsiteX1" fmla="*/ 610837 w 1074815"/>
              <a:gd name="connsiteY1" fmla="*/ 268 h 1665391"/>
              <a:gd name="connsiteX2" fmla="*/ 228316 w 1074815"/>
              <a:gd name="connsiteY2" fmla="*/ 1523542 h 1665391"/>
              <a:gd name="connsiteX0" fmla="*/ 892174 w 1246931"/>
              <a:gd name="connsiteY0" fmla="*/ 1665113 h 1665137"/>
              <a:gd name="connsiteX1" fmla="*/ 686760 w 1246931"/>
              <a:gd name="connsiteY1" fmla="*/ 16 h 1665137"/>
              <a:gd name="connsiteX2" fmla="*/ 304239 w 1246931"/>
              <a:gd name="connsiteY2" fmla="*/ 1523290 h 1665137"/>
              <a:gd name="connsiteX0" fmla="*/ 558447 w 807793"/>
              <a:gd name="connsiteY0" fmla="*/ 1665098 h 1666895"/>
              <a:gd name="connsiteX1" fmla="*/ 353033 w 807793"/>
              <a:gd name="connsiteY1" fmla="*/ 1 h 1666895"/>
              <a:gd name="connsiteX2" fmla="*/ 280769 w 807793"/>
              <a:gd name="connsiteY2" fmla="*/ 1666894 h 1666895"/>
              <a:gd name="connsiteX0" fmla="*/ 669436 w 867033"/>
              <a:gd name="connsiteY0" fmla="*/ 1736907 h 1738702"/>
              <a:gd name="connsiteX1" fmla="*/ 132368 w 867033"/>
              <a:gd name="connsiteY1" fmla="*/ 0 h 1738702"/>
              <a:gd name="connsiteX2" fmla="*/ 391758 w 867033"/>
              <a:gd name="connsiteY2" fmla="*/ 1738703 h 1738702"/>
              <a:gd name="connsiteX0" fmla="*/ 550847 w 806644"/>
              <a:gd name="connsiteY0" fmla="*/ 1826669 h 1828465"/>
              <a:gd name="connsiteX1" fmla="*/ 377528 w 806644"/>
              <a:gd name="connsiteY1" fmla="*/ 0 h 1828465"/>
              <a:gd name="connsiteX2" fmla="*/ 273169 w 806644"/>
              <a:gd name="connsiteY2" fmla="*/ 1828465 h 1828465"/>
              <a:gd name="connsiteX0" fmla="*/ 649313 w 994597"/>
              <a:gd name="connsiteY0" fmla="*/ 1827812 h 1829608"/>
              <a:gd name="connsiteX1" fmla="*/ 475994 w 994597"/>
              <a:gd name="connsiteY1" fmla="*/ 1143 h 1829608"/>
              <a:gd name="connsiteX2" fmla="*/ 371635 w 994597"/>
              <a:gd name="connsiteY2" fmla="*/ 1829608 h 1829608"/>
              <a:gd name="connsiteX0" fmla="*/ 649313 w 994598"/>
              <a:gd name="connsiteY0" fmla="*/ 1827812 h 1829608"/>
              <a:gd name="connsiteX1" fmla="*/ 475994 w 994598"/>
              <a:gd name="connsiteY1" fmla="*/ 1143 h 1829608"/>
              <a:gd name="connsiteX2" fmla="*/ 371635 w 994598"/>
              <a:gd name="connsiteY2" fmla="*/ 1829608 h 1829608"/>
              <a:gd name="connsiteX0" fmla="*/ 657307 w 995629"/>
              <a:gd name="connsiteY0" fmla="*/ 1702225 h 1704021"/>
              <a:gd name="connsiteX1" fmla="*/ 462591 w 995629"/>
              <a:gd name="connsiteY1" fmla="*/ 1223 h 1704021"/>
              <a:gd name="connsiteX2" fmla="*/ 379629 w 995629"/>
              <a:gd name="connsiteY2" fmla="*/ 1704021 h 1704021"/>
              <a:gd name="connsiteX0" fmla="*/ 657307 w 1022369"/>
              <a:gd name="connsiteY0" fmla="*/ 1701002 h 1702798"/>
              <a:gd name="connsiteX1" fmla="*/ 462591 w 1022369"/>
              <a:gd name="connsiteY1" fmla="*/ 0 h 1702798"/>
              <a:gd name="connsiteX2" fmla="*/ 379629 w 1022369"/>
              <a:gd name="connsiteY2" fmla="*/ 1702798 h 1702798"/>
              <a:gd name="connsiteX0" fmla="*/ 709327 w 1074389"/>
              <a:gd name="connsiteY0" fmla="*/ 1701002 h 1702798"/>
              <a:gd name="connsiteX1" fmla="*/ 514611 w 1074389"/>
              <a:gd name="connsiteY1" fmla="*/ 0 h 1702798"/>
              <a:gd name="connsiteX2" fmla="*/ 431649 w 1074389"/>
              <a:gd name="connsiteY2" fmla="*/ 1702798 h 1702798"/>
              <a:gd name="connsiteX0" fmla="*/ 538151 w 971924"/>
              <a:gd name="connsiteY0" fmla="*/ 1701002 h 1702798"/>
              <a:gd name="connsiteX1" fmla="*/ 514611 w 971924"/>
              <a:gd name="connsiteY1" fmla="*/ 0 h 1702798"/>
              <a:gd name="connsiteX2" fmla="*/ 431649 w 971924"/>
              <a:gd name="connsiteY2" fmla="*/ 1702798 h 1702798"/>
              <a:gd name="connsiteX0" fmla="*/ 516754 w 960338"/>
              <a:gd name="connsiteY0" fmla="*/ 1736906 h 1736930"/>
              <a:gd name="connsiteX1" fmla="*/ 514611 w 960338"/>
              <a:gd name="connsiteY1" fmla="*/ 0 h 1736930"/>
              <a:gd name="connsiteX2" fmla="*/ 431649 w 960338"/>
              <a:gd name="connsiteY2" fmla="*/ 1702798 h 1736930"/>
              <a:gd name="connsiteX0" fmla="*/ 487470 w 931054"/>
              <a:gd name="connsiteY0" fmla="*/ 1736906 h 1774609"/>
              <a:gd name="connsiteX1" fmla="*/ 485327 w 931054"/>
              <a:gd name="connsiteY1" fmla="*/ 0 h 1774609"/>
              <a:gd name="connsiteX2" fmla="*/ 455857 w 931054"/>
              <a:gd name="connsiteY2" fmla="*/ 1774609 h 1774609"/>
              <a:gd name="connsiteX0" fmla="*/ 487470 w 974223"/>
              <a:gd name="connsiteY0" fmla="*/ 1736906 h 1774609"/>
              <a:gd name="connsiteX1" fmla="*/ 485327 w 974223"/>
              <a:gd name="connsiteY1" fmla="*/ 0 h 1774609"/>
              <a:gd name="connsiteX2" fmla="*/ 455857 w 974223"/>
              <a:gd name="connsiteY2" fmla="*/ 1774609 h 1774609"/>
              <a:gd name="connsiteX0" fmla="*/ 526743 w 1013496"/>
              <a:gd name="connsiteY0" fmla="*/ 1736906 h 1774609"/>
              <a:gd name="connsiteX1" fmla="*/ 524600 w 1013496"/>
              <a:gd name="connsiteY1" fmla="*/ 0 h 1774609"/>
              <a:gd name="connsiteX2" fmla="*/ 495130 w 1013496"/>
              <a:gd name="connsiteY2" fmla="*/ 1774609 h 1774609"/>
            </a:gdLst>
            <a:ahLst/>
            <a:cxnLst>
              <a:cxn ang="0">
                <a:pos x="connsiteX0" y="connsiteY0"/>
              </a:cxn>
              <a:cxn ang="0">
                <a:pos x="connsiteX1" y="connsiteY1"/>
              </a:cxn>
              <a:cxn ang="0">
                <a:pos x="connsiteX2" y="connsiteY2"/>
              </a:cxn>
            </a:cxnLst>
            <a:rect l="l" t="t" r="r" b="b"/>
            <a:pathLst>
              <a:path w="1013496" h="1774609">
                <a:moveTo>
                  <a:pt x="526743" y="1736906"/>
                </a:moveTo>
                <a:cubicBezTo>
                  <a:pt x="1171506" y="1744385"/>
                  <a:pt x="1180694" y="17653"/>
                  <a:pt x="524600" y="0"/>
                </a:cubicBezTo>
                <a:cubicBezTo>
                  <a:pt x="-184987" y="18251"/>
                  <a:pt x="-154924" y="1764468"/>
                  <a:pt x="495130" y="1774609"/>
                </a:cubicBezTo>
              </a:path>
            </a:pathLst>
          </a:custGeom>
          <a:noFill/>
          <a:ln w="38100">
            <a:solidFill>
              <a:srgbClr val="E4486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5" name="坐标轴1">
            <a:extLst>
              <a:ext uri="{FF2B5EF4-FFF2-40B4-BE49-F238E27FC236}">
                <a16:creationId xmlns:a16="http://schemas.microsoft.com/office/drawing/2014/main" id="{ACD94766-19AB-B9B1-2B10-3E695BEB54B0}"/>
              </a:ext>
            </a:extLst>
          </p:cNvPr>
          <p:cNvGrpSpPr/>
          <p:nvPr/>
        </p:nvGrpSpPr>
        <p:grpSpPr>
          <a:xfrm>
            <a:off x="699027" y="950018"/>
            <a:ext cx="4642768" cy="2983038"/>
            <a:chOff x="699027" y="950018"/>
            <a:chExt cx="4642768" cy="2983038"/>
          </a:xfrm>
        </p:grpSpPr>
        <p:cxnSp>
          <p:nvCxnSpPr>
            <p:cNvPr id="7" name="实轴">
              <a:extLst>
                <a:ext uri="{FF2B5EF4-FFF2-40B4-BE49-F238E27FC236}">
                  <a16:creationId xmlns:a16="http://schemas.microsoft.com/office/drawing/2014/main" id="{91129E9B-0765-B8A9-99D8-2CE7A24B5FAD}"/>
                </a:ext>
              </a:extLst>
            </p:cNvPr>
            <p:cNvCxnSpPr>
              <a:cxnSpLocks/>
              <a:stCxn id="24" idx="1"/>
            </p:cNvCxnSpPr>
            <p:nvPr/>
          </p:nvCxnSpPr>
          <p:spPr>
            <a:xfrm flipH="1">
              <a:off x="699027" y="2729373"/>
              <a:ext cx="4066232" cy="14158"/>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虚轴">
              <a:extLst>
                <a:ext uri="{FF2B5EF4-FFF2-40B4-BE49-F238E27FC236}">
                  <a16:creationId xmlns:a16="http://schemas.microsoft.com/office/drawing/2014/main" id="{85AFC618-DB7C-4278-BD92-6F0E17E78A4E}"/>
                </a:ext>
              </a:extLst>
            </p:cNvPr>
            <p:cNvCxnSpPr>
              <a:cxnSpLocks/>
            </p:cNvCxnSpPr>
            <p:nvPr/>
          </p:nvCxnSpPr>
          <p:spPr>
            <a:xfrm flipV="1">
              <a:off x="2528520" y="1211628"/>
              <a:ext cx="0" cy="272142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
                  <a:extLst>
                    <a:ext uri="{FF2B5EF4-FFF2-40B4-BE49-F238E27FC236}">
                      <a16:creationId xmlns:a16="http://schemas.microsoft.com/office/drawing/2014/main" id="{D6D2DC71-2A3D-1A54-C2EC-11B7FF683784}"/>
                    </a:ext>
                  </a:extLst>
                </p:cNvPr>
                <p:cNvSpPr txBox="1"/>
                <p:nvPr/>
              </p:nvSpPr>
              <p:spPr>
                <a:xfrm>
                  <a:off x="4765259" y="246776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4" name="Re">
                  <a:extLst>
                    <a:ext uri="{FF2B5EF4-FFF2-40B4-BE49-F238E27FC236}">
                      <a16:creationId xmlns:a16="http://schemas.microsoft.com/office/drawing/2014/main" id="{D6D2DC71-2A3D-1A54-C2EC-11B7FF683784}"/>
                    </a:ext>
                  </a:extLst>
                </p:cNvPr>
                <p:cNvSpPr txBox="1">
                  <a:spLocks noRot="1" noChangeAspect="1" noMove="1" noResize="1" noEditPoints="1" noAdjustHandles="1" noChangeArrowheads="1" noChangeShapeType="1" noTextEdit="1"/>
                </p:cNvSpPr>
                <p:nvPr/>
              </p:nvSpPr>
              <p:spPr>
                <a:xfrm>
                  <a:off x="4765259" y="2467763"/>
                  <a:ext cx="576536" cy="523220"/>
                </a:xfrm>
                <a:prstGeom prst="rect">
                  <a:avLst/>
                </a:prstGeom>
                <a:blipFill>
                  <a:blip r:embed="rId21"/>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Im">
                  <a:extLst>
                    <a:ext uri="{FF2B5EF4-FFF2-40B4-BE49-F238E27FC236}">
                      <a16:creationId xmlns:a16="http://schemas.microsoft.com/office/drawing/2014/main" id="{BF6FD6CB-5006-3696-7AC2-F2A9B1D16011}"/>
                    </a:ext>
                  </a:extLst>
                </p:cNvPr>
                <p:cNvSpPr txBox="1"/>
                <p:nvPr/>
              </p:nvSpPr>
              <p:spPr>
                <a:xfrm>
                  <a:off x="1774490" y="950018"/>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25" name="Im">
                  <a:extLst>
                    <a:ext uri="{FF2B5EF4-FFF2-40B4-BE49-F238E27FC236}">
                      <a16:creationId xmlns:a16="http://schemas.microsoft.com/office/drawing/2014/main" id="{BF6FD6CB-5006-3696-7AC2-F2A9B1D16011}"/>
                    </a:ext>
                  </a:extLst>
                </p:cNvPr>
                <p:cNvSpPr txBox="1">
                  <a:spLocks noRot="1" noChangeAspect="1" noMove="1" noResize="1" noEditPoints="1" noAdjustHandles="1" noChangeArrowheads="1" noChangeShapeType="1" noTextEdit="1"/>
                </p:cNvSpPr>
                <p:nvPr/>
              </p:nvSpPr>
              <p:spPr>
                <a:xfrm>
                  <a:off x="1774490" y="950018"/>
                  <a:ext cx="576536" cy="523220"/>
                </a:xfrm>
                <a:prstGeom prst="rect">
                  <a:avLst/>
                </a:prstGeom>
                <a:blipFill>
                  <a:blip r:embed="rId22"/>
                  <a:stretch>
                    <a:fillRect l="-4255" r="-85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原点">
                  <a:extLst>
                    <a:ext uri="{FF2B5EF4-FFF2-40B4-BE49-F238E27FC236}">
                      <a16:creationId xmlns:a16="http://schemas.microsoft.com/office/drawing/2014/main" id="{3C68A057-6314-505E-57C0-7328E34438C7}"/>
                    </a:ext>
                  </a:extLst>
                </p:cNvPr>
                <p:cNvSpPr txBox="1"/>
                <p:nvPr/>
              </p:nvSpPr>
              <p:spPr>
                <a:xfrm>
                  <a:off x="2017461" y="2753606"/>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6" name="原点">
                  <a:extLst>
                    <a:ext uri="{FF2B5EF4-FFF2-40B4-BE49-F238E27FC236}">
                      <a16:creationId xmlns:a16="http://schemas.microsoft.com/office/drawing/2014/main" id="{3C68A057-6314-505E-57C0-7328E34438C7}"/>
                    </a:ext>
                  </a:extLst>
                </p:cNvPr>
                <p:cNvSpPr txBox="1">
                  <a:spLocks noRot="1" noChangeAspect="1" noMove="1" noResize="1" noEditPoints="1" noAdjustHandles="1" noChangeArrowheads="1" noChangeShapeType="1" noTextEdit="1"/>
                </p:cNvSpPr>
                <p:nvPr/>
              </p:nvSpPr>
              <p:spPr>
                <a:xfrm>
                  <a:off x="2017461" y="2753606"/>
                  <a:ext cx="545352" cy="524695"/>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label2">
                  <a:extLst>
                    <a:ext uri="{FF2B5EF4-FFF2-40B4-BE49-F238E27FC236}">
                      <a16:creationId xmlns:a16="http://schemas.microsoft.com/office/drawing/2014/main" id="{DE53B096-9DC5-2791-450E-5B3E1B6D38D6}"/>
                    </a:ext>
                  </a:extLst>
                </p:cNvPr>
                <p:cNvSpPr txBox="1"/>
                <p:nvPr/>
              </p:nvSpPr>
              <p:spPr>
                <a:xfrm>
                  <a:off x="2817693" y="2755329"/>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27" name="label2">
                  <a:extLst>
                    <a:ext uri="{FF2B5EF4-FFF2-40B4-BE49-F238E27FC236}">
                      <a16:creationId xmlns:a16="http://schemas.microsoft.com/office/drawing/2014/main" id="{DE53B096-9DC5-2791-450E-5B3E1B6D38D6}"/>
                    </a:ext>
                  </a:extLst>
                </p:cNvPr>
                <p:cNvSpPr txBox="1">
                  <a:spLocks noRot="1" noChangeAspect="1" noMove="1" noResize="1" noEditPoints="1" noAdjustHandles="1" noChangeArrowheads="1" noChangeShapeType="1" noTextEdit="1"/>
                </p:cNvSpPr>
                <p:nvPr/>
              </p:nvSpPr>
              <p:spPr>
                <a:xfrm>
                  <a:off x="2817693" y="2755329"/>
                  <a:ext cx="801225" cy="523220"/>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label2">
                  <a:extLst>
                    <a:ext uri="{FF2B5EF4-FFF2-40B4-BE49-F238E27FC236}">
                      <a16:creationId xmlns:a16="http://schemas.microsoft.com/office/drawing/2014/main" id="{2CAF4F4F-A8AF-C9D6-5B01-37181F3B6C01}"/>
                    </a:ext>
                  </a:extLst>
                </p:cNvPr>
                <p:cNvSpPr txBox="1"/>
                <p:nvPr/>
              </p:nvSpPr>
              <p:spPr>
                <a:xfrm>
                  <a:off x="3563499" y="274987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2</m:t>
                        </m:r>
                      </m:oMath>
                    </m:oMathPara>
                  </a14:m>
                  <a:endParaRPr lang="zh-CN" altLang="en-US" sz="2800" dirty="0"/>
                </a:p>
              </p:txBody>
            </p:sp>
          </mc:Choice>
          <mc:Fallback xmlns="">
            <p:sp>
              <p:nvSpPr>
                <p:cNvPr id="30" name="label2">
                  <a:extLst>
                    <a:ext uri="{FF2B5EF4-FFF2-40B4-BE49-F238E27FC236}">
                      <a16:creationId xmlns:a16="http://schemas.microsoft.com/office/drawing/2014/main" id="{2CAF4F4F-A8AF-C9D6-5B01-37181F3B6C01}"/>
                    </a:ext>
                  </a:extLst>
                </p:cNvPr>
                <p:cNvSpPr txBox="1">
                  <a:spLocks noRot="1" noChangeAspect="1" noMove="1" noResize="1" noEditPoints="1" noAdjustHandles="1" noChangeArrowheads="1" noChangeShapeType="1" noTextEdit="1"/>
                </p:cNvSpPr>
                <p:nvPr/>
              </p:nvSpPr>
              <p:spPr>
                <a:xfrm>
                  <a:off x="3563499" y="2749877"/>
                  <a:ext cx="801225" cy="524695"/>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Im">
                  <a:extLst>
                    <a:ext uri="{FF2B5EF4-FFF2-40B4-BE49-F238E27FC236}">
                      <a16:creationId xmlns:a16="http://schemas.microsoft.com/office/drawing/2014/main" id="{FE29B1F2-CABD-C848-BC30-5E7F63220497}"/>
                    </a:ext>
                  </a:extLst>
                </p:cNvPr>
                <p:cNvSpPr txBox="1"/>
                <p:nvPr/>
              </p:nvSpPr>
              <p:spPr>
                <a:xfrm>
                  <a:off x="2674188" y="959213"/>
                  <a:ext cx="576536"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𝑠</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31" name="Im">
                  <a:extLst>
                    <a:ext uri="{FF2B5EF4-FFF2-40B4-BE49-F238E27FC236}">
                      <a16:creationId xmlns:a16="http://schemas.microsoft.com/office/drawing/2014/main" id="{FE29B1F2-CABD-C848-BC30-5E7F63220497}"/>
                    </a:ext>
                  </a:extLst>
                </p:cNvPr>
                <p:cNvSpPr txBox="1">
                  <a:spLocks noRot="1" noChangeAspect="1" noMove="1" noResize="1" noEditPoints="1" noAdjustHandles="1" noChangeArrowheads="1" noChangeShapeType="1" noTextEdit="1"/>
                </p:cNvSpPr>
                <p:nvPr/>
              </p:nvSpPr>
              <p:spPr>
                <a:xfrm>
                  <a:off x="2674188" y="959213"/>
                  <a:ext cx="576536" cy="524695"/>
                </a:xfrm>
                <a:prstGeom prst="rect">
                  <a:avLst/>
                </a:prstGeom>
                <a:blipFill>
                  <a:blip r:embed="rId26"/>
                  <a:stretch>
                    <a:fillRect l="-13043" r="-17391" b="-1904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2" name="小标题1">
                <a:extLst>
                  <a:ext uri="{FF2B5EF4-FFF2-40B4-BE49-F238E27FC236}">
                    <a16:creationId xmlns:a16="http://schemas.microsoft.com/office/drawing/2014/main" id="{8A3A8AB9-747C-592E-9999-6ACE367C2319}"/>
                  </a:ext>
                </a:extLst>
              </p:cNvPr>
              <p:cNvSpPr/>
              <p:nvPr/>
            </p:nvSpPr>
            <p:spPr bwMode="auto">
              <a:xfrm>
                <a:off x="1113997" y="4777366"/>
                <a:ext cx="3407391"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14:m>
                  <m:oMath xmlns:m="http://schemas.openxmlformats.org/officeDocument/2006/math">
                    <m:r>
                      <a:rPr lang="en-US" altLang="zh-CN" sz="3200" b="1" i="1" smtClean="0">
                        <a:solidFill>
                          <a:schemeClr val="bg1"/>
                        </a:solidFill>
                        <a:latin typeface="Cambria Math" panose="02040503050406030204" pitchFamily="18" charset="0"/>
                      </a:rPr>
                      <m:t>𝒔</m:t>
                    </m:r>
                  </m:oMath>
                </a14:m>
                <a:r>
                  <a:rPr lang="zh-CN" altLang="en-US" sz="3200" b="1" dirty="0">
                    <a:solidFill>
                      <a:schemeClr val="bg1"/>
                    </a:solidFill>
                    <a:latin typeface="+mn-ea"/>
                  </a:rPr>
                  <a:t>平面上的曲线</a:t>
                </a:r>
                <a14:m>
                  <m:oMath xmlns:m="http://schemas.openxmlformats.org/officeDocument/2006/math">
                    <m:sSub>
                      <m:sSubPr>
                        <m:ctrlPr>
                          <a:rPr lang="en-US" altLang="zh-CN"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endParaRPr lang="zh-CN" altLang="en-US" sz="3200" b="1" dirty="0">
                  <a:solidFill>
                    <a:schemeClr val="bg1"/>
                  </a:solidFill>
                  <a:latin typeface="+mn-ea"/>
                </a:endParaRPr>
              </a:p>
            </p:txBody>
          </p:sp>
        </mc:Choice>
        <mc:Fallback xmlns="">
          <p:sp>
            <p:nvSpPr>
              <p:cNvPr id="32" name="小标题1">
                <a:extLst>
                  <a:ext uri="{FF2B5EF4-FFF2-40B4-BE49-F238E27FC236}">
                    <a16:creationId xmlns:a16="http://schemas.microsoft.com/office/drawing/2014/main" id="{8A3A8AB9-747C-592E-9999-6ACE367C2319}"/>
                  </a:ext>
                </a:extLst>
              </p:cNvPr>
              <p:cNvSpPr>
                <a:spLocks noRot="1" noChangeAspect="1" noMove="1" noResize="1" noEditPoints="1" noAdjustHandles="1" noChangeArrowheads="1" noChangeShapeType="1" noTextEdit="1"/>
              </p:cNvSpPr>
              <p:nvPr/>
            </p:nvSpPr>
            <p:spPr bwMode="auto">
              <a:xfrm>
                <a:off x="1113997" y="4777366"/>
                <a:ext cx="3407391" cy="576000"/>
              </a:xfrm>
              <a:prstGeom prst="roundRect">
                <a:avLst/>
              </a:prstGeom>
              <a:blipFill>
                <a:blip r:embed="rId27"/>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p:spTree>
    <p:extLst>
      <p:ext uri="{BB962C8B-B14F-4D97-AF65-F5344CB8AC3E}">
        <p14:creationId xmlns:p14="http://schemas.microsoft.com/office/powerpoint/2010/main" val="2893678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down)">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down)">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heel(1)">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22" presetClass="entr" presetSubtype="4"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49" presetClass="entr" presetSubtype="0" repeatCount="0" decel="100000" fill="hold" grpId="1" nodeType="click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p:cTn id="32" dur="500" fill="hold"/>
                                        <p:tgtEl>
                                          <p:spTgt spid="18"/>
                                        </p:tgtEl>
                                        <p:attrNameLst>
                                          <p:attrName>ppt_w</p:attrName>
                                        </p:attrNameLst>
                                      </p:cBhvr>
                                      <p:tavLst>
                                        <p:tav tm="0">
                                          <p:val>
                                            <p:fltVal val="0"/>
                                          </p:val>
                                        </p:tav>
                                        <p:tav tm="100000">
                                          <p:val>
                                            <p:strVal val="#ppt_w"/>
                                          </p:val>
                                        </p:tav>
                                      </p:tavLst>
                                    </p:anim>
                                    <p:anim calcmode="lin" valueType="num">
                                      <p:cBhvr>
                                        <p:cTn id="33" dur="500" fill="hold"/>
                                        <p:tgtEl>
                                          <p:spTgt spid="18"/>
                                        </p:tgtEl>
                                        <p:attrNameLst>
                                          <p:attrName>ppt_h</p:attrName>
                                        </p:attrNameLst>
                                      </p:cBhvr>
                                      <p:tavLst>
                                        <p:tav tm="0">
                                          <p:val>
                                            <p:fltVal val="0"/>
                                          </p:val>
                                        </p:tav>
                                        <p:tav tm="100000">
                                          <p:val>
                                            <p:strVal val="#ppt_h"/>
                                          </p:val>
                                        </p:tav>
                                      </p:tavLst>
                                    </p:anim>
                                    <p:anim calcmode="lin" valueType="num">
                                      <p:cBhvr>
                                        <p:cTn id="34" dur="500" fill="hold"/>
                                        <p:tgtEl>
                                          <p:spTgt spid="18"/>
                                        </p:tgtEl>
                                        <p:attrNameLst>
                                          <p:attrName>style.rotation</p:attrName>
                                        </p:attrNameLst>
                                      </p:cBhvr>
                                      <p:tavLst>
                                        <p:tav tm="0">
                                          <p:val>
                                            <p:fltVal val="360"/>
                                          </p:val>
                                        </p:tav>
                                        <p:tav tm="100000">
                                          <p:val>
                                            <p:fltVal val="0"/>
                                          </p:val>
                                        </p:tav>
                                      </p:tavLst>
                                    </p:anim>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down)">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down)">
                                      <p:cBhvr>
                                        <p:cTn id="45" dur="500"/>
                                        <p:tgtEl>
                                          <p:spTgt spid="22"/>
                                        </p:tgtEl>
                                      </p:cBhvr>
                                    </p:animEffect>
                                  </p:childTnLst>
                                </p:cTn>
                              </p:par>
                            </p:childTnLst>
                          </p:cTn>
                        </p:par>
                        <p:par>
                          <p:cTn id="46" fill="hold">
                            <p:stCondLst>
                              <p:cond delay="500"/>
                            </p:stCondLst>
                            <p:childTnLst>
                              <p:par>
                                <p:cTn id="47" presetID="22" presetClass="entr" presetSubtype="4" fill="hold" grpId="0" nodeType="after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down)">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18" grpId="1" animBg="1"/>
      <p:bldP spid="20" grpId="0" animBg="1"/>
      <p:bldP spid="21" grpId="0" animBg="1"/>
      <p:bldP spid="22" grpId="0" animBg="1"/>
      <p:bldP spid="23" grpId="0" animBg="1"/>
      <p:bldP spid="3"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绘制奈奎斯特曲线</a:t>
            </a:r>
          </a:p>
        </p:txBody>
      </p:sp>
      <p:grpSp>
        <p:nvGrpSpPr>
          <p:cNvPr id="3" name="组合 2">
            <a:extLst>
              <a:ext uri="{FF2B5EF4-FFF2-40B4-BE49-F238E27FC236}">
                <a16:creationId xmlns:a16="http://schemas.microsoft.com/office/drawing/2014/main" id="{AC0F889C-FF1C-8C69-64A7-C30CAA01D6B9}"/>
              </a:ext>
            </a:extLst>
          </p:cNvPr>
          <p:cNvGrpSpPr/>
          <p:nvPr/>
        </p:nvGrpSpPr>
        <p:grpSpPr>
          <a:xfrm>
            <a:off x="7679382" y="332655"/>
            <a:ext cx="4104456" cy="1783357"/>
            <a:chOff x="7679382" y="332655"/>
            <a:chExt cx="4104456" cy="1783357"/>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E85A5D4-C005-DAAA-7BBF-8DD7812ACFD9}"/>
                    </a:ext>
                  </a:extLst>
                </p:cNvPr>
                <p:cNvSpPr/>
                <p:nvPr/>
              </p:nvSpPr>
              <p:spPr>
                <a:xfrm>
                  <a:off x="9695606" y="495876"/>
                  <a:ext cx="900000" cy="720000"/>
                </a:xfrm>
                <a:prstGeom prst="rect">
                  <a:avLst/>
                </a:prstGeom>
                <a:solidFill>
                  <a:schemeClr val="accent1">
                    <a:lumMod val="20000"/>
                    <a:lumOff val="80000"/>
                  </a:schemeClr>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sz="2800" i="1" smtClean="0">
                          <a:solidFill>
                            <a:schemeClr val="tx1"/>
                          </a:solidFill>
                          <a:latin typeface="Cambria Math" panose="02040503050406030204" pitchFamily="18" charset="0"/>
                          <a:ea typeface="Cambria Math" panose="02040503050406030204" pitchFamily="18" charset="0"/>
                        </a:rPr>
                        <m:t>𝐺</m:t>
                      </m:r>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𝑠</m:t>
                      </m:r>
                      <m:r>
                        <a:rPr lang="en-US" altLang="zh-CN" sz="2800" b="0" i="1" smtClean="0">
                          <a:solidFill>
                            <a:schemeClr val="tx1"/>
                          </a:solidFill>
                          <a:latin typeface="Cambria Math" panose="02040503050406030204" pitchFamily="18" charset="0"/>
                          <a:ea typeface="Cambria Math" panose="02040503050406030204" pitchFamily="18" charset="0"/>
                        </a:rPr>
                        <m:t>)</m:t>
                      </m:r>
                    </m:oMath>
                  </a14:m>
                  <a:r>
                    <a:rPr kumimoji="1" lang="zh-CN" altLang="en-US" sz="2800" dirty="0">
                      <a:solidFill>
                        <a:schemeClr val="tx1"/>
                      </a:solidFill>
                    </a:rPr>
                    <a:t> </a:t>
                  </a:r>
                </a:p>
              </p:txBody>
            </p:sp>
          </mc:Choice>
          <mc:Fallback xmlns="">
            <p:sp>
              <p:nvSpPr>
                <p:cNvPr id="2" name="矩形 1">
                  <a:extLst>
                    <a:ext uri="{FF2B5EF4-FFF2-40B4-BE49-F238E27FC236}">
                      <a16:creationId xmlns:a16="http://schemas.microsoft.com/office/drawing/2014/main" id="{2E85A5D4-C005-DAAA-7BBF-8DD7812ACFD9}"/>
                    </a:ext>
                  </a:extLst>
                </p:cNvPr>
                <p:cNvSpPr>
                  <a:spLocks noRot="1" noChangeAspect="1" noMove="1" noResize="1" noEditPoints="1" noAdjustHandles="1" noChangeArrowheads="1" noChangeShapeType="1" noTextEdit="1"/>
                </p:cNvSpPr>
                <p:nvPr/>
              </p:nvSpPr>
              <p:spPr>
                <a:xfrm>
                  <a:off x="9695606" y="495876"/>
                  <a:ext cx="900000" cy="720000"/>
                </a:xfrm>
                <a:prstGeom prst="rect">
                  <a:avLst/>
                </a:prstGeom>
                <a:blipFill>
                  <a:blip r:embed="rId3"/>
                  <a:stretch>
                    <a:fillRect l="-1351" r="-6757"/>
                  </a:stretch>
                </a:blipFill>
                <a:ln w="25400">
                  <a:solidFill>
                    <a:srgbClr val="0070C0"/>
                  </a:solidFill>
                </a:ln>
              </p:spPr>
              <p:txBody>
                <a:bodyPr/>
                <a:lstStyle/>
                <a:p>
                  <a:r>
                    <a:rPr lang="zh-CN" altLang="en-US">
                      <a:noFill/>
                    </a:rPr>
                    <a:t> </a:t>
                  </a:r>
                </a:p>
              </p:txBody>
            </p:sp>
          </mc:Fallback>
        </mc:AlternateContent>
        <p:cxnSp>
          <p:nvCxnSpPr>
            <p:cNvPr id="4" name="1直线箭头连接符3">
              <a:extLst>
                <a:ext uri="{FF2B5EF4-FFF2-40B4-BE49-F238E27FC236}">
                  <a16:creationId xmlns:a16="http://schemas.microsoft.com/office/drawing/2014/main" id="{967BA7DA-12C5-F407-602F-AF4B4D04FC35}"/>
                </a:ext>
              </a:extLst>
            </p:cNvPr>
            <p:cNvCxnSpPr>
              <a:cxnSpLocks/>
              <a:endCxn id="11" idx="2"/>
            </p:cNvCxnSpPr>
            <p:nvPr/>
          </p:nvCxnSpPr>
          <p:spPr>
            <a:xfrm>
              <a:off x="7945069" y="855876"/>
              <a:ext cx="598441"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8616A33-2379-9FA3-AAED-FDD91A0B5C56}"/>
                    </a:ext>
                  </a:extLst>
                </p:cNvPr>
                <p:cNvSpPr txBox="1"/>
                <p:nvPr/>
              </p:nvSpPr>
              <p:spPr>
                <a:xfrm>
                  <a:off x="7679382" y="334610"/>
                  <a:ext cx="93610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𝑅</m:t>
                        </m:r>
                        <m:d>
                          <m:dPr>
                            <m:ctrlPr>
                              <a:rPr lang="en-US" altLang="zh-CN" sz="2800" b="0" i="1" smtClean="0">
                                <a:latin typeface="Cambria Math" panose="02040503050406030204" pitchFamily="18" charset="0"/>
                              </a:rPr>
                            </m:ctrlPr>
                          </m:dPr>
                          <m:e>
                            <m:r>
                              <a:rPr lang="en-US" altLang="zh-CN" sz="2800" i="1">
                                <a:latin typeface="Cambria Math" panose="02040503050406030204" pitchFamily="18" charset="0"/>
                              </a:rPr>
                              <m:t>𝑠</m:t>
                            </m:r>
                          </m:e>
                        </m:d>
                      </m:oMath>
                    </m:oMathPara>
                  </a14:m>
                  <a:endParaRPr lang="zh-CN" altLang="en-US" sz="2800" dirty="0"/>
                </a:p>
              </p:txBody>
            </p:sp>
          </mc:Choice>
          <mc:Fallback xmlns="">
            <p:sp>
              <p:nvSpPr>
                <p:cNvPr id="6" name="文本框 5">
                  <a:extLst>
                    <a:ext uri="{FF2B5EF4-FFF2-40B4-BE49-F238E27FC236}">
                      <a16:creationId xmlns:a16="http://schemas.microsoft.com/office/drawing/2014/main" id="{78616A33-2379-9FA3-AAED-FDD91A0B5C56}"/>
                    </a:ext>
                  </a:extLst>
                </p:cNvPr>
                <p:cNvSpPr txBox="1">
                  <a:spLocks noRot="1" noChangeAspect="1" noMove="1" noResize="1" noEditPoints="1" noAdjustHandles="1" noChangeArrowheads="1" noChangeShapeType="1" noTextEdit="1"/>
                </p:cNvSpPr>
                <p:nvPr/>
              </p:nvSpPr>
              <p:spPr>
                <a:xfrm>
                  <a:off x="7679382" y="334610"/>
                  <a:ext cx="936104" cy="523220"/>
                </a:xfrm>
                <a:prstGeom prst="rect">
                  <a:avLst/>
                </a:prstGeom>
                <a:blipFill>
                  <a:blip r:embed="rId4"/>
                  <a:stretch>
                    <a:fillRect l="-1333"/>
                  </a:stretch>
                </a:blipFill>
              </p:spPr>
              <p:txBody>
                <a:bodyPr/>
                <a:lstStyle/>
                <a:p>
                  <a:r>
                    <a:rPr lang="zh-CN" altLang="en-US">
                      <a:noFill/>
                    </a:rPr>
                    <a:t> </a:t>
                  </a:r>
                </a:p>
              </p:txBody>
            </p:sp>
          </mc:Fallback>
        </mc:AlternateContent>
        <p:cxnSp>
          <p:nvCxnSpPr>
            <p:cNvPr id="8" name="1直线箭头连接符3">
              <a:extLst>
                <a:ext uri="{FF2B5EF4-FFF2-40B4-BE49-F238E27FC236}">
                  <a16:creationId xmlns:a16="http://schemas.microsoft.com/office/drawing/2014/main" id="{D1290A59-C784-64D9-011F-1032B32C7338}"/>
                </a:ext>
              </a:extLst>
            </p:cNvPr>
            <p:cNvCxnSpPr>
              <a:cxnSpLocks/>
              <a:stCxn id="2" idx="3"/>
            </p:cNvCxnSpPr>
            <p:nvPr/>
          </p:nvCxnSpPr>
          <p:spPr>
            <a:xfrm>
              <a:off x="10595606" y="855876"/>
              <a:ext cx="1188232"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6098768-FF46-39FA-1EE0-4A70E5BA0FC0}"/>
                    </a:ext>
                  </a:extLst>
                </p:cNvPr>
                <p:cNvSpPr txBox="1"/>
                <p:nvPr/>
              </p:nvSpPr>
              <p:spPr>
                <a:xfrm>
                  <a:off x="10703718" y="336763"/>
                  <a:ext cx="93610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𝐶</m:t>
                        </m:r>
                        <m:d>
                          <m:dPr>
                            <m:ctrlPr>
                              <a:rPr lang="en-US" altLang="zh-CN" sz="2800" b="0" i="1" smtClean="0">
                                <a:latin typeface="Cambria Math" panose="02040503050406030204" pitchFamily="18" charset="0"/>
                              </a:rPr>
                            </m:ctrlPr>
                          </m:dPr>
                          <m:e>
                            <m:r>
                              <a:rPr lang="en-US" altLang="zh-CN" sz="2800" i="1">
                                <a:latin typeface="Cambria Math" panose="02040503050406030204" pitchFamily="18" charset="0"/>
                              </a:rPr>
                              <m:t>𝑠</m:t>
                            </m:r>
                          </m:e>
                        </m:d>
                      </m:oMath>
                    </m:oMathPara>
                  </a14:m>
                  <a:endParaRPr lang="zh-CN" altLang="en-US" sz="2800" dirty="0"/>
                </a:p>
              </p:txBody>
            </p:sp>
          </mc:Choice>
          <mc:Fallback xmlns="">
            <p:sp>
              <p:nvSpPr>
                <p:cNvPr id="9" name="文本框 8">
                  <a:extLst>
                    <a:ext uri="{FF2B5EF4-FFF2-40B4-BE49-F238E27FC236}">
                      <a16:creationId xmlns:a16="http://schemas.microsoft.com/office/drawing/2014/main" id="{06098768-FF46-39FA-1EE0-4A70E5BA0FC0}"/>
                    </a:ext>
                  </a:extLst>
                </p:cNvPr>
                <p:cNvSpPr txBox="1">
                  <a:spLocks noRot="1" noChangeAspect="1" noMove="1" noResize="1" noEditPoints="1" noAdjustHandles="1" noChangeArrowheads="1" noChangeShapeType="1" noTextEdit="1"/>
                </p:cNvSpPr>
                <p:nvPr/>
              </p:nvSpPr>
              <p:spPr>
                <a:xfrm>
                  <a:off x="10703718" y="336763"/>
                  <a:ext cx="936104" cy="523220"/>
                </a:xfrm>
                <a:prstGeom prst="rect">
                  <a:avLst/>
                </a:prstGeom>
                <a:blipFill>
                  <a:blip r:embed="rId5"/>
                  <a:stretch>
                    <a:fillRect/>
                  </a:stretch>
                </a:blipFill>
              </p:spPr>
              <p:txBody>
                <a:bodyPr/>
                <a:lstStyle/>
                <a:p>
                  <a:r>
                    <a:rPr lang="zh-CN" altLang="en-US">
                      <a:noFill/>
                    </a:rPr>
                    <a:t> </a:t>
                  </a:r>
                </a:p>
              </p:txBody>
            </p:sp>
          </mc:Fallback>
        </mc:AlternateContent>
        <p:sp>
          <p:nvSpPr>
            <p:cNvPr id="11" name="椭圆 10">
              <a:extLst>
                <a:ext uri="{FF2B5EF4-FFF2-40B4-BE49-F238E27FC236}">
                  <a16:creationId xmlns:a16="http://schemas.microsoft.com/office/drawing/2014/main" id="{D1EBE040-8C50-D970-B882-0EA5124B37D5}"/>
                </a:ext>
              </a:extLst>
            </p:cNvPr>
            <p:cNvSpPr/>
            <p:nvPr/>
          </p:nvSpPr>
          <p:spPr>
            <a:xfrm>
              <a:off x="8543510" y="711876"/>
              <a:ext cx="288000" cy="288000"/>
            </a:xfrm>
            <a:prstGeom prst="ellipse">
              <a:avLst/>
            </a:prstGeom>
            <a:solidFill>
              <a:schemeClr val="accent1">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12" name="1Ui">
                  <a:extLst>
                    <a:ext uri="{FF2B5EF4-FFF2-40B4-BE49-F238E27FC236}">
                      <a16:creationId xmlns:a16="http://schemas.microsoft.com/office/drawing/2014/main" id="{88635107-7C77-3945-DA9F-EEED3F70BA0D}"/>
                    </a:ext>
                  </a:extLst>
                </p:cNvPr>
                <p:cNvSpPr txBox="1"/>
                <p:nvPr/>
              </p:nvSpPr>
              <p:spPr>
                <a:xfrm>
                  <a:off x="8019841" y="864088"/>
                  <a:ext cx="594882"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oMath>
                    </m:oMathPara>
                  </a14:m>
                  <a:endParaRPr lang="zh-CN" altLang="en-US" sz="2800" dirty="0"/>
                </a:p>
              </p:txBody>
            </p:sp>
          </mc:Choice>
          <mc:Fallback xmlns="">
            <p:sp>
              <p:nvSpPr>
                <p:cNvPr id="12" name="1Ui">
                  <a:extLst>
                    <a:ext uri="{FF2B5EF4-FFF2-40B4-BE49-F238E27FC236}">
                      <a16:creationId xmlns:a16="http://schemas.microsoft.com/office/drawing/2014/main" id="{88635107-7C77-3945-DA9F-EEED3F70BA0D}"/>
                    </a:ext>
                  </a:extLst>
                </p:cNvPr>
                <p:cNvSpPr txBox="1">
                  <a:spLocks noRot="1" noChangeAspect="1" noMove="1" noResize="1" noEditPoints="1" noAdjustHandles="1" noChangeArrowheads="1" noChangeShapeType="1" noTextEdit="1"/>
                </p:cNvSpPr>
                <p:nvPr/>
              </p:nvSpPr>
              <p:spPr>
                <a:xfrm>
                  <a:off x="8019841" y="864088"/>
                  <a:ext cx="594882" cy="523220"/>
                </a:xfrm>
                <a:prstGeom prst="rect">
                  <a:avLst/>
                </a:prstGeom>
                <a:blipFill>
                  <a:blip r:embed="rId6"/>
                  <a:stretch>
                    <a:fillRect/>
                  </a:stretch>
                </a:blipFill>
              </p:spPr>
              <p:txBody>
                <a:bodyPr/>
                <a:lstStyle/>
                <a:p>
                  <a:r>
                    <a:rPr lang="zh-CN" altLang="en-US">
                      <a:noFill/>
                    </a:rPr>
                    <a:t> </a:t>
                  </a:r>
                </a:p>
              </p:txBody>
            </p:sp>
          </mc:Fallback>
        </mc:AlternateContent>
        <p:cxnSp>
          <p:nvCxnSpPr>
            <p:cNvPr id="13" name="4肘形连接符">
              <a:extLst>
                <a:ext uri="{FF2B5EF4-FFF2-40B4-BE49-F238E27FC236}">
                  <a16:creationId xmlns:a16="http://schemas.microsoft.com/office/drawing/2014/main" id="{56B08721-B0F1-3050-9419-9CD290528B50}"/>
                </a:ext>
              </a:extLst>
            </p:cNvPr>
            <p:cNvCxnSpPr>
              <a:cxnSpLocks/>
              <a:stCxn id="9" idx="2"/>
              <a:endCxn id="15" idx="3"/>
            </p:cNvCxnSpPr>
            <p:nvPr/>
          </p:nvCxnSpPr>
          <p:spPr>
            <a:xfrm rot="5400000">
              <a:off x="10435674" y="1019915"/>
              <a:ext cx="896029" cy="57616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1直线箭头连接符3">
              <a:extLst>
                <a:ext uri="{FF2B5EF4-FFF2-40B4-BE49-F238E27FC236}">
                  <a16:creationId xmlns:a16="http://schemas.microsoft.com/office/drawing/2014/main" id="{4A209586-F499-4251-AEAC-E86736A8DB78}"/>
                </a:ext>
              </a:extLst>
            </p:cNvPr>
            <p:cNvCxnSpPr>
              <a:cxnSpLocks/>
              <a:stCxn id="11" idx="6"/>
              <a:endCxn id="2" idx="1"/>
            </p:cNvCxnSpPr>
            <p:nvPr/>
          </p:nvCxnSpPr>
          <p:spPr>
            <a:xfrm>
              <a:off x="8831510" y="855876"/>
              <a:ext cx="864096"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06318CAD-B560-4622-C787-FB1186ACBCE3}"/>
                    </a:ext>
                  </a:extLst>
                </p:cNvPr>
                <p:cNvSpPr/>
                <p:nvPr/>
              </p:nvSpPr>
              <p:spPr>
                <a:xfrm>
                  <a:off x="9695606" y="1396012"/>
                  <a:ext cx="900000" cy="720000"/>
                </a:xfrm>
                <a:prstGeom prst="rect">
                  <a:avLst/>
                </a:prstGeom>
                <a:solidFill>
                  <a:schemeClr val="accent1">
                    <a:lumMod val="20000"/>
                    <a:lumOff val="80000"/>
                  </a:schemeClr>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𝐻</m:t>
                      </m:r>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𝑠</m:t>
                      </m:r>
                      <m:r>
                        <a:rPr lang="en-US" altLang="zh-CN" sz="2800" b="0" i="1" smtClean="0">
                          <a:solidFill>
                            <a:schemeClr val="tx1"/>
                          </a:solidFill>
                          <a:latin typeface="Cambria Math" panose="02040503050406030204" pitchFamily="18" charset="0"/>
                          <a:ea typeface="Cambria Math" panose="02040503050406030204" pitchFamily="18" charset="0"/>
                        </a:rPr>
                        <m:t>)</m:t>
                      </m:r>
                    </m:oMath>
                  </a14:m>
                  <a:r>
                    <a:rPr kumimoji="1" lang="zh-CN" altLang="en-US" sz="2800" dirty="0">
                      <a:solidFill>
                        <a:schemeClr val="tx1"/>
                      </a:solidFill>
                    </a:rPr>
                    <a:t> </a:t>
                  </a:r>
                </a:p>
              </p:txBody>
            </p:sp>
          </mc:Choice>
          <mc:Fallback xmlns="">
            <p:sp>
              <p:nvSpPr>
                <p:cNvPr id="15" name="矩形 14">
                  <a:extLst>
                    <a:ext uri="{FF2B5EF4-FFF2-40B4-BE49-F238E27FC236}">
                      <a16:creationId xmlns:a16="http://schemas.microsoft.com/office/drawing/2014/main" id="{06318CAD-B560-4622-C787-FB1186ACBCE3}"/>
                    </a:ext>
                  </a:extLst>
                </p:cNvPr>
                <p:cNvSpPr>
                  <a:spLocks noRot="1" noChangeAspect="1" noMove="1" noResize="1" noEditPoints="1" noAdjustHandles="1" noChangeArrowheads="1" noChangeShapeType="1" noTextEdit="1"/>
                </p:cNvSpPr>
                <p:nvPr/>
              </p:nvSpPr>
              <p:spPr>
                <a:xfrm>
                  <a:off x="9695606" y="1396012"/>
                  <a:ext cx="900000" cy="720000"/>
                </a:xfrm>
                <a:prstGeom prst="rect">
                  <a:avLst/>
                </a:prstGeom>
                <a:blipFill>
                  <a:blip r:embed="rId7"/>
                  <a:stretch>
                    <a:fillRect l="-2703" r="-6757"/>
                  </a:stretch>
                </a:blipFill>
                <a:ln w="25400">
                  <a:solidFill>
                    <a:srgbClr val="0070C0"/>
                  </a:solidFill>
                </a:ln>
              </p:spPr>
              <p:txBody>
                <a:bodyPr/>
                <a:lstStyle/>
                <a:p>
                  <a:r>
                    <a:rPr lang="zh-CN" altLang="en-US">
                      <a:noFill/>
                    </a:rPr>
                    <a:t> </a:t>
                  </a:r>
                </a:p>
              </p:txBody>
            </p:sp>
          </mc:Fallback>
        </mc:AlternateContent>
        <p:cxnSp>
          <p:nvCxnSpPr>
            <p:cNvPr id="16" name="4肘形连接符">
              <a:extLst>
                <a:ext uri="{FF2B5EF4-FFF2-40B4-BE49-F238E27FC236}">
                  <a16:creationId xmlns:a16="http://schemas.microsoft.com/office/drawing/2014/main" id="{1A6B66AD-E5EB-6FA6-A50B-C683340E08C6}"/>
                </a:ext>
              </a:extLst>
            </p:cNvPr>
            <p:cNvCxnSpPr>
              <a:cxnSpLocks/>
              <a:stCxn id="15" idx="1"/>
              <a:endCxn id="11" idx="4"/>
            </p:cNvCxnSpPr>
            <p:nvPr/>
          </p:nvCxnSpPr>
          <p:spPr>
            <a:xfrm rot="10800000">
              <a:off x="8687510" y="999876"/>
              <a:ext cx="1008096" cy="756136"/>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C3159EF-9384-9411-6EC4-1193836F9196}"/>
                    </a:ext>
                  </a:extLst>
                </p:cNvPr>
                <p:cNvSpPr txBox="1"/>
                <p:nvPr/>
              </p:nvSpPr>
              <p:spPr>
                <a:xfrm>
                  <a:off x="8759502" y="332655"/>
                  <a:ext cx="93610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𝐸</m:t>
                        </m:r>
                        <m:d>
                          <m:dPr>
                            <m:ctrlPr>
                              <a:rPr lang="en-US" altLang="zh-CN" sz="2800" b="0" i="1" smtClean="0">
                                <a:latin typeface="Cambria Math" panose="02040503050406030204" pitchFamily="18" charset="0"/>
                              </a:rPr>
                            </m:ctrlPr>
                          </m:dPr>
                          <m:e>
                            <m:r>
                              <a:rPr lang="en-US" altLang="zh-CN" sz="2800" i="1">
                                <a:latin typeface="Cambria Math" panose="02040503050406030204" pitchFamily="18" charset="0"/>
                              </a:rPr>
                              <m:t>𝑠</m:t>
                            </m:r>
                          </m:e>
                        </m:d>
                      </m:oMath>
                    </m:oMathPara>
                  </a14:m>
                  <a:endParaRPr lang="zh-CN" altLang="en-US" sz="2800" dirty="0"/>
                </a:p>
              </p:txBody>
            </p:sp>
          </mc:Choice>
          <mc:Fallback xmlns="">
            <p:sp>
              <p:nvSpPr>
                <p:cNvPr id="17" name="文本框 16">
                  <a:extLst>
                    <a:ext uri="{FF2B5EF4-FFF2-40B4-BE49-F238E27FC236}">
                      <a16:creationId xmlns:a16="http://schemas.microsoft.com/office/drawing/2014/main" id="{0C3159EF-9384-9411-6EC4-1193836F9196}"/>
                    </a:ext>
                  </a:extLst>
                </p:cNvPr>
                <p:cNvSpPr txBox="1">
                  <a:spLocks noRot="1" noChangeAspect="1" noMove="1" noResize="1" noEditPoints="1" noAdjustHandles="1" noChangeArrowheads="1" noChangeShapeType="1" noTextEdit="1"/>
                </p:cNvSpPr>
                <p:nvPr/>
              </p:nvSpPr>
              <p:spPr>
                <a:xfrm>
                  <a:off x="8759502" y="332655"/>
                  <a:ext cx="936104" cy="523220"/>
                </a:xfrm>
                <a:prstGeom prst="rect">
                  <a:avLst/>
                </a:prstGeom>
                <a:blipFill>
                  <a:blip r:embed="rId8"/>
                  <a:stretch>
                    <a:fillRect/>
                  </a:stretch>
                </a:blipFill>
              </p:spPr>
              <p:txBody>
                <a:bodyPr/>
                <a:lstStyle/>
                <a:p>
                  <a:r>
                    <a:rPr lang="zh-CN" altLang="en-US">
                      <a:noFill/>
                    </a:rPr>
                    <a:t> </a:t>
                  </a:r>
                </a:p>
              </p:txBody>
            </p:sp>
          </mc:Fallback>
        </mc:AlternateContent>
      </p:grpSp>
      <p:sp>
        <p:nvSpPr>
          <p:cNvPr id="18" name="小标题1">
            <a:extLst>
              <a:ext uri="{FF2B5EF4-FFF2-40B4-BE49-F238E27FC236}">
                <a16:creationId xmlns:a16="http://schemas.microsoft.com/office/drawing/2014/main" id="{7009AC50-E9C2-A0F8-A94E-4E24C7AE9418}"/>
              </a:ext>
            </a:extLst>
          </p:cNvPr>
          <p:cNvSpPr/>
          <p:nvPr/>
        </p:nvSpPr>
        <p:spPr bwMode="auto">
          <a:xfrm>
            <a:off x="287282" y="1125698"/>
            <a:ext cx="3407391"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en-US" altLang="zh-CN" sz="3200" b="1" dirty="0">
                <a:solidFill>
                  <a:schemeClr val="bg1"/>
                </a:solidFill>
                <a:latin typeface="+mn-ea"/>
              </a:rPr>
              <a:t>1.</a:t>
            </a:r>
            <a:r>
              <a:rPr lang="zh-CN" altLang="en-US" sz="3200" b="1" dirty="0">
                <a:solidFill>
                  <a:schemeClr val="bg1"/>
                </a:solidFill>
                <a:latin typeface="+mn-ea"/>
              </a:rPr>
              <a:t> 辅助函数选择</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B8B61FC-5CFD-2ED3-5CDC-4B8CE2BF993D}"/>
                  </a:ext>
                </a:extLst>
              </p:cNvPr>
              <p:cNvSpPr txBox="1"/>
              <p:nvPr/>
            </p:nvSpPr>
            <p:spPr>
              <a:xfrm>
                <a:off x="1" y="1644024"/>
                <a:ext cx="8086246" cy="37042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solidFill>
                            <a:schemeClr val="tx1"/>
                          </a:solidFill>
                          <a:latin typeface="Cambria Math" panose="02040503050406030204" pitchFamily="18" charset="0"/>
                        </a:rPr>
                        <m:t>𝐹</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r>
                        <m:rPr>
                          <m:aln/>
                        </m:rPr>
                        <a:rPr lang="zh-CN" altLang="en-US" sz="2800" i="0">
                          <a:solidFill>
                            <a:schemeClr val="tx1"/>
                          </a:solidFill>
                          <a:latin typeface="Cambria Math" panose="02040503050406030204" pitchFamily="18" charset="0"/>
                        </a:rPr>
                        <m:t>=</m:t>
                      </m:r>
                      <m:r>
                        <a:rPr lang="zh-CN" altLang="en-US" sz="2800" i="0">
                          <a:solidFill>
                            <a:schemeClr val="tx1"/>
                          </a:solidFill>
                          <a:latin typeface="Cambria Math" panose="02040503050406030204" pitchFamily="18" charset="0"/>
                        </a:rPr>
                        <m:t>1+</m:t>
                      </m:r>
                      <m:r>
                        <a:rPr lang="zh-CN" altLang="en-US" sz="2800" i="1">
                          <a:solidFill>
                            <a:schemeClr val="tx1"/>
                          </a:solidFill>
                          <a:latin typeface="Cambria Math" panose="02040503050406030204" pitchFamily="18" charset="0"/>
                        </a:rPr>
                        <m:t>𝐺</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r>
                        <a:rPr lang="zh-CN" altLang="en-US" sz="2800" i="1">
                          <a:solidFill>
                            <a:schemeClr val="tx1"/>
                          </a:solidFill>
                          <a:latin typeface="Cambria Math" panose="02040503050406030204" pitchFamily="18" charset="0"/>
                        </a:rPr>
                        <m:t>𝐻</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r>
                        <a:rPr lang="zh-CN" altLang="en-US" sz="2800" i="0">
                          <a:solidFill>
                            <a:schemeClr val="tx1"/>
                          </a:solidFill>
                          <a:latin typeface="Cambria Math" panose="02040503050406030204" pitchFamily="18" charset="0"/>
                        </a:rPr>
                        <m:t>=1+</m:t>
                      </m:r>
                      <m:f>
                        <m:fPr>
                          <m:ctrlPr>
                            <a:rPr lang="zh-CN" altLang="en-US" sz="2800" i="1">
                              <a:solidFill>
                                <a:schemeClr val="tx1"/>
                              </a:solidFill>
                              <a:latin typeface="Cambria Math" panose="02040503050406030204" pitchFamily="18" charset="0"/>
                            </a:rPr>
                          </m:ctrlPr>
                        </m:fPr>
                        <m:num>
                          <m:sSup>
                            <m:sSupPr>
                              <m:ctrlPr>
                                <a:rPr lang="zh-CN" altLang="en-US"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𝐾</m:t>
                              </m:r>
                            </m:e>
                            <m:sup>
                              <m:r>
                                <a:rPr lang="zh-CN" altLang="en-US" sz="2800" i="0">
                                  <a:solidFill>
                                    <a:schemeClr val="tx1"/>
                                  </a:solidFill>
                                  <a:latin typeface="Cambria Math" panose="02040503050406030204" pitchFamily="18" charset="0"/>
                                </a:rPr>
                                <m:t>∗</m:t>
                              </m:r>
                            </m:sup>
                          </m:sSup>
                          <m:r>
                            <a:rPr lang="zh-CN" altLang="en-US" sz="2800" i="1">
                              <a:solidFill>
                                <a:schemeClr val="tx1"/>
                              </a:solidFill>
                              <a:latin typeface="Cambria Math" panose="02040503050406030204" pitchFamily="18" charset="0"/>
                            </a:rPr>
                            <m:t>𝑀</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num>
                        <m:den>
                          <m:r>
                            <a:rPr lang="zh-CN" altLang="en-US" sz="2800" i="1">
                              <a:solidFill>
                                <a:schemeClr val="tx1"/>
                              </a:solidFill>
                              <a:latin typeface="Cambria Math" panose="02040503050406030204" pitchFamily="18" charset="0"/>
                            </a:rPr>
                            <m:t>𝑁</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den>
                      </m:f>
                      <m:r>
                        <m:rPr>
                          <m:aln/>
                        </m:rP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i="1">
                              <a:solidFill>
                                <a:schemeClr val="tx1"/>
                              </a:solidFill>
                              <a:latin typeface="Cambria Math" panose="02040503050406030204" pitchFamily="18" charset="0"/>
                            </a:rPr>
                            <m:t>𝑁</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r>
                            <a:rPr lang="zh-CN" altLang="en-US" sz="2800" i="0">
                              <a:solidFill>
                                <a:schemeClr val="tx1"/>
                              </a:solidFill>
                              <a:latin typeface="Cambria Math" panose="02040503050406030204" pitchFamily="18" charset="0"/>
                            </a:rPr>
                            <m:t>+</m:t>
                          </m:r>
                          <m:sSup>
                            <m:sSupPr>
                              <m:ctrlPr>
                                <a:rPr lang="zh-CN" altLang="en-US"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𝐾</m:t>
                              </m:r>
                            </m:e>
                            <m:sup>
                              <m:r>
                                <a:rPr lang="zh-CN" altLang="en-US" sz="2800" i="0">
                                  <a:solidFill>
                                    <a:schemeClr val="tx1"/>
                                  </a:solidFill>
                                  <a:latin typeface="Cambria Math" panose="02040503050406030204" pitchFamily="18" charset="0"/>
                                </a:rPr>
                                <m:t>∗</m:t>
                              </m:r>
                            </m:sup>
                          </m:sSup>
                          <m:r>
                            <a:rPr lang="zh-CN" altLang="en-US" sz="2800" i="1">
                              <a:solidFill>
                                <a:schemeClr val="tx1"/>
                              </a:solidFill>
                              <a:latin typeface="Cambria Math" panose="02040503050406030204" pitchFamily="18" charset="0"/>
                            </a:rPr>
                            <m:t>𝑀</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num>
                        <m:den>
                          <m:r>
                            <a:rPr lang="zh-CN" altLang="en-US" sz="2800" i="1">
                              <a:solidFill>
                                <a:schemeClr val="tx1"/>
                              </a:solidFill>
                              <a:latin typeface="Cambria Math" panose="02040503050406030204" pitchFamily="18" charset="0"/>
                            </a:rPr>
                            <m:t>𝑁</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den>
                      </m:f>
                      <m:r>
                        <m:rPr>
                          <m:aln/>
                        </m:rP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1</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2</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3</m:t>
                                  </m:r>
                                </m:sub>
                              </m:sSub>
                            </m:e>
                          </m:d>
                          <m:r>
                            <a:rPr lang="zh-CN" altLang="en-US" sz="2800" i="0">
                              <a:solidFill>
                                <a:schemeClr val="tx1"/>
                              </a:solidFill>
                              <a:latin typeface="Cambria Math" panose="02040503050406030204" pitchFamily="18" charset="0"/>
                            </a:rPr>
                            <m:t>+</m:t>
                          </m:r>
                          <m:sSup>
                            <m:sSupPr>
                              <m:ctrlPr>
                                <a:rPr lang="zh-CN" altLang="en-US"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𝐾</m:t>
                              </m:r>
                            </m:e>
                            <m:sup>
                              <m:r>
                                <a:rPr lang="zh-CN" altLang="en-US" sz="2800" i="0">
                                  <a:solidFill>
                                    <a:schemeClr val="tx1"/>
                                  </a:solidFill>
                                  <a:latin typeface="Cambria Math" panose="02040503050406030204" pitchFamily="18" charset="0"/>
                                </a:rPr>
                                <m:t>∗</m:t>
                              </m:r>
                            </m:sup>
                          </m:sSup>
                          <m:r>
                            <a:rPr lang="zh-CN" altLang="en-US" sz="2800" i="1">
                              <a:solidFill>
                                <a:schemeClr val="tx1"/>
                              </a:solidFill>
                              <a:latin typeface="Cambria Math" panose="02040503050406030204" pitchFamily="18" charset="0"/>
                            </a:rPr>
                            <m:t>𝑀</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num>
                        <m:den>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1</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2</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3</m:t>
                                  </m:r>
                                </m:sub>
                              </m:sSub>
                            </m:e>
                          </m:d>
                        </m:den>
                      </m:f>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i="1">
                              <a:solidFill>
                                <a:schemeClr val="tx1"/>
                              </a:solidFill>
                              <a:latin typeface="Cambria Math" panose="02040503050406030204" pitchFamily="18" charset="0"/>
                            </a:rPr>
                            <m:t>𝐷</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num>
                        <m:den>
                          <m:r>
                            <a:rPr lang="zh-CN" altLang="en-US" sz="2800" i="1">
                              <a:solidFill>
                                <a:schemeClr val="tx1"/>
                              </a:solidFill>
                              <a:latin typeface="Cambria Math" panose="02040503050406030204" pitchFamily="18" charset="0"/>
                            </a:rPr>
                            <m:t>𝑁</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den>
                      </m:f>
                      <m:r>
                        <m:rPr>
                          <m:aln/>
                        </m:rP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𝜆</m:t>
                                  </m:r>
                                </m:e>
                                <m:sub>
                                  <m:r>
                                    <a:rPr lang="zh-CN" altLang="en-US" sz="2800" i="0">
                                      <a:solidFill>
                                        <a:schemeClr val="tx1"/>
                                      </a:solidFill>
                                      <a:latin typeface="Cambria Math" panose="02040503050406030204" pitchFamily="18" charset="0"/>
                                    </a:rPr>
                                    <m:t>1</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𝜆</m:t>
                                  </m:r>
                                </m:e>
                                <m:sub>
                                  <m:r>
                                    <a:rPr lang="zh-CN" altLang="en-US" sz="2800" i="0">
                                      <a:solidFill>
                                        <a:schemeClr val="tx1"/>
                                      </a:solidFill>
                                      <a:latin typeface="Cambria Math" panose="02040503050406030204" pitchFamily="18" charset="0"/>
                                    </a:rPr>
                                    <m:t>2</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𝜆</m:t>
                                  </m:r>
                                </m:e>
                                <m:sub>
                                  <m:r>
                                    <a:rPr lang="zh-CN" altLang="en-US" sz="2800" i="0">
                                      <a:solidFill>
                                        <a:schemeClr val="tx1"/>
                                      </a:solidFill>
                                      <a:latin typeface="Cambria Math" panose="02040503050406030204" pitchFamily="18" charset="0"/>
                                    </a:rPr>
                                    <m:t>3</m:t>
                                  </m:r>
                                </m:sub>
                              </m:sSub>
                            </m:e>
                          </m:d>
                        </m:num>
                        <m:den>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1</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2</m:t>
                                  </m:r>
                                </m:sub>
                              </m:sSub>
                            </m:e>
                          </m:d>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r>
                                <a:rPr lang="zh-CN" altLang="en-US" sz="2800" i="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𝑝</m:t>
                                  </m:r>
                                </m:e>
                                <m:sub>
                                  <m:r>
                                    <a:rPr lang="zh-CN" altLang="en-US" sz="2800" i="0">
                                      <a:solidFill>
                                        <a:schemeClr val="tx1"/>
                                      </a:solidFill>
                                      <a:latin typeface="Cambria Math" panose="02040503050406030204" pitchFamily="18" charset="0"/>
                                    </a:rPr>
                                    <m:t>3</m:t>
                                  </m:r>
                                </m:sub>
                              </m:sSub>
                            </m:e>
                          </m:d>
                        </m:den>
                      </m:f>
                    </m:oMath>
                  </m:oMathPara>
                </a14:m>
                <a:endParaRPr lang="zh-CN" altLang="en-US" sz="2800" dirty="0">
                  <a:solidFill>
                    <a:schemeClr val="tx1"/>
                  </a:solidFill>
                </a:endParaRPr>
              </a:p>
            </p:txBody>
          </p:sp>
        </mc:Choice>
        <mc:Fallback xmlns="">
          <p:sp>
            <p:nvSpPr>
              <p:cNvPr id="20" name="文本框 19">
                <a:extLst>
                  <a:ext uri="{FF2B5EF4-FFF2-40B4-BE49-F238E27FC236}">
                    <a16:creationId xmlns:a16="http://schemas.microsoft.com/office/drawing/2014/main" id="{3B8B61FC-5CFD-2ED3-5CDC-4B8CE2BF993D}"/>
                  </a:ext>
                </a:extLst>
              </p:cNvPr>
              <p:cNvSpPr txBox="1">
                <a:spLocks noRot="1" noChangeAspect="1" noMove="1" noResize="1" noEditPoints="1" noAdjustHandles="1" noChangeArrowheads="1" noChangeShapeType="1" noTextEdit="1"/>
              </p:cNvSpPr>
              <p:nvPr/>
            </p:nvSpPr>
            <p:spPr>
              <a:xfrm>
                <a:off x="1" y="1644024"/>
                <a:ext cx="8086246" cy="3704219"/>
              </a:xfrm>
              <a:prstGeom prst="rect">
                <a:avLst/>
              </a:prstGeom>
              <a:blipFill>
                <a:blip r:embed="rId9"/>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C6FA2B2-A228-AE5D-4A5E-36A354B6C590}"/>
                  </a:ext>
                </a:extLst>
              </p:cNvPr>
              <p:cNvSpPr txBox="1"/>
              <p:nvPr/>
            </p:nvSpPr>
            <p:spPr>
              <a:xfrm>
                <a:off x="8029321" y="2460128"/>
                <a:ext cx="3687343" cy="9894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2800" smtClean="0">
                          <a:solidFill>
                            <a:schemeClr val="tx1"/>
                          </a:solidFill>
                          <a:latin typeface="Cambria Math" panose="02040503050406030204" pitchFamily="18" charset="0"/>
                        </a:rPr>
                        <m:t>Φ</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i="1">
                              <a:solidFill>
                                <a:schemeClr val="tx1"/>
                              </a:solidFill>
                              <a:latin typeface="Cambria Math" panose="02040503050406030204" pitchFamily="18" charset="0"/>
                            </a:rPr>
                            <m:t>𝐺</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num>
                        <m:den>
                          <m:r>
                            <a:rPr lang="zh-CN" altLang="en-US" sz="2800" i="0">
                              <a:solidFill>
                                <a:schemeClr val="tx1"/>
                              </a:solidFill>
                              <a:latin typeface="Cambria Math" panose="02040503050406030204" pitchFamily="18" charset="0"/>
                            </a:rPr>
                            <m:t>1+</m:t>
                          </m:r>
                          <m:r>
                            <a:rPr lang="zh-CN" altLang="en-US" sz="2800" i="1">
                              <a:solidFill>
                                <a:schemeClr val="tx1"/>
                              </a:solidFill>
                              <a:latin typeface="Cambria Math" panose="02040503050406030204" pitchFamily="18" charset="0"/>
                            </a:rPr>
                            <m:t>𝐺</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r>
                            <a:rPr lang="zh-CN" altLang="en-US" sz="2800" i="1">
                              <a:solidFill>
                                <a:schemeClr val="tx1"/>
                              </a:solidFill>
                              <a:latin typeface="Cambria Math" panose="02040503050406030204" pitchFamily="18" charset="0"/>
                            </a:rPr>
                            <m:t>𝐻</m:t>
                          </m:r>
                          <m:d>
                            <m:dPr>
                              <m:ctrlPr>
                                <a:rPr lang="zh-CN" altLang="en-US" sz="2800" i="1">
                                  <a:solidFill>
                                    <a:schemeClr val="tx1"/>
                                  </a:solidFill>
                                  <a:latin typeface="Cambria Math" panose="02040503050406030204" pitchFamily="18" charset="0"/>
                                </a:rPr>
                              </m:ctrlPr>
                            </m:dPr>
                            <m:e>
                              <m:r>
                                <a:rPr lang="zh-CN" altLang="en-US" sz="2800" i="1">
                                  <a:solidFill>
                                    <a:schemeClr val="tx1"/>
                                  </a:solidFill>
                                  <a:latin typeface="Cambria Math" panose="02040503050406030204" pitchFamily="18" charset="0"/>
                                </a:rPr>
                                <m:t>𝑠</m:t>
                              </m:r>
                            </m:e>
                          </m:d>
                        </m:den>
                      </m:f>
                    </m:oMath>
                  </m:oMathPara>
                </a14:m>
                <a:endParaRPr lang="zh-CN" altLang="en-US" sz="2800" dirty="0">
                  <a:solidFill>
                    <a:schemeClr val="tx1"/>
                  </a:solidFill>
                </a:endParaRPr>
              </a:p>
            </p:txBody>
          </p:sp>
        </mc:Choice>
        <mc:Fallback xmlns="">
          <p:sp>
            <p:nvSpPr>
              <p:cNvPr id="22" name="文本框 21">
                <a:extLst>
                  <a:ext uri="{FF2B5EF4-FFF2-40B4-BE49-F238E27FC236}">
                    <a16:creationId xmlns:a16="http://schemas.microsoft.com/office/drawing/2014/main" id="{BC6FA2B2-A228-AE5D-4A5E-36A354B6C590}"/>
                  </a:ext>
                </a:extLst>
              </p:cNvPr>
              <p:cNvSpPr txBox="1">
                <a:spLocks noRot="1" noChangeAspect="1" noMove="1" noResize="1" noEditPoints="1" noAdjustHandles="1" noChangeArrowheads="1" noChangeShapeType="1" noTextEdit="1"/>
              </p:cNvSpPr>
              <p:nvPr/>
            </p:nvSpPr>
            <p:spPr>
              <a:xfrm>
                <a:off x="8029321" y="2460128"/>
                <a:ext cx="3687343" cy="989438"/>
              </a:xfrm>
              <a:prstGeom prst="rect">
                <a:avLst/>
              </a:prstGeom>
              <a:blipFill>
                <a:blip r:embed="rId10"/>
                <a:stretch>
                  <a:fillRect b="-25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重要1">
                <a:extLst>
                  <a:ext uri="{FF2B5EF4-FFF2-40B4-BE49-F238E27FC236}">
                    <a16:creationId xmlns:a16="http://schemas.microsoft.com/office/drawing/2014/main" id="{3E1FAE63-41AE-9085-11CB-0E6A6CEFD955}"/>
                  </a:ext>
                </a:extLst>
              </p:cNvPr>
              <p:cNvSpPr txBox="1"/>
              <p:nvPr/>
            </p:nvSpPr>
            <p:spPr>
              <a:xfrm>
                <a:off x="243791" y="5732302"/>
                <a:ext cx="2539047"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14:m>
                  <m:oMath xmlns:m="http://schemas.openxmlformats.org/officeDocument/2006/math">
                    <m:r>
                      <a:rPr kumimoji="1" lang="en-US" altLang="zh-CN" sz="3200" b="1" i="1" smtClean="0">
                        <a:solidFill>
                          <a:schemeClr val="bg1"/>
                        </a:solidFill>
                        <a:latin typeface="Cambria Math" panose="02040503050406030204" pitchFamily="18" charset="0"/>
                      </a:rPr>
                      <m:t>𝑭</m:t>
                    </m:r>
                    <m:r>
                      <a:rPr kumimoji="1" lang="en-US" altLang="zh-CN" sz="3200" b="1" i="1" smtClean="0">
                        <a:solidFill>
                          <a:schemeClr val="bg1"/>
                        </a:solidFill>
                        <a:latin typeface="Cambria Math" panose="02040503050406030204" pitchFamily="18" charset="0"/>
                      </a:rPr>
                      <m:t>(</m:t>
                    </m:r>
                    <m:r>
                      <a:rPr kumimoji="1" lang="en-US" altLang="zh-CN" sz="3200" b="1" i="1" smtClean="0">
                        <a:solidFill>
                          <a:schemeClr val="bg1"/>
                        </a:solidFill>
                        <a:latin typeface="Cambria Math" panose="02040503050406030204" pitchFamily="18" charset="0"/>
                      </a:rPr>
                      <m:t>𝒔</m:t>
                    </m:r>
                    <m:r>
                      <a:rPr kumimoji="1" lang="en-US" altLang="zh-CN" sz="3200" b="1" i="1" smtClean="0">
                        <a:solidFill>
                          <a:schemeClr val="bg1"/>
                        </a:solidFill>
                        <a:latin typeface="Cambria Math" panose="02040503050406030204" pitchFamily="18" charset="0"/>
                      </a:rPr>
                      <m:t>)</m:t>
                    </m:r>
                  </m:oMath>
                </a14:m>
                <a:r>
                  <a:rPr kumimoji="1" lang="zh-CN" altLang="en-US" sz="3200" b="1" dirty="0">
                    <a:solidFill>
                      <a:schemeClr val="bg1"/>
                    </a:solidFill>
                  </a:rPr>
                  <a:t>的特点</a:t>
                </a:r>
              </a:p>
            </p:txBody>
          </p:sp>
        </mc:Choice>
        <mc:Fallback xmlns="">
          <p:sp>
            <p:nvSpPr>
              <p:cNvPr id="23" name="重要1">
                <a:extLst>
                  <a:ext uri="{FF2B5EF4-FFF2-40B4-BE49-F238E27FC236}">
                    <a16:creationId xmlns:a16="http://schemas.microsoft.com/office/drawing/2014/main" id="{3E1FAE63-41AE-9085-11CB-0E6A6CEFD955}"/>
                  </a:ext>
                </a:extLst>
              </p:cNvPr>
              <p:cNvSpPr txBox="1">
                <a:spLocks noRot="1" noChangeAspect="1" noMove="1" noResize="1" noEditPoints="1" noAdjustHandles="1" noChangeArrowheads="1" noChangeShapeType="1" noTextEdit="1"/>
              </p:cNvSpPr>
              <p:nvPr/>
            </p:nvSpPr>
            <p:spPr>
              <a:xfrm>
                <a:off x="243791" y="5732302"/>
                <a:ext cx="2539047" cy="669608"/>
              </a:xfrm>
              <a:prstGeom prst="roundRect">
                <a:avLst>
                  <a:gd name="adj" fmla="val 22661"/>
                </a:avLst>
              </a:prstGeom>
              <a:blipFill>
                <a:blip r:embed="rId11"/>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说明3">
                <a:extLst>
                  <a:ext uri="{FF2B5EF4-FFF2-40B4-BE49-F238E27FC236}">
                    <a16:creationId xmlns:a16="http://schemas.microsoft.com/office/drawing/2014/main" id="{4E63A867-8504-DDCE-0053-AB03E503CBDB}"/>
                  </a:ext>
                </a:extLst>
              </p:cNvPr>
              <p:cNvSpPr txBox="1"/>
              <p:nvPr/>
            </p:nvSpPr>
            <p:spPr>
              <a:xfrm>
                <a:off x="3423111" y="5409955"/>
                <a:ext cx="3246335"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零点</a:t>
                </a:r>
                <a14:m>
                  <m:oMath xmlns:m="http://schemas.openxmlformats.org/officeDocument/2006/math">
                    <m:sSub>
                      <m:sSubPr>
                        <m:ctrlPr>
                          <a:rPr lang="zh-CN" altLang="en-US" sz="2800" i="1">
                            <a:solidFill>
                              <a:srgbClr val="2980B9"/>
                            </a:solidFill>
                            <a:latin typeface="Cambria Math" panose="02040503050406030204" pitchFamily="18" charset="0"/>
                          </a:rPr>
                        </m:ctrlPr>
                      </m:sSubPr>
                      <m:e>
                        <m:r>
                          <a:rPr lang="zh-CN" altLang="en-US" sz="2800" i="1">
                            <a:solidFill>
                              <a:srgbClr val="2980B9"/>
                            </a:solidFill>
                            <a:latin typeface="Cambria Math" panose="02040503050406030204" pitchFamily="18" charset="0"/>
                          </a:rPr>
                          <m:t>𝜆</m:t>
                        </m:r>
                      </m:e>
                      <m:sub>
                        <m:r>
                          <a:rPr lang="en-US" altLang="zh-CN" sz="2800" b="0" i="1" smtClean="0">
                            <a:solidFill>
                              <a:srgbClr val="2980B9"/>
                            </a:solidFill>
                            <a:latin typeface="Cambria Math" panose="02040503050406030204" pitchFamily="18" charset="0"/>
                          </a:rPr>
                          <m:t>𝑖</m:t>
                        </m:r>
                      </m:sub>
                    </m:sSub>
                  </m:oMath>
                </a14:m>
                <a:r>
                  <a:rPr kumimoji="1" lang="zh-CN" altLang="en-US" sz="2800" dirty="0">
                    <a:solidFill>
                      <a:srgbClr val="2980B9"/>
                    </a:solidFill>
                  </a:rPr>
                  <a:t>即闭环极点</a:t>
                </a:r>
              </a:p>
            </p:txBody>
          </p:sp>
        </mc:Choice>
        <mc:Fallback xmlns="">
          <p:sp>
            <p:nvSpPr>
              <p:cNvPr id="24" name="说明3">
                <a:extLst>
                  <a:ext uri="{FF2B5EF4-FFF2-40B4-BE49-F238E27FC236}">
                    <a16:creationId xmlns:a16="http://schemas.microsoft.com/office/drawing/2014/main" id="{4E63A867-8504-DDCE-0053-AB03E503CBDB}"/>
                  </a:ext>
                </a:extLst>
              </p:cNvPr>
              <p:cNvSpPr txBox="1">
                <a:spLocks noRot="1" noChangeAspect="1" noMove="1" noResize="1" noEditPoints="1" noAdjustHandles="1" noChangeArrowheads="1" noChangeShapeType="1" noTextEdit="1"/>
              </p:cNvSpPr>
              <p:nvPr/>
            </p:nvSpPr>
            <p:spPr>
              <a:xfrm>
                <a:off x="3423111" y="5409955"/>
                <a:ext cx="3246335" cy="578882"/>
              </a:xfrm>
              <a:prstGeom prst="flowChartAlternateProcess">
                <a:avLst/>
              </a:prstGeom>
              <a:blipFill>
                <a:blip r:embed="rId12"/>
                <a:stretch>
                  <a:fillRect l="-2703" t="-6122" b="-18367"/>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说明3">
                <a:extLst>
                  <a:ext uri="{FF2B5EF4-FFF2-40B4-BE49-F238E27FC236}">
                    <a16:creationId xmlns:a16="http://schemas.microsoft.com/office/drawing/2014/main" id="{DAA1A218-32F5-B19C-1DBC-6D2E9BC504B0}"/>
                  </a:ext>
                </a:extLst>
              </p:cNvPr>
              <p:cNvSpPr txBox="1"/>
              <p:nvPr/>
            </p:nvSpPr>
            <p:spPr>
              <a:xfrm>
                <a:off x="8837715" y="5409955"/>
                <a:ext cx="3246335"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极点</a:t>
                </a:r>
                <a14:m>
                  <m:oMath xmlns:m="http://schemas.openxmlformats.org/officeDocument/2006/math">
                    <m:sSub>
                      <m:sSubPr>
                        <m:ctrlPr>
                          <a:rPr lang="zh-CN" altLang="en-US" sz="2800" i="1">
                            <a:solidFill>
                              <a:srgbClr val="2980B9"/>
                            </a:solidFill>
                            <a:latin typeface="Cambria Math" panose="02040503050406030204" pitchFamily="18" charset="0"/>
                          </a:rPr>
                        </m:ctrlPr>
                      </m:sSubPr>
                      <m:e>
                        <m:r>
                          <a:rPr lang="en-US" altLang="zh-CN" sz="2800" b="0" i="1" smtClean="0">
                            <a:solidFill>
                              <a:srgbClr val="2980B9"/>
                            </a:solidFill>
                            <a:latin typeface="Cambria Math" panose="02040503050406030204" pitchFamily="18" charset="0"/>
                          </a:rPr>
                          <m:t>𝑝</m:t>
                        </m:r>
                      </m:e>
                      <m:sub>
                        <m:r>
                          <a:rPr lang="en-US" altLang="zh-CN" sz="2800" b="0" i="1" smtClean="0">
                            <a:solidFill>
                              <a:srgbClr val="2980B9"/>
                            </a:solidFill>
                            <a:latin typeface="Cambria Math" panose="02040503050406030204" pitchFamily="18" charset="0"/>
                          </a:rPr>
                          <m:t>𝑖</m:t>
                        </m:r>
                      </m:sub>
                    </m:sSub>
                  </m:oMath>
                </a14:m>
                <a:r>
                  <a:rPr kumimoji="1" lang="zh-CN" altLang="en-US" sz="2800" dirty="0">
                    <a:solidFill>
                      <a:srgbClr val="2980B9"/>
                    </a:solidFill>
                  </a:rPr>
                  <a:t>即开环极点</a:t>
                </a:r>
              </a:p>
            </p:txBody>
          </p:sp>
        </mc:Choice>
        <mc:Fallback xmlns="">
          <p:sp>
            <p:nvSpPr>
              <p:cNvPr id="25" name="说明3">
                <a:extLst>
                  <a:ext uri="{FF2B5EF4-FFF2-40B4-BE49-F238E27FC236}">
                    <a16:creationId xmlns:a16="http://schemas.microsoft.com/office/drawing/2014/main" id="{DAA1A218-32F5-B19C-1DBC-6D2E9BC504B0}"/>
                  </a:ext>
                </a:extLst>
              </p:cNvPr>
              <p:cNvSpPr txBox="1">
                <a:spLocks noRot="1" noChangeAspect="1" noMove="1" noResize="1" noEditPoints="1" noAdjustHandles="1" noChangeArrowheads="1" noChangeShapeType="1" noTextEdit="1"/>
              </p:cNvSpPr>
              <p:nvPr/>
            </p:nvSpPr>
            <p:spPr>
              <a:xfrm>
                <a:off x="8837715" y="5409955"/>
                <a:ext cx="3246335" cy="578882"/>
              </a:xfrm>
              <a:prstGeom prst="flowChartAlternateProcess">
                <a:avLst/>
              </a:prstGeom>
              <a:blipFill>
                <a:blip r:embed="rId13"/>
                <a:stretch>
                  <a:fillRect l="-3101" t="-6122" b="-18367"/>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说明3">
                <a:extLst>
                  <a:ext uri="{FF2B5EF4-FFF2-40B4-BE49-F238E27FC236}">
                    <a16:creationId xmlns:a16="http://schemas.microsoft.com/office/drawing/2014/main" id="{84D93C65-25EA-FD53-4346-890D78318727}"/>
                  </a:ext>
                </a:extLst>
              </p:cNvPr>
              <p:cNvSpPr txBox="1"/>
              <p:nvPr/>
            </p:nvSpPr>
            <p:spPr>
              <a:xfrm>
                <a:off x="3451404" y="6068972"/>
                <a:ext cx="4227978"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rgbClr val="2980B9"/>
                          </a:solidFill>
                          <a:latin typeface="Cambria Math" panose="02040503050406030204" pitchFamily="18" charset="0"/>
                        </a:rPr>
                        <m:t>𝐹</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𝑗</m:t>
                          </m:r>
                          <m:r>
                            <a:rPr kumimoji="1" lang="en-US" altLang="zh-CN" sz="2800" b="0" i="1" smtClean="0">
                              <a:solidFill>
                                <a:srgbClr val="2980B9"/>
                              </a:solidFill>
                              <a:latin typeface="Cambria Math" panose="02040503050406030204" pitchFamily="18" charset="0"/>
                              <a:ea typeface="Cambria Math" panose="02040503050406030204" pitchFamily="18" charset="0"/>
                            </a:rPr>
                            <m:t>𝜔</m:t>
                          </m:r>
                        </m:e>
                      </m:d>
                      <m:r>
                        <a:rPr kumimoji="1" lang="en-US" altLang="zh-CN" sz="2800" b="0" i="1" smtClean="0">
                          <a:solidFill>
                            <a:srgbClr val="2980B9"/>
                          </a:solidFill>
                          <a:latin typeface="Cambria Math" panose="02040503050406030204" pitchFamily="18" charset="0"/>
                        </a:rPr>
                        <m:t>=1+</m:t>
                      </m:r>
                      <m:r>
                        <a:rPr kumimoji="1" lang="en-US" altLang="zh-CN" sz="2800" b="0" i="1" smtClean="0">
                          <a:solidFill>
                            <a:srgbClr val="2980B9"/>
                          </a:solidFill>
                          <a:latin typeface="Cambria Math" panose="02040503050406030204" pitchFamily="18" charset="0"/>
                        </a:rPr>
                        <m:t>𝐺</m:t>
                      </m:r>
                      <m:d>
                        <m:dPr>
                          <m:ctrlPr>
                            <a:rPr kumimoji="1" lang="en-US" altLang="zh-CN" sz="2800" b="0" i="1" smtClean="0">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r>
                        <a:rPr kumimoji="1" lang="en-US" altLang="zh-CN" sz="2800" b="0" i="1" smtClean="0">
                          <a:solidFill>
                            <a:srgbClr val="2980B9"/>
                          </a:solidFill>
                          <a:latin typeface="Cambria Math" panose="02040503050406030204" pitchFamily="18" charset="0"/>
                          <a:ea typeface="Cambria Math" panose="02040503050406030204" pitchFamily="18" charset="0"/>
                        </a:rPr>
                        <m:t>𝐻</m:t>
                      </m:r>
                      <m:d>
                        <m:dPr>
                          <m:ctrlPr>
                            <a:rPr kumimoji="1" lang="en-US" altLang="zh-CN" sz="2800" b="0" i="1" smtClean="0">
                              <a:solidFill>
                                <a:srgbClr val="2980B9"/>
                              </a:solidFill>
                              <a:latin typeface="Cambria Math" panose="02040503050406030204" pitchFamily="18" charset="0"/>
                              <a:ea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oMath>
                  </m:oMathPara>
                </a14:m>
                <a:endParaRPr kumimoji="1" lang="zh-CN" altLang="en-US" sz="2800" dirty="0">
                  <a:solidFill>
                    <a:srgbClr val="2980B9"/>
                  </a:solidFill>
                </a:endParaRPr>
              </a:p>
            </p:txBody>
          </p:sp>
        </mc:Choice>
        <mc:Fallback xmlns="">
          <p:sp>
            <p:nvSpPr>
              <p:cNvPr id="26" name="说明3">
                <a:extLst>
                  <a:ext uri="{FF2B5EF4-FFF2-40B4-BE49-F238E27FC236}">
                    <a16:creationId xmlns:a16="http://schemas.microsoft.com/office/drawing/2014/main" id="{84D93C65-25EA-FD53-4346-890D78318727}"/>
                  </a:ext>
                </a:extLst>
              </p:cNvPr>
              <p:cNvSpPr txBox="1">
                <a:spLocks noRot="1" noChangeAspect="1" noMove="1" noResize="1" noEditPoints="1" noAdjustHandles="1" noChangeArrowheads="1" noChangeShapeType="1" noTextEdit="1"/>
              </p:cNvSpPr>
              <p:nvPr/>
            </p:nvSpPr>
            <p:spPr>
              <a:xfrm>
                <a:off x="3451404" y="6068972"/>
                <a:ext cx="4227978" cy="578882"/>
              </a:xfrm>
              <a:prstGeom prst="flowChartAlternateProcess">
                <a:avLst/>
              </a:prstGeom>
              <a:blipFill>
                <a:blip r:embed="rId14"/>
                <a:stretch>
                  <a:fillRect b="-6250"/>
                </a:stretch>
              </a:blipFill>
              <a:ln>
                <a:prstDash val="sysDot"/>
              </a:ln>
            </p:spPr>
            <p:txBody>
              <a:bodyPr/>
              <a:lstStyle/>
              <a:p>
                <a:r>
                  <a:rPr lang="zh-CN" altLang="en-US">
                    <a:noFill/>
                  </a:rPr>
                  <a:t> </a:t>
                </a:r>
              </a:p>
            </p:txBody>
          </p:sp>
        </mc:Fallback>
      </mc:AlternateContent>
      <p:sp>
        <p:nvSpPr>
          <p:cNvPr id="27" name="小标题1">
            <a:extLst>
              <a:ext uri="{FF2B5EF4-FFF2-40B4-BE49-F238E27FC236}">
                <a16:creationId xmlns:a16="http://schemas.microsoft.com/office/drawing/2014/main" id="{FC29D574-10DE-2CB7-1BF5-334A94B34A20}"/>
              </a:ext>
            </a:extLst>
          </p:cNvPr>
          <p:cNvSpPr/>
          <p:nvPr/>
        </p:nvSpPr>
        <p:spPr bwMode="auto">
          <a:xfrm>
            <a:off x="6793720" y="5396486"/>
            <a:ext cx="1919720"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个数相同</a:t>
            </a:r>
          </a:p>
        </p:txBody>
      </p:sp>
    </p:spTree>
    <p:extLst>
      <p:ext uri="{BB962C8B-B14F-4D97-AF65-F5344CB8AC3E}">
        <p14:creationId xmlns:p14="http://schemas.microsoft.com/office/powerpoint/2010/main" val="3925960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down)">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iterate type="wd">
                                    <p:tmPct val="10000"/>
                                  </p:iterate>
                                  <p:childTnLst>
                                    <p:set>
                                      <p:cBhvr>
                                        <p:cTn id="20" dur="1" fill="hold">
                                          <p:stCondLst>
                                            <p:cond delay="0"/>
                                          </p:stCondLst>
                                        </p:cTn>
                                        <p:tgtEl>
                                          <p:spTgt spid="20">
                                            <p:txEl>
                                              <p:pRg st="0" end="0"/>
                                            </p:txEl>
                                          </p:spTgt>
                                        </p:tgtEl>
                                        <p:attrNameLst>
                                          <p:attrName>style.visibility</p:attrName>
                                        </p:attrNameLst>
                                      </p:cBhvr>
                                      <p:to>
                                        <p:strVal val="visible"/>
                                      </p:to>
                                    </p:set>
                                    <p:animEffect transition="in" filter="wipe(up)">
                                      <p:cBhvr>
                                        <p:cTn id="21" dur="500"/>
                                        <p:tgtEl>
                                          <p:spTgt spid="20">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down)">
                                      <p:cBhvr>
                                        <p:cTn id="26" dur="500"/>
                                        <p:tgtEl>
                                          <p:spTgt spid="23"/>
                                        </p:tgtEl>
                                      </p:cBhvr>
                                    </p:animEffect>
                                  </p:childTnLst>
                                </p:cTn>
                              </p:par>
                            </p:childTnLst>
                          </p:cTn>
                        </p:par>
                        <p:par>
                          <p:cTn id="27" fill="hold">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down)">
                                      <p:cBhvr>
                                        <p:cTn id="30" dur="500"/>
                                        <p:tgtEl>
                                          <p:spTgt spid="24"/>
                                        </p:tgtEl>
                                      </p:cBhvr>
                                    </p:animEffect>
                                  </p:childTnLst>
                                </p:cTn>
                              </p:par>
                            </p:childTnLst>
                          </p:cTn>
                        </p:par>
                        <p:par>
                          <p:cTn id="31" fill="hold">
                            <p:stCondLst>
                              <p:cond delay="1000"/>
                            </p:stCondLst>
                            <p:childTnLst>
                              <p:par>
                                <p:cTn id="32" presetID="22" presetClass="entr" presetSubtype="4" fill="hold" grpId="0" nodeType="after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wipe(down)">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down)">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down)">
                                      <p:cBhvr>
                                        <p:cTn id="4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build="p" bldLvl="2"/>
      <p:bldP spid="22" grpId="0"/>
      <p:bldP spid="23" grpId="0" animBg="1"/>
      <p:bldP spid="24" grpId="0" animBg="1"/>
      <p:bldP spid="25" grpId="0" animBg="1"/>
      <p:bldP spid="26" grpId="0" animBg="1"/>
      <p:bldP spid="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绘制奈奎斯特曲线</a:t>
            </a:r>
          </a:p>
        </p:txBody>
      </p:sp>
      <mc:AlternateContent xmlns:mc="http://schemas.openxmlformats.org/markup-compatibility/2006" xmlns:a14="http://schemas.microsoft.com/office/drawing/2010/main">
        <mc:Choice Requires="a14">
          <p:sp>
            <p:nvSpPr>
              <p:cNvPr id="23" name="重要1">
                <a:extLst>
                  <a:ext uri="{FF2B5EF4-FFF2-40B4-BE49-F238E27FC236}">
                    <a16:creationId xmlns:a16="http://schemas.microsoft.com/office/drawing/2014/main" id="{3E1FAE63-41AE-9085-11CB-0E6A6CEFD955}"/>
                  </a:ext>
                </a:extLst>
              </p:cNvPr>
              <p:cNvSpPr txBox="1"/>
              <p:nvPr/>
            </p:nvSpPr>
            <p:spPr>
              <a:xfrm>
                <a:off x="129740" y="1034481"/>
                <a:ext cx="2539047"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14:m>
                  <m:oMath xmlns:m="http://schemas.openxmlformats.org/officeDocument/2006/math">
                    <m:r>
                      <a:rPr kumimoji="1" lang="en-US" altLang="zh-CN" sz="3200" b="1" i="1" smtClean="0">
                        <a:solidFill>
                          <a:schemeClr val="bg1"/>
                        </a:solidFill>
                        <a:latin typeface="Cambria Math" panose="02040503050406030204" pitchFamily="18" charset="0"/>
                      </a:rPr>
                      <m:t>𝑭</m:t>
                    </m:r>
                    <m:r>
                      <a:rPr kumimoji="1" lang="en-US" altLang="zh-CN" sz="3200" b="1" i="1" smtClean="0">
                        <a:solidFill>
                          <a:schemeClr val="bg1"/>
                        </a:solidFill>
                        <a:latin typeface="Cambria Math" panose="02040503050406030204" pitchFamily="18" charset="0"/>
                      </a:rPr>
                      <m:t>(</m:t>
                    </m:r>
                    <m:r>
                      <a:rPr kumimoji="1" lang="en-US" altLang="zh-CN" sz="3200" b="1" i="1" smtClean="0">
                        <a:solidFill>
                          <a:schemeClr val="bg1"/>
                        </a:solidFill>
                        <a:latin typeface="Cambria Math" panose="02040503050406030204" pitchFamily="18" charset="0"/>
                      </a:rPr>
                      <m:t>𝒔</m:t>
                    </m:r>
                    <m:r>
                      <a:rPr kumimoji="1" lang="en-US" altLang="zh-CN" sz="3200" b="1" i="1" smtClean="0">
                        <a:solidFill>
                          <a:schemeClr val="bg1"/>
                        </a:solidFill>
                        <a:latin typeface="Cambria Math" panose="02040503050406030204" pitchFamily="18" charset="0"/>
                      </a:rPr>
                      <m:t>)</m:t>
                    </m:r>
                  </m:oMath>
                </a14:m>
                <a:r>
                  <a:rPr kumimoji="1" lang="zh-CN" altLang="en-US" sz="3200" b="1" dirty="0">
                    <a:solidFill>
                      <a:schemeClr val="bg1"/>
                    </a:solidFill>
                  </a:rPr>
                  <a:t>的特点</a:t>
                </a:r>
              </a:p>
            </p:txBody>
          </p:sp>
        </mc:Choice>
        <mc:Fallback xmlns="">
          <p:sp>
            <p:nvSpPr>
              <p:cNvPr id="23" name="重要1">
                <a:extLst>
                  <a:ext uri="{FF2B5EF4-FFF2-40B4-BE49-F238E27FC236}">
                    <a16:creationId xmlns:a16="http://schemas.microsoft.com/office/drawing/2014/main" id="{3E1FAE63-41AE-9085-11CB-0E6A6CEFD955}"/>
                  </a:ext>
                </a:extLst>
              </p:cNvPr>
              <p:cNvSpPr txBox="1">
                <a:spLocks noRot="1" noChangeAspect="1" noMove="1" noResize="1" noEditPoints="1" noAdjustHandles="1" noChangeArrowheads="1" noChangeShapeType="1" noTextEdit="1"/>
              </p:cNvSpPr>
              <p:nvPr/>
            </p:nvSpPr>
            <p:spPr>
              <a:xfrm>
                <a:off x="129740" y="1034481"/>
                <a:ext cx="2539047" cy="669608"/>
              </a:xfrm>
              <a:prstGeom prst="roundRect">
                <a:avLst>
                  <a:gd name="adj" fmla="val 22661"/>
                </a:avLst>
              </a:prstGeom>
              <a:blipFill>
                <a:blip r:embed="rId3"/>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说明3">
                <a:extLst>
                  <a:ext uri="{FF2B5EF4-FFF2-40B4-BE49-F238E27FC236}">
                    <a16:creationId xmlns:a16="http://schemas.microsoft.com/office/drawing/2014/main" id="{4E63A867-8504-DDCE-0053-AB03E503CBDB}"/>
                  </a:ext>
                </a:extLst>
              </p:cNvPr>
              <p:cNvSpPr txBox="1"/>
              <p:nvPr/>
            </p:nvSpPr>
            <p:spPr>
              <a:xfrm>
                <a:off x="3432694" y="1018421"/>
                <a:ext cx="3246335"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零点</a:t>
                </a:r>
                <a14:m>
                  <m:oMath xmlns:m="http://schemas.openxmlformats.org/officeDocument/2006/math">
                    <m:sSub>
                      <m:sSubPr>
                        <m:ctrlPr>
                          <a:rPr lang="zh-CN" altLang="en-US" sz="2800" i="1">
                            <a:solidFill>
                              <a:srgbClr val="2980B9"/>
                            </a:solidFill>
                            <a:latin typeface="Cambria Math" panose="02040503050406030204" pitchFamily="18" charset="0"/>
                          </a:rPr>
                        </m:ctrlPr>
                      </m:sSubPr>
                      <m:e>
                        <m:r>
                          <a:rPr lang="zh-CN" altLang="en-US" sz="2800" i="1">
                            <a:solidFill>
                              <a:srgbClr val="2980B9"/>
                            </a:solidFill>
                            <a:latin typeface="Cambria Math" panose="02040503050406030204" pitchFamily="18" charset="0"/>
                          </a:rPr>
                          <m:t>𝜆</m:t>
                        </m:r>
                      </m:e>
                      <m:sub>
                        <m:r>
                          <a:rPr lang="en-US" altLang="zh-CN" sz="2800" b="0" i="1" smtClean="0">
                            <a:solidFill>
                              <a:srgbClr val="2980B9"/>
                            </a:solidFill>
                            <a:latin typeface="Cambria Math" panose="02040503050406030204" pitchFamily="18" charset="0"/>
                          </a:rPr>
                          <m:t>𝑖</m:t>
                        </m:r>
                      </m:sub>
                    </m:sSub>
                  </m:oMath>
                </a14:m>
                <a:r>
                  <a:rPr kumimoji="1" lang="zh-CN" altLang="en-US" sz="2800" dirty="0">
                    <a:solidFill>
                      <a:srgbClr val="2980B9"/>
                    </a:solidFill>
                  </a:rPr>
                  <a:t>即</a:t>
                </a:r>
                <a:r>
                  <a:rPr kumimoji="1" lang="zh-CN" altLang="en-US" sz="2800" dirty="0">
                    <a:solidFill>
                      <a:srgbClr val="159F84"/>
                    </a:solidFill>
                  </a:rPr>
                  <a:t>闭环</a:t>
                </a:r>
                <a:r>
                  <a:rPr kumimoji="1" lang="zh-CN" altLang="en-US" sz="2800" dirty="0">
                    <a:solidFill>
                      <a:srgbClr val="2980B9"/>
                    </a:solidFill>
                  </a:rPr>
                  <a:t>极点</a:t>
                </a:r>
              </a:p>
            </p:txBody>
          </p:sp>
        </mc:Choice>
        <mc:Fallback xmlns="">
          <p:sp>
            <p:nvSpPr>
              <p:cNvPr id="24" name="说明3">
                <a:extLst>
                  <a:ext uri="{FF2B5EF4-FFF2-40B4-BE49-F238E27FC236}">
                    <a16:creationId xmlns:a16="http://schemas.microsoft.com/office/drawing/2014/main" id="{4E63A867-8504-DDCE-0053-AB03E503CBDB}"/>
                  </a:ext>
                </a:extLst>
              </p:cNvPr>
              <p:cNvSpPr txBox="1">
                <a:spLocks noRot="1" noChangeAspect="1" noMove="1" noResize="1" noEditPoints="1" noAdjustHandles="1" noChangeArrowheads="1" noChangeShapeType="1" noTextEdit="1"/>
              </p:cNvSpPr>
              <p:nvPr/>
            </p:nvSpPr>
            <p:spPr>
              <a:xfrm>
                <a:off x="3432694" y="1018421"/>
                <a:ext cx="3246335" cy="578882"/>
              </a:xfrm>
              <a:prstGeom prst="flowChartAlternateProcess">
                <a:avLst/>
              </a:prstGeom>
              <a:blipFill>
                <a:blip r:embed="rId4"/>
                <a:stretch>
                  <a:fillRect l="-2703" t="-6250" b="-20833"/>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说明3">
                <a:extLst>
                  <a:ext uri="{FF2B5EF4-FFF2-40B4-BE49-F238E27FC236}">
                    <a16:creationId xmlns:a16="http://schemas.microsoft.com/office/drawing/2014/main" id="{DAA1A218-32F5-B19C-1DBC-6D2E9BC504B0}"/>
                  </a:ext>
                </a:extLst>
              </p:cNvPr>
              <p:cNvSpPr txBox="1"/>
              <p:nvPr/>
            </p:nvSpPr>
            <p:spPr>
              <a:xfrm>
                <a:off x="8847298" y="1018421"/>
                <a:ext cx="3246335"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极点</a:t>
                </a:r>
                <a14:m>
                  <m:oMath xmlns:m="http://schemas.openxmlformats.org/officeDocument/2006/math">
                    <m:sSub>
                      <m:sSubPr>
                        <m:ctrlPr>
                          <a:rPr lang="zh-CN" altLang="en-US" sz="2800" i="1">
                            <a:solidFill>
                              <a:srgbClr val="2980B9"/>
                            </a:solidFill>
                            <a:latin typeface="Cambria Math" panose="02040503050406030204" pitchFamily="18" charset="0"/>
                          </a:rPr>
                        </m:ctrlPr>
                      </m:sSubPr>
                      <m:e>
                        <m:r>
                          <a:rPr lang="en-US" altLang="zh-CN" sz="2800" b="0" i="1" smtClean="0">
                            <a:solidFill>
                              <a:srgbClr val="2980B9"/>
                            </a:solidFill>
                            <a:latin typeface="Cambria Math" panose="02040503050406030204" pitchFamily="18" charset="0"/>
                          </a:rPr>
                          <m:t>𝑝</m:t>
                        </m:r>
                      </m:e>
                      <m:sub>
                        <m:r>
                          <a:rPr lang="en-US" altLang="zh-CN" sz="2800" b="0" i="1" smtClean="0">
                            <a:solidFill>
                              <a:srgbClr val="2980B9"/>
                            </a:solidFill>
                            <a:latin typeface="Cambria Math" panose="02040503050406030204" pitchFamily="18" charset="0"/>
                          </a:rPr>
                          <m:t>𝑖</m:t>
                        </m:r>
                      </m:sub>
                    </m:sSub>
                  </m:oMath>
                </a14:m>
                <a:r>
                  <a:rPr kumimoji="1" lang="zh-CN" altLang="en-US" sz="2800" dirty="0">
                    <a:solidFill>
                      <a:srgbClr val="2980B9"/>
                    </a:solidFill>
                  </a:rPr>
                  <a:t>即</a:t>
                </a:r>
                <a:r>
                  <a:rPr kumimoji="1" lang="zh-CN" altLang="en-US" sz="2800" dirty="0">
                    <a:solidFill>
                      <a:srgbClr val="159F84"/>
                    </a:solidFill>
                  </a:rPr>
                  <a:t>开环</a:t>
                </a:r>
                <a:r>
                  <a:rPr kumimoji="1" lang="zh-CN" altLang="en-US" sz="2800" dirty="0">
                    <a:solidFill>
                      <a:srgbClr val="2980B9"/>
                    </a:solidFill>
                  </a:rPr>
                  <a:t>极点</a:t>
                </a:r>
              </a:p>
            </p:txBody>
          </p:sp>
        </mc:Choice>
        <mc:Fallback xmlns="">
          <p:sp>
            <p:nvSpPr>
              <p:cNvPr id="25" name="说明3">
                <a:extLst>
                  <a:ext uri="{FF2B5EF4-FFF2-40B4-BE49-F238E27FC236}">
                    <a16:creationId xmlns:a16="http://schemas.microsoft.com/office/drawing/2014/main" id="{DAA1A218-32F5-B19C-1DBC-6D2E9BC504B0}"/>
                  </a:ext>
                </a:extLst>
              </p:cNvPr>
              <p:cNvSpPr txBox="1">
                <a:spLocks noRot="1" noChangeAspect="1" noMove="1" noResize="1" noEditPoints="1" noAdjustHandles="1" noChangeArrowheads="1" noChangeShapeType="1" noTextEdit="1"/>
              </p:cNvSpPr>
              <p:nvPr/>
            </p:nvSpPr>
            <p:spPr>
              <a:xfrm>
                <a:off x="8847298" y="1018421"/>
                <a:ext cx="3246335" cy="578882"/>
              </a:xfrm>
              <a:prstGeom prst="flowChartAlternateProcess">
                <a:avLst/>
              </a:prstGeom>
              <a:blipFill>
                <a:blip r:embed="rId5"/>
                <a:stretch>
                  <a:fillRect l="-2703" t="-6250" b="-20833"/>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说明3">
                <a:extLst>
                  <a:ext uri="{FF2B5EF4-FFF2-40B4-BE49-F238E27FC236}">
                    <a16:creationId xmlns:a16="http://schemas.microsoft.com/office/drawing/2014/main" id="{84D93C65-25EA-FD53-4346-890D78318727}"/>
                  </a:ext>
                </a:extLst>
              </p:cNvPr>
              <p:cNvSpPr txBox="1"/>
              <p:nvPr/>
            </p:nvSpPr>
            <p:spPr>
              <a:xfrm>
                <a:off x="251450" y="2245434"/>
                <a:ext cx="11730886" cy="2009061"/>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在</a:t>
                </a:r>
                <a14:m>
                  <m:oMath xmlns:m="http://schemas.openxmlformats.org/officeDocument/2006/math">
                    <m:r>
                      <a:rPr kumimoji="1" lang="en-US" altLang="zh-CN" sz="2800" b="0" i="1" smtClean="0">
                        <a:solidFill>
                          <a:srgbClr val="2980B9"/>
                        </a:solidFill>
                        <a:latin typeface="Cambria Math" panose="02040503050406030204" pitchFamily="18" charset="0"/>
                      </a:rPr>
                      <m:t>𝑠</m:t>
                    </m:r>
                  </m:oMath>
                </a14:m>
                <a:r>
                  <a:rPr kumimoji="1" lang="zh-CN" altLang="en-US" sz="2800" dirty="0">
                    <a:solidFill>
                      <a:srgbClr val="2980B9"/>
                    </a:solidFill>
                  </a:rPr>
                  <a:t>平面内选择一条包围整个右半平面的闭合曲线</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b="0" i="0">
                            <a:solidFill>
                              <a:srgbClr val="2980B9"/>
                            </a:solidFill>
                            <a:latin typeface="Cambria Math" panose="02040503050406030204" pitchFamily="18" charset="0"/>
                          </a:rPr>
                          <m:t>Γ</m:t>
                        </m:r>
                      </m:e>
                      <m:sub>
                        <m:r>
                          <a:rPr lang="en-US" altLang="zh-CN" sz="2800" b="0" i="1">
                            <a:solidFill>
                              <a:srgbClr val="2980B9"/>
                            </a:solidFill>
                            <a:latin typeface="Cambria Math" panose="02040503050406030204" pitchFamily="18" charset="0"/>
                          </a:rPr>
                          <m:t>𝑠</m:t>
                        </m:r>
                      </m:sub>
                    </m:sSub>
                  </m:oMath>
                </a14:m>
                <a:r>
                  <a:rPr kumimoji="1" lang="zh-CN" altLang="en-US" sz="2800" dirty="0">
                    <a:solidFill>
                      <a:srgbClr val="2980B9"/>
                    </a:solidFill>
                  </a:rPr>
                  <a:t>（包围</a:t>
                </a:r>
                <a14:m>
                  <m:oMath xmlns:m="http://schemas.openxmlformats.org/officeDocument/2006/math">
                    <m:r>
                      <a:rPr kumimoji="1" lang="en-US" altLang="zh-CN" sz="2800" b="0" i="1" smtClean="0">
                        <a:solidFill>
                          <a:srgbClr val="2980B9"/>
                        </a:solidFill>
                        <a:latin typeface="Cambria Math" panose="02040503050406030204" pitchFamily="18" charset="0"/>
                      </a:rPr>
                      <m:t>𝑃</m:t>
                    </m:r>
                  </m:oMath>
                </a14:m>
                <a:r>
                  <a:rPr kumimoji="1" lang="zh-CN" altLang="en-US" sz="2800" dirty="0">
                    <a:solidFill>
                      <a:srgbClr val="2980B9"/>
                    </a:solidFill>
                  </a:rPr>
                  <a:t>个右半平面的开环极点）；</a:t>
                </a:r>
                <a:endParaRPr kumimoji="1" lang="en-US" altLang="zh-CN" sz="2800" dirty="0">
                  <a:solidFill>
                    <a:srgbClr val="2980B9"/>
                  </a:solidFill>
                </a:endParaRPr>
              </a:p>
              <a:p>
                <a:r>
                  <a:rPr kumimoji="1" lang="zh-CN" altLang="en-US" sz="2800" dirty="0">
                    <a:solidFill>
                      <a:srgbClr val="2980B9"/>
                    </a:solidFill>
                  </a:rPr>
                  <a:t>在</a:t>
                </a:r>
                <a14:m>
                  <m:oMath xmlns:m="http://schemas.openxmlformats.org/officeDocument/2006/math">
                    <m:r>
                      <a:rPr kumimoji="1" lang="en-US" altLang="zh-CN" sz="2800" b="0" i="1" smtClean="0">
                        <a:solidFill>
                          <a:srgbClr val="2980B9"/>
                        </a:solidFill>
                        <a:latin typeface="Cambria Math" panose="02040503050406030204" pitchFamily="18" charset="0"/>
                      </a:rPr>
                      <m:t>𝐹</m:t>
                    </m:r>
                  </m:oMath>
                </a14:m>
                <a:r>
                  <a:rPr kumimoji="1" lang="zh-CN" altLang="en-US" sz="2800" dirty="0">
                    <a:solidFill>
                      <a:srgbClr val="2980B9"/>
                    </a:solidFill>
                  </a:rPr>
                  <a:t>平面绘制</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b="0" i="0" smtClean="0">
                            <a:solidFill>
                              <a:srgbClr val="2980B9"/>
                            </a:solidFill>
                            <a:latin typeface="Cambria Math" panose="02040503050406030204" pitchFamily="18" charset="0"/>
                          </a:rPr>
                          <m:t>Γ</m:t>
                        </m:r>
                      </m:e>
                      <m:sub>
                        <m:r>
                          <a:rPr lang="en-US" altLang="zh-CN" sz="2800" b="0" i="1" smtClean="0">
                            <a:solidFill>
                              <a:srgbClr val="2980B9"/>
                            </a:solidFill>
                            <a:latin typeface="Cambria Math" panose="02040503050406030204" pitchFamily="18" charset="0"/>
                          </a:rPr>
                          <m:t>𝐹</m:t>
                        </m:r>
                      </m:sub>
                    </m:sSub>
                  </m:oMath>
                </a14:m>
                <a:r>
                  <a:rPr kumimoji="1" lang="zh-CN" altLang="en-US" sz="2800" dirty="0">
                    <a:solidFill>
                      <a:srgbClr val="2980B9"/>
                    </a:solidFill>
                  </a:rPr>
                  <a:t>，并确定</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b="0" i="0">
                            <a:solidFill>
                              <a:srgbClr val="2980B9"/>
                            </a:solidFill>
                            <a:latin typeface="Cambria Math" panose="02040503050406030204" pitchFamily="18" charset="0"/>
                          </a:rPr>
                          <m:t>Γ</m:t>
                        </m:r>
                      </m:e>
                      <m:sub>
                        <m:r>
                          <a:rPr lang="en-US" altLang="zh-CN" sz="2800" b="0" i="1">
                            <a:solidFill>
                              <a:srgbClr val="2980B9"/>
                            </a:solidFill>
                            <a:latin typeface="Cambria Math" panose="02040503050406030204" pitchFamily="18" charset="0"/>
                          </a:rPr>
                          <m:t>𝐹</m:t>
                        </m:r>
                      </m:sub>
                    </m:sSub>
                  </m:oMath>
                </a14:m>
                <a:r>
                  <a:rPr kumimoji="1" lang="zh-CN" altLang="en-US" sz="2800" dirty="0">
                    <a:solidFill>
                      <a:srgbClr val="2980B9"/>
                    </a:solidFill>
                  </a:rPr>
                  <a:t>围绕原点周数</a:t>
                </a:r>
                <a14:m>
                  <m:oMath xmlns:m="http://schemas.openxmlformats.org/officeDocument/2006/math">
                    <m:r>
                      <a:rPr kumimoji="1" lang="en-US" altLang="zh-CN" sz="2800" b="0" i="1" smtClean="0">
                        <a:solidFill>
                          <a:srgbClr val="2980B9"/>
                        </a:solidFill>
                        <a:latin typeface="Cambria Math" panose="02040503050406030204" pitchFamily="18" charset="0"/>
                      </a:rPr>
                      <m:t>𝑅</m:t>
                    </m:r>
                  </m:oMath>
                </a14:m>
                <a:r>
                  <a:rPr kumimoji="1" lang="zh-CN" altLang="en-US" sz="2800" dirty="0">
                    <a:solidFill>
                      <a:srgbClr val="2980B9"/>
                    </a:solidFill>
                  </a:rPr>
                  <a:t>，就可由幅角原理</a:t>
                </a:r>
                <a14:m>
                  <m:oMath xmlns:m="http://schemas.openxmlformats.org/officeDocument/2006/math">
                    <m:r>
                      <a:rPr kumimoji="1" lang="en-US" altLang="zh-CN" sz="2800" b="0" i="1" smtClean="0">
                        <a:solidFill>
                          <a:srgbClr val="2980B9"/>
                        </a:solidFill>
                        <a:latin typeface="Cambria Math" panose="02040503050406030204" pitchFamily="18" charset="0"/>
                      </a:rPr>
                      <m:t>𝑍</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𝑃</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𝑅</m:t>
                    </m:r>
                  </m:oMath>
                </a14:m>
                <a:r>
                  <a:rPr kumimoji="1" lang="zh-CN" altLang="en-US" sz="2800" dirty="0">
                    <a:solidFill>
                      <a:srgbClr val="2980B9"/>
                    </a:solidFill>
                  </a:rPr>
                  <a:t>，确定是否有</a:t>
                </a:r>
                <a14:m>
                  <m:oMath xmlns:m="http://schemas.openxmlformats.org/officeDocument/2006/math">
                    <m:r>
                      <a:rPr kumimoji="1" lang="en-US" altLang="zh-CN" sz="2800" b="0" i="1" smtClean="0">
                        <a:solidFill>
                          <a:srgbClr val="2980B9"/>
                        </a:solidFill>
                        <a:latin typeface="Cambria Math" panose="02040503050406030204" pitchFamily="18" charset="0"/>
                      </a:rPr>
                      <m:t>𝐹</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oMath>
                </a14:m>
                <a:r>
                  <a:rPr kumimoji="1" lang="zh-CN" altLang="en-US" sz="2800" dirty="0">
                    <a:solidFill>
                      <a:srgbClr val="2980B9"/>
                    </a:solidFill>
                  </a:rPr>
                  <a:t>的零点（闭环极点）在右半</a:t>
                </a:r>
                <a14:m>
                  <m:oMath xmlns:m="http://schemas.openxmlformats.org/officeDocument/2006/math">
                    <m:r>
                      <a:rPr kumimoji="1" lang="en-US" altLang="zh-CN" sz="2800" b="0" i="1" smtClean="0">
                        <a:solidFill>
                          <a:srgbClr val="2980B9"/>
                        </a:solidFill>
                        <a:latin typeface="Cambria Math" panose="02040503050406030204" pitchFamily="18" charset="0"/>
                      </a:rPr>
                      <m:t>𝑠</m:t>
                    </m:r>
                  </m:oMath>
                </a14:m>
                <a:r>
                  <a:rPr kumimoji="1" lang="zh-CN" altLang="en-US" sz="2800" dirty="0">
                    <a:solidFill>
                      <a:srgbClr val="2980B9"/>
                    </a:solidFill>
                  </a:rPr>
                  <a:t>平面（系统稳定性）。</a:t>
                </a:r>
              </a:p>
            </p:txBody>
          </p:sp>
        </mc:Choice>
        <mc:Fallback xmlns="">
          <p:sp>
            <p:nvSpPr>
              <p:cNvPr id="26" name="说明3">
                <a:extLst>
                  <a:ext uri="{FF2B5EF4-FFF2-40B4-BE49-F238E27FC236}">
                    <a16:creationId xmlns:a16="http://schemas.microsoft.com/office/drawing/2014/main" id="{84D93C65-25EA-FD53-4346-890D78318727}"/>
                  </a:ext>
                </a:extLst>
              </p:cNvPr>
              <p:cNvSpPr txBox="1">
                <a:spLocks noRot="1" noChangeAspect="1" noMove="1" noResize="1" noEditPoints="1" noAdjustHandles="1" noChangeArrowheads="1" noChangeShapeType="1" noTextEdit="1"/>
              </p:cNvSpPr>
              <p:nvPr/>
            </p:nvSpPr>
            <p:spPr>
              <a:xfrm>
                <a:off x="251450" y="2245434"/>
                <a:ext cx="11730886" cy="2009061"/>
              </a:xfrm>
              <a:prstGeom prst="flowChartAlternateProcess">
                <a:avLst/>
              </a:prstGeom>
              <a:blipFill>
                <a:blip r:embed="rId6"/>
                <a:stretch>
                  <a:fillRect l="-108" b="-2484"/>
                </a:stretch>
              </a:blipFill>
              <a:ln>
                <a:prstDash val="sysDot"/>
              </a:ln>
            </p:spPr>
            <p:txBody>
              <a:bodyPr/>
              <a:lstStyle/>
              <a:p>
                <a:r>
                  <a:rPr lang="zh-CN" altLang="en-US">
                    <a:noFill/>
                  </a:rPr>
                  <a:t> </a:t>
                </a:r>
              </a:p>
            </p:txBody>
          </p:sp>
        </mc:Fallback>
      </mc:AlternateContent>
      <p:sp>
        <p:nvSpPr>
          <p:cNvPr id="27" name="小标题1">
            <a:extLst>
              <a:ext uri="{FF2B5EF4-FFF2-40B4-BE49-F238E27FC236}">
                <a16:creationId xmlns:a16="http://schemas.microsoft.com/office/drawing/2014/main" id="{FC29D574-10DE-2CB7-1BF5-334A94B34A20}"/>
              </a:ext>
            </a:extLst>
          </p:cNvPr>
          <p:cNvSpPr/>
          <p:nvPr/>
        </p:nvSpPr>
        <p:spPr bwMode="auto">
          <a:xfrm>
            <a:off x="6803303" y="1004952"/>
            <a:ext cx="1919720"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个数相同</a:t>
            </a:r>
          </a:p>
        </p:txBody>
      </p:sp>
      <mc:AlternateContent xmlns:mc="http://schemas.openxmlformats.org/markup-compatibility/2006" xmlns:a14="http://schemas.microsoft.com/office/drawing/2010/main">
        <mc:Choice Requires="a14">
          <p:sp>
            <p:nvSpPr>
              <p:cNvPr id="5" name="说明3">
                <a:extLst>
                  <a:ext uri="{FF2B5EF4-FFF2-40B4-BE49-F238E27FC236}">
                    <a16:creationId xmlns:a16="http://schemas.microsoft.com/office/drawing/2014/main" id="{CBA6A6C7-F3DB-68E3-521D-53BD97AAC21A}"/>
                  </a:ext>
                </a:extLst>
              </p:cNvPr>
              <p:cNvSpPr txBox="1"/>
              <p:nvPr/>
            </p:nvSpPr>
            <p:spPr>
              <a:xfrm>
                <a:off x="250765" y="4653136"/>
                <a:ext cx="7572633"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r>
                      <a:rPr kumimoji="1" lang="en-US" altLang="zh-CN" sz="2800" b="0" i="1" smtClean="0">
                        <a:solidFill>
                          <a:srgbClr val="2980B9"/>
                        </a:solidFill>
                        <a:latin typeface="Cambria Math" panose="02040503050406030204" pitchFamily="18" charset="0"/>
                      </a:rPr>
                      <m:t>𝐹</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𝑠</m:t>
                        </m:r>
                      </m:e>
                    </m:d>
                    <m:r>
                      <a:rPr kumimoji="1" lang="en-US" altLang="zh-CN" sz="2800" b="0" i="1" smtClean="0">
                        <a:solidFill>
                          <a:srgbClr val="2980B9"/>
                        </a:solidFill>
                        <a:latin typeface="Cambria Math" panose="02040503050406030204" pitchFamily="18" charset="0"/>
                      </a:rPr>
                      <m:t>=1+</m:t>
                    </m:r>
                    <m:r>
                      <a:rPr kumimoji="1" lang="en-US" altLang="zh-CN" sz="2800" b="0" i="1" smtClean="0">
                        <a:solidFill>
                          <a:srgbClr val="2980B9"/>
                        </a:solidFill>
                        <a:latin typeface="Cambria Math" panose="02040503050406030204" pitchFamily="18" charset="0"/>
                      </a:rPr>
                      <m:t>𝐺</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𝑠</m:t>
                        </m:r>
                      </m:e>
                    </m:d>
                    <m:r>
                      <a:rPr kumimoji="1" lang="en-US" altLang="zh-CN" sz="2800" b="0" i="1" smtClean="0">
                        <a:solidFill>
                          <a:srgbClr val="2980B9"/>
                        </a:solidFill>
                        <a:latin typeface="Cambria Math" panose="02040503050406030204" pitchFamily="18" charset="0"/>
                        <a:ea typeface="Cambria Math" panose="02040503050406030204" pitchFamily="18" charset="0"/>
                      </a:rPr>
                      <m:t>𝐻</m:t>
                    </m:r>
                    <m:d>
                      <m:dPr>
                        <m:ctrlPr>
                          <a:rPr kumimoji="1" lang="en-US" altLang="zh-CN" sz="2800" b="0" i="1" smtClean="0">
                            <a:solidFill>
                              <a:srgbClr val="2980B9"/>
                            </a:solidFill>
                            <a:latin typeface="Cambria Math" panose="02040503050406030204" pitchFamily="18" charset="0"/>
                            <a:ea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𝑠</m:t>
                        </m:r>
                      </m:e>
                    </m:d>
                  </m:oMath>
                </a14:m>
                <a:r>
                  <a:rPr kumimoji="1" lang="zh-CN" altLang="en-US" sz="2800" dirty="0">
                    <a:solidFill>
                      <a:srgbClr val="2980B9"/>
                    </a:solidFill>
                  </a:rPr>
                  <a:t> </a:t>
                </a:r>
                <a:endParaRPr kumimoji="1" lang="en-US" altLang="zh-CN" sz="2800" dirty="0">
                  <a:solidFill>
                    <a:srgbClr val="2980B9"/>
                  </a:solidFill>
                </a:endParaRPr>
              </a:p>
              <a:p>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b="0" i="0">
                            <a:solidFill>
                              <a:srgbClr val="2980B9"/>
                            </a:solidFill>
                            <a:latin typeface="Cambria Math" panose="02040503050406030204" pitchFamily="18" charset="0"/>
                          </a:rPr>
                          <m:t>Γ</m:t>
                        </m:r>
                      </m:e>
                      <m:sub>
                        <m:r>
                          <a:rPr lang="en-US" altLang="zh-CN" sz="2800" b="0" i="1">
                            <a:solidFill>
                              <a:srgbClr val="2980B9"/>
                            </a:solidFill>
                            <a:latin typeface="Cambria Math" panose="02040503050406030204" pitchFamily="18" charset="0"/>
                          </a:rPr>
                          <m:t>𝐹</m:t>
                        </m:r>
                      </m:sub>
                    </m:sSub>
                  </m:oMath>
                </a14:m>
                <a:r>
                  <a:rPr kumimoji="1" lang="zh-CN" altLang="en-US" sz="2800" dirty="0">
                    <a:solidFill>
                      <a:srgbClr val="2980B9"/>
                    </a:solidFill>
                  </a:rPr>
                  <a:t>可以由</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b="0" i="0">
                            <a:solidFill>
                              <a:srgbClr val="2980B9"/>
                            </a:solidFill>
                            <a:latin typeface="Cambria Math" panose="02040503050406030204" pitchFamily="18" charset="0"/>
                          </a:rPr>
                          <m:t>Γ</m:t>
                        </m:r>
                      </m:e>
                      <m:sub>
                        <m:r>
                          <a:rPr lang="en-US" altLang="zh-CN" sz="2800" b="0" i="1">
                            <a:solidFill>
                              <a:srgbClr val="2980B9"/>
                            </a:solidFill>
                            <a:latin typeface="Cambria Math" panose="02040503050406030204" pitchFamily="18" charset="0"/>
                          </a:rPr>
                          <m:t>𝐺𝐻</m:t>
                        </m:r>
                      </m:sub>
                    </m:sSub>
                  </m:oMath>
                </a14:m>
                <a:r>
                  <a:rPr kumimoji="1" lang="zh-CN" altLang="en-US" sz="2800" dirty="0">
                    <a:solidFill>
                      <a:srgbClr val="2980B9"/>
                    </a:solidFill>
                  </a:rPr>
                  <a:t>沿实轴正向平移一个单位得到。</a:t>
                </a:r>
                <a:endParaRPr kumimoji="1" lang="en-US" altLang="zh-CN" sz="2800" dirty="0">
                  <a:solidFill>
                    <a:srgbClr val="2980B9"/>
                  </a:solidFill>
                </a:endParaRPr>
              </a:p>
              <a:p>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b="0" i="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𝐹</m:t>
                        </m:r>
                      </m:sub>
                    </m:sSub>
                  </m:oMath>
                </a14:m>
                <a:r>
                  <a:rPr kumimoji="1" lang="zh-CN" altLang="en-US" sz="2800" dirty="0">
                    <a:solidFill>
                      <a:srgbClr val="2980B9"/>
                    </a:solidFill>
                  </a:rPr>
                  <a:t>包围原点圈数等于</a:t>
                </a:r>
                <a14:m>
                  <m:oMath xmlns:m="http://schemas.openxmlformats.org/officeDocument/2006/math">
                    <m:sSub>
                      <m:sSubPr>
                        <m:ctrlPr>
                          <a:rPr lang="en-US" altLang="zh-CN" sz="2800" i="1">
                            <a:solidFill>
                              <a:srgbClr val="2980B9"/>
                            </a:solidFill>
                            <a:latin typeface="Cambria Math" panose="02040503050406030204" pitchFamily="18" charset="0"/>
                          </a:rPr>
                        </m:ctrlPr>
                      </m:sSubPr>
                      <m:e>
                        <m:r>
                          <m:rPr>
                            <m:sty m:val="p"/>
                          </m:rPr>
                          <a:rPr lang="zh-CN" altLang="en-US" sz="2800" b="0" i="0">
                            <a:solidFill>
                              <a:srgbClr val="2980B9"/>
                            </a:solidFill>
                            <a:latin typeface="Cambria Math" panose="02040503050406030204" pitchFamily="18" charset="0"/>
                          </a:rPr>
                          <m:t>Γ</m:t>
                        </m:r>
                      </m:e>
                      <m:sub>
                        <m:r>
                          <a:rPr lang="en-US" altLang="zh-CN" sz="2800" b="0" i="1">
                            <a:solidFill>
                              <a:srgbClr val="2980B9"/>
                            </a:solidFill>
                            <a:latin typeface="Cambria Math" panose="02040503050406030204" pitchFamily="18" charset="0"/>
                          </a:rPr>
                          <m:t>𝐺𝐻</m:t>
                        </m:r>
                      </m:sub>
                    </m:sSub>
                  </m:oMath>
                </a14:m>
                <a:r>
                  <a:rPr kumimoji="1" lang="zh-CN" altLang="en-US" sz="2800" dirty="0">
                    <a:solidFill>
                      <a:srgbClr val="2980B9"/>
                    </a:solidFill>
                  </a:rPr>
                  <a:t>包围</a:t>
                </a:r>
                <a14:m>
                  <m:oMath xmlns:m="http://schemas.openxmlformats.org/officeDocument/2006/math">
                    <m:d>
                      <m:dPr>
                        <m:ctrlPr>
                          <a:rPr kumimoji="1" lang="en-US" altLang="zh-CN" sz="2800" b="0" i="1" dirty="0" smtClean="0">
                            <a:solidFill>
                              <a:srgbClr val="2980B9"/>
                            </a:solidFill>
                            <a:latin typeface="Cambria Math" panose="02040503050406030204" pitchFamily="18" charset="0"/>
                          </a:rPr>
                        </m:ctrlPr>
                      </m:dPr>
                      <m:e>
                        <m:r>
                          <a:rPr kumimoji="1" lang="en-US" altLang="zh-CN" sz="2800" b="0" i="1" dirty="0" smtClean="0">
                            <a:solidFill>
                              <a:srgbClr val="2980B9"/>
                            </a:solidFill>
                            <a:latin typeface="Cambria Math" panose="02040503050406030204" pitchFamily="18" charset="0"/>
                          </a:rPr>
                          <m:t>−1,</m:t>
                        </m:r>
                        <m:r>
                          <a:rPr kumimoji="1" lang="en-US" altLang="zh-CN" sz="2800" b="0" i="1" dirty="0" smtClean="0">
                            <a:solidFill>
                              <a:srgbClr val="2980B9"/>
                            </a:solidFill>
                            <a:latin typeface="Cambria Math" panose="02040503050406030204" pitchFamily="18" charset="0"/>
                          </a:rPr>
                          <m:t>𝑗</m:t>
                        </m:r>
                        <m:r>
                          <a:rPr kumimoji="1" lang="en-US" altLang="zh-CN" sz="2800" b="0" i="1" dirty="0" smtClean="0">
                            <a:solidFill>
                              <a:srgbClr val="2980B9"/>
                            </a:solidFill>
                            <a:latin typeface="Cambria Math" panose="02040503050406030204" pitchFamily="18" charset="0"/>
                          </a:rPr>
                          <m:t>0</m:t>
                        </m:r>
                      </m:e>
                    </m:d>
                  </m:oMath>
                </a14:m>
                <a:r>
                  <a:rPr kumimoji="1" lang="zh-CN" altLang="en-US" sz="2800" dirty="0">
                    <a:solidFill>
                      <a:srgbClr val="2980B9"/>
                    </a:solidFill>
                  </a:rPr>
                  <a:t>点圈数。</a:t>
                </a:r>
              </a:p>
            </p:txBody>
          </p:sp>
        </mc:Choice>
        <mc:Fallback xmlns="">
          <p:sp>
            <p:nvSpPr>
              <p:cNvPr id="5" name="说明3">
                <a:extLst>
                  <a:ext uri="{FF2B5EF4-FFF2-40B4-BE49-F238E27FC236}">
                    <a16:creationId xmlns:a16="http://schemas.microsoft.com/office/drawing/2014/main" id="{CBA6A6C7-F3DB-68E3-521D-53BD97AAC21A}"/>
                  </a:ext>
                </a:extLst>
              </p:cNvPr>
              <p:cNvSpPr txBox="1">
                <a:spLocks noRot="1" noChangeAspect="1" noMove="1" noResize="1" noEditPoints="1" noAdjustHandles="1" noChangeArrowheads="1" noChangeShapeType="1" noTextEdit="1"/>
              </p:cNvSpPr>
              <p:nvPr/>
            </p:nvSpPr>
            <p:spPr>
              <a:xfrm>
                <a:off x="250765" y="4653136"/>
                <a:ext cx="7572633" cy="1532334"/>
              </a:xfrm>
              <a:prstGeom prst="flowChartAlternateProcess">
                <a:avLst/>
              </a:prstGeom>
              <a:blipFill>
                <a:blip r:embed="rId7"/>
                <a:stretch>
                  <a:fillRect b="-4032"/>
                </a:stretch>
              </a:blipFill>
              <a:ln>
                <a:prstDash val="sysDot"/>
              </a:ln>
            </p:spPr>
            <p:txBody>
              <a:bodyPr/>
              <a:lstStyle/>
              <a:p>
                <a:r>
                  <a:rPr lang="zh-CN" altLang="en-US">
                    <a:noFill/>
                  </a:rPr>
                  <a:t> </a:t>
                </a:r>
              </a:p>
            </p:txBody>
          </p:sp>
        </mc:Fallback>
      </mc:AlternateContent>
    </p:spTree>
    <p:extLst>
      <p:ext uri="{BB962C8B-B14F-4D97-AF65-F5344CB8AC3E}">
        <p14:creationId xmlns:p14="http://schemas.microsoft.com/office/powerpoint/2010/main" val="972110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绘制奈奎斯特曲线</a:t>
            </a:r>
          </a:p>
        </p:txBody>
      </p:sp>
      <mc:AlternateContent xmlns:mc="http://schemas.openxmlformats.org/markup-compatibility/2006" xmlns:a14="http://schemas.microsoft.com/office/drawing/2010/main">
        <mc:Choice Requires="a14">
          <p:sp>
            <p:nvSpPr>
              <p:cNvPr id="18" name="小标题1">
                <a:extLst>
                  <a:ext uri="{FF2B5EF4-FFF2-40B4-BE49-F238E27FC236}">
                    <a16:creationId xmlns:a16="http://schemas.microsoft.com/office/drawing/2014/main" id="{7009AC50-E9C2-A0F8-A94E-4E24C7AE9418}"/>
                  </a:ext>
                </a:extLst>
              </p:cNvPr>
              <p:cNvSpPr/>
              <p:nvPr/>
            </p:nvSpPr>
            <p:spPr bwMode="auto">
              <a:xfrm>
                <a:off x="287282" y="1125698"/>
                <a:ext cx="7392100"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en-US" altLang="zh-CN" sz="3200" b="1" dirty="0">
                    <a:solidFill>
                      <a:schemeClr val="bg1"/>
                    </a:solidFill>
                    <a:latin typeface="+mn-ea"/>
                  </a:rPr>
                  <a:t>2.</a:t>
                </a:r>
                <a:r>
                  <a:rPr lang="zh-CN" altLang="en-US" sz="3200" b="1" dirty="0">
                    <a:solidFill>
                      <a:schemeClr val="bg1"/>
                    </a:solidFill>
                    <a:latin typeface="+mn-ea"/>
                  </a:rPr>
                  <a:t> </a:t>
                </a:r>
                <a14:m>
                  <m:oMath xmlns:m="http://schemas.openxmlformats.org/officeDocument/2006/math">
                    <m:sSub>
                      <m:sSubPr>
                        <m:ctrlPr>
                          <a:rPr lang="en-US" altLang="zh-CN" sz="3200" b="1" i="1" smtClean="0">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a:solidFill>
                              <a:schemeClr val="bg1"/>
                            </a:solidFill>
                            <a:latin typeface="Cambria Math" panose="02040503050406030204" pitchFamily="18" charset="0"/>
                          </a:rPr>
                          <m:t>𝒔</m:t>
                        </m:r>
                      </m:sub>
                    </m:sSub>
                  </m:oMath>
                </a14:m>
                <a:r>
                  <a:rPr lang="zh-CN" altLang="en-US" sz="3200" b="1" dirty="0">
                    <a:solidFill>
                      <a:schemeClr val="bg1"/>
                    </a:solidFill>
                    <a:latin typeface="+mn-ea"/>
                  </a:rPr>
                  <a:t>的选择：奈氏路径，包围右半平面</a:t>
                </a:r>
              </a:p>
            </p:txBody>
          </p:sp>
        </mc:Choice>
        <mc:Fallback xmlns="">
          <p:sp>
            <p:nvSpPr>
              <p:cNvPr id="18" name="小标题1">
                <a:extLst>
                  <a:ext uri="{FF2B5EF4-FFF2-40B4-BE49-F238E27FC236}">
                    <a16:creationId xmlns:a16="http://schemas.microsoft.com/office/drawing/2014/main" id="{7009AC50-E9C2-A0F8-A94E-4E24C7AE9418}"/>
                  </a:ext>
                </a:extLst>
              </p:cNvPr>
              <p:cNvSpPr>
                <a:spLocks noRot="1" noChangeAspect="1" noMove="1" noResize="1" noEditPoints="1" noAdjustHandles="1" noChangeArrowheads="1" noChangeShapeType="1" noTextEdit="1"/>
              </p:cNvSpPr>
              <p:nvPr/>
            </p:nvSpPr>
            <p:spPr bwMode="auto">
              <a:xfrm>
                <a:off x="287282" y="1125698"/>
                <a:ext cx="7392100" cy="576000"/>
              </a:xfrm>
              <a:prstGeom prst="roundRect">
                <a:avLst/>
              </a:prstGeom>
              <a:blipFill>
                <a:blip r:embed="rId3"/>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p:grpSp>
        <p:nvGrpSpPr>
          <p:cNvPr id="65" name="组合 64">
            <a:extLst>
              <a:ext uri="{FF2B5EF4-FFF2-40B4-BE49-F238E27FC236}">
                <a16:creationId xmlns:a16="http://schemas.microsoft.com/office/drawing/2014/main" id="{6DF95C81-921C-A29F-999F-89BB13497A82}"/>
              </a:ext>
            </a:extLst>
          </p:cNvPr>
          <p:cNvGrpSpPr/>
          <p:nvPr/>
        </p:nvGrpSpPr>
        <p:grpSpPr>
          <a:xfrm>
            <a:off x="7103318" y="1412776"/>
            <a:ext cx="4343493" cy="4737647"/>
            <a:chOff x="7080305" y="1412776"/>
            <a:chExt cx="4343493" cy="4737647"/>
          </a:xfrm>
        </p:grpSpPr>
        <p:grpSp>
          <p:nvGrpSpPr>
            <p:cNvPr id="5" name="坐标轴">
              <a:extLst>
                <a:ext uri="{FF2B5EF4-FFF2-40B4-BE49-F238E27FC236}">
                  <a16:creationId xmlns:a16="http://schemas.microsoft.com/office/drawing/2014/main" id="{A25E3ECA-710E-245B-F918-F313715A0922}"/>
                </a:ext>
              </a:extLst>
            </p:cNvPr>
            <p:cNvGrpSpPr/>
            <p:nvPr/>
          </p:nvGrpSpPr>
          <p:grpSpPr>
            <a:xfrm>
              <a:off x="8006174" y="1412776"/>
              <a:ext cx="3417624" cy="4737647"/>
              <a:chOff x="8400074" y="2358086"/>
              <a:chExt cx="3417624" cy="4737647"/>
            </a:xfrm>
          </p:grpSpPr>
          <p:cxnSp>
            <p:nvCxnSpPr>
              <p:cNvPr id="7" name="实轴">
                <a:extLst>
                  <a:ext uri="{FF2B5EF4-FFF2-40B4-BE49-F238E27FC236}">
                    <a16:creationId xmlns:a16="http://schemas.microsoft.com/office/drawing/2014/main" id="{31A041EF-A4A6-BE68-BE88-56563F2751B8}"/>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虚轴">
                <a:extLst>
                  <a:ext uri="{FF2B5EF4-FFF2-40B4-BE49-F238E27FC236}">
                    <a16:creationId xmlns:a16="http://schemas.microsoft.com/office/drawing/2014/main" id="{E9B80D08-56D1-6BCF-1760-E7807B56545E}"/>
                  </a:ext>
                </a:extLst>
              </p:cNvPr>
              <p:cNvCxnSpPr>
                <a:cxnSpLocks/>
              </p:cNvCxnSpPr>
              <p:nvPr/>
            </p:nvCxnSpPr>
            <p:spPr>
              <a:xfrm flipV="1">
                <a:off x="9196819" y="2358086"/>
                <a:ext cx="0" cy="4737647"/>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
                    <a:extLst>
                      <a:ext uri="{FF2B5EF4-FFF2-40B4-BE49-F238E27FC236}">
                        <a16:creationId xmlns:a16="http://schemas.microsoft.com/office/drawing/2014/main" id="{B86E1011-59B3-0442-19AB-274295ECA8DC}"/>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9" name="Re">
                    <a:extLst>
                      <a:ext uri="{FF2B5EF4-FFF2-40B4-BE49-F238E27FC236}">
                        <a16:creationId xmlns:a16="http://schemas.microsoft.com/office/drawing/2014/main" id="{B86E1011-59B3-0442-19AB-274295ECA8DC}"/>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Im">
                    <a:extLst>
                      <a:ext uri="{FF2B5EF4-FFF2-40B4-BE49-F238E27FC236}">
                        <a16:creationId xmlns:a16="http://schemas.microsoft.com/office/drawing/2014/main" id="{27718B98-33F6-1477-2401-B4A5B4CAF6D8}"/>
                      </a:ext>
                    </a:extLst>
                  </p:cNvPr>
                  <p:cNvSpPr txBox="1"/>
                  <p:nvPr/>
                </p:nvSpPr>
                <p:spPr>
                  <a:xfrm>
                    <a:off x="8400074" y="2904090"/>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400074" y="2904090"/>
                    <a:ext cx="576536" cy="523220"/>
                  </a:xfrm>
                  <a:prstGeom prst="rect">
                    <a:avLst/>
                  </a:prstGeom>
                  <a:blipFill>
                    <a:blip r:embed="rId5"/>
                    <a:stretch>
                      <a:fillRect l="-4255" r="-85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原点">
                    <a:extLst>
                      <a:ext uri="{FF2B5EF4-FFF2-40B4-BE49-F238E27FC236}">
                        <a16:creationId xmlns:a16="http://schemas.microsoft.com/office/drawing/2014/main" id="{C70D97A4-A070-049F-6A8C-A0D30246B39A}"/>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8" name="原点">
                    <a:extLst>
                      <a:ext uri="{FF2B5EF4-FFF2-40B4-BE49-F238E27FC236}">
                        <a16:creationId xmlns:a16="http://schemas.microsoft.com/office/drawing/2014/main" id="{C70D97A4-A070-049F-6A8C-A0D30246B39A}"/>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6"/>
                    <a:stretch>
                      <a:fillRect/>
                    </a:stretch>
                  </a:blipFill>
                </p:spPr>
                <p:txBody>
                  <a:bodyPr/>
                  <a:lstStyle/>
                  <a:p>
                    <a:r>
                      <a:rPr lang="zh-CN" altLang="en-US">
                        <a:noFill/>
                      </a:rPr>
                      <a:t> </a:t>
                    </a:r>
                  </a:p>
                </p:txBody>
              </p:sp>
            </mc:Fallback>
          </mc:AlternateContent>
        </p:grpSp>
        <p:sp>
          <p:nvSpPr>
            <p:cNvPr id="34" name="弧 33">
              <a:extLst>
                <a:ext uri="{FF2B5EF4-FFF2-40B4-BE49-F238E27FC236}">
                  <a16:creationId xmlns:a16="http://schemas.microsoft.com/office/drawing/2014/main" id="{399C5A2F-8676-DDF2-437A-A8831AC391C6}"/>
                </a:ext>
              </a:extLst>
            </p:cNvPr>
            <p:cNvSpPr/>
            <p:nvPr/>
          </p:nvSpPr>
          <p:spPr>
            <a:xfrm>
              <a:off x="7098104" y="2106078"/>
              <a:ext cx="3392792" cy="3392792"/>
            </a:xfrm>
            <a:prstGeom prst="arc">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8" name="弧 37">
              <a:extLst>
                <a:ext uri="{FF2B5EF4-FFF2-40B4-BE49-F238E27FC236}">
                  <a16:creationId xmlns:a16="http://schemas.microsoft.com/office/drawing/2014/main" id="{FBF876D0-1ECE-6CA5-20EE-C0D193251600}"/>
                </a:ext>
              </a:extLst>
            </p:cNvPr>
            <p:cNvSpPr/>
            <p:nvPr/>
          </p:nvSpPr>
          <p:spPr>
            <a:xfrm rot="5400000">
              <a:off x="7080305" y="2107323"/>
              <a:ext cx="3392792" cy="3392792"/>
            </a:xfrm>
            <a:prstGeom prst="arc">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9" name="弧 38">
              <a:extLst>
                <a:ext uri="{FF2B5EF4-FFF2-40B4-BE49-F238E27FC236}">
                  <a16:creationId xmlns:a16="http://schemas.microsoft.com/office/drawing/2014/main" id="{569BDB5E-347E-1E95-2F0B-FAF57B371915}"/>
                </a:ext>
              </a:extLst>
            </p:cNvPr>
            <p:cNvSpPr/>
            <p:nvPr/>
          </p:nvSpPr>
          <p:spPr>
            <a:xfrm rot="5400000">
              <a:off x="8002152" y="3027925"/>
              <a:ext cx="1549098" cy="1549098"/>
            </a:xfrm>
            <a:prstGeom prst="arc">
              <a:avLst>
                <a:gd name="adj1" fmla="val 10855401"/>
                <a:gd name="adj2" fmla="val 0"/>
              </a:avLst>
            </a:prstGeom>
            <a:ln w="38100">
              <a:solidFill>
                <a:srgbClr val="E44860"/>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40" name="虚轴">
              <a:extLst>
                <a:ext uri="{FF2B5EF4-FFF2-40B4-BE49-F238E27FC236}">
                  <a16:creationId xmlns:a16="http://schemas.microsoft.com/office/drawing/2014/main" id="{EF1CB746-0269-0309-9F97-94EC4A5868EB}"/>
                </a:ext>
              </a:extLst>
            </p:cNvPr>
            <p:cNvCxnSpPr>
              <a:cxnSpLocks/>
            </p:cNvCxnSpPr>
            <p:nvPr/>
          </p:nvCxnSpPr>
          <p:spPr>
            <a:xfrm flipV="1">
              <a:off x="8802919" y="2041011"/>
              <a:ext cx="0" cy="1721357"/>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虚轴">
              <a:extLst>
                <a:ext uri="{FF2B5EF4-FFF2-40B4-BE49-F238E27FC236}">
                  <a16:creationId xmlns:a16="http://schemas.microsoft.com/office/drawing/2014/main" id="{3E874AAA-2F5C-5C5A-4823-11BAD21E70DC}"/>
                </a:ext>
              </a:extLst>
            </p:cNvPr>
            <p:cNvCxnSpPr>
              <a:cxnSpLocks/>
            </p:cNvCxnSpPr>
            <p:nvPr/>
          </p:nvCxnSpPr>
          <p:spPr>
            <a:xfrm flipV="1">
              <a:off x="8802919" y="3761210"/>
              <a:ext cx="0" cy="1737660"/>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原点">
                  <a:extLst>
                    <a:ext uri="{FF2B5EF4-FFF2-40B4-BE49-F238E27FC236}">
                      <a16:creationId xmlns:a16="http://schemas.microsoft.com/office/drawing/2014/main" id="{2CCE77CE-B578-BE08-D6DD-26DFB8832AD6}"/>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55" name="原点">
                  <a:extLst>
                    <a:ext uri="{FF2B5EF4-FFF2-40B4-BE49-F238E27FC236}">
                      <a16:creationId xmlns:a16="http://schemas.microsoft.com/office/drawing/2014/main" id="{2CCE77CE-B578-BE08-D6DD-26DFB8832AD6}"/>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7"/>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原点">
                  <a:extLst>
                    <a:ext uri="{FF2B5EF4-FFF2-40B4-BE49-F238E27FC236}">
                      <a16:creationId xmlns:a16="http://schemas.microsoft.com/office/drawing/2014/main" id="{89E230FF-CB90-30C2-577E-693636E9DAE6}"/>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2</m:t>
                            </m:r>
                          </m:e>
                        </m:d>
                      </m:oMath>
                    </m:oMathPara>
                  </a14:m>
                  <a:endParaRPr lang="zh-CN" altLang="en-US" sz="2800" dirty="0">
                    <a:solidFill>
                      <a:srgbClr val="E44860"/>
                    </a:solidFill>
                  </a:endParaRPr>
                </a:p>
              </p:txBody>
            </p:sp>
          </mc:Choice>
          <mc:Fallback xmlns="">
            <p:sp>
              <p:nvSpPr>
                <p:cNvPr id="56" name="原点">
                  <a:extLst>
                    <a:ext uri="{FF2B5EF4-FFF2-40B4-BE49-F238E27FC236}">
                      <a16:creationId xmlns:a16="http://schemas.microsoft.com/office/drawing/2014/main" id="{89E230FF-CB90-30C2-577E-693636E9DAE6}"/>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8"/>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原点">
                  <a:extLst>
                    <a:ext uri="{FF2B5EF4-FFF2-40B4-BE49-F238E27FC236}">
                      <a16:creationId xmlns:a16="http://schemas.microsoft.com/office/drawing/2014/main" id="{D02FB319-15D0-93A7-A523-EBDC81B9B0B3}"/>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3</m:t>
                            </m:r>
                          </m:e>
                        </m:d>
                      </m:oMath>
                    </m:oMathPara>
                  </a14:m>
                  <a:endParaRPr lang="zh-CN" altLang="en-US" sz="2800" dirty="0">
                    <a:solidFill>
                      <a:srgbClr val="E44860"/>
                    </a:solidFill>
                  </a:endParaRPr>
                </a:p>
              </p:txBody>
            </p:sp>
          </mc:Choice>
          <mc:Fallback xmlns="">
            <p:sp>
              <p:nvSpPr>
                <p:cNvPr id="57" name="原点">
                  <a:extLst>
                    <a:ext uri="{FF2B5EF4-FFF2-40B4-BE49-F238E27FC236}">
                      <a16:creationId xmlns:a16="http://schemas.microsoft.com/office/drawing/2014/main" id="{D02FB319-15D0-93A7-A523-EBDC81B9B0B3}"/>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9"/>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原点">
                  <a:extLst>
                    <a:ext uri="{FF2B5EF4-FFF2-40B4-BE49-F238E27FC236}">
                      <a16:creationId xmlns:a16="http://schemas.microsoft.com/office/drawing/2014/main" id="{FCA44956-2D13-0DCA-E785-D955D0DFB332}"/>
                    </a:ext>
                  </a:extLst>
                </p:cNvPr>
                <p:cNvSpPr txBox="1"/>
                <p:nvPr/>
              </p:nvSpPr>
              <p:spPr>
                <a:xfrm>
                  <a:off x="9574161"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4</m:t>
                            </m:r>
                          </m:e>
                        </m:d>
                      </m:oMath>
                    </m:oMathPara>
                  </a14:m>
                  <a:endParaRPr lang="zh-CN" altLang="en-US" sz="2800" dirty="0">
                    <a:solidFill>
                      <a:srgbClr val="E44860"/>
                    </a:solidFill>
                  </a:endParaRPr>
                </a:p>
              </p:txBody>
            </p:sp>
          </mc:Choice>
          <mc:Fallback xmlns="">
            <p:sp>
              <p:nvSpPr>
                <p:cNvPr id="58" name="原点">
                  <a:extLst>
                    <a:ext uri="{FF2B5EF4-FFF2-40B4-BE49-F238E27FC236}">
                      <a16:creationId xmlns:a16="http://schemas.microsoft.com/office/drawing/2014/main" id="{FCA44956-2D13-0DCA-E785-D955D0DFB332}"/>
                    </a:ext>
                  </a:extLst>
                </p:cNvPr>
                <p:cNvSpPr txBox="1">
                  <a:spLocks noRot="1" noChangeAspect="1" noMove="1" noResize="1" noEditPoints="1" noAdjustHandles="1" noChangeArrowheads="1" noChangeShapeType="1" noTextEdit="1"/>
                </p:cNvSpPr>
                <p:nvPr/>
              </p:nvSpPr>
              <p:spPr>
                <a:xfrm>
                  <a:off x="9574161" y="3166652"/>
                  <a:ext cx="545352" cy="524695"/>
                </a:xfrm>
                <a:prstGeom prst="rect">
                  <a:avLst/>
                </a:prstGeom>
                <a:blipFill>
                  <a:blip r:embed="rId10"/>
                  <a:stretch>
                    <a:fillRect r="-2273"/>
                  </a:stretch>
                </a:blipFill>
              </p:spPr>
              <p:txBody>
                <a:bodyPr/>
                <a:lstStyle/>
                <a:p>
                  <a:r>
                    <a:rPr lang="zh-CN" altLang="en-US">
                      <a:noFill/>
                    </a:rPr>
                    <a:t> </a:t>
                  </a:r>
                </a:p>
              </p:txBody>
            </p:sp>
          </mc:Fallback>
        </mc:AlternateContent>
        <p:cxnSp>
          <p:nvCxnSpPr>
            <p:cNvPr id="59" name="虚轴">
              <a:extLst>
                <a:ext uri="{FF2B5EF4-FFF2-40B4-BE49-F238E27FC236}">
                  <a16:creationId xmlns:a16="http://schemas.microsoft.com/office/drawing/2014/main" id="{959C1450-8970-683F-CE2F-E435B3B4A2FA}"/>
                </a:ext>
              </a:extLst>
            </p:cNvPr>
            <p:cNvCxnSpPr>
              <a:cxnSpLocks/>
            </p:cNvCxnSpPr>
            <p:nvPr/>
          </p:nvCxnSpPr>
          <p:spPr>
            <a:xfrm flipV="1">
              <a:off x="8820719" y="2482000"/>
              <a:ext cx="1026118" cy="1299599"/>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原点">
                  <a:extLst>
                    <a:ext uri="{FF2B5EF4-FFF2-40B4-BE49-F238E27FC236}">
                      <a16:creationId xmlns:a16="http://schemas.microsoft.com/office/drawing/2014/main" id="{2F58B522-7033-EE0F-CD04-C19B32CC637D}"/>
                    </a:ext>
                  </a:extLst>
                </p:cNvPr>
                <p:cNvSpPr txBox="1"/>
                <p:nvPr/>
              </p:nvSpPr>
              <p:spPr>
                <a:xfrm>
                  <a:off x="9176371" y="226855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oMath>
                    </m:oMathPara>
                  </a14:m>
                  <a:endParaRPr lang="zh-CN" altLang="en-US" sz="2800" dirty="0">
                    <a:solidFill>
                      <a:schemeClr val="tx1"/>
                    </a:solidFill>
                  </a:endParaRPr>
                </a:p>
              </p:txBody>
            </p:sp>
          </mc:Choice>
          <mc:Fallback xmlns="">
            <p:sp>
              <p:nvSpPr>
                <p:cNvPr id="62" name="原点">
                  <a:extLst>
                    <a:ext uri="{FF2B5EF4-FFF2-40B4-BE49-F238E27FC236}">
                      <a16:creationId xmlns:a16="http://schemas.microsoft.com/office/drawing/2014/main" id="{2F58B522-7033-EE0F-CD04-C19B32CC637D}"/>
                    </a:ext>
                  </a:extLst>
                </p:cNvPr>
                <p:cNvSpPr txBox="1">
                  <a:spLocks noRot="1" noChangeAspect="1" noMove="1" noResize="1" noEditPoints="1" noAdjustHandles="1" noChangeArrowheads="1" noChangeShapeType="1" noTextEdit="1"/>
                </p:cNvSpPr>
                <p:nvPr/>
              </p:nvSpPr>
              <p:spPr>
                <a:xfrm>
                  <a:off x="9176371" y="2268553"/>
                  <a:ext cx="545352" cy="52469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原点">
                  <a:extLst>
                    <a:ext uri="{FF2B5EF4-FFF2-40B4-BE49-F238E27FC236}">
                      <a16:creationId xmlns:a16="http://schemas.microsoft.com/office/drawing/2014/main" id="{B7F10948-3C1C-7F14-85CE-D1ECF0FDF0A7}"/>
                    </a:ext>
                  </a:extLst>
                </p:cNvPr>
                <p:cNvSpPr txBox="1"/>
                <p:nvPr/>
              </p:nvSpPr>
              <p:spPr>
                <a:xfrm>
                  <a:off x="10260065" y="2483536"/>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altLang="zh-CN" sz="2800" i="1" smtClean="0">
                            <a:solidFill>
                              <a:srgbClr val="E44860"/>
                            </a:solidFill>
                            <a:latin typeface="Cambria Math" panose="02040503050406030204" pitchFamily="18" charset="0"/>
                            <a:ea typeface="Cambria Math" panose="02040503050406030204" pitchFamily="18" charset="0"/>
                          </a:rPr>
                          <m:t>Γ</m:t>
                        </m:r>
                      </m:oMath>
                    </m:oMathPara>
                  </a14:m>
                  <a:endParaRPr lang="zh-CN" altLang="en-US" sz="2800" dirty="0">
                    <a:solidFill>
                      <a:srgbClr val="E44860"/>
                    </a:solidFill>
                  </a:endParaRPr>
                </a:p>
              </p:txBody>
            </p:sp>
          </mc:Choice>
          <mc:Fallback xmlns="">
            <p:sp>
              <p:nvSpPr>
                <p:cNvPr id="63" name="原点">
                  <a:extLst>
                    <a:ext uri="{FF2B5EF4-FFF2-40B4-BE49-F238E27FC236}">
                      <a16:creationId xmlns:a16="http://schemas.microsoft.com/office/drawing/2014/main" id="{B7F10948-3C1C-7F14-85CE-D1ECF0FDF0A7}"/>
                    </a:ext>
                  </a:extLst>
                </p:cNvPr>
                <p:cNvSpPr txBox="1">
                  <a:spLocks noRot="1" noChangeAspect="1" noMove="1" noResize="1" noEditPoints="1" noAdjustHandles="1" noChangeArrowheads="1" noChangeShapeType="1" noTextEdit="1"/>
                </p:cNvSpPr>
                <p:nvPr/>
              </p:nvSpPr>
              <p:spPr>
                <a:xfrm>
                  <a:off x="10260065" y="2483536"/>
                  <a:ext cx="545352" cy="524695"/>
                </a:xfrm>
                <a:prstGeom prst="rect">
                  <a:avLst/>
                </a:prstGeom>
                <a:blipFill>
                  <a:blip r:embed="rId12"/>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6" name="小标题1">
                <a:extLst>
                  <a:ext uri="{FF2B5EF4-FFF2-40B4-BE49-F238E27FC236}">
                    <a16:creationId xmlns:a16="http://schemas.microsoft.com/office/drawing/2014/main" id="{DD7771F2-8DD9-D869-4C21-5489523BC23E}"/>
                  </a:ext>
                </a:extLst>
              </p:cNvPr>
              <p:cNvSpPr/>
              <p:nvPr/>
            </p:nvSpPr>
            <p:spPr bwMode="auto">
              <a:xfrm>
                <a:off x="275443" y="1818078"/>
                <a:ext cx="4816853"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14:m>
                  <m:oMath xmlns:m="http://schemas.openxmlformats.org/officeDocument/2006/math">
                    <m:r>
                      <a:rPr lang="en-US" altLang="zh-CN" sz="3200" b="1" i="1" smtClean="0">
                        <a:solidFill>
                          <a:schemeClr val="bg1"/>
                        </a:solidFill>
                        <a:latin typeface="Cambria Math" panose="02040503050406030204" pitchFamily="18" charset="0"/>
                      </a:rPr>
                      <m:t>𝒗</m:t>
                    </m:r>
                    <m:r>
                      <a:rPr lang="en-US" altLang="zh-CN" sz="3200" b="1" i="1" smtClean="0">
                        <a:solidFill>
                          <a:schemeClr val="bg1"/>
                        </a:solidFill>
                        <a:latin typeface="Cambria Math" panose="02040503050406030204" pitchFamily="18" charset="0"/>
                      </a:rPr>
                      <m:t>=</m:t>
                    </m:r>
                    <m:r>
                      <a:rPr lang="en-US" altLang="zh-CN" sz="3200" b="1" i="1" smtClean="0">
                        <a:solidFill>
                          <a:schemeClr val="bg1"/>
                        </a:solidFill>
                        <a:latin typeface="Cambria Math" panose="02040503050406030204" pitchFamily="18" charset="0"/>
                      </a:rPr>
                      <m:t>𝟎</m:t>
                    </m:r>
                  </m:oMath>
                </a14:m>
                <a:r>
                  <a:rPr lang="zh-CN" altLang="en-US" sz="3200" b="1" dirty="0">
                    <a:solidFill>
                      <a:schemeClr val="bg1"/>
                    </a:solidFill>
                    <a:latin typeface="+mn-ea"/>
                  </a:rPr>
                  <a:t>，由</a:t>
                </a:r>
                <a:r>
                  <a:rPr lang="en-US" altLang="zh-CN" sz="3200" b="1" dirty="0">
                    <a:solidFill>
                      <a:schemeClr val="bg1"/>
                    </a:solidFill>
                    <a:latin typeface="+mn-ea"/>
                  </a:rPr>
                  <a:t>(1)(2)(3)</a:t>
                </a:r>
                <a:r>
                  <a:rPr lang="zh-CN" altLang="en-US" sz="3200" b="1" dirty="0">
                    <a:solidFill>
                      <a:schemeClr val="bg1"/>
                    </a:solidFill>
                    <a:latin typeface="+mn-ea"/>
                  </a:rPr>
                  <a:t>组成</a:t>
                </a:r>
              </a:p>
            </p:txBody>
          </p:sp>
        </mc:Choice>
        <mc:Fallback xmlns="">
          <p:sp>
            <p:nvSpPr>
              <p:cNvPr id="66" name="小标题1">
                <a:extLst>
                  <a:ext uri="{FF2B5EF4-FFF2-40B4-BE49-F238E27FC236}">
                    <a16:creationId xmlns:a16="http://schemas.microsoft.com/office/drawing/2014/main" id="{DD7771F2-8DD9-D869-4C21-5489523BC23E}"/>
                  </a:ext>
                </a:extLst>
              </p:cNvPr>
              <p:cNvSpPr>
                <a:spLocks noRot="1" noChangeAspect="1" noMove="1" noResize="1" noEditPoints="1" noAdjustHandles="1" noChangeArrowheads="1" noChangeShapeType="1" noTextEdit="1"/>
              </p:cNvSpPr>
              <p:nvPr/>
            </p:nvSpPr>
            <p:spPr bwMode="auto">
              <a:xfrm>
                <a:off x="275443" y="1818078"/>
                <a:ext cx="4816853" cy="576000"/>
              </a:xfrm>
              <a:prstGeom prst="roundRect">
                <a:avLst/>
              </a:prstGeom>
              <a:blipFill>
                <a:blip r:embed="rId13"/>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小标题1">
                <a:extLst>
                  <a:ext uri="{FF2B5EF4-FFF2-40B4-BE49-F238E27FC236}">
                    <a16:creationId xmlns:a16="http://schemas.microsoft.com/office/drawing/2014/main" id="{83B9D001-3A18-1BCB-F1D6-A48DDED46E03}"/>
                  </a:ext>
                </a:extLst>
              </p:cNvPr>
              <p:cNvSpPr/>
              <p:nvPr/>
            </p:nvSpPr>
            <p:spPr bwMode="auto">
              <a:xfrm>
                <a:off x="293255" y="2558053"/>
                <a:ext cx="5441911"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14:m>
                  <m:oMath xmlns:m="http://schemas.openxmlformats.org/officeDocument/2006/math">
                    <m:r>
                      <a:rPr lang="en-US" altLang="zh-CN" sz="3200" b="1" i="1" smtClean="0">
                        <a:solidFill>
                          <a:schemeClr val="bg1"/>
                        </a:solidFill>
                        <a:latin typeface="Cambria Math" panose="02040503050406030204" pitchFamily="18" charset="0"/>
                      </a:rPr>
                      <m:t>𝒗</m:t>
                    </m:r>
                    <m:r>
                      <a:rPr lang="en-US" altLang="zh-CN" sz="3200" b="1" i="1" smtClean="0">
                        <a:solidFill>
                          <a:schemeClr val="bg1"/>
                        </a:solidFill>
                        <a:latin typeface="Cambria Math" panose="02040503050406030204" pitchFamily="18" charset="0"/>
                        <a:ea typeface="Cambria Math" panose="02040503050406030204" pitchFamily="18" charset="0"/>
                      </a:rPr>
                      <m:t>≠</m:t>
                    </m:r>
                    <m:r>
                      <a:rPr lang="en-US" altLang="zh-CN" sz="3200" b="1" i="1" smtClean="0">
                        <a:solidFill>
                          <a:schemeClr val="bg1"/>
                        </a:solidFill>
                        <a:latin typeface="Cambria Math" panose="02040503050406030204" pitchFamily="18" charset="0"/>
                      </a:rPr>
                      <m:t>𝟎</m:t>
                    </m:r>
                  </m:oMath>
                </a14:m>
                <a:r>
                  <a:rPr lang="zh-CN" altLang="en-US" sz="3200" b="1" dirty="0">
                    <a:solidFill>
                      <a:schemeClr val="bg1"/>
                    </a:solidFill>
                    <a:latin typeface="+mn-ea"/>
                  </a:rPr>
                  <a:t>，由</a:t>
                </a:r>
                <a:r>
                  <a:rPr lang="en-US" altLang="zh-CN" sz="3200" b="1" dirty="0">
                    <a:solidFill>
                      <a:schemeClr val="bg1"/>
                    </a:solidFill>
                    <a:latin typeface="+mn-ea"/>
                  </a:rPr>
                  <a:t>(1)(2)(3)(4)</a:t>
                </a:r>
                <a:r>
                  <a:rPr lang="zh-CN" altLang="en-US" sz="3200" b="1" dirty="0">
                    <a:solidFill>
                      <a:schemeClr val="bg1"/>
                    </a:solidFill>
                    <a:latin typeface="+mn-ea"/>
                  </a:rPr>
                  <a:t>组成</a:t>
                </a:r>
              </a:p>
            </p:txBody>
          </p:sp>
        </mc:Choice>
        <mc:Fallback xmlns="">
          <p:sp>
            <p:nvSpPr>
              <p:cNvPr id="67" name="小标题1">
                <a:extLst>
                  <a:ext uri="{FF2B5EF4-FFF2-40B4-BE49-F238E27FC236}">
                    <a16:creationId xmlns:a16="http://schemas.microsoft.com/office/drawing/2014/main" id="{83B9D001-3A18-1BCB-F1D6-A48DDED46E03}"/>
                  </a:ext>
                </a:extLst>
              </p:cNvPr>
              <p:cNvSpPr>
                <a:spLocks noRot="1" noChangeAspect="1" noMove="1" noResize="1" noEditPoints="1" noAdjustHandles="1" noChangeArrowheads="1" noChangeShapeType="1" noTextEdit="1"/>
              </p:cNvSpPr>
              <p:nvPr/>
            </p:nvSpPr>
            <p:spPr bwMode="auto">
              <a:xfrm>
                <a:off x="293255" y="2558053"/>
                <a:ext cx="5441911" cy="576000"/>
              </a:xfrm>
              <a:prstGeom prst="roundRect">
                <a:avLst/>
              </a:prstGeom>
              <a:blipFill>
                <a:blip r:embed="rId14"/>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说明3">
                <a:extLst>
                  <a:ext uri="{FF2B5EF4-FFF2-40B4-BE49-F238E27FC236}">
                    <a16:creationId xmlns:a16="http://schemas.microsoft.com/office/drawing/2014/main" id="{D5AA8BA3-5D7D-374B-719B-DBCABB67ECC1}"/>
                  </a:ext>
                </a:extLst>
              </p:cNvPr>
              <p:cNvSpPr txBox="1"/>
              <p:nvPr/>
            </p:nvSpPr>
            <p:spPr>
              <a:xfrm>
                <a:off x="388604" y="3375897"/>
                <a:ext cx="6556179"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(1)</a:t>
                </a:r>
                <a:r>
                  <a:rPr kumimoji="1" lang="zh-CN" altLang="en-US" sz="2800" dirty="0">
                    <a:solidFill>
                      <a:srgbClr val="2980B9"/>
                    </a:solidFill>
                  </a:rPr>
                  <a:t> </a:t>
                </a:r>
                <a14:m>
                  <m:oMath xmlns:m="http://schemas.openxmlformats.org/officeDocument/2006/math">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b="0" i="1" smtClean="0">
                        <a:solidFill>
                          <a:srgbClr val="2980B9"/>
                        </a:solidFill>
                        <a:latin typeface="Cambria Math" panose="02040503050406030204" pitchFamily="18" charset="0"/>
                        <a:ea typeface="Cambria Math" panose="02040503050406030204" pitchFamily="18" charset="0"/>
                      </a:rPr>
                      <m:t>=</m:t>
                    </m:r>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r>
                          <a:rPr kumimoji="1" lang="en-US" altLang="zh-CN" sz="2800" b="0" i="1" smtClean="0">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r>
                      <a:rPr kumimoji="1" lang="en-US" altLang="zh-CN" sz="2800" b="0" i="1" smtClean="0">
                        <a:solidFill>
                          <a:srgbClr val="2980B9"/>
                        </a:solidFill>
                        <a:latin typeface="Cambria Math" panose="02040503050406030204" pitchFamily="18" charset="0"/>
                        <a:ea typeface="Cambria Math" panose="02040503050406030204" pitchFamily="18" charset="0"/>
                      </a:rPr>
                      <m:t>⟶+∞</m:t>
                    </m:r>
                  </m:oMath>
                </a14:m>
                <a:endParaRPr kumimoji="1" lang="zh-CN" altLang="en-US" sz="2800" dirty="0">
                  <a:solidFill>
                    <a:srgbClr val="2980B9"/>
                  </a:solidFill>
                </a:endParaRPr>
              </a:p>
            </p:txBody>
          </p:sp>
        </mc:Choice>
        <mc:Fallback xmlns="">
          <p:sp>
            <p:nvSpPr>
              <p:cNvPr id="68" name="说明3">
                <a:extLst>
                  <a:ext uri="{FF2B5EF4-FFF2-40B4-BE49-F238E27FC236}">
                    <a16:creationId xmlns:a16="http://schemas.microsoft.com/office/drawing/2014/main" id="{D5AA8BA3-5D7D-374B-719B-DBCABB67ECC1}"/>
                  </a:ext>
                </a:extLst>
              </p:cNvPr>
              <p:cNvSpPr txBox="1">
                <a:spLocks noRot="1" noChangeAspect="1" noMove="1" noResize="1" noEditPoints="1" noAdjustHandles="1" noChangeArrowheads="1" noChangeShapeType="1" noTextEdit="1"/>
              </p:cNvSpPr>
              <p:nvPr/>
            </p:nvSpPr>
            <p:spPr>
              <a:xfrm>
                <a:off x="388604" y="3375897"/>
                <a:ext cx="6556179" cy="578882"/>
              </a:xfrm>
              <a:prstGeom prst="flowChartAlternateProcess">
                <a:avLst/>
              </a:prstGeom>
              <a:blipFill>
                <a:blip r:embed="rId15"/>
                <a:stretch>
                  <a:fillRect l="-1349" t="-2041" b="-20408"/>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说明3">
                <a:extLst>
                  <a:ext uri="{FF2B5EF4-FFF2-40B4-BE49-F238E27FC236}">
                    <a16:creationId xmlns:a16="http://schemas.microsoft.com/office/drawing/2014/main" id="{4254AEB0-E397-AD30-2FC3-204D21D9FFBD}"/>
                  </a:ext>
                </a:extLst>
              </p:cNvPr>
              <p:cNvSpPr txBox="1"/>
              <p:nvPr/>
            </p:nvSpPr>
            <p:spPr>
              <a:xfrm>
                <a:off x="390536" y="4155201"/>
                <a:ext cx="6556179" cy="77524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(2)</a:t>
                </a:r>
                <a:r>
                  <a:rPr kumimoji="1" lang="zh-CN" altLang="en-US" sz="2800" dirty="0">
                    <a:solidFill>
                      <a:srgbClr val="2980B9"/>
                    </a:solidFill>
                  </a:rPr>
                  <a:t> </a:t>
                </a:r>
                <a14:m>
                  <m:oMath xmlns:m="http://schemas.openxmlformats.org/officeDocument/2006/math">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func>
                      <m:funcPr>
                        <m:ctrlPr>
                          <a:rPr kumimoji="1" lang="en-US" altLang="zh-CN" sz="2800" i="1">
                            <a:solidFill>
                              <a:srgbClr val="2980B9"/>
                            </a:solidFill>
                            <a:latin typeface="Cambria Math" panose="02040503050406030204" pitchFamily="18" charset="0"/>
                          </a:rPr>
                        </m:ctrlPr>
                      </m:funcPr>
                      <m:fName>
                        <m:limLow>
                          <m:limLowPr>
                            <m:ctrlPr>
                              <a:rPr kumimoji="1" lang="en-US" altLang="zh-CN" sz="2800" i="1">
                                <a:solidFill>
                                  <a:srgbClr val="2980B9"/>
                                </a:solidFill>
                                <a:latin typeface="Cambria Math" panose="02040503050406030204" pitchFamily="18" charset="0"/>
                              </a:rPr>
                            </m:ctrlPr>
                          </m:limLowPr>
                          <m:e>
                            <m:r>
                              <m:rPr>
                                <m:sty m:val="p"/>
                              </m:rPr>
                              <a:rPr kumimoji="1" lang="en-US" altLang="zh-CN" sz="2800">
                                <a:solidFill>
                                  <a:srgbClr val="2980B9"/>
                                </a:solidFill>
                                <a:latin typeface="Cambria Math" panose="02040503050406030204" pitchFamily="18" charset="0"/>
                              </a:rPr>
                              <m:t>lim</m:t>
                            </m:r>
                          </m:e>
                          <m:lim>
                            <m:r>
                              <a:rPr kumimoji="1" lang="en-US" altLang="zh-CN" sz="2800" i="1">
                                <a:solidFill>
                                  <a:srgbClr val="2980B9"/>
                                </a:solidFill>
                                <a:latin typeface="Cambria Math" panose="02040503050406030204" pitchFamily="18" charset="0"/>
                              </a:rPr>
                              <m:t>𝑅</m:t>
                            </m:r>
                            <m:r>
                              <a:rPr kumimoji="1" lang="en-US" altLang="zh-CN" sz="2800" i="1">
                                <a:solidFill>
                                  <a:srgbClr val="2980B9"/>
                                </a:solidFill>
                                <a:latin typeface="Cambria Math" panose="02040503050406030204" pitchFamily="18" charset="0"/>
                                <a:ea typeface="Cambria Math" panose="02040503050406030204" pitchFamily="18" charset="0"/>
                              </a:rPr>
                              <m:t>⟶∞</m:t>
                            </m:r>
                          </m:lim>
                        </m:limLow>
                      </m:fName>
                      <m:e>
                        <m:r>
                          <a:rPr kumimoji="1" lang="en-US" altLang="zh-CN" sz="2800" i="1">
                            <a:solidFill>
                              <a:srgbClr val="2980B9"/>
                            </a:solidFill>
                            <a:latin typeface="Cambria Math" panose="02040503050406030204" pitchFamily="18" charset="0"/>
                          </a:rPr>
                          <m:t>𝑅</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𝜃</m:t>
                            </m:r>
                          </m:sup>
                        </m:sSup>
                      </m:e>
                    </m:func>
                    <m:r>
                      <a:rPr kumimoji="1" lang="en-US" altLang="zh-CN" sz="2800" b="0" i="1" smtClean="0">
                        <a:solidFill>
                          <a:srgbClr val="2980B9"/>
                        </a:solidFill>
                        <a:latin typeface="Cambria Math" panose="02040503050406030204" pitchFamily="18" charset="0"/>
                        <a:ea typeface="Cambria Math" panose="02040503050406030204" pitchFamily="18" charset="0"/>
                      </a:rPr>
                      <m:t>,</m:t>
                    </m:r>
                    <m:r>
                      <a:rPr kumimoji="1" lang="zh-CN" altLang="en-US" sz="2800" b="0" i="1" smtClean="0">
                        <a:solidFill>
                          <a:srgbClr val="2980B9"/>
                        </a:solidFill>
                        <a:latin typeface="Cambria Math" panose="02040503050406030204" pitchFamily="18" charset="0"/>
                        <a:ea typeface="Cambria Math" panose="02040503050406030204" pitchFamily="18" charset="0"/>
                      </a:rPr>
                      <m:t> </m:t>
                    </m:r>
                    <m:r>
                      <a:rPr kumimoji="1" lang="en-US" altLang="zh-CN" sz="2800" i="1">
                        <a:solidFill>
                          <a:srgbClr val="2980B9"/>
                        </a:solidFill>
                        <a:latin typeface="Cambria Math" panose="02040503050406030204" pitchFamily="18" charset="0"/>
                        <a:ea typeface="Cambria Math" panose="02040503050406030204" pitchFamily="18" charset="0"/>
                      </a:rPr>
                      <m:t>𝜃</m:t>
                    </m:r>
                    <m:r>
                      <a:rPr kumimoji="1" lang="en-US" altLang="zh-CN" sz="2800" b="0" i="1" smtClean="0">
                        <a:solidFill>
                          <a:srgbClr val="2980B9"/>
                        </a:solidFill>
                        <a:latin typeface="Cambria Math" panose="02040503050406030204" pitchFamily="18" charset="0"/>
                        <a:ea typeface="Cambria Math" panose="02040503050406030204" pitchFamily="18" charset="0"/>
                      </a:rPr>
                      <m:t>:</m:t>
                    </m:r>
                    <m:f>
                      <m:fPr>
                        <m:ctrlPr>
                          <a:rPr kumimoji="1" lang="en-US" altLang="zh-CN" sz="2800" b="0" i="1" smtClean="0">
                            <a:solidFill>
                              <a:srgbClr val="2980B9"/>
                            </a:solidFill>
                            <a:latin typeface="Cambria Math" panose="02040503050406030204" pitchFamily="18" charset="0"/>
                            <a:ea typeface="Cambria Math" panose="02040503050406030204" pitchFamily="18" charset="0"/>
                          </a:rPr>
                        </m:ctrlPr>
                      </m:fPr>
                      <m:num>
                        <m:r>
                          <a:rPr kumimoji="1" lang="en-US" altLang="zh-CN" sz="2800" b="0" i="1" smtClean="0">
                            <a:solidFill>
                              <a:srgbClr val="2980B9"/>
                            </a:solidFill>
                            <a:latin typeface="Cambria Math" panose="02040503050406030204" pitchFamily="18" charset="0"/>
                            <a:ea typeface="Cambria Math" panose="02040503050406030204" pitchFamily="18" charset="0"/>
                          </a:rPr>
                          <m:t>𝜋</m:t>
                        </m:r>
                      </m:num>
                      <m:den>
                        <m:r>
                          <a:rPr kumimoji="1" lang="en-US" altLang="zh-CN" sz="2800" b="0" i="1" smtClean="0">
                            <a:solidFill>
                              <a:srgbClr val="2980B9"/>
                            </a:solidFill>
                            <a:latin typeface="Cambria Math" panose="02040503050406030204" pitchFamily="18" charset="0"/>
                            <a:ea typeface="Cambria Math" panose="02040503050406030204" pitchFamily="18" charset="0"/>
                          </a:rPr>
                          <m:t>2</m:t>
                        </m:r>
                      </m:den>
                    </m:f>
                    <m:r>
                      <a:rPr kumimoji="1" lang="en-US" altLang="zh-CN" sz="2800" b="0" i="1" smtClean="0">
                        <a:solidFill>
                          <a:srgbClr val="2980B9"/>
                        </a:solidFill>
                        <a:latin typeface="Cambria Math" panose="02040503050406030204" pitchFamily="18" charset="0"/>
                        <a:ea typeface="Cambria Math" panose="02040503050406030204" pitchFamily="18" charset="0"/>
                      </a:rPr>
                      <m:t>⟶0</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m:t>
                    </m:r>
                    <m:f>
                      <m:fPr>
                        <m:ctrlPr>
                          <a:rPr kumimoji="1" lang="en-US" altLang="zh-CN" sz="2800" i="1">
                            <a:solidFill>
                              <a:srgbClr val="2980B9"/>
                            </a:solidFill>
                            <a:latin typeface="Cambria Math" panose="02040503050406030204" pitchFamily="18" charset="0"/>
                            <a:ea typeface="Cambria Math" panose="02040503050406030204" pitchFamily="18" charset="0"/>
                          </a:rPr>
                        </m:ctrlPr>
                      </m:fPr>
                      <m:num>
                        <m:r>
                          <a:rPr kumimoji="1" lang="en-US" altLang="zh-CN" sz="2800" i="1">
                            <a:solidFill>
                              <a:srgbClr val="2980B9"/>
                            </a:solidFill>
                            <a:latin typeface="Cambria Math" panose="02040503050406030204" pitchFamily="18" charset="0"/>
                            <a:ea typeface="Cambria Math" panose="02040503050406030204" pitchFamily="18" charset="0"/>
                          </a:rPr>
                          <m:t>𝜋</m:t>
                        </m:r>
                      </m:num>
                      <m:den>
                        <m:r>
                          <a:rPr kumimoji="1" lang="en-US" altLang="zh-CN" sz="2800" i="1">
                            <a:solidFill>
                              <a:srgbClr val="2980B9"/>
                            </a:solidFill>
                            <a:latin typeface="Cambria Math" panose="02040503050406030204" pitchFamily="18" charset="0"/>
                            <a:ea typeface="Cambria Math" panose="02040503050406030204" pitchFamily="18" charset="0"/>
                          </a:rPr>
                          <m:t>2</m:t>
                        </m:r>
                      </m:den>
                    </m:f>
                  </m:oMath>
                </a14:m>
                <a:endParaRPr kumimoji="1" lang="zh-CN" altLang="en-US" sz="2800" dirty="0">
                  <a:solidFill>
                    <a:srgbClr val="2980B9"/>
                  </a:solidFill>
                </a:endParaRPr>
              </a:p>
            </p:txBody>
          </p:sp>
        </mc:Choice>
        <mc:Fallback xmlns="">
          <p:sp>
            <p:nvSpPr>
              <p:cNvPr id="69" name="说明3">
                <a:extLst>
                  <a:ext uri="{FF2B5EF4-FFF2-40B4-BE49-F238E27FC236}">
                    <a16:creationId xmlns:a16="http://schemas.microsoft.com/office/drawing/2014/main" id="{4254AEB0-E397-AD30-2FC3-204D21D9FFBD}"/>
                  </a:ext>
                </a:extLst>
              </p:cNvPr>
              <p:cNvSpPr txBox="1">
                <a:spLocks noRot="1" noChangeAspect="1" noMove="1" noResize="1" noEditPoints="1" noAdjustHandles="1" noChangeArrowheads="1" noChangeShapeType="1" noTextEdit="1"/>
              </p:cNvSpPr>
              <p:nvPr/>
            </p:nvSpPr>
            <p:spPr>
              <a:xfrm>
                <a:off x="390536" y="4155201"/>
                <a:ext cx="6556179" cy="775248"/>
              </a:xfrm>
              <a:prstGeom prst="flowChartAlternateProcess">
                <a:avLst/>
              </a:prstGeom>
              <a:blipFill>
                <a:blip r:embed="rId16"/>
                <a:stretch>
                  <a:fillRect l="-1154"/>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说明3">
                <a:extLst>
                  <a:ext uri="{FF2B5EF4-FFF2-40B4-BE49-F238E27FC236}">
                    <a16:creationId xmlns:a16="http://schemas.microsoft.com/office/drawing/2014/main" id="{3D2ECEDC-F79E-A470-3B7E-605CBDE7D040}"/>
                  </a:ext>
                </a:extLst>
              </p:cNvPr>
              <p:cNvSpPr txBox="1"/>
              <p:nvPr/>
            </p:nvSpPr>
            <p:spPr>
              <a:xfrm>
                <a:off x="410063" y="5143598"/>
                <a:ext cx="6527688"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(3)</a:t>
                </a:r>
                <a:r>
                  <a:rPr kumimoji="1" lang="zh-CN" altLang="en-US" sz="2800" dirty="0">
                    <a:solidFill>
                      <a:srgbClr val="2980B9"/>
                    </a:solidFill>
                  </a:rPr>
                  <a:t> </a:t>
                </a:r>
                <a14:m>
                  <m:oMath xmlns:m="http://schemas.openxmlformats.org/officeDocument/2006/math">
                    <m:r>
                      <a:rPr kumimoji="1" lang="en-US" altLang="zh-CN" sz="2800" i="1">
                        <a:solidFill>
                          <a:srgbClr val="2980B9"/>
                        </a:solidFill>
                        <a:latin typeface="Cambria Math" panose="02040503050406030204" pitchFamily="18" charset="0"/>
                      </a:rPr>
                      <m:t>𝑠</m:t>
                    </m:r>
                    <m:r>
                      <a:rPr kumimoji="1" lang="en-US" altLang="zh-CN" sz="2800" i="1">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i="1">
                        <a:solidFill>
                          <a:srgbClr val="2980B9"/>
                        </a:solidFill>
                        <a:latin typeface="Cambria Math" panose="02040503050406030204" pitchFamily="18" charset="0"/>
                        <a:ea typeface="Cambria Math" panose="02040503050406030204" pitchFamily="18" charset="0"/>
                      </a:rPr>
                      <m:t>=−∞⟶</m:t>
                    </m:r>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r>
                          <a:rPr kumimoji="1" lang="en-US" altLang="zh-CN" sz="2800" b="0" i="1" smtClean="0">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oMath>
                </a14:m>
                <a:endParaRPr kumimoji="1" lang="zh-CN" altLang="en-US" sz="2800" dirty="0">
                  <a:solidFill>
                    <a:srgbClr val="2980B9"/>
                  </a:solidFill>
                </a:endParaRPr>
              </a:p>
            </p:txBody>
          </p:sp>
        </mc:Choice>
        <mc:Fallback xmlns="">
          <p:sp>
            <p:nvSpPr>
              <p:cNvPr id="70" name="说明3">
                <a:extLst>
                  <a:ext uri="{FF2B5EF4-FFF2-40B4-BE49-F238E27FC236}">
                    <a16:creationId xmlns:a16="http://schemas.microsoft.com/office/drawing/2014/main" id="{3D2ECEDC-F79E-A470-3B7E-605CBDE7D040}"/>
                  </a:ext>
                </a:extLst>
              </p:cNvPr>
              <p:cNvSpPr txBox="1">
                <a:spLocks noRot="1" noChangeAspect="1" noMove="1" noResize="1" noEditPoints="1" noAdjustHandles="1" noChangeArrowheads="1" noChangeShapeType="1" noTextEdit="1"/>
              </p:cNvSpPr>
              <p:nvPr/>
            </p:nvSpPr>
            <p:spPr>
              <a:xfrm>
                <a:off x="410063" y="5143598"/>
                <a:ext cx="6527688" cy="578882"/>
              </a:xfrm>
              <a:prstGeom prst="flowChartAlternateProcess">
                <a:avLst/>
              </a:prstGeom>
              <a:blipFill>
                <a:blip r:embed="rId17"/>
                <a:stretch>
                  <a:fillRect l="-1354" t="-4167" b="-20833"/>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说明3">
                <a:extLst>
                  <a:ext uri="{FF2B5EF4-FFF2-40B4-BE49-F238E27FC236}">
                    <a16:creationId xmlns:a16="http://schemas.microsoft.com/office/drawing/2014/main" id="{AB1E794B-9021-EA56-F4BB-BB9B4911B549}"/>
                  </a:ext>
                </a:extLst>
              </p:cNvPr>
              <p:cNvSpPr txBox="1"/>
              <p:nvPr/>
            </p:nvSpPr>
            <p:spPr>
              <a:xfrm>
                <a:off x="389922" y="5877272"/>
                <a:ext cx="6567970" cy="77524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(4)</a:t>
                </a:r>
                <a:r>
                  <a:rPr kumimoji="1" lang="zh-CN" altLang="en-US" sz="2800" dirty="0">
                    <a:solidFill>
                      <a:srgbClr val="2980B9"/>
                    </a:solidFill>
                  </a:rPr>
                  <a:t> </a:t>
                </a:r>
                <a14:m>
                  <m:oMath xmlns:m="http://schemas.openxmlformats.org/officeDocument/2006/math">
                    <m:r>
                      <a:rPr kumimoji="1" lang="en-US" altLang="zh-CN" sz="2800" b="0" i="1" smtClean="0">
                        <a:solidFill>
                          <a:srgbClr val="2980B9"/>
                        </a:solidFill>
                        <a:latin typeface="Cambria Math" panose="02040503050406030204" pitchFamily="18" charset="0"/>
                      </a:rPr>
                      <m:t>𝑣</m:t>
                    </m:r>
                    <m:r>
                      <a:rPr kumimoji="1" lang="en-US" altLang="zh-CN" sz="2800" i="1" smtClean="0">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0</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rPr>
                      <m:t>𝑠</m:t>
                    </m:r>
                    <m:r>
                      <a:rPr kumimoji="1" lang="en-US" altLang="zh-CN" sz="2800" i="1">
                        <a:solidFill>
                          <a:srgbClr val="2980B9"/>
                        </a:solidFill>
                        <a:latin typeface="Cambria Math" panose="02040503050406030204" pitchFamily="18" charset="0"/>
                      </a:rPr>
                      <m:t>=</m:t>
                    </m:r>
                    <m:func>
                      <m:funcPr>
                        <m:ctrlPr>
                          <a:rPr kumimoji="1" lang="en-US" altLang="zh-CN" sz="2800" i="1">
                            <a:solidFill>
                              <a:srgbClr val="2980B9"/>
                            </a:solidFill>
                            <a:latin typeface="Cambria Math" panose="02040503050406030204" pitchFamily="18" charset="0"/>
                          </a:rPr>
                        </m:ctrlPr>
                      </m:funcPr>
                      <m:fName>
                        <m:limLow>
                          <m:limLowPr>
                            <m:ctrlPr>
                              <a:rPr kumimoji="1" lang="en-US" altLang="zh-CN" sz="2800" i="1">
                                <a:solidFill>
                                  <a:srgbClr val="2980B9"/>
                                </a:solidFill>
                                <a:latin typeface="Cambria Math" panose="02040503050406030204" pitchFamily="18" charset="0"/>
                              </a:rPr>
                            </m:ctrlPr>
                          </m:limLowPr>
                          <m:e>
                            <m:r>
                              <m:rPr>
                                <m:sty m:val="p"/>
                              </m:rPr>
                              <a:rPr kumimoji="1" lang="en-US" altLang="zh-CN" sz="2800">
                                <a:solidFill>
                                  <a:srgbClr val="2980B9"/>
                                </a:solidFill>
                                <a:latin typeface="Cambria Math" panose="02040503050406030204" pitchFamily="18" charset="0"/>
                              </a:rPr>
                              <m:t>lim</m:t>
                            </m:r>
                          </m:e>
                          <m:lim>
                            <m:r>
                              <a:rPr kumimoji="1" lang="en-US" altLang="zh-CN" sz="2800" b="0" i="1" smtClean="0">
                                <a:solidFill>
                                  <a:srgbClr val="2980B9"/>
                                </a:solidFill>
                                <a:latin typeface="Cambria Math" panose="02040503050406030204" pitchFamily="18" charset="0"/>
                              </a:rPr>
                              <m:t>𝑟</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0</m:t>
                            </m:r>
                          </m:lim>
                        </m:limLow>
                      </m:fName>
                      <m:e>
                        <m:r>
                          <a:rPr kumimoji="1" lang="en-US" altLang="zh-CN" sz="2800" b="0" i="1" smtClean="0">
                            <a:solidFill>
                              <a:srgbClr val="2980B9"/>
                            </a:solidFill>
                            <a:latin typeface="Cambria Math" panose="02040503050406030204" pitchFamily="18" charset="0"/>
                          </a:rPr>
                          <m:t>𝑟</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i="1">
                                <a:solidFill>
                                  <a:srgbClr val="2980B9"/>
                                </a:solidFill>
                                <a:latin typeface="Cambria Math" panose="02040503050406030204" pitchFamily="18" charset="0"/>
                              </a:rPr>
                              <m:t>𝑗</m:t>
                            </m:r>
                            <m:r>
                              <a:rPr kumimoji="1" lang="en-US" altLang="zh-CN" sz="2800" i="1" smtClean="0">
                                <a:solidFill>
                                  <a:srgbClr val="2980B9"/>
                                </a:solidFill>
                                <a:latin typeface="Cambria Math" panose="02040503050406030204" pitchFamily="18" charset="0"/>
                                <a:ea typeface="Cambria Math" panose="02040503050406030204" pitchFamily="18" charset="0"/>
                              </a:rPr>
                              <m:t>𝜓</m:t>
                            </m:r>
                          </m:sup>
                        </m:sSup>
                      </m:e>
                    </m:func>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ea typeface="Cambria Math" panose="02040503050406030204" pitchFamily="18" charset="0"/>
                      </a:rPr>
                      <m:t>𝜓</m:t>
                    </m:r>
                    <m:r>
                      <a:rPr kumimoji="1" lang="en-US" altLang="zh-CN" sz="2800" i="1">
                        <a:solidFill>
                          <a:srgbClr val="2980B9"/>
                        </a:solidFill>
                        <a:latin typeface="Cambria Math" panose="02040503050406030204" pitchFamily="18" charset="0"/>
                        <a:ea typeface="Cambria Math" panose="02040503050406030204" pitchFamily="18" charset="0"/>
                      </a:rPr>
                      <m:t>:−</m:t>
                    </m:r>
                    <m:f>
                      <m:fPr>
                        <m:ctrlPr>
                          <a:rPr kumimoji="1" lang="en-US" altLang="zh-CN" sz="2800" i="1">
                            <a:solidFill>
                              <a:srgbClr val="2980B9"/>
                            </a:solidFill>
                            <a:latin typeface="Cambria Math" panose="02040503050406030204" pitchFamily="18" charset="0"/>
                            <a:ea typeface="Cambria Math" panose="02040503050406030204" pitchFamily="18" charset="0"/>
                          </a:rPr>
                        </m:ctrlPr>
                      </m:fPr>
                      <m:num>
                        <m:r>
                          <a:rPr kumimoji="1" lang="en-US" altLang="zh-CN" sz="2800" i="1">
                            <a:solidFill>
                              <a:srgbClr val="2980B9"/>
                            </a:solidFill>
                            <a:latin typeface="Cambria Math" panose="02040503050406030204" pitchFamily="18" charset="0"/>
                            <a:ea typeface="Cambria Math" panose="02040503050406030204" pitchFamily="18" charset="0"/>
                          </a:rPr>
                          <m:t>𝜋</m:t>
                        </m:r>
                      </m:num>
                      <m:den>
                        <m:r>
                          <a:rPr kumimoji="1" lang="en-US" altLang="zh-CN" sz="2800" i="1">
                            <a:solidFill>
                              <a:srgbClr val="2980B9"/>
                            </a:solidFill>
                            <a:latin typeface="Cambria Math" panose="02040503050406030204" pitchFamily="18" charset="0"/>
                            <a:ea typeface="Cambria Math" panose="02040503050406030204" pitchFamily="18" charset="0"/>
                          </a:rPr>
                          <m:t>2</m:t>
                        </m:r>
                      </m:den>
                    </m:f>
                    <m:r>
                      <a:rPr kumimoji="1" lang="en-US" altLang="zh-CN" sz="2800" i="1">
                        <a:solidFill>
                          <a:srgbClr val="2980B9"/>
                        </a:solidFill>
                        <a:latin typeface="Cambria Math" panose="02040503050406030204" pitchFamily="18" charset="0"/>
                        <a:ea typeface="Cambria Math" panose="02040503050406030204" pitchFamily="18" charset="0"/>
                      </a:rPr>
                      <m:t>⟶0⟶</m:t>
                    </m:r>
                    <m:f>
                      <m:fPr>
                        <m:ctrlPr>
                          <a:rPr kumimoji="1" lang="en-US" altLang="zh-CN" sz="2800" i="1">
                            <a:solidFill>
                              <a:srgbClr val="2980B9"/>
                            </a:solidFill>
                            <a:latin typeface="Cambria Math" panose="02040503050406030204" pitchFamily="18" charset="0"/>
                            <a:ea typeface="Cambria Math" panose="02040503050406030204" pitchFamily="18" charset="0"/>
                          </a:rPr>
                        </m:ctrlPr>
                      </m:fPr>
                      <m:num>
                        <m:r>
                          <a:rPr kumimoji="1" lang="en-US" altLang="zh-CN" sz="2800" i="1">
                            <a:solidFill>
                              <a:srgbClr val="2980B9"/>
                            </a:solidFill>
                            <a:latin typeface="Cambria Math" panose="02040503050406030204" pitchFamily="18" charset="0"/>
                            <a:ea typeface="Cambria Math" panose="02040503050406030204" pitchFamily="18" charset="0"/>
                          </a:rPr>
                          <m:t>𝜋</m:t>
                        </m:r>
                      </m:num>
                      <m:den>
                        <m:r>
                          <a:rPr kumimoji="1" lang="en-US" altLang="zh-CN" sz="2800" i="1">
                            <a:solidFill>
                              <a:srgbClr val="2980B9"/>
                            </a:solidFill>
                            <a:latin typeface="Cambria Math" panose="02040503050406030204" pitchFamily="18" charset="0"/>
                            <a:ea typeface="Cambria Math" panose="02040503050406030204" pitchFamily="18" charset="0"/>
                          </a:rPr>
                          <m:t>2</m:t>
                        </m:r>
                      </m:den>
                    </m:f>
                  </m:oMath>
                </a14:m>
                <a:endParaRPr kumimoji="1" lang="zh-CN" altLang="en-US" sz="2800" dirty="0">
                  <a:solidFill>
                    <a:srgbClr val="2980B9"/>
                  </a:solidFill>
                </a:endParaRPr>
              </a:p>
            </p:txBody>
          </p:sp>
        </mc:Choice>
        <mc:Fallback xmlns="">
          <p:sp>
            <p:nvSpPr>
              <p:cNvPr id="71" name="说明3">
                <a:extLst>
                  <a:ext uri="{FF2B5EF4-FFF2-40B4-BE49-F238E27FC236}">
                    <a16:creationId xmlns:a16="http://schemas.microsoft.com/office/drawing/2014/main" id="{AB1E794B-9021-EA56-F4BB-BB9B4911B549}"/>
                  </a:ext>
                </a:extLst>
              </p:cNvPr>
              <p:cNvSpPr txBox="1">
                <a:spLocks noRot="1" noChangeAspect="1" noMove="1" noResize="1" noEditPoints="1" noAdjustHandles="1" noChangeArrowheads="1" noChangeShapeType="1" noTextEdit="1"/>
              </p:cNvSpPr>
              <p:nvPr/>
            </p:nvSpPr>
            <p:spPr>
              <a:xfrm>
                <a:off x="389922" y="5877272"/>
                <a:ext cx="6567970" cy="775248"/>
              </a:xfrm>
              <a:prstGeom prst="flowChartAlternateProcess">
                <a:avLst/>
              </a:prstGeom>
              <a:blipFill>
                <a:blip r:embed="rId18"/>
                <a:stretch>
                  <a:fillRect l="-1154"/>
                </a:stretch>
              </a:blipFill>
              <a:ln>
                <a:prstDash val="sysDot"/>
              </a:ln>
            </p:spPr>
            <p:txBody>
              <a:bodyPr/>
              <a:lstStyle/>
              <a:p>
                <a:r>
                  <a:rPr lang="zh-CN" altLang="en-US">
                    <a:noFill/>
                  </a:rPr>
                  <a:t> </a:t>
                </a:r>
              </a:p>
            </p:txBody>
          </p:sp>
        </mc:Fallback>
      </mc:AlternateContent>
    </p:spTree>
    <p:extLst>
      <p:ext uri="{BB962C8B-B14F-4D97-AF65-F5344CB8AC3E}">
        <p14:creationId xmlns:p14="http://schemas.microsoft.com/office/powerpoint/2010/main" val="2463633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wipe(down)">
                                      <p:cBhvr>
                                        <p:cTn id="11" dur="500"/>
                                        <p:tgtEl>
                                          <p:spTgt spid="69"/>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down)">
                                      <p:cBhvr>
                                        <p:cTn id="15" dur="500"/>
                                        <p:tgtEl>
                                          <p:spTgt spid="70"/>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wipe(down)">
                                      <p:cBhvr>
                                        <p:cTn id="19" dur="500"/>
                                        <p:tgtEl>
                                          <p:spTgt spid="7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wipe(down)">
                                      <p:cBhvr>
                                        <p:cTn id="24" dur="500"/>
                                        <p:tgtEl>
                                          <p:spTgt spid="6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wipe(down)">
                                      <p:cBhvr>
                                        <p:cTn id="2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69" grpId="0" animBg="1"/>
      <p:bldP spid="70" grpId="0" animBg="1"/>
      <p:bldP spid="7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绘制奈奎斯特曲线</a:t>
            </a:r>
          </a:p>
        </p:txBody>
      </p:sp>
      <mc:AlternateContent xmlns:mc="http://schemas.openxmlformats.org/markup-compatibility/2006" xmlns:a14="http://schemas.microsoft.com/office/drawing/2010/main">
        <mc:Choice Requires="a14">
          <p:sp>
            <p:nvSpPr>
              <p:cNvPr id="18" name="小标题1">
                <a:extLst>
                  <a:ext uri="{FF2B5EF4-FFF2-40B4-BE49-F238E27FC236}">
                    <a16:creationId xmlns:a16="http://schemas.microsoft.com/office/drawing/2014/main" id="{7009AC50-E9C2-A0F8-A94E-4E24C7AE9418}"/>
                  </a:ext>
                </a:extLst>
              </p:cNvPr>
              <p:cNvSpPr/>
              <p:nvPr/>
            </p:nvSpPr>
            <p:spPr bwMode="auto">
              <a:xfrm>
                <a:off x="287282" y="1125698"/>
                <a:ext cx="2639569"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en-US" altLang="zh-CN" sz="3200" b="1" dirty="0">
                    <a:solidFill>
                      <a:schemeClr val="bg1"/>
                    </a:solidFill>
                    <a:latin typeface="+mn-ea"/>
                  </a:rPr>
                  <a:t>3.</a:t>
                </a:r>
                <a:r>
                  <a:rPr lang="zh-CN" altLang="en-US" sz="3200" b="1" dirty="0">
                    <a:solidFill>
                      <a:schemeClr val="bg1"/>
                    </a:solidFill>
                    <a:latin typeface="+mn-ea"/>
                  </a:rPr>
                  <a:t> </a:t>
                </a:r>
                <a14:m>
                  <m:oMath xmlns:m="http://schemas.openxmlformats.org/officeDocument/2006/math">
                    <m:sSub>
                      <m:sSubPr>
                        <m:ctrlPr>
                          <a:rPr lang="en-US" altLang="zh-CN" sz="3200" b="1" i="1" smtClean="0">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smtClean="0">
                            <a:solidFill>
                              <a:schemeClr val="bg1"/>
                            </a:solidFill>
                            <a:latin typeface="Cambria Math" panose="02040503050406030204" pitchFamily="18" charset="0"/>
                          </a:rPr>
                          <m:t>𝑮𝑯</m:t>
                        </m:r>
                      </m:sub>
                    </m:sSub>
                  </m:oMath>
                </a14:m>
                <a:r>
                  <a:rPr lang="zh-CN" altLang="en-US" sz="3200" b="1" dirty="0">
                    <a:solidFill>
                      <a:schemeClr val="bg1"/>
                    </a:solidFill>
                    <a:latin typeface="+mn-ea"/>
                  </a:rPr>
                  <a:t>的绘制</a:t>
                </a:r>
              </a:p>
            </p:txBody>
          </p:sp>
        </mc:Choice>
        <mc:Fallback xmlns="">
          <p:sp>
            <p:nvSpPr>
              <p:cNvPr id="18" name="小标题1">
                <a:extLst>
                  <a:ext uri="{FF2B5EF4-FFF2-40B4-BE49-F238E27FC236}">
                    <a16:creationId xmlns:a16="http://schemas.microsoft.com/office/drawing/2014/main" id="{7009AC50-E9C2-A0F8-A94E-4E24C7AE9418}"/>
                  </a:ext>
                </a:extLst>
              </p:cNvPr>
              <p:cNvSpPr>
                <a:spLocks noRot="1" noChangeAspect="1" noMove="1" noResize="1" noEditPoints="1" noAdjustHandles="1" noChangeArrowheads="1" noChangeShapeType="1" noTextEdit="1"/>
              </p:cNvSpPr>
              <p:nvPr/>
            </p:nvSpPr>
            <p:spPr bwMode="auto">
              <a:xfrm>
                <a:off x="287282" y="1125698"/>
                <a:ext cx="2639569" cy="576000"/>
              </a:xfrm>
              <a:prstGeom prst="roundRect">
                <a:avLst/>
              </a:prstGeom>
              <a:blipFill>
                <a:blip r:embed="rId3"/>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说明3">
                <a:extLst>
                  <a:ext uri="{FF2B5EF4-FFF2-40B4-BE49-F238E27FC236}">
                    <a16:creationId xmlns:a16="http://schemas.microsoft.com/office/drawing/2014/main" id="{D5AA8BA3-5D7D-374B-719B-DBCABB67ECC1}"/>
                  </a:ext>
                </a:extLst>
              </p:cNvPr>
              <p:cNvSpPr txBox="1"/>
              <p:nvPr/>
            </p:nvSpPr>
            <p:spPr>
              <a:xfrm>
                <a:off x="401064" y="1879323"/>
                <a:ext cx="7781506"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lang="en-US" altLang="zh-CN" sz="2800" b="1" i="1" smtClean="0">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𝐺𝐻</m:t>
                        </m:r>
                      </m:sub>
                    </m:sSub>
                  </m:oMath>
                </a14:m>
                <a:r>
                  <a:rPr kumimoji="1" lang="zh-CN" altLang="en-US" sz="2800" dirty="0">
                    <a:solidFill>
                      <a:srgbClr val="2980B9"/>
                    </a:solidFill>
                  </a:rPr>
                  <a:t>的绘制可以分别考虑</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b="1" i="1">
                            <a:solidFill>
                              <a:srgbClr val="2980B9"/>
                            </a:solidFill>
                            <a:latin typeface="Cambria Math" panose="02040503050406030204" pitchFamily="18" charset="0"/>
                          </a:rPr>
                          <m:t>𝒔</m:t>
                        </m:r>
                      </m:sub>
                    </m:sSub>
                  </m:oMath>
                </a14:m>
                <a:r>
                  <a:rPr kumimoji="1" lang="zh-CN" altLang="en-US" sz="2800" dirty="0">
                    <a:solidFill>
                      <a:srgbClr val="2980B9"/>
                    </a:solidFill>
                  </a:rPr>
                  <a:t>四个组成部分在</a:t>
                </a:r>
                <a14:m>
                  <m:oMath xmlns:m="http://schemas.openxmlformats.org/officeDocument/2006/math">
                    <m:r>
                      <a:rPr kumimoji="1" lang="en-US" altLang="zh-CN" sz="2800" b="0" i="1" smtClean="0">
                        <a:solidFill>
                          <a:srgbClr val="2980B9"/>
                        </a:solidFill>
                        <a:latin typeface="Cambria Math" panose="02040503050406030204" pitchFamily="18" charset="0"/>
                      </a:rPr>
                      <m:t>𝐺𝐻</m:t>
                    </m:r>
                  </m:oMath>
                </a14:m>
                <a:r>
                  <a:rPr kumimoji="1" lang="zh-CN" altLang="en-US" sz="2800" dirty="0">
                    <a:solidFill>
                      <a:srgbClr val="2980B9"/>
                    </a:solidFill>
                  </a:rPr>
                  <a:t>平面上的映射。</a:t>
                </a:r>
              </a:p>
            </p:txBody>
          </p:sp>
        </mc:Choice>
        <mc:Fallback xmlns="">
          <p:sp>
            <p:nvSpPr>
              <p:cNvPr id="68" name="说明3">
                <a:extLst>
                  <a:ext uri="{FF2B5EF4-FFF2-40B4-BE49-F238E27FC236}">
                    <a16:creationId xmlns:a16="http://schemas.microsoft.com/office/drawing/2014/main" id="{D5AA8BA3-5D7D-374B-719B-DBCABB67ECC1}"/>
                  </a:ext>
                </a:extLst>
              </p:cNvPr>
              <p:cNvSpPr txBox="1">
                <a:spLocks noRot="1" noChangeAspect="1" noMove="1" noResize="1" noEditPoints="1" noAdjustHandles="1" noChangeArrowheads="1" noChangeShapeType="1" noTextEdit="1"/>
              </p:cNvSpPr>
              <p:nvPr/>
            </p:nvSpPr>
            <p:spPr>
              <a:xfrm>
                <a:off x="401064" y="1879323"/>
                <a:ext cx="7781506" cy="1055608"/>
              </a:xfrm>
              <a:prstGeom prst="flowChartAlternateProcess">
                <a:avLst/>
              </a:prstGeom>
              <a:blipFill>
                <a:blip r:embed="rId4"/>
                <a:stretch>
                  <a:fillRect l="-812" b="-10465"/>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说明3">
                <a:extLst>
                  <a:ext uri="{FF2B5EF4-FFF2-40B4-BE49-F238E27FC236}">
                    <a16:creationId xmlns:a16="http://schemas.microsoft.com/office/drawing/2014/main" id="{4254AEB0-E397-AD30-2FC3-204D21D9FFBD}"/>
                  </a:ext>
                </a:extLst>
              </p:cNvPr>
              <p:cNvSpPr txBox="1"/>
              <p:nvPr/>
            </p:nvSpPr>
            <p:spPr>
              <a:xfrm>
                <a:off x="389921" y="4318407"/>
                <a:ext cx="7792649" cy="2095893"/>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(2)</a:t>
                </a:r>
                <a:r>
                  <a:rPr kumimoji="1" lang="zh-CN" altLang="en-US" sz="2800" dirty="0">
                    <a:solidFill>
                      <a:srgbClr val="2980B9"/>
                    </a:solidFill>
                  </a:rPr>
                  <a:t> </a:t>
                </a:r>
                <a14:m>
                  <m:oMath xmlns:m="http://schemas.openxmlformats.org/officeDocument/2006/math">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func>
                      <m:funcPr>
                        <m:ctrlPr>
                          <a:rPr kumimoji="1" lang="en-US" altLang="zh-CN" sz="2800" i="1">
                            <a:solidFill>
                              <a:srgbClr val="2980B9"/>
                            </a:solidFill>
                            <a:latin typeface="Cambria Math" panose="02040503050406030204" pitchFamily="18" charset="0"/>
                          </a:rPr>
                        </m:ctrlPr>
                      </m:funcPr>
                      <m:fName>
                        <m:limLow>
                          <m:limLowPr>
                            <m:ctrlPr>
                              <a:rPr kumimoji="1" lang="en-US" altLang="zh-CN" sz="2800" i="1">
                                <a:solidFill>
                                  <a:srgbClr val="2980B9"/>
                                </a:solidFill>
                                <a:latin typeface="Cambria Math" panose="02040503050406030204" pitchFamily="18" charset="0"/>
                              </a:rPr>
                            </m:ctrlPr>
                          </m:limLowPr>
                          <m:e>
                            <m:r>
                              <m:rPr>
                                <m:sty m:val="p"/>
                              </m:rPr>
                              <a:rPr kumimoji="1" lang="en-US" altLang="zh-CN" sz="2800">
                                <a:solidFill>
                                  <a:srgbClr val="2980B9"/>
                                </a:solidFill>
                                <a:latin typeface="Cambria Math" panose="02040503050406030204" pitchFamily="18" charset="0"/>
                              </a:rPr>
                              <m:t>lim</m:t>
                            </m:r>
                          </m:e>
                          <m:lim>
                            <m:r>
                              <a:rPr kumimoji="1" lang="en-US" altLang="zh-CN" sz="2800" i="1">
                                <a:solidFill>
                                  <a:srgbClr val="2980B9"/>
                                </a:solidFill>
                                <a:latin typeface="Cambria Math" panose="02040503050406030204" pitchFamily="18" charset="0"/>
                              </a:rPr>
                              <m:t>𝑅</m:t>
                            </m:r>
                            <m:r>
                              <a:rPr kumimoji="1" lang="en-US" altLang="zh-CN" sz="2800" i="1">
                                <a:solidFill>
                                  <a:srgbClr val="2980B9"/>
                                </a:solidFill>
                                <a:latin typeface="Cambria Math" panose="02040503050406030204" pitchFamily="18" charset="0"/>
                                <a:ea typeface="Cambria Math" panose="02040503050406030204" pitchFamily="18" charset="0"/>
                              </a:rPr>
                              <m:t>⟶∞</m:t>
                            </m:r>
                          </m:lim>
                        </m:limLow>
                      </m:fName>
                      <m:e>
                        <m:r>
                          <a:rPr kumimoji="1" lang="en-US" altLang="zh-CN" sz="2800" i="1">
                            <a:solidFill>
                              <a:srgbClr val="2980B9"/>
                            </a:solidFill>
                            <a:latin typeface="Cambria Math" panose="02040503050406030204" pitchFamily="18" charset="0"/>
                          </a:rPr>
                          <m:t>𝑅</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𝜃</m:t>
                            </m:r>
                          </m:sup>
                        </m:sSup>
                      </m:e>
                    </m:func>
                    <m:r>
                      <a:rPr kumimoji="1" lang="en-US" altLang="zh-CN" sz="2800" b="0" i="1" smtClean="0">
                        <a:solidFill>
                          <a:srgbClr val="2980B9"/>
                        </a:solidFill>
                        <a:latin typeface="Cambria Math" panose="02040503050406030204" pitchFamily="18" charset="0"/>
                        <a:ea typeface="Cambria Math" panose="02040503050406030204" pitchFamily="18" charset="0"/>
                      </a:rPr>
                      <m:t>,</m:t>
                    </m:r>
                    <m:r>
                      <a:rPr kumimoji="1" lang="zh-CN" altLang="en-US" sz="2800" b="0" i="1" smtClean="0">
                        <a:solidFill>
                          <a:srgbClr val="2980B9"/>
                        </a:solidFill>
                        <a:latin typeface="Cambria Math" panose="02040503050406030204" pitchFamily="18" charset="0"/>
                        <a:ea typeface="Cambria Math" panose="02040503050406030204" pitchFamily="18" charset="0"/>
                      </a:rPr>
                      <m:t> </m:t>
                    </m:r>
                    <m:r>
                      <a:rPr kumimoji="1" lang="en-US" altLang="zh-CN" sz="2800" i="1">
                        <a:solidFill>
                          <a:srgbClr val="2980B9"/>
                        </a:solidFill>
                        <a:latin typeface="Cambria Math" panose="02040503050406030204" pitchFamily="18" charset="0"/>
                        <a:ea typeface="Cambria Math" panose="02040503050406030204" pitchFamily="18" charset="0"/>
                      </a:rPr>
                      <m:t>𝜃</m:t>
                    </m:r>
                    <m:r>
                      <a:rPr kumimoji="1" lang="en-US" altLang="zh-CN" sz="2800" b="0" i="1" smtClean="0">
                        <a:solidFill>
                          <a:srgbClr val="2980B9"/>
                        </a:solidFill>
                        <a:latin typeface="Cambria Math" panose="02040503050406030204" pitchFamily="18" charset="0"/>
                        <a:ea typeface="Cambria Math" panose="02040503050406030204" pitchFamily="18" charset="0"/>
                      </a:rPr>
                      <m:t>:</m:t>
                    </m:r>
                    <m:f>
                      <m:fPr>
                        <m:ctrlPr>
                          <a:rPr kumimoji="1" lang="en-US" altLang="zh-CN" sz="2800" b="0" i="1" smtClean="0">
                            <a:solidFill>
                              <a:srgbClr val="2980B9"/>
                            </a:solidFill>
                            <a:latin typeface="Cambria Math" panose="02040503050406030204" pitchFamily="18" charset="0"/>
                            <a:ea typeface="Cambria Math" panose="02040503050406030204" pitchFamily="18" charset="0"/>
                          </a:rPr>
                        </m:ctrlPr>
                      </m:fPr>
                      <m:num>
                        <m:r>
                          <a:rPr kumimoji="1" lang="en-US" altLang="zh-CN" sz="2800" b="0" i="1" smtClean="0">
                            <a:solidFill>
                              <a:srgbClr val="2980B9"/>
                            </a:solidFill>
                            <a:latin typeface="Cambria Math" panose="02040503050406030204" pitchFamily="18" charset="0"/>
                            <a:ea typeface="Cambria Math" panose="02040503050406030204" pitchFamily="18" charset="0"/>
                          </a:rPr>
                          <m:t>𝜋</m:t>
                        </m:r>
                      </m:num>
                      <m:den>
                        <m:r>
                          <a:rPr kumimoji="1" lang="en-US" altLang="zh-CN" sz="2800" b="0" i="1" smtClean="0">
                            <a:solidFill>
                              <a:srgbClr val="2980B9"/>
                            </a:solidFill>
                            <a:latin typeface="Cambria Math" panose="02040503050406030204" pitchFamily="18" charset="0"/>
                            <a:ea typeface="Cambria Math" panose="02040503050406030204" pitchFamily="18" charset="0"/>
                          </a:rPr>
                          <m:t>2</m:t>
                        </m:r>
                      </m:den>
                    </m:f>
                    <m:r>
                      <a:rPr kumimoji="1" lang="en-US" altLang="zh-CN" sz="2800" b="0" i="1" smtClean="0">
                        <a:solidFill>
                          <a:srgbClr val="2980B9"/>
                        </a:solidFill>
                        <a:latin typeface="Cambria Math" panose="02040503050406030204" pitchFamily="18" charset="0"/>
                        <a:ea typeface="Cambria Math" panose="02040503050406030204" pitchFamily="18" charset="0"/>
                      </a:rPr>
                      <m:t>⟶0</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m:t>
                    </m:r>
                    <m:f>
                      <m:fPr>
                        <m:ctrlPr>
                          <a:rPr kumimoji="1" lang="en-US" altLang="zh-CN" sz="2800" i="1">
                            <a:solidFill>
                              <a:srgbClr val="2980B9"/>
                            </a:solidFill>
                            <a:latin typeface="Cambria Math" panose="02040503050406030204" pitchFamily="18" charset="0"/>
                            <a:ea typeface="Cambria Math" panose="02040503050406030204" pitchFamily="18" charset="0"/>
                          </a:rPr>
                        </m:ctrlPr>
                      </m:fPr>
                      <m:num>
                        <m:r>
                          <a:rPr kumimoji="1" lang="en-US" altLang="zh-CN" sz="2800" i="1">
                            <a:solidFill>
                              <a:srgbClr val="2980B9"/>
                            </a:solidFill>
                            <a:latin typeface="Cambria Math" panose="02040503050406030204" pitchFamily="18" charset="0"/>
                            <a:ea typeface="Cambria Math" panose="02040503050406030204" pitchFamily="18" charset="0"/>
                          </a:rPr>
                          <m:t>𝜋</m:t>
                        </m:r>
                      </m:num>
                      <m:den>
                        <m:r>
                          <a:rPr kumimoji="1" lang="en-US" altLang="zh-CN" sz="2800" i="1">
                            <a:solidFill>
                              <a:srgbClr val="2980B9"/>
                            </a:solidFill>
                            <a:latin typeface="Cambria Math" panose="02040503050406030204" pitchFamily="18" charset="0"/>
                            <a:ea typeface="Cambria Math" panose="02040503050406030204" pitchFamily="18" charset="0"/>
                          </a:rPr>
                          <m:t>2</m:t>
                        </m:r>
                      </m:den>
                    </m:f>
                  </m:oMath>
                </a14:m>
                <a:endParaRPr kumimoji="1" lang="en-US" altLang="zh-CN" sz="2800" dirty="0">
                  <a:solidFill>
                    <a:srgbClr val="2980B9"/>
                  </a:solidFill>
                </a:endParaRPr>
              </a:p>
              <a:p>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𝑠</m:t>
                        </m:r>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𝑠</m:t>
                        </m:r>
                      </m:e>
                    </m:d>
                    <m:r>
                      <a:rPr kumimoji="1" lang="en-US" altLang="zh-CN" sz="2800" b="0" i="1" smtClean="0">
                        <a:solidFill>
                          <a:srgbClr val="2980B9"/>
                        </a:solidFill>
                        <a:latin typeface="Cambria Math" panose="02040503050406030204" pitchFamily="18" charset="0"/>
                      </a:rPr>
                      <m:t>=</m:t>
                    </m:r>
                    <m:func>
                      <m:funcPr>
                        <m:ctrlPr>
                          <a:rPr kumimoji="1" lang="en-US" altLang="zh-CN" sz="2800" i="1">
                            <a:solidFill>
                              <a:srgbClr val="2980B9"/>
                            </a:solidFill>
                            <a:latin typeface="Cambria Math" panose="02040503050406030204" pitchFamily="18" charset="0"/>
                          </a:rPr>
                        </m:ctrlPr>
                      </m:funcPr>
                      <m:fName>
                        <m:limLow>
                          <m:limLowPr>
                            <m:ctrlPr>
                              <a:rPr kumimoji="1" lang="en-US" altLang="zh-CN" sz="2800" i="1">
                                <a:solidFill>
                                  <a:srgbClr val="2980B9"/>
                                </a:solidFill>
                                <a:latin typeface="Cambria Math" panose="02040503050406030204" pitchFamily="18" charset="0"/>
                              </a:rPr>
                            </m:ctrlPr>
                          </m:limLowPr>
                          <m:e>
                            <m:r>
                              <m:rPr>
                                <m:sty m:val="p"/>
                              </m:rPr>
                              <a:rPr kumimoji="1" lang="en-US" altLang="zh-CN" sz="2800">
                                <a:solidFill>
                                  <a:srgbClr val="2980B9"/>
                                </a:solidFill>
                                <a:latin typeface="Cambria Math" panose="02040503050406030204" pitchFamily="18" charset="0"/>
                              </a:rPr>
                              <m:t>lim</m:t>
                            </m:r>
                          </m:e>
                          <m:lim>
                            <m:r>
                              <a:rPr kumimoji="1" lang="en-US" altLang="zh-CN" sz="2800" i="1">
                                <a:solidFill>
                                  <a:srgbClr val="2980B9"/>
                                </a:solidFill>
                                <a:latin typeface="Cambria Math" panose="02040503050406030204" pitchFamily="18" charset="0"/>
                              </a:rPr>
                              <m:t>𝑅</m:t>
                            </m:r>
                            <m:r>
                              <a:rPr kumimoji="1" lang="en-US" altLang="zh-CN" sz="2800" i="1">
                                <a:solidFill>
                                  <a:srgbClr val="2980B9"/>
                                </a:solidFill>
                                <a:latin typeface="Cambria Math" panose="02040503050406030204" pitchFamily="18" charset="0"/>
                                <a:ea typeface="Cambria Math" panose="02040503050406030204" pitchFamily="18" charset="0"/>
                              </a:rPr>
                              <m:t>⟶∞</m:t>
                            </m:r>
                          </m:lim>
                        </m:limLow>
                      </m:fName>
                      <m:e>
                        <m:f>
                          <m:fPr>
                            <m:ctrlPr>
                              <a:rPr kumimoji="1" lang="en-US" altLang="zh-CN" sz="2800" b="0" i="1" smtClean="0">
                                <a:solidFill>
                                  <a:srgbClr val="2980B9"/>
                                </a:solidFill>
                                <a:latin typeface="Cambria Math" panose="02040503050406030204" pitchFamily="18" charset="0"/>
                                <a:ea typeface="Cambria Math" panose="02040503050406030204" pitchFamily="18" charset="0"/>
                              </a:rPr>
                            </m:ctrlPr>
                          </m:fPr>
                          <m:num>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r>
                                  <a:rPr kumimoji="1" lang="en-US" altLang="zh-CN" sz="2800" b="0" i="1" smtClean="0">
                                    <a:solidFill>
                                      <a:srgbClr val="2980B9"/>
                                    </a:solidFill>
                                    <a:latin typeface="Cambria Math" panose="02040503050406030204" pitchFamily="18" charset="0"/>
                                    <a:ea typeface="Cambria Math" panose="02040503050406030204" pitchFamily="18" charset="0"/>
                                  </a:rPr>
                                  <m:t>𝐾</m:t>
                                </m:r>
                              </m:e>
                              <m:sup>
                                <m:r>
                                  <a:rPr kumimoji="1" lang="zh-CN" altLang="en-US" sz="2800" b="0" i="1" smtClean="0">
                                    <a:solidFill>
                                      <a:srgbClr val="2980B9"/>
                                    </a:solidFill>
                                    <a:latin typeface="Cambria Math" panose="02040503050406030204" pitchFamily="18" charset="0"/>
                                    <a:ea typeface="Cambria Math" panose="02040503050406030204" pitchFamily="18" charset="0"/>
                                  </a:rPr>
                                  <m:t>∗</m:t>
                                </m:r>
                              </m:sup>
                            </m:sSup>
                          </m:num>
                          <m:den>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d>
                                  <m:dPr>
                                    <m:ctrlPr>
                                      <a:rPr kumimoji="1" lang="en-US" altLang="zh-CN" sz="2800" b="0" i="1" smtClean="0">
                                        <a:solidFill>
                                          <a:srgbClr val="2980B9"/>
                                        </a:solidFill>
                                        <a:latin typeface="Cambria Math" panose="02040503050406030204" pitchFamily="18" charset="0"/>
                                        <a:ea typeface="Cambria Math" panose="02040503050406030204" pitchFamily="18" charset="0"/>
                                      </a:rPr>
                                    </m:ctrlPr>
                                  </m:dPr>
                                  <m:e>
                                    <m:r>
                                      <a:rPr kumimoji="1" lang="en-US" altLang="zh-CN" sz="2800" i="1">
                                        <a:solidFill>
                                          <a:srgbClr val="2980B9"/>
                                        </a:solidFill>
                                        <a:latin typeface="Cambria Math" panose="02040503050406030204" pitchFamily="18" charset="0"/>
                                      </a:rPr>
                                      <m:t>𝑅</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b="0" i="1" smtClean="0">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𝜃</m:t>
                                        </m:r>
                                      </m:sup>
                                    </m:sSup>
                                  </m:e>
                                </m:d>
                              </m:e>
                              <m:sup>
                                <m:r>
                                  <a:rPr kumimoji="1" lang="en-US" altLang="zh-CN" sz="2800" b="0" i="1" smtClean="0">
                                    <a:solidFill>
                                      <a:srgbClr val="2980B9"/>
                                    </a:solidFill>
                                    <a:latin typeface="Cambria Math" panose="02040503050406030204" pitchFamily="18" charset="0"/>
                                    <a:ea typeface="Cambria Math" panose="02040503050406030204" pitchFamily="18" charset="0"/>
                                  </a:rPr>
                                  <m:t>𝑛</m:t>
                                </m:r>
                                <m:r>
                                  <a:rPr kumimoji="1" lang="en-US" altLang="zh-CN" sz="2800" b="0" i="1" smtClean="0">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𝑚</m:t>
                                </m:r>
                              </m:sup>
                            </m:sSup>
                          </m:den>
                        </m:f>
                      </m:e>
                    </m:func>
                    <m:r>
                      <a:rPr kumimoji="1" lang="en-US" altLang="zh-CN" sz="2800" b="0" i="1" smtClean="0">
                        <a:solidFill>
                          <a:srgbClr val="2980B9"/>
                        </a:solidFill>
                        <a:latin typeface="Cambria Math" panose="02040503050406030204" pitchFamily="18" charset="0"/>
                        <a:ea typeface="Cambria Math" panose="02040503050406030204" pitchFamily="18" charset="0"/>
                      </a:rPr>
                      <m:t>=0∙</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i="1">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𝑗</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𝑛</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𝑚</m:t>
                            </m:r>
                          </m:e>
                        </m:d>
                        <m:r>
                          <a:rPr kumimoji="1" lang="en-US" altLang="zh-CN" sz="2800" i="1">
                            <a:solidFill>
                              <a:srgbClr val="2980B9"/>
                            </a:solidFill>
                            <a:latin typeface="Cambria Math" panose="02040503050406030204" pitchFamily="18" charset="0"/>
                            <a:ea typeface="Cambria Math" panose="02040503050406030204" pitchFamily="18" charset="0"/>
                          </a:rPr>
                          <m:t>𝜃</m:t>
                        </m:r>
                      </m:sup>
                    </m:sSup>
                    <m:r>
                      <a:rPr kumimoji="1" lang="en-US" altLang="zh-CN" sz="2800" b="0" i="1" smtClean="0">
                        <a:solidFill>
                          <a:srgbClr val="2980B9"/>
                        </a:solidFill>
                        <a:latin typeface="Cambria Math" panose="02040503050406030204" pitchFamily="18" charset="0"/>
                        <a:ea typeface="Cambria Math" panose="02040503050406030204" pitchFamily="18" charset="0"/>
                      </a:rPr>
                      <m:t>,</m:t>
                    </m:r>
                    <m:r>
                      <a:rPr kumimoji="1" lang="zh-CN" altLang="en-US" sz="2800" b="0" i="1" smtClean="0">
                        <a:solidFill>
                          <a:srgbClr val="2980B9"/>
                        </a:solidFill>
                        <a:latin typeface="Cambria Math" panose="02040503050406030204" pitchFamily="18" charset="0"/>
                        <a:ea typeface="Cambria Math" panose="02040503050406030204" pitchFamily="18" charset="0"/>
                      </a:rPr>
                      <m:t> </m:t>
                    </m:r>
                    <m:r>
                      <a:rPr kumimoji="1" lang="en-US" altLang="zh-CN" sz="2800" b="0" i="1" smtClean="0">
                        <a:solidFill>
                          <a:srgbClr val="2980B9"/>
                        </a:solidFill>
                        <a:latin typeface="Cambria Math" panose="02040503050406030204" pitchFamily="18" charset="0"/>
                        <a:ea typeface="Cambria Math" panose="02040503050406030204" pitchFamily="18" charset="0"/>
                      </a:rPr>
                      <m:t>𝑛</m:t>
                    </m:r>
                    <m:r>
                      <a:rPr kumimoji="1" lang="en-US" altLang="zh-CN" sz="2800" b="0" i="1" smtClean="0">
                        <a:solidFill>
                          <a:srgbClr val="2980B9"/>
                        </a:solidFill>
                        <a:latin typeface="Cambria Math" panose="02040503050406030204" pitchFamily="18" charset="0"/>
                        <a:ea typeface="Cambria Math" panose="02040503050406030204" pitchFamily="18" charset="0"/>
                      </a:rPr>
                      <m:t>&gt;</m:t>
                    </m:r>
                    <m:r>
                      <a:rPr kumimoji="1" lang="en-US" altLang="zh-CN" sz="2800" b="0" i="1" smtClean="0">
                        <a:solidFill>
                          <a:srgbClr val="2980B9"/>
                        </a:solidFill>
                        <a:latin typeface="Cambria Math" panose="02040503050406030204" pitchFamily="18" charset="0"/>
                        <a:ea typeface="Cambria Math" panose="02040503050406030204" pitchFamily="18" charset="0"/>
                      </a:rPr>
                      <m:t>𝑚</m:t>
                    </m:r>
                  </m:oMath>
                </a14:m>
                <a:r>
                  <a:rPr kumimoji="1" lang="zh-CN" altLang="en-US" sz="2800" dirty="0">
                    <a:solidFill>
                      <a:srgbClr val="2980B9"/>
                    </a:solidFill>
                  </a:rPr>
                  <a:t> 对应原点，一般为开环幅相曲线终点</a:t>
                </a:r>
              </a:p>
            </p:txBody>
          </p:sp>
        </mc:Choice>
        <mc:Fallback xmlns="">
          <p:sp>
            <p:nvSpPr>
              <p:cNvPr id="69" name="说明3">
                <a:extLst>
                  <a:ext uri="{FF2B5EF4-FFF2-40B4-BE49-F238E27FC236}">
                    <a16:creationId xmlns:a16="http://schemas.microsoft.com/office/drawing/2014/main" id="{4254AEB0-E397-AD30-2FC3-204D21D9FFBD}"/>
                  </a:ext>
                </a:extLst>
              </p:cNvPr>
              <p:cNvSpPr txBox="1">
                <a:spLocks noRot="1" noChangeAspect="1" noMove="1" noResize="1" noEditPoints="1" noAdjustHandles="1" noChangeArrowheads="1" noChangeShapeType="1" noTextEdit="1"/>
              </p:cNvSpPr>
              <p:nvPr/>
            </p:nvSpPr>
            <p:spPr>
              <a:xfrm>
                <a:off x="389921" y="4318407"/>
                <a:ext cx="7792649" cy="2095893"/>
              </a:xfrm>
              <a:prstGeom prst="flowChartAlternateProcess">
                <a:avLst/>
              </a:prstGeom>
              <a:blipFill>
                <a:blip r:embed="rId5"/>
                <a:stretch>
                  <a:fillRect l="-162" b="-1183"/>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说明3">
                <a:extLst>
                  <a:ext uri="{FF2B5EF4-FFF2-40B4-BE49-F238E27FC236}">
                    <a16:creationId xmlns:a16="http://schemas.microsoft.com/office/drawing/2014/main" id="{F519BD38-9DAB-0E93-5984-1169364645F0}"/>
                  </a:ext>
                </a:extLst>
              </p:cNvPr>
              <p:cNvSpPr txBox="1"/>
              <p:nvPr/>
            </p:nvSpPr>
            <p:spPr>
              <a:xfrm>
                <a:off x="389922" y="3093472"/>
                <a:ext cx="7792648"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(1)</a:t>
                </a:r>
                <a:r>
                  <a:rPr kumimoji="1" lang="zh-CN" altLang="en-US" sz="2800" dirty="0">
                    <a:solidFill>
                      <a:srgbClr val="2980B9"/>
                    </a:solidFill>
                  </a:rPr>
                  <a:t> </a:t>
                </a:r>
                <a14:m>
                  <m:oMath xmlns:m="http://schemas.openxmlformats.org/officeDocument/2006/math">
                    <m:r>
                      <a:rPr kumimoji="1" lang="en-US" altLang="zh-CN" sz="2800" b="0" i="1" smtClean="0">
                        <a:solidFill>
                          <a:srgbClr val="2980B9"/>
                        </a:solidFill>
                        <a:latin typeface="Cambria Math" panose="02040503050406030204" pitchFamily="18" charset="0"/>
                      </a:rPr>
                      <m:t>𝑠</m:t>
                    </m:r>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b="0" i="1" smtClean="0">
                        <a:solidFill>
                          <a:srgbClr val="2980B9"/>
                        </a:solidFill>
                        <a:latin typeface="Cambria Math" panose="02040503050406030204" pitchFamily="18" charset="0"/>
                        <a:ea typeface="Cambria Math" panose="02040503050406030204" pitchFamily="18" charset="0"/>
                      </a:rPr>
                      <m:t>=</m:t>
                    </m:r>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r>
                          <a:rPr kumimoji="1" lang="en-US" altLang="zh-CN" sz="2800" b="0" i="1" smtClean="0">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r>
                      <a:rPr kumimoji="1" lang="en-US" altLang="zh-CN" sz="2800" b="0" i="1" smtClean="0">
                        <a:solidFill>
                          <a:srgbClr val="2980B9"/>
                        </a:solidFill>
                        <a:latin typeface="Cambria Math" panose="02040503050406030204" pitchFamily="18" charset="0"/>
                        <a:ea typeface="Cambria Math" panose="02040503050406030204" pitchFamily="18" charset="0"/>
                      </a:rPr>
                      <m:t>⟶+∞</m:t>
                    </m:r>
                  </m:oMath>
                </a14:m>
                <a:endParaRPr kumimoji="1" lang="en-US" altLang="zh-CN" sz="2800" dirty="0">
                  <a:solidFill>
                    <a:srgbClr val="2980B9"/>
                  </a:solidFill>
                </a:endParaRPr>
              </a:p>
              <a:p>
                <a14:m>
                  <m:oMath xmlns:m="http://schemas.openxmlformats.org/officeDocument/2006/math">
                    <m:r>
                      <a:rPr kumimoji="1" lang="en-US" altLang="zh-CN" sz="2800" b="0" i="1" smtClean="0">
                        <a:solidFill>
                          <a:srgbClr val="2980B9"/>
                        </a:solidFill>
                        <a:latin typeface="Cambria Math" panose="02040503050406030204" pitchFamily="18" charset="0"/>
                      </a:rPr>
                      <m:t>𝐺</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𝑠</m:t>
                        </m:r>
                      </m:e>
                    </m:d>
                    <m:r>
                      <a:rPr kumimoji="1" lang="en-US" altLang="zh-CN" sz="2800" b="0" i="1" smtClean="0">
                        <a:solidFill>
                          <a:srgbClr val="2980B9"/>
                        </a:solidFill>
                        <a:latin typeface="Cambria Math" panose="02040503050406030204" pitchFamily="18" charset="0"/>
                      </a:rPr>
                      <m:t>𝐻</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𝑠</m:t>
                        </m:r>
                      </m:e>
                    </m:d>
                    <m:r>
                      <a:rPr kumimoji="1" lang="en-US" altLang="zh-CN" sz="2800" b="0" i="1" smtClean="0">
                        <a:solidFill>
                          <a:srgbClr val="2980B9"/>
                        </a:solidFill>
                        <a:latin typeface="Cambria Math" panose="02040503050406030204" pitchFamily="18" charset="0"/>
                      </a:rPr>
                      <m:t>=</m:t>
                    </m:r>
                    <m:r>
                      <a:rPr kumimoji="1" lang="en-US" altLang="zh-CN" sz="2800" b="0" i="1" smtClean="0">
                        <a:solidFill>
                          <a:srgbClr val="2980B9"/>
                        </a:solidFill>
                        <a:latin typeface="Cambria Math" panose="02040503050406030204" pitchFamily="18" charset="0"/>
                      </a:rPr>
                      <m:t>𝐺</m:t>
                    </m:r>
                    <m:d>
                      <m:dPr>
                        <m:ctrlPr>
                          <a:rPr kumimoji="1" lang="en-US" altLang="zh-CN" sz="2800" b="0" i="1" smtClean="0">
                            <a:solidFill>
                              <a:srgbClr val="2980B9"/>
                            </a:solidFill>
                            <a:latin typeface="Cambria Math" panose="02040503050406030204" pitchFamily="18" charset="0"/>
                          </a:rPr>
                        </m:ctrlPr>
                      </m:dPr>
                      <m:e>
                        <m:r>
                          <a:rPr kumimoji="1" lang="en-US" altLang="zh-CN" sz="2800" b="0" i="1" smtClean="0">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r>
                      <a:rPr kumimoji="1" lang="en-US" altLang="zh-CN" sz="2800" b="0" i="1" smtClean="0">
                        <a:solidFill>
                          <a:srgbClr val="2980B9"/>
                        </a:solidFill>
                        <a:latin typeface="Cambria Math" panose="02040503050406030204" pitchFamily="18" charset="0"/>
                      </a:rPr>
                      <m:t>𝐻</m:t>
                    </m:r>
                    <m:d>
                      <m:dPr>
                        <m:ctrlPr>
                          <a:rPr kumimoji="1" lang="en-US" altLang="zh-CN" sz="2800" b="0" i="1" smtClean="0">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oMath>
                </a14:m>
                <a:r>
                  <a:rPr kumimoji="1" lang="zh-CN" altLang="en-US" sz="2800" dirty="0">
                    <a:solidFill>
                      <a:srgbClr val="2980B9"/>
                    </a:solidFill>
                  </a:rPr>
                  <a:t>，即开环幅相曲线</a:t>
                </a:r>
              </a:p>
            </p:txBody>
          </p:sp>
        </mc:Choice>
        <mc:Fallback xmlns="">
          <p:sp>
            <p:nvSpPr>
              <p:cNvPr id="2" name="说明3">
                <a:extLst>
                  <a:ext uri="{FF2B5EF4-FFF2-40B4-BE49-F238E27FC236}">
                    <a16:creationId xmlns:a16="http://schemas.microsoft.com/office/drawing/2014/main" id="{F519BD38-9DAB-0E93-5984-1169364645F0}"/>
                  </a:ext>
                </a:extLst>
              </p:cNvPr>
              <p:cNvSpPr txBox="1">
                <a:spLocks noRot="1" noChangeAspect="1" noMove="1" noResize="1" noEditPoints="1" noAdjustHandles="1" noChangeArrowheads="1" noChangeShapeType="1" noTextEdit="1"/>
              </p:cNvSpPr>
              <p:nvPr/>
            </p:nvSpPr>
            <p:spPr>
              <a:xfrm>
                <a:off x="389922" y="3093472"/>
                <a:ext cx="7792648" cy="1055608"/>
              </a:xfrm>
              <a:prstGeom prst="flowChartAlternateProcess">
                <a:avLst/>
              </a:prstGeom>
              <a:blipFill>
                <a:blip r:embed="rId6"/>
                <a:stretch>
                  <a:fillRect l="-810" b="-9302"/>
                </a:stretch>
              </a:blipFill>
              <a:ln>
                <a:prstDash val="sysDot"/>
              </a:ln>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4433C27C-5812-2F0E-404A-7A312BE4104E}"/>
              </a:ext>
            </a:extLst>
          </p:cNvPr>
          <p:cNvGrpSpPr/>
          <p:nvPr/>
        </p:nvGrpSpPr>
        <p:grpSpPr>
          <a:xfrm>
            <a:off x="7512353" y="1412776"/>
            <a:ext cx="4343493" cy="4737647"/>
            <a:chOff x="7080305" y="1412776"/>
            <a:chExt cx="4343493" cy="4737647"/>
          </a:xfrm>
        </p:grpSpPr>
        <p:grpSp>
          <p:nvGrpSpPr>
            <p:cNvPr id="4" name="坐标轴">
              <a:extLst>
                <a:ext uri="{FF2B5EF4-FFF2-40B4-BE49-F238E27FC236}">
                  <a16:creationId xmlns:a16="http://schemas.microsoft.com/office/drawing/2014/main" id="{3A60B3FF-D821-D3D5-7D8E-FAAEE53EFA8A}"/>
                </a:ext>
              </a:extLst>
            </p:cNvPr>
            <p:cNvGrpSpPr/>
            <p:nvPr/>
          </p:nvGrpSpPr>
          <p:grpSpPr>
            <a:xfrm>
              <a:off x="8006174" y="1412776"/>
              <a:ext cx="3417624" cy="4737647"/>
              <a:chOff x="8400074" y="2358086"/>
              <a:chExt cx="3417624" cy="4737647"/>
            </a:xfrm>
          </p:grpSpPr>
          <p:cxnSp>
            <p:nvCxnSpPr>
              <p:cNvPr id="23" name="实轴">
                <a:extLst>
                  <a:ext uri="{FF2B5EF4-FFF2-40B4-BE49-F238E27FC236}">
                    <a16:creationId xmlns:a16="http://schemas.microsoft.com/office/drawing/2014/main" id="{661737C5-E16B-B75C-B654-7E84CFC5333B}"/>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虚轴">
                <a:extLst>
                  <a:ext uri="{FF2B5EF4-FFF2-40B4-BE49-F238E27FC236}">
                    <a16:creationId xmlns:a16="http://schemas.microsoft.com/office/drawing/2014/main" id="{E33123F3-3EF2-D74D-7DF7-7382D0E707E8}"/>
                  </a:ext>
                </a:extLst>
              </p:cNvPr>
              <p:cNvCxnSpPr>
                <a:cxnSpLocks/>
              </p:cNvCxnSpPr>
              <p:nvPr/>
            </p:nvCxnSpPr>
            <p:spPr>
              <a:xfrm flipV="1">
                <a:off x="9196819" y="2358086"/>
                <a:ext cx="0" cy="4737647"/>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
                    <a:extLst>
                      <a:ext uri="{FF2B5EF4-FFF2-40B4-BE49-F238E27FC236}">
                        <a16:creationId xmlns:a16="http://schemas.microsoft.com/office/drawing/2014/main" id="{C8D0223E-9530-5365-8405-A23924AF5465}"/>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5" name="Re">
                    <a:extLst>
                      <a:ext uri="{FF2B5EF4-FFF2-40B4-BE49-F238E27FC236}">
                        <a16:creationId xmlns:a16="http://schemas.microsoft.com/office/drawing/2014/main" id="{C8D0223E-9530-5365-8405-A23924AF5465}"/>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7"/>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Im">
                    <a:extLst>
                      <a:ext uri="{FF2B5EF4-FFF2-40B4-BE49-F238E27FC236}">
                        <a16:creationId xmlns:a16="http://schemas.microsoft.com/office/drawing/2014/main" id="{3ED68555-5792-CF8C-4C3A-C486293A68EB}"/>
                      </a:ext>
                    </a:extLst>
                  </p:cNvPr>
                  <p:cNvSpPr txBox="1"/>
                  <p:nvPr/>
                </p:nvSpPr>
                <p:spPr>
                  <a:xfrm>
                    <a:off x="8400074" y="2904090"/>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400074" y="2904090"/>
                    <a:ext cx="576536" cy="523220"/>
                  </a:xfrm>
                  <a:prstGeom prst="rect">
                    <a:avLst/>
                  </a:prstGeom>
                  <a:blipFill>
                    <a:blip r:embed="rId8"/>
                    <a:stretch>
                      <a:fillRect l="-4255" r="-85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原点">
                    <a:extLst>
                      <a:ext uri="{FF2B5EF4-FFF2-40B4-BE49-F238E27FC236}">
                        <a16:creationId xmlns:a16="http://schemas.microsoft.com/office/drawing/2014/main" id="{7F2C514F-8028-4208-2AFE-5BE139B444CE}"/>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7" name="原点">
                    <a:extLst>
                      <a:ext uri="{FF2B5EF4-FFF2-40B4-BE49-F238E27FC236}">
                        <a16:creationId xmlns:a16="http://schemas.microsoft.com/office/drawing/2014/main" id="{7F2C514F-8028-4208-2AFE-5BE139B444CE}"/>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9"/>
                    <a:stretch>
                      <a:fillRect/>
                    </a:stretch>
                  </a:blipFill>
                </p:spPr>
                <p:txBody>
                  <a:bodyPr/>
                  <a:lstStyle/>
                  <a:p>
                    <a:r>
                      <a:rPr lang="zh-CN" altLang="en-US">
                        <a:noFill/>
                      </a:rPr>
                      <a:t> </a:t>
                    </a:r>
                  </a:p>
                </p:txBody>
              </p:sp>
            </mc:Fallback>
          </mc:AlternateContent>
        </p:grpSp>
        <p:sp>
          <p:nvSpPr>
            <p:cNvPr id="6" name="弧 5">
              <a:extLst>
                <a:ext uri="{FF2B5EF4-FFF2-40B4-BE49-F238E27FC236}">
                  <a16:creationId xmlns:a16="http://schemas.microsoft.com/office/drawing/2014/main" id="{A6601BBD-4189-EAC7-8870-4D1A13BA4A0C}"/>
                </a:ext>
              </a:extLst>
            </p:cNvPr>
            <p:cNvSpPr/>
            <p:nvPr/>
          </p:nvSpPr>
          <p:spPr>
            <a:xfrm>
              <a:off x="7098104" y="2106078"/>
              <a:ext cx="3392792" cy="3392792"/>
            </a:xfrm>
            <a:prstGeom prst="arc">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8" name="弧 7">
              <a:extLst>
                <a:ext uri="{FF2B5EF4-FFF2-40B4-BE49-F238E27FC236}">
                  <a16:creationId xmlns:a16="http://schemas.microsoft.com/office/drawing/2014/main" id="{4B5F27A7-22D5-D44C-4233-68BF92937E92}"/>
                </a:ext>
              </a:extLst>
            </p:cNvPr>
            <p:cNvSpPr/>
            <p:nvPr/>
          </p:nvSpPr>
          <p:spPr>
            <a:xfrm rot="5400000">
              <a:off x="7080305" y="2107323"/>
              <a:ext cx="3392792" cy="3392792"/>
            </a:xfrm>
            <a:prstGeom prst="arc">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弧 8">
              <a:extLst>
                <a:ext uri="{FF2B5EF4-FFF2-40B4-BE49-F238E27FC236}">
                  <a16:creationId xmlns:a16="http://schemas.microsoft.com/office/drawing/2014/main" id="{E534F680-5B4F-22E8-76B5-A659FF2F6A26}"/>
                </a:ext>
              </a:extLst>
            </p:cNvPr>
            <p:cNvSpPr/>
            <p:nvPr/>
          </p:nvSpPr>
          <p:spPr>
            <a:xfrm rot="5400000">
              <a:off x="8002152" y="3027925"/>
              <a:ext cx="1549098" cy="1549098"/>
            </a:xfrm>
            <a:prstGeom prst="arc">
              <a:avLst>
                <a:gd name="adj1" fmla="val 10855401"/>
                <a:gd name="adj2" fmla="val 0"/>
              </a:avLst>
            </a:prstGeom>
            <a:ln w="38100">
              <a:solidFill>
                <a:srgbClr val="E44860"/>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1" name="虚轴">
              <a:extLst>
                <a:ext uri="{FF2B5EF4-FFF2-40B4-BE49-F238E27FC236}">
                  <a16:creationId xmlns:a16="http://schemas.microsoft.com/office/drawing/2014/main" id="{36D6ACE1-EBF5-ABBB-CB15-B1C9BE9610AF}"/>
                </a:ext>
              </a:extLst>
            </p:cNvPr>
            <p:cNvCxnSpPr>
              <a:cxnSpLocks/>
            </p:cNvCxnSpPr>
            <p:nvPr/>
          </p:nvCxnSpPr>
          <p:spPr>
            <a:xfrm flipV="1">
              <a:off x="8802919" y="2041011"/>
              <a:ext cx="0" cy="1721357"/>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 name="虚轴">
              <a:extLst>
                <a:ext uri="{FF2B5EF4-FFF2-40B4-BE49-F238E27FC236}">
                  <a16:creationId xmlns:a16="http://schemas.microsoft.com/office/drawing/2014/main" id="{42E0219A-0283-02E5-9FA9-1EBB72BA3282}"/>
                </a:ext>
              </a:extLst>
            </p:cNvPr>
            <p:cNvCxnSpPr>
              <a:cxnSpLocks/>
            </p:cNvCxnSpPr>
            <p:nvPr/>
          </p:nvCxnSpPr>
          <p:spPr>
            <a:xfrm flipV="1">
              <a:off x="8802919" y="3761210"/>
              <a:ext cx="0" cy="1737660"/>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原点">
                  <a:extLst>
                    <a:ext uri="{FF2B5EF4-FFF2-40B4-BE49-F238E27FC236}">
                      <a16:creationId xmlns:a16="http://schemas.microsoft.com/office/drawing/2014/main" id="{13AB2C9B-F768-3ABE-D2EF-197EF8073535}"/>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3" name="原点">
                  <a:extLst>
                    <a:ext uri="{FF2B5EF4-FFF2-40B4-BE49-F238E27FC236}">
                      <a16:creationId xmlns:a16="http://schemas.microsoft.com/office/drawing/2014/main" id="{13AB2C9B-F768-3ABE-D2EF-197EF8073535}"/>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10"/>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原点">
                  <a:extLst>
                    <a:ext uri="{FF2B5EF4-FFF2-40B4-BE49-F238E27FC236}">
                      <a16:creationId xmlns:a16="http://schemas.microsoft.com/office/drawing/2014/main" id="{78125B5C-458D-9ED6-5D4C-64CBC683F34F}"/>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2</m:t>
                            </m:r>
                          </m:e>
                        </m:d>
                      </m:oMath>
                    </m:oMathPara>
                  </a14:m>
                  <a:endParaRPr lang="zh-CN" altLang="en-US" sz="2800" dirty="0">
                    <a:solidFill>
                      <a:srgbClr val="E44860"/>
                    </a:solidFill>
                  </a:endParaRPr>
                </a:p>
              </p:txBody>
            </p:sp>
          </mc:Choice>
          <mc:Fallback xmlns="">
            <p:sp>
              <p:nvSpPr>
                <p:cNvPr id="14" name="原点">
                  <a:extLst>
                    <a:ext uri="{FF2B5EF4-FFF2-40B4-BE49-F238E27FC236}">
                      <a16:creationId xmlns:a16="http://schemas.microsoft.com/office/drawing/2014/main" id="{78125B5C-458D-9ED6-5D4C-64CBC683F34F}"/>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1"/>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原点">
                  <a:extLst>
                    <a:ext uri="{FF2B5EF4-FFF2-40B4-BE49-F238E27FC236}">
                      <a16:creationId xmlns:a16="http://schemas.microsoft.com/office/drawing/2014/main" id="{13A48520-4CCE-CC12-73BB-3BBE5C8D6392}"/>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3</m:t>
                            </m:r>
                          </m:e>
                        </m:d>
                      </m:oMath>
                    </m:oMathPara>
                  </a14:m>
                  <a:endParaRPr lang="zh-CN" altLang="en-US" sz="2800" dirty="0">
                    <a:solidFill>
                      <a:srgbClr val="E44860"/>
                    </a:solidFill>
                  </a:endParaRPr>
                </a:p>
              </p:txBody>
            </p:sp>
          </mc:Choice>
          <mc:Fallback xmlns="">
            <p:sp>
              <p:nvSpPr>
                <p:cNvPr id="15" name="原点">
                  <a:extLst>
                    <a:ext uri="{FF2B5EF4-FFF2-40B4-BE49-F238E27FC236}">
                      <a16:creationId xmlns:a16="http://schemas.microsoft.com/office/drawing/2014/main" id="{13A48520-4CCE-CC12-73BB-3BBE5C8D6392}"/>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2"/>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56522106-91FC-E208-3843-2E0FA61A3958}"/>
                    </a:ext>
                  </a:extLst>
                </p:cNvPr>
                <p:cNvSpPr txBox="1"/>
                <p:nvPr/>
              </p:nvSpPr>
              <p:spPr>
                <a:xfrm>
                  <a:off x="9574161"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4</m:t>
                            </m:r>
                          </m:e>
                        </m:d>
                      </m:oMath>
                    </m:oMathPara>
                  </a14:m>
                  <a:endParaRPr lang="zh-CN" altLang="en-US" sz="2800" dirty="0">
                    <a:solidFill>
                      <a:srgbClr val="E44860"/>
                    </a:solidFill>
                  </a:endParaRPr>
                </a:p>
              </p:txBody>
            </p:sp>
          </mc:Choice>
          <mc:Fallback xmlns="">
            <p:sp>
              <p:nvSpPr>
                <p:cNvPr id="16" name="原点">
                  <a:extLst>
                    <a:ext uri="{FF2B5EF4-FFF2-40B4-BE49-F238E27FC236}">
                      <a16:creationId xmlns:a16="http://schemas.microsoft.com/office/drawing/2014/main" id="{56522106-91FC-E208-3843-2E0FA61A3958}"/>
                    </a:ext>
                  </a:extLst>
                </p:cNvPr>
                <p:cNvSpPr txBox="1">
                  <a:spLocks noRot="1" noChangeAspect="1" noMove="1" noResize="1" noEditPoints="1" noAdjustHandles="1" noChangeArrowheads="1" noChangeShapeType="1" noTextEdit="1"/>
                </p:cNvSpPr>
                <p:nvPr/>
              </p:nvSpPr>
              <p:spPr>
                <a:xfrm>
                  <a:off x="9574161" y="3166652"/>
                  <a:ext cx="545352" cy="524695"/>
                </a:xfrm>
                <a:prstGeom prst="rect">
                  <a:avLst/>
                </a:prstGeom>
                <a:blipFill>
                  <a:blip r:embed="rId13"/>
                  <a:stretch>
                    <a:fillRect r="-2273"/>
                  </a:stretch>
                </a:blipFill>
              </p:spPr>
              <p:txBody>
                <a:bodyPr/>
                <a:lstStyle/>
                <a:p>
                  <a:r>
                    <a:rPr lang="zh-CN" altLang="en-US">
                      <a:noFill/>
                    </a:rPr>
                    <a:t> </a:t>
                  </a:r>
                </a:p>
              </p:txBody>
            </p:sp>
          </mc:Fallback>
        </mc:AlternateContent>
        <p:cxnSp>
          <p:nvCxnSpPr>
            <p:cNvPr id="17" name="虚轴">
              <a:extLst>
                <a:ext uri="{FF2B5EF4-FFF2-40B4-BE49-F238E27FC236}">
                  <a16:creationId xmlns:a16="http://schemas.microsoft.com/office/drawing/2014/main" id="{286969B6-1675-2A65-3153-A4E05C4BA40A}"/>
                </a:ext>
              </a:extLst>
            </p:cNvPr>
            <p:cNvCxnSpPr>
              <a:cxnSpLocks/>
            </p:cNvCxnSpPr>
            <p:nvPr/>
          </p:nvCxnSpPr>
          <p:spPr>
            <a:xfrm flipV="1">
              <a:off x="8820719" y="2482000"/>
              <a:ext cx="1026118" cy="1299599"/>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原点">
                  <a:extLst>
                    <a:ext uri="{FF2B5EF4-FFF2-40B4-BE49-F238E27FC236}">
                      <a16:creationId xmlns:a16="http://schemas.microsoft.com/office/drawing/2014/main" id="{A12BCAEF-5DFA-6B68-DDF4-3B188DE3CBBB}"/>
                    </a:ext>
                  </a:extLst>
                </p:cNvPr>
                <p:cNvSpPr txBox="1"/>
                <p:nvPr/>
              </p:nvSpPr>
              <p:spPr>
                <a:xfrm>
                  <a:off x="9176371" y="226855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oMath>
                    </m:oMathPara>
                  </a14:m>
                  <a:endParaRPr lang="zh-CN" altLang="en-US" sz="2800" dirty="0">
                    <a:solidFill>
                      <a:schemeClr val="tx1"/>
                    </a:solidFill>
                  </a:endParaRPr>
                </a:p>
              </p:txBody>
            </p:sp>
          </mc:Choice>
          <mc:Fallback xmlns="">
            <p:sp>
              <p:nvSpPr>
                <p:cNvPr id="20" name="原点">
                  <a:extLst>
                    <a:ext uri="{FF2B5EF4-FFF2-40B4-BE49-F238E27FC236}">
                      <a16:creationId xmlns:a16="http://schemas.microsoft.com/office/drawing/2014/main" id="{A12BCAEF-5DFA-6B68-DDF4-3B188DE3CBBB}"/>
                    </a:ext>
                  </a:extLst>
                </p:cNvPr>
                <p:cNvSpPr txBox="1">
                  <a:spLocks noRot="1" noChangeAspect="1" noMove="1" noResize="1" noEditPoints="1" noAdjustHandles="1" noChangeArrowheads="1" noChangeShapeType="1" noTextEdit="1"/>
                </p:cNvSpPr>
                <p:nvPr/>
              </p:nvSpPr>
              <p:spPr>
                <a:xfrm>
                  <a:off x="9176371" y="2268553"/>
                  <a:ext cx="545352" cy="52469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原点">
                  <a:extLst>
                    <a:ext uri="{FF2B5EF4-FFF2-40B4-BE49-F238E27FC236}">
                      <a16:creationId xmlns:a16="http://schemas.microsoft.com/office/drawing/2014/main" id="{0ADAD711-ADCA-084F-1034-760B0FD00298}"/>
                    </a:ext>
                  </a:extLst>
                </p:cNvPr>
                <p:cNvSpPr txBox="1"/>
                <p:nvPr/>
              </p:nvSpPr>
              <p:spPr>
                <a:xfrm>
                  <a:off x="10260065" y="2483536"/>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altLang="zh-CN" sz="2800" i="1" smtClean="0">
                            <a:solidFill>
                              <a:srgbClr val="E44860"/>
                            </a:solidFill>
                            <a:latin typeface="Cambria Math" panose="02040503050406030204" pitchFamily="18" charset="0"/>
                            <a:ea typeface="Cambria Math" panose="02040503050406030204" pitchFamily="18" charset="0"/>
                          </a:rPr>
                          <m:t>Γ</m:t>
                        </m:r>
                      </m:oMath>
                    </m:oMathPara>
                  </a14:m>
                  <a:endParaRPr lang="zh-CN" altLang="en-US" sz="2800" dirty="0">
                    <a:solidFill>
                      <a:srgbClr val="E44860"/>
                    </a:solidFill>
                  </a:endParaRPr>
                </a:p>
              </p:txBody>
            </p:sp>
          </mc:Choice>
          <mc:Fallback xmlns="">
            <p:sp>
              <p:nvSpPr>
                <p:cNvPr id="22" name="原点">
                  <a:extLst>
                    <a:ext uri="{FF2B5EF4-FFF2-40B4-BE49-F238E27FC236}">
                      <a16:creationId xmlns:a16="http://schemas.microsoft.com/office/drawing/2014/main" id="{0ADAD711-ADCA-084F-1034-760B0FD00298}"/>
                    </a:ext>
                  </a:extLst>
                </p:cNvPr>
                <p:cNvSpPr txBox="1">
                  <a:spLocks noRot="1" noChangeAspect="1" noMove="1" noResize="1" noEditPoints="1" noAdjustHandles="1" noChangeArrowheads="1" noChangeShapeType="1" noTextEdit="1"/>
                </p:cNvSpPr>
                <p:nvPr/>
              </p:nvSpPr>
              <p:spPr>
                <a:xfrm>
                  <a:off x="10260065" y="2483536"/>
                  <a:ext cx="545352" cy="524695"/>
                </a:xfrm>
                <a:prstGeom prst="rect">
                  <a:avLst/>
                </a:prstGeom>
                <a:blipFill>
                  <a:blip r:embed="rId15"/>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481352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wipe(down)">
                                      <p:cBhvr>
                                        <p:cTn id="11" dur="500"/>
                                        <p:tgtEl>
                                          <p:spTgt spid="69"/>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绘制奈奎斯特曲线</a:t>
            </a:r>
          </a:p>
        </p:txBody>
      </p:sp>
      <mc:AlternateContent xmlns:mc="http://schemas.openxmlformats.org/markup-compatibility/2006" xmlns:a14="http://schemas.microsoft.com/office/drawing/2010/main">
        <mc:Choice Requires="a14">
          <p:sp>
            <p:nvSpPr>
              <p:cNvPr id="70" name="说明3">
                <a:extLst>
                  <a:ext uri="{FF2B5EF4-FFF2-40B4-BE49-F238E27FC236}">
                    <a16:creationId xmlns:a16="http://schemas.microsoft.com/office/drawing/2014/main" id="{3D2ECEDC-F79E-A470-3B7E-605CBDE7D040}"/>
                  </a:ext>
                </a:extLst>
              </p:cNvPr>
              <p:cNvSpPr txBox="1"/>
              <p:nvPr/>
            </p:nvSpPr>
            <p:spPr>
              <a:xfrm>
                <a:off x="389921" y="1196752"/>
                <a:ext cx="7104627"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(3)</a:t>
                </a:r>
                <a:r>
                  <a:rPr kumimoji="1" lang="zh-CN" altLang="en-US" sz="2800" dirty="0">
                    <a:solidFill>
                      <a:srgbClr val="2980B9"/>
                    </a:solidFill>
                  </a:rPr>
                  <a:t> </a:t>
                </a:r>
                <a14:m>
                  <m:oMath xmlns:m="http://schemas.openxmlformats.org/officeDocument/2006/math">
                    <m:r>
                      <a:rPr kumimoji="1" lang="en-US" altLang="zh-CN" sz="2800" i="1">
                        <a:solidFill>
                          <a:srgbClr val="2980B9"/>
                        </a:solidFill>
                        <a:latin typeface="Cambria Math" panose="02040503050406030204" pitchFamily="18" charset="0"/>
                      </a:rPr>
                      <m:t>𝑠</m:t>
                    </m:r>
                    <m:r>
                      <a:rPr kumimoji="1" lang="en-US" altLang="zh-CN" sz="2800" i="1">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i="1">
                        <a:solidFill>
                          <a:srgbClr val="2980B9"/>
                        </a:solidFill>
                        <a:latin typeface="Cambria Math" panose="02040503050406030204" pitchFamily="18" charset="0"/>
                        <a:ea typeface="Cambria Math" panose="02040503050406030204" pitchFamily="18" charset="0"/>
                      </a:rPr>
                      <m:t>=−∞⟶</m:t>
                    </m:r>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r>
                          <a:rPr kumimoji="1" lang="en-US" altLang="zh-CN" sz="2800" b="0" i="1" smtClean="0">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oMath>
                </a14:m>
                <a:endParaRPr kumimoji="1" lang="en-US" altLang="zh-CN" sz="2800" dirty="0">
                  <a:solidFill>
                    <a:srgbClr val="2980B9"/>
                  </a:solidFill>
                </a:endParaRPr>
              </a:p>
              <a:p>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𝑠</m:t>
                        </m:r>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𝑠</m:t>
                        </m:r>
                      </m:e>
                    </m:d>
                    <m:r>
                      <a:rPr kumimoji="1" lang="en-US" altLang="zh-CN" sz="2800" i="1">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oMath>
                </a14:m>
                <a:r>
                  <a:rPr kumimoji="1" lang="zh-CN" altLang="en-US" sz="2800" dirty="0">
                    <a:solidFill>
                      <a:srgbClr val="2980B9"/>
                    </a:solidFill>
                  </a:rPr>
                  <a:t>，与开环幅相曲线关于实轴对称</a:t>
                </a:r>
              </a:p>
            </p:txBody>
          </p:sp>
        </mc:Choice>
        <mc:Fallback xmlns="">
          <p:sp>
            <p:nvSpPr>
              <p:cNvPr id="70" name="说明3">
                <a:extLst>
                  <a:ext uri="{FF2B5EF4-FFF2-40B4-BE49-F238E27FC236}">
                    <a16:creationId xmlns:a16="http://schemas.microsoft.com/office/drawing/2014/main" id="{3D2ECEDC-F79E-A470-3B7E-605CBDE7D040}"/>
                  </a:ext>
                </a:extLst>
              </p:cNvPr>
              <p:cNvSpPr txBox="1">
                <a:spLocks noRot="1" noChangeAspect="1" noMove="1" noResize="1" noEditPoints="1" noAdjustHandles="1" noChangeArrowheads="1" noChangeShapeType="1" noTextEdit="1"/>
              </p:cNvSpPr>
              <p:nvPr/>
            </p:nvSpPr>
            <p:spPr>
              <a:xfrm>
                <a:off x="389921" y="1196752"/>
                <a:ext cx="7104627" cy="1532334"/>
              </a:xfrm>
              <a:prstGeom prst="flowChartAlternateProcess">
                <a:avLst/>
              </a:prstGeom>
              <a:blipFill>
                <a:blip r:embed="rId3"/>
                <a:stretch>
                  <a:fillRect l="-534" b="-4032"/>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说明3">
                <a:extLst>
                  <a:ext uri="{FF2B5EF4-FFF2-40B4-BE49-F238E27FC236}">
                    <a16:creationId xmlns:a16="http://schemas.microsoft.com/office/drawing/2014/main" id="{AB1E794B-9021-EA56-F4BB-BB9B4911B549}"/>
                  </a:ext>
                </a:extLst>
              </p:cNvPr>
              <p:cNvSpPr txBox="1"/>
              <p:nvPr/>
            </p:nvSpPr>
            <p:spPr>
              <a:xfrm>
                <a:off x="389921" y="3000306"/>
                <a:ext cx="7157070" cy="158582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rPr>
                  <a:t>(4)</a:t>
                </a:r>
                <a:r>
                  <a:rPr kumimoji="1" lang="zh-CN" altLang="en-US" sz="2800" dirty="0">
                    <a:solidFill>
                      <a:srgbClr val="2980B9"/>
                    </a:solidFill>
                  </a:rPr>
                  <a:t> </a:t>
                </a:r>
                <a14:m>
                  <m:oMath xmlns:m="http://schemas.openxmlformats.org/officeDocument/2006/math">
                    <m:r>
                      <a:rPr kumimoji="1" lang="en-US" altLang="zh-CN" sz="2800" b="0" i="1" smtClean="0">
                        <a:solidFill>
                          <a:srgbClr val="2980B9"/>
                        </a:solidFill>
                        <a:latin typeface="Cambria Math" panose="02040503050406030204" pitchFamily="18" charset="0"/>
                      </a:rPr>
                      <m:t>𝑣</m:t>
                    </m:r>
                    <m:r>
                      <a:rPr kumimoji="1" lang="en-US" altLang="zh-CN" sz="2800" i="1" smtClean="0">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0</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rPr>
                      <m:t>𝑠</m:t>
                    </m:r>
                    <m:r>
                      <a:rPr kumimoji="1" lang="en-US" altLang="zh-CN" sz="2800" i="1">
                        <a:solidFill>
                          <a:srgbClr val="2980B9"/>
                        </a:solidFill>
                        <a:latin typeface="Cambria Math" panose="02040503050406030204" pitchFamily="18" charset="0"/>
                      </a:rPr>
                      <m:t>=</m:t>
                    </m:r>
                    <m:func>
                      <m:funcPr>
                        <m:ctrlPr>
                          <a:rPr kumimoji="1" lang="en-US" altLang="zh-CN" sz="2800" i="1">
                            <a:solidFill>
                              <a:srgbClr val="2980B9"/>
                            </a:solidFill>
                            <a:latin typeface="Cambria Math" panose="02040503050406030204" pitchFamily="18" charset="0"/>
                          </a:rPr>
                        </m:ctrlPr>
                      </m:funcPr>
                      <m:fName>
                        <m:limLow>
                          <m:limLowPr>
                            <m:ctrlPr>
                              <a:rPr kumimoji="1" lang="en-US" altLang="zh-CN" sz="2800" i="1">
                                <a:solidFill>
                                  <a:srgbClr val="2980B9"/>
                                </a:solidFill>
                                <a:latin typeface="Cambria Math" panose="02040503050406030204" pitchFamily="18" charset="0"/>
                              </a:rPr>
                            </m:ctrlPr>
                          </m:limLowPr>
                          <m:e>
                            <m:r>
                              <m:rPr>
                                <m:sty m:val="p"/>
                              </m:rPr>
                              <a:rPr kumimoji="1" lang="en-US" altLang="zh-CN" sz="2800">
                                <a:solidFill>
                                  <a:srgbClr val="2980B9"/>
                                </a:solidFill>
                                <a:latin typeface="Cambria Math" panose="02040503050406030204" pitchFamily="18" charset="0"/>
                              </a:rPr>
                              <m:t>lim</m:t>
                            </m:r>
                          </m:e>
                          <m:lim>
                            <m:r>
                              <a:rPr kumimoji="1" lang="en-US" altLang="zh-CN" sz="2800" b="0" i="1" smtClean="0">
                                <a:solidFill>
                                  <a:srgbClr val="2980B9"/>
                                </a:solidFill>
                                <a:latin typeface="Cambria Math" panose="02040503050406030204" pitchFamily="18" charset="0"/>
                              </a:rPr>
                              <m:t>𝑟</m:t>
                            </m:r>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0</m:t>
                            </m:r>
                          </m:lim>
                        </m:limLow>
                      </m:fName>
                      <m:e>
                        <m:r>
                          <a:rPr kumimoji="1" lang="en-US" altLang="zh-CN" sz="2800" b="0" i="1" smtClean="0">
                            <a:solidFill>
                              <a:srgbClr val="2980B9"/>
                            </a:solidFill>
                            <a:latin typeface="Cambria Math" panose="02040503050406030204" pitchFamily="18" charset="0"/>
                          </a:rPr>
                          <m:t>𝑟</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i="1">
                                <a:solidFill>
                                  <a:srgbClr val="2980B9"/>
                                </a:solidFill>
                                <a:latin typeface="Cambria Math" panose="02040503050406030204" pitchFamily="18" charset="0"/>
                              </a:rPr>
                              <m:t>𝑗</m:t>
                            </m:r>
                            <m:r>
                              <a:rPr kumimoji="1" lang="en-US" altLang="zh-CN" sz="2800" i="1" smtClean="0">
                                <a:solidFill>
                                  <a:srgbClr val="2980B9"/>
                                </a:solidFill>
                                <a:latin typeface="Cambria Math" panose="02040503050406030204" pitchFamily="18" charset="0"/>
                                <a:ea typeface="Cambria Math" panose="02040503050406030204" pitchFamily="18" charset="0"/>
                              </a:rPr>
                              <m:t>𝜓</m:t>
                            </m:r>
                          </m:sup>
                        </m:sSup>
                      </m:e>
                    </m:func>
                    <m:r>
                      <a:rPr kumimoji="1" lang="en-US" altLang="zh-CN" sz="2800" i="1">
                        <a:solidFill>
                          <a:srgbClr val="2980B9"/>
                        </a:solidFill>
                        <a:latin typeface="Cambria Math" panose="02040503050406030204" pitchFamily="18" charset="0"/>
                        <a:ea typeface="Cambria Math" panose="02040503050406030204" pitchFamily="18" charset="0"/>
                      </a:rPr>
                      <m:t>,</m:t>
                    </m:r>
                    <m:r>
                      <a:rPr kumimoji="1" lang="en-US" altLang="zh-CN" sz="2800" i="1">
                        <a:solidFill>
                          <a:srgbClr val="2980B9"/>
                        </a:solidFill>
                        <a:latin typeface="Cambria Math" panose="02040503050406030204" pitchFamily="18" charset="0"/>
                        <a:ea typeface="Cambria Math" panose="02040503050406030204" pitchFamily="18" charset="0"/>
                      </a:rPr>
                      <m:t>𝜓</m:t>
                    </m:r>
                    <m:r>
                      <a:rPr kumimoji="1" lang="en-US" altLang="zh-CN" sz="2800" i="1">
                        <a:solidFill>
                          <a:srgbClr val="2980B9"/>
                        </a:solidFill>
                        <a:latin typeface="Cambria Math" panose="02040503050406030204" pitchFamily="18" charset="0"/>
                        <a:ea typeface="Cambria Math" panose="02040503050406030204" pitchFamily="18" charset="0"/>
                      </a:rPr>
                      <m:t>:−</m:t>
                    </m:r>
                    <m:f>
                      <m:fPr>
                        <m:ctrlPr>
                          <a:rPr kumimoji="1" lang="en-US" altLang="zh-CN" sz="2800" i="1">
                            <a:solidFill>
                              <a:srgbClr val="2980B9"/>
                            </a:solidFill>
                            <a:latin typeface="Cambria Math" panose="02040503050406030204" pitchFamily="18" charset="0"/>
                            <a:ea typeface="Cambria Math" panose="02040503050406030204" pitchFamily="18" charset="0"/>
                          </a:rPr>
                        </m:ctrlPr>
                      </m:fPr>
                      <m:num>
                        <m:r>
                          <a:rPr kumimoji="1" lang="en-US" altLang="zh-CN" sz="2800" i="1">
                            <a:solidFill>
                              <a:srgbClr val="2980B9"/>
                            </a:solidFill>
                            <a:latin typeface="Cambria Math" panose="02040503050406030204" pitchFamily="18" charset="0"/>
                            <a:ea typeface="Cambria Math" panose="02040503050406030204" pitchFamily="18" charset="0"/>
                          </a:rPr>
                          <m:t>𝜋</m:t>
                        </m:r>
                      </m:num>
                      <m:den>
                        <m:r>
                          <a:rPr kumimoji="1" lang="en-US" altLang="zh-CN" sz="2800" i="1">
                            <a:solidFill>
                              <a:srgbClr val="2980B9"/>
                            </a:solidFill>
                            <a:latin typeface="Cambria Math" panose="02040503050406030204" pitchFamily="18" charset="0"/>
                            <a:ea typeface="Cambria Math" panose="02040503050406030204" pitchFamily="18" charset="0"/>
                          </a:rPr>
                          <m:t>2</m:t>
                        </m:r>
                      </m:den>
                    </m:f>
                    <m:r>
                      <a:rPr kumimoji="1" lang="en-US" altLang="zh-CN" sz="2800" i="1">
                        <a:solidFill>
                          <a:srgbClr val="2980B9"/>
                        </a:solidFill>
                        <a:latin typeface="Cambria Math" panose="02040503050406030204" pitchFamily="18" charset="0"/>
                        <a:ea typeface="Cambria Math" panose="02040503050406030204" pitchFamily="18" charset="0"/>
                      </a:rPr>
                      <m:t>⟶0⟶</m:t>
                    </m:r>
                    <m:f>
                      <m:fPr>
                        <m:ctrlPr>
                          <a:rPr kumimoji="1" lang="en-US" altLang="zh-CN" sz="2800" i="1">
                            <a:solidFill>
                              <a:srgbClr val="2980B9"/>
                            </a:solidFill>
                            <a:latin typeface="Cambria Math" panose="02040503050406030204" pitchFamily="18" charset="0"/>
                            <a:ea typeface="Cambria Math" panose="02040503050406030204" pitchFamily="18" charset="0"/>
                          </a:rPr>
                        </m:ctrlPr>
                      </m:fPr>
                      <m:num>
                        <m:r>
                          <a:rPr kumimoji="1" lang="en-US" altLang="zh-CN" sz="2800" i="1">
                            <a:solidFill>
                              <a:srgbClr val="2980B9"/>
                            </a:solidFill>
                            <a:latin typeface="Cambria Math" panose="02040503050406030204" pitchFamily="18" charset="0"/>
                            <a:ea typeface="Cambria Math" panose="02040503050406030204" pitchFamily="18" charset="0"/>
                          </a:rPr>
                          <m:t>𝜋</m:t>
                        </m:r>
                      </m:num>
                      <m:den>
                        <m:r>
                          <a:rPr kumimoji="1" lang="en-US" altLang="zh-CN" sz="2800" i="1">
                            <a:solidFill>
                              <a:srgbClr val="2980B9"/>
                            </a:solidFill>
                            <a:latin typeface="Cambria Math" panose="02040503050406030204" pitchFamily="18" charset="0"/>
                            <a:ea typeface="Cambria Math" panose="02040503050406030204" pitchFamily="18" charset="0"/>
                          </a:rPr>
                          <m:t>2</m:t>
                        </m:r>
                      </m:den>
                    </m:f>
                  </m:oMath>
                </a14:m>
                <a:endParaRPr kumimoji="1" lang="en-US" altLang="zh-CN" sz="2800" dirty="0">
                  <a:solidFill>
                    <a:srgbClr val="2980B9"/>
                  </a:solidFill>
                </a:endParaRPr>
              </a:p>
              <a:p>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𝑠</m:t>
                        </m:r>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𝑠</m:t>
                        </m:r>
                      </m:e>
                    </m:d>
                    <m:r>
                      <a:rPr kumimoji="1" lang="en-US" altLang="zh-CN" sz="2800" i="1">
                        <a:solidFill>
                          <a:srgbClr val="2980B9"/>
                        </a:solidFill>
                        <a:latin typeface="Cambria Math" panose="02040503050406030204" pitchFamily="18" charset="0"/>
                      </a:rPr>
                      <m:t>=</m:t>
                    </m:r>
                    <m:func>
                      <m:funcPr>
                        <m:ctrlPr>
                          <a:rPr kumimoji="1" lang="en-US" altLang="zh-CN" sz="2800" i="1">
                            <a:solidFill>
                              <a:srgbClr val="2980B9"/>
                            </a:solidFill>
                            <a:latin typeface="Cambria Math" panose="02040503050406030204" pitchFamily="18" charset="0"/>
                          </a:rPr>
                        </m:ctrlPr>
                      </m:funcPr>
                      <m:fName>
                        <m:limLow>
                          <m:limLowPr>
                            <m:ctrlPr>
                              <a:rPr kumimoji="1" lang="en-US" altLang="zh-CN" sz="2800" i="1">
                                <a:solidFill>
                                  <a:srgbClr val="2980B9"/>
                                </a:solidFill>
                                <a:latin typeface="Cambria Math" panose="02040503050406030204" pitchFamily="18" charset="0"/>
                              </a:rPr>
                            </m:ctrlPr>
                          </m:limLowPr>
                          <m:e>
                            <m:r>
                              <m:rPr>
                                <m:sty m:val="p"/>
                              </m:rPr>
                              <a:rPr kumimoji="1" lang="en-US" altLang="zh-CN" sz="2800">
                                <a:solidFill>
                                  <a:srgbClr val="2980B9"/>
                                </a:solidFill>
                                <a:latin typeface="Cambria Math" panose="02040503050406030204" pitchFamily="18" charset="0"/>
                              </a:rPr>
                              <m:t>lim</m:t>
                            </m:r>
                          </m:e>
                          <m:lim>
                            <m:r>
                              <a:rPr kumimoji="1" lang="en-US" altLang="zh-CN" sz="2800" i="1">
                                <a:solidFill>
                                  <a:srgbClr val="2980B9"/>
                                </a:solidFill>
                                <a:latin typeface="Cambria Math" panose="02040503050406030204" pitchFamily="18" charset="0"/>
                              </a:rPr>
                              <m:t>𝑟</m:t>
                            </m:r>
                            <m:r>
                              <a:rPr kumimoji="1" lang="en-US" altLang="zh-CN" sz="2800" i="1">
                                <a:solidFill>
                                  <a:srgbClr val="2980B9"/>
                                </a:solidFill>
                                <a:latin typeface="Cambria Math" panose="02040503050406030204" pitchFamily="18" charset="0"/>
                                <a:ea typeface="Cambria Math" panose="02040503050406030204" pitchFamily="18" charset="0"/>
                              </a:rPr>
                              <m:t>⟶0</m:t>
                            </m:r>
                          </m:lim>
                        </m:limLow>
                      </m:fName>
                      <m:e>
                        <m:f>
                          <m:fPr>
                            <m:ctrlPr>
                              <a:rPr kumimoji="1" lang="en-US" altLang="zh-CN" sz="2800" b="0" i="1" smtClean="0">
                                <a:solidFill>
                                  <a:srgbClr val="2980B9"/>
                                </a:solidFill>
                                <a:latin typeface="Cambria Math" panose="02040503050406030204" pitchFamily="18" charset="0"/>
                                <a:ea typeface="Cambria Math" panose="02040503050406030204" pitchFamily="18" charset="0"/>
                              </a:rPr>
                            </m:ctrlPr>
                          </m:fPr>
                          <m:num>
                            <m:r>
                              <a:rPr kumimoji="1" lang="en-US" altLang="zh-CN" sz="2800" b="0" i="1" smtClean="0">
                                <a:solidFill>
                                  <a:srgbClr val="2980B9"/>
                                </a:solidFill>
                                <a:latin typeface="Cambria Math" panose="02040503050406030204" pitchFamily="18" charset="0"/>
                                <a:ea typeface="Cambria Math" panose="02040503050406030204" pitchFamily="18" charset="0"/>
                              </a:rPr>
                              <m:t>𝐾</m:t>
                            </m:r>
                          </m:num>
                          <m:den>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d>
                                  <m:dPr>
                                    <m:ctrlPr>
                                      <a:rPr kumimoji="1" lang="en-US" altLang="zh-CN" sz="2800" b="0" i="1" smtClean="0">
                                        <a:solidFill>
                                          <a:srgbClr val="2980B9"/>
                                        </a:solidFill>
                                        <a:latin typeface="Cambria Math" panose="02040503050406030204" pitchFamily="18" charset="0"/>
                                        <a:ea typeface="Cambria Math" panose="02040503050406030204" pitchFamily="18" charset="0"/>
                                      </a:rPr>
                                    </m:ctrlPr>
                                  </m:dPr>
                                  <m:e>
                                    <m:r>
                                      <a:rPr kumimoji="1" lang="en-US" altLang="zh-CN" sz="2800" i="1">
                                        <a:solidFill>
                                          <a:srgbClr val="2980B9"/>
                                        </a:solidFill>
                                        <a:latin typeface="Cambria Math" panose="02040503050406030204" pitchFamily="18" charset="0"/>
                                      </a:rPr>
                                      <m:t>𝑟</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𝜓</m:t>
                                        </m:r>
                                      </m:sup>
                                    </m:sSup>
                                  </m:e>
                                </m:d>
                              </m:e>
                              <m:sup>
                                <m:r>
                                  <a:rPr kumimoji="1" lang="en-US" altLang="zh-CN" sz="2800" b="0" i="1" smtClean="0">
                                    <a:solidFill>
                                      <a:srgbClr val="2980B9"/>
                                    </a:solidFill>
                                    <a:latin typeface="Cambria Math" panose="02040503050406030204" pitchFamily="18" charset="0"/>
                                    <a:ea typeface="Cambria Math" panose="02040503050406030204" pitchFamily="18" charset="0"/>
                                  </a:rPr>
                                  <m:t>𝑣</m:t>
                                </m:r>
                              </m:sup>
                            </m:sSup>
                          </m:den>
                        </m:f>
                      </m:e>
                    </m:func>
                    <m:r>
                      <a:rPr kumimoji="1" lang="en-US" altLang="zh-CN" sz="2800" b="0" i="1" smtClean="0">
                        <a:solidFill>
                          <a:srgbClr val="2980B9"/>
                        </a:solidFill>
                        <a:latin typeface="Cambria Math" panose="02040503050406030204" pitchFamily="18" charset="0"/>
                        <a:ea typeface="Cambria Math" panose="02040503050406030204" pitchFamily="18" charset="0"/>
                      </a:rPr>
                      <m:t>=∞∙</m:t>
                    </m:r>
                    <m:sSup>
                      <m:sSupPr>
                        <m:ctrlPr>
                          <a:rPr kumimoji="1" lang="en-US" altLang="zh-CN" sz="2800" i="1">
                            <a:solidFill>
                              <a:srgbClr val="2980B9"/>
                            </a:solidFill>
                            <a:latin typeface="Cambria Math" panose="02040503050406030204" pitchFamily="18" charset="0"/>
                          </a:rPr>
                        </m:ctrlPr>
                      </m:sSupPr>
                      <m:e>
                        <m:r>
                          <m:rPr>
                            <m:sty m:val="p"/>
                          </m:rPr>
                          <a:rPr kumimoji="1" lang="en-US" altLang="zh-CN" sz="2800">
                            <a:solidFill>
                              <a:srgbClr val="2980B9"/>
                            </a:solidFill>
                            <a:latin typeface="Cambria Math" panose="02040503050406030204" pitchFamily="18" charset="0"/>
                          </a:rPr>
                          <m:t>e</m:t>
                        </m:r>
                      </m:e>
                      <m:sup>
                        <m:r>
                          <a:rPr kumimoji="1" lang="en-US" altLang="zh-CN" sz="2800" b="0" i="1" smtClean="0">
                            <a:solidFill>
                              <a:srgbClr val="2980B9"/>
                            </a:solidFill>
                            <a:latin typeface="Cambria Math" panose="02040503050406030204" pitchFamily="18" charset="0"/>
                          </a:rPr>
                          <m:t>−</m:t>
                        </m:r>
                        <m:r>
                          <a:rPr kumimoji="1" lang="en-US" altLang="zh-CN" sz="2800" i="1">
                            <a:solidFill>
                              <a:srgbClr val="2980B9"/>
                            </a:solidFill>
                            <a:latin typeface="Cambria Math" panose="02040503050406030204" pitchFamily="18" charset="0"/>
                          </a:rPr>
                          <m:t>𝑗</m:t>
                        </m:r>
                        <m:r>
                          <a:rPr kumimoji="1" lang="en-US" altLang="zh-CN" sz="2800" b="0" i="1" smtClean="0">
                            <a:solidFill>
                              <a:srgbClr val="2980B9"/>
                            </a:solidFill>
                            <a:latin typeface="Cambria Math" panose="02040503050406030204" pitchFamily="18" charset="0"/>
                          </a:rPr>
                          <m:t>𝑣</m:t>
                        </m:r>
                        <m:r>
                          <a:rPr kumimoji="1" lang="en-US" altLang="zh-CN" sz="2800" i="1">
                            <a:solidFill>
                              <a:srgbClr val="2980B9"/>
                            </a:solidFill>
                            <a:latin typeface="Cambria Math" panose="02040503050406030204" pitchFamily="18" charset="0"/>
                            <a:ea typeface="Cambria Math" panose="02040503050406030204" pitchFamily="18" charset="0"/>
                          </a:rPr>
                          <m:t>𝜓</m:t>
                        </m:r>
                      </m:sup>
                    </m:sSup>
                  </m:oMath>
                </a14:m>
                <a:r>
                  <a:rPr kumimoji="1" lang="zh-CN" altLang="en-US" sz="2800" dirty="0">
                    <a:solidFill>
                      <a:srgbClr val="2980B9"/>
                    </a:solidFill>
                  </a:rPr>
                  <a:t> </a:t>
                </a:r>
              </a:p>
            </p:txBody>
          </p:sp>
        </mc:Choice>
        <mc:Fallback xmlns="">
          <p:sp>
            <p:nvSpPr>
              <p:cNvPr id="71" name="说明3">
                <a:extLst>
                  <a:ext uri="{FF2B5EF4-FFF2-40B4-BE49-F238E27FC236}">
                    <a16:creationId xmlns:a16="http://schemas.microsoft.com/office/drawing/2014/main" id="{AB1E794B-9021-EA56-F4BB-BB9B4911B549}"/>
                  </a:ext>
                </a:extLst>
              </p:cNvPr>
              <p:cNvSpPr txBox="1">
                <a:spLocks noRot="1" noChangeAspect="1" noMove="1" noResize="1" noEditPoints="1" noAdjustHandles="1" noChangeArrowheads="1" noChangeShapeType="1" noTextEdit="1"/>
              </p:cNvSpPr>
              <p:nvPr/>
            </p:nvSpPr>
            <p:spPr>
              <a:xfrm>
                <a:off x="389921" y="3000306"/>
                <a:ext cx="7157070" cy="1585824"/>
              </a:xfrm>
              <a:prstGeom prst="flowChartAlternateProcess">
                <a:avLst/>
              </a:prstGeom>
              <a:blipFill>
                <a:blip r:embed="rId4"/>
                <a:stretch>
                  <a:fillRect l="-529"/>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说明3">
                <a:extLst>
                  <a:ext uri="{FF2B5EF4-FFF2-40B4-BE49-F238E27FC236}">
                    <a16:creationId xmlns:a16="http://schemas.microsoft.com/office/drawing/2014/main" id="{95323EF7-3470-49E3-91F0-3C4EEF197A79}"/>
                  </a:ext>
                </a:extLst>
              </p:cNvPr>
              <p:cNvSpPr txBox="1"/>
              <p:nvPr/>
            </p:nvSpPr>
            <p:spPr>
              <a:xfrm>
                <a:off x="373082" y="4857350"/>
                <a:ext cx="7157070"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lang="en-US" altLang="zh-CN" sz="2800" b="1" i="1" smtClean="0">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b="1" i="1">
                            <a:solidFill>
                              <a:srgbClr val="2980B9"/>
                            </a:solidFill>
                            <a:latin typeface="Cambria Math" panose="02040503050406030204" pitchFamily="18" charset="0"/>
                          </a:rPr>
                          <m:t>𝒔</m:t>
                        </m:r>
                      </m:sub>
                    </m:sSub>
                  </m:oMath>
                </a14:m>
                <a:r>
                  <a:rPr kumimoji="1" lang="zh-CN" altLang="en-US" sz="2800" dirty="0">
                    <a:solidFill>
                      <a:srgbClr val="2980B9"/>
                    </a:solidFill>
                  </a:rPr>
                  <a:t>在原点附近，当</a:t>
                </a:r>
                <a14:m>
                  <m:oMath xmlns:m="http://schemas.openxmlformats.org/officeDocument/2006/math">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b="0" i="0" smtClean="0">
                        <a:solidFill>
                          <a:srgbClr val="2980B9"/>
                        </a:solidFill>
                        <a:latin typeface="Cambria Math" panose="02040503050406030204" pitchFamily="18" charset="0"/>
                        <a:ea typeface="Cambria Math" panose="02040503050406030204" pitchFamily="18" charset="0"/>
                      </a:rPr>
                      <m:t>=0</m:t>
                    </m:r>
                    <m:r>
                      <a:rPr kumimoji="1" lang="en-US" altLang="zh-CN" sz="2800" i="1">
                        <a:solidFill>
                          <a:srgbClr val="2980B9"/>
                        </a:solidFill>
                        <a:latin typeface="Cambria Math" panose="02040503050406030204" pitchFamily="18" charset="0"/>
                        <a:ea typeface="Cambria Math" panose="02040503050406030204" pitchFamily="18" charset="0"/>
                      </a:rPr>
                      <m:t>⟶</m:t>
                    </m:r>
                    <m:sSup>
                      <m:sSupPr>
                        <m:ctrlPr>
                          <a:rPr kumimoji="1" lang="en-US" altLang="zh-CN" sz="2800" i="1">
                            <a:solidFill>
                              <a:srgbClr val="2980B9"/>
                            </a:solidFill>
                            <a:latin typeface="Cambria Math" panose="02040503050406030204" pitchFamily="18" charset="0"/>
                            <a:ea typeface="Cambria Math" panose="02040503050406030204" pitchFamily="18" charset="0"/>
                          </a:rPr>
                        </m:ctrlPr>
                      </m:sSupPr>
                      <m:e>
                        <m:r>
                          <a:rPr kumimoji="1" lang="en-US" altLang="zh-CN" sz="2800" i="1">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oMath>
                </a14:m>
                <a:r>
                  <a:rPr kumimoji="1" lang="zh-CN" altLang="en-US" sz="2800" dirty="0">
                    <a:solidFill>
                      <a:srgbClr val="2980B9"/>
                    </a:solidFill>
                  </a:rPr>
                  <a:t>，</a:t>
                </a:r>
                <a:r>
                  <a:rPr lang="en-US" altLang="zh-CN" sz="2800" b="1" dirty="0">
                    <a:solidFill>
                      <a:srgbClr val="2980B9"/>
                    </a:solidFill>
                  </a:rPr>
                  <a:t>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𝐺𝐻</m:t>
                        </m:r>
                      </m:sub>
                    </m:sSub>
                  </m:oMath>
                </a14:m>
                <a:r>
                  <a:rPr kumimoji="1" lang="zh-CN" altLang="en-US" sz="2800" dirty="0">
                    <a:solidFill>
                      <a:srgbClr val="2980B9"/>
                    </a:solidFill>
                  </a:rPr>
                  <a:t>为从起点</a:t>
                </a:r>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b="0" i="1" smtClean="0">
                            <a:solidFill>
                              <a:srgbClr val="2980B9"/>
                            </a:solidFill>
                            <a:latin typeface="Cambria Math" panose="02040503050406030204" pitchFamily="18" charset="0"/>
                          </a:rPr>
                          <m:t>0</m:t>
                        </m:r>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b="0" i="1" smtClean="0">
                            <a:solidFill>
                              <a:srgbClr val="2980B9"/>
                            </a:solidFill>
                            <a:latin typeface="Cambria Math" panose="02040503050406030204" pitchFamily="18" charset="0"/>
                          </a:rPr>
                          <m:t>0</m:t>
                        </m:r>
                      </m:e>
                    </m:d>
                  </m:oMath>
                </a14:m>
                <a:r>
                  <a:rPr kumimoji="1" lang="zh-CN" altLang="en-US" sz="2800" dirty="0">
                    <a:solidFill>
                      <a:srgbClr val="2980B9"/>
                    </a:solidFill>
                  </a:rPr>
                  <a:t>起顺时针旋转</a:t>
                </a:r>
                <a14:m>
                  <m:oMath xmlns:m="http://schemas.openxmlformats.org/officeDocument/2006/math">
                    <m:r>
                      <a:rPr kumimoji="1" lang="en-US" altLang="zh-CN" sz="2800" i="1">
                        <a:solidFill>
                          <a:srgbClr val="2980B9"/>
                        </a:solidFill>
                        <a:latin typeface="Cambria Math" panose="02040503050406030204" pitchFamily="18" charset="0"/>
                        <a:ea typeface="Cambria Math" panose="02040503050406030204" pitchFamily="18" charset="0"/>
                      </a:rPr>
                      <m:t>𝑣</m:t>
                    </m:r>
                    <m:r>
                      <a:rPr kumimoji="1" lang="en-US" altLang="zh-CN" sz="2800" i="1" smtClean="0">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180°</m:t>
                    </m:r>
                  </m:oMath>
                </a14:m>
                <a:r>
                  <a:rPr kumimoji="1" lang="zh-CN" altLang="en-US" sz="2800" dirty="0">
                    <a:solidFill>
                      <a:srgbClr val="2980B9"/>
                    </a:solidFill>
                  </a:rPr>
                  <a:t>，半径</a:t>
                </a:r>
                <a14:m>
                  <m:oMath xmlns:m="http://schemas.openxmlformats.org/officeDocument/2006/math">
                    <m:r>
                      <a:rPr kumimoji="1" lang="en-US" altLang="zh-CN" sz="2800" i="1">
                        <a:solidFill>
                          <a:srgbClr val="2980B9"/>
                        </a:solidFill>
                        <a:latin typeface="Cambria Math" panose="02040503050406030204" pitchFamily="18" charset="0"/>
                        <a:ea typeface="Cambria Math" panose="02040503050406030204" pitchFamily="18" charset="0"/>
                      </a:rPr>
                      <m:t>∞</m:t>
                    </m:r>
                  </m:oMath>
                </a14:m>
                <a:r>
                  <a:rPr kumimoji="1" lang="zh-CN" altLang="en-US" sz="2800" dirty="0">
                    <a:solidFill>
                      <a:srgbClr val="2980B9"/>
                    </a:solidFill>
                  </a:rPr>
                  <a:t>到达</a:t>
                </a:r>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sSup>
                          <m:sSupPr>
                            <m:ctrlPr>
                              <a:rPr kumimoji="1" lang="en-US" altLang="zh-CN" sz="2800" b="0" i="1" smtClean="0">
                                <a:solidFill>
                                  <a:srgbClr val="2980B9"/>
                                </a:solidFill>
                                <a:latin typeface="Cambria Math" panose="02040503050406030204" pitchFamily="18" charset="0"/>
                              </a:rPr>
                            </m:ctrlPr>
                          </m:sSupPr>
                          <m:e>
                            <m:r>
                              <a:rPr kumimoji="1" lang="en-US" altLang="zh-CN" sz="2800" i="1">
                                <a:solidFill>
                                  <a:srgbClr val="2980B9"/>
                                </a:solidFill>
                                <a:latin typeface="Cambria Math" panose="02040503050406030204" pitchFamily="18" charset="0"/>
                              </a:rPr>
                              <m:t>0</m:t>
                            </m:r>
                          </m:e>
                          <m:sup>
                            <m:r>
                              <a:rPr kumimoji="1" lang="en-US" altLang="zh-CN" sz="2800" b="0" i="1" smtClean="0">
                                <a:solidFill>
                                  <a:srgbClr val="2980B9"/>
                                </a:solidFill>
                                <a:latin typeface="Cambria Math" panose="02040503050406030204" pitchFamily="18" charset="0"/>
                              </a:rPr>
                              <m:t>+</m:t>
                            </m:r>
                          </m:sup>
                        </m:sSup>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sSup>
                          <m:sSupPr>
                            <m:ctrlPr>
                              <a:rPr kumimoji="1" lang="en-US" altLang="zh-CN" sz="2800" b="0" i="1" smtClean="0">
                                <a:solidFill>
                                  <a:srgbClr val="2980B9"/>
                                </a:solidFill>
                                <a:latin typeface="Cambria Math" panose="02040503050406030204" pitchFamily="18" charset="0"/>
                              </a:rPr>
                            </m:ctrlPr>
                          </m:sSupPr>
                          <m:e>
                            <m:r>
                              <a:rPr kumimoji="1" lang="en-US" altLang="zh-CN" sz="2800" i="1">
                                <a:solidFill>
                                  <a:srgbClr val="2980B9"/>
                                </a:solidFill>
                                <a:latin typeface="Cambria Math" panose="02040503050406030204" pitchFamily="18" charset="0"/>
                              </a:rPr>
                              <m:t>0</m:t>
                            </m:r>
                          </m:e>
                          <m:sup>
                            <m:r>
                              <a:rPr kumimoji="1" lang="en-US" altLang="zh-CN" sz="2800" b="0" i="1" smtClean="0">
                                <a:solidFill>
                                  <a:srgbClr val="2980B9"/>
                                </a:solidFill>
                                <a:latin typeface="Cambria Math" panose="02040503050406030204" pitchFamily="18" charset="0"/>
                              </a:rPr>
                              <m:t>+</m:t>
                            </m:r>
                          </m:sup>
                        </m:sSup>
                      </m:e>
                    </m:d>
                  </m:oMath>
                </a14:m>
                <a:endParaRPr kumimoji="1" lang="zh-CN" altLang="en-US" sz="2800" dirty="0">
                  <a:solidFill>
                    <a:srgbClr val="2980B9"/>
                  </a:solidFill>
                </a:endParaRPr>
              </a:p>
            </p:txBody>
          </p:sp>
        </mc:Choice>
        <mc:Fallback xmlns="">
          <p:sp>
            <p:nvSpPr>
              <p:cNvPr id="27" name="说明3">
                <a:extLst>
                  <a:ext uri="{FF2B5EF4-FFF2-40B4-BE49-F238E27FC236}">
                    <a16:creationId xmlns:a16="http://schemas.microsoft.com/office/drawing/2014/main" id="{95323EF7-3470-49E3-91F0-3C4EEF197A79}"/>
                  </a:ext>
                </a:extLst>
              </p:cNvPr>
              <p:cNvSpPr txBox="1">
                <a:spLocks noRot="1" noChangeAspect="1" noMove="1" noResize="1" noEditPoints="1" noAdjustHandles="1" noChangeArrowheads="1" noChangeShapeType="1" noTextEdit="1"/>
              </p:cNvSpPr>
              <p:nvPr/>
            </p:nvSpPr>
            <p:spPr>
              <a:xfrm>
                <a:off x="373082" y="4857350"/>
                <a:ext cx="7157070" cy="1532334"/>
              </a:xfrm>
              <a:prstGeom prst="flowChartAlternateProcess">
                <a:avLst/>
              </a:prstGeom>
              <a:blipFill>
                <a:blip r:embed="rId5"/>
                <a:stretch>
                  <a:fillRect l="-530" b="-4839"/>
                </a:stretch>
              </a:blipFill>
              <a:ln>
                <a:prstDash val="sysDot"/>
              </a:ln>
            </p:spPr>
            <p:txBody>
              <a:bodyPr/>
              <a:lstStyle/>
              <a:p>
                <a:r>
                  <a:rPr lang="zh-CN" altLang="en-US">
                    <a:noFill/>
                  </a:rPr>
                  <a:t> </a:t>
                </a:r>
              </a:p>
            </p:txBody>
          </p:sp>
        </mc:Fallback>
      </mc:AlternateContent>
      <p:grpSp>
        <p:nvGrpSpPr>
          <p:cNvPr id="29" name="组合 28">
            <a:extLst>
              <a:ext uri="{FF2B5EF4-FFF2-40B4-BE49-F238E27FC236}">
                <a16:creationId xmlns:a16="http://schemas.microsoft.com/office/drawing/2014/main" id="{9DB3E103-7A42-2540-8973-F84C081B6F29}"/>
              </a:ext>
            </a:extLst>
          </p:cNvPr>
          <p:cNvGrpSpPr/>
          <p:nvPr/>
        </p:nvGrpSpPr>
        <p:grpSpPr>
          <a:xfrm>
            <a:off x="7103318" y="1412776"/>
            <a:ext cx="4343493" cy="4737647"/>
            <a:chOff x="7080305" y="1412776"/>
            <a:chExt cx="4343493" cy="4737647"/>
          </a:xfrm>
        </p:grpSpPr>
        <p:grpSp>
          <p:nvGrpSpPr>
            <p:cNvPr id="30" name="坐标轴">
              <a:extLst>
                <a:ext uri="{FF2B5EF4-FFF2-40B4-BE49-F238E27FC236}">
                  <a16:creationId xmlns:a16="http://schemas.microsoft.com/office/drawing/2014/main" id="{14A42EF2-189A-7113-D81D-79E06325DED6}"/>
                </a:ext>
              </a:extLst>
            </p:cNvPr>
            <p:cNvGrpSpPr/>
            <p:nvPr/>
          </p:nvGrpSpPr>
          <p:grpSpPr>
            <a:xfrm>
              <a:off x="8006174" y="1412776"/>
              <a:ext cx="3417624" cy="4737647"/>
              <a:chOff x="8400074" y="2358086"/>
              <a:chExt cx="3417624" cy="4737647"/>
            </a:xfrm>
          </p:grpSpPr>
          <p:cxnSp>
            <p:nvCxnSpPr>
              <p:cNvPr id="49" name="实轴">
                <a:extLst>
                  <a:ext uri="{FF2B5EF4-FFF2-40B4-BE49-F238E27FC236}">
                    <a16:creationId xmlns:a16="http://schemas.microsoft.com/office/drawing/2014/main" id="{B76F2FB6-7B9C-238C-CF97-263A687E341B}"/>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0" name="虚轴">
                <a:extLst>
                  <a:ext uri="{FF2B5EF4-FFF2-40B4-BE49-F238E27FC236}">
                    <a16:creationId xmlns:a16="http://schemas.microsoft.com/office/drawing/2014/main" id="{5D6CD85D-4C9C-5A3E-617D-5A4B4B4F244A}"/>
                  </a:ext>
                </a:extLst>
              </p:cNvPr>
              <p:cNvCxnSpPr>
                <a:cxnSpLocks/>
              </p:cNvCxnSpPr>
              <p:nvPr/>
            </p:nvCxnSpPr>
            <p:spPr>
              <a:xfrm flipV="1">
                <a:off x="9196819" y="2358086"/>
                <a:ext cx="0" cy="4737647"/>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Re">
                    <a:extLst>
                      <a:ext uri="{FF2B5EF4-FFF2-40B4-BE49-F238E27FC236}">
                        <a16:creationId xmlns:a16="http://schemas.microsoft.com/office/drawing/2014/main" id="{559AA02F-5319-B7FA-10A8-7FCD7F3F7E34}"/>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51" name="Re">
                    <a:extLst>
                      <a:ext uri="{FF2B5EF4-FFF2-40B4-BE49-F238E27FC236}">
                        <a16:creationId xmlns:a16="http://schemas.microsoft.com/office/drawing/2014/main" id="{559AA02F-5319-B7FA-10A8-7FCD7F3F7E34}"/>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6"/>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Im">
                    <a:extLst>
                      <a:ext uri="{FF2B5EF4-FFF2-40B4-BE49-F238E27FC236}">
                        <a16:creationId xmlns:a16="http://schemas.microsoft.com/office/drawing/2014/main" id="{2A8461EF-0AC8-75E5-DCC0-08F204F37189}"/>
                      </a:ext>
                    </a:extLst>
                  </p:cNvPr>
                  <p:cNvSpPr txBox="1"/>
                  <p:nvPr/>
                </p:nvSpPr>
                <p:spPr>
                  <a:xfrm>
                    <a:off x="8400074" y="2904090"/>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400074" y="2904090"/>
                    <a:ext cx="576536" cy="523220"/>
                  </a:xfrm>
                  <a:prstGeom prst="rect">
                    <a:avLst/>
                  </a:prstGeom>
                  <a:blipFill>
                    <a:blip r:embed="rId7"/>
                    <a:stretch>
                      <a:fillRect l="-4255" r="-85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原点">
                    <a:extLst>
                      <a:ext uri="{FF2B5EF4-FFF2-40B4-BE49-F238E27FC236}">
                        <a16:creationId xmlns:a16="http://schemas.microsoft.com/office/drawing/2014/main" id="{62D64E3F-59F2-2DE9-407E-953D2D739614}"/>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53" name="原点">
                    <a:extLst>
                      <a:ext uri="{FF2B5EF4-FFF2-40B4-BE49-F238E27FC236}">
                        <a16:creationId xmlns:a16="http://schemas.microsoft.com/office/drawing/2014/main" id="{62D64E3F-59F2-2DE9-407E-953D2D739614}"/>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8"/>
                    <a:stretch>
                      <a:fillRect/>
                    </a:stretch>
                  </a:blipFill>
                </p:spPr>
                <p:txBody>
                  <a:bodyPr/>
                  <a:lstStyle/>
                  <a:p>
                    <a:r>
                      <a:rPr lang="zh-CN" altLang="en-US">
                        <a:noFill/>
                      </a:rPr>
                      <a:t> </a:t>
                    </a:r>
                  </a:p>
                </p:txBody>
              </p:sp>
            </mc:Fallback>
          </mc:AlternateContent>
        </p:grpSp>
        <p:sp>
          <p:nvSpPr>
            <p:cNvPr id="31" name="弧 30">
              <a:extLst>
                <a:ext uri="{FF2B5EF4-FFF2-40B4-BE49-F238E27FC236}">
                  <a16:creationId xmlns:a16="http://schemas.microsoft.com/office/drawing/2014/main" id="{01A15E8C-9941-FF7D-51D6-C52FCC17DC2E}"/>
                </a:ext>
              </a:extLst>
            </p:cNvPr>
            <p:cNvSpPr/>
            <p:nvPr/>
          </p:nvSpPr>
          <p:spPr>
            <a:xfrm>
              <a:off x="7098104" y="2106078"/>
              <a:ext cx="3392792" cy="3392792"/>
            </a:xfrm>
            <a:prstGeom prst="arc">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2" name="弧 31">
              <a:extLst>
                <a:ext uri="{FF2B5EF4-FFF2-40B4-BE49-F238E27FC236}">
                  <a16:creationId xmlns:a16="http://schemas.microsoft.com/office/drawing/2014/main" id="{36830088-E61F-6CD5-414A-1F4F6DBEB413}"/>
                </a:ext>
              </a:extLst>
            </p:cNvPr>
            <p:cNvSpPr/>
            <p:nvPr/>
          </p:nvSpPr>
          <p:spPr>
            <a:xfrm rot="5400000">
              <a:off x="7080305" y="2107323"/>
              <a:ext cx="3392792" cy="3392792"/>
            </a:xfrm>
            <a:prstGeom prst="arc">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3" name="弧 32">
              <a:extLst>
                <a:ext uri="{FF2B5EF4-FFF2-40B4-BE49-F238E27FC236}">
                  <a16:creationId xmlns:a16="http://schemas.microsoft.com/office/drawing/2014/main" id="{020FF0DD-FF66-DAEB-7E7D-7709DD68316F}"/>
                </a:ext>
              </a:extLst>
            </p:cNvPr>
            <p:cNvSpPr/>
            <p:nvPr/>
          </p:nvSpPr>
          <p:spPr>
            <a:xfrm rot="5400000">
              <a:off x="8002152" y="3027925"/>
              <a:ext cx="1549098" cy="1549098"/>
            </a:xfrm>
            <a:prstGeom prst="arc">
              <a:avLst>
                <a:gd name="adj1" fmla="val 10855401"/>
                <a:gd name="adj2" fmla="val 0"/>
              </a:avLst>
            </a:prstGeom>
            <a:ln w="38100">
              <a:solidFill>
                <a:srgbClr val="E44860"/>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35" name="虚轴">
              <a:extLst>
                <a:ext uri="{FF2B5EF4-FFF2-40B4-BE49-F238E27FC236}">
                  <a16:creationId xmlns:a16="http://schemas.microsoft.com/office/drawing/2014/main" id="{CE037D3B-C479-4083-9F12-E6E996267C9F}"/>
                </a:ext>
              </a:extLst>
            </p:cNvPr>
            <p:cNvCxnSpPr>
              <a:cxnSpLocks/>
            </p:cNvCxnSpPr>
            <p:nvPr/>
          </p:nvCxnSpPr>
          <p:spPr>
            <a:xfrm flipV="1">
              <a:off x="8802919" y="2041011"/>
              <a:ext cx="0" cy="1721357"/>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虚轴">
              <a:extLst>
                <a:ext uri="{FF2B5EF4-FFF2-40B4-BE49-F238E27FC236}">
                  <a16:creationId xmlns:a16="http://schemas.microsoft.com/office/drawing/2014/main" id="{756753F3-E5A9-26CD-A774-6912A53116BB}"/>
                </a:ext>
              </a:extLst>
            </p:cNvPr>
            <p:cNvCxnSpPr>
              <a:cxnSpLocks/>
            </p:cNvCxnSpPr>
            <p:nvPr/>
          </p:nvCxnSpPr>
          <p:spPr>
            <a:xfrm flipV="1">
              <a:off x="8802919" y="3761210"/>
              <a:ext cx="0" cy="1737660"/>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原点">
                  <a:extLst>
                    <a:ext uri="{FF2B5EF4-FFF2-40B4-BE49-F238E27FC236}">
                      <a16:creationId xmlns:a16="http://schemas.microsoft.com/office/drawing/2014/main" id="{BC88A8BA-B33B-0A90-5B13-3D9D406C712C}"/>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37" name="原点">
                  <a:extLst>
                    <a:ext uri="{FF2B5EF4-FFF2-40B4-BE49-F238E27FC236}">
                      <a16:creationId xmlns:a16="http://schemas.microsoft.com/office/drawing/2014/main" id="{BC88A8BA-B33B-0A90-5B13-3D9D406C712C}"/>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9"/>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原点">
                  <a:extLst>
                    <a:ext uri="{FF2B5EF4-FFF2-40B4-BE49-F238E27FC236}">
                      <a16:creationId xmlns:a16="http://schemas.microsoft.com/office/drawing/2014/main" id="{6713332C-7596-4C50-7230-BD690A6FA87D}"/>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2</m:t>
                            </m:r>
                          </m:e>
                        </m:d>
                      </m:oMath>
                    </m:oMathPara>
                  </a14:m>
                  <a:endParaRPr lang="zh-CN" altLang="en-US" sz="2800" dirty="0">
                    <a:solidFill>
                      <a:srgbClr val="E44860"/>
                    </a:solidFill>
                  </a:endParaRPr>
                </a:p>
              </p:txBody>
            </p:sp>
          </mc:Choice>
          <mc:Fallback xmlns="">
            <p:sp>
              <p:nvSpPr>
                <p:cNvPr id="41" name="原点">
                  <a:extLst>
                    <a:ext uri="{FF2B5EF4-FFF2-40B4-BE49-F238E27FC236}">
                      <a16:creationId xmlns:a16="http://schemas.microsoft.com/office/drawing/2014/main" id="{6713332C-7596-4C50-7230-BD690A6FA87D}"/>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0"/>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E44F1A1B-E1C0-4E7B-7FA0-710529513075}"/>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3</m:t>
                            </m:r>
                          </m:e>
                        </m:d>
                      </m:oMath>
                    </m:oMathPara>
                  </a14:m>
                  <a:endParaRPr lang="zh-CN" altLang="en-US" sz="2800" dirty="0">
                    <a:solidFill>
                      <a:srgbClr val="E44860"/>
                    </a:solidFill>
                  </a:endParaRPr>
                </a:p>
              </p:txBody>
            </p:sp>
          </mc:Choice>
          <mc:Fallback xmlns="">
            <p:sp>
              <p:nvSpPr>
                <p:cNvPr id="42" name="原点">
                  <a:extLst>
                    <a:ext uri="{FF2B5EF4-FFF2-40B4-BE49-F238E27FC236}">
                      <a16:creationId xmlns:a16="http://schemas.microsoft.com/office/drawing/2014/main" id="{E44F1A1B-E1C0-4E7B-7FA0-710529513075}"/>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1"/>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原点">
                  <a:extLst>
                    <a:ext uri="{FF2B5EF4-FFF2-40B4-BE49-F238E27FC236}">
                      <a16:creationId xmlns:a16="http://schemas.microsoft.com/office/drawing/2014/main" id="{E0027A73-3893-2838-C0BA-84ECF87A3A88}"/>
                    </a:ext>
                  </a:extLst>
                </p:cNvPr>
                <p:cNvSpPr txBox="1"/>
                <p:nvPr/>
              </p:nvSpPr>
              <p:spPr>
                <a:xfrm>
                  <a:off x="9574161"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4</m:t>
                            </m:r>
                          </m:e>
                        </m:d>
                      </m:oMath>
                    </m:oMathPara>
                  </a14:m>
                  <a:endParaRPr lang="zh-CN" altLang="en-US" sz="2800" dirty="0">
                    <a:solidFill>
                      <a:srgbClr val="E44860"/>
                    </a:solidFill>
                  </a:endParaRPr>
                </a:p>
              </p:txBody>
            </p:sp>
          </mc:Choice>
          <mc:Fallback xmlns="">
            <p:sp>
              <p:nvSpPr>
                <p:cNvPr id="44" name="原点">
                  <a:extLst>
                    <a:ext uri="{FF2B5EF4-FFF2-40B4-BE49-F238E27FC236}">
                      <a16:creationId xmlns:a16="http://schemas.microsoft.com/office/drawing/2014/main" id="{E0027A73-3893-2838-C0BA-84ECF87A3A88}"/>
                    </a:ext>
                  </a:extLst>
                </p:cNvPr>
                <p:cNvSpPr txBox="1">
                  <a:spLocks noRot="1" noChangeAspect="1" noMove="1" noResize="1" noEditPoints="1" noAdjustHandles="1" noChangeArrowheads="1" noChangeShapeType="1" noTextEdit="1"/>
                </p:cNvSpPr>
                <p:nvPr/>
              </p:nvSpPr>
              <p:spPr>
                <a:xfrm>
                  <a:off x="9574161" y="3166652"/>
                  <a:ext cx="545352" cy="524695"/>
                </a:xfrm>
                <a:prstGeom prst="rect">
                  <a:avLst/>
                </a:prstGeom>
                <a:blipFill>
                  <a:blip r:embed="rId12"/>
                  <a:stretch>
                    <a:fillRect r="-2273"/>
                  </a:stretch>
                </a:blipFill>
              </p:spPr>
              <p:txBody>
                <a:bodyPr/>
                <a:lstStyle/>
                <a:p>
                  <a:r>
                    <a:rPr lang="zh-CN" altLang="en-US">
                      <a:noFill/>
                    </a:rPr>
                    <a:t> </a:t>
                  </a:r>
                </a:p>
              </p:txBody>
            </p:sp>
          </mc:Fallback>
        </mc:AlternateContent>
        <p:cxnSp>
          <p:nvCxnSpPr>
            <p:cNvPr id="46" name="虚轴">
              <a:extLst>
                <a:ext uri="{FF2B5EF4-FFF2-40B4-BE49-F238E27FC236}">
                  <a16:creationId xmlns:a16="http://schemas.microsoft.com/office/drawing/2014/main" id="{B100D2FF-FA9A-EE9E-C5B1-1C1CA99CED4F}"/>
                </a:ext>
              </a:extLst>
            </p:cNvPr>
            <p:cNvCxnSpPr>
              <a:cxnSpLocks/>
            </p:cNvCxnSpPr>
            <p:nvPr/>
          </p:nvCxnSpPr>
          <p:spPr>
            <a:xfrm flipV="1">
              <a:off x="8820719" y="2482000"/>
              <a:ext cx="1026118" cy="1299599"/>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原点">
                  <a:extLst>
                    <a:ext uri="{FF2B5EF4-FFF2-40B4-BE49-F238E27FC236}">
                      <a16:creationId xmlns:a16="http://schemas.microsoft.com/office/drawing/2014/main" id="{46B2A2E8-27D3-866C-AA8D-9CB16FD02AB0}"/>
                    </a:ext>
                  </a:extLst>
                </p:cNvPr>
                <p:cNvSpPr txBox="1"/>
                <p:nvPr/>
              </p:nvSpPr>
              <p:spPr>
                <a:xfrm>
                  <a:off x="9176371" y="226855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oMath>
                    </m:oMathPara>
                  </a14:m>
                  <a:endParaRPr lang="zh-CN" altLang="en-US" sz="2800" dirty="0">
                    <a:solidFill>
                      <a:schemeClr val="tx1"/>
                    </a:solidFill>
                  </a:endParaRPr>
                </a:p>
              </p:txBody>
            </p:sp>
          </mc:Choice>
          <mc:Fallback xmlns="">
            <p:sp>
              <p:nvSpPr>
                <p:cNvPr id="47" name="原点">
                  <a:extLst>
                    <a:ext uri="{FF2B5EF4-FFF2-40B4-BE49-F238E27FC236}">
                      <a16:creationId xmlns:a16="http://schemas.microsoft.com/office/drawing/2014/main" id="{46B2A2E8-27D3-866C-AA8D-9CB16FD02AB0}"/>
                    </a:ext>
                  </a:extLst>
                </p:cNvPr>
                <p:cNvSpPr txBox="1">
                  <a:spLocks noRot="1" noChangeAspect="1" noMove="1" noResize="1" noEditPoints="1" noAdjustHandles="1" noChangeArrowheads="1" noChangeShapeType="1" noTextEdit="1"/>
                </p:cNvSpPr>
                <p:nvPr/>
              </p:nvSpPr>
              <p:spPr>
                <a:xfrm>
                  <a:off x="9176371" y="2268553"/>
                  <a:ext cx="545352" cy="524695"/>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原点">
                  <a:extLst>
                    <a:ext uri="{FF2B5EF4-FFF2-40B4-BE49-F238E27FC236}">
                      <a16:creationId xmlns:a16="http://schemas.microsoft.com/office/drawing/2014/main" id="{0FE7038F-1BA9-B499-1917-C2F787EEBA72}"/>
                    </a:ext>
                  </a:extLst>
                </p:cNvPr>
                <p:cNvSpPr txBox="1"/>
                <p:nvPr/>
              </p:nvSpPr>
              <p:spPr>
                <a:xfrm>
                  <a:off x="10260065" y="2483536"/>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altLang="zh-CN" sz="2800" i="1" smtClean="0">
                            <a:solidFill>
                              <a:srgbClr val="E44860"/>
                            </a:solidFill>
                            <a:latin typeface="Cambria Math" panose="02040503050406030204" pitchFamily="18" charset="0"/>
                            <a:ea typeface="Cambria Math" panose="02040503050406030204" pitchFamily="18" charset="0"/>
                          </a:rPr>
                          <m:t>Γ</m:t>
                        </m:r>
                      </m:oMath>
                    </m:oMathPara>
                  </a14:m>
                  <a:endParaRPr lang="zh-CN" altLang="en-US" sz="2800" dirty="0">
                    <a:solidFill>
                      <a:srgbClr val="E44860"/>
                    </a:solidFill>
                  </a:endParaRPr>
                </a:p>
              </p:txBody>
            </p:sp>
          </mc:Choice>
          <mc:Fallback xmlns="">
            <p:sp>
              <p:nvSpPr>
                <p:cNvPr id="48" name="原点">
                  <a:extLst>
                    <a:ext uri="{FF2B5EF4-FFF2-40B4-BE49-F238E27FC236}">
                      <a16:creationId xmlns:a16="http://schemas.microsoft.com/office/drawing/2014/main" id="{0FE7038F-1BA9-B499-1917-C2F787EEBA72}"/>
                    </a:ext>
                  </a:extLst>
                </p:cNvPr>
                <p:cNvSpPr txBox="1">
                  <a:spLocks noRot="1" noChangeAspect="1" noMove="1" noResize="1" noEditPoints="1" noAdjustHandles="1" noChangeArrowheads="1" noChangeShapeType="1" noTextEdit="1"/>
                </p:cNvSpPr>
                <p:nvPr/>
              </p:nvSpPr>
              <p:spPr>
                <a:xfrm>
                  <a:off x="10260065" y="2483536"/>
                  <a:ext cx="545352" cy="524695"/>
                </a:xfrm>
                <a:prstGeom prst="rect">
                  <a:avLst/>
                </a:prstGeom>
                <a:blipFill>
                  <a:blip r:embed="rId14"/>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865852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wipe(down)">
                                      <p:cBhvr>
                                        <p:cTn id="11" dur="500"/>
                                        <p:tgtEl>
                                          <p:spTgt spid="71"/>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down)">
                                      <p:cBhvr>
                                        <p:cTn id="1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1"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a:t>
            </a:r>
            <a:r>
              <a:rPr lang="en-US" altLang="zh-CN" sz="2800" b="1" dirty="0">
                <a:solidFill>
                  <a:schemeClr val="bg1"/>
                </a:solidFill>
                <a:latin typeface="微软雅黑" panose="020B0503020204020204" pitchFamily="34" charset="-122"/>
                <a:ea typeface="微软雅黑" panose="020B0503020204020204" pitchFamily="34" charset="-122"/>
              </a:rPr>
              <a:t>0</a:t>
            </a:r>
            <a:r>
              <a:rPr lang="zh-CN" altLang="en-US" sz="2800" b="1" dirty="0">
                <a:solidFill>
                  <a:schemeClr val="bg1"/>
                </a:solidFill>
                <a:latin typeface="微软雅黑" panose="020B0503020204020204" pitchFamily="34" charset="-122"/>
                <a:ea typeface="微软雅黑" panose="020B0503020204020204" pitchFamily="34" charset="-122"/>
              </a:rPr>
              <a:t>型系统奈奎斯特图</a:t>
            </a:r>
          </a:p>
        </p:txBody>
      </p:sp>
      <p:sp>
        <p:nvSpPr>
          <p:cNvPr id="35" name="幅相">
            <a:extLst>
              <a:ext uri="{FF2B5EF4-FFF2-40B4-BE49-F238E27FC236}">
                <a16:creationId xmlns:a16="http://schemas.microsoft.com/office/drawing/2014/main" id="{6D9CB9E4-827A-67BE-4B81-4879FE516102}"/>
              </a:ext>
            </a:extLst>
          </p:cNvPr>
          <p:cNvSpPr/>
          <p:nvPr/>
        </p:nvSpPr>
        <p:spPr>
          <a:xfrm flipV="1">
            <a:off x="7816178" y="3248446"/>
            <a:ext cx="456652" cy="126112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Lst>
            <a:ahLst/>
            <a:cxnLst>
              <a:cxn ang="0">
                <a:pos x="connsiteX0" y="connsiteY0"/>
              </a:cxn>
              <a:cxn ang="0">
                <a:pos x="connsiteX1" y="connsiteY1"/>
              </a:cxn>
            </a:cxnLst>
            <a:rect l="l" t="t" r="r" b="b"/>
            <a:pathLst>
              <a:path w="336599" h="1559862">
                <a:moveTo>
                  <a:pt x="322844" y="453380"/>
                </a:moveTo>
                <a:cubicBezTo>
                  <a:pt x="243862" y="-672964"/>
                  <a:pt x="-370651" y="529884"/>
                  <a:pt x="336599" y="1559862"/>
                </a:cubicBezTo>
              </a:path>
            </a:pathLst>
          </a:custGeom>
          <a:noFill/>
          <a:ln w="38100">
            <a:solidFill>
              <a:srgbClr val="159F84"/>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406779"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406779" y="1891237"/>
                <a:ext cx="801225" cy="524695"/>
              </a:xfrm>
              <a:prstGeom prst="rect">
                <a:avLst/>
              </a:prstGeom>
              <a:blipFill>
                <a:blip r:embed="rId3"/>
                <a:stretch>
                  <a:fillRect r="-3125"/>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6588427"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2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6</m:t>
                          </m:r>
                        </m:num>
                        <m:den>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0.5</m:t>
                              </m:r>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0.2</m:t>
                              </m:r>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2699"/>
              </a:xfrm>
              <a:prstGeom prst="rect">
                <a:avLst/>
              </a:prstGeom>
              <a:blipFill>
                <a:blip r:embed="rId6"/>
                <a:stretch>
                  <a:fillRect b="-1316"/>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994D3405-C224-29C9-A948-656257DFBA4B}"/>
              </a:ext>
            </a:extLst>
          </p:cNvPr>
          <p:cNvGrpSpPr/>
          <p:nvPr/>
        </p:nvGrpSpPr>
        <p:grpSpPr>
          <a:xfrm>
            <a:off x="766614" y="1891237"/>
            <a:ext cx="4343493" cy="4418083"/>
            <a:chOff x="7080305" y="1516316"/>
            <a:chExt cx="4343493" cy="4418083"/>
          </a:xfrm>
        </p:grpSpPr>
        <p:grpSp>
          <p:nvGrpSpPr>
            <p:cNvPr id="6" name="坐标轴">
              <a:extLst>
                <a:ext uri="{FF2B5EF4-FFF2-40B4-BE49-F238E27FC236}">
                  <a16:creationId xmlns:a16="http://schemas.microsoft.com/office/drawing/2014/main" id="{4AB902D0-AD77-2FAC-001A-D30F5A5FFABD}"/>
                </a:ext>
              </a:extLst>
            </p:cNvPr>
            <p:cNvGrpSpPr/>
            <p:nvPr/>
          </p:nvGrpSpPr>
          <p:grpSpPr>
            <a:xfrm>
              <a:off x="7997028" y="1516316"/>
              <a:ext cx="3426770" cy="4418083"/>
              <a:chOff x="8390928" y="2461626"/>
              <a:chExt cx="3426770" cy="4418083"/>
            </a:xfrm>
          </p:grpSpPr>
          <p:cxnSp>
            <p:nvCxnSpPr>
              <p:cNvPr id="21" name="实轴">
                <a:extLst>
                  <a:ext uri="{FF2B5EF4-FFF2-40B4-BE49-F238E27FC236}">
                    <a16:creationId xmlns:a16="http://schemas.microsoft.com/office/drawing/2014/main" id="{ACC8922D-1522-36F7-060B-B920A1ABF0B9}"/>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虚轴">
                <a:extLst>
                  <a:ext uri="{FF2B5EF4-FFF2-40B4-BE49-F238E27FC236}">
                    <a16:creationId xmlns:a16="http://schemas.microsoft.com/office/drawing/2014/main" id="{DD3D7083-07D6-FF78-4F42-E379ABED4544}"/>
                  </a:ext>
                </a:extLst>
              </p:cNvPr>
              <p:cNvCxnSpPr>
                <a:cxnSpLocks/>
              </p:cNvCxnSpPr>
              <p:nvPr/>
            </p:nvCxnSpPr>
            <p:spPr>
              <a:xfrm flipV="1">
                <a:off x="9196819" y="2461626"/>
                <a:ext cx="0" cy="441808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
                    <a:extLst>
                      <a:ext uri="{FF2B5EF4-FFF2-40B4-BE49-F238E27FC236}">
                        <a16:creationId xmlns:a16="http://schemas.microsoft.com/office/drawing/2014/main" id="{9C6CAAC8-AB04-B618-A9F5-670CC130EBD0}"/>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4" name="Re">
                    <a:extLst>
                      <a:ext uri="{FF2B5EF4-FFF2-40B4-BE49-F238E27FC236}">
                        <a16:creationId xmlns:a16="http://schemas.microsoft.com/office/drawing/2014/main" id="{9C6CAAC8-AB04-B618-A9F5-670CC130EBD0}"/>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7"/>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Im">
                    <a:extLst>
                      <a:ext uri="{FF2B5EF4-FFF2-40B4-BE49-F238E27FC236}">
                        <a16:creationId xmlns:a16="http://schemas.microsoft.com/office/drawing/2014/main" id="{12DBA807-E647-DBF1-310D-E2620D3CE453}"/>
                      </a:ext>
                    </a:extLst>
                  </p:cNvPr>
                  <p:cNvSpPr txBox="1"/>
                  <p:nvPr/>
                </p:nvSpPr>
                <p:spPr>
                  <a:xfrm>
                    <a:off x="8390928" y="246162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25" name="Im">
                    <a:extLst>
                      <a:ext uri="{FF2B5EF4-FFF2-40B4-BE49-F238E27FC236}">
                        <a16:creationId xmlns:a16="http://schemas.microsoft.com/office/drawing/2014/main" id="{12DBA807-E647-DBF1-310D-E2620D3CE453}"/>
                      </a:ext>
                    </a:extLst>
                  </p:cNvPr>
                  <p:cNvSpPr txBox="1">
                    <a:spLocks noRot="1" noChangeAspect="1" noMove="1" noResize="1" noEditPoints="1" noAdjustHandles="1" noChangeArrowheads="1" noChangeShapeType="1" noTextEdit="1"/>
                  </p:cNvSpPr>
                  <p:nvPr/>
                </p:nvSpPr>
                <p:spPr>
                  <a:xfrm>
                    <a:off x="8390928" y="2461626"/>
                    <a:ext cx="576536" cy="523220"/>
                  </a:xfrm>
                  <a:prstGeom prst="rect">
                    <a:avLst/>
                  </a:prstGeom>
                  <a:blipFill>
                    <a:blip r:embed="rId8"/>
                    <a:stretch>
                      <a:fillRect l="-4255"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原点">
                    <a:extLst>
                      <a:ext uri="{FF2B5EF4-FFF2-40B4-BE49-F238E27FC236}">
                        <a16:creationId xmlns:a16="http://schemas.microsoft.com/office/drawing/2014/main" id="{B6093241-A06D-0BAC-6B26-84A5A59093E5}"/>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6" name="原点">
                    <a:extLst>
                      <a:ext uri="{FF2B5EF4-FFF2-40B4-BE49-F238E27FC236}">
                        <a16:creationId xmlns:a16="http://schemas.microsoft.com/office/drawing/2014/main" id="{B6093241-A06D-0BAC-6B26-84A5A59093E5}"/>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9"/>
                    <a:stretch>
                      <a:fillRect/>
                    </a:stretch>
                  </a:blipFill>
                </p:spPr>
                <p:txBody>
                  <a:bodyPr/>
                  <a:lstStyle/>
                  <a:p>
                    <a:r>
                      <a:rPr lang="zh-CN" altLang="en-US">
                        <a:noFill/>
                      </a:rPr>
                      <a:t> </a:t>
                    </a:r>
                  </a:p>
                </p:txBody>
              </p:sp>
            </mc:Fallback>
          </mc:AlternateContent>
        </p:grpSp>
        <p:sp>
          <p:nvSpPr>
            <p:cNvPr id="8" name="弧 7">
              <a:extLst>
                <a:ext uri="{FF2B5EF4-FFF2-40B4-BE49-F238E27FC236}">
                  <a16:creationId xmlns:a16="http://schemas.microsoft.com/office/drawing/2014/main" id="{D07A5511-1B5C-F61C-A671-8D0B7A6429BC}"/>
                </a:ext>
              </a:extLst>
            </p:cNvPr>
            <p:cNvSpPr/>
            <p:nvPr/>
          </p:nvSpPr>
          <p:spPr>
            <a:xfrm>
              <a:off x="7098104" y="2106078"/>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弧 8">
              <a:extLst>
                <a:ext uri="{FF2B5EF4-FFF2-40B4-BE49-F238E27FC236}">
                  <a16:creationId xmlns:a16="http://schemas.microsoft.com/office/drawing/2014/main" id="{39C228D9-D4A5-A537-F001-A6F2C4CBD3EA}"/>
                </a:ext>
              </a:extLst>
            </p:cNvPr>
            <p:cNvSpPr/>
            <p:nvPr/>
          </p:nvSpPr>
          <p:spPr>
            <a:xfrm rot="5400000">
              <a:off x="7080305" y="2107323"/>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2" name="虚轴">
              <a:extLst>
                <a:ext uri="{FF2B5EF4-FFF2-40B4-BE49-F238E27FC236}">
                  <a16:creationId xmlns:a16="http://schemas.microsoft.com/office/drawing/2014/main" id="{16840FED-4399-C176-11DE-A39C70B1366A}"/>
                </a:ext>
              </a:extLst>
            </p:cNvPr>
            <p:cNvCxnSpPr>
              <a:cxnSpLocks/>
            </p:cNvCxnSpPr>
            <p:nvPr/>
          </p:nvCxnSpPr>
          <p:spPr>
            <a:xfrm flipV="1">
              <a:off x="8802919" y="2041011"/>
              <a:ext cx="0" cy="1721357"/>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虚轴">
              <a:extLst>
                <a:ext uri="{FF2B5EF4-FFF2-40B4-BE49-F238E27FC236}">
                  <a16:creationId xmlns:a16="http://schemas.microsoft.com/office/drawing/2014/main" id="{C2F8787F-84AF-228C-1A19-6CB82650A169}"/>
                </a:ext>
              </a:extLst>
            </p:cNvPr>
            <p:cNvCxnSpPr>
              <a:cxnSpLocks/>
            </p:cNvCxnSpPr>
            <p:nvPr/>
          </p:nvCxnSpPr>
          <p:spPr>
            <a:xfrm flipV="1">
              <a:off x="8802919" y="3761210"/>
              <a:ext cx="0" cy="1737660"/>
            </a:xfrm>
            <a:prstGeom prst="straightConnector1">
              <a:avLst/>
            </a:prstGeom>
            <a:ln w="38100">
              <a:solidFill>
                <a:srgbClr val="159F84"/>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原点">
                  <a:extLst>
                    <a:ext uri="{FF2B5EF4-FFF2-40B4-BE49-F238E27FC236}">
                      <a16:creationId xmlns:a16="http://schemas.microsoft.com/office/drawing/2014/main" id="{70844F8D-33A3-7E54-0DB1-5BCF8111FCFF}"/>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4" name="原点">
                  <a:extLst>
                    <a:ext uri="{FF2B5EF4-FFF2-40B4-BE49-F238E27FC236}">
                      <a16:creationId xmlns:a16="http://schemas.microsoft.com/office/drawing/2014/main" id="{70844F8D-33A3-7E54-0DB1-5BCF8111FCFF}"/>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10"/>
                  <a:stretch>
                    <a:fillRect r="-46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原点">
                  <a:extLst>
                    <a:ext uri="{FF2B5EF4-FFF2-40B4-BE49-F238E27FC236}">
                      <a16:creationId xmlns:a16="http://schemas.microsoft.com/office/drawing/2014/main" id="{CD3ECA48-C979-F318-350E-5FDD2568CF0A}"/>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15" name="原点">
                  <a:extLst>
                    <a:ext uri="{FF2B5EF4-FFF2-40B4-BE49-F238E27FC236}">
                      <a16:creationId xmlns:a16="http://schemas.microsoft.com/office/drawing/2014/main" id="{CD3ECA48-C979-F318-350E-5FDD2568CF0A}"/>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1"/>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D251A143-5F50-FAD8-DE38-8E3DF82DFFAA}"/>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16" name="原点">
                  <a:extLst>
                    <a:ext uri="{FF2B5EF4-FFF2-40B4-BE49-F238E27FC236}">
                      <a16:creationId xmlns:a16="http://schemas.microsoft.com/office/drawing/2014/main" id="{D251A143-5F50-FAD8-DE38-8E3DF82DFFAA}"/>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2"/>
                  <a:stretch>
                    <a:fillRect r="-2273"/>
                  </a:stretch>
                </a:blipFill>
              </p:spPr>
              <p:txBody>
                <a:bodyPr/>
                <a:lstStyle/>
                <a:p>
                  <a:r>
                    <a:rPr lang="zh-CN" altLang="en-US">
                      <a:noFill/>
                    </a:rPr>
                    <a:t> </a:t>
                  </a:r>
                </a:p>
              </p:txBody>
            </p:sp>
          </mc:Fallback>
        </mc:AlternateContent>
        <p:cxnSp>
          <p:nvCxnSpPr>
            <p:cNvPr id="18" name="虚轴">
              <a:extLst>
                <a:ext uri="{FF2B5EF4-FFF2-40B4-BE49-F238E27FC236}">
                  <a16:creationId xmlns:a16="http://schemas.microsoft.com/office/drawing/2014/main" id="{F5BE2D5D-56FC-DB57-E0AA-3DFCD7018853}"/>
                </a:ext>
              </a:extLst>
            </p:cNvPr>
            <p:cNvCxnSpPr>
              <a:cxnSpLocks/>
            </p:cNvCxnSpPr>
            <p:nvPr/>
          </p:nvCxnSpPr>
          <p:spPr>
            <a:xfrm flipV="1">
              <a:off x="8820719" y="2482000"/>
              <a:ext cx="1026118" cy="1299599"/>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原点">
                  <a:extLst>
                    <a:ext uri="{FF2B5EF4-FFF2-40B4-BE49-F238E27FC236}">
                      <a16:creationId xmlns:a16="http://schemas.microsoft.com/office/drawing/2014/main" id="{3CA272D1-152C-B723-B4F5-C68E7FA8BFD1}"/>
                    </a:ext>
                  </a:extLst>
                </p:cNvPr>
                <p:cNvSpPr txBox="1"/>
                <p:nvPr/>
              </p:nvSpPr>
              <p:spPr>
                <a:xfrm>
                  <a:off x="9176371" y="226855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oMath>
                    </m:oMathPara>
                  </a14:m>
                  <a:endParaRPr lang="zh-CN" altLang="en-US" sz="2800" dirty="0">
                    <a:solidFill>
                      <a:schemeClr val="tx1"/>
                    </a:solidFill>
                  </a:endParaRPr>
                </a:p>
              </p:txBody>
            </p:sp>
          </mc:Choice>
          <mc:Fallback xmlns="">
            <p:sp>
              <p:nvSpPr>
                <p:cNvPr id="19" name="原点">
                  <a:extLst>
                    <a:ext uri="{FF2B5EF4-FFF2-40B4-BE49-F238E27FC236}">
                      <a16:creationId xmlns:a16="http://schemas.microsoft.com/office/drawing/2014/main" id="{3CA272D1-152C-B723-B4F5-C68E7FA8BFD1}"/>
                    </a:ext>
                  </a:extLst>
                </p:cNvPr>
                <p:cNvSpPr txBox="1">
                  <a:spLocks noRot="1" noChangeAspect="1" noMove="1" noResize="1" noEditPoints="1" noAdjustHandles="1" noChangeArrowheads="1" noChangeShapeType="1" noTextEdit="1"/>
                </p:cNvSpPr>
                <p:nvPr/>
              </p:nvSpPr>
              <p:spPr>
                <a:xfrm>
                  <a:off x="9176371" y="2268553"/>
                  <a:ext cx="545352" cy="524695"/>
                </a:xfrm>
                <a:prstGeom prst="rect">
                  <a:avLst/>
                </a:prstGeom>
                <a:blipFill>
                  <a:blip r:embed="rId13"/>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wc1">
                <a:extLst>
                  <a:ext uri="{FF2B5EF4-FFF2-40B4-BE49-F238E27FC236}">
                    <a16:creationId xmlns:a16="http://schemas.microsoft.com/office/drawing/2014/main" id="{5CADC978-2300-CAAF-BFB5-A282F8F8D5D3}"/>
                  </a:ext>
                </a:extLst>
              </p:cNvPr>
              <p:cNvSpPr txBox="1"/>
              <p:nvPr/>
            </p:nvSpPr>
            <p:spPr>
              <a:xfrm>
                <a:off x="2547327" y="1882540"/>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27" name="wc1">
                <a:extLst>
                  <a:ext uri="{FF2B5EF4-FFF2-40B4-BE49-F238E27FC236}">
                    <a16:creationId xmlns:a16="http://schemas.microsoft.com/office/drawing/2014/main" id="{5CADC978-2300-CAAF-BFB5-A282F8F8D5D3}"/>
                  </a:ext>
                </a:extLst>
              </p:cNvPr>
              <p:cNvSpPr txBox="1">
                <a:spLocks noRot="1" noChangeAspect="1" noMove="1" noResize="1" noEditPoints="1" noAdjustHandles="1" noChangeArrowheads="1" noChangeShapeType="1" noTextEdit="1"/>
              </p:cNvSpPr>
              <p:nvPr/>
            </p:nvSpPr>
            <p:spPr>
              <a:xfrm>
                <a:off x="2547327" y="1882540"/>
                <a:ext cx="801225" cy="524695"/>
              </a:xfrm>
              <a:prstGeom prst="rect">
                <a:avLst/>
              </a:prstGeom>
              <a:blipFill>
                <a:blip r:embed="rId14"/>
                <a:stretch>
                  <a:fillRect/>
                </a:stretch>
              </a:blipFill>
            </p:spPr>
            <p:txBody>
              <a:bodyPr/>
              <a:lstStyle/>
              <a:p>
                <a:r>
                  <a:rPr lang="zh-CN" altLang="en-US">
                    <a:noFill/>
                  </a:rPr>
                  <a:t> </a:t>
                </a:r>
              </a:p>
            </p:txBody>
          </p:sp>
        </mc:Fallback>
      </mc:AlternateContent>
      <p:sp>
        <p:nvSpPr>
          <p:cNvPr id="34" name="幅相">
            <a:extLst>
              <a:ext uri="{FF2B5EF4-FFF2-40B4-BE49-F238E27FC236}">
                <a16:creationId xmlns:a16="http://schemas.microsoft.com/office/drawing/2014/main" id="{F8E23D80-4427-A293-1DB3-FB0FA5F74C8C}"/>
              </a:ext>
            </a:extLst>
          </p:cNvPr>
          <p:cNvSpPr/>
          <p:nvPr/>
        </p:nvSpPr>
        <p:spPr>
          <a:xfrm flipV="1">
            <a:off x="8219504" y="2882368"/>
            <a:ext cx="2176009" cy="128179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Lst>
            <a:ahLst/>
            <a:cxnLst>
              <a:cxn ang="0">
                <a:pos x="connsiteX0" y="connsiteY0"/>
              </a:cxn>
              <a:cxn ang="0">
                <a:pos x="connsiteX1" y="connsiteY1"/>
              </a:cxn>
            </a:cxnLst>
            <a:rect l="l" t="t" r="r" b="b"/>
            <a:pathLst>
              <a:path w="1603942" h="1585424">
                <a:moveTo>
                  <a:pt x="0" y="1083032"/>
                </a:moveTo>
                <a:cubicBezTo>
                  <a:pt x="474049" y="2044700"/>
                  <a:pt x="1622323" y="1594537"/>
                  <a:pt x="1603719" y="0"/>
                </a:cubicBezTo>
              </a:path>
            </a:pathLst>
          </a:custGeom>
          <a:noFill/>
          <a:ln w="38100">
            <a:solidFill>
              <a:srgbClr val="159F84"/>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幅相">
            <a:extLst>
              <a:ext uri="{FF2B5EF4-FFF2-40B4-BE49-F238E27FC236}">
                <a16:creationId xmlns:a16="http://schemas.microsoft.com/office/drawing/2014/main" id="{05F986A9-A0A1-BB30-155D-8174DC9B3E60}"/>
              </a:ext>
            </a:extLst>
          </p:cNvPr>
          <p:cNvSpPr/>
          <p:nvPr/>
        </p:nvSpPr>
        <p:spPr>
          <a:xfrm>
            <a:off x="7823398" y="3824062"/>
            <a:ext cx="456652" cy="126112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Lst>
            <a:ahLst/>
            <a:cxnLst>
              <a:cxn ang="0">
                <a:pos x="connsiteX0" y="connsiteY0"/>
              </a:cxn>
              <a:cxn ang="0">
                <a:pos x="connsiteX1" y="connsiteY1"/>
              </a:cxn>
            </a:cxnLst>
            <a:rect l="l" t="t" r="r" b="b"/>
            <a:pathLst>
              <a:path w="336599" h="1559862">
                <a:moveTo>
                  <a:pt x="322844" y="453380"/>
                </a:moveTo>
                <a:cubicBezTo>
                  <a:pt x="243862" y="-672964"/>
                  <a:pt x="-370651" y="529884"/>
                  <a:pt x="336599" y="1559862"/>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208000" y="4136114"/>
            <a:ext cx="2176009" cy="128179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Lst>
            <a:ahLst/>
            <a:cxnLst>
              <a:cxn ang="0">
                <a:pos x="connsiteX0" y="connsiteY0"/>
              </a:cxn>
              <a:cxn ang="0">
                <a:pos x="connsiteX1" y="connsiteY1"/>
              </a:cxn>
            </a:cxnLst>
            <a:rect l="l" t="t" r="r" b="b"/>
            <a:pathLst>
              <a:path w="1603942" h="1585424">
                <a:moveTo>
                  <a:pt x="0" y="1083032"/>
                </a:moveTo>
                <a:cubicBezTo>
                  <a:pt x="474049" y="2044700"/>
                  <a:pt x="1622323" y="1594537"/>
                  <a:pt x="1603719" y="0"/>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8777836" y="547028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8777836" y="5470287"/>
                <a:ext cx="545352" cy="524695"/>
              </a:xfrm>
              <a:prstGeom prst="rect">
                <a:avLst/>
              </a:prstGeom>
              <a:blipFill>
                <a:blip r:embed="rId15"/>
                <a:stretch>
                  <a:fillRect r="-4651"/>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183438" y="4098336"/>
            <a:ext cx="122752" cy="122752"/>
          </a:xfrm>
          <a:prstGeom prst="ellipse">
            <a:avLst/>
          </a:prstGeom>
          <a:solidFill>
            <a:srgbClr val="2980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260256" y="414579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260256" y="4145797"/>
                <a:ext cx="545352" cy="524695"/>
              </a:xfrm>
              <a:prstGeom prst="rect">
                <a:avLst/>
              </a:prstGeom>
              <a:blipFill>
                <a:blip r:embed="rId16"/>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9948303" y="2660301"/>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9948303" y="2660301"/>
                <a:ext cx="545352" cy="524695"/>
              </a:xfrm>
              <a:prstGeom prst="rect">
                <a:avLst/>
              </a:prstGeom>
              <a:blipFill>
                <a:blip r:embed="rId17"/>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label2">
                <a:extLst>
                  <a:ext uri="{FF2B5EF4-FFF2-40B4-BE49-F238E27FC236}">
                    <a16:creationId xmlns:a16="http://schemas.microsoft.com/office/drawing/2014/main" id="{72D607C2-7E92-8C3F-B09A-140E515E001F}"/>
                  </a:ext>
                </a:extLst>
              </p:cNvPr>
              <p:cNvSpPr txBox="1"/>
              <p:nvPr/>
            </p:nvSpPr>
            <p:spPr>
              <a:xfrm>
                <a:off x="6770113"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57" name="label2">
                <a:extLst>
                  <a:ext uri="{FF2B5EF4-FFF2-40B4-BE49-F238E27FC236}">
                    <a16:creationId xmlns:a16="http://schemas.microsoft.com/office/drawing/2014/main" id="{72D607C2-7E92-8C3F-B09A-140E515E001F}"/>
                  </a:ext>
                </a:extLst>
              </p:cNvPr>
              <p:cNvSpPr txBox="1">
                <a:spLocks noRot="1" noChangeAspect="1" noMove="1" noResize="1" noEditPoints="1" noAdjustHandles="1" noChangeArrowheads="1" noChangeShapeType="1" noTextEdit="1"/>
              </p:cNvSpPr>
              <p:nvPr/>
            </p:nvSpPr>
            <p:spPr>
              <a:xfrm>
                <a:off x="6770113" y="4268706"/>
                <a:ext cx="801225" cy="523220"/>
              </a:xfrm>
              <a:prstGeom prst="rect">
                <a:avLst/>
              </a:prstGeom>
              <a:blipFill>
                <a:blip r:embed="rId18"/>
                <a:stretch>
                  <a:fillRect/>
                </a:stretch>
              </a:blipFill>
            </p:spPr>
            <p:txBody>
              <a:bodyPr/>
              <a:lstStyle/>
              <a:p>
                <a:r>
                  <a:rPr lang="zh-CN" altLang="en-US">
                    <a:noFill/>
                  </a:rPr>
                  <a:t> </a:t>
                </a:r>
              </a:p>
            </p:txBody>
          </p:sp>
        </mc:Fallback>
      </mc:AlternateContent>
      <p:sp>
        <p:nvSpPr>
          <p:cNvPr id="58" name="极点2">
            <a:extLst>
              <a:ext uri="{FF2B5EF4-FFF2-40B4-BE49-F238E27FC236}">
                <a16:creationId xmlns:a16="http://schemas.microsoft.com/office/drawing/2014/main" id="{6E7A3B35-7AA8-1F40-E4A5-46FD81CAF695}"/>
              </a:ext>
            </a:extLst>
          </p:cNvPr>
          <p:cNvSpPr/>
          <p:nvPr/>
        </p:nvSpPr>
        <p:spPr>
          <a:xfrm>
            <a:off x="7073453"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Tree>
    <p:extLst>
      <p:ext uri="{BB962C8B-B14F-4D97-AF65-F5344CB8AC3E}">
        <p14:creationId xmlns:p14="http://schemas.microsoft.com/office/powerpoint/2010/main" val="2191535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a:t>
            </a:r>
            <a:r>
              <a:rPr lang="en-US" altLang="zh-CN" sz="2800" b="1" dirty="0">
                <a:solidFill>
                  <a:schemeClr val="bg1"/>
                </a:solidFill>
                <a:latin typeface="微软雅黑" panose="020B0503020204020204" pitchFamily="34" charset="-122"/>
                <a:ea typeface="微软雅黑" panose="020B0503020204020204" pitchFamily="34" charset="-122"/>
              </a:rPr>
              <a:t>I</a:t>
            </a:r>
            <a:r>
              <a:rPr lang="zh-CN" altLang="en-US" sz="2800" b="1" dirty="0">
                <a:solidFill>
                  <a:schemeClr val="bg1"/>
                </a:solidFill>
                <a:latin typeface="微软雅黑" panose="020B0503020204020204" pitchFamily="34" charset="-122"/>
                <a:ea typeface="微软雅黑" panose="020B0503020204020204" pitchFamily="34" charset="-122"/>
              </a:rPr>
              <a:t>型系统奈奎斯特图</a:t>
            </a:r>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406779"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406779" y="1891237"/>
                <a:ext cx="801225" cy="524695"/>
              </a:xfrm>
              <a:prstGeom prst="rect">
                <a:avLst/>
              </a:prstGeom>
              <a:blipFill>
                <a:blip r:embed="rId3"/>
                <a:stretch>
                  <a:fillRect r="-3125"/>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6588427"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3" name="label2">
                <a:extLst>
                  <a:ext uri="{FF2B5EF4-FFF2-40B4-BE49-F238E27FC236}">
                    <a16:creationId xmlns:a16="http://schemas.microsoft.com/office/drawing/2014/main" id="{5EFF7C26-62BD-82A6-17CA-51A8F0110784}"/>
                  </a:ext>
                </a:extLst>
              </p:cNvPr>
              <p:cNvSpPr txBox="1"/>
              <p:nvPr/>
            </p:nvSpPr>
            <p:spPr>
              <a:xfrm>
                <a:off x="6770113"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63" name="label2">
                <a:extLst>
                  <a:ext uri="{FF2B5EF4-FFF2-40B4-BE49-F238E27FC236}">
                    <a16:creationId xmlns:a16="http://schemas.microsoft.com/office/drawing/2014/main" id="{5EFF7C26-62BD-82A6-17CA-51A8F0110784}"/>
                  </a:ext>
                </a:extLst>
              </p:cNvPr>
              <p:cNvSpPr txBox="1">
                <a:spLocks noRot="1" noChangeAspect="1" noMove="1" noResize="1" noEditPoints="1" noAdjustHandles="1" noChangeArrowheads="1" noChangeShapeType="1" noTextEdit="1"/>
              </p:cNvSpPr>
              <p:nvPr/>
            </p:nvSpPr>
            <p:spPr>
              <a:xfrm>
                <a:off x="6770113" y="4268706"/>
                <a:ext cx="801225" cy="52322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9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r>
                            <a:rPr lang="en-US" altLang="zh-CN" sz="2800" b="0" i="1" smtClean="0">
                              <a:solidFill>
                                <a:schemeClr val="tx1"/>
                              </a:solidFill>
                              <a:latin typeface="Cambria Math" panose="02040503050406030204" pitchFamily="18" charset="0"/>
                            </a:rPr>
                            <m:t>𝑠</m:t>
                          </m:r>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1</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2</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9433"/>
              </a:xfrm>
              <a:prstGeom prst="rect">
                <a:avLst/>
              </a:prstGeom>
              <a:blipFill>
                <a:blip r:embed="rId7"/>
                <a:stretch>
                  <a:fillRect b="-3896"/>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994D3405-C224-29C9-A948-656257DFBA4B}"/>
              </a:ext>
            </a:extLst>
          </p:cNvPr>
          <p:cNvGrpSpPr/>
          <p:nvPr/>
        </p:nvGrpSpPr>
        <p:grpSpPr>
          <a:xfrm>
            <a:off x="766614" y="1891237"/>
            <a:ext cx="4343493" cy="4418083"/>
            <a:chOff x="7080305" y="1516316"/>
            <a:chExt cx="4343493" cy="4418083"/>
          </a:xfrm>
        </p:grpSpPr>
        <p:grpSp>
          <p:nvGrpSpPr>
            <p:cNvPr id="6" name="坐标轴">
              <a:extLst>
                <a:ext uri="{FF2B5EF4-FFF2-40B4-BE49-F238E27FC236}">
                  <a16:creationId xmlns:a16="http://schemas.microsoft.com/office/drawing/2014/main" id="{4AB902D0-AD77-2FAC-001A-D30F5A5FFABD}"/>
                </a:ext>
              </a:extLst>
            </p:cNvPr>
            <p:cNvGrpSpPr/>
            <p:nvPr/>
          </p:nvGrpSpPr>
          <p:grpSpPr>
            <a:xfrm>
              <a:off x="7997028" y="1516316"/>
              <a:ext cx="3426770" cy="4418083"/>
              <a:chOff x="8390928" y="2461626"/>
              <a:chExt cx="3426770" cy="4418083"/>
            </a:xfrm>
          </p:grpSpPr>
          <p:cxnSp>
            <p:nvCxnSpPr>
              <p:cNvPr id="21" name="实轴">
                <a:extLst>
                  <a:ext uri="{FF2B5EF4-FFF2-40B4-BE49-F238E27FC236}">
                    <a16:creationId xmlns:a16="http://schemas.microsoft.com/office/drawing/2014/main" id="{ACC8922D-1522-36F7-060B-B920A1ABF0B9}"/>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虚轴">
                <a:extLst>
                  <a:ext uri="{FF2B5EF4-FFF2-40B4-BE49-F238E27FC236}">
                    <a16:creationId xmlns:a16="http://schemas.microsoft.com/office/drawing/2014/main" id="{DD3D7083-07D6-FF78-4F42-E379ABED4544}"/>
                  </a:ext>
                </a:extLst>
              </p:cNvPr>
              <p:cNvCxnSpPr>
                <a:cxnSpLocks/>
              </p:cNvCxnSpPr>
              <p:nvPr/>
            </p:nvCxnSpPr>
            <p:spPr>
              <a:xfrm flipV="1">
                <a:off x="9196819" y="2461626"/>
                <a:ext cx="0" cy="441808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
                    <a:extLst>
                      <a:ext uri="{FF2B5EF4-FFF2-40B4-BE49-F238E27FC236}">
                        <a16:creationId xmlns:a16="http://schemas.microsoft.com/office/drawing/2014/main" id="{9C6CAAC8-AB04-B618-A9F5-670CC130EBD0}"/>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4" name="Re">
                    <a:extLst>
                      <a:ext uri="{FF2B5EF4-FFF2-40B4-BE49-F238E27FC236}">
                        <a16:creationId xmlns:a16="http://schemas.microsoft.com/office/drawing/2014/main" id="{9C6CAAC8-AB04-B618-A9F5-670CC130EBD0}"/>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8"/>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Im">
                    <a:extLst>
                      <a:ext uri="{FF2B5EF4-FFF2-40B4-BE49-F238E27FC236}">
                        <a16:creationId xmlns:a16="http://schemas.microsoft.com/office/drawing/2014/main" id="{12DBA807-E647-DBF1-310D-E2620D3CE453}"/>
                      </a:ext>
                    </a:extLst>
                  </p:cNvPr>
                  <p:cNvSpPr txBox="1"/>
                  <p:nvPr/>
                </p:nvSpPr>
                <p:spPr>
                  <a:xfrm>
                    <a:off x="8390928" y="246162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25" name="Im">
                    <a:extLst>
                      <a:ext uri="{FF2B5EF4-FFF2-40B4-BE49-F238E27FC236}">
                        <a16:creationId xmlns:a16="http://schemas.microsoft.com/office/drawing/2014/main" id="{12DBA807-E647-DBF1-310D-E2620D3CE453}"/>
                      </a:ext>
                    </a:extLst>
                  </p:cNvPr>
                  <p:cNvSpPr txBox="1">
                    <a:spLocks noRot="1" noChangeAspect="1" noMove="1" noResize="1" noEditPoints="1" noAdjustHandles="1" noChangeArrowheads="1" noChangeShapeType="1" noTextEdit="1"/>
                  </p:cNvSpPr>
                  <p:nvPr/>
                </p:nvSpPr>
                <p:spPr>
                  <a:xfrm>
                    <a:off x="8390928" y="2461626"/>
                    <a:ext cx="576536" cy="523220"/>
                  </a:xfrm>
                  <a:prstGeom prst="rect">
                    <a:avLst/>
                  </a:prstGeom>
                  <a:blipFill>
                    <a:blip r:embed="rId9"/>
                    <a:stretch>
                      <a:fillRect l="-4255"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原点">
                    <a:extLst>
                      <a:ext uri="{FF2B5EF4-FFF2-40B4-BE49-F238E27FC236}">
                        <a16:creationId xmlns:a16="http://schemas.microsoft.com/office/drawing/2014/main" id="{B6093241-A06D-0BAC-6B26-84A5A59093E5}"/>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6" name="原点">
                    <a:extLst>
                      <a:ext uri="{FF2B5EF4-FFF2-40B4-BE49-F238E27FC236}">
                        <a16:creationId xmlns:a16="http://schemas.microsoft.com/office/drawing/2014/main" id="{B6093241-A06D-0BAC-6B26-84A5A59093E5}"/>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10"/>
                    <a:stretch>
                      <a:fillRect/>
                    </a:stretch>
                  </a:blipFill>
                </p:spPr>
                <p:txBody>
                  <a:bodyPr/>
                  <a:lstStyle/>
                  <a:p>
                    <a:r>
                      <a:rPr lang="zh-CN" altLang="en-US">
                        <a:noFill/>
                      </a:rPr>
                      <a:t> </a:t>
                    </a:r>
                  </a:p>
                </p:txBody>
              </p:sp>
            </mc:Fallback>
          </mc:AlternateContent>
        </p:grpSp>
        <p:sp>
          <p:nvSpPr>
            <p:cNvPr id="8" name="弧 7">
              <a:extLst>
                <a:ext uri="{FF2B5EF4-FFF2-40B4-BE49-F238E27FC236}">
                  <a16:creationId xmlns:a16="http://schemas.microsoft.com/office/drawing/2014/main" id="{D07A5511-1B5C-F61C-A671-8D0B7A6429BC}"/>
                </a:ext>
              </a:extLst>
            </p:cNvPr>
            <p:cNvSpPr/>
            <p:nvPr/>
          </p:nvSpPr>
          <p:spPr>
            <a:xfrm>
              <a:off x="7098104" y="2106078"/>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弧 8">
              <a:extLst>
                <a:ext uri="{FF2B5EF4-FFF2-40B4-BE49-F238E27FC236}">
                  <a16:creationId xmlns:a16="http://schemas.microsoft.com/office/drawing/2014/main" id="{39C228D9-D4A5-A537-F001-A6F2C4CBD3EA}"/>
                </a:ext>
              </a:extLst>
            </p:cNvPr>
            <p:cNvSpPr/>
            <p:nvPr/>
          </p:nvSpPr>
          <p:spPr>
            <a:xfrm rot="5400000">
              <a:off x="7080305" y="2107323"/>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2" name="虚轴">
              <a:extLst>
                <a:ext uri="{FF2B5EF4-FFF2-40B4-BE49-F238E27FC236}">
                  <a16:creationId xmlns:a16="http://schemas.microsoft.com/office/drawing/2014/main" id="{16840FED-4399-C176-11DE-A39C70B1366A}"/>
                </a:ext>
              </a:extLst>
            </p:cNvPr>
            <p:cNvCxnSpPr>
              <a:cxnSpLocks/>
            </p:cNvCxnSpPr>
            <p:nvPr/>
          </p:nvCxnSpPr>
          <p:spPr>
            <a:xfrm flipV="1">
              <a:off x="8802919" y="2041011"/>
              <a:ext cx="0" cy="1013068"/>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虚轴">
              <a:extLst>
                <a:ext uri="{FF2B5EF4-FFF2-40B4-BE49-F238E27FC236}">
                  <a16:creationId xmlns:a16="http://schemas.microsoft.com/office/drawing/2014/main" id="{C2F8787F-84AF-228C-1A19-6CB82650A169}"/>
                </a:ext>
              </a:extLst>
            </p:cNvPr>
            <p:cNvCxnSpPr>
              <a:cxnSpLocks/>
            </p:cNvCxnSpPr>
            <p:nvPr/>
          </p:nvCxnSpPr>
          <p:spPr>
            <a:xfrm flipV="1">
              <a:off x="8802919" y="4522516"/>
              <a:ext cx="0" cy="976354"/>
            </a:xfrm>
            <a:prstGeom prst="straightConnector1">
              <a:avLst/>
            </a:prstGeom>
            <a:ln w="38100">
              <a:solidFill>
                <a:srgbClr val="159F84"/>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原点">
                  <a:extLst>
                    <a:ext uri="{FF2B5EF4-FFF2-40B4-BE49-F238E27FC236}">
                      <a16:creationId xmlns:a16="http://schemas.microsoft.com/office/drawing/2014/main" id="{70844F8D-33A3-7E54-0DB1-5BCF8111FCFF}"/>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4" name="原点">
                  <a:extLst>
                    <a:ext uri="{FF2B5EF4-FFF2-40B4-BE49-F238E27FC236}">
                      <a16:creationId xmlns:a16="http://schemas.microsoft.com/office/drawing/2014/main" id="{70844F8D-33A3-7E54-0DB1-5BCF8111FCFF}"/>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11"/>
                  <a:stretch>
                    <a:fillRect r="-46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原点">
                  <a:extLst>
                    <a:ext uri="{FF2B5EF4-FFF2-40B4-BE49-F238E27FC236}">
                      <a16:creationId xmlns:a16="http://schemas.microsoft.com/office/drawing/2014/main" id="{CD3ECA48-C979-F318-350E-5FDD2568CF0A}"/>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15" name="原点">
                  <a:extLst>
                    <a:ext uri="{FF2B5EF4-FFF2-40B4-BE49-F238E27FC236}">
                      <a16:creationId xmlns:a16="http://schemas.microsoft.com/office/drawing/2014/main" id="{CD3ECA48-C979-F318-350E-5FDD2568CF0A}"/>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2"/>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D251A143-5F50-FAD8-DE38-8E3DF82DFFAA}"/>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16" name="原点">
                  <a:extLst>
                    <a:ext uri="{FF2B5EF4-FFF2-40B4-BE49-F238E27FC236}">
                      <a16:creationId xmlns:a16="http://schemas.microsoft.com/office/drawing/2014/main" id="{D251A143-5F50-FAD8-DE38-8E3DF82DFFAA}"/>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3"/>
                  <a:stretch>
                    <a:fillRect r="-2273"/>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wc1">
                <a:extLst>
                  <a:ext uri="{FF2B5EF4-FFF2-40B4-BE49-F238E27FC236}">
                    <a16:creationId xmlns:a16="http://schemas.microsoft.com/office/drawing/2014/main" id="{5CADC978-2300-CAAF-BFB5-A282F8F8D5D3}"/>
                  </a:ext>
                </a:extLst>
              </p:cNvPr>
              <p:cNvSpPr txBox="1"/>
              <p:nvPr/>
            </p:nvSpPr>
            <p:spPr>
              <a:xfrm>
                <a:off x="2547327" y="1882540"/>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27" name="wc1">
                <a:extLst>
                  <a:ext uri="{FF2B5EF4-FFF2-40B4-BE49-F238E27FC236}">
                    <a16:creationId xmlns:a16="http://schemas.microsoft.com/office/drawing/2014/main" id="{5CADC978-2300-CAAF-BFB5-A282F8F8D5D3}"/>
                  </a:ext>
                </a:extLst>
              </p:cNvPr>
              <p:cNvSpPr txBox="1">
                <a:spLocks noRot="1" noChangeAspect="1" noMove="1" noResize="1" noEditPoints="1" noAdjustHandles="1" noChangeArrowheads="1" noChangeShapeType="1" noTextEdit="1"/>
              </p:cNvSpPr>
              <p:nvPr/>
            </p:nvSpPr>
            <p:spPr>
              <a:xfrm>
                <a:off x="2547327" y="1882540"/>
                <a:ext cx="801225" cy="524695"/>
              </a:xfrm>
              <a:prstGeom prst="rect">
                <a:avLst/>
              </a:prstGeom>
              <a:blipFill>
                <a:blip r:embed="rId14"/>
                <a:stretch>
                  <a:fillRect/>
                </a:stretch>
              </a:blipFill>
            </p:spPr>
            <p:txBody>
              <a:bodyPr/>
              <a:lstStyle/>
              <a:p>
                <a:r>
                  <a:rPr lang="zh-CN" altLang="en-US">
                    <a:noFill/>
                  </a:rPr>
                  <a:t> </a:t>
                </a:r>
              </a:p>
            </p:txBody>
          </p:sp>
        </mc:Fallback>
      </mc:AlternateContent>
      <p:sp>
        <p:nvSpPr>
          <p:cNvPr id="36" name="幅相">
            <a:extLst>
              <a:ext uri="{FF2B5EF4-FFF2-40B4-BE49-F238E27FC236}">
                <a16:creationId xmlns:a16="http://schemas.microsoft.com/office/drawing/2014/main" id="{05F986A9-A0A1-BB30-155D-8174DC9B3E60}"/>
              </a:ext>
            </a:extLst>
          </p:cNvPr>
          <p:cNvSpPr/>
          <p:nvPr/>
        </p:nvSpPr>
        <p:spPr>
          <a:xfrm>
            <a:off x="7278563" y="3886368"/>
            <a:ext cx="982826" cy="1663276"/>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Lst>
            <a:ahLst/>
            <a:cxnLst>
              <a:cxn ang="0">
                <a:pos x="connsiteX0" y="connsiteY0"/>
              </a:cxn>
              <a:cxn ang="0">
                <a:pos x="connsiteX1" y="connsiteY1"/>
              </a:cxn>
            </a:cxnLst>
            <a:rect l="l" t="t" r="r" b="b"/>
            <a:pathLst>
              <a:path w="724443" h="2057279">
                <a:moveTo>
                  <a:pt x="724443" y="376317"/>
                </a:moveTo>
                <a:cubicBezTo>
                  <a:pt x="645461" y="-750027"/>
                  <a:pt x="9550" y="901634"/>
                  <a:pt x="0" y="2057279"/>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266059" y="4136114"/>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6544973" y="535334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6544973" y="5353344"/>
                <a:ext cx="545352" cy="524695"/>
              </a:xfrm>
              <a:prstGeom prst="rect">
                <a:avLst/>
              </a:prstGeom>
              <a:blipFill>
                <a:blip r:embed="rId15"/>
                <a:stretch>
                  <a:fillRect r="-2273"/>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183438" y="4098336"/>
            <a:ext cx="122752" cy="122752"/>
          </a:xfrm>
          <a:prstGeom prst="ellipse">
            <a:avLst/>
          </a:prstGeom>
          <a:solidFill>
            <a:srgbClr val="2980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260256" y="414579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260256" y="4145797"/>
                <a:ext cx="545352" cy="524695"/>
              </a:xfrm>
              <a:prstGeom prst="rect">
                <a:avLst/>
              </a:prstGeom>
              <a:blipFill>
                <a:blip r:embed="rId16"/>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6585268" y="248971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6585268" y="2489710"/>
                <a:ext cx="545352" cy="524695"/>
              </a:xfrm>
              <a:prstGeom prst="rect">
                <a:avLst/>
              </a:prstGeom>
              <a:blipFill>
                <a:blip r:embed="rId17"/>
                <a:stretch>
                  <a:fillRect r="-2273"/>
                </a:stretch>
              </a:blipFill>
            </p:spPr>
            <p:txBody>
              <a:bodyPr/>
              <a:lstStyle/>
              <a:p>
                <a:r>
                  <a:rPr lang="zh-CN" altLang="en-US">
                    <a:noFill/>
                  </a:rPr>
                  <a:t> </a:t>
                </a:r>
              </a:p>
            </p:txBody>
          </p:sp>
        </mc:Fallback>
      </mc:AlternateContent>
      <p:sp>
        <p:nvSpPr>
          <p:cNvPr id="3" name="弧 2">
            <a:extLst>
              <a:ext uri="{FF2B5EF4-FFF2-40B4-BE49-F238E27FC236}">
                <a16:creationId xmlns:a16="http://schemas.microsoft.com/office/drawing/2014/main" id="{7FC63BE3-F30A-5C40-C9DC-27AE9AB7DD5F}"/>
              </a:ext>
            </a:extLst>
          </p:cNvPr>
          <p:cNvSpPr/>
          <p:nvPr/>
        </p:nvSpPr>
        <p:spPr>
          <a:xfrm rot="5400000">
            <a:off x="1683596" y="3403697"/>
            <a:ext cx="1549098" cy="1549098"/>
          </a:xfrm>
          <a:prstGeom prst="arc">
            <a:avLst>
              <a:gd name="adj1" fmla="val 10855401"/>
              <a:gd name="adj2" fmla="val 0"/>
            </a:avLst>
          </a:prstGeom>
          <a:ln w="38100">
            <a:solidFill>
              <a:srgbClr val="F6973B"/>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1" name="虚轴">
            <a:extLst>
              <a:ext uri="{FF2B5EF4-FFF2-40B4-BE49-F238E27FC236}">
                <a16:creationId xmlns:a16="http://schemas.microsoft.com/office/drawing/2014/main" id="{E21DE6BE-78B5-6A2F-663F-A9541EA71DBE}"/>
              </a:ext>
            </a:extLst>
          </p:cNvPr>
          <p:cNvCxnSpPr>
            <a:cxnSpLocks/>
            <a:endCxn id="36" idx="1"/>
          </p:cNvCxnSpPr>
          <p:nvPr/>
        </p:nvCxnSpPr>
        <p:spPr>
          <a:xfrm flipH="1" flipV="1">
            <a:off x="7278563" y="5549644"/>
            <a:ext cx="981693" cy="274884"/>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幅相">
            <a:extLst>
              <a:ext uri="{FF2B5EF4-FFF2-40B4-BE49-F238E27FC236}">
                <a16:creationId xmlns:a16="http://schemas.microsoft.com/office/drawing/2014/main" id="{C52B1C95-DFE1-9A10-EF35-24BC07C4F31F}"/>
              </a:ext>
            </a:extLst>
          </p:cNvPr>
          <p:cNvSpPr/>
          <p:nvPr/>
        </p:nvSpPr>
        <p:spPr>
          <a:xfrm flipV="1">
            <a:off x="7272620" y="2845844"/>
            <a:ext cx="982826" cy="1663276"/>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Lst>
            <a:ahLst/>
            <a:cxnLst>
              <a:cxn ang="0">
                <a:pos x="connsiteX0" y="connsiteY0"/>
              </a:cxn>
              <a:cxn ang="0">
                <a:pos x="connsiteX1" y="connsiteY1"/>
              </a:cxn>
            </a:cxnLst>
            <a:rect l="l" t="t" r="r" b="b"/>
            <a:pathLst>
              <a:path w="724443" h="2057279">
                <a:moveTo>
                  <a:pt x="724443" y="376317"/>
                </a:moveTo>
                <a:cubicBezTo>
                  <a:pt x="645461" y="-750027"/>
                  <a:pt x="9550" y="901634"/>
                  <a:pt x="0" y="2057279"/>
                </a:cubicBezTo>
              </a:path>
            </a:pathLst>
          </a:custGeom>
          <a:noFill/>
          <a:ln w="38100">
            <a:solidFill>
              <a:srgbClr val="159F84"/>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幅相">
            <a:extLst>
              <a:ext uri="{FF2B5EF4-FFF2-40B4-BE49-F238E27FC236}">
                <a16:creationId xmlns:a16="http://schemas.microsoft.com/office/drawing/2014/main" id="{6551D872-9049-9C76-9992-1DD47676EF41}"/>
              </a:ext>
            </a:extLst>
          </p:cNvPr>
          <p:cNvSpPr/>
          <p:nvPr/>
        </p:nvSpPr>
        <p:spPr>
          <a:xfrm flipV="1">
            <a:off x="8255446" y="2460666"/>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1" name="虚轴">
            <a:extLst>
              <a:ext uri="{FF2B5EF4-FFF2-40B4-BE49-F238E27FC236}">
                <a16:creationId xmlns:a16="http://schemas.microsoft.com/office/drawing/2014/main" id="{45B86277-9AC7-C551-1CB3-BE50DA597C39}"/>
              </a:ext>
            </a:extLst>
          </p:cNvPr>
          <p:cNvCxnSpPr>
            <a:cxnSpLocks/>
            <a:endCxn id="22" idx="1"/>
          </p:cNvCxnSpPr>
          <p:nvPr/>
        </p:nvCxnSpPr>
        <p:spPr>
          <a:xfrm flipH="1">
            <a:off x="7272620" y="2480999"/>
            <a:ext cx="982826" cy="364845"/>
          </a:xfrm>
          <a:prstGeom prst="straightConnector1">
            <a:avLst/>
          </a:prstGeom>
          <a:ln w="38100">
            <a:solidFill>
              <a:srgbClr val="159F84"/>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原点">
                <a:extLst>
                  <a:ext uri="{FF2B5EF4-FFF2-40B4-BE49-F238E27FC236}">
                    <a16:creationId xmlns:a16="http://schemas.microsoft.com/office/drawing/2014/main" id="{DB708534-07B5-B93F-3889-6EC8B5C31F3A}"/>
                  </a:ext>
                </a:extLst>
              </p:cNvPr>
              <p:cNvSpPr txBox="1"/>
              <p:nvPr/>
            </p:nvSpPr>
            <p:spPr>
              <a:xfrm>
                <a:off x="3147908" y="353413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43" name="原点">
                <a:extLst>
                  <a:ext uri="{FF2B5EF4-FFF2-40B4-BE49-F238E27FC236}">
                    <a16:creationId xmlns:a16="http://schemas.microsoft.com/office/drawing/2014/main" id="{DB708534-07B5-B93F-3889-6EC8B5C31F3A}"/>
                  </a:ext>
                </a:extLst>
              </p:cNvPr>
              <p:cNvSpPr txBox="1">
                <a:spLocks noRot="1" noChangeAspect="1" noMove="1" noResize="1" noEditPoints="1" noAdjustHandles="1" noChangeArrowheads="1" noChangeShapeType="1" noTextEdit="1"/>
              </p:cNvSpPr>
              <p:nvPr/>
            </p:nvSpPr>
            <p:spPr>
              <a:xfrm>
                <a:off x="3147908" y="3534133"/>
                <a:ext cx="545352" cy="524695"/>
              </a:xfrm>
              <a:prstGeom prst="rect">
                <a:avLst/>
              </a:prstGeom>
              <a:blipFill>
                <a:blip r:embed="rId18"/>
                <a:stretch>
                  <a:fillRect r="-2273"/>
                </a:stretch>
              </a:blipFill>
            </p:spPr>
            <p:txBody>
              <a:bodyPr/>
              <a:lstStyle/>
              <a:p>
                <a:r>
                  <a:rPr lang="zh-CN" altLang="en-US">
                    <a:noFill/>
                  </a:rPr>
                  <a:t> </a:t>
                </a:r>
              </a:p>
            </p:txBody>
          </p:sp>
        </mc:Fallback>
      </mc:AlternateContent>
      <p:sp>
        <p:nvSpPr>
          <p:cNvPr id="44" name="极点2">
            <a:extLst>
              <a:ext uri="{FF2B5EF4-FFF2-40B4-BE49-F238E27FC236}">
                <a16:creationId xmlns:a16="http://schemas.microsoft.com/office/drawing/2014/main" id="{F4FA21BA-A8DB-F829-1DF7-F1CE6B5CDBC3}"/>
              </a:ext>
            </a:extLst>
          </p:cNvPr>
          <p:cNvSpPr/>
          <p:nvPr/>
        </p:nvSpPr>
        <p:spPr>
          <a:xfrm>
            <a:off x="7073453"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47" name="原点">
                <a:extLst>
                  <a:ext uri="{FF2B5EF4-FFF2-40B4-BE49-F238E27FC236}">
                    <a16:creationId xmlns:a16="http://schemas.microsoft.com/office/drawing/2014/main" id="{8D62F76C-4F32-EFA7-DE1A-D998F2EF6520}"/>
                  </a:ext>
                </a:extLst>
              </p:cNvPr>
              <p:cNvSpPr txBox="1"/>
              <p:nvPr/>
            </p:nvSpPr>
            <p:spPr>
              <a:xfrm>
                <a:off x="10373484" y="3095001"/>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47" name="原点">
                <a:extLst>
                  <a:ext uri="{FF2B5EF4-FFF2-40B4-BE49-F238E27FC236}">
                    <a16:creationId xmlns:a16="http://schemas.microsoft.com/office/drawing/2014/main" id="{8D62F76C-4F32-EFA7-DE1A-D998F2EF6520}"/>
                  </a:ext>
                </a:extLst>
              </p:cNvPr>
              <p:cNvSpPr txBox="1">
                <a:spLocks noRot="1" noChangeAspect="1" noMove="1" noResize="1" noEditPoints="1" noAdjustHandles="1" noChangeArrowheads="1" noChangeShapeType="1" noTextEdit="1"/>
              </p:cNvSpPr>
              <p:nvPr/>
            </p:nvSpPr>
            <p:spPr>
              <a:xfrm>
                <a:off x="10373484" y="3095001"/>
                <a:ext cx="545352" cy="524695"/>
              </a:xfrm>
              <a:prstGeom prst="rect">
                <a:avLst/>
              </a:prstGeom>
              <a:blipFill>
                <a:blip r:embed="rId19"/>
                <a:stretch>
                  <a:fillRect r="-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246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a:t>
            </a:r>
            <a:r>
              <a:rPr lang="en-US" altLang="zh-CN" sz="2800" b="1" dirty="0">
                <a:solidFill>
                  <a:schemeClr val="bg1"/>
                </a:solidFill>
                <a:latin typeface="微软雅黑" panose="020B0503020204020204" pitchFamily="34" charset="-122"/>
                <a:ea typeface="微软雅黑" panose="020B0503020204020204" pitchFamily="34" charset="-122"/>
              </a:rPr>
              <a:t>II</a:t>
            </a:r>
            <a:r>
              <a:rPr lang="zh-CN" altLang="en-US" sz="2800" b="1" dirty="0">
                <a:solidFill>
                  <a:schemeClr val="bg1"/>
                </a:solidFill>
                <a:latin typeface="微软雅黑" panose="020B0503020204020204" pitchFamily="34" charset="-122"/>
                <a:ea typeface="微软雅黑" panose="020B0503020204020204" pitchFamily="34" charset="-122"/>
              </a:rPr>
              <a:t>型系统奈奎斯特图</a:t>
            </a:r>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930832"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930832" y="1891237"/>
                <a:ext cx="801225" cy="524695"/>
              </a:xfrm>
              <a:prstGeom prst="rect">
                <a:avLst/>
              </a:prstGeom>
              <a:blipFill>
                <a:blip r:embed="rId3"/>
                <a:stretch>
                  <a:fillRect r="-1563"/>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7112480"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4255" r="-851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3" name="label2">
                <a:extLst>
                  <a:ext uri="{FF2B5EF4-FFF2-40B4-BE49-F238E27FC236}">
                    <a16:creationId xmlns:a16="http://schemas.microsoft.com/office/drawing/2014/main" id="{5EFF7C26-62BD-82A6-17CA-51A8F0110784}"/>
                  </a:ext>
                </a:extLst>
              </p:cNvPr>
              <p:cNvSpPr txBox="1"/>
              <p:nvPr/>
            </p:nvSpPr>
            <p:spPr>
              <a:xfrm>
                <a:off x="7294166"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63" name="label2">
                <a:extLst>
                  <a:ext uri="{FF2B5EF4-FFF2-40B4-BE49-F238E27FC236}">
                    <a16:creationId xmlns:a16="http://schemas.microsoft.com/office/drawing/2014/main" id="{5EFF7C26-62BD-82A6-17CA-51A8F0110784}"/>
                  </a:ext>
                </a:extLst>
              </p:cNvPr>
              <p:cNvSpPr txBox="1">
                <a:spLocks noRot="1" noChangeAspect="1" noMove="1" noResize="1" noEditPoints="1" noAdjustHandles="1" noChangeArrowheads="1" noChangeShapeType="1" noTextEdit="1"/>
              </p:cNvSpPr>
              <p:nvPr/>
            </p:nvSpPr>
            <p:spPr>
              <a:xfrm>
                <a:off x="7294166" y="4268706"/>
                <a:ext cx="801225" cy="52322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9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sSup>
                            <m:sSupPr>
                              <m:ctrlPr>
                                <a:rPr lang="en-US" altLang="zh-CN" sz="2800" b="0" i="1" smtClean="0">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𝑠</m:t>
                              </m:r>
                            </m:e>
                            <m:sup>
                              <m:r>
                                <a:rPr lang="en-US" altLang="zh-CN" sz="2800" b="0" i="1" smtClean="0">
                                  <a:solidFill>
                                    <a:schemeClr val="tx1"/>
                                  </a:solidFill>
                                  <a:latin typeface="Cambria Math" panose="02040503050406030204" pitchFamily="18" charset="0"/>
                                </a:rPr>
                                <m:t>2</m:t>
                              </m:r>
                            </m:sup>
                          </m:sSup>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𝑇𝑠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9433"/>
              </a:xfrm>
              <a:prstGeom prst="rect">
                <a:avLst/>
              </a:prstGeom>
              <a:blipFill>
                <a:blip r:embed="rId7"/>
                <a:stretch>
                  <a:fillRect/>
                </a:stretch>
              </a:blipFill>
            </p:spPr>
            <p:txBody>
              <a:bodyPr/>
              <a:lstStyle/>
              <a:p>
                <a:r>
                  <a:rPr lang="zh-CN" altLang="en-US">
                    <a:noFill/>
                  </a:rPr>
                  <a:t> </a:t>
                </a:r>
              </a:p>
            </p:txBody>
          </p:sp>
        </mc:Fallback>
      </mc:AlternateContent>
      <p:sp>
        <p:nvSpPr>
          <p:cNvPr id="36" name="幅相">
            <a:extLst>
              <a:ext uri="{FF2B5EF4-FFF2-40B4-BE49-F238E27FC236}">
                <a16:creationId xmlns:a16="http://schemas.microsoft.com/office/drawing/2014/main" id="{05F986A9-A0A1-BB30-155D-8174DC9B3E60}"/>
              </a:ext>
            </a:extLst>
          </p:cNvPr>
          <p:cNvSpPr/>
          <p:nvPr/>
        </p:nvSpPr>
        <p:spPr>
          <a:xfrm>
            <a:off x="7114358" y="3559622"/>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790112" y="4136114"/>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7472092" y="297488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7472092" y="2974880"/>
                <a:ext cx="545352" cy="524695"/>
              </a:xfrm>
              <a:prstGeom prst="rect">
                <a:avLst/>
              </a:prstGeom>
              <a:blipFill>
                <a:blip r:embed="rId8"/>
                <a:stretch>
                  <a:fillRect r="-2273"/>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707491" y="4098336"/>
            <a:ext cx="122752" cy="122752"/>
          </a:xfrm>
          <a:prstGeom prst="ellipse">
            <a:avLst/>
          </a:prstGeom>
          <a:solidFill>
            <a:srgbClr val="2980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899496" y="415569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899496" y="4155693"/>
                <a:ext cx="545352" cy="524695"/>
              </a:xfrm>
              <a:prstGeom prst="rect">
                <a:avLst/>
              </a:prstGeom>
              <a:blipFill>
                <a:blip r:embed="rId9"/>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7509250" y="478668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7509250" y="4786684"/>
                <a:ext cx="545352" cy="524695"/>
              </a:xfrm>
              <a:prstGeom prst="rect">
                <a:avLst/>
              </a:prstGeom>
              <a:blipFill>
                <a:blip r:embed="rId10"/>
                <a:stretch>
                  <a:fillRect r="-2273"/>
                </a:stretch>
              </a:blipFill>
            </p:spPr>
            <p:txBody>
              <a:bodyPr/>
              <a:lstStyle/>
              <a:p>
                <a:r>
                  <a:rPr lang="zh-CN" altLang="en-US">
                    <a:noFill/>
                  </a:rPr>
                  <a:t> </a:t>
                </a:r>
              </a:p>
            </p:txBody>
          </p:sp>
        </mc:Fallback>
      </mc:AlternateContent>
      <p:sp>
        <p:nvSpPr>
          <p:cNvPr id="30" name="幅相">
            <a:extLst>
              <a:ext uri="{FF2B5EF4-FFF2-40B4-BE49-F238E27FC236}">
                <a16:creationId xmlns:a16="http://schemas.microsoft.com/office/drawing/2014/main" id="{6551D872-9049-9C76-9992-1DD47676EF41}"/>
              </a:ext>
            </a:extLst>
          </p:cNvPr>
          <p:cNvSpPr/>
          <p:nvPr/>
        </p:nvSpPr>
        <p:spPr>
          <a:xfrm flipV="1">
            <a:off x="8779499" y="2460666"/>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4" name="极点2">
            <a:extLst>
              <a:ext uri="{FF2B5EF4-FFF2-40B4-BE49-F238E27FC236}">
                <a16:creationId xmlns:a16="http://schemas.microsoft.com/office/drawing/2014/main" id="{F4FA21BA-A8DB-F829-1DF7-F1CE6B5CDBC3}"/>
              </a:ext>
            </a:extLst>
          </p:cNvPr>
          <p:cNvSpPr/>
          <p:nvPr/>
        </p:nvSpPr>
        <p:spPr>
          <a:xfrm>
            <a:off x="7597506"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5" name="幅相">
            <a:extLst>
              <a:ext uri="{FF2B5EF4-FFF2-40B4-BE49-F238E27FC236}">
                <a16:creationId xmlns:a16="http://schemas.microsoft.com/office/drawing/2014/main" id="{98A7C403-2391-A6A9-7CE4-E5F716AA9A13}"/>
              </a:ext>
            </a:extLst>
          </p:cNvPr>
          <p:cNvSpPr/>
          <p:nvPr/>
        </p:nvSpPr>
        <p:spPr>
          <a:xfrm>
            <a:off x="6587934" y="4156198"/>
            <a:ext cx="2183160" cy="168349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609208"/>
              <a:gd name="connsiteY0" fmla="*/ 0 h 2082289"/>
              <a:gd name="connsiteX1" fmla="*/ 1609208 w 1609208"/>
              <a:gd name="connsiteY1" fmla="*/ 2082289 h 2082289"/>
            </a:gdLst>
            <a:ahLst/>
            <a:cxnLst>
              <a:cxn ang="0">
                <a:pos x="connsiteX0" y="connsiteY0"/>
              </a:cxn>
              <a:cxn ang="0">
                <a:pos x="connsiteX1" y="connsiteY1"/>
              </a:cxn>
            </a:cxnLst>
            <a:rect l="l" t="t" r="r" b="b"/>
            <a:pathLst>
              <a:path w="1609208" h="2082289">
                <a:moveTo>
                  <a:pt x="0" y="0"/>
                </a:moveTo>
                <a:cubicBezTo>
                  <a:pt x="15234" y="1014053"/>
                  <a:pt x="698344" y="2069813"/>
                  <a:pt x="1609208" y="2082289"/>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7" name="虚轴">
            <a:extLst>
              <a:ext uri="{FF2B5EF4-FFF2-40B4-BE49-F238E27FC236}">
                <a16:creationId xmlns:a16="http://schemas.microsoft.com/office/drawing/2014/main" id="{101E7792-2086-F969-55DD-52923248A2FF}"/>
              </a:ext>
            </a:extLst>
          </p:cNvPr>
          <p:cNvCxnSpPr>
            <a:cxnSpLocks/>
            <a:stCxn id="5" idx="0"/>
          </p:cNvCxnSpPr>
          <p:nvPr/>
        </p:nvCxnSpPr>
        <p:spPr>
          <a:xfrm flipV="1">
            <a:off x="6587934" y="3559622"/>
            <a:ext cx="521387" cy="596576"/>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幅相">
            <a:extLst>
              <a:ext uri="{FF2B5EF4-FFF2-40B4-BE49-F238E27FC236}">
                <a16:creationId xmlns:a16="http://schemas.microsoft.com/office/drawing/2014/main" id="{1529F638-90E7-9105-BC63-B709780809AB}"/>
              </a:ext>
            </a:extLst>
          </p:cNvPr>
          <p:cNvSpPr/>
          <p:nvPr/>
        </p:nvSpPr>
        <p:spPr>
          <a:xfrm flipV="1">
            <a:off x="7097784" y="4155693"/>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159F84"/>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幅相">
            <a:extLst>
              <a:ext uri="{FF2B5EF4-FFF2-40B4-BE49-F238E27FC236}">
                <a16:creationId xmlns:a16="http://schemas.microsoft.com/office/drawing/2014/main" id="{F6CE5FBB-935C-83D3-CE32-4D5296A84E58}"/>
              </a:ext>
            </a:extLst>
          </p:cNvPr>
          <p:cNvSpPr/>
          <p:nvPr/>
        </p:nvSpPr>
        <p:spPr>
          <a:xfrm flipV="1">
            <a:off x="6581850" y="2455302"/>
            <a:ext cx="2163496" cy="1634337"/>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594714"/>
              <a:gd name="connsiteY0" fmla="*/ 0 h 2021483"/>
              <a:gd name="connsiteX1" fmla="*/ 1594714 w 1594714"/>
              <a:gd name="connsiteY1" fmla="*/ 2021483 h 2021483"/>
            </a:gdLst>
            <a:ahLst/>
            <a:cxnLst>
              <a:cxn ang="0">
                <a:pos x="connsiteX0" y="connsiteY0"/>
              </a:cxn>
              <a:cxn ang="0">
                <a:pos x="connsiteX1" y="connsiteY1"/>
              </a:cxn>
            </a:cxnLst>
            <a:rect l="l" t="t" r="r" b="b"/>
            <a:pathLst>
              <a:path w="1594714" h="2021483">
                <a:moveTo>
                  <a:pt x="0" y="0"/>
                </a:moveTo>
                <a:cubicBezTo>
                  <a:pt x="15234" y="1014053"/>
                  <a:pt x="683850" y="2009007"/>
                  <a:pt x="1594714" y="2021483"/>
                </a:cubicBezTo>
              </a:path>
            </a:pathLst>
          </a:custGeom>
          <a:noFill/>
          <a:ln w="38100">
            <a:solidFill>
              <a:srgbClr val="F6973B"/>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2" name="虚轴">
            <a:extLst>
              <a:ext uri="{FF2B5EF4-FFF2-40B4-BE49-F238E27FC236}">
                <a16:creationId xmlns:a16="http://schemas.microsoft.com/office/drawing/2014/main" id="{C94FE914-9CB7-5977-42FE-C02EEE150BC7}"/>
              </a:ext>
            </a:extLst>
          </p:cNvPr>
          <p:cNvCxnSpPr>
            <a:cxnSpLocks/>
            <a:stCxn id="19" idx="1"/>
            <a:endCxn id="20" idx="0"/>
          </p:cNvCxnSpPr>
          <p:nvPr/>
        </p:nvCxnSpPr>
        <p:spPr>
          <a:xfrm flipH="1" flipV="1">
            <a:off x="6581850" y="4089639"/>
            <a:ext cx="515934" cy="663642"/>
          </a:xfrm>
          <a:prstGeom prst="straightConnector1">
            <a:avLst/>
          </a:prstGeom>
          <a:ln w="38100">
            <a:solidFill>
              <a:srgbClr val="159F84"/>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
                <a:extLst>
                  <a:ext uri="{FF2B5EF4-FFF2-40B4-BE49-F238E27FC236}">
                    <a16:creationId xmlns:a16="http://schemas.microsoft.com/office/drawing/2014/main" id="{87EEACE0-DB01-56FD-0B10-10F0C0585C57}"/>
                  </a:ext>
                </a:extLst>
              </p:cNvPr>
              <p:cNvSpPr txBox="1"/>
              <p:nvPr/>
            </p:nvSpPr>
            <p:spPr>
              <a:xfrm>
                <a:off x="4356327" y="3836726"/>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=0</m:t>
                      </m:r>
                    </m:oMath>
                  </m:oMathPara>
                </a14:m>
                <a:endParaRPr lang="zh-CN" altLang="en-US" sz="2800" dirty="0"/>
              </a:p>
            </p:txBody>
          </p:sp>
        </mc:Choice>
        <mc:Fallback xmlns="">
          <p:sp>
            <p:nvSpPr>
              <p:cNvPr id="47" name="Re">
                <a:extLst>
                  <a:ext uri="{FF2B5EF4-FFF2-40B4-BE49-F238E27FC236}">
                    <a16:creationId xmlns:a16="http://schemas.microsoft.com/office/drawing/2014/main" id="{87EEACE0-DB01-56FD-0B10-10F0C0585C57}"/>
                  </a:ext>
                </a:extLst>
              </p:cNvPr>
              <p:cNvSpPr txBox="1">
                <a:spLocks noRot="1" noChangeAspect="1" noMove="1" noResize="1" noEditPoints="1" noAdjustHandles="1" noChangeArrowheads="1" noChangeShapeType="1" noTextEdit="1"/>
              </p:cNvSpPr>
              <p:nvPr/>
            </p:nvSpPr>
            <p:spPr>
              <a:xfrm>
                <a:off x="4356327" y="3836726"/>
                <a:ext cx="1549820" cy="523220"/>
              </a:xfrm>
              <a:prstGeom prst="rect">
                <a:avLst/>
              </a:prstGeom>
              <a:blipFill>
                <a:blip r:embed="rId11"/>
                <a:stretch>
                  <a:fillRect/>
                </a:stretch>
              </a:blipFill>
            </p:spPr>
            <p:txBody>
              <a:bodyPr/>
              <a:lstStyle/>
              <a:p>
                <a:r>
                  <a:rPr lang="zh-CN" altLang="en-US">
                    <a:noFill/>
                  </a:rPr>
                  <a:t> </a:t>
                </a:r>
              </a:p>
            </p:txBody>
          </p:sp>
        </mc:Fallback>
      </mc:AlternateContent>
      <p:cxnSp>
        <p:nvCxnSpPr>
          <p:cNvPr id="48" name="实轴">
            <a:extLst>
              <a:ext uri="{FF2B5EF4-FFF2-40B4-BE49-F238E27FC236}">
                <a16:creationId xmlns:a16="http://schemas.microsoft.com/office/drawing/2014/main" id="{7A2901CE-DB07-D583-CA5F-4266B4683699}"/>
              </a:ext>
            </a:extLst>
          </p:cNvPr>
          <p:cNvCxnSpPr>
            <a:cxnSpLocks/>
          </p:cNvCxnSpPr>
          <p:nvPr/>
        </p:nvCxnSpPr>
        <p:spPr>
          <a:xfrm flipH="1">
            <a:off x="5687889" y="4127873"/>
            <a:ext cx="695349"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Re">
                <a:extLst>
                  <a:ext uri="{FF2B5EF4-FFF2-40B4-BE49-F238E27FC236}">
                    <a16:creationId xmlns:a16="http://schemas.microsoft.com/office/drawing/2014/main" id="{33BE73CB-A95B-AE24-B7C5-F892500FC590}"/>
                  </a:ext>
                </a:extLst>
              </p:cNvPr>
              <p:cNvSpPr txBox="1"/>
              <p:nvPr/>
            </p:nvSpPr>
            <p:spPr>
              <a:xfrm>
                <a:off x="4806992" y="327247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52" name="Re">
                <a:extLst>
                  <a:ext uri="{FF2B5EF4-FFF2-40B4-BE49-F238E27FC236}">
                    <a16:creationId xmlns:a16="http://schemas.microsoft.com/office/drawing/2014/main" id="{33BE73CB-A95B-AE24-B7C5-F892500FC590}"/>
                  </a:ext>
                </a:extLst>
              </p:cNvPr>
              <p:cNvSpPr txBox="1">
                <a:spLocks noRot="1" noChangeAspect="1" noMove="1" noResize="1" noEditPoints="1" noAdjustHandles="1" noChangeArrowheads="1" noChangeShapeType="1" noTextEdit="1"/>
              </p:cNvSpPr>
              <p:nvPr/>
            </p:nvSpPr>
            <p:spPr>
              <a:xfrm>
                <a:off x="4806992" y="3272470"/>
                <a:ext cx="1549820" cy="523220"/>
              </a:xfrm>
              <a:prstGeom prst="rect">
                <a:avLst/>
              </a:prstGeom>
              <a:blipFill>
                <a:blip r:embed="rId12"/>
                <a:stretch>
                  <a:fillRect/>
                </a:stretch>
              </a:blipFill>
            </p:spPr>
            <p:txBody>
              <a:bodyPr/>
              <a:lstStyle/>
              <a:p>
                <a:r>
                  <a:rPr lang="zh-CN" altLang="en-US">
                    <a:noFill/>
                  </a:rPr>
                  <a:t> </a:t>
                </a:r>
              </a:p>
            </p:txBody>
          </p:sp>
        </mc:Fallback>
      </mc:AlternateContent>
      <p:cxnSp>
        <p:nvCxnSpPr>
          <p:cNvPr id="53" name="实轴">
            <a:extLst>
              <a:ext uri="{FF2B5EF4-FFF2-40B4-BE49-F238E27FC236}">
                <a16:creationId xmlns:a16="http://schemas.microsoft.com/office/drawing/2014/main" id="{AC575F61-B77F-E5BE-A3CE-9AD9217E9CE1}"/>
              </a:ext>
            </a:extLst>
          </p:cNvPr>
          <p:cNvCxnSpPr>
            <a:cxnSpLocks/>
          </p:cNvCxnSpPr>
          <p:nvPr/>
        </p:nvCxnSpPr>
        <p:spPr>
          <a:xfrm flipH="1" flipV="1">
            <a:off x="6095206" y="3559622"/>
            <a:ext cx="680347" cy="277104"/>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
                <a:extLst>
                  <a:ext uri="{FF2B5EF4-FFF2-40B4-BE49-F238E27FC236}">
                    <a16:creationId xmlns:a16="http://schemas.microsoft.com/office/drawing/2014/main" id="{A7310852-7380-FBC8-A7DB-7BE6EC52A3C2}"/>
                  </a:ext>
                </a:extLst>
              </p:cNvPr>
              <p:cNvSpPr txBox="1"/>
              <p:nvPr/>
            </p:nvSpPr>
            <p:spPr>
              <a:xfrm>
                <a:off x="8970384" y="326778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6" name="Re">
                <a:extLst>
                  <a:ext uri="{FF2B5EF4-FFF2-40B4-BE49-F238E27FC236}">
                    <a16:creationId xmlns:a16="http://schemas.microsoft.com/office/drawing/2014/main" id="{A7310852-7380-FBC8-A7DB-7BE6EC52A3C2}"/>
                  </a:ext>
                </a:extLst>
              </p:cNvPr>
              <p:cNvSpPr txBox="1">
                <a:spLocks noRot="1" noChangeAspect="1" noMove="1" noResize="1" noEditPoints="1" noAdjustHandles="1" noChangeArrowheads="1" noChangeShapeType="1" noTextEdit="1"/>
              </p:cNvSpPr>
              <p:nvPr/>
            </p:nvSpPr>
            <p:spPr>
              <a:xfrm>
                <a:off x="8970384" y="3267780"/>
                <a:ext cx="1549820" cy="52322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
                <a:extLst>
                  <a:ext uri="{FF2B5EF4-FFF2-40B4-BE49-F238E27FC236}">
                    <a16:creationId xmlns:a16="http://schemas.microsoft.com/office/drawing/2014/main" id="{2F1BB0BF-09CA-D915-9EF3-4351AC77AA59}"/>
                  </a:ext>
                </a:extLst>
              </p:cNvPr>
              <p:cNvSpPr txBox="1"/>
              <p:nvPr/>
            </p:nvSpPr>
            <p:spPr>
              <a:xfrm>
                <a:off x="8979223" y="4736337"/>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7" name="Re">
                <a:extLst>
                  <a:ext uri="{FF2B5EF4-FFF2-40B4-BE49-F238E27FC236}">
                    <a16:creationId xmlns:a16="http://schemas.microsoft.com/office/drawing/2014/main" id="{2F1BB0BF-09CA-D915-9EF3-4351AC77AA59}"/>
                  </a:ext>
                </a:extLst>
              </p:cNvPr>
              <p:cNvSpPr txBox="1">
                <a:spLocks noRot="1" noChangeAspect="1" noMove="1" noResize="1" noEditPoints="1" noAdjustHandles="1" noChangeArrowheads="1" noChangeShapeType="1" noTextEdit="1"/>
              </p:cNvSpPr>
              <p:nvPr/>
            </p:nvSpPr>
            <p:spPr>
              <a:xfrm>
                <a:off x="8979223" y="4736337"/>
                <a:ext cx="1549820" cy="523220"/>
              </a:xfrm>
              <a:prstGeom prst="rect">
                <a:avLst/>
              </a:prstGeom>
              <a:blipFill>
                <a:blip r:embed="rId14"/>
                <a:stretch>
                  <a:fillRect/>
                </a:stretch>
              </a:blipFill>
            </p:spPr>
            <p:txBody>
              <a:bodyPr/>
              <a:lstStyle/>
              <a:p>
                <a:r>
                  <a:rPr lang="zh-CN" altLang="en-US">
                    <a:noFill/>
                  </a:rPr>
                  <a:t> </a:t>
                </a:r>
              </a:p>
            </p:txBody>
          </p:sp>
        </mc:Fallback>
      </mc:AlternateContent>
      <p:cxnSp>
        <p:nvCxnSpPr>
          <p:cNvPr id="58" name="实轴">
            <a:extLst>
              <a:ext uri="{FF2B5EF4-FFF2-40B4-BE49-F238E27FC236}">
                <a16:creationId xmlns:a16="http://schemas.microsoft.com/office/drawing/2014/main" id="{859EC8F6-0D71-932C-7C13-D1822C8CB81F}"/>
              </a:ext>
            </a:extLst>
          </p:cNvPr>
          <p:cNvCxnSpPr>
            <a:cxnSpLocks/>
          </p:cNvCxnSpPr>
          <p:nvPr/>
        </p:nvCxnSpPr>
        <p:spPr>
          <a:xfrm flipV="1">
            <a:off x="8830243" y="3791000"/>
            <a:ext cx="289299" cy="23526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2" name="实轴">
            <a:extLst>
              <a:ext uri="{FF2B5EF4-FFF2-40B4-BE49-F238E27FC236}">
                <a16:creationId xmlns:a16="http://schemas.microsoft.com/office/drawing/2014/main" id="{B88A0232-1920-A1C0-ADED-F22C68C6061F}"/>
              </a:ext>
            </a:extLst>
          </p:cNvPr>
          <p:cNvCxnSpPr>
            <a:cxnSpLocks/>
          </p:cNvCxnSpPr>
          <p:nvPr/>
        </p:nvCxnSpPr>
        <p:spPr>
          <a:xfrm>
            <a:off x="8830243" y="4314292"/>
            <a:ext cx="289299" cy="583145"/>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Re">
                <a:extLst>
                  <a:ext uri="{FF2B5EF4-FFF2-40B4-BE49-F238E27FC236}">
                    <a16:creationId xmlns:a16="http://schemas.microsoft.com/office/drawing/2014/main" id="{0BA5A9F3-314D-6181-58AA-E88B9DDB29B0}"/>
                  </a:ext>
                </a:extLst>
              </p:cNvPr>
              <p:cNvSpPr txBox="1"/>
              <p:nvPr/>
            </p:nvSpPr>
            <p:spPr>
              <a:xfrm>
                <a:off x="4831472" y="4497069"/>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66" name="Re">
                <a:extLst>
                  <a:ext uri="{FF2B5EF4-FFF2-40B4-BE49-F238E27FC236}">
                    <a16:creationId xmlns:a16="http://schemas.microsoft.com/office/drawing/2014/main" id="{0BA5A9F3-314D-6181-58AA-E88B9DDB29B0}"/>
                  </a:ext>
                </a:extLst>
              </p:cNvPr>
              <p:cNvSpPr txBox="1">
                <a:spLocks noRot="1" noChangeAspect="1" noMove="1" noResize="1" noEditPoints="1" noAdjustHandles="1" noChangeArrowheads="1" noChangeShapeType="1" noTextEdit="1"/>
              </p:cNvSpPr>
              <p:nvPr/>
            </p:nvSpPr>
            <p:spPr>
              <a:xfrm>
                <a:off x="4831472" y="4497069"/>
                <a:ext cx="1549820" cy="523220"/>
              </a:xfrm>
              <a:prstGeom prst="rect">
                <a:avLst/>
              </a:prstGeom>
              <a:blipFill>
                <a:blip r:embed="rId15"/>
                <a:stretch>
                  <a:fillRect/>
                </a:stretch>
              </a:blipFill>
            </p:spPr>
            <p:txBody>
              <a:bodyPr/>
              <a:lstStyle/>
              <a:p>
                <a:r>
                  <a:rPr lang="zh-CN" altLang="en-US">
                    <a:noFill/>
                  </a:rPr>
                  <a:t> </a:t>
                </a:r>
              </a:p>
            </p:txBody>
          </p:sp>
        </mc:Fallback>
      </mc:AlternateContent>
      <p:cxnSp>
        <p:nvCxnSpPr>
          <p:cNvPr id="67" name="实轴">
            <a:extLst>
              <a:ext uri="{FF2B5EF4-FFF2-40B4-BE49-F238E27FC236}">
                <a16:creationId xmlns:a16="http://schemas.microsoft.com/office/drawing/2014/main" id="{6F2333EF-B598-64E2-2848-AA23BD847F95}"/>
              </a:ext>
            </a:extLst>
          </p:cNvPr>
          <p:cNvCxnSpPr>
            <a:cxnSpLocks/>
          </p:cNvCxnSpPr>
          <p:nvPr/>
        </p:nvCxnSpPr>
        <p:spPr>
          <a:xfrm flipH="1">
            <a:off x="6119686" y="4525393"/>
            <a:ext cx="704774" cy="258828"/>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说明3">
                <a:extLst>
                  <a:ext uri="{FF2B5EF4-FFF2-40B4-BE49-F238E27FC236}">
                    <a16:creationId xmlns:a16="http://schemas.microsoft.com/office/drawing/2014/main" id="{585C3034-3F0C-E4D9-1A5A-A83AF6835FBB}"/>
                  </a:ext>
                </a:extLst>
              </p:cNvPr>
              <p:cNvSpPr txBox="1"/>
              <p:nvPr/>
            </p:nvSpPr>
            <p:spPr>
              <a:xfrm>
                <a:off x="121312" y="2912799"/>
                <a:ext cx="4357044" cy="2485787"/>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lang="en-US" altLang="zh-CN" sz="2800" b="1" i="1" smtClean="0">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b="1" i="1">
                            <a:solidFill>
                              <a:srgbClr val="2980B9"/>
                            </a:solidFill>
                            <a:latin typeface="Cambria Math" panose="02040503050406030204" pitchFamily="18" charset="0"/>
                          </a:rPr>
                          <m:t>𝒔</m:t>
                        </m:r>
                      </m:sub>
                    </m:sSub>
                  </m:oMath>
                </a14:m>
                <a:r>
                  <a:rPr kumimoji="1" lang="zh-CN" altLang="en-US" sz="2800" dirty="0">
                    <a:solidFill>
                      <a:srgbClr val="2980B9"/>
                    </a:solidFill>
                  </a:rPr>
                  <a:t>在原点附近，当</a:t>
                </a:r>
                <a14:m>
                  <m:oMath xmlns:m="http://schemas.openxmlformats.org/officeDocument/2006/math">
                    <m:r>
                      <a:rPr kumimoji="1" lang="en-US" altLang="zh-CN" sz="2800" i="1">
                        <a:solidFill>
                          <a:srgbClr val="2980B9"/>
                        </a:solidFill>
                        <a:latin typeface="Cambria Math" panose="02040503050406030204" pitchFamily="18" charset="0"/>
                        <a:ea typeface="Cambria Math" panose="02040503050406030204" pitchFamily="18" charset="0"/>
                      </a:rPr>
                      <m:t>𝜔</m:t>
                    </m:r>
                    <m:r>
                      <a:rPr kumimoji="1" lang="en-US" altLang="zh-CN" sz="2800" b="0" i="0" smtClean="0">
                        <a:solidFill>
                          <a:srgbClr val="2980B9"/>
                        </a:solidFill>
                        <a:latin typeface="Cambria Math" panose="02040503050406030204" pitchFamily="18" charset="0"/>
                        <a:ea typeface="Cambria Math" panose="02040503050406030204" pitchFamily="18" charset="0"/>
                      </a:rPr>
                      <m:t>=0</m:t>
                    </m:r>
                    <m:r>
                      <a:rPr kumimoji="1" lang="en-US" altLang="zh-CN" sz="2800" i="1">
                        <a:solidFill>
                          <a:srgbClr val="2980B9"/>
                        </a:solidFill>
                        <a:latin typeface="Cambria Math" panose="02040503050406030204" pitchFamily="18" charset="0"/>
                        <a:ea typeface="Cambria Math" panose="02040503050406030204" pitchFamily="18" charset="0"/>
                      </a:rPr>
                      <m:t>⟶</m:t>
                    </m:r>
                    <m:sSup>
                      <m:sSupPr>
                        <m:ctrlPr>
                          <a:rPr kumimoji="1" lang="en-US" altLang="zh-CN" sz="2800" i="1">
                            <a:solidFill>
                              <a:srgbClr val="2980B9"/>
                            </a:solidFill>
                            <a:latin typeface="Cambria Math" panose="02040503050406030204" pitchFamily="18" charset="0"/>
                            <a:ea typeface="Cambria Math" panose="02040503050406030204" pitchFamily="18" charset="0"/>
                          </a:rPr>
                        </m:ctrlPr>
                      </m:sSupPr>
                      <m:e>
                        <m:r>
                          <a:rPr kumimoji="1" lang="en-US" altLang="zh-CN" sz="2800" i="1">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oMath>
                </a14:m>
                <a:r>
                  <a:rPr kumimoji="1" lang="zh-CN" altLang="en-US" sz="2800" dirty="0">
                    <a:solidFill>
                      <a:srgbClr val="2980B9"/>
                    </a:solidFill>
                  </a:rPr>
                  <a:t>，</a:t>
                </a:r>
                <a:r>
                  <a:rPr lang="en-US" altLang="zh-CN" sz="2800" b="1" dirty="0">
                    <a:solidFill>
                      <a:srgbClr val="2980B9"/>
                    </a:solidFill>
                  </a:rPr>
                  <a:t>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𝐺𝐻</m:t>
                        </m:r>
                      </m:sub>
                    </m:sSub>
                  </m:oMath>
                </a14:m>
                <a:r>
                  <a:rPr kumimoji="1" lang="zh-CN" altLang="en-US" sz="2800" dirty="0">
                    <a:solidFill>
                      <a:srgbClr val="2980B9"/>
                    </a:solidFill>
                  </a:rPr>
                  <a:t>为从起点</a:t>
                </a:r>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b="0" i="1" smtClean="0">
                            <a:solidFill>
                              <a:srgbClr val="2980B9"/>
                            </a:solidFill>
                            <a:latin typeface="Cambria Math" panose="02040503050406030204" pitchFamily="18" charset="0"/>
                          </a:rPr>
                          <m:t>0</m:t>
                        </m:r>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b="0" i="1" smtClean="0">
                            <a:solidFill>
                              <a:srgbClr val="2980B9"/>
                            </a:solidFill>
                            <a:latin typeface="Cambria Math" panose="02040503050406030204" pitchFamily="18" charset="0"/>
                          </a:rPr>
                          <m:t>0</m:t>
                        </m:r>
                      </m:e>
                    </m:d>
                  </m:oMath>
                </a14:m>
                <a:r>
                  <a:rPr kumimoji="1" lang="zh-CN" altLang="en-US" sz="2800" dirty="0">
                    <a:solidFill>
                      <a:srgbClr val="2980B9"/>
                    </a:solidFill>
                  </a:rPr>
                  <a:t>起顺时针旋转</a:t>
                </a:r>
                <a14:m>
                  <m:oMath xmlns:m="http://schemas.openxmlformats.org/officeDocument/2006/math">
                    <m:r>
                      <a:rPr kumimoji="1" lang="en-US" altLang="zh-CN" sz="2800" i="1">
                        <a:solidFill>
                          <a:srgbClr val="2980B9"/>
                        </a:solidFill>
                        <a:latin typeface="Cambria Math" panose="02040503050406030204" pitchFamily="18" charset="0"/>
                        <a:ea typeface="Cambria Math" panose="02040503050406030204" pitchFamily="18" charset="0"/>
                      </a:rPr>
                      <m:t>𝑣</m:t>
                    </m:r>
                    <m:r>
                      <a:rPr kumimoji="1" lang="en-US" altLang="zh-CN" sz="2800" i="1" smtClean="0">
                        <a:solidFill>
                          <a:srgbClr val="2980B9"/>
                        </a:solidFill>
                        <a:latin typeface="Cambria Math" panose="02040503050406030204" pitchFamily="18" charset="0"/>
                        <a:ea typeface="Cambria Math" panose="02040503050406030204" pitchFamily="18" charset="0"/>
                      </a:rPr>
                      <m:t>∙</m:t>
                    </m:r>
                    <m:r>
                      <a:rPr kumimoji="1" lang="en-US" altLang="zh-CN" sz="2800" b="0" i="1" smtClean="0">
                        <a:solidFill>
                          <a:srgbClr val="2980B9"/>
                        </a:solidFill>
                        <a:latin typeface="Cambria Math" panose="02040503050406030204" pitchFamily="18" charset="0"/>
                        <a:ea typeface="Cambria Math" panose="02040503050406030204" pitchFamily="18" charset="0"/>
                      </a:rPr>
                      <m:t>180°</m:t>
                    </m:r>
                  </m:oMath>
                </a14:m>
                <a:r>
                  <a:rPr kumimoji="1" lang="zh-CN" altLang="en-US" sz="2800" dirty="0">
                    <a:solidFill>
                      <a:srgbClr val="2980B9"/>
                    </a:solidFill>
                  </a:rPr>
                  <a:t>，半径</a:t>
                </a:r>
                <a14:m>
                  <m:oMath xmlns:m="http://schemas.openxmlformats.org/officeDocument/2006/math">
                    <m:r>
                      <a:rPr kumimoji="1" lang="en-US" altLang="zh-CN" sz="2800" i="1">
                        <a:solidFill>
                          <a:srgbClr val="2980B9"/>
                        </a:solidFill>
                        <a:latin typeface="Cambria Math" panose="02040503050406030204" pitchFamily="18" charset="0"/>
                        <a:ea typeface="Cambria Math" panose="02040503050406030204" pitchFamily="18" charset="0"/>
                      </a:rPr>
                      <m:t>∞</m:t>
                    </m:r>
                  </m:oMath>
                </a14:m>
                <a:r>
                  <a:rPr kumimoji="1" lang="zh-CN" altLang="en-US" sz="2800" dirty="0">
                    <a:solidFill>
                      <a:srgbClr val="2980B9"/>
                    </a:solidFill>
                  </a:rPr>
                  <a:t>到达</a:t>
                </a:r>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sSup>
                          <m:sSupPr>
                            <m:ctrlPr>
                              <a:rPr kumimoji="1" lang="en-US" altLang="zh-CN" sz="2800" b="0" i="1" smtClean="0">
                                <a:solidFill>
                                  <a:srgbClr val="2980B9"/>
                                </a:solidFill>
                                <a:latin typeface="Cambria Math" panose="02040503050406030204" pitchFamily="18" charset="0"/>
                              </a:rPr>
                            </m:ctrlPr>
                          </m:sSupPr>
                          <m:e>
                            <m:r>
                              <a:rPr kumimoji="1" lang="en-US" altLang="zh-CN" sz="2800" i="1">
                                <a:solidFill>
                                  <a:srgbClr val="2980B9"/>
                                </a:solidFill>
                                <a:latin typeface="Cambria Math" panose="02040503050406030204" pitchFamily="18" charset="0"/>
                              </a:rPr>
                              <m:t>0</m:t>
                            </m:r>
                          </m:e>
                          <m:sup>
                            <m:r>
                              <a:rPr kumimoji="1" lang="en-US" altLang="zh-CN" sz="2800" b="0" i="1" smtClean="0">
                                <a:solidFill>
                                  <a:srgbClr val="2980B9"/>
                                </a:solidFill>
                                <a:latin typeface="Cambria Math" panose="02040503050406030204" pitchFamily="18" charset="0"/>
                              </a:rPr>
                              <m:t>+</m:t>
                            </m:r>
                          </m:sup>
                        </m:sSup>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sSup>
                          <m:sSupPr>
                            <m:ctrlPr>
                              <a:rPr kumimoji="1" lang="en-US" altLang="zh-CN" sz="2800" b="0" i="1" smtClean="0">
                                <a:solidFill>
                                  <a:srgbClr val="2980B9"/>
                                </a:solidFill>
                                <a:latin typeface="Cambria Math" panose="02040503050406030204" pitchFamily="18" charset="0"/>
                              </a:rPr>
                            </m:ctrlPr>
                          </m:sSupPr>
                          <m:e>
                            <m:r>
                              <a:rPr kumimoji="1" lang="en-US" altLang="zh-CN" sz="2800" i="1">
                                <a:solidFill>
                                  <a:srgbClr val="2980B9"/>
                                </a:solidFill>
                                <a:latin typeface="Cambria Math" panose="02040503050406030204" pitchFamily="18" charset="0"/>
                              </a:rPr>
                              <m:t>0</m:t>
                            </m:r>
                          </m:e>
                          <m:sup>
                            <m:r>
                              <a:rPr kumimoji="1" lang="en-US" altLang="zh-CN" sz="2800" b="0" i="1" smtClean="0">
                                <a:solidFill>
                                  <a:srgbClr val="2980B9"/>
                                </a:solidFill>
                                <a:latin typeface="Cambria Math" panose="02040503050406030204" pitchFamily="18" charset="0"/>
                              </a:rPr>
                              <m:t>+</m:t>
                            </m:r>
                          </m:sup>
                        </m:sSup>
                      </m:e>
                    </m:d>
                  </m:oMath>
                </a14:m>
                <a:endParaRPr kumimoji="1" lang="zh-CN" altLang="en-US" sz="2800" dirty="0">
                  <a:solidFill>
                    <a:srgbClr val="2980B9"/>
                  </a:solidFill>
                </a:endParaRPr>
              </a:p>
            </p:txBody>
          </p:sp>
        </mc:Choice>
        <mc:Fallback xmlns="">
          <p:sp>
            <p:nvSpPr>
              <p:cNvPr id="69" name="说明3">
                <a:extLst>
                  <a:ext uri="{FF2B5EF4-FFF2-40B4-BE49-F238E27FC236}">
                    <a16:creationId xmlns:a16="http://schemas.microsoft.com/office/drawing/2014/main" id="{585C3034-3F0C-E4D9-1A5A-A83AF6835FBB}"/>
                  </a:ext>
                </a:extLst>
              </p:cNvPr>
              <p:cNvSpPr txBox="1">
                <a:spLocks noRot="1" noChangeAspect="1" noMove="1" noResize="1" noEditPoints="1" noAdjustHandles="1" noChangeArrowheads="1" noChangeShapeType="1" noTextEdit="1"/>
              </p:cNvSpPr>
              <p:nvPr/>
            </p:nvSpPr>
            <p:spPr>
              <a:xfrm>
                <a:off x="121312" y="2912799"/>
                <a:ext cx="4357044" cy="2485787"/>
              </a:xfrm>
              <a:prstGeom prst="flowChartAlternateProcess">
                <a:avLst/>
              </a:prstGeom>
              <a:blipFill>
                <a:blip r:embed="rId16"/>
                <a:stretch>
                  <a:fillRect/>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原点">
                <a:extLst>
                  <a:ext uri="{FF2B5EF4-FFF2-40B4-BE49-F238E27FC236}">
                    <a16:creationId xmlns:a16="http://schemas.microsoft.com/office/drawing/2014/main" id="{835F7639-A7DC-6BFB-FB66-6B065300ECEF}"/>
                  </a:ext>
                </a:extLst>
              </p:cNvPr>
              <p:cNvSpPr txBox="1"/>
              <p:nvPr/>
            </p:nvSpPr>
            <p:spPr>
              <a:xfrm>
                <a:off x="10813528" y="2950478"/>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70" name="原点">
                <a:extLst>
                  <a:ext uri="{FF2B5EF4-FFF2-40B4-BE49-F238E27FC236}">
                    <a16:creationId xmlns:a16="http://schemas.microsoft.com/office/drawing/2014/main" id="{835F7639-A7DC-6BFB-FB66-6B065300ECEF}"/>
                  </a:ext>
                </a:extLst>
              </p:cNvPr>
              <p:cNvSpPr txBox="1">
                <a:spLocks noRot="1" noChangeAspect="1" noMove="1" noResize="1" noEditPoints="1" noAdjustHandles="1" noChangeArrowheads="1" noChangeShapeType="1" noTextEdit="1"/>
              </p:cNvSpPr>
              <p:nvPr/>
            </p:nvSpPr>
            <p:spPr>
              <a:xfrm>
                <a:off x="10813528" y="2950478"/>
                <a:ext cx="545352" cy="524695"/>
              </a:xfrm>
              <a:prstGeom prst="rect">
                <a:avLst/>
              </a:prstGeom>
              <a:blipFill>
                <a:blip r:embed="rId17"/>
                <a:stretch>
                  <a:fillRect r="-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3428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down)">
                                      <p:cBhvr>
                                        <p:cTn id="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奈奎斯特稳定判据</a:t>
            </a:r>
          </a:p>
        </p:txBody>
      </p:sp>
      <p:sp>
        <p:nvSpPr>
          <p:cNvPr id="18" name="小标题1">
            <a:extLst>
              <a:ext uri="{FF2B5EF4-FFF2-40B4-BE49-F238E27FC236}">
                <a16:creationId xmlns:a16="http://schemas.microsoft.com/office/drawing/2014/main" id="{7009AC50-E9C2-A0F8-A94E-4E24C7AE9418}"/>
              </a:ext>
            </a:extLst>
          </p:cNvPr>
          <p:cNvSpPr/>
          <p:nvPr/>
        </p:nvSpPr>
        <p:spPr bwMode="auto">
          <a:xfrm>
            <a:off x="369268" y="1120984"/>
            <a:ext cx="1199412"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分析</a:t>
            </a:r>
          </a:p>
        </p:txBody>
      </p:sp>
      <mc:AlternateContent xmlns:mc="http://schemas.openxmlformats.org/markup-compatibility/2006" xmlns:a14="http://schemas.microsoft.com/office/drawing/2010/main">
        <mc:Choice Requires="a14">
          <p:sp>
            <p:nvSpPr>
              <p:cNvPr id="68" name="说明3">
                <a:extLst>
                  <a:ext uri="{FF2B5EF4-FFF2-40B4-BE49-F238E27FC236}">
                    <a16:creationId xmlns:a16="http://schemas.microsoft.com/office/drawing/2014/main" id="{D5AA8BA3-5D7D-374B-719B-DBCABB67ECC1}"/>
                  </a:ext>
                </a:extLst>
              </p:cNvPr>
              <p:cNvSpPr txBox="1"/>
              <p:nvPr/>
            </p:nvSpPr>
            <p:spPr>
              <a:xfrm>
                <a:off x="334566" y="1892678"/>
                <a:ext cx="11521280" cy="2009061"/>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rPr>
                  <a:t>系统稳定时，右半平面无闭环极点，即</a:t>
                </a:r>
                <a14:m>
                  <m:oMath xmlns:m="http://schemas.openxmlformats.org/officeDocument/2006/math">
                    <m:r>
                      <a:rPr kumimoji="1" lang="en-US" altLang="zh-CN" sz="2800" i="1" dirty="0" smtClean="0">
                        <a:solidFill>
                          <a:srgbClr val="2980B9"/>
                        </a:solidFill>
                        <a:latin typeface="Cambria Math" panose="02040503050406030204" pitchFamily="18" charset="0"/>
                      </a:rPr>
                      <m:t>𝐹</m:t>
                    </m:r>
                    <m:r>
                      <a:rPr kumimoji="1" lang="en-US" altLang="zh-CN" sz="2800" i="1" dirty="0" smtClean="0">
                        <a:solidFill>
                          <a:srgbClr val="2980B9"/>
                        </a:solidFill>
                        <a:latin typeface="Cambria Math" panose="02040503050406030204" pitchFamily="18" charset="0"/>
                      </a:rPr>
                      <m:t>(</m:t>
                    </m:r>
                    <m:r>
                      <a:rPr kumimoji="1" lang="en-US" altLang="zh-CN" sz="2800" i="1" dirty="0" smtClean="0">
                        <a:solidFill>
                          <a:srgbClr val="2980B9"/>
                        </a:solidFill>
                        <a:latin typeface="Cambria Math" panose="02040503050406030204" pitchFamily="18" charset="0"/>
                      </a:rPr>
                      <m:t>𝑠</m:t>
                    </m:r>
                    <m:r>
                      <a:rPr kumimoji="1" lang="en-US" altLang="zh-CN" sz="2800" i="1" dirty="0" smtClean="0">
                        <a:solidFill>
                          <a:srgbClr val="2980B9"/>
                        </a:solidFill>
                        <a:latin typeface="Cambria Math" panose="02040503050406030204" pitchFamily="18" charset="0"/>
                      </a:rPr>
                      <m:t>)</m:t>
                    </m:r>
                  </m:oMath>
                </a14:m>
                <a:r>
                  <a:rPr kumimoji="1" lang="zh-CN" altLang="en-US" sz="2800" dirty="0">
                    <a:solidFill>
                      <a:srgbClr val="2980B9"/>
                    </a:solidFill>
                  </a:rPr>
                  <a:t>右半平面无开环零点，即</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b="0" i="1">
                            <a:solidFill>
                              <a:srgbClr val="2980B9"/>
                            </a:solidFill>
                            <a:latin typeface="Cambria Math" panose="02040503050406030204" pitchFamily="18" charset="0"/>
                          </a:rPr>
                          <m:t>𝑠</m:t>
                        </m:r>
                      </m:sub>
                    </m:sSub>
                  </m:oMath>
                </a14:m>
                <a:r>
                  <a:rPr kumimoji="1" lang="zh-CN" altLang="en-US" sz="2800" dirty="0">
                    <a:solidFill>
                      <a:srgbClr val="2980B9"/>
                    </a:solidFill>
                  </a:rPr>
                  <a:t>包围 </a:t>
                </a:r>
                <a14:m>
                  <m:oMath xmlns:m="http://schemas.openxmlformats.org/officeDocument/2006/math">
                    <m:r>
                      <a:rPr kumimoji="1" lang="en-US" altLang="zh-CN" sz="2800" i="1" dirty="0">
                        <a:solidFill>
                          <a:srgbClr val="2980B9"/>
                        </a:solidFill>
                        <a:latin typeface="Cambria Math" panose="02040503050406030204" pitchFamily="18" charset="0"/>
                      </a:rPr>
                      <m:t>𝐹</m:t>
                    </m:r>
                    <m:r>
                      <a:rPr kumimoji="1" lang="en-US" altLang="zh-CN" sz="2800" i="1" dirty="0">
                        <a:solidFill>
                          <a:srgbClr val="2980B9"/>
                        </a:solidFill>
                        <a:latin typeface="Cambria Math" panose="02040503050406030204" pitchFamily="18" charset="0"/>
                      </a:rPr>
                      <m:t>(</m:t>
                    </m:r>
                    <m:r>
                      <a:rPr kumimoji="1" lang="en-US" altLang="zh-CN" sz="2800" i="1" dirty="0">
                        <a:solidFill>
                          <a:srgbClr val="2980B9"/>
                        </a:solidFill>
                        <a:latin typeface="Cambria Math" panose="02040503050406030204" pitchFamily="18" charset="0"/>
                      </a:rPr>
                      <m:t>𝑠</m:t>
                    </m:r>
                    <m:r>
                      <a:rPr kumimoji="1" lang="en-US" altLang="zh-CN" sz="2800" i="1" dirty="0">
                        <a:solidFill>
                          <a:srgbClr val="2980B9"/>
                        </a:solidFill>
                        <a:latin typeface="Cambria Math" panose="02040503050406030204" pitchFamily="18" charset="0"/>
                      </a:rPr>
                      <m:t>)</m:t>
                    </m:r>
                  </m:oMath>
                </a14:m>
                <a:r>
                  <a:rPr kumimoji="1" lang="zh-CN" altLang="en-US" sz="2800" dirty="0">
                    <a:solidFill>
                      <a:srgbClr val="2980B9"/>
                    </a:solidFill>
                  </a:rPr>
                  <a:t>的零点数</a:t>
                </a:r>
                <a14:m>
                  <m:oMath xmlns:m="http://schemas.openxmlformats.org/officeDocument/2006/math">
                    <m:r>
                      <a:rPr kumimoji="1" lang="en-US" altLang="zh-CN" sz="2800" i="1" dirty="0" smtClean="0">
                        <a:solidFill>
                          <a:srgbClr val="2980B9"/>
                        </a:solidFill>
                        <a:latin typeface="Cambria Math" panose="02040503050406030204" pitchFamily="18" charset="0"/>
                      </a:rPr>
                      <m:t>𝑍</m:t>
                    </m:r>
                    <m:r>
                      <a:rPr kumimoji="1" lang="en-US" altLang="zh-CN" sz="2800" i="1" dirty="0" smtClean="0">
                        <a:solidFill>
                          <a:srgbClr val="2980B9"/>
                        </a:solidFill>
                        <a:latin typeface="Cambria Math" panose="02040503050406030204" pitchFamily="18" charset="0"/>
                      </a:rPr>
                      <m:t>=0</m:t>
                    </m:r>
                  </m:oMath>
                </a14:m>
                <a:r>
                  <a:rPr kumimoji="1" lang="zh-CN" altLang="en-US" sz="2800" dirty="0">
                    <a:solidFill>
                      <a:srgbClr val="2980B9"/>
                    </a:solidFill>
                  </a:rPr>
                  <a:t>。 所以系统稳定时，</a:t>
                </a:r>
                <a14:m>
                  <m:oMath xmlns:m="http://schemas.openxmlformats.org/officeDocument/2006/math">
                    <m:r>
                      <a:rPr kumimoji="1" lang="en-US" altLang="zh-CN" sz="2800" i="1" dirty="0" smtClean="0">
                        <a:solidFill>
                          <a:srgbClr val="2980B9"/>
                        </a:solidFill>
                        <a:latin typeface="Cambria Math" panose="02040503050406030204" pitchFamily="18" charset="0"/>
                      </a:rPr>
                      <m:t>𝑅</m:t>
                    </m:r>
                    <m:r>
                      <a:rPr kumimoji="1" lang="en-US" altLang="zh-CN" sz="2800" i="1" dirty="0" smtClean="0">
                        <a:solidFill>
                          <a:srgbClr val="2980B9"/>
                        </a:solidFill>
                        <a:latin typeface="Cambria Math" panose="02040503050406030204" pitchFamily="18" charset="0"/>
                      </a:rPr>
                      <m:t>=</m:t>
                    </m:r>
                    <m:r>
                      <a:rPr kumimoji="1" lang="en-US" altLang="zh-CN" sz="2800" i="1" dirty="0" smtClean="0">
                        <a:solidFill>
                          <a:srgbClr val="2980B9"/>
                        </a:solidFill>
                        <a:latin typeface="Cambria Math" panose="02040503050406030204" pitchFamily="18" charset="0"/>
                      </a:rPr>
                      <m:t>𝑃</m:t>
                    </m:r>
                    <m:r>
                      <a:rPr kumimoji="1" lang="en-US" altLang="zh-CN" sz="2800" i="1" dirty="0" smtClean="0">
                        <a:solidFill>
                          <a:srgbClr val="2980B9"/>
                        </a:solidFill>
                        <a:latin typeface="Cambria Math" panose="02040503050406030204" pitchFamily="18" charset="0"/>
                      </a:rPr>
                      <m:t>−</m:t>
                    </m:r>
                    <m:r>
                      <a:rPr kumimoji="1" lang="en-US" altLang="zh-CN" sz="2800" i="1" dirty="0" smtClean="0">
                        <a:solidFill>
                          <a:srgbClr val="2980B9"/>
                        </a:solidFill>
                        <a:latin typeface="Cambria Math" panose="02040503050406030204" pitchFamily="18" charset="0"/>
                      </a:rPr>
                      <m:t>𝑍</m:t>
                    </m:r>
                    <m:r>
                      <a:rPr kumimoji="1" lang="en-US" altLang="zh-CN" sz="2800" i="1" dirty="0" smtClean="0">
                        <a:solidFill>
                          <a:srgbClr val="2980B9"/>
                        </a:solidFill>
                        <a:latin typeface="Cambria Math" panose="02040503050406030204" pitchFamily="18" charset="0"/>
                      </a:rPr>
                      <m:t>=</m:t>
                    </m:r>
                    <m:r>
                      <a:rPr kumimoji="1" lang="en-US" altLang="zh-CN" sz="2800" i="1" dirty="0" smtClean="0">
                        <a:solidFill>
                          <a:srgbClr val="2980B9"/>
                        </a:solidFill>
                        <a:latin typeface="Cambria Math" panose="02040503050406030204" pitchFamily="18" charset="0"/>
                      </a:rPr>
                      <m:t>𝑃</m:t>
                    </m:r>
                  </m:oMath>
                </a14:m>
                <a:r>
                  <a:rPr kumimoji="1" lang="zh-CN" altLang="en-US" sz="2800" dirty="0">
                    <a:solidFill>
                      <a:srgbClr val="2980B9"/>
                    </a:solidFill>
                  </a:rPr>
                  <a:t>，即</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b="0" i="1" smtClean="0">
                            <a:solidFill>
                              <a:srgbClr val="2980B9"/>
                            </a:solidFill>
                            <a:latin typeface="Cambria Math" panose="02040503050406030204" pitchFamily="18" charset="0"/>
                          </a:rPr>
                          <m:t>𝐹</m:t>
                        </m:r>
                      </m:sub>
                    </m:sSub>
                  </m:oMath>
                </a14:m>
                <a:r>
                  <a:rPr kumimoji="1" lang="zh-CN" altLang="en-US" sz="2800" dirty="0">
                    <a:solidFill>
                      <a:srgbClr val="2980B9"/>
                    </a:solidFill>
                  </a:rPr>
                  <a:t> 按逆时针方向围绕原点周数</a:t>
                </a:r>
                <a14:m>
                  <m:oMath xmlns:m="http://schemas.openxmlformats.org/officeDocument/2006/math">
                    <m:r>
                      <a:rPr kumimoji="1" lang="en-US" altLang="zh-CN" sz="2800" i="1" dirty="0">
                        <a:solidFill>
                          <a:srgbClr val="2980B9"/>
                        </a:solidFill>
                        <a:latin typeface="Cambria Math" panose="02040503050406030204" pitchFamily="18" charset="0"/>
                      </a:rPr>
                      <m:t>𝑅</m:t>
                    </m:r>
                  </m:oMath>
                </a14:m>
                <a:r>
                  <a:rPr kumimoji="1" lang="zh-CN" altLang="en-US" sz="2800" dirty="0">
                    <a:solidFill>
                      <a:srgbClr val="2980B9"/>
                    </a:solidFill>
                  </a:rPr>
                  <a:t> 等于右半平面开环极点数 </a:t>
                </a:r>
                <a14:m>
                  <m:oMath xmlns:m="http://schemas.openxmlformats.org/officeDocument/2006/math">
                    <m:r>
                      <a:rPr kumimoji="1" lang="en-US" altLang="zh-CN" sz="2800" i="1" dirty="0">
                        <a:solidFill>
                          <a:srgbClr val="2980B9"/>
                        </a:solidFill>
                        <a:latin typeface="Cambria Math" panose="02040503050406030204" pitchFamily="18" charset="0"/>
                      </a:rPr>
                      <m:t>𝑃</m:t>
                    </m:r>
                    <m:r>
                      <a:rPr kumimoji="1" lang="en-US" altLang="zh-CN" sz="2800" i="1" dirty="0">
                        <a:solidFill>
                          <a:srgbClr val="2980B9"/>
                        </a:solidFill>
                        <a:latin typeface="Cambria Math" panose="02040503050406030204" pitchFamily="18" charset="0"/>
                      </a:rPr>
                      <m:t> </m:t>
                    </m:r>
                  </m:oMath>
                </a14:m>
                <a:r>
                  <a:rPr kumimoji="1" lang="zh-CN" altLang="en-US" sz="2800" dirty="0">
                    <a:solidFill>
                      <a:srgbClr val="2980B9"/>
                    </a:solidFill>
                  </a:rPr>
                  <a:t>，即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b="0" i="1" smtClean="0">
                            <a:solidFill>
                              <a:srgbClr val="2980B9"/>
                            </a:solidFill>
                            <a:latin typeface="Cambria Math" panose="02040503050406030204" pitchFamily="18" charset="0"/>
                          </a:rPr>
                          <m:t>𝐺𝐻</m:t>
                        </m:r>
                      </m:sub>
                    </m:sSub>
                  </m:oMath>
                </a14:m>
                <a:r>
                  <a:rPr kumimoji="1" lang="zh-CN" altLang="en-US" sz="2800" dirty="0">
                    <a:solidFill>
                      <a:srgbClr val="2980B9"/>
                    </a:solidFill>
                  </a:rPr>
                  <a:t>逆时针包围点 </a:t>
                </a:r>
                <a14:m>
                  <m:oMath xmlns:m="http://schemas.openxmlformats.org/officeDocument/2006/math">
                    <m:r>
                      <a:rPr kumimoji="1" lang="en-US" altLang="zh-CN" sz="2800" i="1" dirty="0" smtClean="0">
                        <a:solidFill>
                          <a:srgbClr val="2980B9"/>
                        </a:solidFill>
                        <a:latin typeface="Cambria Math" panose="02040503050406030204" pitchFamily="18" charset="0"/>
                      </a:rPr>
                      <m:t>(−1,</m:t>
                    </m:r>
                    <m:r>
                      <a:rPr kumimoji="1" lang="en-US" altLang="zh-CN" sz="2800" i="1" dirty="0" smtClean="0">
                        <a:solidFill>
                          <a:srgbClr val="2980B9"/>
                        </a:solidFill>
                        <a:latin typeface="Cambria Math" panose="02040503050406030204" pitchFamily="18" charset="0"/>
                      </a:rPr>
                      <m:t>𝑗</m:t>
                    </m:r>
                    <m:r>
                      <a:rPr kumimoji="1" lang="en-US" altLang="zh-CN" sz="2800" i="1" dirty="0" smtClean="0">
                        <a:solidFill>
                          <a:srgbClr val="2980B9"/>
                        </a:solidFill>
                        <a:latin typeface="Cambria Math" panose="02040503050406030204" pitchFamily="18" charset="0"/>
                      </a:rPr>
                      <m:t>0)</m:t>
                    </m:r>
                  </m:oMath>
                </a14:m>
                <a:r>
                  <a:rPr kumimoji="1" lang="zh-CN" altLang="en-US" sz="2800" dirty="0">
                    <a:solidFill>
                      <a:srgbClr val="2980B9"/>
                    </a:solidFill>
                  </a:rPr>
                  <a:t>共</a:t>
                </a:r>
                <a:r>
                  <a:rPr kumimoji="1" lang="en-US" altLang="zh-CN" sz="2800" dirty="0">
                    <a:solidFill>
                      <a:srgbClr val="2980B9"/>
                    </a:solidFill>
                  </a:rPr>
                  <a:t> </a:t>
                </a:r>
                <a14:m>
                  <m:oMath xmlns:m="http://schemas.openxmlformats.org/officeDocument/2006/math">
                    <m:r>
                      <a:rPr kumimoji="1" lang="en-US" altLang="zh-CN" sz="2800" i="1" dirty="0">
                        <a:solidFill>
                          <a:srgbClr val="2980B9"/>
                        </a:solidFill>
                        <a:latin typeface="Cambria Math" panose="02040503050406030204" pitchFamily="18" charset="0"/>
                      </a:rPr>
                      <m:t>𝑃</m:t>
                    </m:r>
                  </m:oMath>
                </a14:m>
                <a:r>
                  <a:rPr kumimoji="1" lang="zh-CN" altLang="en-US" sz="2800" dirty="0">
                    <a:solidFill>
                      <a:srgbClr val="2980B9"/>
                    </a:solidFill>
                  </a:rPr>
                  <a:t>周。 </a:t>
                </a:r>
                <a:endParaRPr kumimoji="1" lang="en-US" altLang="zh-CN" sz="2800" dirty="0">
                  <a:solidFill>
                    <a:srgbClr val="2980B9"/>
                  </a:solidFill>
                </a:endParaRPr>
              </a:p>
            </p:txBody>
          </p:sp>
        </mc:Choice>
        <mc:Fallback xmlns="">
          <p:sp>
            <p:nvSpPr>
              <p:cNvPr id="68" name="说明3">
                <a:extLst>
                  <a:ext uri="{FF2B5EF4-FFF2-40B4-BE49-F238E27FC236}">
                    <a16:creationId xmlns:a16="http://schemas.microsoft.com/office/drawing/2014/main" id="{D5AA8BA3-5D7D-374B-719B-DBCABB67ECC1}"/>
                  </a:ext>
                </a:extLst>
              </p:cNvPr>
              <p:cNvSpPr txBox="1">
                <a:spLocks noRot="1" noChangeAspect="1" noMove="1" noResize="1" noEditPoints="1" noAdjustHandles="1" noChangeArrowheads="1" noChangeShapeType="1" noTextEdit="1"/>
              </p:cNvSpPr>
              <p:nvPr/>
            </p:nvSpPr>
            <p:spPr>
              <a:xfrm>
                <a:off x="334566" y="1892678"/>
                <a:ext cx="11521280" cy="2009061"/>
              </a:xfrm>
              <a:prstGeom prst="flowChartAlternateProcess">
                <a:avLst/>
              </a:prstGeom>
              <a:blipFill>
                <a:blip r:embed="rId3"/>
                <a:stretch>
                  <a:fillRect l="-110" b="-1852"/>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说明3">
                <a:extLst>
                  <a:ext uri="{FF2B5EF4-FFF2-40B4-BE49-F238E27FC236}">
                    <a16:creationId xmlns:a16="http://schemas.microsoft.com/office/drawing/2014/main" id="{53E2D63F-B0D2-A885-5813-113BC9B1B587}"/>
                  </a:ext>
                </a:extLst>
              </p:cNvPr>
              <p:cNvSpPr txBox="1"/>
              <p:nvPr/>
            </p:nvSpPr>
            <p:spPr>
              <a:xfrm>
                <a:off x="334566" y="5283156"/>
                <a:ext cx="11521280"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kumimoji="1" lang="en-US" altLang="zh-CN" sz="2800" dirty="0">
                    <a:solidFill>
                      <a:srgbClr val="2980B9"/>
                    </a:solidFill>
                  </a:rPr>
                  <a:t>Nyquist</a:t>
                </a:r>
                <a:r>
                  <a:rPr kumimoji="1" lang="zh-CN" altLang="en-US" sz="2800" dirty="0">
                    <a:solidFill>
                      <a:srgbClr val="2980B9"/>
                    </a:solidFill>
                  </a:rPr>
                  <a:t> 曲线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𝐺𝐻</m:t>
                        </m:r>
                      </m:sub>
                    </m:sSub>
                  </m:oMath>
                </a14:m>
                <a:r>
                  <a:rPr kumimoji="1" lang="zh-CN" altLang="en-US" sz="2800" dirty="0">
                    <a:solidFill>
                      <a:srgbClr val="2980B9"/>
                    </a:solidFill>
                  </a:rPr>
                  <a:t> 不通过 </a:t>
                </a:r>
                <a14:m>
                  <m:oMath xmlns:m="http://schemas.openxmlformats.org/officeDocument/2006/math">
                    <m:r>
                      <a:rPr kumimoji="1" lang="en-US" altLang="zh-CN" sz="2800" i="1" dirty="0">
                        <a:solidFill>
                          <a:srgbClr val="2980B9"/>
                        </a:solidFill>
                        <a:latin typeface="Cambria Math" panose="02040503050406030204" pitchFamily="18" charset="0"/>
                      </a:rPr>
                      <m:t>(−1,</m:t>
                    </m:r>
                    <m:r>
                      <a:rPr kumimoji="1" lang="en-US" altLang="zh-CN" sz="2800" i="1" dirty="0">
                        <a:solidFill>
                          <a:srgbClr val="2980B9"/>
                        </a:solidFill>
                        <a:latin typeface="Cambria Math" panose="02040503050406030204" pitchFamily="18" charset="0"/>
                      </a:rPr>
                      <m:t>𝑗</m:t>
                    </m:r>
                    <m:r>
                      <a:rPr kumimoji="1" lang="en-US" altLang="zh-CN" sz="2800" i="1" dirty="0">
                        <a:solidFill>
                          <a:srgbClr val="2980B9"/>
                        </a:solidFill>
                        <a:latin typeface="Cambria Math" panose="02040503050406030204" pitchFamily="18" charset="0"/>
                      </a:rPr>
                      <m:t>0)</m:t>
                    </m:r>
                  </m:oMath>
                </a14:m>
                <a:r>
                  <a:rPr kumimoji="1" lang="en-US" altLang="zh-CN" sz="2800" dirty="0">
                    <a:solidFill>
                      <a:srgbClr val="2980B9"/>
                    </a:solidFill>
                  </a:rPr>
                  <a:t> </a:t>
                </a:r>
                <a:r>
                  <a:rPr kumimoji="1" lang="zh-CN" altLang="en-US" sz="2800" dirty="0">
                    <a:solidFill>
                      <a:srgbClr val="2980B9"/>
                    </a:solidFill>
                  </a:rPr>
                  <a:t>点，且逆时针围绕 </a:t>
                </a:r>
                <a14:m>
                  <m:oMath xmlns:m="http://schemas.openxmlformats.org/officeDocument/2006/math">
                    <m:r>
                      <a:rPr kumimoji="1" lang="en-US" altLang="zh-CN" sz="2800" i="1" dirty="0">
                        <a:solidFill>
                          <a:srgbClr val="2980B9"/>
                        </a:solidFill>
                        <a:latin typeface="Cambria Math" panose="02040503050406030204" pitchFamily="18" charset="0"/>
                      </a:rPr>
                      <m:t>(−1,</m:t>
                    </m:r>
                    <m:r>
                      <a:rPr kumimoji="1" lang="en-US" altLang="zh-CN" sz="2800" i="1" dirty="0">
                        <a:solidFill>
                          <a:srgbClr val="2980B9"/>
                        </a:solidFill>
                        <a:latin typeface="Cambria Math" panose="02040503050406030204" pitchFamily="18" charset="0"/>
                      </a:rPr>
                      <m:t>𝑗</m:t>
                    </m:r>
                    <m:r>
                      <a:rPr kumimoji="1" lang="en-US" altLang="zh-CN" sz="2800" i="1" dirty="0">
                        <a:solidFill>
                          <a:srgbClr val="2980B9"/>
                        </a:solidFill>
                        <a:latin typeface="Cambria Math" panose="02040503050406030204" pitchFamily="18" charset="0"/>
                      </a:rPr>
                      <m:t>0)</m:t>
                    </m:r>
                  </m:oMath>
                </a14:m>
                <a:r>
                  <a:rPr kumimoji="1" lang="en-US" altLang="zh-CN" sz="2800" dirty="0">
                    <a:solidFill>
                      <a:srgbClr val="2980B9"/>
                    </a:solidFill>
                  </a:rPr>
                  <a:t> </a:t>
                </a:r>
                <a:r>
                  <a:rPr kumimoji="1" lang="zh-CN" altLang="en-US" sz="2800" dirty="0">
                    <a:solidFill>
                      <a:srgbClr val="2980B9"/>
                    </a:solidFill>
                  </a:rPr>
                  <a:t>点的周数 </a:t>
                </a:r>
                <a14:m>
                  <m:oMath xmlns:m="http://schemas.openxmlformats.org/officeDocument/2006/math">
                    <m:r>
                      <a:rPr kumimoji="1" lang="en-US" altLang="zh-CN" sz="2800" i="1" dirty="0">
                        <a:solidFill>
                          <a:srgbClr val="2980B9"/>
                        </a:solidFill>
                        <a:latin typeface="Cambria Math" panose="02040503050406030204" pitchFamily="18" charset="0"/>
                      </a:rPr>
                      <m:t>𝑅</m:t>
                    </m:r>
                    <m:r>
                      <a:rPr kumimoji="1" lang="en-US" altLang="zh-CN" sz="2800" i="1" dirty="0">
                        <a:solidFill>
                          <a:srgbClr val="2980B9"/>
                        </a:solidFill>
                        <a:latin typeface="Cambria Math" panose="02040503050406030204" pitchFamily="18" charset="0"/>
                      </a:rPr>
                      <m:t> </m:t>
                    </m:r>
                  </m:oMath>
                </a14:m>
                <a:r>
                  <a:rPr kumimoji="1" lang="zh-CN" altLang="en-US" sz="2800" dirty="0">
                    <a:solidFill>
                      <a:srgbClr val="2980B9"/>
                    </a:solidFill>
                  </a:rPr>
                  <a:t>，等于右半平面的开环极点数 </a:t>
                </a:r>
                <a14:m>
                  <m:oMath xmlns:m="http://schemas.openxmlformats.org/officeDocument/2006/math">
                    <m:r>
                      <a:rPr kumimoji="1" lang="en-US" altLang="zh-CN" sz="2800" i="1" dirty="0">
                        <a:solidFill>
                          <a:srgbClr val="2980B9"/>
                        </a:solidFill>
                        <a:latin typeface="Cambria Math" panose="02040503050406030204" pitchFamily="18" charset="0"/>
                      </a:rPr>
                      <m:t>𝑃</m:t>
                    </m:r>
                  </m:oMath>
                </a14:m>
                <a:r>
                  <a:rPr kumimoji="1" lang="en-US" altLang="zh-CN" sz="2800" dirty="0">
                    <a:solidFill>
                      <a:srgbClr val="2980B9"/>
                    </a:solidFill>
                  </a:rPr>
                  <a:t>(</a:t>
                </a:r>
                <a:r>
                  <a:rPr kumimoji="1" lang="zh-CN" altLang="en-US" sz="2800" dirty="0">
                    <a:solidFill>
                      <a:srgbClr val="2980B9"/>
                    </a:solidFill>
                  </a:rPr>
                  <a:t>不计虚轴上的极点</a:t>
                </a:r>
                <a:r>
                  <a:rPr kumimoji="1" lang="en-US" altLang="zh-CN" sz="2800" dirty="0">
                    <a:solidFill>
                      <a:srgbClr val="2980B9"/>
                    </a:solidFill>
                  </a:rPr>
                  <a:t>)</a:t>
                </a:r>
                <a:r>
                  <a:rPr kumimoji="1" lang="zh-CN" altLang="en-US" sz="2800" dirty="0">
                    <a:solidFill>
                      <a:srgbClr val="2980B9"/>
                    </a:solidFill>
                  </a:rPr>
                  <a:t>，即 </a:t>
                </a:r>
                <a14:m>
                  <m:oMath xmlns:m="http://schemas.openxmlformats.org/officeDocument/2006/math">
                    <m:r>
                      <a:rPr kumimoji="1" lang="en-US" altLang="zh-CN" sz="2800" i="1" dirty="0">
                        <a:solidFill>
                          <a:srgbClr val="2980B9"/>
                        </a:solidFill>
                        <a:latin typeface="Cambria Math" panose="02040503050406030204" pitchFamily="18" charset="0"/>
                      </a:rPr>
                      <m:t>𝑅</m:t>
                    </m:r>
                    <m:r>
                      <a:rPr kumimoji="1" lang="en-US" altLang="zh-CN" sz="2800" i="1" dirty="0">
                        <a:solidFill>
                          <a:srgbClr val="2980B9"/>
                        </a:solidFill>
                        <a:latin typeface="Cambria Math" panose="02040503050406030204" pitchFamily="18" charset="0"/>
                      </a:rPr>
                      <m:t>=</m:t>
                    </m:r>
                    <m:r>
                      <a:rPr kumimoji="1" lang="en-US" altLang="zh-CN" sz="2800" i="1" dirty="0">
                        <a:solidFill>
                          <a:srgbClr val="2980B9"/>
                        </a:solidFill>
                        <a:latin typeface="Cambria Math" panose="02040503050406030204" pitchFamily="18" charset="0"/>
                      </a:rPr>
                      <m:t>𝑃</m:t>
                    </m:r>
                    <m:r>
                      <a:rPr kumimoji="1" lang="en-US" altLang="zh-CN" sz="2800" i="1" dirty="0">
                        <a:solidFill>
                          <a:srgbClr val="2980B9"/>
                        </a:solidFill>
                        <a:latin typeface="Cambria Math" panose="02040503050406030204" pitchFamily="18" charset="0"/>
                      </a:rPr>
                      <m:t> </m:t>
                    </m:r>
                  </m:oMath>
                </a14:m>
                <a:r>
                  <a:rPr kumimoji="1" lang="zh-CN" altLang="en-US" sz="2800" dirty="0">
                    <a:solidFill>
                      <a:srgbClr val="2980B9"/>
                    </a:solidFill>
                  </a:rPr>
                  <a:t>。</a:t>
                </a:r>
              </a:p>
            </p:txBody>
          </p:sp>
        </mc:Choice>
        <mc:Fallback xmlns="">
          <p:sp>
            <p:nvSpPr>
              <p:cNvPr id="5" name="说明3">
                <a:extLst>
                  <a:ext uri="{FF2B5EF4-FFF2-40B4-BE49-F238E27FC236}">
                    <a16:creationId xmlns:a16="http://schemas.microsoft.com/office/drawing/2014/main" id="{53E2D63F-B0D2-A885-5813-113BC9B1B587}"/>
                  </a:ext>
                </a:extLst>
              </p:cNvPr>
              <p:cNvSpPr txBox="1">
                <a:spLocks noRot="1" noChangeAspect="1" noMove="1" noResize="1" noEditPoints="1" noAdjustHandles="1" noChangeArrowheads="1" noChangeShapeType="1" noTextEdit="1"/>
              </p:cNvSpPr>
              <p:nvPr/>
            </p:nvSpPr>
            <p:spPr>
              <a:xfrm>
                <a:off x="334566" y="5283156"/>
                <a:ext cx="11521280" cy="1055608"/>
              </a:xfrm>
              <a:prstGeom prst="flowChartAlternateProcess">
                <a:avLst/>
              </a:prstGeom>
              <a:blipFill>
                <a:blip r:embed="rId4"/>
                <a:stretch>
                  <a:fillRect l="-549" t="-2326" r="-3626" b="-8140"/>
                </a:stretch>
              </a:blipFill>
              <a:ln>
                <a:prstDash val="sysDot"/>
              </a:ln>
            </p:spPr>
            <p:txBody>
              <a:bodyPr/>
              <a:lstStyle/>
              <a:p>
                <a:r>
                  <a:rPr lang="zh-CN" altLang="en-US">
                    <a:noFill/>
                  </a:rPr>
                  <a:t> </a:t>
                </a:r>
              </a:p>
            </p:txBody>
          </p:sp>
        </mc:Fallback>
      </mc:AlternateContent>
      <p:sp>
        <p:nvSpPr>
          <p:cNvPr id="7" name="小标题1">
            <a:extLst>
              <a:ext uri="{FF2B5EF4-FFF2-40B4-BE49-F238E27FC236}">
                <a16:creationId xmlns:a16="http://schemas.microsoft.com/office/drawing/2014/main" id="{A9740E26-1FF0-FEB0-BE66-299C71F4E8D1}"/>
              </a:ext>
            </a:extLst>
          </p:cNvPr>
          <p:cNvSpPr/>
          <p:nvPr/>
        </p:nvSpPr>
        <p:spPr bwMode="auto">
          <a:xfrm>
            <a:off x="366619" y="4293127"/>
            <a:ext cx="5126630"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负反馈系统稳定的充要条件</a:t>
            </a:r>
          </a:p>
        </p:txBody>
      </p:sp>
    </p:spTree>
    <p:extLst>
      <p:ext uri="{BB962C8B-B14F-4D97-AF65-F5344CB8AC3E}">
        <p14:creationId xmlns:p14="http://schemas.microsoft.com/office/powerpoint/2010/main" val="4014461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判定</a:t>
            </a:r>
            <a:r>
              <a:rPr lang="en-US" altLang="zh-CN" sz="2800" b="1" dirty="0">
                <a:solidFill>
                  <a:schemeClr val="bg1"/>
                </a:solidFill>
                <a:latin typeface="微软雅黑" panose="020B0503020204020204" pitchFamily="34" charset="-122"/>
                <a:ea typeface="微软雅黑" panose="020B0503020204020204" pitchFamily="34" charset="-122"/>
              </a:rPr>
              <a:t>0</a:t>
            </a:r>
            <a:r>
              <a:rPr lang="zh-CN" altLang="en-US" sz="2800" b="1" dirty="0">
                <a:solidFill>
                  <a:schemeClr val="bg1"/>
                </a:solidFill>
                <a:latin typeface="微软雅黑" panose="020B0503020204020204" pitchFamily="34" charset="-122"/>
                <a:ea typeface="微软雅黑" panose="020B0503020204020204" pitchFamily="34" charset="-122"/>
              </a:rPr>
              <a:t>型系统稳定性</a:t>
            </a:r>
          </a:p>
        </p:txBody>
      </p:sp>
      <p:sp>
        <p:nvSpPr>
          <p:cNvPr id="35" name="幅相">
            <a:extLst>
              <a:ext uri="{FF2B5EF4-FFF2-40B4-BE49-F238E27FC236}">
                <a16:creationId xmlns:a16="http://schemas.microsoft.com/office/drawing/2014/main" id="{6D9CB9E4-827A-67BE-4B81-4879FE516102}"/>
              </a:ext>
            </a:extLst>
          </p:cNvPr>
          <p:cNvSpPr/>
          <p:nvPr/>
        </p:nvSpPr>
        <p:spPr>
          <a:xfrm flipV="1">
            <a:off x="7816178" y="3248446"/>
            <a:ext cx="456652" cy="126112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Lst>
            <a:ahLst/>
            <a:cxnLst>
              <a:cxn ang="0">
                <a:pos x="connsiteX0" y="connsiteY0"/>
              </a:cxn>
              <a:cxn ang="0">
                <a:pos x="connsiteX1" y="connsiteY1"/>
              </a:cxn>
            </a:cxnLst>
            <a:rect l="l" t="t" r="r" b="b"/>
            <a:pathLst>
              <a:path w="336599" h="1559862">
                <a:moveTo>
                  <a:pt x="322844" y="453380"/>
                </a:moveTo>
                <a:cubicBezTo>
                  <a:pt x="243862" y="-672964"/>
                  <a:pt x="-370651" y="529884"/>
                  <a:pt x="336599" y="1559862"/>
                </a:cubicBezTo>
              </a:path>
            </a:pathLst>
          </a:custGeom>
          <a:noFill/>
          <a:ln w="38100">
            <a:solidFill>
              <a:srgbClr val="159F84"/>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406779"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406779" y="1891237"/>
                <a:ext cx="801225" cy="524695"/>
              </a:xfrm>
              <a:prstGeom prst="rect">
                <a:avLst/>
              </a:prstGeom>
              <a:blipFill>
                <a:blip r:embed="rId3"/>
                <a:stretch>
                  <a:fillRect r="-3125"/>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6588427"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2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6</m:t>
                          </m:r>
                        </m:num>
                        <m:den>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0.5</m:t>
                              </m:r>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0.2</m:t>
                              </m:r>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2699"/>
              </a:xfrm>
              <a:prstGeom prst="rect">
                <a:avLst/>
              </a:prstGeom>
              <a:blipFill>
                <a:blip r:embed="rId6"/>
                <a:stretch>
                  <a:fillRect b="-1316"/>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994D3405-C224-29C9-A948-656257DFBA4B}"/>
              </a:ext>
            </a:extLst>
          </p:cNvPr>
          <p:cNvGrpSpPr/>
          <p:nvPr/>
        </p:nvGrpSpPr>
        <p:grpSpPr>
          <a:xfrm>
            <a:off x="766614" y="1891237"/>
            <a:ext cx="4343493" cy="4418083"/>
            <a:chOff x="7080305" y="1516316"/>
            <a:chExt cx="4343493" cy="4418083"/>
          </a:xfrm>
        </p:grpSpPr>
        <p:grpSp>
          <p:nvGrpSpPr>
            <p:cNvPr id="6" name="坐标轴">
              <a:extLst>
                <a:ext uri="{FF2B5EF4-FFF2-40B4-BE49-F238E27FC236}">
                  <a16:creationId xmlns:a16="http://schemas.microsoft.com/office/drawing/2014/main" id="{4AB902D0-AD77-2FAC-001A-D30F5A5FFABD}"/>
                </a:ext>
              </a:extLst>
            </p:cNvPr>
            <p:cNvGrpSpPr/>
            <p:nvPr/>
          </p:nvGrpSpPr>
          <p:grpSpPr>
            <a:xfrm>
              <a:off x="7997028" y="1516316"/>
              <a:ext cx="3426770" cy="4418083"/>
              <a:chOff x="8390928" y="2461626"/>
              <a:chExt cx="3426770" cy="4418083"/>
            </a:xfrm>
          </p:grpSpPr>
          <p:cxnSp>
            <p:nvCxnSpPr>
              <p:cNvPr id="21" name="实轴">
                <a:extLst>
                  <a:ext uri="{FF2B5EF4-FFF2-40B4-BE49-F238E27FC236}">
                    <a16:creationId xmlns:a16="http://schemas.microsoft.com/office/drawing/2014/main" id="{ACC8922D-1522-36F7-060B-B920A1ABF0B9}"/>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虚轴">
                <a:extLst>
                  <a:ext uri="{FF2B5EF4-FFF2-40B4-BE49-F238E27FC236}">
                    <a16:creationId xmlns:a16="http://schemas.microsoft.com/office/drawing/2014/main" id="{DD3D7083-07D6-FF78-4F42-E379ABED4544}"/>
                  </a:ext>
                </a:extLst>
              </p:cNvPr>
              <p:cNvCxnSpPr>
                <a:cxnSpLocks/>
              </p:cNvCxnSpPr>
              <p:nvPr/>
            </p:nvCxnSpPr>
            <p:spPr>
              <a:xfrm flipV="1">
                <a:off x="9196819" y="2461626"/>
                <a:ext cx="0" cy="441808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
                    <a:extLst>
                      <a:ext uri="{FF2B5EF4-FFF2-40B4-BE49-F238E27FC236}">
                        <a16:creationId xmlns:a16="http://schemas.microsoft.com/office/drawing/2014/main" id="{9C6CAAC8-AB04-B618-A9F5-670CC130EBD0}"/>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4" name="Re">
                    <a:extLst>
                      <a:ext uri="{FF2B5EF4-FFF2-40B4-BE49-F238E27FC236}">
                        <a16:creationId xmlns:a16="http://schemas.microsoft.com/office/drawing/2014/main" id="{9C6CAAC8-AB04-B618-A9F5-670CC130EBD0}"/>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7"/>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Im">
                    <a:extLst>
                      <a:ext uri="{FF2B5EF4-FFF2-40B4-BE49-F238E27FC236}">
                        <a16:creationId xmlns:a16="http://schemas.microsoft.com/office/drawing/2014/main" id="{12DBA807-E647-DBF1-310D-E2620D3CE453}"/>
                      </a:ext>
                    </a:extLst>
                  </p:cNvPr>
                  <p:cNvSpPr txBox="1"/>
                  <p:nvPr/>
                </p:nvSpPr>
                <p:spPr>
                  <a:xfrm>
                    <a:off x="8390928" y="246162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25" name="Im">
                    <a:extLst>
                      <a:ext uri="{FF2B5EF4-FFF2-40B4-BE49-F238E27FC236}">
                        <a16:creationId xmlns:a16="http://schemas.microsoft.com/office/drawing/2014/main" id="{12DBA807-E647-DBF1-310D-E2620D3CE453}"/>
                      </a:ext>
                    </a:extLst>
                  </p:cNvPr>
                  <p:cNvSpPr txBox="1">
                    <a:spLocks noRot="1" noChangeAspect="1" noMove="1" noResize="1" noEditPoints="1" noAdjustHandles="1" noChangeArrowheads="1" noChangeShapeType="1" noTextEdit="1"/>
                  </p:cNvSpPr>
                  <p:nvPr/>
                </p:nvSpPr>
                <p:spPr>
                  <a:xfrm>
                    <a:off x="8390928" y="2461626"/>
                    <a:ext cx="576536" cy="523220"/>
                  </a:xfrm>
                  <a:prstGeom prst="rect">
                    <a:avLst/>
                  </a:prstGeom>
                  <a:blipFill>
                    <a:blip r:embed="rId8"/>
                    <a:stretch>
                      <a:fillRect l="-4255"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原点">
                    <a:extLst>
                      <a:ext uri="{FF2B5EF4-FFF2-40B4-BE49-F238E27FC236}">
                        <a16:creationId xmlns:a16="http://schemas.microsoft.com/office/drawing/2014/main" id="{B6093241-A06D-0BAC-6B26-84A5A59093E5}"/>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6" name="原点">
                    <a:extLst>
                      <a:ext uri="{FF2B5EF4-FFF2-40B4-BE49-F238E27FC236}">
                        <a16:creationId xmlns:a16="http://schemas.microsoft.com/office/drawing/2014/main" id="{B6093241-A06D-0BAC-6B26-84A5A59093E5}"/>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9"/>
                    <a:stretch>
                      <a:fillRect/>
                    </a:stretch>
                  </a:blipFill>
                </p:spPr>
                <p:txBody>
                  <a:bodyPr/>
                  <a:lstStyle/>
                  <a:p>
                    <a:r>
                      <a:rPr lang="zh-CN" altLang="en-US">
                        <a:noFill/>
                      </a:rPr>
                      <a:t> </a:t>
                    </a:r>
                  </a:p>
                </p:txBody>
              </p:sp>
            </mc:Fallback>
          </mc:AlternateContent>
        </p:grpSp>
        <p:sp>
          <p:nvSpPr>
            <p:cNvPr id="8" name="弧 7">
              <a:extLst>
                <a:ext uri="{FF2B5EF4-FFF2-40B4-BE49-F238E27FC236}">
                  <a16:creationId xmlns:a16="http://schemas.microsoft.com/office/drawing/2014/main" id="{D07A5511-1B5C-F61C-A671-8D0B7A6429BC}"/>
                </a:ext>
              </a:extLst>
            </p:cNvPr>
            <p:cNvSpPr/>
            <p:nvPr/>
          </p:nvSpPr>
          <p:spPr>
            <a:xfrm>
              <a:off x="7098104" y="2106078"/>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弧 8">
              <a:extLst>
                <a:ext uri="{FF2B5EF4-FFF2-40B4-BE49-F238E27FC236}">
                  <a16:creationId xmlns:a16="http://schemas.microsoft.com/office/drawing/2014/main" id="{39C228D9-D4A5-A537-F001-A6F2C4CBD3EA}"/>
                </a:ext>
              </a:extLst>
            </p:cNvPr>
            <p:cNvSpPr/>
            <p:nvPr/>
          </p:nvSpPr>
          <p:spPr>
            <a:xfrm rot="5400000">
              <a:off x="7080305" y="2107323"/>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2" name="虚轴">
              <a:extLst>
                <a:ext uri="{FF2B5EF4-FFF2-40B4-BE49-F238E27FC236}">
                  <a16:creationId xmlns:a16="http://schemas.microsoft.com/office/drawing/2014/main" id="{16840FED-4399-C176-11DE-A39C70B1366A}"/>
                </a:ext>
              </a:extLst>
            </p:cNvPr>
            <p:cNvCxnSpPr>
              <a:cxnSpLocks/>
            </p:cNvCxnSpPr>
            <p:nvPr/>
          </p:nvCxnSpPr>
          <p:spPr>
            <a:xfrm flipV="1">
              <a:off x="8802919" y="2041011"/>
              <a:ext cx="0" cy="1721357"/>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虚轴">
              <a:extLst>
                <a:ext uri="{FF2B5EF4-FFF2-40B4-BE49-F238E27FC236}">
                  <a16:creationId xmlns:a16="http://schemas.microsoft.com/office/drawing/2014/main" id="{C2F8787F-84AF-228C-1A19-6CB82650A169}"/>
                </a:ext>
              </a:extLst>
            </p:cNvPr>
            <p:cNvCxnSpPr>
              <a:cxnSpLocks/>
            </p:cNvCxnSpPr>
            <p:nvPr/>
          </p:nvCxnSpPr>
          <p:spPr>
            <a:xfrm flipV="1">
              <a:off x="8802919" y="3761210"/>
              <a:ext cx="0" cy="1737660"/>
            </a:xfrm>
            <a:prstGeom prst="straightConnector1">
              <a:avLst/>
            </a:prstGeom>
            <a:ln w="38100">
              <a:solidFill>
                <a:srgbClr val="159F84"/>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原点">
                  <a:extLst>
                    <a:ext uri="{FF2B5EF4-FFF2-40B4-BE49-F238E27FC236}">
                      <a16:creationId xmlns:a16="http://schemas.microsoft.com/office/drawing/2014/main" id="{70844F8D-33A3-7E54-0DB1-5BCF8111FCFF}"/>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4" name="原点">
                  <a:extLst>
                    <a:ext uri="{FF2B5EF4-FFF2-40B4-BE49-F238E27FC236}">
                      <a16:creationId xmlns:a16="http://schemas.microsoft.com/office/drawing/2014/main" id="{70844F8D-33A3-7E54-0DB1-5BCF8111FCFF}"/>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10"/>
                  <a:stretch>
                    <a:fillRect r="-46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原点">
                  <a:extLst>
                    <a:ext uri="{FF2B5EF4-FFF2-40B4-BE49-F238E27FC236}">
                      <a16:creationId xmlns:a16="http://schemas.microsoft.com/office/drawing/2014/main" id="{CD3ECA48-C979-F318-350E-5FDD2568CF0A}"/>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15" name="原点">
                  <a:extLst>
                    <a:ext uri="{FF2B5EF4-FFF2-40B4-BE49-F238E27FC236}">
                      <a16:creationId xmlns:a16="http://schemas.microsoft.com/office/drawing/2014/main" id="{CD3ECA48-C979-F318-350E-5FDD2568CF0A}"/>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1"/>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D251A143-5F50-FAD8-DE38-8E3DF82DFFAA}"/>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16" name="原点">
                  <a:extLst>
                    <a:ext uri="{FF2B5EF4-FFF2-40B4-BE49-F238E27FC236}">
                      <a16:creationId xmlns:a16="http://schemas.microsoft.com/office/drawing/2014/main" id="{D251A143-5F50-FAD8-DE38-8E3DF82DFFAA}"/>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2"/>
                  <a:stretch>
                    <a:fillRect r="-2273"/>
                  </a:stretch>
                </a:blipFill>
              </p:spPr>
              <p:txBody>
                <a:bodyPr/>
                <a:lstStyle/>
                <a:p>
                  <a:r>
                    <a:rPr lang="zh-CN" altLang="en-US">
                      <a:noFill/>
                    </a:rPr>
                    <a:t> </a:t>
                  </a:r>
                </a:p>
              </p:txBody>
            </p:sp>
          </mc:Fallback>
        </mc:AlternateContent>
        <p:cxnSp>
          <p:nvCxnSpPr>
            <p:cNvPr id="18" name="虚轴">
              <a:extLst>
                <a:ext uri="{FF2B5EF4-FFF2-40B4-BE49-F238E27FC236}">
                  <a16:creationId xmlns:a16="http://schemas.microsoft.com/office/drawing/2014/main" id="{F5BE2D5D-56FC-DB57-E0AA-3DFCD7018853}"/>
                </a:ext>
              </a:extLst>
            </p:cNvPr>
            <p:cNvCxnSpPr>
              <a:cxnSpLocks/>
            </p:cNvCxnSpPr>
            <p:nvPr/>
          </p:nvCxnSpPr>
          <p:spPr>
            <a:xfrm flipV="1">
              <a:off x="8820719" y="2482000"/>
              <a:ext cx="1026118" cy="1299599"/>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原点">
                  <a:extLst>
                    <a:ext uri="{FF2B5EF4-FFF2-40B4-BE49-F238E27FC236}">
                      <a16:creationId xmlns:a16="http://schemas.microsoft.com/office/drawing/2014/main" id="{3CA272D1-152C-B723-B4F5-C68E7FA8BFD1}"/>
                    </a:ext>
                  </a:extLst>
                </p:cNvPr>
                <p:cNvSpPr txBox="1"/>
                <p:nvPr/>
              </p:nvSpPr>
              <p:spPr>
                <a:xfrm>
                  <a:off x="9176371" y="226855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oMath>
                    </m:oMathPara>
                  </a14:m>
                  <a:endParaRPr lang="zh-CN" altLang="en-US" sz="2800" dirty="0">
                    <a:solidFill>
                      <a:schemeClr val="tx1"/>
                    </a:solidFill>
                  </a:endParaRPr>
                </a:p>
              </p:txBody>
            </p:sp>
          </mc:Choice>
          <mc:Fallback xmlns="">
            <p:sp>
              <p:nvSpPr>
                <p:cNvPr id="19" name="原点">
                  <a:extLst>
                    <a:ext uri="{FF2B5EF4-FFF2-40B4-BE49-F238E27FC236}">
                      <a16:creationId xmlns:a16="http://schemas.microsoft.com/office/drawing/2014/main" id="{3CA272D1-152C-B723-B4F5-C68E7FA8BFD1}"/>
                    </a:ext>
                  </a:extLst>
                </p:cNvPr>
                <p:cNvSpPr txBox="1">
                  <a:spLocks noRot="1" noChangeAspect="1" noMove="1" noResize="1" noEditPoints="1" noAdjustHandles="1" noChangeArrowheads="1" noChangeShapeType="1" noTextEdit="1"/>
                </p:cNvSpPr>
                <p:nvPr/>
              </p:nvSpPr>
              <p:spPr>
                <a:xfrm>
                  <a:off x="9176371" y="2268553"/>
                  <a:ext cx="545352" cy="524695"/>
                </a:xfrm>
                <a:prstGeom prst="rect">
                  <a:avLst/>
                </a:prstGeom>
                <a:blipFill>
                  <a:blip r:embed="rId13"/>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wc1">
                <a:extLst>
                  <a:ext uri="{FF2B5EF4-FFF2-40B4-BE49-F238E27FC236}">
                    <a16:creationId xmlns:a16="http://schemas.microsoft.com/office/drawing/2014/main" id="{5CADC978-2300-CAAF-BFB5-A282F8F8D5D3}"/>
                  </a:ext>
                </a:extLst>
              </p:cNvPr>
              <p:cNvSpPr txBox="1"/>
              <p:nvPr/>
            </p:nvSpPr>
            <p:spPr>
              <a:xfrm>
                <a:off x="2547327" y="1882540"/>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27" name="wc1">
                <a:extLst>
                  <a:ext uri="{FF2B5EF4-FFF2-40B4-BE49-F238E27FC236}">
                    <a16:creationId xmlns:a16="http://schemas.microsoft.com/office/drawing/2014/main" id="{5CADC978-2300-CAAF-BFB5-A282F8F8D5D3}"/>
                  </a:ext>
                </a:extLst>
              </p:cNvPr>
              <p:cNvSpPr txBox="1">
                <a:spLocks noRot="1" noChangeAspect="1" noMove="1" noResize="1" noEditPoints="1" noAdjustHandles="1" noChangeArrowheads="1" noChangeShapeType="1" noTextEdit="1"/>
              </p:cNvSpPr>
              <p:nvPr/>
            </p:nvSpPr>
            <p:spPr>
              <a:xfrm>
                <a:off x="2547327" y="1882540"/>
                <a:ext cx="801225" cy="524695"/>
              </a:xfrm>
              <a:prstGeom prst="rect">
                <a:avLst/>
              </a:prstGeom>
              <a:blipFill>
                <a:blip r:embed="rId14"/>
                <a:stretch>
                  <a:fillRect/>
                </a:stretch>
              </a:blipFill>
            </p:spPr>
            <p:txBody>
              <a:bodyPr/>
              <a:lstStyle/>
              <a:p>
                <a:r>
                  <a:rPr lang="zh-CN" altLang="en-US">
                    <a:noFill/>
                  </a:rPr>
                  <a:t> </a:t>
                </a:r>
              </a:p>
            </p:txBody>
          </p:sp>
        </mc:Fallback>
      </mc:AlternateContent>
      <p:sp>
        <p:nvSpPr>
          <p:cNvPr id="34" name="幅相">
            <a:extLst>
              <a:ext uri="{FF2B5EF4-FFF2-40B4-BE49-F238E27FC236}">
                <a16:creationId xmlns:a16="http://schemas.microsoft.com/office/drawing/2014/main" id="{F8E23D80-4427-A293-1DB3-FB0FA5F74C8C}"/>
              </a:ext>
            </a:extLst>
          </p:cNvPr>
          <p:cNvSpPr/>
          <p:nvPr/>
        </p:nvSpPr>
        <p:spPr>
          <a:xfrm flipV="1">
            <a:off x="8219504" y="2882368"/>
            <a:ext cx="2176009" cy="128179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Lst>
            <a:ahLst/>
            <a:cxnLst>
              <a:cxn ang="0">
                <a:pos x="connsiteX0" y="connsiteY0"/>
              </a:cxn>
              <a:cxn ang="0">
                <a:pos x="connsiteX1" y="connsiteY1"/>
              </a:cxn>
            </a:cxnLst>
            <a:rect l="l" t="t" r="r" b="b"/>
            <a:pathLst>
              <a:path w="1603942" h="1585424">
                <a:moveTo>
                  <a:pt x="0" y="1083032"/>
                </a:moveTo>
                <a:cubicBezTo>
                  <a:pt x="474049" y="2044700"/>
                  <a:pt x="1622323" y="1594537"/>
                  <a:pt x="1603719" y="0"/>
                </a:cubicBezTo>
              </a:path>
            </a:pathLst>
          </a:custGeom>
          <a:noFill/>
          <a:ln w="38100">
            <a:solidFill>
              <a:srgbClr val="159F84"/>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幅相">
            <a:extLst>
              <a:ext uri="{FF2B5EF4-FFF2-40B4-BE49-F238E27FC236}">
                <a16:creationId xmlns:a16="http://schemas.microsoft.com/office/drawing/2014/main" id="{05F986A9-A0A1-BB30-155D-8174DC9B3E60}"/>
              </a:ext>
            </a:extLst>
          </p:cNvPr>
          <p:cNvSpPr/>
          <p:nvPr/>
        </p:nvSpPr>
        <p:spPr>
          <a:xfrm>
            <a:off x="7823398" y="3824062"/>
            <a:ext cx="456652" cy="126112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Lst>
            <a:ahLst/>
            <a:cxnLst>
              <a:cxn ang="0">
                <a:pos x="connsiteX0" y="connsiteY0"/>
              </a:cxn>
              <a:cxn ang="0">
                <a:pos x="connsiteX1" y="connsiteY1"/>
              </a:cxn>
            </a:cxnLst>
            <a:rect l="l" t="t" r="r" b="b"/>
            <a:pathLst>
              <a:path w="336599" h="1559862">
                <a:moveTo>
                  <a:pt x="322844" y="453380"/>
                </a:moveTo>
                <a:cubicBezTo>
                  <a:pt x="243862" y="-672964"/>
                  <a:pt x="-370651" y="529884"/>
                  <a:pt x="336599" y="1559862"/>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208000" y="4136114"/>
            <a:ext cx="2176009" cy="128179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Lst>
            <a:ahLst/>
            <a:cxnLst>
              <a:cxn ang="0">
                <a:pos x="connsiteX0" y="connsiteY0"/>
              </a:cxn>
              <a:cxn ang="0">
                <a:pos x="connsiteX1" y="connsiteY1"/>
              </a:cxn>
            </a:cxnLst>
            <a:rect l="l" t="t" r="r" b="b"/>
            <a:pathLst>
              <a:path w="1603942" h="1585424">
                <a:moveTo>
                  <a:pt x="0" y="1083032"/>
                </a:moveTo>
                <a:cubicBezTo>
                  <a:pt x="474049" y="2044700"/>
                  <a:pt x="1622323" y="1594537"/>
                  <a:pt x="1603719" y="0"/>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8777836" y="547028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8777836" y="5470287"/>
                <a:ext cx="545352" cy="524695"/>
              </a:xfrm>
              <a:prstGeom prst="rect">
                <a:avLst/>
              </a:prstGeom>
              <a:blipFill>
                <a:blip r:embed="rId15"/>
                <a:stretch>
                  <a:fillRect r="-4651"/>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183438" y="4098336"/>
            <a:ext cx="122752" cy="122752"/>
          </a:xfrm>
          <a:prstGeom prst="ellipse">
            <a:avLst/>
          </a:prstGeom>
          <a:solidFill>
            <a:srgbClr val="2980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260256" y="414579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260256" y="4145797"/>
                <a:ext cx="545352" cy="524695"/>
              </a:xfrm>
              <a:prstGeom prst="rect">
                <a:avLst/>
              </a:prstGeom>
              <a:blipFill>
                <a:blip r:embed="rId16"/>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9948303" y="2660301"/>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9948303" y="2660301"/>
                <a:ext cx="545352" cy="524695"/>
              </a:xfrm>
              <a:prstGeom prst="rect">
                <a:avLst/>
              </a:prstGeom>
              <a:blipFill>
                <a:blip r:embed="rId17"/>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label2">
                <a:extLst>
                  <a:ext uri="{FF2B5EF4-FFF2-40B4-BE49-F238E27FC236}">
                    <a16:creationId xmlns:a16="http://schemas.microsoft.com/office/drawing/2014/main" id="{72D607C2-7E92-8C3F-B09A-140E515E001F}"/>
                  </a:ext>
                </a:extLst>
              </p:cNvPr>
              <p:cNvSpPr txBox="1"/>
              <p:nvPr/>
            </p:nvSpPr>
            <p:spPr>
              <a:xfrm>
                <a:off x="6770113"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57" name="label2">
                <a:extLst>
                  <a:ext uri="{FF2B5EF4-FFF2-40B4-BE49-F238E27FC236}">
                    <a16:creationId xmlns:a16="http://schemas.microsoft.com/office/drawing/2014/main" id="{72D607C2-7E92-8C3F-B09A-140E515E001F}"/>
                  </a:ext>
                </a:extLst>
              </p:cNvPr>
              <p:cNvSpPr txBox="1">
                <a:spLocks noRot="1" noChangeAspect="1" noMove="1" noResize="1" noEditPoints="1" noAdjustHandles="1" noChangeArrowheads="1" noChangeShapeType="1" noTextEdit="1"/>
              </p:cNvSpPr>
              <p:nvPr/>
            </p:nvSpPr>
            <p:spPr>
              <a:xfrm>
                <a:off x="6770113" y="4268706"/>
                <a:ext cx="801225" cy="523220"/>
              </a:xfrm>
              <a:prstGeom prst="rect">
                <a:avLst/>
              </a:prstGeom>
              <a:blipFill>
                <a:blip r:embed="rId18"/>
                <a:stretch>
                  <a:fillRect/>
                </a:stretch>
              </a:blipFill>
            </p:spPr>
            <p:txBody>
              <a:bodyPr/>
              <a:lstStyle/>
              <a:p>
                <a:r>
                  <a:rPr lang="zh-CN" altLang="en-US">
                    <a:noFill/>
                  </a:rPr>
                  <a:t> </a:t>
                </a:r>
              </a:p>
            </p:txBody>
          </p:sp>
        </mc:Fallback>
      </mc:AlternateContent>
      <p:sp>
        <p:nvSpPr>
          <p:cNvPr id="58" name="极点2">
            <a:extLst>
              <a:ext uri="{FF2B5EF4-FFF2-40B4-BE49-F238E27FC236}">
                <a16:creationId xmlns:a16="http://schemas.microsoft.com/office/drawing/2014/main" id="{6E7A3B35-7AA8-1F40-E4A5-46FD81CAF695}"/>
              </a:ext>
            </a:extLst>
          </p:cNvPr>
          <p:cNvSpPr/>
          <p:nvPr/>
        </p:nvSpPr>
        <p:spPr>
          <a:xfrm>
            <a:off x="7073453"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8F00A56-39D2-C9FF-2756-BF3E97BB4F77}"/>
                  </a:ext>
                </a:extLst>
              </p:cNvPr>
              <p:cNvSpPr txBox="1"/>
              <p:nvPr/>
            </p:nvSpPr>
            <p:spPr>
              <a:xfrm>
                <a:off x="4614227" y="5253284"/>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𝑅</m:t>
                      </m:r>
                      <m:r>
                        <a:rPr lang="en-US" altLang="zh-CN" sz="2800" b="0" i="1" smtClean="0">
                          <a:solidFill>
                            <a:schemeClr val="tx1"/>
                          </a:solidFill>
                          <a:latin typeface="Cambria Math" panose="02040503050406030204" pitchFamily="18" charset="0"/>
                        </a:rPr>
                        <m:t>=0=</m:t>
                      </m:r>
                      <m:r>
                        <a:rPr lang="en-US" altLang="zh-CN" sz="2800" b="0" i="1" smtClean="0">
                          <a:solidFill>
                            <a:schemeClr val="tx1"/>
                          </a:solidFill>
                          <a:latin typeface="Cambria Math" panose="02040503050406030204" pitchFamily="18" charset="0"/>
                        </a:rPr>
                        <m:t>𝑃</m:t>
                      </m:r>
                    </m:oMath>
                  </m:oMathPara>
                </a14:m>
                <a:endParaRPr lang="zh-CN" altLang="en-US" sz="2800" dirty="0">
                  <a:solidFill>
                    <a:schemeClr val="tx1"/>
                  </a:solidFill>
                </a:endParaRPr>
              </a:p>
            </p:txBody>
          </p:sp>
        </mc:Choice>
        <mc:Fallback xmlns="">
          <p:sp>
            <p:nvSpPr>
              <p:cNvPr id="3" name="文本框 2">
                <a:extLst>
                  <a:ext uri="{FF2B5EF4-FFF2-40B4-BE49-F238E27FC236}">
                    <a16:creationId xmlns:a16="http://schemas.microsoft.com/office/drawing/2014/main" id="{58F00A56-39D2-C9FF-2756-BF3E97BB4F77}"/>
                  </a:ext>
                </a:extLst>
              </p:cNvPr>
              <p:cNvSpPr txBox="1">
                <a:spLocks noRot="1" noChangeAspect="1" noMove="1" noResize="1" noEditPoints="1" noAdjustHandles="1" noChangeArrowheads="1" noChangeShapeType="1" noTextEdit="1"/>
              </p:cNvSpPr>
              <p:nvPr/>
            </p:nvSpPr>
            <p:spPr>
              <a:xfrm>
                <a:off x="4614227" y="5253284"/>
                <a:ext cx="2326647" cy="523220"/>
              </a:xfrm>
              <a:prstGeom prst="rect">
                <a:avLst/>
              </a:prstGeom>
              <a:blipFill>
                <a:blip r:embed="rId19"/>
                <a:stretch>
                  <a:fillRect/>
                </a:stretch>
              </a:blipFill>
            </p:spPr>
            <p:txBody>
              <a:bodyPr/>
              <a:lstStyle/>
              <a:p>
                <a:r>
                  <a:rPr lang="zh-CN" altLang="en-US">
                    <a:noFill/>
                  </a:rPr>
                  <a:t> </a:t>
                </a:r>
              </a:p>
            </p:txBody>
          </p:sp>
        </mc:Fallback>
      </mc:AlternateContent>
      <p:sp>
        <p:nvSpPr>
          <p:cNvPr id="5" name="小标题1">
            <a:extLst>
              <a:ext uri="{FF2B5EF4-FFF2-40B4-BE49-F238E27FC236}">
                <a16:creationId xmlns:a16="http://schemas.microsoft.com/office/drawing/2014/main" id="{C76A114D-C850-8051-1E62-9196C9FD543D}"/>
              </a:ext>
            </a:extLst>
          </p:cNvPr>
          <p:cNvSpPr/>
          <p:nvPr/>
        </p:nvSpPr>
        <p:spPr bwMode="auto">
          <a:xfrm>
            <a:off x="5051797" y="5850827"/>
            <a:ext cx="1410354"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稳定</a:t>
            </a:r>
          </a:p>
        </p:txBody>
      </p:sp>
    </p:spTree>
    <p:extLst>
      <p:ext uri="{BB962C8B-B14F-4D97-AF65-F5344CB8AC3E}">
        <p14:creationId xmlns:p14="http://schemas.microsoft.com/office/powerpoint/2010/main" val="2710694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判定</a:t>
            </a:r>
            <a:r>
              <a:rPr lang="en-US" altLang="zh-CN" sz="2800" b="1" dirty="0">
                <a:solidFill>
                  <a:schemeClr val="bg1"/>
                </a:solidFill>
                <a:latin typeface="微软雅黑" panose="020B0503020204020204" pitchFamily="34" charset="-122"/>
                <a:ea typeface="微软雅黑" panose="020B0503020204020204" pitchFamily="34" charset="-122"/>
              </a:rPr>
              <a:t>I</a:t>
            </a:r>
            <a:r>
              <a:rPr lang="zh-CN" altLang="en-US" sz="2800" b="1" dirty="0">
                <a:solidFill>
                  <a:schemeClr val="bg1"/>
                </a:solidFill>
                <a:latin typeface="微软雅黑" panose="020B0503020204020204" pitchFamily="34" charset="-122"/>
                <a:ea typeface="微软雅黑" panose="020B0503020204020204" pitchFamily="34" charset="-122"/>
              </a:rPr>
              <a:t>型系统稳定性</a:t>
            </a:r>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406779"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406779" y="1891237"/>
                <a:ext cx="801225" cy="524695"/>
              </a:xfrm>
              <a:prstGeom prst="rect">
                <a:avLst/>
              </a:prstGeom>
              <a:blipFill>
                <a:blip r:embed="rId3"/>
                <a:stretch>
                  <a:fillRect r="-3125"/>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6588427"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3" name="label2">
                <a:extLst>
                  <a:ext uri="{FF2B5EF4-FFF2-40B4-BE49-F238E27FC236}">
                    <a16:creationId xmlns:a16="http://schemas.microsoft.com/office/drawing/2014/main" id="{5EFF7C26-62BD-82A6-17CA-51A8F0110784}"/>
                  </a:ext>
                </a:extLst>
              </p:cNvPr>
              <p:cNvSpPr txBox="1"/>
              <p:nvPr/>
            </p:nvSpPr>
            <p:spPr>
              <a:xfrm>
                <a:off x="6770113"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63" name="label2">
                <a:extLst>
                  <a:ext uri="{FF2B5EF4-FFF2-40B4-BE49-F238E27FC236}">
                    <a16:creationId xmlns:a16="http://schemas.microsoft.com/office/drawing/2014/main" id="{5EFF7C26-62BD-82A6-17CA-51A8F0110784}"/>
                  </a:ext>
                </a:extLst>
              </p:cNvPr>
              <p:cNvSpPr txBox="1">
                <a:spLocks noRot="1" noChangeAspect="1" noMove="1" noResize="1" noEditPoints="1" noAdjustHandles="1" noChangeArrowheads="1" noChangeShapeType="1" noTextEdit="1"/>
              </p:cNvSpPr>
              <p:nvPr/>
            </p:nvSpPr>
            <p:spPr>
              <a:xfrm>
                <a:off x="6770113" y="4268706"/>
                <a:ext cx="801225" cy="52322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9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r>
                            <a:rPr lang="en-US" altLang="zh-CN" sz="2800" b="0" i="1" smtClean="0">
                              <a:solidFill>
                                <a:schemeClr val="tx1"/>
                              </a:solidFill>
                              <a:latin typeface="Cambria Math" panose="02040503050406030204" pitchFamily="18" charset="0"/>
                            </a:rPr>
                            <m:t>𝑠</m:t>
                          </m:r>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1</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2</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9433"/>
              </a:xfrm>
              <a:prstGeom prst="rect">
                <a:avLst/>
              </a:prstGeom>
              <a:blipFill>
                <a:blip r:embed="rId7"/>
                <a:stretch>
                  <a:fillRect b="-3896"/>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994D3405-C224-29C9-A948-656257DFBA4B}"/>
              </a:ext>
            </a:extLst>
          </p:cNvPr>
          <p:cNvGrpSpPr/>
          <p:nvPr/>
        </p:nvGrpSpPr>
        <p:grpSpPr>
          <a:xfrm>
            <a:off x="766614" y="1891237"/>
            <a:ext cx="4343493" cy="4418083"/>
            <a:chOff x="7080305" y="1516316"/>
            <a:chExt cx="4343493" cy="4418083"/>
          </a:xfrm>
        </p:grpSpPr>
        <p:grpSp>
          <p:nvGrpSpPr>
            <p:cNvPr id="6" name="坐标轴">
              <a:extLst>
                <a:ext uri="{FF2B5EF4-FFF2-40B4-BE49-F238E27FC236}">
                  <a16:creationId xmlns:a16="http://schemas.microsoft.com/office/drawing/2014/main" id="{4AB902D0-AD77-2FAC-001A-D30F5A5FFABD}"/>
                </a:ext>
              </a:extLst>
            </p:cNvPr>
            <p:cNvGrpSpPr/>
            <p:nvPr/>
          </p:nvGrpSpPr>
          <p:grpSpPr>
            <a:xfrm>
              <a:off x="7997028" y="1516316"/>
              <a:ext cx="3426770" cy="4418083"/>
              <a:chOff x="8390928" y="2461626"/>
              <a:chExt cx="3426770" cy="4418083"/>
            </a:xfrm>
          </p:grpSpPr>
          <p:cxnSp>
            <p:nvCxnSpPr>
              <p:cNvPr id="21" name="实轴">
                <a:extLst>
                  <a:ext uri="{FF2B5EF4-FFF2-40B4-BE49-F238E27FC236}">
                    <a16:creationId xmlns:a16="http://schemas.microsoft.com/office/drawing/2014/main" id="{ACC8922D-1522-36F7-060B-B920A1ABF0B9}"/>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虚轴">
                <a:extLst>
                  <a:ext uri="{FF2B5EF4-FFF2-40B4-BE49-F238E27FC236}">
                    <a16:creationId xmlns:a16="http://schemas.microsoft.com/office/drawing/2014/main" id="{DD3D7083-07D6-FF78-4F42-E379ABED4544}"/>
                  </a:ext>
                </a:extLst>
              </p:cNvPr>
              <p:cNvCxnSpPr>
                <a:cxnSpLocks/>
              </p:cNvCxnSpPr>
              <p:nvPr/>
            </p:nvCxnSpPr>
            <p:spPr>
              <a:xfrm flipV="1">
                <a:off x="9196819" y="2461626"/>
                <a:ext cx="0" cy="441808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
                    <a:extLst>
                      <a:ext uri="{FF2B5EF4-FFF2-40B4-BE49-F238E27FC236}">
                        <a16:creationId xmlns:a16="http://schemas.microsoft.com/office/drawing/2014/main" id="{9C6CAAC8-AB04-B618-A9F5-670CC130EBD0}"/>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4" name="Re">
                    <a:extLst>
                      <a:ext uri="{FF2B5EF4-FFF2-40B4-BE49-F238E27FC236}">
                        <a16:creationId xmlns:a16="http://schemas.microsoft.com/office/drawing/2014/main" id="{9C6CAAC8-AB04-B618-A9F5-670CC130EBD0}"/>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8"/>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Im">
                    <a:extLst>
                      <a:ext uri="{FF2B5EF4-FFF2-40B4-BE49-F238E27FC236}">
                        <a16:creationId xmlns:a16="http://schemas.microsoft.com/office/drawing/2014/main" id="{12DBA807-E647-DBF1-310D-E2620D3CE453}"/>
                      </a:ext>
                    </a:extLst>
                  </p:cNvPr>
                  <p:cNvSpPr txBox="1"/>
                  <p:nvPr/>
                </p:nvSpPr>
                <p:spPr>
                  <a:xfrm>
                    <a:off x="8390928" y="246162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25" name="Im">
                    <a:extLst>
                      <a:ext uri="{FF2B5EF4-FFF2-40B4-BE49-F238E27FC236}">
                        <a16:creationId xmlns:a16="http://schemas.microsoft.com/office/drawing/2014/main" id="{12DBA807-E647-DBF1-310D-E2620D3CE453}"/>
                      </a:ext>
                    </a:extLst>
                  </p:cNvPr>
                  <p:cNvSpPr txBox="1">
                    <a:spLocks noRot="1" noChangeAspect="1" noMove="1" noResize="1" noEditPoints="1" noAdjustHandles="1" noChangeArrowheads="1" noChangeShapeType="1" noTextEdit="1"/>
                  </p:cNvSpPr>
                  <p:nvPr/>
                </p:nvSpPr>
                <p:spPr>
                  <a:xfrm>
                    <a:off x="8390928" y="2461626"/>
                    <a:ext cx="576536" cy="523220"/>
                  </a:xfrm>
                  <a:prstGeom prst="rect">
                    <a:avLst/>
                  </a:prstGeom>
                  <a:blipFill>
                    <a:blip r:embed="rId9"/>
                    <a:stretch>
                      <a:fillRect l="-4255"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原点">
                    <a:extLst>
                      <a:ext uri="{FF2B5EF4-FFF2-40B4-BE49-F238E27FC236}">
                        <a16:creationId xmlns:a16="http://schemas.microsoft.com/office/drawing/2014/main" id="{B6093241-A06D-0BAC-6B26-84A5A59093E5}"/>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6" name="原点">
                    <a:extLst>
                      <a:ext uri="{FF2B5EF4-FFF2-40B4-BE49-F238E27FC236}">
                        <a16:creationId xmlns:a16="http://schemas.microsoft.com/office/drawing/2014/main" id="{B6093241-A06D-0BAC-6B26-84A5A59093E5}"/>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10"/>
                    <a:stretch>
                      <a:fillRect/>
                    </a:stretch>
                  </a:blipFill>
                </p:spPr>
                <p:txBody>
                  <a:bodyPr/>
                  <a:lstStyle/>
                  <a:p>
                    <a:r>
                      <a:rPr lang="zh-CN" altLang="en-US">
                        <a:noFill/>
                      </a:rPr>
                      <a:t> </a:t>
                    </a:r>
                  </a:p>
                </p:txBody>
              </p:sp>
            </mc:Fallback>
          </mc:AlternateContent>
        </p:grpSp>
        <p:sp>
          <p:nvSpPr>
            <p:cNvPr id="8" name="弧 7">
              <a:extLst>
                <a:ext uri="{FF2B5EF4-FFF2-40B4-BE49-F238E27FC236}">
                  <a16:creationId xmlns:a16="http://schemas.microsoft.com/office/drawing/2014/main" id="{D07A5511-1B5C-F61C-A671-8D0B7A6429BC}"/>
                </a:ext>
              </a:extLst>
            </p:cNvPr>
            <p:cNvSpPr/>
            <p:nvPr/>
          </p:nvSpPr>
          <p:spPr>
            <a:xfrm>
              <a:off x="7098104" y="2106078"/>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弧 8">
              <a:extLst>
                <a:ext uri="{FF2B5EF4-FFF2-40B4-BE49-F238E27FC236}">
                  <a16:creationId xmlns:a16="http://schemas.microsoft.com/office/drawing/2014/main" id="{39C228D9-D4A5-A537-F001-A6F2C4CBD3EA}"/>
                </a:ext>
              </a:extLst>
            </p:cNvPr>
            <p:cNvSpPr/>
            <p:nvPr/>
          </p:nvSpPr>
          <p:spPr>
            <a:xfrm rot="5400000">
              <a:off x="7080305" y="2107323"/>
              <a:ext cx="3392792" cy="3392792"/>
            </a:xfrm>
            <a:prstGeom prst="arc">
              <a:avLst/>
            </a:prstGeom>
            <a:ln w="38100">
              <a:solidFill>
                <a:srgbClr val="2980B9"/>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2" name="虚轴">
              <a:extLst>
                <a:ext uri="{FF2B5EF4-FFF2-40B4-BE49-F238E27FC236}">
                  <a16:creationId xmlns:a16="http://schemas.microsoft.com/office/drawing/2014/main" id="{16840FED-4399-C176-11DE-A39C70B1366A}"/>
                </a:ext>
              </a:extLst>
            </p:cNvPr>
            <p:cNvCxnSpPr>
              <a:cxnSpLocks/>
            </p:cNvCxnSpPr>
            <p:nvPr/>
          </p:nvCxnSpPr>
          <p:spPr>
            <a:xfrm flipV="1">
              <a:off x="8802919" y="2041011"/>
              <a:ext cx="0" cy="1013068"/>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虚轴">
              <a:extLst>
                <a:ext uri="{FF2B5EF4-FFF2-40B4-BE49-F238E27FC236}">
                  <a16:creationId xmlns:a16="http://schemas.microsoft.com/office/drawing/2014/main" id="{C2F8787F-84AF-228C-1A19-6CB82650A169}"/>
                </a:ext>
              </a:extLst>
            </p:cNvPr>
            <p:cNvCxnSpPr>
              <a:cxnSpLocks/>
            </p:cNvCxnSpPr>
            <p:nvPr/>
          </p:nvCxnSpPr>
          <p:spPr>
            <a:xfrm flipV="1">
              <a:off x="8802919" y="4522516"/>
              <a:ext cx="0" cy="976354"/>
            </a:xfrm>
            <a:prstGeom prst="straightConnector1">
              <a:avLst/>
            </a:prstGeom>
            <a:ln w="38100">
              <a:solidFill>
                <a:srgbClr val="159F84"/>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原点">
                  <a:extLst>
                    <a:ext uri="{FF2B5EF4-FFF2-40B4-BE49-F238E27FC236}">
                      <a16:creationId xmlns:a16="http://schemas.microsoft.com/office/drawing/2014/main" id="{70844F8D-33A3-7E54-0DB1-5BCF8111FCFF}"/>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4" name="原点">
                  <a:extLst>
                    <a:ext uri="{FF2B5EF4-FFF2-40B4-BE49-F238E27FC236}">
                      <a16:creationId xmlns:a16="http://schemas.microsoft.com/office/drawing/2014/main" id="{70844F8D-33A3-7E54-0DB1-5BCF8111FCFF}"/>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11"/>
                  <a:stretch>
                    <a:fillRect r="-46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原点">
                  <a:extLst>
                    <a:ext uri="{FF2B5EF4-FFF2-40B4-BE49-F238E27FC236}">
                      <a16:creationId xmlns:a16="http://schemas.microsoft.com/office/drawing/2014/main" id="{CD3ECA48-C979-F318-350E-5FDD2568CF0A}"/>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15" name="原点">
                  <a:extLst>
                    <a:ext uri="{FF2B5EF4-FFF2-40B4-BE49-F238E27FC236}">
                      <a16:creationId xmlns:a16="http://schemas.microsoft.com/office/drawing/2014/main" id="{CD3ECA48-C979-F318-350E-5FDD2568CF0A}"/>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2"/>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D251A143-5F50-FAD8-DE38-8E3DF82DFFAA}"/>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16" name="原点">
                  <a:extLst>
                    <a:ext uri="{FF2B5EF4-FFF2-40B4-BE49-F238E27FC236}">
                      <a16:creationId xmlns:a16="http://schemas.microsoft.com/office/drawing/2014/main" id="{D251A143-5F50-FAD8-DE38-8E3DF82DFFAA}"/>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3"/>
                  <a:stretch>
                    <a:fillRect r="-2273"/>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wc1">
                <a:extLst>
                  <a:ext uri="{FF2B5EF4-FFF2-40B4-BE49-F238E27FC236}">
                    <a16:creationId xmlns:a16="http://schemas.microsoft.com/office/drawing/2014/main" id="{5CADC978-2300-CAAF-BFB5-A282F8F8D5D3}"/>
                  </a:ext>
                </a:extLst>
              </p:cNvPr>
              <p:cNvSpPr txBox="1"/>
              <p:nvPr/>
            </p:nvSpPr>
            <p:spPr>
              <a:xfrm>
                <a:off x="2547327" y="1882540"/>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27" name="wc1">
                <a:extLst>
                  <a:ext uri="{FF2B5EF4-FFF2-40B4-BE49-F238E27FC236}">
                    <a16:creationId xmlns:a16="http://schemas.microsoft.com/office/drawing/2014/main" id="{5CADC978-2300-CAAF-BFB5-A282F8F8D5D3}"/>
                  </a:ext>
                </a:extLst>
              </p:cNvPr>
              <p:cNvSpPr txBox="1">
                <a:spLocks noRot="1" noChangeAspect="1" noMove="1" noResize="1" noEditPoints="1" noAdjustHandles="1" noChangeArrowheads="1" noChangeShapeType="1" noTextEdit="1"/>
              </p:cNvSpPr>
              <p:nvPr/>
            </p:nvSpPr>
            <p:spPr>
              <a:xfrm>
                <a:off x="2547327" y="1882540"/>
                <a:ext cx="801225" cy="524695"/>
              </a:xfrm>
              <a:prstGeom prst="rect">
                <a:avLst/>
              </a:prstGeom>
              <a:blipFill>
                <a:blip r:embed="rId14"/>
                <a:stretch>
                  <a:fillRect/>
                </a:stretch>
              </a:blipFill>
            </p:spPr>
            <p:txBody>
              <a:bodyPr/>
              <a:lstStyle/>
              <a:p>
                <a:r>
                  <a:rPr lang="zh-CN" altLang="en-US">
                    <a:noFill/>
                  </a:rPr>
                  <a:t> </a:t>
                </a:r>
              </a:p>
            </p:txBody>
          </p:sp>
        </mc:Fallback>
      </mc:AlternateContent>
      <p:sp>
        <p:nvSpPr>
          <p:cNvPr id="36" name="幅相">
            <a:extLst>
              <a:ext uri="{FF2B5EF4-FFF2-40B4-BE49-F238E27FC236}">
                <a16:creationId xmlns:a16="http://schemas.microsoft.com/office/drawing/2014/main" id="{05F986A9-A0A1-BB30-155D-8174DC9B3E60}"/>
              </a:ext>
            </a:extLst>
          </p:cNvPr>
          <p:cNvSpPr/>
          <p:nvPr/>
        </p:nvSpPr>
        <p:spPr>
          <a:xfrm>
            <a:off x="7278563" y="3886368"/>
            <a:ext cx="982826" cy="1663276"/>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Lst>
            <a:ahLst/>
            <a:cxnLst>
              <a:cxn ang="0">
                <a:pos x="connsiteX0" y="connsiteY0"/>
              </a:cxn>
              <a:cxn ang="0">
                <a:pos x="connsiteX1" y="connsiteY1"/>
              </a:cxn>
            </a:cxnLst>
            <a:rect l="l" t="t" r="r" b="b"/>
            <a:pathLst>
              <a:path w="724443" h="2057279">
                <a:moveTo>
                  <a:pt x="724443" y="376317"/>
                </a:moveTo>
                <a:cubicBezTo>
                  <a:pt x="645461" y="-750027"/>
                  <a:pt x="9550" y="901634"/>
                  <a:pt x="0" y="2057279"/>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266059" y="4136114"/>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6544973" y="535334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6544973" y="5353344"/>
                <a:ext cx="545352" cy="524695"/>
              </a:xfrm>
              <a:prstGeom prst="rect">
                <a:avLst/>
              </a:prstGeom>
              <a:blipFill>
                <a:blip r:embed="rId15"/>
                <a:stretch>
                  <a:fillRect r="-2273"/>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183438" y="4098336"/>
            <a:ext cx="122752" cy="122752"/>
          </a:xfrm>
          <a:prstGeom prst="ellipse">
            <a:avLst/>
          </a:prstGeom>
          <a:solidFill>
            <a:srgbClr val="2980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260256" y="414579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260256" y="4145797"/>
                <a:ext cx="545352" cy="524695"/>
              </a:xfrm>
              <a:prstGeom prst="rect">
                <a:avLst/>
              </a:prstGeom>
              <a:blipFill>
                <a:blip r:embed="rId16"/>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6585268" y="248971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6585268" y="2489710"/>
                <a:ext cx="545352" cy="524695"/>
              </a:xfrm>
              <a:prstGeom prst="rect">
                <a:avLst/>
              </a:prstGeom>
              <a:blipFill>
                <a:blip r:embed="rId17"/>
                <a:stretch>
                  <a:fillRect r="-2273"/>
                </a:stretch>
              </a:blipFill>
            </p:spPr>
            <p:txBody>
              <a:bodyPr/>
              <a:lstStyle/>
              <a:p>
                <a:r>
                  <a:rPr lang="zh-CN" altLang="en-US">
                    <a:noFill/>
                  </a:rPr>
                  <a:t> </a:t>
                </a:r>
              </a:p>
            </p:txBody>
          </p:sp>
        </mc:Fallback>
      </mc:AlternateContent>
      <p:sp>
        <p:nvSpPr>
          <p:cNvPr id="3" name="弧 2">
            <a:extLst>
              <a:ext uri="{FF2B5EF4-FFF2-40B4-BE49-F238E27FC236}">
                <a16:creationId xmlns:a16="http://schemas.microsoft.com/office/drawing/2014/main" id="{7FC63BE3-F30A-5C40-C9DC-27AE9AB7DD5F}"/>
              </a:ext>
            </a:extLst>
          </p:cNvPr>
          <p:cNvSpPr/>
          <p:nvPr/>
        </p:nvSpPr>
        <p:spPr>
          <a:xfrm rot="5400000">
            <a:off x="1683596" y="3403697"/>
            <a:ext cx="1549098" cy="1549098"/>
          </a:xfrm>
          <a:prstGeom prst="arc">
            <a:avLst>
              <a:gd name="adj1" fmla="val 10855401"/>
              <a:gd name="adj2" fmla="val 0"/>
            </a:avLst>
          </a:prstGeom>
          <a:ln w="38100">
            <a:solidFill>
              <a:srgbClr val="F6973B"/>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1" name="虚轴">
            <a:extLst>
              <a:ext uri="{FF2B5EF4-FFF2-40B4-BE49-F238E27FC236}">
                <a16:creationId xmlns:a16="http://schemas.microsoft.com/office/drawing/2014/main" id="{E21DE6BE-78B5-6A2F-663F-A9541EA71DBE}"/>
              </a:ext>
            </a:extLst>
          </p:cNvPr>
          <p:cNvCxnSpPr>
            <a:cxnSpLocks/>
            <a:endCxn id="36" idx="1"/>
          </p:cNvCxnSpPr>
          <p:nvPr/>
        </p:nvCxnSpPr>
        <p:spPr>
          <a:xfrm flipH="1" flipV="1">
            <a:off x="7278563" y="5549644"/>
            <a:ext cx="981693" cy="274884"/>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幅相">
            <a:extLst>
              <a:ext uri="{FF2B5EF4-FFF2-40B4-BE49-F238E27FC236}">
                <a16:creationId xmlns:a16="http://schemas.microsoft.com/office/drawing/2014/main" id="{C52B1C95-DFE1-9A10-EF35-24BC07C4F31F}"/>
              </a:ext>
            </a:extLst>
          </p:cNvPr>
          <p:cNvSpPr/>
          <p:nvPr/>
        </p:nvSpPr>
        <p:spPr>
          <a:xfrm flipV="1">
            <a:off x="7272620" y="2845844"/>
            <a:ext cx="982826" cy="1663276"/>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Lst>
            <a:ahLst/>
            <a:cxnLst>
              <a:cxn ang="0">
                <a:pos x="connsiteX0" y="connsiteY0"/>
              </a:cxn>
              <a:cxn ang="0">
                <a:pos x="connsiteX1" y="connsiteY1"/>
              </a:cxn>
            </a:cxnLst>
            <a:rect l="l" t="t" r="r" b="b"/>
            <a:pathLst>
              <a:path w="724443" h="2057279">
                <a:moveTo>
                  <a:pt x="724443" y="376317"/>
                </a:moveTo>
                <a:cubicBezTo>
                  <a:pt x="645461" y="-750027"/>
                  <a:pt x="9550" y="901634"/>
                  <a:pt x="0" y="2057279"/>
                </a:cubicBezTo>
              </a:path>
            </a:pathLst>
          </a:custGeom>
          <a:noFill/>
          <a:ln w="38100">
            <a:solidFill>
              <a:srgbClr val="159F84"/>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幅相">
            <a:extLst>
              <a:ext uri="{FF2B5EF4-FFF2-40B4-BE49-F238E27FC236}">
                <a16:creationId xmlns:a16="http://schemas.microsoft.com/office/drawing/2014/main" id="{6551D872-9049-9C76-9992-1DD47676EF41}"/>
              </a:ext>
            </a:extLst>
          </p:cNvPr>
          <p:cNvSpPr/>
          <p:nvPr/>
        </p:nvSpPr>
        <p:spPr>
          <a:xfrm flipV="1">
            <a:off x="8255446" y="2460666"/>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1" name="虚轴">
            <a:extLst>
              <a:ext uri="{FF2B5EF4-FFF2-40B4-BE49-F238E27FC236}">
                <a16:creationId xmlns:a16="http://schemas.microsoft.com/office/drawing/2014/main" id="{45B86277-9AC7-C551-1CB3-BE50DA597C39}"/>
              </a:ext>
            </a:extLst>
          </p:cNvPr>
          <p:cNvCxnSpPr>
            <a:cxnSpLocks/>
            <a:endCxn id="22" idx="1"/>
          </p:cNvCxnSpPr>
          <p:nvPr/>
        </p:nvCxnSpPr>
        <p:spPr>
          <a:xfrm flipH="1">
            <a:off x="7272620" y="2480999"/>
            <a:ext cx="982826" cy="364845"/>
          </a:xfrm>
          <a:prstGeom prst="straightConnector1">
            <a:avLst/>
          </a:prstGeom>
          <a:ln w="38100">
            <a:solidFill>
              <a:srgbClr val="159F84"/>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原点">
                <a:extLst>
                  <a:ext uri="{FF2B5EF4-FFF2-40B4-BE49-F238E27FC236}">
                    <a16:creationId xmlns:a16="http://schemas.microsoft.com/office/drawing/2014/main" id="{DB708534-07B5-B93F-3889-6EC8B5C31F3A}"/>
                  </a:ext>
                </a:extLst>
              </p:cNvPr>
              <p:cNvSpPr txBox="1"/>
              <p:nvPr/>
            </p:nvSpPr>
            <p:spPr>
              <a:xfrm>
                <a:off x="3147908" y="353413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43" name="原点">
                <a:extLst>
                  <a:ext uri="{FF2B5EF4-FFF2-40B4-BE49-F238E27FC236}">
                    <a16:creationId xmlns:a16="http://schemas.microsoft.com/office/drawing/2014/main" id="{DB708534-07B5-B93F-3889-6EC8B5C31F3A}"/>
                  </a:ext>
                </a:extLst>
              </p:cNvPr>
              <p:cNvSpPr txBox="1">
                <a:spLocks noRot="1" noChangeAspect="1" noMove="1" noResize="1" noEditPoints="1" noAdjustHandles="1" noChangeArrowheads="1" noChangeShapeType="1" noTextEdit="1"/>
              </p:cNvSpPr>
              <p:nvPr/>
            </p:nvSpPr>
            <p:spPr>
              <a:xfrm>
                <a:off x="3147908" y="3534133"/>
                <a:ext cx="545352" cy="524695"/>
              </a:xfrm>
              <a:prstGeom prst="rect">
                <a:avLst/>
              </a:prstGeom>
              <a:blipFill>
                <a:blip r:embed="rId18"/>
                <a:stretch>
                  <a:fillRect r="-2273"/>
                </a:stretch>
              </a:blipFill>
            </p:spPr>
            <p:txBody>
              <a:bodyPr/>
              <a:lstStyle/>
              <a:p>
                <a:r>
                  <a:rPr lang="zh-CN" altLang="en-US">
                    <a:noFill/>
                  </a:rPr>
                  <a:t> </a:t>
                </a:r>
              </a:p>
            </p:txBody>
          </p:sp>
        </mc:Fallback>
      </mc:AlternateContent>
      <p:sp>
        <p:nvSpPr>
          <p:cNvPr id="44" name="极点2">
            <a:extLst>
              <a:ext uri="{FF2B5EF4-FFF2-40B4-BE49-F238E27FC236}">
                <a16:creationId xmlns:a16="http://schemas.microsoft.com/office/drawing/2014/main" id="{F4FA21BA-A8DB-F829-1DF7-F1CE6B5CDBC3}"/>
              </a:ext>
            </a:extLst>
          </p:cNvPr>
          <p:cNvSpPr/>
          <p:nvPr/>
        </p:nvSpPr>
        <p:spPr>
          <a:xfrm>
            <a:off x="7073453"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47" name="原点">
                <a:extLst>
                  <a:ext uri="{FF2B5EF4-FFF2-40B4-BE49-F238E27FC236}">
                    <a16:creationId xmlns:a16="http://schemas.microsoft.com/office/drawing/2014/main" id="{8D62F76C-4F32-EFA7-DE1A-D998F2EF6520}"/>
                  </a:ext>
                </a:extLst>
              </p:cNvPr>
              <p:cNvSpPr txBox="1"/>
              <p:nvPr/>
            </p:nvSpPr>
            <p:spPr>
              <a:xfrm>
                <a:off x="10373484" y="3095001"/>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47" name="原点">
                <a:extLst>
                  <a:ext uri="{FF2B5EF4-FFF2-40B4-BE49-F238E27FC236}">
                    <a16:creationId xmlns:a16="http://schemas.microsoft.com/office/drawing/2014/main" id="{8D62F76C-4F32-EFA7-DE1A-D998F2EF6520}"/>
                  </a:ext>
                </a:extLst>
              </p:cNvPr>
              <p:cNvSpPr txBox="1">
                <a:spLocks noRot="1" noChangeAspect="1" noMove="1" noResize="1" noEditPoints="1" noAdjustHandles="1" noChangeArrowheads="1" noChangeShapeType="1" noTextEdit="1"/>
              </p:cNvSpPr>
              <p:nvPr/>
            </p:nvSpPr>
            <p:spPr>
              <a:xfrm>
                <a:off x="10373484" y="3095001"/>
                <a:ext cx="545352" cy="524695"/>
              </a:xfrm>
              <a:prstGeom prst="rect">
                <a:avLst/>
              </a:prstGeom>
              <a:blipFill>
                <a:blip r:embed="rId19"/>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38F1809-4352-38AB-58A3-F234F830FB17}"/>
                  </a:ext>
                </a:extLst>
              </p:cNvPr>
              <p:cNvSpPr txBox="1"/>
              <p:nvPr/>
            </p:nvSpPr>
            <p:spPr>
              <a:xfrm>
                <a:off x="4614227" y="5253284"/>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𝑅</m:t>
                      </m:r>
                      <m:r>
                        <a:rPr lang="en-US" altLang="zh-CN" sz="2800" b="0" i="1" smtClean="0">
                          <a:solidFill>
                            <a:schemeClr val="tx1"/>
                          </a:solidFill>
                          <a:latin typeface="Cambria Math" panose="02040503050406030204" pitchFamily="18" charset="0"/>
                        </a:rPr>
                        <m:t>=0=</m:t>
                      </m:r>
                      <m:r>
                        <a:rPr lang="en-US" altLang="zh-CN" sz="2800" b="0" i="1" smtClean="0">
                          <a:solidFill>
                            <a:schemeClr val="tx1"/>
                          </a:solidFill>
                          <a:latin typeface="Cambria Math" panose="02040503050406030204" pitchFamily="18" charset="0"/>
                        </a:rPr>
                        <m:t>𝑃</m:t>
                      </m:r>
                    </m:oMath>
                  </m:oMathPara>
                </a14:m>
                <a:endParaRPr lang="zh-CN" altLang="en-US" sz="2800" dirty="0">
                  <a:solidFill>
                    <a:schemeClr val="tx1"/>
                  </a:solidFill>
                </a:endParaRPr>
              </a:p>
            </p:txBody>
          </p:sp>
        </mc:Choice>
        <mc:Fallback xmlns="">
          <p:sp>
            <p:nvSpPr>
              <p:cNvPr id="5" name="文本框 4">
                <a:extLst>
                  <a:ext uri="{FF2B5EF4-FFF2-40B4-BE49-F238E27FC236}">
                    <a16:creationId xmlns:a16="http://schemas.microsoft.com/office/drawing/2014/main" id="{038F1809-4352-38AB-58A3-F234F830FB17}"/>
                  </a:ext>
                </a:extLst>
              </p:cNvPr>
              <p:cNvSpPr txBox="1">
                <a:spLocks noRot="1" noChangeAspect="1" noMove="1" noResize="1" noEditPoints="1" noAdjustHandles="1" noChangeArrowheads="1" noChangeShapeType="1" noTextEdit="1"/>
              </p:cNvSpPr>
              <p:nvPr/>
            </p:nvSpPr>
            <p:spPr>
              <a:xfrm>
                <a:off x="4614227" y="5253284"/>
                <a:ext cx="2326647" cy="523220"/>
              </a:xfrm>
              <a:prstGeom prst="rect">
                <a:avLst/>
              </a:prstGeom>
              <a:blipFill>
                <a:blip r:embed="rId20"/>
                <a:stretch>
                  <a:fillRect/>
                </a:stretch>
              </a:blipFill>
            </p:spPr>
            <p:txBody>
              <a:bodyPr/>
              <a:lstStyle/>
              <a:p>
                <a:r>
                  <a:rPr lang="zh-CN" altLang="en-US">
                    <a:noFill/>
                  </a:rPr>
                  <a:t> </a:t>
                </a:r>
              </a:p>
            </p:txBody>
          </p:sp>
        </mc:Fallback>
      </mc:AlternateContent>
      <p:sp>
        <p:nvSpPr>
          <p:cNvPr id="7" name="小标题1">
            <a:extLst>
              <a:ext uri="{FF2B5EF4-FFF2-40B4-BE49-F238E27FC236}">
                <a16:creationId xmlns:a16="http://schemas.microsoft.com/office/drawing/2014/main" id="{53B0F686-C618-B5FA-D12B-A0202728E72E}"/>
              </a:ext>
            </a:extLst>
          </p:cNvPr>
          <p:cNvSpPr/>
          <p:nvPr/>
        </p:nvSpPr>
        <p:spPr bwMode="auto">
          <a:xfrm>
            <a:off x="5051797" y="5850827"/>
            <a:ext cx="1410354"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稳定</a:t>
            </a:r>
          </a:p>
        </p:txBody>
      </p:sp>
    </p:spTree>
    <p:extLst>
      <p:ext uri="{BB962C8B-B14F-4D97-AF65-F5344CB8AC3E}">
        <p14:creationId xmlns:p14="http://schemas.microsoft.com/office/powerpoint/2010/main" val="2881084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a:t>
            </a:r>
            <a:r>
              <a:rPr lang="en-US" altLang="zh-CN" sz="2800" b="1" dirty="0">
                <a:solidFill>
                  <a:schemeClr val="bg1"/>
                </a:solidFill>
                <a:latin typeface="微软雅黑" panose="020B0503020204020204" pitchFamily="34" charset="-122"/>
                <a:ea typeface="微软雅黑" panose="020B0503020204020204" pitchFamily="34" charset="-122"/>
              </a:rPr>
              <a:t>III</a:t>
            </a:r>
            <a:r>
              <a:rPr lang="zh-CN" altLang="en-US" sz="2800" b="1" dirty="0">
                <a:solidFill>
                  <a:schemeClr val="bg1"/>
                </a:solidFill>
                <a:latin typeface="微软雅黑" panose="020B0503020204020204" pitchFamily="34" charset="-122"/>
                <a:ea typeface="微软雅黑" panose="020B0503020204020204" pitchFamily="34" charset="-122"/>
              </a:rPr>
              <a:t>型系统奈奎斯特图</a:t>
            </a:r>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930832"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930832" y="1891237"/>
                <a:ext cx="801225" cy="524695"/>
              </a:xfrm>
              <a:prstGeom prst="rect">
                <a:avLst/>
              </a:prstGeom>
              <a:blipFill>
                <a:blip r:embed="rId3"/>
                <a:stretch>
                  <a:fillRect r="-1563"/>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7112480"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4255" r="-851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3" name="label2">
                <a:extLst>
                  <a:ext uri="{FF2B5EF4-FFF2-40B4-BE49-F238E27FC236}">
                    <a16:creationId xmlns:a16="http://schemas.microsoft.com/office/drawing/2014/main" id="{5EFF7C26-62BD-82A6-17CA-51A8F0110784}"/>
                  </a:ext>
                </a:extLst>
              </p:cNvPr>
              <p:cNvSpPr txBox="1"/>
              <p:nvPr/>
            </p:nvSpPr>
            <p:spPr>
              <a:xfrm>
                <a:off x="7294166"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63" name="label2">
                <a:extLst>
                  <a:ext uri="{FF2B5EF4-FFF2-40B4-BE49-F238E27FC236}">
                    <a16:creationId xmlns:a16="http://schemas.microsoft.com/office/drawing/2014/main" id="{5EFF7C26-62BD-82A6-17CA-51A8F0110784}"/>
                  </a:ext>
                </a:extLst>
              </p:cNvPr>
              <p:cNvSpPr txBox="1">
                <a:spLocks noRot="1" noChangeAspect="1" noMove="1" noResize="1" noEditPoints="1" noAdjustHandles="1" noChangeArrowheads="1" noChangeShapeType="1" noTextEdit="1"/>
              </p:cNvSpPr>
              <p:nvPr/>
            </p:nvSpPr>
            <p:spPr>
              <a:xfrm>
                <a:off x="7294166" y="4268706"/>
                <a:ext cx="801225" cy="52322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9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sSup>
                            <m:sSupPr>
                              <m:ctrlPr>
                                <a:rPr lang="en-US" altLang="zh-CN" sz="2800" b="0" i="1" smtClean="0">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𝑠</m:t>
                              </m:r>
                            </m:e>
                            <m:sup>
                              <m:r>
                                <a:rPr lang="en-US" altLang="zh-CN" sz="2800" b="0" i="1" smtClean="0">
                                  <a:solidFill>
                                    <a:schemeClr val="tx1"/>
                                  </a:solidFill>
                                  <a:latin typeface="Cambria Math" panose="02040503050406030204" pitchFamily="18" charset="0"/>
                                </a:rPr>
                                <m:t>2</m:t>
                              </m:r>
                            </m:sup>
                          </m:sSup>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𝑇𝑠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9433"/>
              </a:xfrm>
              <a:prstGeom prst="rect">
                <a:avLst/>
              </a:prstGeom>
              <a:blipFill>
                <a:blip r:embed="rId7"/>
                <a:stretch>
                  <a:fillRect/>
                </a:stretch>
              </a:blipFill>
            </p:spPr>
            <p:txBody>
              <a:bodyPr/>
              <a:lstStyle/>
              <a:p>
                <a:r>
                  <a:rPr lang="zh-CN" altLang="en-US">
                    <a:noFill/>
                  </a:rPr>
                  <a:t> </a:t>
                </a:r>
              </a:p>
            </p:txBody>
          </p:sp>
        </mc:Fallback>
      </mc:AlternateContent>
      <p:sp>
        <p:nvSpPr>
          <p:cNvPr id="36" name="幅相">
            <a:extLst>
              <a:ext uri="{FF2B5EF4-FFF2-40B4-BE49-F238E27FC236}">
                <a16:creationId xmlns:a16="http://schemas.microsoft.com/office/drawing/2014/main" id="{05F986A9-A0A1-BB30-155D-8174DC9B3E60}"/>
              </a:ext>
            </a:extLst>
          </p:cNvPr>
          <p:cNvSpPr/>
          <p:nvPr/>
        </p:nvSpPr>
        <p:spPr>
          <a:xfrm>
            <a:off x="7114358" y="3559622"/>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790112" y="4136114"/>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7472092" y="297488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7472092" y="2974880"/>
                <a:ext cx="545352" cy="524695"/>
              </a:xfrm>
              <a:prstGeom prst="rect">
                <a:avLst/>
              </a:prstGeom>
              <a:blipFill>
                <a:blip r:embed="rId8"/>
                <a:stretch>
                  <a:fillRect r="-2273"/>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707491" y="4098336"/>
            <a:ext cx="122752" cy="122752"/>
          </a:xfrm>
          <a:prstGeom prst="ellipse">
            <a:avLst/>
          </a:prstGeom>
          <a:solidFill>
            <a:srgbClr val="2980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899496" y="415569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2980B9"/>
                              </a:solidFill>
                              <a:latin typeface="Cambria Math" panose="02040503050406030204" pitchFamily="18" charset="0"/>
                            </a:rPr>
                          </m:ctrlPr>
                        </m:dPr>
                        <m:e>
                          <m:r>
                            <a:rPr lang="en-US" altLang="zh-CN" sz="2800" b="0" i="1" smtClean="0">
                              <a:solidFill>
                                <a:srgbClr val="2980B9"/>
                              </a:solidFill>
                              <a:latin typeface="Cambria Math" panose="02040503050406030204" pitchFamily="18" charset="0"/>
                            </a:rPr>
                            <m:t>2</m:t>
                          </m:r>
                        </m:e>
                      </m:d>
                    </m:oMath>
                  </m:oMathPara>
                </a14:m>
                <a:endParaRPr lang="zh-CN" altLang="en-US" sz="2800" dirty="0">
                  <a:solidFill>
                    <a:srgbClr val="2980B9"/>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899496" y="4155693"/>
                <a:ext cx="545352" cy="524695"/>
              </a:xfrm>
              <a:prstGeom prst="rect">
                <a:avLst/>
              </a:prstGeom>
              <a:blipFill>
                <a:blip r:embed="rId9"/>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7509250" y="478668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159F84"/>
                              </a:solidFill>
                              <a:latin typeface="Cambria Math" panose="02040503050406030204" pitchFamily="18" charset="0"/>
                            </a:rPr>
                          </m:ctrlPr>
                        </m:dPr>
                        <m:e>
                          <m:r>
                            <a:rPr lang="en-US" altLang="zh-CN" sz="2800" b="0" i="1" smtClean="0">
                              <a:solidFill>
                                <a:srgbClr val="159F84"/>
                              </a:solidFill>
                              <a:latin typeface="Cambria Math" panose="02040503050406030204" pitchFamily="18" charset="0"/>
                            </a:rPr>
                            <m:t>3</m:t>
                          </m:r>
                        </m:e>
                      </m:d>
                    </m:oMath>
                  </m:oMathPara>
                </a14:m>
                <a:endParaRPr lang="zh-CN" altLang="en-US" sz="2800" dirty="0">
                  <a:solidFill>
                    <a:srgbClr val="159F84"/>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7509250" y="4786684"/>
                <a:ext cx="545352" cy="524695"/>
              </a:xfrm>
              <a:prstGeom prst="rect">
                <a:avLst/>
              </a:prstGeom>
              <a:blipFill>
                <a:blip r:embed="rId10"/>
                <a:stretch>
                  <a:fillRect r="-2273"/>
                </a:stretch>
              </a:blipFill>
            </p:spPr>
            <p:txBody>
              <a:bodyPr/>
              <a:lstStyle/>
              <a:p>
                <a:r>
                  <a:rPr lang="zh-CN" altLang="en-US">
                    <a:noFill/>
                  </a:rPr>
                  <a:t> </a:t>
                </a:r>
              </a:p>
            </p:txBody>
          </p:sp>
        </mc:Fallback>
      </mc:AlternateContent>
      <p:sp>
        <p:nvSpPr>
          <p:cNvPr id="30" name="幅相">
            <a:extLst>
              <a:ext uri="{FF2B5EF4-FFF2-40B4-BE49-F238E27FC236}">
                <a16:creationId xmlns:a16="http://schemas.microsoft.com/office/drawing/2014/main" id="{6551D872-9049-9C76-9992-1DD47676EF41}"/>
              </a:ext>
            </a:extLst>
          </p:cNvPr>
          <p:cNvSpPr/>
          <p:nvPr/>
        </p:nvSpPr>
        <p:spPr>
          <a:xfrm flipV="1">
            <a:off x="8779499" y="2460666"/>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4" name="极点2">
            <a:extLst>
              <a:ext uri="{FF2B5EF4-FFF2-40B4-BE49-F238E27FC236}">
                <a16:creationId xmlns:a16="http://schemas.microsoft.com/office/drawing/2014/main" id="{F4FA21BA-A8DB-F829-1DF7-F1CE6B5CDBC3}"/>
              </a:ext>
            </a:extLst>
          </p:cNvPr>
          <p:cNvSpPr/>
          <p:nvPr/>
        </p:nvSpPr>
        <p:spPr>
          <a:xfrm>
            <a:off x="7597506"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5" name="幅相">
            <a:extLst>
              <a:ext uri="{FF2B5EF4-FFF2-40B4-BE49-F238E27FC236}">
                <a16:creationId xmlns:a16="http://schemas.microsoft.com/office/drawing/2014/main" id="{98A7C403-2391-A6A9-7CE4-E5F716AA9A13}"/>
              </a:ext>
            </a:extLst>
          </p:cNvPr>
          <p:cNvSpPr/>
          <p:nvPr/>
        </p:nvSpPr>
        <p:spPr>
          <a:xfrm>
            <a:off x="6587934" y="4156198"/>
            <a:ext cx="2183160" cy="168349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609208"/>
              <a:gd name="connsiteY0" fmla="*/ 0 h 2082289"/>
              <a:gd name="connsiteX1" fmla="*/ 1609208 w 1609208"/>
              <a:gd name="connsiteY1" fmla="*/ 2082289 h 2082289"/>
            </a:gdLst>
            <a:ahLst/>
            <a:cxnLst>
              <a:cxn ang="0">
                <a:pos x="connsiteX0" y="connsiteY0"/>
              </a:cxn>
              <a:cxn ang="0">
                <a:pos x="connsiteX1" y="connsiteY1"/>
              </a:cxn>
            </a:cxnLst>
            <a:rect l="l" t="t" r="r" b="b"/>
            <a:pathLst>
              <a:path w="1609208" h="2082289">
                <a:moveTo>
                  <a:pt x="0" y="0"/>
                </a:moveTo>
                <a:cubicBezTo>
                  <a:pt x="15234" y="1014053"/>
                  <a:pt x="698344" y="2069813"/>
                  <a:pt x="1609208" y="2082289"/>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7" name="虚轴">
            <a:extLst>
              <a:ext uri="{FF2B5EF4-FFF2-40B4-BE49-F238E27FC236}">
                <a16:creationId xmlns:a16="http://schemas.microsoft.com/office/drawing/2014/main" id="{101E7792-2086-F969-55DD-52923248A2FF}"/>
              </a:ext>
            </a:extLst>
          </p:cNvPr>
          <p:cNvCxnSpPr>
            <a:cxnSpLocks/>
            <a:stCxn id="5" idx="0"/>
          </p:cNvCxnSpPr>
          <p:nvPr/>
        </p:nvCxnSpPr>
        <p:spPr>
          <a:xfrm flipV="1">
            <a:off x="6587934" y="3559622"/>
            <a:ext cx="521387" cy="596576"/>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幅相">
            <a:extLst>
              <a:ext uri="{FF2B5EF4-FFF2-40B4-BE49-F238E27FC236}">
                <a16:creationId xmlns:a16="http://schemas.microsoft.com/office/drawing/2014/main" id="{1529F638-90E7-9105-BC63-B709780809AB}"/>
              </a:ext>
            </a:extLst>
          </p:cNvPr>
          <p:cNvSpPr/>
          <p:nvPr/>
        </p:nvSpPr>
        <p:spPr>
          <a:xfrm flipV="1">
            <a:off x="7097784" y="4155693"/>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159F84"/>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幅相">
            <a:extLst>
              <a:ext uri="{FF2B5EF4-FFF2-40B4-BE49-F238E27FC236}">
                <a16:creationId xmlns:a16="http://schemas.microsoft.com/office/drawing/2014/main" id="{F6CE5FBB-935C-83D3-CE32-4D5296A84E58}"/>
              </a:ext>
            </a:extLst>
          </p:cNvPr>
          <p:cNvSpPr/>
          <p:nvPr/>
        </p:nvSpPr>
        <p:spPr>
          <a:xfrm flipV="1">
            <a:off x="6581850" y="2455302"/>
            <a:ext cx="2163496" cy="1634337"/>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594714"/>
              <a:gd name="connsiteY0" fmla="*/ 0 h 2021483"/>
              <a:gd name="connsiteX1" fmla="*/ 1594714 w 1594714"/>
              <a:gd name="connsiteY1" fmla="*/ 2021483 h 2021483"/>
            </a:gdLst>
            <a:ahLst/>
            <a:cxnLst>
              <a:cxn ang="0">
                <a:pos x="connsiteX0" y="connsiteY0"/>
              </a:cxn>
              <a:cxn ang="0">
                <a:pos x="connsiteX1" y="connsiteY1"/>
              </a:cxn>
            </a:cxnLst>
            <a:rect l="l" t="t" r="r" b="b"/>
            <a:pathLst>
              <a:path w="1594714" h="2021483">
                <a:moveTo>
                  <a:pt x="0" y="0"/>
                </a:moveTo>
                <a:cubicBezTo>
                  <a:pt x="15234" y="1014053"/>
                  <a:pt x="683850" y="2009007"/>
                  <a:pt x="1594714" y="2021483"/>
                </a:cubicBezTo>
              </a:path>
            </a:pathLst>
          </a:custGeom>
          <a:noFill/>
          <a:ln w="38100">
            <a:solidFill>
              <a:srgbClr val="F6973B"/>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2" name="虚轴">
            <a:extLst>
              <a:ext uri="{FF2B5EF4-FFF2-40B4-BE49-F238E27FC236}">
                <a16:creationId xmlns:a16="http://schemas.microsoft.com/office/drawing/2014/main" id="{C94FE914-9CB7-5977-42FE-C02EEE150BC7}"/>
              </a:ext>
            </a:extLst>
          </p:cNvPr>
          <p:cNvCxnSpPr>
            <a:cxnSpLocks/>
            <a:stCxn id="19" idx="1"/>
            <a:endCxn id="20" idx="0"/>
          </p:cNvCxnSpPr>
          <p:nvPr/>
        </p:nvCxnSpPr>
        <p:spPr>
          <a:xfrm flipH="1" flipV="1">
            <a:off x="6581850" y="4089639"/>
            <a:ext cx="515934" cy="663642"/>
          </a:xfrm>
          <a:prstGeom prst="straightConnector1">
            <a:avLst/>
          </a:prstGeom>
          <a:ln w="38100">
            <a:solidFill>
              <a:srgbClr val="159F84"/>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
                <a:extLst>
                  <a:ext uri="{FF2B5EF4-FFF2-40B4-BE49-F238E27FC236}">
                    <a16:creationId xmlns:a16="http://schemas.microsoft.com/office/drawing/2014/main" id="{87EEACE0-DB01-56FD-0B10-10F0C0585C57}"/>
                  </a:ext>
                </a:extLst>
              </p:cNvPr>
              <p:cNvSpPr txBox="1"/>
              <p:nvPr/>
            </p:nvSpPr>
            <p:spPr>
              <a:xfrm>
                <a:off x="4356327" y="3836726"/>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=0</m:t>
                      </m:r>
                    </m:oMath>
                  </m:oMathPara>
                </a14:m>
                <a:endParaRPr lang="zh-CN" altLang="en-US" sz="2800" dirty="0"/>
              </a:p>
            </p:txBody>
          </p:sp>
        </mc:Choice>
        <mc:Fallback xmlns="">
          <p:sp>
            <p:nvSpPr>
              <p:cNvPr id="47" name="Re">
                <a:extLst>
                  <a:ext uri="{FF2B5EF4-FFF2-40B4-BE49-F238E27FC236}">
                    <a16:creationId xmlns:a16="http://schemas.microsoft.com/office/drawing/2014/main" id="{87EEACE0-DB01-56FD-0B10-10F0C0585C57}"/>
                  </a:ext>
                </a:extLst>
              </p:cNvPr>
              <p:cNvSpPr txBox="1">
                <a:spLocks noRot="1" noChangeAspect="1" noMove="1" noResize="1" noEditPoints="1" noAdjustHandles="1" noChangeArrowheads="1" noChangeShapeType="1" noTextEdit="1"/>
              </p:cNvSpPr>
              <p:nvPr/>
            </p:nvSpPr>
            <p:spPr>
              <a:xfrm>
                <a:off x="4356327" y="3836726"/>
                <a:ext cx="1549820" cy="523220"/>
              </a:xfrm>
              <a:prstGeom prst="rect">
                <a:avLst/>
              </a:prstGeom>
              <a:blipFill>
                <a:blip r:embed="rId11"/>
                <a:stretch>
                  <a:fillRect/>
                </a:stretch>
              </a:blipFill>
            </p:spPr>
            <p:txBody>
              <a:bodyPr/>
              <a:lstStyle/>
              <a:p>
                <a:r>
                  <a:rPr lang="zh-CN" altLang="en-US">
                    <a:noFill/>
                  </a:rPr>
                  <a:t> </a:t>
                </a:r>
              </a:p>
            </p:txBody>
          </p:sp>
        </mc:Fallback>
      </mc:AlternateContent>
      <p:cxnSp>
        <p:nvCxnSpPr>
          <p:cNvPr id="48" name="实轴">
            <a:extLst>
              <a:ext uri="{FF2B5EF4-FFF2-40B4-BE49-F238E27FC236}">
                <a16:creationId xmlns:a16="http://schemas.microsoft.com/office/drawing/2014/main" id="{7A2901CE-DB07-D583-CA5F-4266B4683699}"/>
              </a:ext>
            </a:extLst>
          </p:cNvPr>
          <p:cNvCxnSpPr>
            <a:cxnSpLocks/>
          </p:cNvCxnSpPr>
          <p:nvPr/>
        </p:nvCxnSpPr>
        <p:spPr>
          <a:xfrm flipH="1">
            <a:off x="5687889" y="4127873"/>
            <a:ext cx="695349"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Re">
                <a:extLst>
                  <a:ext uri="{FF2B5EF4-FFF2-40B4-BE49-F238E27FC236}">
                    <a16:creationId xmlns:a16="http://schemas.microsoft.com/office/drawing/2014/main" id="{33BE73CB-A95B-AE24-B7C5-F892500FC590}"/>
                  </a:ext>
                </a:extLst>
              </p:cNvPr>
              <p:cNvSpPr txBox="1"/>
              <p:nvPr/>
            </p:nvSpPr>
            <p:spPr>
              <a:xfrm>
                <a:off x="4806992" y="327247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52" name="Re">
                <a:extLst>
                  <a:ext uri="{FF2B5EF4-FFF2-40B4-BE49-F238E27FC236}">
                    <a16:creationId xmlns:a16="http://schemas.microsoft.com/office/drawing/2014/main" id="{33BE73CB-A95B-AE24-B7C5-F892500FC590}"/>
                  </a:ext>
                </a:extLst>
              </p:cNvPr>
              <p:cNvSpPr txBox="1">
                <a:spLocks noRot="1" noChangeAspect="1" noMove="1" noResize="1" noEditPoints="1" noAdjustHandles="1" noChangeArrowheads="1" noChangeShapeType="1" noTextEdit="1"/>
              </p:cNvSpPr>
              <p:nvPr/>
            </p:nvSpPr>
            <p:spPr>
              <a:xfrm>
                <a:off x="4806992" y="3272470"/>
                <a:ext cx="1549820" cy="523220"/>
              </a:xfrm>
              <a:prstGeom prst="rect">
                <a:avLst/>
              </a:prstGeom>
              <a:blipFill>
                <a:blip r:embed="rId12"/>
                <a:stretch>
                  <a:fillRect/>
                </a:stretch>
              </a:blipFill>
            </p:spPr>
            <p:txBody>
              <a:bodyPr/>
              <a:lstStyle/>
              <a:p>
                <a:r>
                  <a:rPr lang="zh-CN" altLang="en-US">
                    <a:noFill/>
                  </a:rPr>
                  <a:t> </a:t>
                </a:r>
              </a:p>
            </p:txBody>
          </p:sp>
        </mc:Fallback>
      </mc:AlternateContent>
      <p:cxnSp>
        <p:nvCxnSpPr>
          <p:cNvPr id="53" name="实轴">
            <a:extLst>
              <a:ext uri="{FF2B5EF4-FFF2-40B4-BE49-F238E27FC236}">
                <a16:creationId xmlns:a16="http://schemas.microsoft.com/office/drawing/2014/main" id="{AC575F61-B77F-E5BE-A3CE-9AD9217E9CE1}"/>
              </a:ext>
            </a:extLst>
          </p:cNvPr>
          <p:cNvCxnSpPr>
            <a:cxnSpLocks/>
          </p:cNvCxnSpPr>
          <p:nvPr/>
        </p:nvCxnSpPr>
        <p:spPr>
          <a:xfrm flipH="1" flipV="1">
            <a:off x="6095206" y="3559622"/>
            <a:ext cx="680347" cy="277104"/>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
                <a:extLst>
                  <a:ext uri="{FF2B5EF4-FFF2-40B4-BE49-F238E27FC236}">
                    <a16:creationId xmlns:a16="http://schemas.microsoft.com/office/drawing/2014/main" id="{A7310852-7380-FBC8-A7DB-7BE6EC52A3C2}"/>
                  </a:ext>
                </a:extLst>
              </p:cNvPr>
              <p:cNvSpPr txBox="1"/>
              <p:nvPr/>
            </p:nvSpPr>
            <p:spPr>
              <a:xfrm>
                <a:off x="8970384" y="326778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6" name="Re">
                <a:extLst>
                  <a:ext uri="{FF2B5EF4-FFF2-40B4-BE49-F238E27FC236}">
                    <a16:creationId xmlns:a16="http://schemas.microsoft.com/office/drawing/2014/main" id="{A7310852-7380-FBC8-A7DB-7BE6EC52A3C2}"/>
                  </a:ext>
                </a:extLst>
              </p:cNvPr>
              <p:cNvSpPr txBox="1">
                <a:spLocks noRot="1" noChangeAspect="1" noMove="1" noResize="1" noEditPoints="1" noAdjustHandles="1" noChangeArrowheads="1" noChangeShapeType="1" noTextEdit="1"/>
              </p:cNvSpPr>
              <p:nvPr/>
            </p:nvSpPr>
            <p:spPr>
              <a:xfrm>
                <a:off x="8970384" y="3267780"/>
                <a:ext cx="1549820" cy="52322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
                <a:extLst>
                  <a:ext uri="{FF2B5EF4-FFF2-40B4-BE49-F238E27FC236}">
                    <a16:creationId xmlns:a16="http://schemas.microsoft.com/office/drawing/2014/main" id="{2F1BB0BF-09CA-D915-9EF3-4351AC77AA59}"/>
                  </a:ext>
                </a:extLst>
              </p:cNvPr>
              <p:cNvSpPr txBox="1"/>
              <p:nvPr/>
            </p:nvSpPr>
            <p:spPr>
              <a:xfrm>
                <a:off x="8979223" y="4736337"/>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7" name="Re">
                <a:extLst>
                  <a:ext uri="{FF2B5EF4-FFF2-40B4-BE49-F238E27FC236}">
                    <a16:creationId xmlns:a16="http://schemas.microsoft.com/office/drawing/2014/main" id="{2F1BB0BF-09CA-D915-9EF3-4351AC77AA59}"/>
                  </a:ext>
                </a:extLst>
              </p:cNvPr>
              <p:cNvSpPr txBox="1">
                <a:spLocks noRot="1" noChangeAspect="1" noMove="1" noResize="1" noEditPoints="1" noAdjustHandles="1" noChangeArrowheads="1" noChangeShapeType="1" noTextEdit="1"/>
              </p:cNvSpPr>
              <p:nvPr/>
            </p:nvSpPr>
            <p:spPr>
              <a:xfrm>
                <a:off x="8979223" y="4736337"/>
                <a:ext cx="1549820" cy="523220"/>
              </a:xfrm>
              <a:prstGeom prst="rect">
                <a:avLst/>
              </a:prstGeom>
              <a:blipFill>
                <a:blip r:embed="rId14"/>
                <a:stretch>
                  <a:fillRect/>
                </a:stretch>
              </a:blipFill>
            </p:spPr>
            <p:txBody>
              <a:bodyPr/>
              <a:lstStyle/>
              <a:p>
                <a:r>
                  <a:rPr lang="zh-CN" altLang="en-US">
                    <a:noFill/>
                  </a:rPr>
                  <a:t> </a:t>
                </a:r>
              </a:p>
            </p:txBody>
          </p:sp>
        </mc:Fallback>
      </mc:AlternateContent>
      <p:cxnSp>
        <p:nvCxnSpPr>
          <p:cNvPr id="58" name="实轴">
            <a:extLst>
              <a:ext uri="{FF2B5EF4-FFF2-40B4-BE49-F238E27FC236}">
                <a16:creationId xmlns:a16="http://schemas.microsoft.com/office/drawing/2014/main" id="{859EC8F6-0D71-932C-7C13-D1822C8CB81F}"/>
              </a:ext>
            </a:extLst>
          </p:cNvPr>
          <p:cNvCxnSpPr>
            <a:cxnSpLocks/>
          </p:cNvCxnSpPr>
          <p:nvPr/>
        </p:nvCxnSpPr>
        <p:spPr>
          <a:xfrm flipV="1">
            <a:off x="8830243" y="3791000"/>
            <a:ext cx="289299" cy="23526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2" name="实轴">
            <a:extLst>
              <a:ext uri="{FF2B5EF4-FFF2-40B4-BE49-F238E27FC236}">
                <a16:creationId xmlns:a16="http://schemas.microsoft.com/office/drawing/2014/main" id="{B88A0232-1920-A1C0-ADED-F22C68C6061F}"/>
              </a:ext>
            </a:extLst>
          </p:cNvPr>
          <p:cNvCxnSpPr>
            <a:cxnSpLocks/>
          </p:cNvCxnSpPr>
          <p:nvPr/>
        </p:nvCxnSpPr>
        <p:spPr>
          <a:xfrm>
            <a:off x="8830243" y="4314292"/>
            <a:ext cx="289299" cy="583145"/>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Re">
                <a:extLst>
                  <a:ext uri="{FF2B5EF4-FFF2-40B4-BE49-F238E27FC236}">
                    <a16:creationId xmlns:a16="http://schemas.microsoft.com/office/drawing/2014/main" id="{0BA5A9F3-314D-6181-58AA-E88B9DDB29B0}"/>
                  </a:ext>
                </a:extLst>
              </p:cNvPr>
              <p:cNvSpPr txBox="1"/>
              <p:nvPr/>
            </p:nvSpPr>
            <p:spPr>
              <a:xfrm>
                <a:off x="4831472" y="4497069"/>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66" name="Re">
                <a:extLst>
                  <a:ext uri="{FF2B5EF4-FFF2-40B4-BE49-F238E27FC236}">
                    <a16:creationId xmlns:a16="http://schemas.microsoft.com/office/drawing/2014/main" id="{0BA5A9F3-314D-6181-58AA-E88B9DDB29B0}"/>
                  </a:ext>
                </a:extLst>
              </p:cNvPr>
              <p:cNvSpPr txBox="1">
                <a:spLocks noRot="1" noChangeAspect="1" noMove="1" noResize="1" noEditPoints="1" noAdjustHandles="1" noChangeArrowheads="1" noChangeShapeType="1" noTextEdit="1"/>
              </p:cNvSpPr>
              <p:nvPr/>
            </p:nvSpPr>
            <p:spPr>
              <a:xfrm>
                <a:off x="4831472" y="4497069"/>
                <a:ext cx="1549820" cy="523220"/>
              </a:xfrm>
              <a:prstGeom prst="rect">
                <a:avLst/>
              </a:prstGeom>
              <a:blipFill>
                <a:blip r:embed="rId15"/>
                <a:stretch>
                  <a:fillRect/>
                </a:stretch>
              </a:blipFill>
            </p:spPr>
            <p:txBody>
              <a:bodyPr/>
              <a:lstStyle/>
              <a:p>
                <a:r>
                  <a:rPr lang="zh-CN" altLang="en-US">
                    <a:noFill/>
                  </a:rPr>
                  <a:t> </a:t>
                </a:r>
              </a:p>
            </p:txBody>
          </p:sp>
        </mc:Fallback>
      </mc:AlternateContent>
      <p:cxnSp>
        <p:nvCxnSpPr>
          <p:cNvPr id="67" name="实轴">
            <a:extLst>
              <a:ext uri="{FF2B5EF4-FFF2-40B4-BE49-F238E27FC236}">
                <a16:creationId xmlns:a16="http://schemas.microsoft.com/office/drawing/2014/main" id="{6F2333EF-B598-64E2-2848-AA23BD847F95}"/>
              </a:ext>
            </a:extLst>
          </p:cNvPr>
          <p:cNvCxnSpPr>
            <a:cxnSpLocks/>
          </p:cNvCxnSpPr>
          <p:nvPr/>
        </p:nvCxnSpPr>
        <p:spPr>
          <a:xfrm flipH="1">
            <a:off x="6119686" y="4525393"/>
            <a:ext cx="704774" cy="258828"/>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0D66DD6-23A3-D810-F874-E42924C7658D}"/>
                  </a:ext>
                </a:extLst>
              </p:cNvPr>
              <p:cNvSpPr txBox="1"/>
              <p:nvPr/>
            </p:nvSpPr>
            <p:spPr>
              <a:xfrm>
                <a:off x="1073700" y="2464433"/>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𝑅</m:t>
                      </m:r>
                      <m:r>
                        <a:rPr lang="en-US" altLang="zh-CN" sz="2800" b="0" i="1" smtClean="0">
                          <a:solidFill>
                            <a:schemeClr val="tx1"/>
                          </a:solidFill>
                          <a:latin typeface="Cambria Math" panose="02040503050406030204" pitchFamily="18" charset="0"/>
                        </a:rPr>
                        <m:t>=−2</m:t>
                      </m:r>
                    </m:oMath>
                  </m:oMathPara>
                </a14:m>
                <a:endParaRPr lang="zh-CN" altLang="en-US" sz="2800" dirty="0">
                  <a:solidFill>
                    <a:schemeClr val="tx1"/>
                  </a:solidFill>
                </a:endParaRPr>
              </a:p>
            </p:txBody>
          </p:sp>
        </mc:Choice>
        <mc:Fallback xmlns="">
          <p:sp>
            <p:nvSpPr>
              <p:cNvPr id="3" name="文本框 2">
                <a:extLst>
                  <a:ext uri="{FF2B5EF4-FFF2-40B4-BE49-F238E27FC236}">
                    <a16:creationId xmlns:a16="http://schemas.microsoft.com/office/drawing/2014/main" id="{80D66DD6-23A3-D810-F874-E42924C7658D}"/>
                  </a:ext>
                </a:extLst>
              </p:cNvPr>
              <p:cNvSpPr txBox="1">
                <a:spLocks noRot="1" noChangeAspect="1" noMove="1" noResize="1" noEditPoints="1" noAdjustHandles="1" noChangeArrowheads="1" noChangeShapeType="1" noTextEdit="1"/>
              </p:cNvSpPr>
              <p:nvPr/>
            </p:nvSpPr>
            <p:spPr>
              <a:xfrm>
                <a:off x="1073700" y="2464433"/>
                <a:ext cx="2326647" cy="523220"/>
              </a:xfrm>
              <a:prstGeom prst="rect">
                <a:avLst/>
              </a:prstGeom>
              <a:blipFill>
                <a:blip r:embed="rId16"/>
                <a:stretch>
                  <a:fillRect/>
                </a:stretch>
              </a:blipFill>
            </p:spPr>
            <p:txBody>
              <a:bodyPr/>
              <a:lstStyle/>
              <a:p>
                <a:r>
                  <a:rPr lang="zh-CN" altLang="en-US">
                    <a:noFill/>
                  </a:rPr>
                  <a:t> </a:t>
                </a:r>
              </a:p>
            </p:txBody>
          </p:sp>
        </mc:Fallback>
      </mc:AlternateContent>
      <p:sp>
        <p:nvSpPr>
          <p:cNvPr id="4" name="小标题1">
            <a:extLst>
              <a:ext uri="{FF2B5EF4-FFF2-40B4-BE49-F238E27FC236}">
                <a16:creationId xmlns:a16="http://schemas.microsoft.com/office/drawing/2014/main" id="{1F4FDB3C-0060-5CF5-6F4A-37A9424E0B55}"/>
              </a:ext>
            </a:extLst>
          </p:cNvPr>
          <p:cNvSpPr/>
          <p:nvPr/>
        </p:nvSpPr>
        <p:spPr bwMode="auto">
          <a:xfrm>
            <a:off x="1356072" y="4007470"/>
            <a:ext cx="1732215"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不稳定</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76756E8-C87B-C5E7-9B22-F291EE63E803}"/>
                  </a:ext>
                </a:extLst>
              </p:cNvPr>
              <p:cNvSpPr txBox="1"/>
              <p:nvPr/>
            </p:nvSpPr>
            <p:spPr>
              <a:xfrm>
                <a:off x="1034292" y="3043263"/>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𝑃</m:t>
                      </m:r>
                      <m:r>
                        <a:rPr lang="en-US" altLang="zh-CN" sz="2800" b="0" i="1" smtClean="0">
                          <a:solidFill>
                            <a:schemeClr val="tx1"/>
                          </a:solidFill>
                          <a:latin typeface="Cambria Math" panose="02040503050406030204" pitchFamily="18" charset="0"/>
                        </a:rPr>
                        <m:t>=0</m:t>
                      </m:r>
                    </m:oMath>
                  </m:oMathPara>
                </a14:m>
                <a:endParaRPr lang="zh-CN" altLang="en-US" sz="2800" dirty="0">
                  <a:solidFill>
                    <a:schemeClr val="tx1"/>
                  </a:solidFill>
                </a:endParaRPr>
              </a:p>
            </p:txBody>
          </p:sp>
        </mc:Choice>
        <mc:Fallback xmlns="">
          <p:sp>
            <p:nvSpPr>
              <p:cNvPr id="6" name="文本框 5">
                <a:extLst>
                  <a:ext uri="{FF2B5EF4-FFF2-40B4-BE49-F238E27FC236}">
                    <a16:creationId xmlns:a16="http://schemas.microsoft.com/office/drawing/2014/main" id="{076756E8-C87B-C5E7-9B22-F291EE63E803}"/>
                  </a:ext>
                </a:extLst>
              </p:cNvPr>
              <p:cNvSpPr txBox="1">
                <a:spLocks noRot="1" noChangeAspect="1" noMove="1" noResize="1" noEditPoints="1" noAdjustHandles="1" noChangeArrowheads="1" noChangeShapeType="1" noTextEdit="1"/>
              </p:cNvSpPr>
              <p:nvPr/>
            </p:nvSpPr>
            <p:spPr>
              <a:xfrm>
                <a:off x="1034292" y="3043263"/>
                <a:ext cx="2326647" cy="52322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原点">
                <a:extLst>
                  <a:ext uri="{FF2B5EF4-FFF2-40B4-BE49-F238E27FC236}">
                    <a16:creationId xmlns:a16="http://schemas.microsoft.com/office/drawing/2014/main" id="{893C0242-D985-21CF-8D31-7AA203C92080}"/>
                  </a:ext>
                </a:extLst>
              </p:cNvPr>
              <p:cNvSpPr txBox="1"/>
              <p:nvPr/>
            </p:nvSpPr>
            <p:spPr>
              <a:xfrm>
                <a:off x="10813528" y="2950478"/>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8" name="原点">
                <a:extLst>
                  <a:ext uri="{FF2B5EF4-FFF2-40B4-BE49-F238E27FC236}">
                    <a16:creationId xmlns:a16="http://schemas.microsoft.com/office/drawing/2014/main" id="{893C0242-D985-21CF-8D31-7AA203C92080}"/>
                  </a:ext>
                </a:extLst>
              </p:cNvPr>
              <p:cNvSpPr txBox="1">
                <a:spLocks noRot="1" noChangeAspect="1" noMove="1" noResize="1" noEditPoints="1" noAdjustHandles="1" noChangeArrowheads="1" noChangeShapeType="1" noTextEdit="1"/>
              </p:cNvSpPr>
              <p:nvPr/>
            </p:nvSpPr>
            <p:spPr>
              <a:xfrm>
                <a:off x="10813528" y="2950478"/>
                <a:ext cx="545352" cy="524695"/>
              </a:xfrm>
              <a:prstGeom prst="rect">
                <a:avLst/>
              </a:prstGeom>
              <a:blipFill>
                <a:blip r:embed="rId18"/>
                <a:stretch>
                  <a:fillRect r="-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3175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奈奎斯特稳定判据：实用结论</a:t>
            </a:r>
          </a:p>
        </p:txBody>
      </p:sp>
      <mc:AlternateContent xmlns:mc="http://schemas.openxmlformats.org/markup-compatibility/2006" xmlns:a14="http://schemas.microsoft.com/office/drawing/2010/main">
        <mc:Choice Requires="a14">
          <p:sp>
            <p:nvSpPr>
              <p:cNvPr id="68" name="说明3">
                <a:extLst>
                  <a:ext uri="{FF2B5EF4-FFF2-40B4-BE49-F238E27FC236}">
                    <a16:creationId xmlns:a16="http://schemas.microsoft.com/office/drawing/2014/main" id="{D5AA8BA3-5D7D-374B-719B-DBCABB67ECC1}"/>
                  </a:ext>
                </a:extLst>
              </p:cNvPr>
              <p:cNvSpPr txBox="1"/>
              <p:nvPr/>
            </p:nvSpPr>
            <p:spPr>
              <a:xfrm>
                <a:off x="319655" y="1217534"/>
                <a:ext cx="11521280"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latin typeface="Microsoft YaHei" panose="020B0503020204020204" pitchFamily="34" charset="-122"/>
                    <a:ea typeface="Microsoft YaHei" panose="020B0503020204020204" pitchFamily="34" charset="-122"/>
                  </a:rPr>
                  <a:t>考虑到对称性，只要绘制闭合曲线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𝐺𝐻</m:t>
                        </m:r>
                      </m:sub>
                    </m:sSub>
                  </m:oMath>
                </a14:m>
                <a:r>
                  <a:rPr kumimoji="1" lang="zh-CN" altLang="en-US" sz="2800" dirty="0">
                    <a:solidFill>
                      <a:srgbClr val="2980B9"/>
                    </a:solidFill>
                    <a:latin typeface="Microsoft YaHei" panose="020B0503020204020204" pitchFamily="34" charset="-122"/>
                    <a:ea typeface="Microsoft YaHei" panose="020B0503020204020204" pitchFamily="34" charset="-122"/>
                  </a:rPr>
                  <a:t> 的一半，即半闭合 </a:t>
                </a:r>
                <a:r>
                  <a:rPr kumimoji="1" lang="en-US" altLang="zh-CN" sz="2800" dirty="0">
                    <a:solidFill>
                      <a:srgbClr val="2980B9"/>
                    </a:solidFill>
                    <a:latin typeface="Microsoft YaHei" panose="020B0503020204020204" pitchFamily="34" charset="-122"/>
                    <a:ea typeface="Microsoft YaHei" panose="020B0503020204020204" pitchFamily="34" charset="-122"/>
                  </a:rPr>
                  <a:t>Nyquist</a:t>
                </a:r>
                <a:r>
                  <a:rPr kumimoji="1" lang="zh-CN" altLang="en-US" sz="2800" dirty="0">
                    <a:solidFill>
                      <a:srgbClr val="2980B9"/>
                    </a:solidFill>
                    <a:latin typeface="Microsoft YaHei" panose="020B0503020204020204" pitchFamily="34" charset="-122"/>
                    <a:ea typeface="Microsoft YaHei" panose="020B0503020204020204" pitchFamily="34" charset="-122"/>
                  </a:rPr>
                  <a:t> 曲 线。</a:t>
                </a:r>
              </a:p>
            </p:txBody>
          </p:sp>
        </mc:Choice>
        <mc:Fallback xmlns="">
          <p:sp>
            <p:nvSpPr>
              <p:cNvPr id="68" name="说明3">
                <a:extLst>
                  <a:ext uri="{FF2B5EF4-FFF2-40B4-BE49-F238E27FC236}">
                    <a16:creationId xmlns:a16="http://schemas.microsoft.com/office/drawing/2014/main" id="{D5AA8BA3-5D7D-374B-719B-DBCABB67ECC1}"/>
                  </a:ext>
                </a:extLst>
              </p:cNvPr>
              <p:cNvSpPr txBox="1">
                <a:spLocks noRot="1" noChangeAspect="1" noMove="1" noResize="1" noEditPoints="1" noAdjustHandles="1" noChangeArrowheads="1" noChangeShapeType="1" noTextEdit="1"/>
              </p:cNvSpPr>
              <p:nvPr/>
            </p:nvSpPr>
            <p:spPr>
              <a:xfrm>
                <a:off x="319655" y="1217534"/>
                <a:ext cx="11521280" cy="578882"/>
              </a:xfrm>
              <a:prstGeom prst="flowChartAlternateProcess">
                <a:avLst/>
              </a:prstGeom>
              <a:blipFill>
                <a:blip r:embed="rId3"/>
                <a:stretch>
                  <a:fillRect l="-769" t="-4167" r="-3846" b="-22917"/>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说明3">
                <a:extLst>
                  <a:ext uri="{FF2B5EF4-FFF2-40B4-BE49-F238E27FC236}">
                    <a16:creationId xmlns:a16="http://schemas.microsoft.com/office/drawing/2014/main" id="{53E2D63F-B0D2-A885-5813-113BC9B1B587}"/>
                  </a:ext>
                </a:extLst>
              </p:cNvPr>
              <p:cNvSpPr txBox="1"/>
              <p:nvPr/>
            </p:nvSpPr>
            <p:spPr>
              <a:xfrm>
                <a:off x="334566" y="2996952"/>
                <a:ext cx="11521280"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kumimoji="1" lang="en-US" altLang="zh-CN" sz="2800" dirty="0">
                    <a:solidFill>
                      <a:srgbClr val="2980B9"/>
                    </a:solidFill>
                    <a:latin typeface="Microsoft YaHei" panose="020B0503020204020204" pitchFamily="34" charset="-122"/>
                    <a:ea typeface="Microsoft YaHei" panose="020B0503020204020204" pitchFamily="34" charset="-122"/>
                  </a:rPr>
                  <a:t>(1)</a:t>
                </a:r>
                <a:r>
                  <a:rPr kumimoji="1" lang="zh-CN" altLang="en-US" sz="2800" dirty="0">
                    <a:solidFill>
                      <a:srgbClr val="2980B9"/>
                    </a:solidFill>
                    <a:latin typeface="Microsoft YaHei" panose="020B0503020204020204" pitchFamily="34" charset="-122"/>
                    <a:ea typeface="Microsoft YaHei" panose="020B0503020204020204" pitchFamily="34" charset="-122"/>
                  </a:rPr>
                  <a:t> 先画出开环幅相曲线 </a:t>
                </a:r>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r>
                          <a:rPr kumimoji="1" lang="en-US" altLang="zh-CN" sz="2800" i="1">
                            <a:solidFill>
                              <a:srgbClr val="2980B9"/>
                            </a:solidFill>
                            <a:latin typeface="Cambria Math" panose="02040503050406030204" pitchFamily="18" charset="0"/>
                            <a:ea typeface="Cambria Math" panose="02040503050406030204" pitchFamily="18" charset="0"/>
                          </a:rPr>
                          <m:t>𝜔</m:t>
                        </m:r>
                      </m:e>
                    </m:d>
                    <m:r>
                      <a:rPr kumimoji="1" lang="en-US" altLang="zh-CN" sz="2800" i="1">
                        <a:solidFill>
                          <a:srgbClr val="2980B9"/>
                        </a:solidFill>
                        <a:latin typeface="Cambria Math" panose="02040503050406030204" pitchFamily="18" charset="0"/>
                        <a:ea typeface="Cambria Math" panose="02040503050406030204" pitchFamily="18" charset="0"/>
                      </a:rPr>
                      <m:t> </m:t>
                    </m:r>
                  </m:oMath>
                </a14:m>
                <a:r>
                  <a:rPr kumimoji="1" lang="zh-CN" altLang="el-GR" sz="2800" dirty="0">
                    <a:solidFill>
                      <a:srgbClr val="2980B9"/>
                    </a:solidFill>
                    <a:latin typeface="Microsoft YaHei" panose="020B0503020204020204" pitchFamily="34" charset="-122"/>
                    <a:ea typeface="Microsoft YaHei" panose="020B0503020204020204" pitchFamily="34" charset="-122"/>
                  </a:rPr>
                  <a:t>，</a:t>
                </a:r>
                <a:r>
                  <a:rPr kumimoji="1" lang="zh-CN" altLang="en-US" sz="2800" dirty="0">
                    <a:solidFill>
                      <a:srgbClr val="2980B9"/>
                    </a:solidFill>
                    <a:latin typeface="Microsoft YaHei" panose="020B0503020204020204" pitchFamily="34" charset="-122"/>
                    <a:ea typeface="Microsoft YaHei" panose="020B0503020204020204" pitchFamily="34" charset="-122"/>
                  </a:rPr>
                  <a:t>即 </a:t>
                </a:r>
                <a14:m>
                  <m:oMath xmlns:m="http://schemas.openxmlformats.org/officeDocument/2006/math">
                    <m:r>
                      <a:rPr kumimoji="1" lang="el-GR" altLang="zh-CN" sz="2800" i="1" dirty="0" smtClean="0">
                        <a:solidFill>
                          <a:srgbClr val="2980B9"/>
                        </a:solidFill>
                        <a:latin typeface="Cambria Math" panose="02040503050406030204" pitchFamily="18" charset="0"/>
                      </a:rPr>
                      <m:t>𝜔</m:t>
                    </m:r>
                    <m:r>
                      <a:rPr kumimoji="1" lang="el-GR" altLang="zh-CN" sz="2800" i="1" dirty="0" smtClean="0">
                        <a:solidFill>
                          <a:srgbClr val="2980B9"/>
                        </a:solidFill>
                        <a:latin typeface="Cambria Math" panose="02040503050406030204" pitchFamily="18" charset="0"/>
                      </a:rPr>
                      <m:t>∈(</m:t>
                    </m:r>
                    <m:sSup>
                      <m:sSupPr>
                        <m:ctrlPr>
                          <a:rPr kumimoji="1" lang="en-US" altLang="zh-CN" sz="2800" b="0" i="1" dirty="0" smtClean="0">
                            <a:solidFill>
                              <a:srgbClr val="2980B9"/>
                            </a:solidFill>
                            <a:latin typeface="Cambria Math" panose="02040503050406030204" pitchFamily="18" charset="0"/>
                          </a:rPr>
                        </m:ctrlPr>
                      </m:sSupPr>
                      <m:e>
                        <m:r>
                          <a:rPr kumimoji="1" lang="el-GR" altLang="zh-CN" sz="2800" i="1" dirty="0" smtClean="0">
                            <a:solidFill>
                              <a:srgbClr val="2980B9"/>
                            </a:solidFill>
                            <a:latin typeface="Cambria Math" panose="02040503050406030204" pitchFamily="18" charset="0"/>
                          </a:rPr>
                          <m:t>0</m:t>
                        </m:r>
                      </m:e>
                      <m:sup>
                        <m:r>
                          <a:rPr kumimoji="1" lang="el-GR" altLang="zh-CN" sz="2800" i="1" dirty="0" smtClean="0">
                            <a:solidFill>
                              <a:srgbClr val="2980B9"/>
                            </a:solidFill>
                            <a:latin typeface="Cambria Math" panose="02040503050406030204" pitchFamily="18" charset="0"/>
                          </a:rPr>
                          <m:t>+</m:t>
                        </m:r>
                      </m:sup>
                    </m:sSup>
                    <m:r>
                      <a:rPr kumimoji="1" lang="el-GR" altLang="zh-CN" sz="2800" i="1" dirty="0" smtClean="0">
                        <a:solidFill>
                          <a:srgbClr val="2980B9"/>
                        </a:solidFill>
                        <a:latin typeface="Cambria Math" panose="02040503050406030204" pitchFamily="18" charset="0"/>
                      </a:rPr>
                      <m:t>, ∞)</m:t>
                    </m:r>
                  </m:oMath>
                </a14:m>
                <a:r>
                  <a:rPr kumimoji="1" lang="el-GR"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时的映射。</a:t>
                </a:r>
              </a:p>
            </p:txBody>
          </p:sp>
        </mc:Choice>
        <mc:Fallback xmlns="">
          <p:sp>
            <p:nvSpPr>
              <p:cNvPr id="5" name="说明3">
                <a:extLst>
                  <a:ext uri="{FF2B5EF4-FFF2-40B4-BE49-F238E27FC236}">
                    <a16:creationId xmlns:a16="http://schemas.microsoft.com/office/drawing/2014/main" id="{53E2D63F-B0D2-A885-5813-113BC9B1B587}"/>
                  </a:ext>
                </a:extLst>
              </p:cNvPr>
              <p:cNvSpPr txBox="1">
                <a:spLocks noRot="1" noChangeAspect="1" noMove="1" noResize="1" noEditPoints="1" noAdjustHandles="1" noChangeArrowheads="1" noChangeShapeType="1" noTextEdit="1"/>
              </p:cNvSpPr>
              <p:nvPr/>
            </p:nvSpPr>
            <p:spPr>
              <a:xfrm>
                <a:off x="334566" y="2996952"/>
                <a:ext cx="11521280" cy="578882"/>
              </a:xfrm>
              <a:prstGeom prst="flowChartAlternateProcess">
                <a:avLst/>
              </a:prstGeom>
              <a:blipFill>
                <a:blip r:embed="rId4"/>
                <a:stretch>
                  <a:fillRect l="-769" t="-4167" b="-22917"/>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说明3">
                <a:extLst>
                  <a:ext uri="{FF2B5EF4-FFF2-40B4-BE49-F238E27FC236}">
                    <a16:creationId xmlns:a16="http://schemas.microsoft.com/office/drawing/2014/main" id="{739053F2-5B0B-0C1D-3EFE-E2CF989C6723}"/>
                  </a:ext>
                </a:extLst>
              </p:cNvPr>
              <p:cNvSpPr txBox="1"/>
              <p:nvPr/>
            </p:nvSpPr>
            <p:spPr>
              <a:xfrm>
                <a:off x="334566" y="4077072"/>
                <a:ext cx="11521280"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kumimoji="1" lang="en-US" altLang="zh-CN" sz="2800" dirty="0">
                    <a:solidFill>
                      <a:srgbClr val="2980B9"/>
                    </a:solidFill>
                    <a:latin typeface="Microsoft YaHei" panose="020B0503020204020204" pitchFamily="34" charset="-122"/>
                    <a:ea typeface="Microsoft YaHei" panose="020B0503020204020204" pitchFamily="34" charset="-122"/>
                  </a:rPr>
                  <a:t>(2)</a:t>
                </a:r>
                <a:r>
                  <a:rPr kumimoji="1" lang="zh-CN" altLang="en-US" sz="2800" dirty="0">
                    <a:solidFill>
                      <a:srgbClr val="2980B9"/>
                    </a:solidFill>
                    <a:latin typeface="Microsoft YaHei" panose="020B0503020204020204" pitchFamily="34" charset="-122"/>
                    <a:ea typeface="Microsoft YaHei" panose="020B0503020204020204" pitchFamily="34" charset="-122"/>
                  </a:rPr>
                  <a:t> 若存在 </a:t>
                </a:r>
                <a14:m>
                  <m:oMath xmlns:m="http://schemas.openxmlformats.org/officeDocument/2006/math">
                    <m:r>
                      <a:rPr kumimoji="1" lang="en-US" altLang="zh-CN" sz="2800" i="1" dirty="0" smtClean="0">
                        <a:solidFill>
                          <a:srgbClr val="2980B9"/>
                        </a:solidFill>
                        <a:latin typeface="Cambria Math" panose="02040503050406030204" pitchFamily="18" charset="0"/>
                      </a:rPr>
                      <m:t>𝑣</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个积分环节，则将曲线起点 </a:t>
                </a:r>
                <a14:m>
                  <m:oMath xmlns:m="http://schemas.openxmlformats.org/officeDocument/2006/math">
                    <m:r>
                      <a:rPr kumimoji="1" lang="en-US" altLang="zh-CN" sz="2800" i="1">
                        <a:solidFill>
                          <a:srgbClr val="2980B9"/>
                        </a:solidFill>
                        <a:latin typeface="Cambria Math" panose="02040503050406030204" pitchFamily="18" charset="0"/>
                      </a:rPr>
                      <m:t>𝐺</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r>
                              <a:rPr kumimoji="1" lang="en-US" altLang="zh-CN" sz="2800" b="0" i="1" smtClean="0">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e>
                    </m:d>
                    <m:r>
                      <a:rPr kumimoji="1" lang="en-US" altLang="zh-CN" sz="2800" i="1">
                        <a:solidFill>
                          <a:srgbClr val="2980B9"/>
                        </a:solidFill>
                        <a:latin typeface="Cambria Math" panose="02040503050406030204" pitchFamily="18" charset="0"/>
                      </a:rPr>
                      <m:t>𝐻</m:t>
                    </m:r>
                    <m:d>
                      <m:dPr>
                        <m:ctrlPr>
                          <a:rPr kumimoji="1" lang="en-US" altLang="zh-CN" sz="2800" i="1">
                            <a:solidFill>
                              <a:srgbClr val="2980B9"/>
                            </a:solidFill>
                            <a:latin typeface="Cambria Math" panose="02040503050406030204" pitchFamily="18" charset="0"/>
                          </a:rPr>
                        </m:ctrlPr>
                      </m:dPr>
                      <m:e>
                        <m:r>
                          <a:rPr kumimoji="1" lang="en-US" altLang="zh-CN" sz="2800" i="1">
                            <a:solidFill>
                              <a:srgbClr val="2980B9"/>
                            </a:solidFill>
                            <a:latin typeface="Cambria Math" panose="02040503050406030204" pitchFamily="18" charset="0"/>
                          </a:rPr>
                          <m:t>𝑗</m:t>
                        </m:r>
                        <m:sSup>
                          <m:sSupPr>
                            <m:ctrlPr>
                              <a:rPr kumimoji="1" lang="en-US" altLang="zh-CN" sz="2800" b="0" i="1" smtClean="0">
                                <a:solidFill>
                                  <a:srgbClr val="2980B9"/>
                                </a:solidFill>
                                <a:latin typeface="Cambria Math" panose="02040503050406030204" pitchFamily="18" charset="0"/>
                                <a:ea typeface="Cambria Math" panose="02040503050406030204" pitchFamily="18" charset="0"/>
                              </a:rPr>
                            </m:ctrlPr>
                          </m:sSupPr>
                          <m:e>
                            <m:r>
                              <a:rPr kumimoji="1" lang="en-US" altLang="zh-CN" sz="2800" b="0" i="1" smtClean="0">
                                <a:solidFill>
                                  <a:srgbClr val="2980B9"/>
                                </a:solidFill>
                                <a:latin typeface="Cambria Math" panose="02040503050406030204" pitchFamily="18" charset="0"/>
                                <a:ea typeface="Cambria Math" panose="02040503050406030204" pitchFamily="18" charset="0"/>
                              </a:rPr>
                              <m:t>0</m:t>
                            </m:r>
                          </m:e>
                          <m:sup>
                            <m:r>
                              <a:rPr kumimoji="1" lang="en-US" altLang="zh-CN" sz="2800" b="0" i="1" smtClean="0">
                                <a:solidFill>
                                  <a:srgbClr val="2980B9"/>
                                </a:solidFill>
                                <a:latin typeface="Cambria Math" panose="02040503050406030204" pitchFamily="18" charset="0"/>
                                <a:ea typeface="Cambria Math" panose="02040503050406030204" pitchFamily="18" charset="0"/>
                              </a:rPr>
                              <m:t>+</m:t>
                            </m:r>
                          </m:sup>
                        </m:sSup>
                      </m:e>
                    </m:d>
                  </m:oMath>
                </a14:m>
                <a:r>
                  <a:rPr kumimoji="1" lang="en-US"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逆时针旋转 </a:t>
                </a:r>
                <a14:m>
                  <m:oMath xmlns:m="http://schemas.openxmlformats.org/officeDocument/2006/math">
                    <m:r>
                      <a:rPr kumimoji="1" lang="en-US" altLang="zh-CN" sz="2800" i="1" dirty="0" smtClean="0">
                        <a:solidFill>
                          <a:srgbClr val="2980B9"/>
                        </a:solidFill>
                        <a:latin typeface="Cambria Math" panose="02040503050406030204" pitchFamily="18" charset="0"/>
                      </a:rPr>
                      <m:t>𝑣</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个 </a:t>
                </a:r>
                <a14:m>
                  <m:oMath xmlns:m="http://schemas.openxmlformats.org/officeDocument/2006/math">
                    <m:r>
                      <a:rPr kumimoji="1" lang="en-US" altLang="zh-CN" sz="2800" i="1" dirty="0" smtClean="0">
                        <a:solidFill>
                          <a:srgbClr val="2980B9"/>
                        </a:solidFill>
                        <a:latin typeface="Cambria Math" panose="02040503050406030204" pitchFamily="18" charset="0"/>
                      </a:rPr>
                      <m:t>90</m:t>
                    </m:r>
                    <m:r>
                      <a:rPr kumimoji="1" lang="en-US" altLang="zh-CN" sz="2800" i="1" dirty="0" smtClean="0">
                        <a:solidFill>
                          <a:srgbClr val="2980B9"/>
                        </a:solidFill>
                        <a:latin typeface="Cambria Math" panose="02040503050406030204" pitchFamily="18" charset="0"/>
                        <a:ea typeface="Cambria Math" panose="02040503050406030204" pitchFamily="18" charset="0"/>
                      </a:rPr>
                      <m:t>°</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，补上 </a:t>
                </a:r>
                <a14:m>
                  <m:oMath xmlns:m="http://schemas.openxmlformats.org/officeDocument/2006/math">
                    <m:r>
                      <a:rPr kumimoji="1" lang="el-GR" altLang="zh-CN" sz="2800" i="1" dirty="0" smtClean="0">
                        <a:solidFill>
                          <a:srgbClr val="2980B9"/>
                        </a:solidFill>
                        <a:latin typeface="Cambria Math" panose="02040503050406030204" pitchFamily="18" charset="0"/>
                      </a:rPr>
                      <m:t>𝜔</m:t>
                    </m:r>
                    <m:r>
                      <a:rPr kumimoji="1" lang="el-GR" altLang="zh-CN" sz="2800" i="1" dirty="0" smtClean="0">
                        <a:solidFill>
                          <a:srgbClr val="2980B9"/>
                        </a:solidFill>
                        <a:latin typeface="Cambria Math" panose="02040503050406030204" pitchFamily="18" charset="0"/>
                      </a:rPr>
                      <m:t>∈(</m:t>
                    </m:r>
                    <m:sSup>
                      <m:sSupPr>
                        <m:ctrlPr>
                          <a:rPr kumimoji="1" lang="en-US" altLang="zh-CN" sz="2800" b="0" i="1" dirty="0" smtClean="0">
                            <a:solidFill>
                              <a:srgbClr val="2980B9"/>
                            </a:solidFill>
                            <a:latin typeface="Cambria Math" panose="02040503050406030204" pitchFamily="18" charset="0"/>
                          </a:rPr>
                        </m:ctrlPr>
                      </m:sSupPr>
                      <m:e>
                        <m:r>
                          <a:rPr kumimoji="1" lang="el-GR" altLang="zh-CN" sz="2800" i="1" dirty="0" smtClean="0">
                            <a:solidFill>
                              <a:srgbClr val="2980B9"/>
                            </a:solidFill>
                            <a:latin typeface="Cambria Math" panose="02040503050406030204" pitchFamily="18" charset="0"/>
                          </a:rPr>
                          <m:t>0</m:t>
                        </m:r>
                      </m:e>
                      <m:sup>
                        <m:r>
                          <a:rPr kumimoji="1" lang="el-GR" altLang="zh-CN" sz="2800" i="1" dirty="0" smtClean="0">
                            <a:solidFill>
                              <a:srgbClr val="2980B9"/>
                            </a:solidFill>
                            <a:latin typeface="Cambria Math" panose="02040503050406030204" pitchFamily="18" charset="0"/>
                          </a:rPr>
                          <m:t>+</m:t>
                        </m:r>
                      </m:sup>
                    </m:sSup>
                    <m:r>
                      <a:rPr kumimoji="1" lang="el-GR" altLang="zh-CN" sz="2800" i="1" dirty="0" smtClean="0">
                        <a:solidFill>
                          <a:srgbClr val="2980B9"/>
                        </a:solidFill>
                        <a:latin typeface="Cambria Math" panose="02040503050406030204" pitchFamily="18" charset="0"/>
                      </a:rPr>
                      <m:t>,0) </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的映射，即得到 </a:t>
                </a:r>
                <a14:m>
                  <m:oMath xmlns:m="http://schemas.openxmlformats.org/officeDocument/2006/math">
                    <m:r>
                      <a:rPr kumimoji="1" lang="el-GR" altLang="zh-CN" sz="2800" i="1" dirty="0" smtClean="0">
                        <a:solidFill>
                          <a:srgbClr val="2980B9"/>
                        </a:solidFill>
                        <a:latin typeface="Cambria Math" panose="02040503050406030204" pitchFamily="18" charset="0"/>
                      </a:rPr>
                      <m:t>𝜔</m:t>
                    </m:r>
                    <m:r>
                      <a:rPr kumimoji="1" lang="el-GR" altLang="zh-CN" sz="2800" i="1" dirty="0" smtClean="0">
                        <a:solidFill>
                          <a:srgbClr val="2980B9"/>
                        </a:solidFill>
                        <a:latin typeface="Cambria Math" panose="02040503050406030204" pitchFamily="18" charset="0"/>
                      </a:rPr>
                      <m:t>∈(0,+∞)</m:t>
                    </m:r>
                  </m:oMath>
                </a14:m>
                <a:r>
                  <a:rPr kumimoji="1" lang="el-GR"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时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b="0" i="1" smtClean="0">
                            <a:solidFill>
                              <a:srgbClr val="2980B9"/>
                            </a:solidFill>
                            <a:latin typeface="Cambria Math" panose="02040503050406030204" pitchFamily="18" charset="0"/>
                          </a:rPr>
                          <m:t>𝑠</m:t>
                        </m:r>
                      </m:sub>
                    </m:sSub>
                  </m:oMath>
                </a14:m>
                <a:r>
                  <a:rPr kumimoji="1" lang="zh-CN" altLang="en-US" sz="2800" dirty="0">
                    <a:solidFill>
                      <a:srgbClr val="2980B9"/>
                    </a:solidFill>
                    <a:latin typeface="Microsoft YaHei" panose="020B0503020204020204" pitchFamily="34" charset="-122"/>
                    <a:ea typeface="Microsoft YaHei" panose="020B0503020204020204" pitchFamily="34" charset="-122"/>
                  </a:rPr>
                  <a:t> 在平 面 </a:t>
                </a:r>
                <a14:m>
                  <m:oMath xmlns:m="http://schemas.openxmlformats.org/officeDocument/2006/math">
                    <m:r>
                      <a:rPr kumimoji="1" lang="en-US" altLang="zh-CN" sz="2800" i="1" dirty="0" smtClean="0">
                        <a:solidFill>
                          <a:srgbClr val="2980B9"/>
                        </a:solidFill>
                        <a:latin typeface="Cambria Math" panose="02040503050406030204" pitchFamily="18" charset="0"/>
                      </a:rPr>
                      <m:t>𝐺𝐻</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的映射，即半个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𝐺𝐻</m:t>
                        </m:r>
                      </m:sub>
                    </m:sSub>
                  </m:oMath>
                </a14:m>
                <a:r>
                  <a:rPr kumimoji="1" lang="zh-CN" altLang="en-US" sz="2800" dirty="0">
                    <a:solidFill>
                      <a:srgbClr val="2980B9"/>
                    </a:solidFill>
                    <a:latin typeface="Microsoft YaHei" panose="020B0503020204020204" pitchFamily="34" charset="-122"/>
                    <a:ea typeface="Microsoft YaHei" panose="020B0503020204020204" pitchFamily="34" charset="-122"/>
                  </a:rPr>
                  <a:t> 。</a:t>
                </a:r>
              </a:p>
            </p:txBody>
          </p:sp>
        </mc:Choice>
        <mc:Fallback xmlns="">
          <p:sp>
            <p:nvSpPr>
              <p:cNvPr id="2" name="说明3">
                <a:extLst>
                  <a:ext uri="{FF2B5EF4-FFF2-40B4-BE49-F238E27FC236}">
                    <a16:creationId xmlns:a16="http://schemas.microsoft.com/office/drawing/2014/main" id="{739053F2-5B0B-0C1D-3EFE-E2CF989C6723}"/>
                  </a:ext>
                </a:extLst>
              </p:cNvPr>
              <p:cNvSpPr txBox="1">
                <a:spLocks noRot="1" noChangeAspect="1" noMove="1" noResize="1" noEditPoints="1" noAdjustHandles="1" noChangeArrowheads="1" noChangeShapeType="1" noTextEdit="1"/>
              </p:cNvSpPr>
              <p:nvPr/>
            </p:nvSpPr>
            <p:spPr>
              <a:xfrm>
                <a:off x="334566" y="4077072"/>
                <a:ext cx="11521280" cy="1532334"/>
              </a:xfrm>
              <a:prstGeom prst="flowChartAlternateProcess">
                <a:avLst/>
              </a:prstGeom>
              <a:blipFill>
                <a:blip r:embed="rId5"/>
                <a:stretch>
                  <a:fillRect l="-330" b="-4878"/>
                </a:stretch>
              </a:blipFill>
              <a:ln>
                <a:prstDash val="sysDot"/>
              </a:ln>
            </p:spPr>
            <p:txBody>
              <a:bodyPr/>
              <a:lstStyle/>
              <a:p>
                <a:r>
                  <a:rPr lang="zh-CN" altLang="en-US">
                    <a:noFill/>
                  </a:rPr>
                  <a:t> </a:t>
                </a:r>
              </a:p>
            </p:txBody>
          </p:sp>
        </mc:Fallback>
      </mc:AlternateContent>
    </p:spTree>
    <p:extLst>
      <p:ext uri="{BB962C8B-B14F-4D97-AF65-F5344CB8AC3E}">
        <p14:creationId xmlns:p14="http://schemas.microsoft.com/office/powerpoint/2010/main" val="1007904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5"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判定</a:t>
            </a:r>
            <a:r>
              <a:rPr lang="en-US" altLang="zh-CN" sz="2800" b="1" dirty="0">
                <a:solidFill>
                  <a:schemeClr val="bg1"/>
                </a:solidFill>
                <a:latin typeface="微软雅黑" panose="020B0503020204020204" pitchFamily="34" charset="-122"/>
                <a:ea typeface="微软雅黑" panose="020B0503020204020204" pitchFamily="34" charset="-122"/>
              </a:rPr>
              <a:t>0</a:t>
            </a:r>
            <a:r>
              <a:rPr lang="zh-CN" altLang="en-US" sz="2800" b="1" dirty="0">
                <a:solidFill>
                  <a:schemeClr val="bg1"/>
                </a:solidFill>
                <a:latin typeface="微软雅黑" panose="020B0503020204020204" pitchFamily="34" charset="-122"/>
                <a:ea typeface="微软雅黑" panose="020B0503020204020204" pitchFamily="34" charset="-122"/>
              </a:rPr>
              <a:t>型系统稳定性</a:t>
            </a:r>
          </a:p>
        </p:txBody>
      </p:sp>
      <p:sp>
        <p:nvSpPr>
          <p:cNvPr id="35" name="幅相">
            <a:extLst>
              <a:ext uri="{FF2B5EF4-FFF2-40B4-BE49-F238E27FC236}">
                <a16:creationId xmlns:a16="http://schemas.microsoft.com/office/drawing/2014/main" id="{6D9CB9E4-827A-67BE-4B81-4879FE516102}"/>
              </a:ext>
            </a:extLst>
          </p:cNvPr>
          <p:cNvSpPr/>
          <p:nvPr/>
        </p:nvSpPr>
        <p:spPr>
          <a:xfrm flipV="1">
            <a:off x="7816178" y="3248446"/>
            <a:ext cx="456652" cy="126112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Lst>
            <a:ahLst/>
            <a:cxnLst>
              <a:cxn ang="0">
                <a:pos x="connsiteX0" y="connsiteY0"/>
              </a:cxn>
              <a:cxn ang="0">
                <a:pos x="connsiteX1" y="connsiteY1"/>
              </a:cxn>
            </a:cxnLst>
            <a:rect l="l" t="t" r="r" b="b"/>
            <a:pathLst>
              <a:path w="336599" h="1559862">
                <a:moveTo>
                  <a:pt x="322844" y="453380"/>
                </a:moveTo>
                <a:cubicBezTo>
                  <a:pt x="243862" y="-672964"/>
                  <a:pt x="-370651" y="529884"/>
                  <a:pt x="336599" y="1559862"/>
                </a:cubicBezTo>
              </a:path>
            </a:pathLst>
          </a:custGeom>
          <a:noFill/>
          <a:ln w="38100">
            <a:solidFill>
              <a:srgbClr val="768395"/>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406779"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406779" y="1891237"/>
                <a:ext cx="801225" cy="524695"/>
              </a:xfrm>
              <a:prstGeom prst="rect">
                <a:avLst/>
              </a:prstGeom>
              <a:blipFill>
                <a:blip r:embed="rId3"/>
                <a:stretch>
                  <a:fillRect r="-3125"/>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6588427"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2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6</m:t>
                          </m:r>
                        </m:num>
                        <m:den>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0.5</m:t>
                              </m:r>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0.2</m:t>
                              </m:r>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2699"/>
              </a:xfrm>
              <a:prstGeom prst="rect">
                <a:avLst/>
              </a:prstGeom>
              <a:blipFill>
                <a:blip r:embed="rId6"/>
                <a:stretch>
                  <a:fillRect b="-1316"/>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994D3405-C224-29C9-A948-656257DFBA4B}"/>
              </a:ext>
            </a:extLst>
          </p:cNvPr>
          <p:cNvGrpSpPr/>
          <p:nvPr/>
        </p:nvGrpSpPr>
        <p:grpSpPr>
          <a:xfrm>
            <a:off x="766614" y="1891237"/>
            <a:ext cx="4343493" cy="4418083"/>
            <a:chOff x="7080305" y="1516316"/>
            <a:chExt cx="4343493" cy="4418083"/>
          </a:xfrm>
        </p:grpSpPr>
        <p:grpSp>
          <p:nvGrpSpPr>
            <p:cNvPr id="6" name="坐标轴">
              <a:extLst>
                <a:ext uri="{FF2B5EF4-FFF2-40B4-BE49-F238E27FC236}">
                  <a16:creationId xmlns:a16="http://schemas.microsoft.com/office/drawing/2014/main" id="{4AB902D0-AD77-2FAC-001A-D30F5A5FFABD}"/>
                </a:ext>
              </a:extLst>
            </p:cNvPr>
            <p:cNvGrpSpPr/>
            <p:nvPr/>
          </p:nvGrpSpPr>
          <p:grpSpPr>
            <a:xfrm>
              <a:off x="7997028" y="1516316"/>
              <a:ext cx="3426770" cy="4418083"/>
              <a:chOff x="8390928" y="2461626"/>
              <a:chExt cx="3426770" cy="4418083"/>
            </a:xfrm>
          </p:grpSpPr>
          <p:cxnSp>
            <p:nvCxnSpPr>
              <p:cNvPr id="21" name="实轴">
                <a:extLst>
                  <a:ext uri="{FF2B5EF4-FFF2-40B4-BE49-F238E27FC236}">
                    <a16:creationId xmlns:a16="http://schemas.microsoft.com/office/drawing/2014/main" id="{ACC8922D-1522-36F7-060B-B920A1ABF0B9}"/>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虚轴">
                <a:extLst>
                  <a:ext uri="{FF2B5EF4-FFF2-40B4-BE49-F238E27FC236}">
                    <a16:creationId xmlns:a16="http://schemas.microsoft.com/office/drawing/2014/main" id="{DD3D7083-07D6-FF78-4F42-E379ABED4544}"/>
                  </a:ext>
                </a:extLst>
              </p:cNvPr>
              <p:cNvCxnSpPr>
                <a:cxnSpLocks/>
              </p:cNvCxnSpPr>
              <p:nvPr/>
            </p:nvCxnSpPr>
            <p:spPr>
              <a:xfrm flipV="1">
                <a:off x="9196819" y="2461626"/>
                <a:ext cx="0" cy="441808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
                    <a:extLst>
                      <a:ext uri="{FF2B5EF4-FFF2-40B4-BE49-F238E27FC236}">
                        <a16:creationId xmlns:a16="http://schemas.microsoft.com/office/drawing/2014/main" id="{9C6CAAC8-AB04-B618-A9F5-670CC130EBD0}"/>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4" name="Re">
                    <a:extLst>
                      <a:ext uri="{FF2B5EF4-FFF2-40B4-BE49-F238E27FC236}">
                        <a16:creationId xmlns:a16="http://schemas.microsoft.com/office/drawing/2014/main" id="{9C6CAAC8-AB04-B618-A9F5-670CC130EBD0}"/>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7"/>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Im">
                    <a:extLst>
                      <a:ext uri="{FF2B5EF4-FFF2-40B4-BE49-F238E27FC236}">
                        <a16:creationId xmlns:a16="http://schemas.microsoft.com/office/drawing/2014/main" id="{12DBA807-E647-DBF1-310D-E2620D3CE453}"/>
                      </a:ext>
                    </a:extLst>
                  </p:cNvPr>
                  <p:cNvSpPr txBox="1"/>
                  <p:nvPr/>
                </p:nvSpPr>
                <p:spPr>
                  <a:xfrm>
                    <a:off x="8390928" y="246162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25" name="Im">
                    <a:extLst>
                      <a:ext uri="{FF2B5EF4-FFF2-40B4-BE49-F238E27FC236}">
                        <a16:creationId xmlns:a16="http://schemas.microsoft.com/office/drawing/2014/main" id="{12DBA807-E647-DBF1-310D-E2620D3CE453}"/>
                      </a:ext>
                    </a:extLst>
                  </p:cNvPr>
                  <p:cNvSpPr txBox="1">
                    <a:spLocks noRot="1" noChangeAspect="1" noMove="1" noResize="1" noEditPoints="1" noAdjustHandles="1" noChangeArrowheads="1" noChangeShapeType="1" noTextEdit="1"/>
                  </p:cNvSpPr>
                  <p:nvPr/>
                </p:nvSpPr>
                <p:spPr>
                  <a:xfrm>
                    <a:off x="8390928" y="2461626"/>
                    <a:ext cx="576536" cy="523220"/>
                  </a:xfrm>
                  <a:prstGeom prst="rect">
                    <a:avLst/>
                  </a:prstGeom>
                  <a:blipFill>
                    <a:blip r:embed="rId8"/>
                    <a:stretch>
                      <a:fillRect l="-4255"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原点">
                    <a:extLst>
                      <a:ext uri="{FF2B5EF4-FFF2-40B4-BE49-F238E27FC236}">
                        <a16:creationId xmlns:a16="http://schemas.microsoft.com/office/drawing/2014/main" id="{B6093241-A06D-0BAC-6B26-84A5A59093E5}"/>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6" name="原点">
                    <a:extLst>
                      <a:ext uri="{FF2B5EF4-FFF2-40B4-BE49-F238E27FC236}">
                        <a16:creationId xmlns:a16="http://schemas.microsoft.com/office/drawing/2014/main" id="{B6093241-A06D-0BAC-6B26-84A5A59093E5}"/>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9"/>
                    <a:stretch>
                      <a:fillRect/>
                    </a:stretch>
                  </a:blipFill>
                </p:spPr>
                <p:txBody>
                  <a:bodyPr/>
                  <a:lstStyle/>
                  <a:p>
                    <a:r>
                      <a:rPr lang="zh-CN" altLang="en-US">
                        <a:noFill/>
                      </a:rPr>
                      <a:t> </a:t>
                    </a:r>
                  </a:p>
                </p:txBody>
              </p:sp>
            </mc:Fallback>
          </mc:AlternateContent>
        </p:grpSp>
        <p:sp>
          <p:nvSpPr>
            <p:cNvPr id="8" name="弧 7">
              <a:extLst>
                <a:ext uri="{FF2B5EF4-FFF2-40B4-BE49-F238E27FC236}">
                  <a16:creationId xmlns:a16="http://schemas.microsoft.com/office/drawing/2014/main" id="{D07A5511-1B5C-F61C-A671-8D0B7A6429BC}"/>
                </a:ext>
              </a:extLst>
            </p:cNvPr>
            <p:cNvSpPr/>
            <p:nvPr/>
          </p:nvSpPr>
          <p:spPr>
            <a:xfrm>
              <a:off x="7098104" y="2106078"/>
              <a:ext cx="3392792" cy="3392792"/>
            </a:xfrm>
            <a:prstGeom prst="arc">
              <a:avLst/>
            </a:prstGeom>
            <a:ln w="38100">
              <a:solidFill>
                <a:schemeClr val="tx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弧 8">
              <a:extLst>
                <a:ext uri="{FF2B5EF4-FFF2-40B4-BE49-F238E27FC236}">
                  <a16:creationId xmlns:a16="http://schemas.microsoft.com/office/drawing/2014/main" id="{39C228D9-D4A5-A537-F001-A6F2C4CBD3EA}"/>
                </a:ext>
              </a:extLst>
            </p:cNvPr>
            <p:cNvSpPr/>
            <p:nvPr/>
          </p:nvSpPr>
          <p:spPr>
            <a:xfrm rot="5400000">
              <a:off x="7080305" y="2107323"/>
              <a:ext cx="3392792" cy="3392792"/>
            </a:xfrm>
            <a:prstGeom prst="arc">
              <a:avLst/>
            </a:prstGeom>
            <a:ln w="38100">
              <a:solidFill>
                <a:srgbClr val="768395"/>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2" name="虚轴">
              <a:extLst>
                <a:ext uri="{FF2B5EF4-FFF2-40B4-BE49-F238E27FC236}">
                  <a16:creationId xmlns:a16="http://schemas.microsoft.com/office/drawing/2014/main" id="{16840FED-4399-C176-11DE-A39C70B1366A}"/>
                </a:ext>
              </a:extLst>
            </p:cNvPr>
            <p:cNvCxnSpPr>
              <a:cxnSpLocks/>
            </p:cNvCxnSpPr>
            <p:nvPr/>
          </p:nvCxnSpPr>
          <p:spPr>
            <a:xfrm flipV="1">
              <a:off x="8802919" y="2041011"/>
              <a:ext cx="0" cy="1721357"/>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虚轴">
              <a:extLst>
                <a:ext uri="{FF2B5EF4-FFF2-40B4-BE49-F238E27FC236}">
                  <a16:creationId xmlns:a16="http://schemas.microsoft.com/office/drawing/2014/main" id="{C2F8787F-84AF-228C-1A19-6CB82650A169}"/>
                </a:ext>
              </a:extLst>
            </p:cNvPr>
            <p:cNvCxnSpPr>
              <a:cxnSpLocks/>
            </p:cNvCxnSpPr>
            <p:nvPr/>
          </p:nvCxnSpPr>
          <p:spPr>
            <a:xfrm flipV="1">
              <a:off x="8802919" y="3761210"/>
              <a:ext cx="0" cy="1737660"/>
            </a:xfrm>
            <a:prstGeom prst="straightConnector1">
              <a:avLst/>
            </a:prstGeom>
            <a:ln w="38100">
              <a:solidFill>
                <a:srgbClr val="768395"/>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原点">
                  <a:extLst>
                    <a:ext uri="{FF2B5EF4-FFF2-40B4-BE49-F238E27FC236}">
                      <a16:creationId xmlns:a16="http://schemas.microsoft.com/office/drawing/2014/main" id="{70844F8D-33A3-7E54-0DB1-5BCF8111FCFF}"/>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4" name="原点">
                  <a:extLst>
                    <a:ext uri="{FF2B5EF4-FFF2-40B4-BE49-F238E27FC236}">
                      <a16:creationId xmlns:a16="http://schemas.microsoft.com/office/drawing/2014/main" id="{70844F8D-33A3-7E54-0DB1-5BCF8111FCFF}"/>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10"/>
                  <a:stretch>
                    <a:fillRect r="-46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原点">
                  <a:extLst>
                    <a:ext uri="{FF2B5EF4-FFF2-40B4-BE49-F238E27FC236}">
                      <a16:creationId xmlns:a16="http://schemas.microsoft.com/office/drawing/2014/main" id="{CD3ECA48-C979-F318-350E-5FDD2568CF0A}"/>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2</m:t>
                            </m:r>
                          </m:e>
                        </m:d>
                      </m:oMath>
                    </m:oMathPara>
                  </a14:m>
                  <a:endParaRPr lang="zh-CN" altLang="en-US" sz="2800" dirty="0">
                    <a:solidFill>
                      <a:srgbClr val="768395"/>
                    </a:solidFill>
                  </a:endParaRPr>
                </a:p>
              </p:txBody>
            </p:sp>
          </mc:Choice>
          <mc:Fallback xmlns="">
            <p:sp>
              <p:nvSpPr>
                <p:cNvPr id="15" name="原点">
                  <a:extLst>
                    <a:ext uri="{FF2B5EF4-FFF2-40B4-BE49-F238E27FC236}">
                      <a16:creationId xmlns:a16="http://schemas.microsoft.com/office/drawing/2014/main" id="{CD3ECA48-C979-F318-350E-5FDD2568CF0A}"/>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1"/>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D251A143-5F50-FAD8-DE38-8E3DF82DFFAA}"/>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3</m:t>
                            </m:r>
                          </m:e>
                        </m:d>
                      </m:oMath>
                    </m:oMathPara>
                  </a14:m>
                  <a:endParaRPr lang="zh-CN" altLang="en-US" sz="2800" dirty="0">
                    <a:solidFill>
                      <a:srgbClr val="768395"/>
                    </a:solidFill>
                  </a:endParaRPr>
                </a:p>
              </p:txBody>
            </p:sp>
          </mc:Choice>
          <mc:Fallback xmlns="">
            <p:sp>
              <p:nvSpPr>
                <p:cNvPr id="16" name="原点">
                  <a:extLst>
                    <a:ext uri="{FF2B5EF4-FFF2-40B4-BE49-F238E27FC236}">
                      <a16:creationId xmlns:a16="http://schemas.microsoft.com/office/drawing/2014/main" id="{D251A143-5F50-FAD8-DE38-8E3DF82DFFAA}"/>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2"/>
                  <a:stretch>
                    <a:fillRect r="-2273"/>
                  </a:stretch>
                </a:blipFill>
              </p:spPr>
              <p:txBody>
                <a:bodyPr/>
                <a:lstStyle/>
                <a:p>
                  <a:r>
                    <a:rPr lang="zh-CN" altLang="en-US">
                      <a:noFill/>
                    </a:rPr>
                    <a:t> </a:t>
                  </a:r>
                </a:p>
              </p:txBody>
            </p:sp>
          </mc:Fallback>
        </mc:AlternateContent>
        <p:cxnSp>
          <p:nvCxnSpPr>
            <p:cNvPr id="18" name="虚轴">
              <a:extLst>
                <a:ext uri="{FF2B5EF4-FFF2-40B4-BE49-F238E27FC236}">
                  <a16:creationId xmlns:a16="http://schemas.microsoft.com/office/drawing/2014/main" id="{F5BE2D5D-56FC-DB57-E0AA-3DFCD7018853}"/>
                </a:ext>
              </a:extLst>
            </p:cNvPr>
            <p:cNvCxnSpPr>
              <a:cxnSpLocks/>
            </p:cNvCxnSpPr>
            <p:nvPr/>
          </p:nvCxnSpPr>
          <p:spPr>
            <a:xfrm flipV="1">
              <a:off x="8820719" y="2482000"/>
              <a:ext cx="1026118" cy="1299599"/>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原点">
                  <a:extLst>
                    <a:ext uri="{FF2B5EF4-FFF2-40B4-BE49-F238E27FC236}">
                      <a16:creationId xmlns:a16="http://schemas.microsoft.com/office/drawing/2014/main" id="{3CA272D1-152C-B723-B4F5-C68E7FA8BFD1}"/>
                    </a:ext>
                  </a:extLst>
                </p:cNvPr>
                <p:cNvSpPr txBox="1"/>
                <p:nvPr/>
              </p:nvSpPr>
              <p:spPr>
                <a:xfrm>
                  <a:off x="9176371" y="226855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oMath>
                    </m:oMathPara>
                  </a14:m>
                  <a:endParaRPr lang="zh-CN" altLang="en-US" sz="2800" dirty="0">
                    <a:solidFill>
                      <a:schemeClr val="tx1"/>
                    </a:solidFill>
                  </a:endParaRPr>
                </a:p>
              </p:txBody>
            </p:sp>
          </mc:Choice>
          <mc:Fallback xmlns="">
            <p:sp>
              <p:nvSpPr>
                <p:cNvPr id="19" name="原点">
                  <a:extLst>
                    <a:ext uri="{FF2B5EF4-FFF2-40B4-BE49-F238E27FC236}">
                      <a16:creationId xmlns:a16="http://schemas.microsoft.com/office/drawing/2014/main" id="{3CA272D1-152C-B723-B4F5-C68E7FA8BFD1}"/>
                    </a:ext>
                  </a:extLst>
                </p:cNvPr>
                <p:cNvSpPr txBox="1">
                  <a:spLocks noRot="1" noChangeAspect="1" noMove="1" noResize="1" noEditPoints="1" noAdjustHandles="1" noChangeArrowheads="1" noChangeShapeType="1" noTextEdit="1"/>
                </p:cNvSpPr>
                <p:nvPr/>
              </p:nvSpPr>
              <p:spPr>
                <a:xfrm>
                  <a:off x="9176371" y="2268553"/>
                  <a:ext cx="545352" cy="524695"/>
                </a:xfrm>
                <a:prstGeom prst="rect">
                  <a:avLst/>
                </a:prstGeom>
                <a:blipFill>
                  <a:blip r:embed="rId13"/>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wc1">
                <a:extLst>
                  <a:ext uri="{FF2B5EF4-FFF2-40B4-BE49-F238E27FC236}">
                    <a16:creationId xmlns:a16="http://schemas.microsoft.com/office/drawing/2014/main" id="{5CADC978-2300-CAAF-BFB5-A282F8F8D5D3}"/>
                  </a:ext>
                </a:extLst>
              </p:cNvPr>
              <p:cNvSpPr txBox="1"/>
              <p:nvPr/>
            </p:nvSpPr>
            <p:spPr>
              <a:xfrm>
                <a:off x="2547327" y="1882540"/>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27" name="wc1">
                <a:extLst>
                  <a:ext uri="{FF2B5EF4-FFF2-40B4-BE49-F238E27FC236}">
                    <a16:creationId xmlns:a16="http://schemas.microsoft.com/office/drawing/2014/main" id="{5CADC978-2300-CAAF-BFB5-A282F8F8D5D3}"/>
                  </a:ext>
                </a:extLst>
              </p:cNvPr>
              <p:cNvSpPr txBox="1">
                <a:spLocks noRot="1" noChangeAspect="1" noMove="1" noResize="1" noEditPoints="1" noAdjustHandles="1" noChangeArrowheads="1" noChangeShapeType="1" noTextEdit="1"/>
              </p:cNvSpPr>
              <p:nvPr/>
            </p:nvSpPr>
            <p:spPr>
              <a:xfrm>
                <a:off x="2547327" y="1882540"/>
                <a:ext cx="801225" cy="524695"/>
              </a:xfrm>
              <a:prstGeom prst="rect">
                <a:avLst/>
              </a:prstGeom>
              <a:blipFill>
                <a:blip r:embed="rId14"/>
                <a:stretch>
                  <a:fillRect/>
                </a:stretch>
              </a:blipFill>
            </p:spPr>
            <p:txBody>
              <a:bodyPr/>
              <a:lstStyle/>
              <a:p>
                <a:r>
                  <a:rPr lang="zh-CN" altLang="en-US">
                    <a:noFill/>
                  </a:rPr>
                  <a:t> </a:t>
                </a:r>
              </a:p>
            </p:txBody>
          </p:sp>
        </mc:Fallback>
      </mc:AlternateContent>
      <p:sp>
        <p:nvSpPr>
          <p:cNvPr id="34" name="幅相">
            <a:extLst>
              <a:ext uri="{FF2B5EF4-FFF2-40B4-BE49-F238E27FC236}">
                <a16:creationId xmlns:a16="http://schemas.microsoft.com/office/drawing/2014/main" id="{F8E23D80-4427-A293-1DB3-FB0FA5F74C8C}"/>
              </a:ext>
            </a:extLst>
          </p:cNvPr>
          <p:cNvSpPr/>
          <p:nvPr/>
        </p:nvSpPr>
        <p:spPr>
          <a:xfrm flipV="1">
            <a:off x="8219504" y="2882368"/>
            <a:ext cx="2176009" cy="128179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Lst>
            <a:ahLst/>
            <a:cxnLst>
              <a:cxn ang="0">
                <a:pos x="connsiteX0" y="connsiteY0"/>
              </a:cxn>
              <a:cxn ang="0">
                <a:pos x="connsiteX1" y="connsiteY1"/>
              </a:cxn>
            </a:cxnLst>
            <a:rect l="l" t="t" r="r" b="b"/>
            <a:pathLst>
              <a:path w="1603942" h="1585424">
                <a:moveTo>
                  <a:pt x="0" y="1083032"/>
                </a:moveTo>
                <a:cubicBezTo>
                  <a:pt x="474049" y="2044700"/>
                  <a:pt x="1622323" y="1594537"/>
                  <a:pt x="1603719" y="0"/>
                </a:cubicBezTo>
              </a:path>
            </a:pathLst>
          </a:custGeom>
          <a:noFill/>
          <a:ln w="38100">
            <a:solidFill>
              <a:srgbClr val="768395"/>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幅相">
            <a:extLst>
              <a:ext uri="{FF2B5EF4-FFF2-40B4-BE49-F238E27FC236}">
                <a16:creationId xmlns:a16="http://schemas.microsoft.com/office/drawing/2014/main" id="{05F986A9-A0A1-BB30-155D-8174DC9B3E60}"/>
              </a:ext>
            </a:extLst>
          </p:cNvPr>
          <p:cNvSpPr/>
          <p:nvPr/>
        </p:nvSpPr>
        <p:spPr>
          <a:xfrm>
            <a:off x="7823398" y="3824062"/>
            <a:ext cx="456652" cy="126112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Lst>
            <a:ahLst/>
            <a:cxnLst>
              <a:cxn ang="0">
                <a:pos x="connsiteX0" y="connsiteY0"/>
              </a:cxn>
              <a:cxn ang="0">
                <a:pos x="connsiteX1" y="connsiteY1"/>
              </a:cxn>
            </a:cxnLst>
            <a:rect l="l" t="t" r="r" b="b"/>
            <a:pathLst>
              <a:path w="336599" h="1559862">
                <a:moveTo>
                  <a:pt x="322844" y="453380"/>
                </a:moveTo>
                <a:cubicBezTo>
                  <a:pt x="243862" y="-672964"/>
                  <a:pt x="-370651" y="529884"/>
                  <a:pt x="336599" y="1559862"/>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208000" y="4136114"/>
            <a:ext cx="2176009" cy="128179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Lst>
            <a:ahLst/>
            <a:cxnLst>
              <a:cxn ang="0">
                <a:pos x="connsiteX0" y="connsiteY0"/>
              </a:cxn>
              <a:cxn ang="0">
                <a:pos x="connsiteX1" y="connsiteY1"/>
              </a:cxn>
            </a:cxnLst>
            <a:rect l="l" t="t" r="r" b="b"/>
            <a:pathLst>
              <a:path w="1603942" h="1585424">
                <a:moveTo>
                  <a:pt x="0" y="1083032"/>
                </a:moveTo>
                <a:cubicBezTo>
                  <a:pt x="474049" y="2044700"/>
                  <a:pt x="1622323" y="1594537"/>
                  <a:pt x="1603719" y="0"/>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8777836" y="547028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8777836" y="5470287"/>
                <a:ext cx="545352" cy="524695"/>
              </a:xfrm>
              <a:prstGeom prst="rect">
                <a:avLst/>
              </a:prstGeom>
              <a:blipFill>
                <a:blip r:embed="rId15"/>
                <a:stretch>
                  <a:fillRect r="-4651"/>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183438" y="4098336"/>
            <a:ext cx="122752" cy="122752"/>
          </a:xfrm>
          <a:prstGeom prst="ellipse">
            <a:avLst/>
          </a:prstGeom>
          <a:solidFill>
            <a:srgbClr val="7683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260256" y="414579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2</m:t>
                          </m:r>
                        </m:e>
                      </m:d>
                    </m:oMath>
                  </m:oMathPara>
                </a14:m>
                <a:endParaRPr lang="zh-CN" altLang="en-US" sz="2800" dirty="0">
                  <a:solidFill>
                    <a:srgbClr val="768395"/>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260256" y="4145797"/>
                <a:ext cx="545352" cy="524695"/>
              </a:xfrm>
              <a:prstGeom prst="rect">
                <a:avLst/>
              </a:prstGeom>
              <a:blipFill>
                <a:blip r:embed="rId16"/>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9948303" y="2660301"/>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3</m:t>
                          </m:r>
                        </m:e>
                      </m:d>
                    </m:oMath>
                  </m:oMathPara>
                </a14:m>
                <a:endParaRPr lang="zh-CN" altLang="en-US" sz="2800" dirty="0">
                  <a:solidFill>
                    <a:srgbClr val="768395"/>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9948303" y="2660301"/>
                <a:ext cx="545352" cy="524695"/>
              </a:xfrm>
              <a:prstGeom prst="rect">
                <a:avLst/>
              </a:prstGeom>
              <a:blipFill>
                <a:blip r:embed="rId17"/>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label2">
                <a:extLst>
                  <a:ext uri="{FF2B5EF4-FFF2-40B4-BE49-F238E27FC236}">
                    <a16:creationId xmlns:a16="http://schemas.microsoft.com/office/drawing/2014/main" id="{72D607C2-7E92-8C3F-B09A-140E515E001F}"/>
                  </a:ext>
                </a:extLst>
              </p:cNvPr>
              <p:cNvSpPr txBox="1"/>
              <p:nvPr/>
            </p:nvSpPr>
            <p:spPr>
              <a:xfrm>
                <a:off x="6770113"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57" name="label2">
                <a:extLst>
                  <a:ext uri="{FF2B5EF4-FFF2-40B4-BE49-F238E27FC236}">
                    <a16:creationId xmlns:a16="http://schemas.microsoft.com/office/drawing/2014/main" id="{72D607C2-7E92-8C3F-B09A-140E515E001F}"/>
                  </a:ext>
                </a:extLst>
              </p:cNvPr>
              <p:cNvSpPr txBox="1">
                <a:spLocks noRot="1" noChangeAspect="1" noMove="1" noResize="1" noEditPoints="1" noAdjustHandles="1" noChangeArrowheads="1" noChangeShapeType="1" noTextEdit="1"/>
              </p:cNvSpPr>
              <p:nvPr/>
            </p:nvSpPr>
            <p:spPr>
              <a:xfrm>
                <a:off x="6770113" y="4268706"/>
                <a:ext cx="801225" cy="523220"/>
              </a:xfrm>
              <a:prstGeom prst="rect">
                <a:avLst/>
              </a:prstGeom>
              <a:blipFill>
                <a:blip r:embed="rId18"/>
                <a:stretch>
                  <a:fillRect/>
                </a:stretch>
              </a:blipFill>
            </p:spPr>
            <p:txBody>
              <a:bodyPr/>
              <a:lstStyle/>
              <a:p>
                <a:r>
                  <a:rPr lang="zh-CN" altLang="en-US">
                    <a:noFill/>
                  </a:rPr>
                  <a:t> </a:t>
                </a:r>
              </a:p>
            </p:txBody>
          </p:sp>
        </mc:Fallback>
      </mc:AlternateContent>
      <p:sp>
        <p:nvSpPr>
          <p:cNvPr id="58" name="极点2">
            <a:extLst>
              <a:ext uri="{FF2B5EF4-FFF2-40B4-BE49-F238E27FC236}">
                <a16:creationId xmlns:a16="http://schemas.microsoft.com/office/drawing/2014/main" id="{6E7A3B35-7AA8-1F40-E4A5-46FD81CAF695}"/>
              </a:ext>
            </a:extLst>
          </p:cNvPr>
          <p:cNvSpPr/>
          <p:nvPr/>
        </p:nvSpPr>
        <p:spPr>
          <a:xfrm>
            <a:off x="7073453"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8F00A56-39D2-C9FF-2756-BF3E97BB4F77}"/>
                  </a:ext>
                </a:extLst>
              </p:cNvPr>
              <p:cNvSpPr txBox="1"/>
              <p:nvPr/>
            </p:nvSpPr>
            <p:spPr>
              <a:xfrm>
                <a:off x="4614227" y="5253284"/>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𝑅</m:t>
                      </m:r>
                      <m:r>
                        <a:rPr lang="en-US" altLang="zh-CN" sz="2800" b="0" i="1" smtClean="0">
                          <a:solidFill>
                            <a:schemeClr val="tx1"/>
                          </a:solidFill>
                          <a:latin typeface="Cambria Math" panose="02040503050406030204" pitchFamily="18" charset="0"/>
                        </a:rPr>
                        <m:t>=0=</m:t>
                      </m:r>
                      <m:r>
                        <a:rPr lang="en-US" altLang="zh-CN" sz="2800" b="0" i="1" smtClean="0">
                          <a:solidFill>
                            <a:schemeClr val="tx1"/>
                          </a:solidFill>
                          <a:latin typeface="Cambria Math" panose="02040503050406030204" pitchFamily="18" charset="0"/>
                        </a:rPr>
                        <m:t>𝑃</m:t>
                      </m:r>
                    </m:oMath>
                  </m:oMathPara>
                </a14:m>
                <a:endParaRPr lang="zh-CN" altLang="en-US" sz="2800" dirty="0">
                  <a:solidFill>
                    <a:schemeClr val="tx1"/>
                  </a:solidFill>
                </a:endParaRPr>
              </a:p>
            </p:txBody>
          </p:sp>
        </mc:Choice>
        <mc:Fallback xmlns="">
          <p:sp>
            <p:nvSpPr>
              <p:cNvPr id="3" name="文本框 2">
                <a:extLst>
                  <a:ext uri="{FF2B5EF4-FFF2-40B4-BE49-F238E27FC236}">
                    <a16:creationId xmlns:a16="http://schemas.microsoft.com/office/drawing/2014/main" id="{58F00A56-39D2-C9FF-2756-BF3E97BB4F77}"/>
                  </a:ext>
                </a:extLst>
              </p:cNvPr>
              <p:cNvSpPr txBox="1">
                <a:spLocks noRot="1" noChangeAspect="1" noMove="1" noResize="1" noEditPoints="1" noAdjustHandles="1" noChangeArrowheads="1" noChangeShapeType="1" noTextEdit="1"/>
              </p:cNvSpPr>
              <p:nvPr/>
            </p:nvSpPr>
            <p:spPr>
              <a:xfrm>
                <a:off x="4614227" y="5253284"/>
                <a:ext cx="2326647" cy="523220"/>
              </a:xfrm>
              <a:prstGeom prst="rect">
                <a:avLst/>
              </a:prstGeom>
              <a:blipFill>
                <a:blip r:embed="rId19"/>
                <a:stretch>
                  <a:fillRect/>
                </a:stretch>
              </a:blipFill>
            </p:spPr>
            <p:txBody>
              <a:bodyPr/>
              <a:lstStyle/>
              <a:p>
                <a:r>
                  <a:rPr lang="zh-CN" altLang="en-US">
                    <a:noFill/>
                  </a:rPr>
                  <a:t> </a:t>
                </a:r>
              </a:p>
            </p:txBody>
          </p:sp>
        </mc:Fallback>
      </mc:AlternateContent>
      <p:sp>
        <p:nvSpPr>
          <p:cNvPr id="5" name="小标题1">
            <a:extLst>
              <a:ext uri="{FF2B5EF4-FFF2-40B4-BE49-F238E27FC236}">
                <a16:creationId xmlns:a16="http://schemas.microsoft.com/office/drawing/2014/main" id="{C76A114D-C850-8051-1E62-9196C9FD543D}"/>
              </a:ext>
            </a:extLst>
          </p:cNvPr>
          <p:cNvSpPr/>
          <p:nvPr/>
        </p:nvSpPr>
        <p:spPr bwMode="auto">
          <a:xfrm>
            <a:off x="5051797" y="5850827"/>
            <a:ext cx="1410354"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稳定</a:t>
            </a:r>
          </a:p>
        </p:txBody>
      </p:sp>
    </p:spTree>
    <p:extLst>
      <p:ext uri="{BB962C8B-B14F-4D97-AF65-F5344CB8AC3E}">
        <p14:creationId xmlns:p14="http://schemas.microsoft.com/office/powerpoint/2010/main" val="7148470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判定</a:t>
            </a:r>
            <a:r>
              <a:rPr lang="en-US" altLang="zh-CN" sz="2800" b="1" dirty="0">
                <a:solidFill>
                  <a:schemeClr val="bg1"/>
                </a:solidFill>
                <a:latin typeface="微软雅黑" panose="020B0503020204020204" pitchFamily="34" charset="-122"/>
                <a:ea typeface="微软雅黑" panose="020B0503020204020204" pitchFamily="34" charset="-122"/>
              </a:rPr>
              <a:t>I</a:t>
            </a:r>
            <a:r>
              <a:rPr lang="zh-CN" altLang="en-US" sz="2800" b="1" dirty="0">
                <a:solidFill>
                  <a:schemeClr val="bg1"/>
                </a:solidFill>
                <a:latin typeface="微软雅黑" panose="020B0503020204020204" pitchFamily="34" charset="-122"/>
                <a:ea typeface="微软雅黑" panose="020B0503020204020204" pitchFamily="34" charset="-122"/>
              </a:rPr>
              <a:t>型系统稳定性</a:t>
            </a:r>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406779"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406779" y="1891237"/>
                <a:ext cx="801225" cy="524695"/>
              </a:xfrm>
              <a:prstGeom prst="rect">
                <a:avLst/>
              </a:prstGeom>
              <a:blipFill>
                <a:blip r:embed="rId3"/>
                <a:stretch>
                  <a:fillRect r="-3125"/>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6588427"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3" name="label2">
                <a:extLst>
                  <a:ext uri="{FF2B5EF4-FFF2-40B4-BE49-F238E27FC236}">
                    <a16:creationId xmlns:a16="http://schemas.microsoft.com/office/drawing/2014/main" id="{5EFF7C26-62BD-82A6-17CA-51A8F0110784}"/>
                  </a:ext>
                </a:extLst>
              </p:cNvPr>
              <p:cNvSpPr txBox="1"/>
              <p:nvPr/>
            </p:nvSpPr>
            <p:spPr>
              <a:xfrm>
                <a:off x="6770113"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63" name="label2">
                <a:extLst>
                  <a:ext uri="{FF2B5EF4-FFF2-40B4-BE49-F238E27FC236}">
                    <a16:creationId xmlns:a16="http://schemas.microsoft.com/office/drawing/2014/main" id="{5EFF7C26-62BD-82A6-17CA-51A8F0110784}"/>
                  </a:ext>
                </a:extLst>
              </p:cNvPr>
              <p:cNvSpPr txBox="1">
                <a:spLocks noRot="1" noChangeAspect="1" noMove="1" noResize="1" noEditPoints="1" noAdjustHandles="1" noChangeArrowheads="1" noChangeShapeType="1" noTextEdit="1"/>
              </p:cNvSpPr>
              <p:nvPr/>
            </p:nvSpPr>
            <p:spPr>
              <a:xfrm>
                <a:off x="6770113" y="4268706"/>
                <a:ext cx="801225" cy="52322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9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r>
                            <a:rPr lang="en-US" altLang="zh-CN" sz="2800" b="0" i="1" smtClean="0">
                              <a:solidFill>
                                <a:schemeClr val="tx1"/>
                              </a:solidFill>
                              <a:latin typeface="Cambria Math" panose="02040503050406030204" pitchFamily="18" charset="0"/>
                            </a:rPr>
                            <m:t>𝑠</m:t>
                          </m:r>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1</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2</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9433"/>
              </a:xfrm>
              <a:prstGeom prst="rect">
                <a:avLst/>
              </a:prstGeom>
              <a:blipFill>
                <a:blip r:embed="rId7"/>
                <a:stretch>
                  <a:fillRect b="-3896"/>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994D3405-C224-29C9-A948-656257DFBA4B}"/>
              </a:ext>
            </a:extLst>
          </p:cNvPr>
          <p:cNvGrpSpPr/>
          <p:nvPr/>
        </p:nvGrpSpPr>
        <p:grpSpPr>
          <a:xfrm>
            <a:off x="766614" y="1891237"/>
            <a:ext cx="4343493" cy="4418083"/>
            <a:chOff x="7080305" y="1516316"/>
            <a:chExt cx="4343493" cy="4418083"/>
          </a:xfrm>
        </p:grpSpPr>
        <p:grpSp>
          <p:nvGrpSpPr>
            <p:cNvPr id="6" name="坐标轴">
              <a:extLst>
                <a:ext uri="{FF2B5EF4-FFF2-40B4-BE49-F238E27FC236}">
                  <a16:creationId xmlns:a16="http://schemas.microsoft.com/office/drawing/2014/main" id="{4AB902D0-AD77-2FAC-001A-D30F5A5FFABD}"/>
                </a:ext>
              </a:extLst>
            </p:cNvPr>
            <p:cNvGrpSpPr/>
            <p:nvPr/>
          </p:nvGrpSpPr>
          <p:grpSpPr>
            <a:xfrm>
              <a:off x="7997028" y="1516316"/>
              <a:ext cx="3426770" cy="4418083"/>
              <a:chOff x="8390928" y="2461626"/>
              <a:chExt cx="3426770" cy="4418083"/>
            </a:xfrm>
          </p:grpSpPr>
          <p:cxnSp>
            <p:nvCxnSpPr>
              <p:cNvPr id="21" name="实轴">
                <a:extLst>
                  <a:ext uri="{FF2B5EF4-FFF2-40B4-BE49-F238E27FC236}">
                    <a16:creationId xmlns:a16="http://schemas.microsoft.com/office/drawing/2014/main" id="{ACC8922D-1522-36F7-060B-B920A1ABF0B9}"/>
                  </a:ext>
                </a:extLst>
              </p:cNvPr>
              <p:cNvCxnSpPr>
                <a:cxnSpLocks/>
              </p:cNvCxnSpPr>
              <p:nvPr/>
            </p:nvCxnSpPr>
            <p:spPr>
              <a:xfrm flipH="1">
                <a:off x="9188397" y="4734350"/>
                <a:ext cx="260071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虚轴">
                <a:extLst>
                  <a:ext uri="{FF2B5EF4-FFF2-40B4-BE49-F238E27FC236}">
                    <a16:creationId xmlns:a16="http://schemas.microsoft.com/office/drawing/2014/main" id="{DD3D7083-07D6-FF78-4F42-E379ABED4544}"/>
                  </a:ext>
                </a:extLst>
              </p:cNvPr>
              <p:cNvCxnSpPr>
                <a:cxnSpLocks/>
              </p:cNvCxnSpPr>
              <p:nvPr/>
            </p:nvCxnSpPr>
            <p:spPr>
              <a:xfrm flipV="1">
                <a:off x="9196819" y="2461626"/>
                <a:ext cx="0" cy="441808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
                    <a:extLst>
                      <a:ext uri="{FF2B5EF4-FFF2-40B4-BE49-F238E27FC236}">
                        <a16:creationId xmlns:a16="http://schemas.microsoft.com/office/drawing/2014/main" id="{9C6CAAC8-AB04-B618-A9F5-670CC130EBD0}"/>
                      </a:ext>
                    </a:extLst>
                  </p:cNvPr>
                  <p:cNvSpPr txBox="1"/>
                  <p:nvPr/>
                </p:nvSpPr>
                <p:spPr>
                  <a:xfrm>
                    <a:off x="11241162" y="486673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24" name="Re">
                    <a:extLst>
                      <a:ext uri="{FF2B5EF4-FFF2-40B4-BE49-F238E27FC236}">
                        <a16:creationId xmlns:a16="http://schemas.microsoft.com/office/drawing/2014/main" id="{9C6CAAC8-AB04-B618-A9F5-670CC130EBD0}"/>
                      </a:ext>
                    </a:extLst>
                  </p:cNvPr>
                  <p:cNvSpPr txBox="1">
                    <a:spLocks noRot="1" noChangeAspect="1" noMove="1" noResize="1" noEditPoints="1" noAdjustHandles="1" noChangeArrowheads="1" noChangeShapeType="1" noTextEdit="1"/>
                  </p:cNvSpPr>
                  <p:nvPr/>
                </p:nvSpPr>
                <p:spPr>
                  <a:xfrm>
                    <a:off x="11241162" y="4866732"/>
                    <a:ext cx="576536" cy="523220"/>
                  </a:xfrm>
                  <a:prstGeom prst="rect">
                    <a:avLst/>
                  </a:prstGeom>
                  <a:blipFill>
                    <a:blip r:embed="rId8"/>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Im">
                    <a:extLst>
                      <a:ext uri="{FF2B5EF4-FFF2-40B4-BE49-F238E27FC236}">
                        <a16:creationId xmlns:a16="http://schemas.microsoft.com/office/drawing/2014/main" id="{12DBA807-E647-DBF1-310D-E2620D3CE453}"/>
                      </a:ext>
                    </a:extLst>
                  </p:cNvPr>
                  <p:cNvSpPr txBox="1"/>
                  <p:nvPr/>
                </p:nvSpPr>
                <p:spPr>
                  <a:xfrm>
                    <a:off x="8390928" y="246162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25" name="Im">
                    <a:extLst>
                      <a:ext uri="{FF2B5EF4-FFF2-40B4-BE49-F238E27FC236}">
                        <a16:creationId xmlns:a16="http://schemas.microsoft.com/office/drawing/2014/main" id="{12DBA807-E647-DBF1-310D-E2620D3CE453}"/>
                      </a:ext>
                    </a:extLst>
                  </p:cNvPr>
                  <p:cNvSpPr txBox="1">
                    <a:spLocks noRot="1" noChangeAspect="1" noMove="1" noResize="1" noEditPoints="1" noAdjustHandles="1" noChangeArrowheads="1" noChangeShapeType="1" noTextEdit="1"/>
                  </p:cNvSpPr>
                  <p:nvPr/>
                </p:nvSpPr>
                <p:spPr>
                  <a:xfrm>
                    <a:off x="8390928" y="2461626"/>
                    <a:ext cx="576536" cy="523220"/>
                  </a:xfrm>
                  <a:prstGeom prst="rect">
                    <a:avLst/>
                  </a:prstGeom>
                  <a:blipFill>
                    <a:blip r:embed="rId9"/>
                    <a:stretch>
                      <a:fillRect l="-4255"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原点">
                    <a:extLst>
                      <a:ext uri="{FF2B5EF4-FFF2-40B4-BE49-F238E27FC236}">
                        <a16:creationId xmlns:a16="http://schemas.microsoft.com/office/drawing/2014/main" id="{B6093241-A06D-0BAC-6B26-84A5A59093E5}"/>
                      </a:ext>
                    </a:extLst>
                  </p:cNvPr>
                  <p:cNvSpPr txBox="1"/>
                  <p:nvPr/>
                </p:nvSpPr>
                <p:spPr>
                  <a:xfrm>
                    <a:off x="8620755" y="470650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26" name="原点">
                    <a:extLst>
                      <a:ext uri="{FF2B5EF4-FFF2-40B4-BE49-F238E27FC236}">
                        <a16:creationId xmlns:a16="http://schemas.microsoft.com/office/drawing/2014/main" id="{B6093241-A06D-0BAC-6B26-84A5A59093E5}"/>
                      </a:ext>
                    </a:extLst>
                  </p:cNvPr>
                  <p:cNvSpPr txBox="1">
                    <a:spLocks noRot="1" noChangeAspect="1" noMove="1" noResize="1" noEditPoints="1" noAdjustHandles="1" noChangeArrowheads="1" noChangeShapeType="1" noTextEdit="1"/>
                  </p:cNvSpPr>
                  <p:nvPr/>
                </p:nvSpPr>
                <p:spPr>
                  <a:xfrm>
                    <a:off x="8620755" y="4706503"/>
                    <a:ext cx="545352" cy="524695"/>
                  </a:xfrm>
                  <a:prstGeom prst="rect">
                    <a:avLst/>
                  </a:prstGeom>
                  <a:blipFill>
                    <a:blip r:embed="rId10"/>
                    <a:stretch>
                      <a:fillRect/>
                    </a:stretch>
                  </a:blipFill>
                </p:spPr>
                <p:txBody>
                  <a:bodyPr/>
                  <a:lstStyle/>
                  <a:p>
                    <a:r>
                      <a:rPr lang="zh-CN" altLang="en-US">
                        <a:noFill/>
                      </a:rPr>
                      <a:t> </a:t>
                    </a:r>
                  </a:p>
                </p:txBody>
              </p:sp>
            </mc:Fallback>
          </mc:AlternateContent>
        </p:grpSp>
        <p:sp>
          <p:nvSpPr>
            <p:cNvPr id="8" name="弧 7">
              <a:extLst>
                <a:ext uri="{FF2B5EF4-FFF2-40B4-BE49-F238E27FC236}">
                  <a16:creationId xmlns:a16="http://schemas.microsoft.com/office/drawing/2014/main" id="{D07A5511-1B5C-F61C-A671-8D0B7A6429BC}"/>
                </a:ext>
              </a:extLst>
            </p:cNvPr>
            <p:cNvSpPr/>
            <p:nvPr/>
          </p:nvSpPr>
          <p:spPr>
            <a:xfrm>
              <a:off x="7098104" y="2106078"/>
              <a:ext cx="3392792" cy="3392792"/>
            </a:xfrm>
            <a:prstGeom prst="arc">
              <a:avLst/>
            </a:prstGeom>
            <a:ln w="38100">
              <a:solidFill>
                <a:srgbClr val="768395"/>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弧 8">
              <a:extLst>
                <a:ext uri="{FF2B5EF4-FFF2-40B4-BE49-F238E27FC236}">
                  <a16:creationId xmlns:a16="http://schemas.microsoft.com/office/drawing/2014/main" id="{39C228D9-D4A5-A537-F001-A6F2C4CBD3EA}"/>
                </a:ext>
              </a:extLst>
            </p:cNvPr>
            <p:cNvSpPr/>
            <p:nvPr/>
          </p:nvSpPr>
          <p:spPr>
            <a:xfrm rot="5400000">
              <a:off x="7080305" y="2107323"/>
              <a:ext cx="3392792" cy="3392792"/>
            </a:xfrm>
            <a:prstGeom prst="arc">
              <a:avLst/>
            </a:prstGeom>
            <a:ln w="38100">
              <a:solidFill>
                <a:srgbClr val="768395"/>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2" name="虚轴">
              <a:extLst>
                <a:ext uri="{FF2B5EF4-FFF2-40B4-BE49-F238E27FC236}">
                  <a16:creationId xmlns:a16="http://schemas.microsoft.com/office/drawing/2014/main" id="{16840FED-4399-C176-11DE-A39C70B1366A}"/>
                </a:ext>
              </a:extLst>
            </p:cNvPr>
            <p:cNvCxnSpPr>
              <a:cxnSpLocks/>
            </p:cNvCxnSpPr>
            <p:nvPr/>
          </p:nvCxnSpPr>
          <p:spPr>
            <a:xfrm flipV="1">
              <a:off x="8802919" y="2041011"/>
              <a:ext cx="0" cy="1013068"/>
            </a:xfrm>
            <a:prstGeom prst="straightConnector1">
              <a:avLst/>
            </a:prstGeom>
            <a:ln w="38100">
              <a:solidFill>
                <a:srgbClr val="E448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虚轴">
              <a:extLst>
                <a:ext uri="{FF2B5EF4-FFF2-40B4-BE49-F238E27FC236}">
                  <a16:creationId xmlns:a16="http://schemas.microsoft.com/office/drawing/2014/main" id="{C2F8787F-84AF-228C-1A19-6CB82650A169}"/>
                </a:ext>
              </a:extLst>
            </p:cNvPr>
            <p:cNvCxnSpPr>
              <a:cxnSpLocks/>
            </p:cNvCxnSpPr>
            <p:nvPr/>
          </p:nvCxnSpPr>
          <p:spPr>
            <a:xfrm flipV="1">
              <a:off x="8802919" y="4522516"/>
              <a:ext cx="0" cy="976354"/>
            </a:xfrm>
            <a:prstGeom prst="straightConnector1">
              <a:avLst/>
            </a:prstGeom>
            <a:ln w="38100">
              <a:solidFill>
                <a:srgbClr val="768395"/>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原点">
                  <a:extLst>
                    <a:ext uri="{FF2B5EF4-FFF2-40B4-BE49-F238E27FC236}">
                      <a16:creationId xmlns:a16="http://schemas.microsoft.com/office/drawing/2014/main" id="{70844F8D-33A3-7E54-0DB1-5BCF8111FCFF}"/>
                    </a:ext>
                  </a:extLst>
                </p:cNvPr>
                <p:cNvSpPr txBox="1"/>
                <p:nvPr/>
              </p:nvSpPr>
              <p:spPr>
                <a:xfrm>
                  <a:off x="8129860" y="273947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4" name="原点">
                  <a:extLst>
                    <a:ext uri="{FF2B5EF4-FFF2-40B4-BE49-F238E27FC236}">
                      <a16:creationId xmlns:a16="http://schemas.microsoft.com/office/drawing/2014/main" id="{70844F8D-33A3-7E54-0DB1-5BCF8111FCFF}"/>
                    </a:ext>
                  </a:extLst>
                </p:cNvPr>
                <p:cNvSpPr txBox="1">
                  <a:spLocks noRot="1" noChangeAspect="1" noMove="1" noResize="1" noEditPoints="1" noAdjustHandles="1" noChangeArrowheads="1" noChangeShapeType="1" noTextEdit="1"/>
                </p:cNvSpPr>
                <p:nvPr/>
              </p:nvSpPr>
              <p:spPr>
                <a:xfrm>
                  <a:off x="8129860" y="2739473"/>
                  <a:ext cx="545352" cy="524695"/>
                </a:xfrm>
                <a:prstGeom prst="rect">
                  <a:avLst/>
                </a:prstGeom>
                <a:blipFill>
                  <a:blip r:embed="rId11"/>
                  <a:stretch>
                    <a:fillRect r="-46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原点">
                  <a:extLst>
                    <a:ext uri="{FF2B5EF4-FFF2-40B4-BE49-F238E27FC236}">
                      <a16:creationId xmlns:a16="http://schemas.microsoft.com/office/drawing/2014/main" id="{CD3ECA48-C979-F318-350E-5FDD2568CF0A}"/>
                    </a:ext>
                  </a:extLst>
                </p:cNvPr>
                <p:cNvSpPr txBox="1"/>
                <p:nvPr/>
              </p:nvSpPr>
              <p:spPr>
                <a:xfrm>
                  <a:off x="10574586" y="3166652"/>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2</m:t>
                            </m:r>
                          </m:e>
                        </m:d>
                      </m:oMath>
                    </m:oMathPara>
                  </a14:m>
                  <a:endParaRPr lang="zh-CN" altLang="en-US" sz="2800" dirty="0">
                    <a:solidFill>
                      <a:srgbClr val="768395"/>
                    </a:solidFill>
                  </a:endParaRPr>
                </a:p>
              </p:txBody>
            </p:sp>
          </mc:Choice>
          <mc:Fallback xmlns="">
            <p:sp>
              <p:nvSpPr>
                <p:cNvPr id="15" name="原点">
                  <a:extLst>
                    <a:ext uri="{FF2B5EF4-FFF2-40B4-BE49-F238E27FC236}">
                      <a16:creationId xmlns:a16="http://schemas.microsoft.com/office/drawing/2014/main" id="{CD3ECA48-C979-F318-350E-5FDD2568CF0A}"/>
                    </a:ext>
                  </a:extLst>
                </p:cNvPr>
                <p:cNvSpPr txBox="1">
                  <a:spLocks noRot="1" noChangeAspect="1" noMove="1" noResize="1" noEditPoints="1" noAdjustHandles="1" noChangeArrowheads="1" noChangeShapeType="1" noTextEdit="1"/>
                </p:cNvSpPr>
                <p:nvPr/>
              </p:nvSpPr>
              <p:spPr>
                <a:xfrm>
                  <a:off x="10574586" y="3166652"/>
                  <a:ext cx="545352" cy="524695"/>
                </a:xfrm>
                <a:prstGeom prst="rect">
                  <a:avLst/>
                </a:prstGeom>
                <a:blipFill>
                  <a:blip r:embed="rId12"/>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D251A143-5F50-FAD8-DE38-8E3DF82DFFAA}"/>
                    </a:ext>
                  </a:extLst>
                </p:cNvPr>
                <p:cNvSpPr txBox="1"/>
                <p:nvPr/>
              </p:nvSpPr>
              <p:spPr>
                <a:xfrm>
                  <a:off x="8123977" y="481170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3</m:t>
                            </m:r>
                          </m:e>
                        </m:d>
                      </m:oMath>
                    </m:oMathPara>
                  </a14:m>
                  <a:endParaRPr lang="zh-CN" altLang="en-US" sz="2800" dirty="0">
                    <a:solidFill>
                      <a:srgbClr val="768395"/>
                    </a:solidFill>
                  </a:endParaRPr>
                </a:p>
              </p:txBody>
            </p:sp>
          </mc:Choice>
          <mc:Fallback xmlns="">
            <p:sp>
              <p:nvSpPr>
                <p:cNvPr id="16" name="原点">
                  <a:extLst>
                    <a:ext uri="{FF2B5EF4-FFF2-40B4-BE49-F238E27FC236}">
                      <a16:creationId xmlns:a16="http://schemas.microsoft.com/office/drawing/2014/main" id="{D251A143-5F50-FAD8-DE38-8E3DF82DFFAA}"/>
                    </a:ext>
                  </a:extLst>
                </p:cNvPr>
                <p:cNvSpPr txBox="1">
                  <a:spLocks noRot="1" noChangeAspect="1" noMove="1" noResize="1" noEditPoints="1" noAdjustHandles="1" noChangeArrowheads="1" noChangeShapeType="1" noTextEdit="1"/>
                </p:cNvSpPr>
                <p:nvPr/>
              </p:nvSpPr>
              <p:spPr>
                <a:xfrm>
                  <a:off x="8123977" y="4811700"/>
                  <a:ext cx="545352" cy="524695"/>
                </a:xfrm>
                <a:prstGeom prst="rect">
                  <a:avLst/>
                </a:prstGeom>
                <a:blipFill>
                  <a:blip r:embed="rId13"/>
                  <a:stretch>
                    <a:fillRect r="-2273"/>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wc1">
                <a:extLst>
                  <a:ext uri="{FF2B5EF4-FFF2-40B4-BE49-F238E27FC236}">
                    <a16:creationId xmlns:a16="http://schemas.microsoft.com/office/drawing/2014/main" id="{5CADC978-2300-CAAF-BFB5-A282F8F8D5D3}"/>
                  </a:ext>
                </a:extLst>
              </p:cNvPr>
              <p:cNvSpPr txBox="1"/>
              <p:nvPr/>
            </p:nvSpPr>
            <p:spPr>
              <a:xfrm>
                <a:off x="2547327" y="1882540"/>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27" name="wc1">
                <a:extLst>
                  <a:ext uri="{FF2B5EF4-FFF2-40B4-BE49-F238E27FC236}">
                    <a16:creationId xmlns:a16="http://schemas.microsoft.com/office/drawing/2014/main" id="{5CADC978-2300-CAAF-BFB5-A282F8F8D5D3}"/>
                  </a:ext>
                </a:extLst>
              </p:cNvPr>
              <p:cNvSpPr txBox="1">
                <a:spLocks noRot="1" noChangeAspect="1" noMove="1" noResize="1" noEditPoints="1" noAdjustHandles="1" noChangeArrowheads="1" noChangeShapeType="1" noTextEdit="1"/>
              </p:cNvSpPr>
              <p:nvPr/>
            </p:nvSpPr>
            <p:spPr>
              <a:xfrm>
                <a:off x="2547327" y="1882540"/>
                <a:ext cx="801225" cy="524695"/>
              </a:xfrm>
              <a:prstGeom prst="rect">
                <a:avLst/>
              </a:prstGeom>
              <a:blipFill>
                <a:blip r:embed="rId14"/>
                <a:stretch>
                  <a:fillRect/>
                </a:stretch>
              </a:blipFill>
            </p:spPr>
            <p:txBody>
              <a:bodyPr/>
              <a:lstStyle/>
              <a:p>
                <a:r>
                  <a:rPr lang="zh-CN" altLang="en-US">
                    <a:noFill/>
                  </a:rPr>
                  <a:t> </a:t>
                </a:r>
              </a:p>
            </p:txBody>
          </p:sp>
        </mc:Fallback>
      </mc:AlternateContent>
      <p:sp>
        <p:nvSpPr>
          <p:cNvPr id="36" name="幅相">
            <a:extLst>
              <a:ext uri="{FF2B5EF4-FFF2-40B4-BE49-F238E27FC236}">
                <a16:creationId xmlns:a16="http://schemas.microsoft.com/office/drawing/2014/main" id="{05F986A9-A0A1-BB30-155D-8174DC9B3E60}"/>
              </a:ext>
            </a:extLst>
          </p:cNvPr>
          <p:cNvSpPr/>
          <p:nvPr/>
        </p:nvSpPr>
        <p:spPr>
          <a:xfrm>
            <a:off x="7278563" y="3886368"/>
            <a:ext cx="982826" cy="1663276"/>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Lst>
            <a:ahLst/>
            <a:cxnLst>
              <a:cxn ang="0">
                <a:pos x="connsiteX0" y="connsiteY0"/>
              </a:cxn>
              <a:cxn ang="0">
                <a:pos x="connsiteX1" y="connsiteY1"/>
              </a:cxn>
            </a:cxnLst>
            <a:rect l="l" t="t" r="r" b="b"/>
            <a:pathLst>
              <a:path w="724443" h="2057279">
                <a:moveTo>
                  <a:pt x="724443" y="376317"/>
                </a:moveTo>
                <a:cubicBezTo>
                  <a:pt x="645461" y="-750027"/>
                  <a:pt x="9550" y="901634"/>
                  <a:pt x="0" y="2057279"/>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266059" y="4136114"/>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6544973" y="535334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6544973" y="5353344"/>
                <a:ext cx="545352" cy="524695"/>
              </a:xfrm>
              <a:prstGeom prst="rect">
                <a:avLst/>
              </a:prstGeom>
              <a:blipFill>
                <a:blip r:embed="rId15"/>
                <a:stretch>
                  <a:fillRect r="-2273"/>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183438" y="4098336"/>
            <a:ext cx="122752" cy="122752"/>
          </a:xfrm>
          <a:prstGeom prst="ellipse">
            <a:avLst/>
          </a:prstGeom>
          <a:solidFill>
            <a:srgbClr val="7683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260256" y="4145797"/>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2</m:t>
                          </m:r>
                        </m:e>
                      </m:d>
                    </m:oMath>
                  </m:oMathPara>
                </a14:m>
                <a:endParaRPr lang="zh-CN" altLang="en-US" sz="2800" dirty="0">
                  <a:solidFill>
                    <a:srgbClr val="768395"/>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260256" y="4145797"/>
                <a:ext cx="545352" cy="524695"/>
              </a:xfrm>
              <a:prstGeom prst="rect">
                <a:avLst/>
              </a:prstGeom>
              <a:blipFill>
                <a:blip r:embed="rId16"/>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6585268" y="248971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768395"/>
                              </a:solidFill>
                              <a:latin typeface="Cambria Math" panose="02040503050406030204" pitchFamily="18" charset="0"/>
                            </a:rPr>
                          </m:ctrlPr>
                        </m:dPr>
                        <m:e>
                          <m:r>
                            <a:rPr lang="en-US" altLang="zh-CN" sz="2800" b="0" i="1" smtClean="0">
                              <a:solidFill>
                                <a:srgbClr val="768395"/>
                              </a:solidFill>
                              <a:latin typeface="Cambria Math" panose="02040503050406030204" pitchFamily="18" charset="0"/>
                            </a:rPr>
                            <m:t>3</m:t>
                          </m:r>
                        </m:e>
                      </m:d>
                    </m:oMath>
                  </m:oMathPara>
                </a14:m>
                <a:endParaRPr lang="zh-CN" altLang="en-US" sz="2800" dirty="0">
                  <a:solidFill>
                    <a:srgbClr val="768395"/>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6585268" y="2489710"/>
                <a:ext cx="545352" cy="524695"/>
              </a:xfrm>
              <a:prstGeom prst="rect">
                <a:avLst/>
              </a:prstGeom>
              <a:blipFill>
                <a:blip r:embed="rId17"/>
                <a:stretch>
                  <a:fillRect r="-2273"/>
                </a:stretch>
              </a:blipFill>
            </p:spPr>
            <p:txBody>
              <a:bodyPr/>
              <a:lstStyle/>
              <a:p>
                <a:r>
                  <a:rPr lang="zh-CN" altLang="en-US">
                    <a:noFill/>
                  </a:rPr>
                  <a:t> </a:t>
                </a:r>
              </a:p>
            </p:txBody>
          </p:sp>
        </mc:Fallback>
      </mc:AlternateContent>
      <p:sp>
        <p:nvSpPr>
          <p:cNvPr id="3" name="弧 2">
            <a:extLst>
              <a:ext uri="{FF2B5EF4-FFF2-40B4-BE49-F238E27FC236}">
                <a16:creationId xmlns:a16="http://schemas.microsoft.com/office/drawing/2014/main" id="{7FC63BE3-F30A-5C40-C9DC-27AE9AB7DD5F}"/>
              </a:ext>
            </a:extLst>
          </p:cNvPr>
          <p:cNvSpPr/>
          <p:nvPr/>
        </p:nvSpPr>
        <p:spPr>
          <a:xfrm rot="5400000">
            <a:off x="1683596" y="3403697"/>
            <a:ext cx="1549098" cy="1549098"/>
          </a:xfrm>
          <a:prstGeom prst="arc">
            <a:avLst>
              <a:gd name="adj1" fmla="val 10855401"/>
              <a:gd name="adj2" fmla="val 0"/>
            </a:avLst>
          </a:prstGeom>
          <a:ln w="38100">
            <a:solidFill>
              <a:srgbClr val="F6973B"/>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11" name="虚轴">
            <a:extLst>
              <a:ext uri="{FF2B5EF4-FFF2-40B4-BE49-F238E27FC236}">
                <a16:creationId xmlns:a16="http://schemas.microsoft.com/office/drawing/2014/main" id="{E21DE6BE-78B5-6A2F-663F-A9541EA71DBE}"/>
              </a:ext>
            </a:extLst>
          </p:cNvPr>
          <p:cNvCxnSpPr>
            <a:cxnSpLocks/>
            <a:endCxn id="36" idx="1"/>
          </p:cNvCxnSpPr>
          <p:nvPr/>
        </p:nvCxnSpPr>
        <p:spPr>
          <a:xfrm flipH="1" flipV="1">
            <a:off x="7278563" y="5549644"/>
            <a:ext cx="981693" cy="274884"/>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幅相">
            <a:extLst>
              <a:ext uri="{FF2B5EF4-FFF2-40B4-BE49-F238E27FC236}">
                <a16:creationId xmlns:a16="http://schemas.microsoft.com/office/drawing/2014/main" id="{C52B1C95-DFE1-9A10-EF35-24BC07C4F31F}"/>
              </a:ext>
            </a:extLst>
          </p:cNvPr>
          <p:cNvSpPr/>
          <p:nvPr/>
        </p:nvSpPr>
        <p:spPr>
          <a:xfrm flipV="1">
            <a:off x="7272620" y="2845844"/>
            <a:ext cx="982826" cy="1663276"/>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Lst>
            <a:ahLst/>
            <a:cxnLst>
              <a:cxn ang="0">
                <a:pos x="connsiteX0" y="connsiteY0"/>
              </a:cxn>
              <a:cxn ang="0">
                <a:pos x="connsiteX1" y="connsiteY1"/>
              </a:cxn>
            </a:cxnLst>
            <a:rect l="l" t="t" r="r" b="b"/>
            <a:pathLst>
              <a:path w="724443" h="2057279">
                <a:moveTo>
                  <a:pt x="724443" y="376317"/>
                </a:moveTo>
                <a:cubicBezTo>
                  <a:pt x="645461" y="-750027"/>
                  <a:pt x="9550" y="901634"/>
                  <a:pt x="0" y="2057279"/>
                </a:cubicBezTo>
              </a:path>
            </a:pathLst>
          </a:custGeom>
          <a:noFill/>
          <a:ln w="38100">
            <a:solidFill>
              <a:srgbClr val="768395"/>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幅相">
            <a:extLst>
              <a:ext uri="{FF2B5EF4-FFF2-40B4-BE49-F238E27FC236}">
                <a16:creationId xmlns:a16="http://schemas.microsoft.com/office/drawing/2014/main" id="{6551D872-9049-9C76-9992-1DD47676EF41}"/>
              </a:ext>
            </a:extLst>
          </p:cNvPr>
          <p:cNvSpPr/>
          <p:nvPr/>
        </p:nvSpPr>
        <p:spPr>
          <a:xfrm flipV="1">
            <a:off x="8255446" y="2460666"/>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768395"/>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1" name="虚轴">
            <a:extLst>
              <a:ext uri="{FF2B5EF4-FFF2-40B4-BE49-F238E27FC236}">
                <a16:creationId xmlns:a16="http://schemas.microsoft.com/office/drawing/2014/main" id="{45B86277-9AC7-C551-1CB3-BE50DA597C39}"/>
              </a:ext>
            </a:extLst>
          </p:cNvPr>
          <p:cNvCxnSpPr>
            <a:cxnSpLocks/>
            <a:endCxn id="22" idx="1"/>
          </p:cNvCxnSpPr>
          <p:nvPr/>
        </p:nvCxnSpPr>
        <p:spPr>
          <a:xfrm flipH="1">
            <a:off x="7272620" y="2480999"/>
            <a:ext cx="982826" cy="364845"/>
          </a:xfrm>
          <a:prstGeom prst="straightConnector1">
            <a:avLst/>
          </a:prstGeom>
          <a:ln w="38100">
            <a:solidFill>
              <a:srgbClr val="768395"/>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原点">
                <a:extLst>
                  <a:ext uri="{FF2B5EF4-FFF2-40B4-BE49-F238E27FC236}">
                    <a16:creationId xmlns:a16="http://schemas.microsoft.com/office/drawing/2014/main" id="{DB708534-07B5-B93F-3889-6EC8B5C31F3A}"/>
                  </a:ext>
                </a:extLst>
              </p:cNvPr>
              <p:cNvSpPr txBox="1"/>
              <p:nvPr/>
            </p:nvSpPr>
            <p:spPr>
              <a:xfrm>
                <a:off x="3147908" y="353413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43" name="原点">
                <a:extLst>
                  <a:ext uri="{FF2B5EF4-FFF2-40B4-BE49-F238E27FC236}">
                    <a16:creationId xmlns:a16="http://schemas.microsoft.com/office/drawing/2014/main" id="{DB708534-07B5-B93F-3889-6EC8B5C31F3A}"/>
                  </a:ext>
                </a:extLst>
              </p:cNvPr>
              <p:cNvSpPr txBox="1">
                <a:spLocks noRot="1" noChangeAspect="1" noMove="1" noResize="1" noEditPoints="1" noAdjustHandles="1" noChangeArrowheads="1" noChangeShapeType="1" noTextEdit="1"/>
              </p:cNvSpPr>
              <p:nvPr/>
            </p:nvSpPr>
            <p:spPr>
              <a:xfrm>
                <a:off x="3147908" y="3534133"/>
                <a:ext cx="545352" cy="524695"/>
              </a:xfrm>
              <a:prstGeom prst="rect">
                <a:avLst/>
              </a:prstGeom>
              <a:blipFill>
                <a:blip r:embed="rId18"/>
                <a:stretch>
                  <a:fillRect r="-2273"/>
                </a:stretch>
              </a:blipFill>
            </p:spPr>
            <p:txBody>
              <a:bodyPr/>
              <a:lstStyle/>
              <a:p>
                <a:r>
                  <a:rPr lang="zh-CN" altLang="en-US">
                    <a:noFill/>
                  </a:rPr>
                  <a:t> </a:t>
                </a:r>
              </a:p>
            </p:txBody>
          </p:sp>
        </mc:Fallback>
      </mc:AlternateContent>
      <p:sp>
        <p:nvSpPr>
          <p:cNvPr id="44" name="极点2">
            <a:extLst>
              <a:ext uri="{FF2B5EF4-FFF2-40B4-BE49-F238E27FC236}">
                <a16:creationId xmlns:a16="http://schemas.microsoft.com/office/drawing/2014/main" id="{F4FA21BA-A8DB-F829-1DF7-F1CE6B5CDBC3}"/>
              </a:ext>
            </a:extLst>
          </p:cNvPr>
          <p:cNvSpPr/>
          <p:nvPr/>
        </p:nvSpPr>
        <p:spPr>
          <a:xfrm>
            <a:off x="7073453"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47" name="原点">
                <a:extLst>
                  <a:ext uri="{FF2B5EF4-FFF2-40B4-BE49-F238E27FC236}">
                    <a16:creationId xmlns:a16="http://schemas.microsoft.com/office/drawing/2014/main" id="{8D62F76C-4F32-EFA7-DE1A-D998F2EF6520}"/>
                  </a:ext>
                </a:extLst>
              </p:cNvPr>
              <p:cNvSpPr txBox="1"/>
              <p:nvPr/>
            </p:nvSpPr>
            <p:spPr>
              <a:xfrm>
                <a:off x="10373484" y="3095001"/>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47" name="原点">
                <a:extLst>
                  <a:ext uri="{FF2B5EF4-FFF2-40B4-BE49-F238E27FC236}">
                    <a16:creationId xmlns:a16="http://schemas.microsoft.com/office/drawing/2014/main" id="{8D62F76C-4F32-EFA7-DE1A-D998F2EF6520}"/>
                  </a:ext>
                </a:extLst>
              </p:cNvPr>
              <p:cNvSpPr txBox="1">
                <a:spLocks noRot="1" noChangeAspect="1" noMove="1" noResize="1" noEditPoints="1" noAdjustHandles="1" noChangeArrowheads="1" noChangeShapeType="1" noTextEdit="1"/>
              </p:cNvSpPr>
              <p:nvPr/>
            </p:nvSpPr>
            <p:spPr>
              <a:xfrm>
                <a:off x="10373484" y="3095001"/>
                <a:ext cx="545352" cy="524695"/>
              </a:xfrm>
              <a:prstGeom prst="rect">
                <a:avLst/>
              </a:prstGeom>
              <a:blipFill>
                <a:blip r:embed="rId19"/>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38F1809-4352-38AB-58A3-F234F830FB17}"/>
                  </a:ext>
                </a:extLst>
              </p:cNvPr>
              <p:cNvSpPr txBox="1"/>
              <p:nvPr/>
            </p:nvSpPr>
            <p:spPr>
              <a:xfrm>
                <a:off x="4614227" y="5253284"/>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𝑅</m:t>
                      </m:r>
                      <m:r>
                        <a:rPr lang="en-US" altLang="zh-CN" sz="2800" b="0" i="1" smtClean="0">
                          <a:solidFill>
                            <a:schemeClr val="tx1"/>
                          </a:solidFill>
                          <a:latin typeface="Cambria Math" panose="02040503050406030204" pitchFamily="18" charset="0"/>
                        </a:rPr>
                        <m:t>=0=</m:t>
                      </m:r>
                      <m:r>
                        <a:rPr lang="en-US" altLang="zh-CN" sz="2800" b="0" i="1" smtClean="0">
                          <a:solidFill>
                            <a:schemeClr val="tx1"/>
                          </a:solidFill>
                          <a:latin typeface="Cambria Math" panose="02040503050406030204" pitchFamily="18" charset="0"/>
                        </a:rPr>
                        <m:t>𝑃</m:t>
                      </m:r>
                    </m:oMath>
                  </m:oMathPara>
                </a14:m>
                <a:endParaRPr lang="zh-CN" altLang="en-US" sz="2800" dirty="0">
                  <a:solidFill>
                    <a:schemeClr val="tx1"/>
                  </a:solidFill>
                </a:endParaRPr>
              </a:p>
            </p:txBody>
          </p:sp>
        </mc:Choice>
        <mc:Fallback xmlns="">
          <p:sp>
            <p:nvSpPr>
              <p:cNvPr id="5" name="文本框 4">
                <a:extLst>
                  <a:ext uri="{FF2B5EF4-FFF2-40B4-BE49-F238E27FC236}">
                    <a16:creationId xmlns:a16="http://schemas.microsoft.com/office/drawing/2014/main" id="{038F1809-4352-38AB-58A3-F234F830FB17}"/>
                  </a:ext>
                </a:extLst>
              </p:cNvPr>
              <p:cNvSpPr txBox="1">
                <a:spLocks noRot="1" noChangeAspect="1" noMove="1" noResize="1" noEditPoints="1" noAdjustHandles="1" noChangeArrowheads="1" noChangeShapeType="1" noTextEdit="1"/>
              </p:cNvSpPr>
              <p:nvPr/>
            </p:nvSpPr>
            <p:spPr>
              <a:xfrm>
                <a:off x="4614227" y="5253284"/>
                <a:ext cx="2326647" cy="523220"/>
              </a:xfrm>
              <a:prstGeom prst="rect">
                <a:avLst/>
              </a:prstGeom>
              <a:blipFill>
                <a:blip r:embed="rId20"/>
                <a:stretch>
                  <a:fillRect/>
                </a:stretch>
              </a:blipFill>
            </p:spPr>
            <p:txBody>
              <a:bodyPr/>
              <a:lstStyle/>
              <a:p>
                <a:r>
                  <a:rPr lang="zh-CN" altLang="en-US">
                    <a:noFill/>
                  </a:rPr>
                  <a:t> </a:t>
                </a:r>
              </a:p>
            </p:txBody>
          </p:sp>
        </mc:Fallback>
      </mc:AlternateContent>
      <p:sp>
        <p:nvSpPr>
          <p:cNvPr id="7" name="小标题1">
            <a:extLst>
              <a:ext uri="{FF2B5EF4-FFF2-40B4-BE49-F238E27FC236}">
                <a16:creationId xmlns:a16="http://schemas.microsoft.com/office/drawing/2014/main" id="{53B0F686-C618-B5FA-D12B-A0202728E72E}"/>
              </a:ext>
            </a:extLst>
          </p:cNvPr>
          <p:cNvSpPr/>
          <p:nvPr/>
        </p:nvSpPr>
        <p:spPr bwMode="auto">
          <a:xfrm>
            <a:off x="5051797" y="5850827"/>
            <a:ext cx="1410354"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稳定</a:t>
            </a:r>
          </a:p>
        </p:txBody>
      </p:sp>
    </p:spTree>
    <p:extLst>
      <p:ext uri="{BB962C8B-B14F-4D97-AF65-F5344CB8AC3E}">
        <p14:creationId xmlns:p14="http://schemas.microsoft.com/office/powerpoint/2010/main" val="2678552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绘制</a:t>
            </a:r>
            <a:r>
              <a:rPr lang="en-US" altLang="zh-CN" sz="2800" b="1" dirty="0">
                <a:solidFill>
                  <a:schemeClr val="bg1"/>
                </a:solidFill>
                <a:latin typeface="微软雅黑" panose="020B0503020204020204" pitchFamily="34" charset="-122"/>
                <a:ea typeface="微软雅黑" panose="020B0503020204020204" pitchFamily="34" charset="-122"/>
              </a:rPr>
              <a:t>III</a:t>
            </a:r>
            <a:r>
              <a:rPr lang="zh-CN" altLang="en-US" sz="2800" b="1" dirty="0">
                <a:solidFill>
                  <a:schemeClr val="bg1"/>
                </a:solidFill>
                <a:latin typeface="微软雅黑" panose="020B0503020204020204" pitchFamily="34" charset="-122"/>
                <a:ea typeface="微软雅黑" panose="020B0503020204020204" pitchFamily="34" charset="-122"/>
              </a:rPr>
              <a:t>型系统奈奎斯特图</a:t>
            </a:r>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96F2B485-9392-97DA-A917-91C41F32A1BF}"/>
                  </a:ext>
                </a:extLst>
              </p:cNvPr>
              <p:cNvSpPr txBox="1"/>
              <p:nvPr/>
            </p:nvSpPr>
            <p:spPr>
              <a:xfrm>
                <a:off x="8930832"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46" name="wc1">
                <a:extLst>
                  <a:ext uri="{FF2B5EF4-FFF2-40B4-BE49-F238E27FC236}">
                    <a16:creationId xmlns:a16="http://schemas.microsoft.com/office/drawing/2014/main" id="{96F2B485-9392-97DA-A917-91C41F32A1BF}"/>
                  </a:ext>
                </a:extLst>
              </p:cNvPr>
              <p:cNvSpPr txBox="1">
                <a:spLocks noRot="1" noChangeAspect="1" noMove="1" noResize="1" noEditPoints="1" noAdjustHandles="1" noChangeArrowheads="1" noChangeShapeType="1" noTextEdit="1"/>
              </p:cNvSpPr>
              <p:nvPr/>
            </p:nvSpPr>
            <p:spPr>
              <a:xfrm>
                <a:off x="8930832" y="1891237"/>
                <a:ext cx="801225" cy="524695"/>
              </a:xfrm>
              <a:prstGeom prst="rect">
                <a:avLst/>
              </a:prstGeom>
              <a:blipFill>
                <a:blip r:embed="rId3"/>
                <a:stretch>
                  <a:fillRect r="-1563"/>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78BF8EAD-BC16-C0E2-8C49-DBDB1A570865}"/>
              </a:ext>
            </a:extLst>
          </p:cNvPr>
          <p:cNvGrpSpPr/>
          <p:nvPr/>
        </p:nvGrpSpPr>
        <p:grpSpPr>
          <a:xfrm>
            <a:off x="7112480" y="1892712"/>
            <a:ext cx="4815374" cy="4416608"/>
            <a:chOff x="7604456" y="2319867"/>
            <a:chExt cx="4815374" cy="4416608"/>
          </a:xfrm>
        </p:grpSpPr>
        <p:cxnSp>
          <p:nvCxnSpPr>
            <p:cNvPr id="28" name="实轴">
              <a:extLst>
                <a:ext uri="{FF2B5EF4-FFF2-40B4-BE49-F238E27FC236}">
                  <a16:creationId xmlns:a16="http://schemas.microsoft.com/office/drawing/2014/main" id="{0B3FFAE2-5E10-D833-BE14-F71AEA2F80FC}"/>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2D56FA3E-C5BF-E59D-04A5-04623EA2FE16}"/>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7D056F90-5A90-5AC2-0BB4-EC2B82239901}"/>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Im">
                  <a:extLst>
                    <a:ext uri="{FF2B5EF4-FFF2-40B4-BE49-F238E27FC236}">
                      <a16:creationId xmlns:a16="http://schemas.microsoft.com/office/drawing/2014/main" id="{B15195EC-160D-2BB3-C29E-0FE76F5C6D27}"/>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4255" r="-851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3" name="label2">
                <a:extLst>
                  <a:ext uri="{FF2B5EF4-FFF2-40B4-BE49-F238E27FC236}">
                    <a16:creationId xmlns:a16="http://schemas.microsoft.com/office/drawing/2014/main" id="{5EFF7C26-62BD-82A6-17CA-51A8F0110784}"/>
                  </a:ext>
                </a:extLst>
              </p:cNvPr>
              <p:cNvSpPr txBox="1"/>
              <p:nvPr/>
            </p:nvSpPr>
            <p:spPr>
              <a:xfrm>
                <a:off x="7294166"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63" name="label2">
                <a:extLst>
                  <a:ext uri="{FF2B5EF4-FFF2-40B4-BE49-F238E27FC236}">
                    <a16:creationId xmlns:a16="http://schemas.microsoft.com/office/drawing/2014/main" id="{5EFF7C26-62BD-82A6-17CA-51A8F0110784}"/>
                  </a:ext>
                </a:extLst>
              </p:cNvPr>
              <p:cNvSpPr txBox="1">
                <a:spLocks noRot="1" noChangeAspect="1" noMove="1" noResize="1" noEditPoints="1" noAdjustHandles="1" noChangeArrowheads="1" noChangeShapeType="1" noTextEdit="1"/>
              </p:cNvSpPr>
              <p:nvPr/>
            </p:nvSpPr>
            <p:spPr>
              <a:xfrm>
                <a:off x="7294166" y="4268706"/>
                <a:ext cx="801225" cy="52322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0FC9A6-8DB5-1A82-44D2-BCEB93671426}"/>
                  </a:ext>
                </a:extLst>
              </p:cNvPr>
              <p:cNvSpPr txBox="1"/>
              <p:nvPr/>
            </p:nvSpPr>
            <p:spPr>
              <a:xfrm>
                <a:off x="3093506" y="868638"/>
                <a:ext cx="6462726" cy="969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1">
                          <a:latin typeface="Cambria Math" panose="02040503050406030204" pitchFamily="18" charset="0"/>
                        </a:rPr>
                        <m:t>𝐻</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sSup>
                            <m:sSupPr>
                              <m:ctrlPr>
                                <a:rPr lang="en-US" altLang="zh-CN" sz="2800" b="0" i="1" smtClean="0">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𝑠</m:t>
                              </m:r>
                            </m:e>
                            <m:sup>
                              <m:r>
                                <a:rPr lang="en-US" altLang="zh-CN" sz="2800" b="0" i="1" smtClean="0">
                                  <a:solidFill>
                                    <a:schemeClr val="tx1"/>
                                  </a:solidFill>
                                  <a:latin typeface="Cambria Math" panose="02040503050406030204" pitchFamily="18" charset="0"/>
                                </a:rPr>
                                <m:t>2</m:t>
                              </m:r>
                            </m:sup>
                          </m:sSup>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𝑇𝑠</m:t>
                              </m:r>
                              <m:r>
                                <a:rPr lang="en-US" altLang="zh-CN" sz="2800" b="0" i="1" smtClean="0">
                                  <a:solidFill>
                                    <a:schemeClr val="tx1"/>
                                  </a:solidFill>
                                  <a:latin typeface="Cambria Math" panose="02040503050406030204" pitchFamily="18" charset="0"/>
                                </a:rPr>
                                <m:t>+1</m:t>
                              </m:r>
                            </m:e>
                          </m:d>
                        </m:den>
                      </m:f>
                    </m:oMath>
                  </m:oMathPara>
                </a14:m>
                <a:endParaRPr lang="zh-CN" altLang="en-US" sz="2800" dirty="0">
                  <a:solidFill>
                    <a:schemeClr val="tx1"/>
                  </a:solidFill>
                </a:endParaRPr>
              </a:p>
            </p:txBody>
          </p:sp>
        </mc:Choice>
        <mc:Fallback xmlns="">
          <p:sp>
            <p:nvSpPr>
              <p:cNvPr id="2" name="文本框 1">
                <a:extLst>
                  <a:ext uri="{FF2B5EF4-FFF2-40B4-BE49-F238E27FC236}">
                    <a16:creationId xmlns:a16="http://schemas.microsoft.com/office/drawing/2014/main" id="{040FC9A6-8DB5-1A82-44D2-BCEB93671426}"/>
                  </a:ext>
                </a:extLst>
              </p:cNvPr>
              <p:cNvSpPr txBox="1">
                <a:spLocks noRot="1" noChangeAspect="1" noMove="1" noResize="1" noEditPoints="1" noAdjustHandles="1" noChangeArrowheads="1" noChangeShapeType="1" noTextEdit="1"/>
              </p:cNvSpPr>
              <p:nvPr/>
            </p:nvSpPr>
            <p:spPr>
              <a:xfrm>
                <a:off x="3093506" y="868638"/>
                <a:ext cx="6462726" cy="969433"/>
              </a:xfrm>
              <a:prstGeom prst="rect">
                <a:avLst/>
              </a:prstGeom>
              <a:blipFill>
                <a:blip r:embed="rId7"/>
                <a:stretch>
                  <a:fillRect/>
                </a:stretch>
              </a:blipFill>
            </p:spPr>
            <p:txBody>
              <a:bodyPr/>
              <a:lstStyle/>
              <a:p>
                <a:r>
                  <a:rPr lang="zh-CN" altLang="en-US">
                    <a:noFill/>
                  </a:rPr>
                  <a:t> </a:t>
                </a:r>
              </a:p>
            </p:txBody>
          </p:sp>
        </mc:Fallback>
      </mc:AlternateContent>
      <p:sp>
        <p:nvSpPr>
          <p:cNvPr id="36" name="幅相">
            <a:extLst>
              <a:ext uri="{FF2B5EF4-FFF2-40B4-BE49-F238E27FC236}">
                <a16:creationId xmlns:a16="http://schemas.microsoft.com/office/drawing/2014/main" id="{05F986A9-A0A1-BB30-155D-8174DC9B3E60}"/>
              </a:ext>
            </a:extLst>
          </p:cNvPr>
          <p:cNvSpPr/>
          <p:nvPr/>
        </p:nvSpPr>
        <p:spPr>
          <a:xfrm>
            <a:off x="7114358" y="3559622"/>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幅相">
            <a:extLst>
              <a:ext uri="{FF2B5EF4-FFF2-40B4-BE49-F238E27FC236}">
                <a16:creationId xmlns:a16="http://schemas.microsoft.com/office/drawing/2014/main" id="{6E5853B1-4FAF-5BC7-4D7B-7228C7EEEAEE}"/>
              </a:ext>
            </a:extLst>
          </p:cNvPr>
          <p:cNvSpPr/>
          <p:nvPr/>
        </p:nvSpPr>
        <p:spPr>
          <a:xfrm>
            <a:off x="8790112" y="4136114"/>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673BF66E-3C74-DAFE-FEED-F2F47CCC68C3}"/>
                  </a:ext>
                </a:extLst>
              </p:cNvPr>
              <p:cNvSpPr txBox="1"/>
              <p:nvPr/>
            </p:nvSpPr>
            <p:spPr>
              <a:xfrm>
                <a:off x="7472092" y="297488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40" name="原点">
                <a:extLst>
                  <a:ext uri="{FF2B5EF4-FFF2-40B4-BE49-F238E27FC236}">
                    <a16:creationId xmlns:a16="http://schemas.microsoft.com/office/drawing/2014/main" id="{673BF66E-3C74-DAFE-FEED-F2F47CCC68C3}"/>
                  </a:ext>
                </a:extLst>
              </p:cNvPr>
              <p:cNvSpPr txBox="1">
                <a:spLocks noRot="1" noChangeAspect="1" noMove="1" noResize="1" noEditPoints="1" noAdjustHandles="1" noChangeArrowheads="1" noChangeShapeType="1" noTextEdit="1"/>
              </p:cNvSpPr>
              <p:nvPr/>
            </p:nvSpPr>
            <p:spPr>
              <a:xfrm>
                <a:off x="7472092" y="2974880"/>
                <a:ext cx="545352" cy="524695"/>
              </a:xfrm>
              <a:prstGeom prst="rect">
                <a:avLst/>
              </a:prstGeom>
              <a:blipFill>
                <a:blip r:embed="rId8"/>
                <a:stretch>
                  <a:fillRect r="-2273"/>
                </a:stretch>
              </a:blipFill>
            </p:spPr>
            <p:txBody>
              <a:bodyPr/>
              <a:lstStyle/>
              <a:p>
                <a:r>
                  <a:rPr lang="zh-CN" altLang="en-US">
                    <a:noFill/>
                  </a:rPr>
                  <a:t> </a:t>
                </a:r>
              </a:p>
            </p:txBody>
          </p:sp>
        </mc:Fallback>
      </mc:AlternateContent>
      <p:sp>
        <p:nvSpPr>
          <p:cNvPr id="41" name="wg交点2">
            <a:extLst>
              <a:ext uri="{FF2B5EF4-FFF2-40B4-BE49-F238E27FC236}">
                <a16:creationId xmlns:a16="http://schemas.microsoft.com/office/drawing/2014/main" id="{D68C6D20-1AAE-E219-FA14-4BFF00A68A29}"/>
              </a:ext>
            </a:extLst>
          </p:cNvPr>
          <p:cNvSpPr/>
          <p:nvPr/>
        </p:nvSpPr>
        <p:spPr>
          <a:xfrm>
            <a:off x="8707491" y="4098336"/>
            <a:ext cx="122752" cy="122752"/>
          </a:xfrm>
          <a:prstGeom prst="ellipse">
            <a:avLst/>
          </a:prstGeom>
          <a:solidFill>
            <a:srgbClr val="7683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2" name="原点">
                <a:extLst>
                  <a:ext uri="{FF2B5EF4-FFF2-40B4-BE49-F238E27FC236}">
                    <a16:creationId xmlns:a16="http://schemas.microsoft.com/office/drawing/2014/main" id="{AA3CDBD5-7DEC-6A71-6D92-EFD8EE126C4B}"/>
                  </a:ext>
                </a:extLst>
              </p:cNvPr>
              <p:cNvSpPr txBox="1"/>
              <p:nvPr/>
            </p:nvSpPr>
            <p:spPr>
              <a:xfrm>
                <a:off x="8899496" y="415569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2</m:t>
                          </m:r>
                        </m:e>
                      </m:d>
                    </m:oMath>
                  </m:oMathPara>
                </a14:m>
                <a:endParaRPr lang="zh-CN" altLang="en-US" sz="2800" dirty="0">
                  <a:solidFill>
                    <a:srgbClr val="F6973B"/>
                  </a:solidFill>
                </a:endParaRPr>
              </a:p>
            </p:txBody>
          </p:sp>
        </mc:Choice>
        <mc:Fallback xmlns="">
          <p:sp>
            <p:nvSpPr>
              <p:cNvPr id="42" name="原点">
                <a:extLst>
                  <a:ext uri="{FF2B5EF4-FFF2-40B4-BE49-F238E27FC236}">
                    <a16:creationId xmlns:a16="http://schemas.microsoft.com/office/drawing/2014/main" id="{AA3CDBD5-7DEC-6A71-6D92-EFD8EE126C4B}"/>
                  </a:ext>
                </a:extLst>
              </p:cNvPr>
              <p:cNvSpPr txBox="1">
                <a:spLocks noRot="1" noChangeAspect="1" noMove="1" noResize="1" noEditPoints="1" noAdjustHandles="1" noChangeArrowheads="1" noChangeShapeType="1" noTextEdit="1"/>
              </p:cNvSpPr>
              <p:nvPr/>
            </p:nvSpPr>
            <p:spPr>
              <a:xfrm>
                <a:off x="8899496" y="4155693"/>
                <a:ext cx="545352" cy="524695"/>
              </a:xfrm>
              <a:prstGeom prst="rect">
                <a:avLst/>
              </a:prstGeom>
              <a:blipFill>
                <a:blip r:embed="rId9"/>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原点">
                <a:extLst>
                  <a:ext uri="{FF2B5EF4-FFF2-40B4-BE49-F238E27FC236}">
                    <a16:creationId xmlns:a16="http://schemas.microsoft.com/office/drawing/2014/main" id="{AACCD310-A6D7-8A38-2A0A-91DBBBD157B6}"/>
                  </a:ext>
                </a:extLst>
              </p:cNvPr>
              <p:cNvSpPr txBox="1"/>
              <p:nvPr/>
            </p:nvSpPr>
            <p:spPr>
              <a:xfrm>
                <a:off x="7509250" y="478668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3</m:t>
                          </m:r>
                        </m:e>
                      </m:d>
                    </m:oMath>
                  </m:oMathPara>
                </a14:m>
                <a:endParaRPr lang="zh-CN" altLang="en-US" sz="2800" dirty="0">
                  <a:solidFill>
                    <a:srgbClr val="F6973B"/>
                  </a:solidFill>
                </a:endParaRPr>
              </a:p>
            </p:txBody>
          </p:sp>
        </mc:Choice>
        <mc:Fallback xmlns="">
          <p:sp>
            <p:nvSpPr>
              <p:cNvPr id="50" name="原点">
                <a:extLst>
                  <a:ext uri="{FF2B5EF4-FFF2-40B4-BE49-F238E27FC236}">
                    <a16:creationId xmlns:a16="http://schemas.microsoft.com/office/drawing/2014/main" id="{AACCD310-A6D7-8A38-2A0A-91DBBBD157B6}"/>
                  </a:ext>
                </a:extLst>
              </p:cNvPr>
              <p:cNvSpPr txBox="1">
                <a:spLocks noRot="1" noChangeAspect="1" noMove="1" noResize="1" noEditPoints="1" noAdjustHandles="1" noChangeArrowheads="1" noChangeShapeType="1" noTextEdit="1"/>
              </p:cNvSpPr>
              <p:nvPr/>
            </p:nvSpPr>
            <p:spPr>
              <a:xfrm>
                <a:off x="7509250" y="4786684"/>
                <a:ext cx="545352" cy="524695"/>
              </a:xfrm>
              <a:prstGeom prst="rect">
                <a:avLst/>
              </a:prstGeom>
              <a:blipFill>
                <a:blip r:embed="rId10"/>
                <a:stretch>
                  <a:fillRect r="-2273"/>
                </a:stretch>
              </a:blipFill>
            </p:spPr>
            <p:txBody>
              <a:bodyPr/>
              <a:lstStyle/>
              <a:p>
                <a:r>
                  <a:rPr lang="zh-CN" altLang="en-US">
                    <a:noFill/>
                  </a:rPr>
                  <a:t> </a:t>
                </a:r>
              </a:p>
            </p:txBody>
          </p:sp>
        </mc:Fallback>
      </mc:AlternateContent>
      <p:sp>
        <p:nvSpPr>
          <p:cNvPr id="30" name="幅相">
            <a:extLst>
              <a:ext uri="{FF2B5EF4-FFF2-40B4-BE49-F238E27FC236}">
                <a16:creationId xmlns:a16="http://schemas.microsoft.com/office/drawing/2014/main" id="{6551D872-9049-9C76-9992-1DD47676EF41}"/>
              </a:ext>
            </a:extLst>
          </p:cNvPr>
          <p:cNvSpPr/>
          <p:nvPr/>
        </p:nvSpPr>
        <p:spPr>
          <a:xfrm flipV="1">
            <a:off x="8779499" y="2460666"/>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768395"/>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4" name="极点2">
            <a:extLst>
              <a:ext uri="{FF2B5EF4-FFF2-40B4-BE49-F238E27FC236}">
                <a16:creationId xmlns:a16="http://schemas.microsoft.com/office/drawing/2014/main" id="{F4FA21BA-A8DB-F829-1DF7-F1CE6B5CDBC3}"/>
              </a:ext>
            </a:extLst>
          </p:cNvPr>
          <p:cNvSpPr/>
          <p:nvPr/>
        </p:nvSpPr>
        <p:spPr>
          <a:xfrm>
            <a:off x="7597506"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5" name="幅相">
            <a:extLst>
              <a:ext uri="{FF2B5EF4-FFF2-40B4-BE49-F238E27FC236}">
                <a16:creationId xmlns:a16="http://schemas.microsoft.com/office/drawing/2014/main" id="{98A7C403-2391-A6A9-7CE4-E5F716AA9A13}"/>
              </a:ext>
            </a:extLst>
          </p:cNvPr>
          <p:cNvSpPr/>
          <p:nvPr/>
        </p:nvSpPr>
        <p:spPr>
          <a:xfrm>
            <a:off x="6587934" y="4156198"/>
            <a:ext cx="2183160" cy="168349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609208"/>
              <a:gd name="connsiteY0" fmla="*/ 0 h 2082289"/>
              <a:gd name="connsiteX1" fmla="*/ 1609208 w 1609208"/>
              <a:gd name="connsiteY1" fmla="*/ 2082289 h 2082289"/>
            </a:gdLst>
            <a:ahLst/>
            <a:cxnLst>
              <a:cxn ang="0">
                <a:pos x="connsiteX0" y="connsiteY0"/>
              </a:cxn>
              <a:cxn ang="0">
                <a:pos x="connsiteX1" y="connsiteY1"/>
              </a:cxn>
            </a:cxnLst>
            <a:rect l="l" t="t" r="r" b="b"/>
            <a:pathLst>
              <a:path w="1609208" h="2082289">
                <a:moveTo>
                  <a:pt x="0" y="0"/>
                </a:moveTo>
                <a:cubicBezTo>
                  <a:pt x="15234" y="1014053"/>
                  <a:pt x="698344" y="2069813"/>
                  <a:pt x="1609208" y="2082289"/>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7" name="虚轴">
            <a:extLst>
              <a:ext uri="{FF2B5EF4-FFF2-40B4-BE49-F238E27FC236}">
                <a16:creationId xmlns:a16="http://schemas.microsoft.com/office/drawing/2014/main" id="{101E7792-2086-F969-55DD-52923248A2FF}"/>
              </a:ext>
            </a:extLst>
          </p:cNvPr>
          <p:cNvCxnSpPr>
            <a:cxnSpLocks/>
            <a:stCxn id="5" idx="0"/>
          </p:cNvCxnSpPr>
          <p:nvPr/>
        </p:nvCxnSpPr>
        <p:spPr>
          <a:xfrm flipV="1">
            <a:off x="6587934" y="3559622"/>
            <a:ext cx="521387" cy="596576"/>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幅相">
            <a:extLst>
              <a:ext uri="{FF2B5EF4-FFF2-40B4-BE49-F238E27FC236}">
                <a16:creationId xmlns:a16="http://schemas.microsoft.com/office/drawing/2014/main" id="{1529F638-90E7-9105-BC63-B709780809AB}"/>
              </a:ext>
            </a:extLst>
          </p:cNvPr>
          <p:cNvSpPr/>
          <p:nvPr/>
        </p:nvSpPr>
        <p:spPr>
          <a:xfrm flipV="1">
            <a:off x="7097784" y="4155693"/>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768395"/>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幅相">
            <a:extLst>
              <a:ext uri="{FF2B5EF4-FFF2-40B4-BE49-F238E27FC236}">
                <a16:creationId xmlns:a16="http://schemas.microsoft.com/office/drawing/2014/main" id="{F6CE5FBB-935C-83D3-CE32-4D5296A84E58}"/>
              </a:ext>
            </a:extLst>
          </p:cNvPr>
          <p:cNvSpPr/>
          <p:nvPr/>
        </p:nvSpPr>
        <p:spPr>
          <a:xfrm flipV="1">
            <a:off x="6581850" y="2455302"/>
            <a:ext cx="2163496" cy="1634337"/>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594714"/>
              <a:gd name="connsiteY0" fmla="*/ 0 h 2021483"/>
              <a:gd name="connsiteX1" fmla="*/ 1594714 w 1594714"/>
              <a:gd name="connsiteY1" fmla="*/ 2021483 h 2021483"/>
            </a:gdLst>
            <a:ahLst/>
            <a:cxnLst>
              <a:cxn ang="0">
                <a:pos x="connsiteX0" y="connsiteY0"/>
              </a:cxn>
              <a:cxn ang="0">
                <a:pos x="connsiteX1" y="connsiteY1"/>
              </a:cxn>
            </a:cxnLst>
            <a:rect l="l" t="t" r="r" b="b"/>
            <a:pathLst>
              <a:path w="1594714" h="2021483">
                <a:moveTo>
                  <a:pt x="0" y="0"/>
                </a:moveTo>
                <a:cubicBezTo>
                  <a:pt x="15234" y="1014053"/>
                  <a:pt x="683850" y="2009007"/>
                  <a:pt x="1594714" y="2021483"/>
                </a:cubicBezTo>
              </a:path>
            </a:pathLst>
          </a:custGeom>
          <a:noFill/>
          <a:ln w="38100">
            <a:solidFill>
              <a:srgbClr val="768395"/>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2" name="虚轴">
            <a:extLst>
              <a:ext uri="{FF2B5EF4-FFF2-40B4-BE49-F238E27FC236}">
                <a16:creationId xmlns:a16="http://schemas.microsoft.com/office/drawing/2014/main" id="{C94FE914-9CB7-5977-42FE-C02EEE150BC7}"/>
              </a:ext>
            </a:extLst>
          </p:cNvPr>
          <p:cNvCxnSpPr>
            <a:cxnSpLocks/>
            <a:stCxn id="19" idx="1"/>
            <a:endCxn id="20" idx="0"/>
          </p:cNvCxnSpPr>
          <p:nvPr/>
        </p:nvCxnSpPr>
        <p:spPr>
          <a:xfrm flipH="1" flipV="1">
            <a:off x="6581850" y="4089639"/>
            <a:ext cx="515934" cy="663642"/>
          </a:xfrm>
          <a:prstGeom prst="straightConnector1">
            <a:avLst/>
          </a:prstGeom>
          <a:ln w="38100">
            <a:solidFill>
              <a:srgbClr val="768395"/>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
                <a:extLst>
                  <a:ext uri="{FF2B5EF4-FFF2-40B4-BE49-F238E27FC236}">
                    <a16:creationId xmlns:a16="http://schemas.microsoft.com/office/drawing/2014/main" id="{87EEACE0-DB01-56FD-0B10-10F0C0585C57}"/>
                  </a:ext>
                </a:extLst>
              </p:cNvPr>
              <p:cNvSpPr txBox="1"/>
              <p:nvPr/>
            </p:nvSpPr>
            <p:spPr>
              <a:xfrm>
                <a:off x="4356327" y="3836726"/>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=0</m:t>
                      </m:r>
                    </m:oMath>
                  </m:oMathPara>
                </a14:m>
                <a:endParaRPr lang="zh-CN" altLang="en-US" sz="2800" dirty="0"/>
              </a:p>
            </p:txBody>
          </p:sp>
        </mc:Choice>
        <mc:Fallback xmlns="">
          <p:sp>
            <p:nvSpPr>
              <p:cNvPr id="47" name="Re">
                <a:extLst>
                  <a:ext uri="{FF2B5EF4-FFF2-40B4-BE49-F238E27FC236}">
                    <a16:creationId xmlns:a16="http://schemas.microsoft.com/office/drawing/2014/main" id="{87EEACE0-DB01-56FD-0B10-10F0C0585C57}"/>
                  </a:ext>
                </a:extLst>
              </p:cNvPr>
              <p:cNvSpPr txBox="1">
                <a:spLocks noRot="1" noChangeAspect="1" noMove="1" noResize="1" noEditPoints="1" noAdjustHandles="1" noChangeArrowheads="1" noChangeShapeType="1" noTextEdit="1"/>
              </p:cNvSpPr>
              <p:nvPr/>
            </p:nvSpPr>
            <p:spPr>
              <a:xfrm>
                <a:off x="4356327" y="3836726"/>
                <a:ext cx="1549820" cy="523220"/>
              </a:xfrm>
              <a:prstGeom prst="rect">
                <a:avLst/>
              </a:prstGeom>
              <a:blipFill>
                <a:blip r:embed="rId11"/>
                <a:stretch>
                  <a:fillRect/>
                </a:stretch>
              </a:blipFill>
            </p:spPr>
            <p:txBody>
              <a:bodyPr/>
              <a:lstStyle/>
              <a:p>
                <a:r>
                  <a:rPr lang="zh-CN" altLang="en-US">
                    <a:noFill/>
                  </a:rPr>
                  <a:t> </a:t>
                </a:r>
              </a:p>
            </p:txBody>
          </p:sp>
        </mc:Fallback>
      </mc:AlternateContent>
      <p:cxnSp>
        <p:nvCxnSpPr>
          <p:cNvPr id="48" name="实轴">
            <a:extLst>
              <a:ext uri="{FF2B5EF4-FFF2-40B4-BE49-F238E27FC236}">
                <a16:creationId xmlns:a16="http://schemas.microsoft.com/office/drawing/2014/main" id="{7A2901CE-DB07-D583-CA5F-4266B4683699}"/>
              </a:ext>
            </a:extLst>
          </p:cNvPr>
          <p:cNvCxnSpPr>
            <a:cxnSpLocks/>
          </p:cNvCxnSpPr>
          <p:nvPr/>
        </p:nvCxnSpPr>
        <p:spPr>
          <a:xfrm flipH="1">
            <a:off x="5687889" y="4127873"/>
            <a:ext cx="695349"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Re">
                <a:extLst>
                  <a:ext uri="{FF2B5EF4-FFF2-40B4-BE49-F238E27FC236}">
                    <a16:creationId xmlns:a16="http://schemas.microsoft.com/office/drawing/2014/main" id="{33BE73CB-A95B-AE24-B7C5-F892500FC590}"/>
                  </a:ext>
                </a:extLst>
              </p:cNvPr>
              <p:cNvSpPr txBox="1"/>
              <p:nvPr/>
            </p:nvSpPr>
            <p:spPr>
              <a:xfrm>
                <a:off x="4806992" y="327247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52" name="Re">
                <a:extLst>
                  <a:ext uri="{FF2B5EF4-FFF2-40B4-BE49-F238E27FC236}">
                    <a16:creationId xmlns:a16="http://schemas.microsoft.com/office/drawing/2014/main" id="{33BE73CB-A95B-AE24-B7C5-F892500FC590}"/>
                  </a:ext>
                </a:extLst>
              </p:cNvPr>
              <p:cNvSpPr txBox="1">
                <a:spLocks noRot="1" noChangeAspect="1" noMove="1" noResize="1" noEditPoints="1" noAdjustHandles="1" noChangeArrowheads="1" noChangeShapeType="1" noTextEdit="1"/>
              </p:cNvSpPr>
              <p:nvPr/>
            </p:nvSpPr>
            <p:spPr>
              <a:xfrm>
                <a:off x="4806992" y="3272470"/>
                <a:ext cx="1549820" cy="523220"/>
              </a:xfrm>
              <a:prstGeom prst="rect">
                <a:avLst/>
              </a:prstGeom>
              <a:blipFill>
                <a:blip r:embed="rId12"/>
                <a:stretch>
                  <a:fillRect/>
                </a:stretch>
              </a:blipFill>
            </p:spPr>
            <p:txBody>
              <a:bodyPr/>
              <a:lstStyle/>
              <a:p>
                <a:r>
                  <a:rPr lang="zh-CN" altLang="en-US">
                    <a:noFill/>
                  </a:rPr>
                  <a:t> </a:t>
                </a:r>
              </a:p>
            </p:txBody>
          </p:sp>
        </mc:Fallback>
      </mc:AlternateContent>
      <p:cxnSp>
        <p:nvCxnSpPr>
          <p:cNvPr id="53" name="实轴">
            <a:extLst>
              <a:ext uri="{FF2B5EF4-FFF2-40B4-BE49-F238E27FC236}">
                <a16:creationId xmlns:a16="http://schemas.microsoft.com/office/drawing/2014/main" id="{AC575F61-B77F-E5BE-A3CE-9AD9217E9CE1}"/>
              </a:ext>
            </a:extLst>
          </p:cNvPr>
          <p:cNvCxnSpPr>
            <a:cxnSpLocks/>
          </p:cNvCxnSpPr>
          <p:nvPr/>
        </p:nvCxnSpPr>
        <p:spPr>
          <a:xfrm flipH="1" flipV="1">
            <a:off x="6095206" y="3559622"/>
            <a:ext cx="680347" cy="277104"/>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
                <a:extLst>
                  <a:ext uri="{FF2B5EF4-FFF2-40B4-BE49-F238E27FC236}">
                    <a16:creationId xmlns:a16="http://schemas.microsoft.com/office/drawing/2014/main" id="{A7310852-7380-FBC8-A7DB-7BE6EC52A3C2}"/>
                  </a:ext>
                </a:extLst>
              </p:cNvPr>
              <p:cNvSpPr txBox="1"/>
              <p:nvPr/>
            </p:nvSpPr>
            <p:spPr>
              <a:xfrm>
                <a:off x="8970384" y="326778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6" name="Re">
                <a:extLst>
                  <a:ext uri="{FF2B5EF4-FFF2-40B4-BE49-F238E27FC236}">
                    <a16:creationId xmlns:a16="http://schemas.microsoft.com/office/drawing/2014/main" id="{A7310852-7380-FBC8-A7DB-7BE6EC52A3C2}"/>
                  </a:ext>
                </a:extLst>
              </p:cNvPr>
              <p:cNvSpPr txBox="1">
                <a:spLocks noRot="1" noChangeAspect="1" noMove="1" noResize="1" noEditPoints="1" noAdjustHandles="1" noChangeArrowheads="1" noChangeShapeType="1" noTextEdit="1"/>
              </p:cNvSpPr>
              <p:nvPr/>
            </p:nvSpPr>
            <p:spPr>
              <a:xfrm>
                <a:off x="8970384" y="3267780"/>
                <a:ext cx="1549820" cy="52322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
                <a:extLst>
                  <a:ext uri="{FF2B5EF4-FFF2-40B4-BE49-F238E27FC236}">
                    <a16:creationId xmlns:a16="http://schemas.microsoft.com/office/drawing/2014/main" id="{2F1BB0BF-09CA-D915-9EF3-4351AC77AA59}"/>
                  </a:ext>
                </a:extLst>
              </p:cNvPr>
              <p:cNvSpPr txBox="1"/>
              <p:nvPr/>
            </p:nvSpPr>
            <p:spPr>
              <a:xfrm>
                <a:off x="8979223" y="4736337"/>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7" name="Re">
                <a:extLst>
                  <a:ext uri="{FF2B5EF4-FFF2-40B4-BE49-F238E27FC236}">
                    <a16:creationId xmlns:a16="http://schemas.microsoft.com/office/drawing/2014/main" id="{2F1BB0BF-09CA-D915-9EF3-4351AC77AA59}"/>
                  </a:ext>
                </a:extLst>
              </p:cNvPr>
              <p:cNvSpPr txBox="1">
                <a:spLocks noRot="1" noChangeAspect="1" noMove="1" noResize="1" noEditPoints="1" noAdjustHandles="1" noChangeArrowheads="1" noChangeShapeType="1" noTextEdit="1"/>
              </p:cNvSpPr>
              <p:nvPr/>
            </p:nvSpPr>
            <p:spPr>
              <a:xfrm>
                <a:off x="8979223" y="4736337"/>
                <a:ext cx="1549820" cy="523220"/>
              </a:xfrm>
              <a:prstGeom prst="rect">
                <a:avLst/>
              </a:prstGeom>
              <a:blipFill>
                <a:blip r:embed="rId14"/>
                <a:stretch>
                  <a:fillRect/>
                </a:stretch>
              </a:blipFill>
            </p:spPr>
            <p:txBody>
              <a:bodyPr/>
              <a:lstStyle/>
              <a:p>
                <a:r>
                  <a:rPr lang="zh-CN" altLang="en-US">
                    <a:noFill/>
                  </a:rPr>
                  <a:t> </a:t>
                </a:r>
              </a:p>
            </p:txBody>
          </p:sp>
        </mc:Fallback>
      </mc:AlternateContent>
      <p:cxnSp>
        <p:nvCxnSpPr>
          <p:cNvPr id="58" name="实轴">
            <a:extLst>
              <a:ext uri="{FF2B5EF4-FFF2-40B4-BE49-F238E27FC236}">
                <a16:creationId xmlns:a16="http://schemas.microsoft.com/office/drawing/2014/main" id="{859EC8F6-0D71-932C-7C13-D1822C8CB81F}"/>
              </a:ext>
            </a:extLst>
          </p:cNvPr>
          <p:cNvCxnSpPr>
            <a:cxnSpLocks/>
          </p:cNvCxnSpPr>
          <p:nvPr/>
        </p:nvCxnSpPr>
        <p:spPr>
          <a:xfrm flipV="1">
            <a:off x="8830243" y="3791000"/>
            <a:ext cx="289299" cy="23526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2" name="实轴">
            <a:extLst>
              <a:ext uri="{FF2B5EF4-FFF2-40B4-BE49-F238E27FC236}">
                <a16:creationId xmlns:a16="http://schemas.microsoft.com/office/drawing/2014/main" id="{B88A0232-1920-A1C0-ADED-F22C68C6061F}"/>
              </a:ext>
            </a:extLst>
          </p:cNvPr>
          <p:cNvCxnSpPr>
            <a:cxnSpLocks/>
          </p:cNvCxnSpPr>
          <p:nvPr/>
        </p:nvCxnSpPr>
        <p:spPr>
          <a:xfrm>
            <a:off x="8830243" y="4314292"/>
            <a:ext cx="289299" cy="583145"/>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Re">
                <a:extLst>
                  <a:ext uri="{FF2B5EF4-FFF2-40B4-BE49-F238E27FC236}">
                    <a16:creationId xmlns:a16="http://schemas.microsoft.com/office/drawing/2014/main" id="{0BA5A9F3-314D-6181-58AA-E88B9DDB29B0}"/>
                  </a:ext>
                </a:extLst>
              </p:cNvPr>
              <p:cNvSpPr txBox="1"/>
              <p:nvPr/>
            </p:nvSpPr>
            <p:spPr>
              <a:xfrm>
                <a:off x="4831472" y="4497069"/>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66" name="Re">
                <a:extLst>
                  <a:ext uri="{FF2B5EF4-FFF2-40B4-BE49-F238E27FC236}">
                    <a16:creationId xmlns:a16="http://schemas.microsoft.com/office/drawing/2014/main" id="{0BA5A9F3-314D-6181-58AA-E88B9DDB29B0}"/>
                  </a:ext>
                </a:extLst>
              </p:cNvPr>
              <p:cNvSpPr txBox="1">
                <a:spLocks noRot="1" noChangeAspect="1" noMove="1" noResize="1" noEditPoints="1" noAdjustHandles="1" noChangeArrowheads="1" noChangeShapeType="1" noTextEdit="1"/>
              </p:cNvSpPr>
              <p:nvPr/>
            </p:nvSpPr>
            <p:spPr>
              <a:xfrm>
                <a:off x="4831472" y="4497069"/>
                <a:ext cx="1549820" cy="523220"/>
              </a:xfrm>
              <a:prstGeom prst="rect">
                <a:avLst/>
              </a:prstGeom>
              <a:blipFill>
                <a:blip r:embed="rId15"/>
                <a:stretch>
                  <a:fillRect/>
                </a:stretch>
              </a:blipFill>
            </p:spPr>
            <p:txBody>
              <a:bodyPr/>
              <a:lstStyle/>
              <a:p>
                <a:r>
                  <a:rPr lang="zh-CN" altLang="en-US">
                    <a:noFill/>
                  </a:rPr>
                  <a:t> </a:t>
                </a:r>
              </a:p>
            </p:txBody>
          </p:sp>
        </mc:Fallback>
      </mc:AlternateContent>
      <p:cxnSp>
        <p:nvCxnSpPr>
          <p:cNvPr id="67" name="实轴">
            <a:extLst>
              <a:ext uri="{FF2B5EF4-FFF2-40B4-BE49-F238E27FC236}">
                <a16:creationId xmlns:a16="http://schemas.microsoft.com/office/drawing/2014/main" id="{6F2333EF-B598-64E2-2848-AA23BD847F95}"/>
              </a:ext>
            </a:extLst>
          </p:cNvPr>
          <p:cNvCxnSpPr>
            <a:cxnSpLocks/>
          </p:cNvCxnSpPr>
          <p:nvPr/>
        </p:nvCxnSpPr>
        <p:spPr>
          <a:xfrm flipH="1">
            <a:off x="6119686" y="4525393"/>
            <a:ext cx="704774" cy="258828"/>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0D66DD6-23A3-D810-F874-E42924C7658D}"/>
                  </a:ext>
                </a:extLst>
              </p:cNvPr>
              <p:cNvSpPr txBox="1"/>
              <p:nvPr/>
            </p:nvSpPr>
            <p:spPr>
              <a:xfrm>
                <a:off x="1073700" y="2464433"/>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𝑅</m:t>
                      </m:r>
                      <m:r>
                        <a:rPr lang="en-US" altLang="zh-CN" sz="2800" b="0" i="1" smtClean="0">
                          <a:solidFill>
                            <a:schemeClr val="tx1"/>
                          </a:solidFill>
                          <a:latin typeface="Cambria Math" panose="02040503050406030204" pitchFamily="18" charset="0"/>
                        </a:rPr>
                        <m:t>=−2</m:t>
                      </m:r>
                    </m:oMath>
                  </m:oMathPara>
                </a14:m>
                <a:endParaRPr lang="zh-CN" altLang="en-US" sz="2800" dirty="0">
                  <a:solidFill>
                    <a:schemeClr val="tx1"/>
                  </a:solidFill>
                </a:endParaRPr>
              </a:p>
            </p:txBody>
          </p:sp>
        </mc:Choice>
        <mc:Fallback xmlns="">
          <p:sp>
            <p:nvSpPr>
              <p:cNvPr id="3" name="文本框 2">
                <a:extLst>
                  <a:ext uri="{FF2B5EF4-FFF2-40B4-BE49-F238E27FC236}">
                    <a16:creationId xmlns:a16="http://schemas.microsoft.com/office/drawing/2014/main" id="{80D66DD6-23A3-D810-F874-E42924C7658D}"/>
                  </a:ext>
                </a:extLst>
              </p:cNvPr>
              <p:cNvSpPr txBox="1">
                <a:spLocks noRot="1" noChangeAspect="1" noMove="1" noResize="1" noEditPoints="1" noAdjustHandles="1" noChangeArrowheads="1" noChangeShapeType="1" noTextEdit="1"/>
              </p:cNvSpPr>
              <p:nvPr/>
            </p:nvSpPr>
            <p:spPr>
              <a:xfrm>
                <a:off x="1073700" y="2464433"/>
                <a:ext cx="2326647" cy="523220"/>
              </a:xfrm>
              <a:prstGeom prst="rect">
                <a:avLst/>
              </a:prstGeom>
              <a:blipFill>
                <a:blip r:embed="rId16"/>
                <a:stretch>
                  <a:fillRect/>
                </a:stretch>
              </a:blipFill>
            </p:spPr>
            <p:txBody>
              <a:bodyPr/>
              <a:lstStyle/>
              <a:p>
                <a:r>
                  <a:rPr lang="zh-CN" altLang="en-US">
                    <a:noFill/>
                  </a:rPr>
                  <a:t> </a:t>
                </a:r>
              </a:p>
            </p:txBody>
          </p:sp>
        </mc:Fallback>
      </mc:AlternateContent>
      <p:sp>
        <p:nvSpPr>
          <p:cNvPr id="4" name="小标题1">
            <a:extLst>
              <a:ext uri="{FF2B5EF4-FFF2-40B4-BE49-F238E27FC236}">
                <a16:creationId xmlns:a16="http://schemas.microsoft.com/office/drawing/2014/main" id="{1F4FDB3C-0060-5CF5-6F4A-37A9424E0B55}"/>
              </a:ext>
            </a:extLst>
          </p:cNvPr>
          <p:cNvSpPr/>
          <p:nvPr/>
        </p:nvSpPr>
        <p:spPr bwMode="auto">
          <a:xfrm>
            <a:off x="1356072" y="4007470"/>
            <a:ext cx="1732215"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不稳定</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76756E8-C87B-C5E7-9B22-F291EE63E803}"/>
                  </a:ext>
                </a:extLst>
              </p:cNvPr>
              <p:cNvSpPr txBox="1"/>
              <p:nvPr/>
            </p:nvSpPr>
            <p:spPr>
              <a:xfrm>
                <a:off x="1034292" y="3043263"/>
                <a:ext cx="232664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𝑃</m:t>
                      </m:r>
                      <m:r>
                        <a:rPr lang="en-US" altLang="zh-CN" sz="2800" b="0" i="1" smtClean="0">
                          <a:solidFill>
                            <a:schemeClr val="tx1"/>
                          </a:solidFill>
                          <a:latin typeface="Cambria Math" panose="02040503050406030204" pitchFamily="18" charset="0"/>
                        </a:rPr>
                        <m:t>=0</m:t>
                      </m:r>
                    </m:oMath>
                  </m:oMathPara>
                </a14:m>
                <a:endParaRPr lang="zh-CN" altLang="en-US" sz="2800" dirty="0">
                  <a:solidFill>
                    <a:schemeClr val="tx1"/>
                  </a:solidFill>
                </a:endParaRPr>
              </a:p>
            </p:txBody>
          </p:sp>
        </mc:Choice>
        <mc:Fallback xmlns="">
          <p:sp>
            <p:nvSpPr>
              <p:cNvPr id="6" name="文本框 5">
                <a:extLst>
                  <a:ext uri="{FF2B5EF4-FFF2-40B4-BE49-F238E27FC236}">
                    <a16:creationId xmlns:a16="http://schemas.microsoft.com/office/drawing/2014/main" id="{076756E8-C87B-C5E7-9B22-F291EE63E803}"/>
                  </a:ext>
                </a:extLst>
              </p:cNvPr>
              <p:cNvSpPr txBox="1">
                <a:spLocks noRot="1" noChangeAspect="1" noMove="1" noResize="1" noEditPoints="1" noAdjustHandles="1" noChangeArrowheads="1" noChangeShapeType="1" noTextEdit="1"/>
              </p:cNvSpPr>
              <p:nvPr/>
            </p:nvSpPr>
            <p:spPr>
              <a:xfrm>
                <a:off x="1034292" y="3043263"/>
                <a:ext cx="2326647" cy="52322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原点">
                <a:extLst>
                  <a:ext uri="{FF2B5EF4-FFF2-40B4-BE49-F238E27FC236}">
                    <a16:creationId xmlns:a16="http://schemas.microsoft.com/office/drawing/2014/main" id="{390454E0-46A8-0B75-9A1F-B07FEA7115C6}"/>
                  </a:ext>
                </a:extLst>
              </p:cNvPr>
              <p:cNvSpPr txBox="1"/>
              <p:nvPr/>
            </p:nvSpPr>
            <p:spPr>
              <a:xfrm>
                <a:off x="10813528" y="2950478"/>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8" name="原点">
                <a:extLst>
                  <a:ext uri="{FF2B5EF4-FFF2-40B4-BE49-F238E27FC236}">
                    <a16:creationId xmlns:a16="http://schemas.microsoft.com/office/drawing/2014/main" id="{390454E0-46A8-0B75-9A1F-B07FEA7115C6}"/>
                  </a:ext>
                </a:extLst>
              </p:cNvPr>
              <p:cNvSpPr txBox="1">
                <a:spLocks noRot="1" noChangeAspect="1" noMove="1" noResize="1" noEditPoints="1" noAdjustHandles="1" noChangeArrowheads="1" noChangeShapeType="1" noTextEdit="1"/>
              </p:cNvSpPr>
              <p:nvPr/>
            </p:nvSpPr>
            <p:spPr>
              <a:xfrm>
                <a:off x="10813528" y="2950478"/>
                <a:ext cx="545352" cy="524695"/>
              </a:xfrm>
              <a:prstGeom prst="rect">
                <a:avLst/>
              </a:prstGeom>
              <a:blipFill>
                <a:blip r:embed="rId18"/>
                <a:stretch>
                  <a:fillRect r="-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6137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奈奎斯特稳定判据</a:t>
            </a:r>
          </a:p>
        </p:txBody>
      </p:sp>
      <mc:AlternateContent xmlns:mc="http://schemas.openxmlformats.org/markup-compatibility/2006" xmlns:a14="http://schemas.microsoft.com/office/drawing/2010/main">
        <mc:Choice Requires="a14">
          <p:sp>
            <p:nvSpPr>
              <p:cNvPr id="68" name="说明3">
                <a:extLst>
                  <a:ext uri="{FF2B5EF4-FFF2-40B4-BE49-F238E27FC236}">
                    <a16:creationId xmlns:a16="http://schemas.microsoft.com/office/drawing/2014/main" id="{D5AA8BA3-5D7D-374B-719B-DBCABB67ECC1}"/>
                  </a:ext>
                </a:extLst>
              </p:cNvPr>
              <p:cNvSpPr txBox="1"/>
              <p:nvPr/>
            </p:nvSpPr>
            <p:spPr>
              <a:xfrm>
                <a:off x="320223" y="1896666"/>
                <a:ext cx="5198919" cy="2009061"/>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latin typeface="Microsoft YaHei" panose="020B0503020204020204" pitchFamily="34" charset="-122"/>
                    <a:ea typeface="Microsoft YaHei" panose="020B0503020204020204" pitchFamily="34" charset="-122"/>
                  </a:rPr>
                  <a:t>可由半闭合 </a:t>
                </a:r>
                <a:r>
                  <a:rPr kumimoji="1" lang="en-US" altLang="zh-CN" sz="2800" dirty="0">
                    <a:solidFill>
                      <a:srgbClr val="2980B9"/>
                    </a:solidFill>
                    <a:latin typeface="Microsoft YaHei" panose="020B0503020204020204" pitchFamily="34" charset="-122"/>
                    <a:ea typeface="Microsoft YaHei" panose="020B0503020204020204" pitchFamily="34" charset="-122"/>
                  </a:rPr>
                  <a:t>Nyquist</a:t>
                </a:r>
                <a:r>
                  <a:rPr kumimoji="1" lang="zh-CN" altLang="en-US" sz="2800" dirty="0">
                    <a:solidFill>
                      <a:srgbClr val="2980B9"/>
                    </a:solidFill>
                    <a:latin typeface="Microsoft YaHei" panose="020B0503020204020204" pitchFamily="34" charset="-122"/>
                    <a:ea typeface="Microsoft YaHei" panose="020B0503020204020204" pitchFamily="34" charset="-122"/>
                  </a:rPr>
                  <a:t> 曲线获得。</a:t>
                </a:r>
              </a:p>
              <a:p>
                <a:r>
                  <a:rPr kumimoji="1" lang="zh-CN" altLang="en-US" sz="2800" dirty="0">
                    <a:solidFill>
                      <a:srgbClr val="2980B9"/>
                    </a:solidFill>
                    <a:latin typeface="Microsoft YaHei" panose="020B0503020204020204" pitchFamily="34" charset="-122"/>
                    <a:ea typeface="Microsoft YaHei" panose="020B0503020204020204" pitchFamily="34" charset="-122"/>
                  </a:rPr>
                  <a:t>设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为半闭合曲线穿越负实轴段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m:t>
                    </m:r>
                  </m:oMath>
                </a14:m>
                <a:r>
                  <a:rPr kumimoji="1" lang="en-US"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次数</a:t>
                </a:r>
                <a:r>
                  <a:rPr kumimoji="1" lang="en-US" altLang="zh-CN" sz="2800" dirty="0">
                    <a:solidFill>
                      <a:srgbClr val="2980B9"/>
                    </a:solidFill>
                    <a:latin typeface="Microsoft YaHei" panose="020B0503020204020204" pitchFamily="34" charset="-122"/>
                    <a:ea typeface="Microsoft YaHei" panose="020B0503020204020204" pitchFamily="34" charset="-122"/>
                  </a:rPr>
                  <a:t>(</a:t>
                </a:r>
                <a:r>
                  <a:rPr kumimoji="1" lang="zh-CN" altLang="en-US" sz="2800" dirty="0">
                    <a:solidFill>
                      <a:srgbClr val="2980B9"/>
                    </a:solidFill>
                    <a:latin typeface="Microsoft YaHei" panose="020B0503020204020204" pitchFamily="34" charset="-122"/>
                    <a:ea typeface="Microsoft YaHei" panose="020B0503020204020204" pitchFamily="34" charset="-122"/>
                  </a:rPr>
                  <a:t>若包围，必相交，称为穿越</a:t>
                </a:r>
                <a:r>
                  <a:rPr kumimoji="1" lang="en-US" altLang="zh-CN" sz="2800" dirty="0">
                    <a:solidFill>
                      <a:srgbClr val="2980B9"/>
                    </a:solidFill>
                    <a:latin typeface="Microsoft YaHei" panose="020B0503020204020204" pitchFamily="34" charset="-122"/>
                    <a:ea typeface="Microsoft YaHei" panose="020B0503020204020204" pitchFamily="34" charset="-122"/>
                  </a:rPr>
                  <a:t>)</a:t>
                </a:r>
                <a:r>
                  <a:rPr kumimoji="1" lang="zh-CN" altLang="en-US" sz="2800" dirty="0">
                    <a:solidFill>
                      <a:srgbClr val="2980B9"/>
                    </a:solidFill>
                    <a:latin typeface="Microsoft YaHei" panose="020B0503020204020204" pitchFamily="34" charset="-122"/>
                    <a:ea typeface="Microsoft YaHei" panose="020B0503020204020204" pitchFamily="34" charset="-122"/>
                  </a:rPr>
                  <a:t>。</a:t>
                </a:r>
              </a:p>
            </p:txBody>
          </p:sp>
        </mc:Choice>
        <mc:Fallback xmlns="">
          <p:sp>
            <p:nvSpPr>
              <p:cNvPr id="68" name="说明3">
                <a:extLst>
                  <a:ext uri="{FF2B5EF4-FFF2-40B4-BE49-F238E27FC236}">
                    <a16:creationId xmlns:a16="http://schemas.microsoft.com/office/drawing/2014/main" id="{D5AA8BA3-5D7D-374B-719B-DBCABB67ECC1}"/>
                  </a:ext>
                </a:extLst>
              </p:cNvPr>
              <p:cNvSpPr txBox="1">
                <a:spLocks noRot="1" noChangeAspect="1" noMove="1" noResize="1" noEditPoints="1" noAdjustHandles="1" noChangeArrowheads="1" noChangeShapeType="1" noTextEdit="1"/>
              </p:cNvSpPr>
              <p:nvPr/>
            </p:nvSpPr>
            <p:spPr>
              <a:xfrm>
                <a:off x="320223" y="1896666"/>
                <a:ext cx="5198919" cy="2009061"/>
              </a:xfrm>
              <a:prstGeom prst="flowChartAlternateProcess">
                <a:avLst/>
              </a:prstGeom>
              <a:blipFill>
                <a:blip r:embed="rId3"/>
                <a:stretch>
                  <a:fillRect l="-243" r="-5340" b="-2484"/>
                </a:stretch>
              </a:blipFill>
              <a:ln>
                <a:prstDash val="sysDot"/>
              </a:ln>
            </p:spPr>
            <p:txBody>
              <a:bodyPr/>
              <a:lstStyle/>
              <a:p>
                <a:r>
                  <a:rPr lang="zh-CN" altLang="en-US">
                    <a:noFill/>
                  </a:rPr>
                  <a:t> </a:t>
                </a:r>
              </a:p>
            </p:txBody>
          </p:sp>
        </mc:Fallback>
      </mc:AlternateContent>
      <p:sp>
        <p:nvSpPr>
          <p:cNvPr id="5" name="说明3">
            <a:extLst>
              <a:ext uri="{FF2B5EF4-FFF2-40B4-BE49-F238E27FC236}">
                <a16:creationId xmlns:a16="http://schemas.microsoft.com/office/drawing/2014/main" id="{53E2D63F-B0D2-A885-5813-113BC9B1B587}"/>
              </a:ext>
            </a:extLst>
          </p:cNvPr>
          <p:cNvSpPr txBox="1"/>
          <p:nvPr/>
        </p:nvSpPr>
        <p:spPr>
          <a:xfrm>
            <a:off x="6813798" y="1811153"/>
            <a:ext cx="4970040"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kumimoji="1" lang="zh-CN" altLang="en-US" sz="2800" dirty="0">
                <a:solidFill>
                  <a:srgbClr val="2980B9"/>
                </a:solidFill>
                <a:latin typeface="Microsoft YaHei" panose="020B0503020204020204" pitchFamily="34" charset="-122"/>
                <a:ea typeface="Microsoft YaHei" panose="020B0503020204020204" pitchFamily="34" charset="-122"/>
              </a:rPr>
              <a:t>正穿越次数之和，从上向下，逆时针包围</a:t>
            </a:r>
          </a:p>
        </p:txBody>
      </p:sp>
      <p:sp>
        <p:nvSpPr>
          <p:cNvPr id="2" name="说明3">
            <a:extLst>
              <a:ext uri="{FF2B5EF4-FFF2-40B4-BE49-F238E27FC236}">
                <a16:creationId xmlns:a16="http://schemas.microsoft.com/office/drawing/2014/main" id="{739053F2-5B0B-0C1D-3EFE-E2CF989C6723}"/>
              </a:ext>
            </a:extLst>
          </p:cNvPr>
          <p:cNvSpPr txBox="1"/>
          <p:nvPr/>
        </p:nvSpPr>
        <p:spPr>
          <a:xfrm>
            <a:off x="6822093" y="3049082"/>
            <a:ext cx="4970040"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kumimoji="1" lang="zh-CN" altLang="en-US" sz="2800" dirty="0">
                <a:solidFill>
                  <a:srgbClr val="2980B9"/>
                </a:solidFill>
                <a:latin typeface="Microsoft YaHei" panose="020B0503020204020204" pitchFamily="34" charset="-122"/>
                <a:ea typeface="Microsoft YaHei" panose="020B0503020204020204" pitchFamily="34" charset="-122"/>
              </a:rPr>
              <a:t>负穿越次数之和，从下向上，顺时针包围</a:t>
            </a:r>
          </a:p>
        </p:txBody>
      </p:sp>
      <mc:AlternateContent xmlns:mc="http://schemas.openxmlformats.org/markup-compatibility/2006" xmlns:a14="http://schemas.microsoft.com/office/drawing/2010/main">
        <mc:Choice Requires="a14">
          <p:sp>
            <p:nvSpPr>
              <p:cNvPr id="3" name="小标题1">
                <a:extLst>
                  <a:ext uri="{FF2B5EF4-FFF2-40B4-BE49-F238E27FC236}">
                    <a16:creationId xmlns:a16="http://schemas.microsoft.com/office/drawing/2014/main" id="{39C0DF73-3E0A-391A-FBC5-F7B6F36F079C}"/>
                  </a:ext>
                </a:extLst>
              </p:cNvPr>
              <p:cNvSpPr/>
              <p:nvPr/>
            </p:nvSpPr>
            <p:spPr bwMode="auto">
              <a:xfrm>
                <a:off x="320223" y="1052832"/>
                <a:ext cx="9231367"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按正负穿越计算闭合曲线</a:t>
                </a:r>
                <a14:m>
                  <m:oMath xmlns:m="http://schemas.openxmlformats.org/officeDocument/2006/math">
                    <m:sSub>
                      <m:sSubPr>
                        <m:ctrlPr>
                          <a:rPr lang="en-US" altLang="zh-CN" sz="3200" b="1" i="1" smtClean="0">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𝚪</m:t>
                        </m:r>
                      </m:e>
                      <m:sub>
                        <m:r>
                          <a:rPr lang="en-US" altLang="zh-CN" sz="3200" b="1" i="1" smtClean="0">
                            <a:solidFill>
                              <a:schemeClr val="bg1"/>
                            </a:solidFill>
                            <a:latin typeface="Cambria Math" panose="02040503050406030204" pitchFamily="18" charset="0"/>
                          </a:rPr>
                          <m:t>𝑮𝑯</m:t>
                        </m:r>
                      </m:sub>
                    </m:sSub>
                  </m:oMath>
                </a14:m>
                <a:r>
                  <a:rPr lang="zh-CN" altLang="en-US" sz="3200" b="1" dirty="0">
                    <a:solidFill>
                      <a:schemeClr val="bg1"/>
                    </a:solidFill>
                    <a:latin typeface="+mn-ea"/>
                  </a:rPr>
                  <a:t>包围</a:t>
                </a:r>
                <a14:m>
                  <m:oMath xmlns:m="http://schemas.openxmlformats.org/officeDocument/2006/math">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𝟏</m:t>
                    </m:r>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𝒋</m:t>
                    </m:r>
                    <m:r>
                      <a:rPr lang="en-US" altLang="zh-CN" sz="3200" b="1" i="1" dirty="0" smtClean="0">
                        <a:solidFill>
                          <a:schemeClr val="bg1"/>
                        </a:solidFill>
                        <a:latin typeface="Cambria Math" panose="02040503050406030204" pitchFamily="18" charset="0"/>
                      </a:rPr>
                      <m:t>𝟎</m:t>
                    </m:r>
                    <m:r>
                      <a:rPr lang="en-US" altLang="zh-CN" sz="3200" b="1" i="1" dirty="0" smtClean="0">
                        <a:solidFill>
                          <a:schemeClr val="bg1"/>
                        </a:solidFill>
                        <a:latin typeface="Cambria Math" panose="02040503050406030204" pitchFamily="18" charset="0"/>
                      </a:rPr>
                      <m:t>)</m:t>
                    </m:r>
                  </m:oMath>
                </a14:m>
                <a:r>
                  <a:rPr lang="zh-CN" altLang="en-US" sz="3200" b="1" dirty="0">
                    <a:solidFill>
                      <a:schemeClr val="bg1"/>
                    </a:solidFill>
                    <a:latin typeface="+mn-ea"/>
                  </a:rPr>
                  <a:t>点圈数</a:t>
                </a:r>
                <a14:m>
                  <m:oMath xmlns:m="http://schemas.openxmlformats.org/officeDocument/2006/math">
                    <m:r>
                      <a:rPr lang="en-US" altLang="zh-CN" sz="3200" b="1" i="1" dirty="0" smtClean="0">
                        <a:solidFill>
                          <a:schemeClr val="bg1"/>
                        </a:solidFill>
                        <a:latin typeface="Cambria Math" panose="02040503050406030204" pitchFamily="18" charset="0"/>
                      </a:rPr>
                      <m:t>𝑹</m:t>
                    </m:r>
                  </m:oMath>
                </a14:m>
                <a:endParaRPr lang="zh-CN" altLang="en-US" sz="3200" b="1" dirty="0">
                  <a:solidFill>
                    <a:schemeClr val="bg1"/>
                  </a:solidFill>
                  <a:latin typeface="+mn-ea"/>
                </a:endParaRPr>
              </a:p>
            </p:txBody>
          </p:sp>
        </mc:Choice>
        <mc:Fallback xmlns="">
          <p:sp>
            <p:nvSpPr>
              <p:cNvPr id="3" name="小标题1">
                <a:extLst>
                  <a:ext uri="{FF2B5EF4-FFF2-40B4-BE49-F238E27FC236}">
                    <a16:creationId xmlns:a16="http://schemas.microsoft.com/office/drawing/2014/main" id="{39C0DF73-3E0A-391A-FBC5-F7B6F36F079C}"/>
                  </a:ext>
                </a:extLst>
              </p:cNvPr>
              <p:cNvSpPr>
                <a:spLocks noRot="1" noChangeAspect="1" noMove="1" noResize="1" noEditPoints="1" noAdjustHandles="1" noChangeArrowheads="1" noChangeShapeType="1" noTextEdit="1"/>
              </p:cNvSpPr>
              <p:nvPr/>
            </p:nvSpPr>
            <p:spPr bwMode="auto">
              <a:xfrm>
                <a:off x="320223" y="1052832"/>
                <a:ext cx="9231367" cy="576000"/>
              </a:xfrm>
              <a:prstGeom prst="roundRect">
                <a:avLst/>
              </a:prstGeom>
              <a:blipFill>
                <a:blip r:embed="rId4"/>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重要1">
                <a:extLst>
                  <a:ext uri="{FF2B5EF4-FFF2-40B4-BE49-F238E27FC236}">
                    <a16:creationId xmlns:a16="http://schemas.microsoft.com/office/drawing/2014/main" id="{7F68C330-563F-FE25-B30E-C7B0DDD2D14E}"/>
                  </a:ext>
                </a:extLst>
              </p:cNvPr>
              <p:cNvSpPr txBox="1"/>
              <p:nvPr/>
            </p:nvSpPr>
            <p:spPr>
              <a:xfrm>
                <a:off x="5739424" y="2004153"/>
                <a:ext cx="854089"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kumimoji="1" lang="en-US" altLang="zh-CN" sz="3200" b="1" i="1" dirty="0" smtClean="0">
                              <a:solidFill>
                                <a:schemeClr val="bg1"/>
                              </a:solidFill>
                              <a:latin typeface="Cambria Math" panose="02040503050406030204" pitchFamily="18" charset="0"/>
                            </a:rPr>
                          </m:ctrlPr>
                        </m:sSupPr>
                        <m:e>
                          <m:r>
                            <a:rPr kumimoji="1" lang="en-US" altLang="zh-CN" sz="3200" b="1" i="1" dirty="0" smtClean="0">
                              <a:solidFill>
                                <a:schemeClr val="bg1"/>
                              </a:solidFill>
                              <a:latin typeface="Cambria Math" panose="02040503050406030204" pitchFamily="18" charset="0"/>
                            </a:rPr>
                            <m:t>𝑵</m:t>
                          </m:r>
                        </m:e>
                        <m:sup>
                          <m:r>
                            <a:rPr kumimoji="1" lang="en-US" altLang="zh-CN" sz="3200" b="1" i="1" dirty="0" smtClean="0">
                              <a:solidFill>
                                <a:schemeClr val="bg1"/>
                              </a:solidFill>
                              <a:latin typeface="Cambria Math" panose="02040503050406030204" pitchFamily="18" charset="0"/>
                            </a:rPr>
                            <m:t>+</m:t>
                          </m:r>
                        </m:sup>
                      </m:sSup>
                    </m:oMath>
                  </m:oMathPara>
                </a14:m>
                <a:endParaRPr kumimoji="1" lang="zh-CN" altLang="en-US" sz="3200" b="1" dirty="0">
                  <a:solidFill>
                    <a:schemeClr val="bg1"/>
                  </a:solidFill>
                </a:endParaRPr>
              </a:p>
            </p:txBody>
          </p:sp>
        </mc:Choice>
        <mc:Fallback xmlns="">
          <p:sp>
            <p:nvSpPr>
              <p:cNvPr id="4" name="重要1">
                <a:extLst>
                  <a:ext uri="{FF2B5EF4-FFF2-40B4-BE49-F238E27FC236}">
                    <a16:creationId xmlns:a16="http://schemas.microsoft.com/office/drawing/2014/main" id="{7F68C330-563F-FE25-B30E-C7B0DDD2D14E}"/>
                  </a:ext>
                </a:extLst>
              </p:cNvPr>
              <p:cNvSpPr txBox="1">
                <a:spLocks noRot="1" noChangeAspect="1" noMove="1" noResize="1" noEditPoints="1" noAdjustHandles="1" noChangeArrowheads="1" noChangeShapeType="1" noTextEdit="1"/>
              </p:cNvSpPr>
              <p:nvPr/>
            </p:nvSpPr>
            <p:spPr>
              <a:xfrm>
                <a:off x="5739424" y="2004153"/>
                <a:ext cx="854089" cy="669608"/>
              </a:xfrm>
              <a:prstGeom prst="roundRect">
                <a:avLst>
                  <a:gd name="adj" fmla="val 22661"/>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重要1">
                <a:extLst>
                  <a:ext uri="{FF2B5EF4-FFF2-40B4-BE49-F238E27FC236}">
                    <a16:creationId xmlns:a16="http://schemas.microsoft.com/office/drawing/2014/main" id="{6828C62F-E001-1C1A-6A17-13CF4DEFF908}"/>
                  </a:ext>
                </a:extLst>
              </p:cNvPr>
              <p:cNvSpPr txBox="1"/>
              <p:nvPr/>
            </p:nvSpPr>
            <p:spPr>
              <a:xfrm>
                <a:off x="5739423" y="3194227"/>
                <a:ext cx="854089"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kumimoji="1" lang="en-US" altLang="zh-CN" sz="3200" b="1" i="1" dirty="0" smtClean="0">
                              <a:solidFill>
                                <a:schemeClr val="bg1"/>
                              </a:solidFill>
                              <a:latin typeface="Cambria Math" panose="02040503050406030204" pitchFamily="18" charset="0"/>
                            </a:rPr>
                          </m:ctrlPr>
                        </m:sSupPr>
                        <m:e>
                          <m:r>
                            <a:rPr kumimoji="1" lang="en-US" altLang="zh-CN" sz="3200" b="1" i="1" dirty="0" smtClean="0">
                              <a:solidFill>
                                <a:schemeClr val="bg1"/>
                              </a:solidFill>
                              <a:latin typeface="Cambria Math" panose="02040503050406030204" pitchFamily="18" charset="0"/>
                            </a:rPr>
                            <m:t>𝑵</m:t>
                          </m:r>
                        </m:e>
                        <m:sup>
                          <m:r>
                            <a:rPr kumimoji="1" lang="en-US" altLang="zh-CN" sz="3200" b="1" i="1" dirty="0" smtClean="0">
                              <a:solidFill>
                                <a:schemeClr val="bg1"/>
                              </a:solidFill>
                              <a:latin typeface="Cambria Math" panose="02040503050406030204" pitchFamily="18" charset="0"/>
                            </a:rPr>
                            <m:t>−</m:t>
                          </m:r>
                        </m:sup>
                      </m:sSup>
                    </m:oMath>
                  </m:oMathPara>
                </a14:m>
                <a:endParaRPr kumimoji="1" lang="zh-CN" altLang="en-US" sz="3200" b="1" dirty="0">
                  <a:solidFill>
                    <a:schemeClr val="bg1"/>
                  </a:solidFill>
                </a:endParaRPr>
              </a:p>
            </p:txBody>
          </p:sp>
        </mc:Choice>
        <mc:Fallback xmlns="">
          <p:sp>
            <p:nvSpPr>
              <p:cNvPr id="6" name="重要1">
                <a:extLst>
                  <a:ext uri="{FF2B5EF4-FFF2-40B4-BE49-F238E27FC236}">
                    <a16:creationId xmlns:a16="http://schemas.microsoft.com/office/drawing/2014/main" id="{6828C62F-E001-1C1A-6A17-13CF4DEFF908}"/>
                  </a:ext>
                </a:extLst>
              </p:cNvPr>
              <p:cNvSpPr txBox="1">
                <a:spLocks noRot="1" noChangeAspect="1" noMove="1" noResize="1" noEditPoints="1" noAdjustHandles="1" noChangeArrowheads="1" noChangeShapeType="1" noTextEdit="1"/>
              </p:cNvSpPr>
              <p:nvPr/>
            </p:nvSpPr>
            <p:spPr>
              <a:xfrm>
                <a:off x="5739423" y="3194227"/>
                <a:ext cx="854089" cy="669608"/>
              </a:xfrm>
              <a:prstGeom prst="roundRect">
                <a:avLst>
                  <a:gd name="adj" fmla="val 22661"/>
                </a:avLst>
              </a:prstGeom>
              <a:blipFill>
                <a:blip r:embed="rId6"/>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wc1">
                <a:extLst>
                  <a:ext uri="{FF2B5EF4-FFF2-40B4-BE49-F238E27FC236}">
                    <a16:creationId xmlns:a16="http://schemas.microsoft.com/office/drawing/2014/main" id="{D56B3E51-CC67-1842-4A33-8B47DEDBE08B}"/>
                  </a:ext>
                </a:extLst>
              </p:cNvPr>
              <p:cNvSpPr txBox="1"/>
              <p:nvPr/>
            </p:nvSpPr>
            <p:spPr>
              <a:xfrm>
                <a:off x="7947207" y="4126845"/>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7" name="wc1">
                <a:extLst>
                  <a:ext uri="{FF2B5EF4-FFF2-40B4-BE49-F238E27FC236}">
                    <a16:creationId xmlns:a16="http://schemas.microsoft.com/office/drawing/2014/main" id="{D56B3E51-CC67-1842-4A33-8B47DEDBE08B}"/>
                  </a:ext>
                </a:extLst>
              </p:cNvPr>
              <p:cNvSpPr txBox="1">
                <a:spLocks noRot="1" noChangeAspect="1" noMove="1" noResize="1" noEditPoints="1" noAdjustHandles="1" noChangeArrowheads="1" noChangeShapeType="1" noTextEdit="1"/>
              </p:cNvSpPr>
              <p:nvPr/>
            </p:nvSpPr>
            <p:spPr>
              <a:xfrm>
                <a:off x="7947207" y="4126845"/>
                <a:ext cx="801225" cy="524695"/>
              </a:xfrm>
              <a:prstGeom prst="rect">
                <a:avLst/>
              </a:prstGeom>
              <a:blipFill>
                <a:blip r:embed="rId7"/>
                <a:stretch>
                  <a:fillRect r="-3125"/>
                </a:stretch>
              </a:blipFill>
            </p:spPr>
            <p:txBody>
              <a:bodyPr/>
              <a:lstStyle/>
              <a:p>
                <a:r>
                  <a:rPr lang="zh-CN" altLang="en-US">
                    <a:noFill/>
                  </a:rPr>
                  <a:t> </a:t>
                </a:r>
              </a:p>
            </p:txBody>
          </p:sp>
        </mc:Fallback>
      </mc:AlternateContent>
      <p:grpSp>
        <p:nvGrpSpPr>
          <p:cNvPr id="8" name="坐标轴">
            <a:extLst>
              <a:ext uri="{FF2B5EF4-FFF2-40B4-BE49-F238E27FC236}">
                <a16:creationId xmlns:a16="http://schemas.microsoft.com/office/drawing/2014/main" id="{4A3A8B04-0AFC-2594-A55D-4233297134D9}"/>
              </a:ext>
            </a:extLst>
          </p:cNvPr>
          <p:cNvGrpSpPr/>
          <p:nvPr/>
        </p:nvGrpSpPr>
        <p:grpSpPr>
          <a:xfrm>
            <a:off x="5519142" y="4109031"/>
            <a:ext cx="4535630" cy="2560329"/>
            <a:chOff x="6894154" y="3567852"/>
            <a:chExt cx="4535630" cy="2560329"/>
          </a:xfrm>
        </p:grpSpPr>
        <p:cxnSp>
          <p:nvCxnSpPr>
            <p:cNvPr id="9" name="实轴">
              <a:extLst>
                <a:ext uri="{FF2B5EF4-FFF2-40B4-BE49-F238E27FC236}">
                  <a16:creationId xmlns:a16="http://schemas.microsoft.com/office/drawing/2014/main" id="{60C6E3B5-5CD8-362C-2AA1-E06235B10737}"/>
                </a:ext>
              </a:extLst>
            </p:cNvPr>
            <p:cNvCxnSpPr>
              <a:cxnSpLocks/>
            </p:cNvCxnSpPr>
            <p:nvPr/>
          </p:nvCxnSpPr>
          <p:spPr>
            <a:xfrm flipH="1">
              <a:off x="6894154" y="4597431"/>
              <a:ext cx="4248472"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虚轴">
              <a:extLst>
                <a:ext uri="{FF2B5EF4-FFF2-40B4-BE49-F238E27FC236}">
                  <a16:creationId xmlns:a16="http://schemas.microsoft.com/office/drawing/2014/main" id="{7CA4B816-BA7D-9434-7A53-8A3FAFED1C96}"/>
                </a:ext>
              </a:extLst>
            </p:cNvPr>
            <p:cNvCxnSpPr>
              <a:cxnSpLocks/>
            </p:cNvCxnSpPr>
            <p:nvPr/>
          </p:nvCxnSpPr>
          <p:spPr>
            <a:xfrm flipV="1">
              <a:off x="9276356" y="3679909"/>
              <a:ext cx="0" cy="2448272"/>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
                  <a:extLst>
                    <a:ext uri="{FF2B5EF4-FFF2-40B4-BE49-F238E27FC236}">
                      <a16:creationId xmlns:a16="http://schemas.microsoft.com/office/drawing/2014/main" id="{783CBF27-DFF1-91D5-9EA1-0AD89860973E}"/>
                    </a:ext>
                  </a:extLst>
                </p:cNvPr>
                <p:cNvSpPr txBox="1"/>
                <p:nvPr/>
              </p:nvSpPr>
              <p:spPr>
                <a:xfrm>
                  <a:off x="10853248" y="474144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1" name="Re">
                  <a:extLst>
                    <a:ext uri="{FF2B5EF4-FFF2-40B4-BE49-F238E27FC236}">
                      <a16:creationId xmlns:a16="http://schemas.microsoft.com/office/drawing/2014/main" id="{783CBF27-DFF1-91D5-9EA1-0AD89860973E}"/>
                    </a:ext>
                  </a:extLst>
                </p:cNvPr>
                <p:cNvSpPr txBox="1">
                  <a:spLocks noRot="1" noChangeAspect="1" noMove="1" noResize="1" noEditPoints="1" noAdjustHandles="1" noChangeArrowheads="1" noChangeShapeType="1" noTextEdit="1"/>
                </p:cNvSpPr>
                <p:nvPr/>
              </p:nvSpPr>
              <p:spPr>
                <a:xfrm>
                  <a:off x="10853248" y="4741447"/>
                  <a:ext cx="576536" cy="523220"/>
                </a:xfrm>
                <a:prstGeom prst="rect">
                  <a:avLst/>
                </a:prstGeom>
                <a:blipFill>
                  <a:blip r:embed="rId8"/>
                  <a:stretch>
                    <a:fillRect l="-4348"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Im">
                  <a:extLst>
                    <a:ext uri="{FF2B5EF4-FFF2-40B4-BE49-F238E27FC236}">
                      <a16:creationId xmlns:a16="http://schemas.microsoft.com/office/drawing/2014/main" id="{4A4AF148-644D-3776-39A1-362A86B12CC9}"/>
                    </a:ext>
                  </a:extLst>
                </p:cNvPr>
                <p:cNvSpPr txBox="1"/>
                <p:nvPr/>
              </p:nvSpPr>
              <p:spPr>
                <a:xfrm>
                  <a:off x="8537895" y="356785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12" name="Im">
                  <a:extLst>
                    <a:ext uri="{FF2B5EF4-FFF2-40B4-BE49-F238E27FC236}">
                      <a16:creationId xmlns:a16="http://schemas.microsoft.com/office/drawing/2014/main" id="{4A4AF148-644D-3776-39A1-362A86B12CC9}"/>
                    </a:ext>
                  </a:extLst>
                </p:cNvPr>
                <p:cNvSpPr txBox="1">
                  <a:spLocks noRot="1" noChangeAspect="1" noMove="1" noResize="1" noEditPoints="1" noAdjustHandles="1" noChangeArrowheads="1" noChangeShapeType="1" noTextEdit="1"/>
                </p:cNvSpPr>
                <p:nvPr/>
              </p:nvSpPr>
              <p:spPr>
                <a:xfrm>
                  <a:off x="8537895" y="3567852"/>
                  <a:ext cx="576536" cy="523220"/>
                </a:xfrm>
                <a:prstGeom prst="rect">
                  <a:avLst/>
                </a:prstGeom>
                <a:blipFill>
                  <a:blip r:embed="rId9"/>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 name="label2">
                <a:extLst>
                  <a:ext uri="{FF2B5EF4-FFF2-40B4-BE49-F238E27FC236}">
                    <a16:creationId xmlns:a16="http://schemas.microsoft.com/office/drawing/2014/main" id="{71FB1952-FB30-3F3D-B9B7-6A753E5DA07D}"/>
                  </a:ext>
                </a:extLst>
              </p:cNvPr>
              <p:cNvSpPr txBox="1"/>
              <p:nvPr/>
            </p:nvSpPr>
            <p:spPr>
              <a:xfrm>
                <a:off x="6675900" y="5373843"/>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13" name="label2">
                <a:extLst>
                  <a:ext uri="{FF2B5EF4-FFF2-40B4-BE49-F238E27FC236}">
                    <a16:creationId xmlns:a16="http://schemas.microsoft.com/office/drawing/2014/main" id="{71FB1952-FB30-3F3D-B9B7-6A753E5DA07D}"/>
                  </a:ext>
                </a:extLst>
              </p:cNvPr>
              <p:cNvSpPr txBox="1">
                <a:spLocks noRot="1" noChangeAspect="1" noMove="1" noResize="1" noEditPoints="1" noAdjustHandles="1" noChangeArrowheads="1" noChangeShapeType="1" noTextEdit="1"/>
              </p:cNvSpPr>
              <p:nvPr/>
            </p:nvSpPr>
            <p:spPr>
              <a:xfrm>
                <a:off x="6675900" y="5373843"/>
                <a:ext cx="801225" cy="523220"/>
              </a:xfrm>
              <a:prstGeom prst="rect">
                <a:avLst/>
              </a:prstGeom>
              <a:blipFill>
                <a:blip r:embed="rId10"/>
                <a:stretch>
                  <a:fillRect/>
                </a:stretch>
              </a:blipFill>
            </p:spPr>
            <p:txBody>
              <a:bodyPr/>
              <a:lstStyle/>
              <a:p>
                <a:r>
                  <a:rPr lang="zh-CN" altLang="en-US">
                    <a:noFill/>
                  </a:rPr>
                  <a:t> </a:t>
                </a:r>
              </a:p>
            </p:txBody>
          </p:sp>
        </mc:Fallback>
      </mc:AlternateContent>
      <p:sp>
        <p:nvSpPr>
          <p:cNvPr id="14" name="幅相">
            <a:extLst>
              <a:ext uri="{FF2B5EF4-FFF2-40B4-BE49-F238E27FC236}">
                <a16:creationId xmlns:a16="http://schemas.microsoft.com/office/drawing/2014/main" id="{47B422CD-B224-B277-C714-5AC6FAB3E8A3}"/>
              </a:ext>
            </a:extLst>
          </p:cNvPr>
          <p:cNvSpPr/>
          <p:nvPr/>
        </p:nvSpPr>
        <p:spPr>
          <a:xfrm>
            <a:off x="6036185" y="4958261"/>
            <a:ext cx="1866219" cy="137290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724443 w 724443"/>
              <a:gd name="connsiteY0" fmla="*/ 292415 h 1973377"/>
              <a:gd name="connsiteX1" fmla="*/ 240881 w 724443"/>
              <a:gd name="connsiteY1" fmla="*/ 490692 h 1973377"/>
              <a:gd name="connsiteX2" fmla="*/ 0 w 724443"/>
              <a:gd name="connsiteY2" fmla="*/ 1973377 h 1973377"/>
              <a:gd name="connsiteX0" fmla="*/ 724443 w 724443"/>
              <a:gd name="connsiteY0" fmla="*/ 0 h 1680962"/>
              <a:gd name="connsiteX1" fmla="*/ 240881 w 724443"/>
              <a:gd name="connsiteY1" fmla="*/ 198277 h 1680962"/>
              <a:gd name="connsiteX2" fmla="*/ 0 w 724443"/>
              <a:gd name="connsiteY2" fmla="*/ 1680962 h 1680962"/>
              <a:gd name="connsiteX0" fmla="*/ 724443 w 724443"/>
              <a:gd name="connsiteY0" fmla="*/ 278533 h 1959495"/>
              <a:gd name="connsiteX1" fmla="*/ 240881 w 724443"/>
              <a:gd name="connsiteY1" fmla="*/ 476810 h 1959495"/>
              <a:gd name="connsiteX2" fmla="*/ 0 w 724443"/>
              <a:gd name="connsiteY2" fmla="*/ 1959495 h 1959495"/>
              <a:gd name="connsiteX0" fmla="*/ 730625 w 730625"/>
              <a:gd name="connsiteY0" fmla="*/ 278533 h 1959495"/>
              <a:gd name="connsiteX1" fmla="*/ 247063 w 730625"/>
              <a:gd name="connsiteY1" fmla="*/ 476810 h 1959495"/>
              <a:gd name="connsiteX2" fmla="*/ 22394 w 730625"/>
              <a:gd name="connsiteY2" fmla="*/ 963264 h 1959495"/>
              <a:gd name="connsiteX3" fmla="*/ 6182 w 730625"/>
              <a:gd name="connsiteY3" fmla="*/ 1959495 h 1959495"/>
              <a:gd name="connsiteX0" fmla="*/ 1123921 w 1123921"/>
              <a:gd name="connsiteY0" fmla="*/ 509021 h 2189983"/>
              <a:gd name="connsiteX1" fmla="*/ 640359 w 1123921"/>
              <a:gd name="connsiteY1" fmla="*/ 707298 h 2189983"/>
              <a:gd name="connsiteX2" fmla="*/ 2590 w 1123921"/>
              <a:gd name="connsiteY2" fmla="*/ 38422 h 2189983"/>
              <a:gd name="connsiteX3" fmla="*/ 399478 w 1123921"/>
              <a:gd name="connsiteY3" fmla="*/ 2189983 h 2189983"/>
              <a:gd name="connsiteX0" fmla="*/ 1123921 w 1123921"/>
              <a:gd name="connsiteY0" fmla="*/ 484669 h 2165631"/>
              <a:gd name="connsiteX1" fmla="*/ 640359 w 1123921"/>
              <a:gd name="connsiteY1" fmla="*/ 682946 h 2165631"/>
              <a:gd name="connsiteX2" fmla="*/ 2590 w 1123921"/>
              <a:gd name="connsiteY2" fmla="*/ 14070 h 2165631"/>
              <a:gd name="connsiteX3" fmla="*/ 399478 w 1123921"/>
              <a:gd name="connsiteY3" fmla="*/ 2165631 h 2165631"/>
              <a:gd name="connsiteX0" fmla="*/ 1148991 w 1148991"/>
              <a:gd name="connsiteY0" fmla="*/ 484669 h 2165631"/>
              <a:gd name="connsiteX1" fmla="*/ 665429 w 1148991"/>
              <a:gd name="connsiteY1" fmla="*/ 682946 h 2165631"/>
              <a:gd name="connsiteX2" fmla="*/ 27660 w 1148991"/>
              <a:gd name="connsiteY2" fmla="*/ 14070 h 2165631"/>
              <a:gd name="connsiteX3" fmla="*/ 424548 w 1148991"/>
              <a:gd name="connsiteY3" fmla="*/ 2165631 h 2165631"/>
              <a:gd name="connsiteX0" fmla="*/ 1394982 w 1394982"/>
              <a:gd name="connsiteY0" fmla="*/ 278534 h 1959496"/>
              <a:gd name="connsiteX1" fmla="*/ 911420 w 1394982"/>
              <a:gd name="connsiteY1" fmla="*/ 476811 h 1959496"/>
              <a:gd name="connsiteX2" fmla="*/ 19993 w 1394982"/>
              <a:gd name="connsiteY2" fmla="*/ 257905 h 1959496"/>
              <a:gd name="connsiteX3" fmla="*/ 670539 w 1394982"/>
              <a:gd name="connsiteY3" fmla="*/ 1959496 h 1959496"/>
              <a:gd name="connsiteX0" fmla="*/ 1394982 w 1394982"/>
              <a:gd name="connsiteY0" fmla="*/ 285324 h 1966286"/>
              <a:gd name="connsiteX1" fmla="*/ 911420 w 1394982"/>
              <a:gd name="connsiteY1" fmla="*/ 483601 h 1966286"/>
              <a:gd name="connsiteX2" fmla="*/ 19993 w 1394982"/>
              <a:gd name="connsiteY2" fmla="*/ 264695 h 1966286"/>
              <a:gd name="connsiteX3" fmla="*/ 670539 w 1394982"/>
              <a:gd name="connsiteY3" fmla="*/ 1966286 h 1966286"/>
              <a:gd name="connsiteX0" fmla="*/ 1375699 w 1375699"/>
              <a:gd name="connsiteY0" fmla="*/ 285325 h 1966287"/>
              <a:gd name="connsiteX1" fmla="*/ 892137 w 1375699"/>
              <a:gd name="connsiteY1" fmla="*/ 483602 h 1966287"/>
              <a:gd name="connsiteX2" fmla="*/ 710 w 1375699"/>
              <a:gd name="connsiteY2" fmla="*/ 264696 h 1966287"/>
              <a:gd name="connsiteX3" fmla="*/ 651256 w 1375699"/>
              <a:gd name="connsiteY3" fmla="*/ 1966287 h 1966287"/>
              <a:gd name="connsiteX0" fmla="*/ 1375699 w 1375699"/>
              <a:gd name="connsiteY0" fmla="*/ 277390 h 1958352"/>
              <a:gd name="connsiteX1" fmla="*/ 739943 w 1375699"/>
              <a:gd name="connsiteY1" fmla="*/ 524312 h 1958352"/>
              <a:gd name="connsiteX2" fmla="*/ 710 w 1375699"/>
              <a:gd name="connsiteY2" fmla="*/ 256761 h 1958352"/>
              <a:gd name="connsiteX3" fmla="*/ 651256 w 1375699"/>
              <a:gd name="connsiteY3" fmla="*/ 1958352 h 1958352"/>
              <a:gd name="connsiteX0" fmla="*/ 1375699 w 1375699"/>
              <a:gd name="connsiteY0" fmla="*/ 277390 h 1958352"/>
              <a:gd name="connsiteX1" fmla="*/ 739943 w 1375699"/>
              <a:gd name="connsiteY1" fmla="*/ 524312 h 1958352"/>
              <a:gd name="connsiteX2" fmla="*/ 710 w 1375699"/>
              <a:gd name="connsiteY2" fmla="*/ 256761 h 1958352"/>
              <a:gd name="connsiteX3" fmla="*/ 651256 w 1375699"/>
              <a:gd name="connsiteY3" fmla="*/ 1958352 h 1958352"/>
              <a:gd name="connsiteX0" fmla="*/ 1375699 w 1375699"/>
              <a:gd name="connsiteY0" fmla="*/ 295737 h 1976699"/>
              <a:gd name="connsiteX1" fmla="*/ 739943 w 1375699"/>
              <a:gd name="connsiteY1" fmla="*/ 542659 h 1976699"/>
              <a:gd name="connsiteX2" fmla="*/ 710 w 1375699"/>
              <a:gd name="connsiteY2" fmla="*/ 275108 h 1976699"/>
              <a:gd name="connsiteX3" fmla="*/ 651256 w 1375699"/>
              <a:gd name="connsiteY3" fmla="*/ 1976699 h 1976699"/>
              <a:gd name="connsiteX0" fmla="*/ 1375699 w 1375699"/>
              <a:gd name="connsiteY0" fmla="*/ 295737 h 1976699"/>
              <a:gd name="connsiteX1" fmla="*/ 739943 w 1375699"/>
              <a:gd name="connsiteY1" fmla="*/ 542659 h 1976699"/>
              <a:gd name="connsiteX2" fmla="*/ 710 w 1375699"/>
              <a:gd name="connsiteY2" fmla="*/ 275108 h 1976699"/>
              <a:gd name="connsiteX3" fmla="*/ 651256 w 1375699"/>
              <a:gd name="connsiteY3" fmla="*/ 1976699 h 1976699"/>
              <a:gd name="connsiteX0" fmla="*/ 1376663 w 1376663"/>
              <a:gd name="connsiteY0" fmla="*/ 350584 h 2031546"/>
              <a:gd name="connsiteX1" fmla="*/ 378538 w 1376663"/>
              <a:gd name="connsiteY1" fmla="*/ 342117 h 2031546"/>
              <a:gd name="connsiteX2" fmla="*/ 1674 w 1376663"/>
              <a:gd name="connsiteY2" fmla="*/ 329955 h 2031546"/>
              <a:gd name="connsiteX3" fmla="*/ 652220 w 1376663"/>
              <a:gd name="connsiteY3" fmla="*/ 2031546 h 2031546"/>
              <a:gd name="connsiteX0" fmla="*/ 1375699 w 1375699"/>
              <a:gd name="connsiteY0" fmla="*/ 439020 h 2119982"/>
              <a:gd name="connsiteX1" fmla="*/ 377574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9020 h 2119982"/>
              <a:gd name="connsiteX1" fmla="*/ 377574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9020 h 2119982"/>
              <a:gd name="connsiteX1" fmla="*/ 551511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9020 h 2119982"/>
              <a:gd name="connsiteX1" fmla="*/ 551511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2886 h 2113848"/>
              <a:gd name="connsiteX1" fmla="*/ 551511 w 1375699"/>
              <a:gd name="connsiteY1" fmla="*/ 424419 h 2113848"/>
              <a:gd name="connsiteX2" fmla="*/ 710 w 1375699"/>
              <a:gd name="connsiteY2" fmla="*/ 412257 h 2113848"/>
              <a:gd name="connsiteX3" fmla="*/ 651256 w 1375699"/>
              <a:gd name="connsiteY3" fmla="*/ 2113848 h 2113848"/>
              <a:gd name="connsiteX0" fmla="*/ 1375699 w 1375699"/>
              <a:gd name="connsiteY0" fmla="*/ 447496 h 2128458"/>
              <a:gd name="connsiteX1" fmla="*/ 551511 w 1375699"/>
              <a:gd name="connsiteY1" fmla="*/ 439029 h 2128458"/>
              <a:gd name="connsiteX2" fmla="*/ 710 w 1375699"/>
              <a:gd name="connsiteY2" fmla="*/ 426867 h 2128458"/>
              <a:gd name="connsiteX3" fmla="*/ 651256 w 1375699"/>
              <a:gd name="connsiteY3" fmla="*/ 2128458 h 2128458"/>
              <a:gd name="connsiteX0" fmla="*/ 1375699 w 1375699"/>
              <a:gd name="connsiteY0" fmla="*/ 447496 h 2128458"/>
              <a:gd name="connsiteX1" fmla="*/ 551511 w 1375699"/>
              <a:gd name="connsiteY1" fmla="*/ 439029 h 2128458"/>
              <a:gd name="connsiteX2" fmla="*/ 710 w 1375699"/>
              <a:gd name="connsiteY2" fmla="*/ 426867 h 2128458"/>
              <a:gd name="connsiteX3" fmla="*/ 651256 w 1375699"/>
              <a:gd name="connsiteY3" fmla="*/ 2128458 h 2128458"/>
              <a:gd name="connsiteX0" fmla="*/ 1375699 w 1375699"/>
              <a:gd name="connsiteY0" fmla="*/ 581138 h 2262100"/>
              <a:gd name="connsiteX1" fmla="*/ 551511 w 1375699"/>
              <a:gd name="connsiteY1" fmla="*/ 572671 h 2262100"/>
              <a:gd name="connsiteX2" fmla="*/ 710 w 1375699"/>
              <a:gd name="connsiteY2" fmla="*/ 560509 h 2262100"/>
              <a:gd name="connsiteX3" fmla="*/ 651256 w 1375699"/>
              <a:gd name="connsiteY3" fmla="*/ 2262100 h 2262100"/>
              <a:gd name="connsiteX0" fmla="*/ 1375699 w 1375699"/>
              <a:gd name="connsiteY0" fmla="*/ 581138 h 2262100"/>
              <a:gd name="connsiteX1" fmla="*/ 551511 w 1375699"/>
              <a:gd name="connsiteY1" fmla="*/ 572671 h 2262100"/>
              <a:gd name="connsiteX2" fmla="*/ 710 w 1375699"/>
              <a:gd name="connsiteY2" fmla="*/ 560509 h 2262100"/>
              <a:gd name="connsiteX3" fmla="*/ 651256 w 1375699"/>
              <a:gd name="connsiteY3" fmla="*/ 2262100 h 2262100"/>
              <a:gd name="connsiteX0" fmla="*/ 1375898 w 1375898"/>
              <a:gd name="connsiteY0" fmla="*/ 567350 h 2248312"/>
              <a:gd name="connsiteX1" fmla="*/ 551710 w 1375898"/>
              <a:gd name="connsiteY1" fmla="*/ 558883 h 2248312"/>
              <a:gd name="connsiteX2" fmla="*/ 909 w 1375898"/>
              <a:gd name="connsiteY2" fmla="*/ 546721 h 2248312"/>
              <a:gd name="connsiteX3" fmla="*/ 651455 w 1375898"/>
              <a:gd name="connsiteY3" fmla="*/ 2248312 h 2248312"/>
              <a:gd name="connsiteX0" fmla="*/ 1375699 w 1375699"/>
              <a:gd name="connsiteY0" fmla="*/ 447320 h 2128282"/>
              <a:gd name="connsiteX1" fmla="*/ 551511 w 1375699"/>
              <a:gd name="connsiteY1" fmla="*/ 438853 h 2128282"/>
              <a:gd name="connsiteX2" fmla="*/ 710 w 1375699"/>
              <a:gd name="connsiteY2" fmla="*/ 426691 h 2128282"/>
              <a:gd name="connsiteX3" fmla="*/ 651256 w 1375699"/>
              <a:gd name="connsiteY3" fmla="*/ 2128282 h 2128282"/>
              <a:gd name="connsiteX0" fmla="*/ 1375699 w 1375699"/>
              <a:gd name="connsiteY0" fmla="*/ 446958 h 2127920"/>
              <a:gd name="connsiteX1" fmla="*/ 551511 w 1375699"/>
              <a:gd name="connsiteY1" fmla="*/ 438491 h 2127920"/>
              <a:gd name="connsiteX2" fmla="*/ 710 w 1375699"/>
              <a:gd name="connsiteY2" fmla="*/ 426329 h 2127920"/>
              <a:gd name="connsiteX3" fmla="*/ 651256 w 1375699"/>
              <a:gd name="connsiteY3" fmla="*/ 2127920 h 2127920"/>
              <a:gd name="connsiteX0" fmla="*/ 1385266 w 1385266"/>
              <a:gd name="connsiteY0" fmla="*/ 380646 h 2061608"/>
              <a:gd name="connsiteX1" fmla="*/ 561078 w 1385266"/>
              <a:gd name="connsiteY1" fmla="*/ 372179 h 2061608"/>
              <a:gd name="connsiteX2" fmla="*/ 10277 w 1385266"/>
              <a:gd name="connsiteY2" fmla="*/ 360017 h 2061608"/>
              <a:gd name="connsiteX3" fmla="*/ 660823 w 1385266"/>
              <a:gd name="connsiteY3" fmla="*/ 2061608 h 2061608"/>
              <a:gd name="connsiteX0" fmla="*/ 1385354 w 1385354"/>
              <a:gd name="connsiteY0" fmla="*/ 380646 h 2061608"/>
              <a:gd name="connsiteX1" fmla="*/ 561166 w 1385354"/>
              <a:gd name="connsiteY1" fmla="*/ 372179 h 2061608"/>
              <a:gd name="connsiteX2" fmla="*/ 10365 w 1385354"/>
              <a:gd name="connsiteY2" fmla="*/ 360017 h 2061608"/>
              <a:gd name="connsiteX3" fmla="*/ 660911 w 1385354"/>
              <a:gd name="connsiteY3" fmla="*/ 2061608 h 2061608"/>
              <a:gd name="connsiteX0" fmla="*/ 1375594 w 1375594"/>
              <a:gd name="connsiteY0" fmla="*/ 248225 h 1698122"/>
              <a:gd name="connsiteX1" fmla="*/ 551406 w 1375594"/>
              <a:gd name="connsiteY1" fmla="*/ 239758 h 1698122"/>
              <a:gd name="connsiteX2" fmla="*/ 605 w 1375594"/>
              <a:gd name="connsiteY2" fmla="*/ 227596 h 1698122"/>
              <a:gd name="connsiteX3" fmla="*/ 665646 w 1375594"/>
              <a:gd name="connsiteY3" fmla="*/ 1698121 h 1698122"/>
            </a:gdLst>
            <a:ahLst/>
            <a:cxnLst>
              <a:cxn ang="0">
                <a:pos x="connsiteX0" y="connsiteY0"/>
              </a:cxn>
              <a:cxn ang="0">
                <a:pos x="connsiteX1" y="connsiteY1"/>
              </a:cxn>
              <a:cxn ang="0">
                <a:pos x="connsiteX2" y="connsiteY2"/>
              </a:cxn>
              <a:cxn ang="0">
                <a:pos x="connsiteX3" y="connsiteY3"/>
              </a:cxn>
            </a:cxnLst>
            <a:rect l="l" t="t" r="r" b="b"/>
            <a:pathLst>
              <a:path w="1375594" h="1698122">
                <a:moveTo>
                  <a:pt x="1375594" y="248225"/>
                </a:moveTo>
                <a:cubicBezTo>
                  <a:pt x="1192664" y="-451850"/>
                  <a:pt x="889852" y="1190878"/>
                  <a:pt x="551406" y="239758"/>
                </a:cubicBezTo>
                <a:cubicBezTo>
                  <a:pt x="417811" y="-135678"/>
                  <a:pt x="-18435" y="-15465"/>
                  <a:pt x="605" y="227596"/>
                </a:cubicBezTo>
                <a:cubicBezTo>
                  <a:pt x="19645" y="470657"/>
                  <a:pt x="661101" y="802401"/>
                  <a:pt x="665646" y="1698121"/>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幅相">
            <a:extLst>
              <a:ext uri="{FF2B5EF4-FFF2-40B4-BE49-F238E27FC236}">
                <a16:creationId xmlns:a16="http://schemas.microsoft.com/office/drawing/2014/main" id="{C419A687-2DCF-935D-A910-66FD2C8E80E5}"/>
              </a:ext>
            </a:extLst>
          </p:cNvPr>
          <p:cNvSpPr/>
          <p:nvPr/>
        </p:nvSpPr>
        <p:spPr>
          <a:xfrm>
            <a:off x="7916908" y="5173274"/>
            <a:ext cx="1458890" cy="137378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 name="connsiteX0" fmla="*/ 0 w 1553966"/>
              <a:gd name="connsiteY0" fmla="*/ 1784337 h 1784337"/>
              <a:gd name="connsiteX1" fmla="*/ 1553678 w 1553966"/>
              <a:gd name="connsiteY1" fmla="*/ 0 h 1784337"/>
              <a:gd name="connsiteX0" fmla="*/ 0 w 1075963"/>
              <a:gd name="connsiteY0" fmla="*/ 1699207 h 1699207"/>
              <a:gd name="connsiteX1" fmla="*/ 1075351 w 1075963"/>
              <a:gd name="connsiteY1" fmla="*/ 0 h 1699207"/>
              <a:gd name="connsiteX0" fmla="*/ 0 w 1075351"/>
              <a:gd name="connsiteY0" fmla="*/ 1699207 h 1699207"/>
              <a:gd name="connsiteX1" fmla="*/ 1075351 w 1075351"/>
              <a:gd name="connsiteY1" fmla="*/ 0 h 1699207"/>
            </a:gdLst>
            <a:ahLst/>
            <a:cxnLst>
              <a:cxn ang="0">
                <a:pos x="connsiteX0" y="connsiteY0"/>
              </a:cxn>
              <a:cxn ang="0">
                <a:pos x="connsiteX1" y="connsiteY1"/>
              </a:cxn>
            </a:cxnLst>
            <a:rect l="l" t="t" r="r" b="b"/>
            <a:pathLst>
              <a:path w="1075351" h="1699207">
                <a:moveTo>
                  <a:pt x="0" y="1699207"/>
                </a:moveTo>
                <a:cubicBezTo>
                  <a:pt x="688019" y="1691443"/>
                  <a:pt x="1057718" y="864855"/>
                  <a:pt x="1075351"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8FBA4FF6-FDA3-D642-0735-B08A6A813079}"/>
                  </a:ext>
                </a:extLst>
              </p:cNvPr>
              <p:cNvSpPr txBox="1"/>
              <p:nvPr/>
            </p:nvSpPr>
            <p:spPr>
              <a:xfrm>
                <a:off x="5421947" y="5221386"/>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m:t>
                          </m:r>
                        </m:e>
                      </m:d>
                    </m:oMath>
                  </m:oMathPara>
                </a14:m>
                <a:endParaRPr lang="zh-CN" altLang="en-US" sz="2800" dirty="0">
                  <a:solidFill>
                    <a:srgbClr val="E44860"/>
                  </a:solidFill>
                </a:endParaRPr>
              </a:p>
            </p:txBody>
          </p:sp>
        </mc:Choice>
        <mc:Fallback xmlns="">
          <p:sp>
            <p:nvSpPr>
              <p:cNvPr id="16" name="原点">
                <a:extLst>
                  <a:ext uri="{FF2B5EF4-FFF2-40B4-BE49-F238E27FC236}">
                    <a16:creationId xmlns:a16="http://schemas.microsoft.com/office/drawing/2014/main" id="{8FBA4FF6-FDA3-D642-0735-B08A6A813079}"/>
                  </a:ext>
                </a:extLst>
              </p:cNvPr>
              <p:cNvSpPr txBox="1">
                <a:spLocks noRot="1" noChangeAspect="1" noMove="1" noResize="1" noEditPoints="1" noAdjustHandles="1" noChangeArrowheads="1" noChangeShapeType="1" noTextEdit="1"/>
              </p:cNvSpPr>
              <p:nvPr/>
            </p:nvSpPr>
            <p:spPr>
              <a:xfrm>
                <a:off x="5421947" y="5221386"/>
                <a:ext cx="545352" cy="524695"/>
              </a:xfrm>
              <a:prstGeom prst="rect">
                <a:avLst/>
              </a:prstGeom>
              <a:blipFill>
                <a:blip r:embed="rId11"/>
                <a:stretch>
                  <a:fillRect r="-15909"/>
                </a:stretch>
              </a:blipFill>
            </p:spPr>
            <p:txBody>
              <a:bodyPr/>
              <a:lstStyle/>
              <a:p>
                <a:r>
                  <a:rPr lang="zh-CN" altLang="en-US">
                    <a:noFill/>
                  </a:rPr>
                  <a:t> </a:t>
                </a:r>
              </a:p>
            </p:txBody>
          </p:sp>
        </mc:Fallback>
      </mc:AlternateContent>
      <p:cxnSp>
        <p:nvCxnSpPr>
          <p:cNvPr id="20" name="虚轴">
            <a:extLst>
              <a:ext uri="{FF2B5EF4-FFF2-40B4-BE49-F238E27FC236}">
                <a16:creationId xmlns:a16="http://schemas.microsoft.com/office/drawing/2014/main" id="{57148C0E-3A0E-47F5-FE23-C056FCA65D0F}"/>
              </a:ext>
            </a:extLst>
          </p:cNvPr>
          <p:cNvCxnSpPr>
            <a:cxnSpLocks/>
            <a:endCxn id="14" idx="3"/>
          </p:cNvCxnSpPr>
          <p:nvPr/>
        </p:nvCxnSpPr>
        <p:spPr>
          <a:xfrm flipH="1" flipV="1">
            <a:off x="6939243" y="6331164"/>
            <a:ext cx="946588" cy="211293"/>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4" name="极点2">
            <a:extLst>
              <a:ext uri="{FF2B5EF4-FFF2-40B4-BE49-F238E27FC236}">
                <a16:creationId xmlns:a16="http://schemas.microsoft.com/office/drawing/2014/main" id="{830853EC-5DF9-22FF-C870-94FD09675D41}"/>
              </a:ext>
            </a:extLst>
          </p:cNvPr>
          <p:cNvSpPr/>
          <p:nvPr/>
        </p:nvSpPr>
        <p:spPr>
          <a:xfrm>
            <a:off x="6999074" y="4994594"/>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31" name="原点">
                <a:extLst>
                  <a:ext uri="{FF2B5EF4-FFF2-40B4-BE49-F238E27FC236}">
                    <a16:creationId xmlns:a16="http://schemas.microsoft.com/office/drawing/2014/main" id="{65E4C7EC-0A01-CDCE-ED1F-3F599522D245}"/>
                  </a:ext>
                </a:extLst>
              </p:cNvPr>
              <p:cNvSpPr txBox="1"/>
              <p:nvPr/>
            </p:nvSpPr>
            <p:spPr>
              <a:xfrm>
                <a:off x="6571669" y="447973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m:t>
                          </m:r>
                        </m:e>
                      </m:d>
                    </m:oMath>
                  </m:oMathPara>
                </a14:m>
                <a:endParaRPr lang="zh-CN" altLang="en-US" sz="2800" dirty="0">
                  <a:solidFill>
                    <a:srgbClr val="E44860"/>
                  </a:solidFill>
                </a:endParaRPr>
              </a:p>
            </p:txBody>
          </p:sp>
        </mc:Choice>
        <mc:Fallback xmlns="">
          <p:sp>
            <p:nvSpPr>
              <p:cNvPr id="31" name="原点">
                <a:extLst>
                  <a:ext uri="{FF2B5EF4-FFF2-40B4-BE49-F238E27FC236}">
                    <a16:creationId xmlns:a16="http://schemas.microsoft.com/office/drawing/2014/main" id="{65E4C7EC-0A01-CDCE-ED1F-3F599522D245}"/>
                  </a:ext>
                </a:extLst>
              </p:cNvPr>
              <p:cNvSpPr txBox="1">
                <a:spLocks noRot="1" noChangeAspect="1" noMove="1" noResize="1" noEditPoints="1" noAdjustHandles="1" noChangeArrowheads="1" noChangeShapeType="1" noTextEdit="1"/>
              </p:cNvSpPr>
              <p:nvPr/>
            </p:nvSpPr>
            <p:spPr>
              <a:xfrm>
                <a:off x="6571669" y="4479730"/>
                <a:ext cx="545352" cy="524695"/>
              </a:xfrm>
              <a:prstGeom prst="rect">
                <a:avLst/>
              </a:prstGeom>
              <a:blipFill>
                <a:blip r:embed="rId12"/>
                <a:stretch>
                  <a:fillRect r="-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重要1">
                <a:extLst>
                  <a:ext uri="{FF2B5EF4-FFF2-40B4-BE49-F238E27FC236}">
                    <a16:creationId xmlns:a16="http://schemas.microsoft.com/office/drawing/2014/main" id="{8D5E7961-70BE-49F8-D8B8-7F9BDEB6C445}"/>
                  </a:ext>
                </a:extLst>
              </p:cNvPr>
              <p:cNvSpPr txBox="1"/>
              <p:nvPr/>
            </p:nvSpPr>
            <p:spPr>
              <a:xfrm>
                <a:off x="910630" y="4074775"/>
                <a:ext cx="2877592"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zh-CN" sz="3200" b="1" i="1" dirty="0" smtClean="0">
                          <a:solidFill>
                            <a:schemeClr val="bg1"/>
                          </a:solidFill>
                          <a:latin typeface="Cambria Math" panose="02040503050406030204" pitchFamily="18" charset="0"/>
                        </a:rPr>
                        <m:t>𝑵</m:t>
                      </m:r>
                      <m:r>
                        <a:rPr kumimoji="1" lang="en-US" altLang="zh-CN" sz="3200" b="1" i="1" dirty="0" smtClean="0">
                          <a:solidFill>
                            <a:schemeClr val="bg1"/>
                          </a:solidFill>
                          <a:latin typeface="Cambria Math" panose="02040503050406030204" pitchFamily="18" charset="0"/>
                        </a:rPr>
                        <m:t>=</m:t>
                      </m:r>
                      <m:sSup>
                        <m:sSupPr>
                          <m:ctrlPr>
                            <a:rPr kumimoji="1" lang="en-US" altLang="zh-CN" sz="3200" b="1" i="1" dirty="0" smtClean="0">
                              <a:solidFill>
                                <a:schemeClr val="bg1"/>
                              </a:solidFill>
                              <a:latin typeface="Cambria Math" panose="02040503050406030204" pitchFamily="18" charset="0"/>
                            </a:rPr>
                          </m:ctrlPr>
                        </m:sSupPr>
                        <m:e>
                          <m:r>
                            <a:rPr kumimoji="1" lang="en-US" altLang="zh-CN" sz="3200" b="1" i="1" dirty="0" smtClean="0">
                              <a:solidFill>
                                <a:schemeClr val="bg1"/>
                              </a:solidFill>
                              <a:latin typeface="Cambria Math" panose="02040503050406030204" pitchFamily="18" charset="0"/>
                            </a:rPr>
                            <m:t>𝑵</m:t>
                          </m:r>
                        </m:e>
                        <m:sup>
                          <m:r>
                            <a:rPr kumimoji="1" lang="en-US" altLang="zh-CN" sz="3200" b="1" i="1" dirty="0" smtClean="0">
                              <a:solidFill>
                                <a:schemeClr val="bg1"/>
                              </a:solidFill>
                              <a:latin typeface="Cambria Math" panose="02040503050406030204" pitchFamily="18" charset="0"/>
                            </a:rPr>
                            <m:t>+</m:t>
                          </m:r>
                        </m:sup>
                      </m:sSup>
                      <m:r>
                        <a:rPr kumimoji="1" lang="en-US" altLang="zh-CN" sz="3200" b="1" i="1" dirty="0" smtClean="0">
                          <a:solidFill>
                            <a:schemeClr val="bg1"/>
                          </a:solidFill>
                          <a:latin typeface="Cambria Math" panose="02040503050406030204" pitchFamily="18" charset="0"/>
                        </a:rPr>
                        <m:t>−</m:t>
                      </m:r>
                      <m:sSup>
                        <m:sSupPr>
                          <m:ctrlPr>
                            <a:rPr kumimoji="1" lang="en-US" altLang="zh-CN" sz="3200" b="1" i="1" dirty="0" smtClean="0">
                              <a:solidFill>
                                <a:schemeClr val="bg1"/>
                              </a:solidFill>
                              <a:latin typeface="Cambria Math" panose="02040503050406030204" pitchFamily="18" charset="0"/>
                            </a:rPr>
                          </m:ctrlPr>
                        </m:sSupPr>
                        <m:e>
                          <m:r>
                            <a:rPr kumimoji="1" lang="en-US" altLang="zh-CN" sz="3200" b="1" i="1" dirty="0" smtClean="0">
                              <a:solidFill>
                                <a:schemeClr val="bg1"/>
                              </a:solidFill>
                              <a:latin typeface="Cambria Math" panose="02040503050406030204" pitchFamily="18" charset="0"/>
                            </a:rPr>
                            <m:t>𝑵</m:t>
                          </m:r>
                        </m:e>
                        <m:sup>
                          <m:r>
                            <a:rPr kumimoji="1" lang="en-US" altLang="zh-CN" sz="3200" b="1" i="1" dirty="0" smtClean="0">
                              <a:solidFill>
                                <a:schemeClr val="bg1"/>
                              </a:solidFill>
                              <a:latin typeface="Cambria Math" panose="02040503050406030204" pitchFamily="18" charset="0"/>
                            </a:rPr>
                            <m:t>−</m:t>
                          </m:r>
                        </m:sup>
                      </m:sSup>
                    </m:oMath>
                  </m:oMathPara>
                </a14:m>
                <a:endParaRPr kumimoji="1" lang="zh-CN" altLang="en-US" sz="3200" b="1" dirty="0">
                  <a:solidFill>
                    <a:schemeClr val="bg1"/>
                  </a:solidFill>
                </a:endParaRPr>
              </a:p>
            </p:txBody>
          </p:sp>
        </mc:Choice>
        <mc:Fallback xmlns="">
          <p:sp>
            <p:nvSpPr>
              <p:cNvPr id="34" name="重要1">
                <a:extLst>
                  <a:ext uri="{FF2B5EF4-FFF2-40B4-BE49-F238E27FC236}">
                    <a16:creationId xmlns:a16="http://schemas.microsoft.com/office/drawing/2014/main" id="{8D5E7961-70BE-49F8-D8B8-7F9BDEB6C445}"/>
                  </a:ext>
                </a:extLst>
              </p:cNvPr>
              <p:cNvSpPr txBox="1">
                <a:spLocks noRot="1" noChangeAspect="1" noMove="1" noResize="1" noEditPoints="1" noAdjustHandles="1" noChangeArrowheads="1" noChangeShapeType="1" noTextEdit="1"/>
              </p:cNvSpPr>
              <p:nvPr/>
            </p:nvSpPr>
            <p:spPr>
              <a:xfrm>
                <a:off x="910630" y="4074775"/>
                <a:ext cx="2877592" cy="669608"/>
              </a:xfrm>
              <a:prstGeom prst="roundRect">
                <a:avLst>
                  <a:gd name="adj" fmla="val 22661"/>
                </a:avLst>
              </a:prstGeom>
              <a:blipFill>
                <a:blip r:embed="rId13"/>
                <a:stretch>
                  <a:fillRect/>
                </a:stretch>
              </a:blipFill>
              <a:ln>
                <a:no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35" name="说明3">
            <a:extLst>
              <a:ext uri="{FF2B5EF4-FFF2-40B4-BE49-F238E27FC236}">
                <a16:creationId xmlns:a16="http://schemas.microsoft.com/office/drawing/2014/main" id="{3AA4714E-ECE6-C9EA-5D75-793673CCD2A3}"/>
              </a:ext>
            </a:extLst>
          </p:cNvPr>
          <p:cNvSpPr txBox="1"/>
          <p:nvPr/>
        </p:nvSpPr>
        <p:spPr>
          <a:xfrm>
            <a:off x="424634" y="5282626"/>
            <a:ext cx="1866219"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kumimoji="1" lang="zh-CN" altLang="en-US" sz="2800" dirty="0">
                <a:solidFill>
                  <a:srgbClr val="2980B9"/>
                </a:solidFill>
                <a:latin typeface="Microsoft YaHei" panose="020B0503020204020204" pitchFamily="34" charset="-122"/>
                <a:ea typeface="Microsoft YaHei" panose="020B0503020204020204" pitchFamily="34" charset="-122"/>
              </a:rPr>
              <a:t>闭合曲线</a:t>
            </a:r>
            <a:r>
              <a:rPr kumimoji="1" lang="en-US" altLang="zh-CN" sz="2800" dirty="0">
                <a:solidFill>
                  <a:srgbClr val="2980B9"/>
                </a:solidFill>
                <a:latin typeface="Microsoft YaHei" panose="020B0503020204020204" pitchFamily="34" charset="-122"/>
                <a:ea typeface="Microsoft YaHei" panose="020B0503020204020204" pitchFamily="34" charset="-122"/>
              </a:rPr>
              <a:t>:</a:t>
            </a:r>
            <a:endParaRPr kumimoji="1" lang="zh-CN" altLang="en-US" sz="2800" dirty="0">
              <a:solidFill>
                <a:srgbClr val="2980B9"/>
              </a:solidFill>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36" name="说明3">
                <a:extLst>
                  <a:ext uri="{FF2B5EF4-FFF2-40B4-BE49-F238E27FC236}">
                    <a16:creationId xmlns:a16="http://schemas.microsoft.com/office/drawing/2014/main" id="{A70C7AC0-9BC3-2333-13F8-1F5DC911A261}"/>
                  </a:ext>
                </a:extLst>
              </p:cNvPr>
              <p:cNvSpPr txBox="1"/>
              <p:nvPr/>
            </p:nvSpPr>
            <p:spPr>
              <a:xfrm>
                <a:off x="424634" y="5963575"/>
                <a:ext cx="4134352"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14:m>
                  <m:oMathPara xmlns:m="http://schemas.openxmlformats.org/officeDocument/2006/math">
                    <m:oMathParaPr>
                      <m:jc m:val="centerGroup"/>
                    </m:oMathParaPr>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𝑅</m:t>
                      </m:r>
                      <m:r>
                        <a:rPr kumimoji="1" lang="en-US" altLang="zh-CN" sz="2800" i="1" dirty="0" smtClean="0">
                          <a:solidFill>
                            <a:srgbClr val="2980B9"/>
                          </a:solidFill>
                          <a:latin typeface="Cambria Math" panose="02040503050406030204" pitchFamily="18" charset="0"/>
                          <a:ea typeface="Microsoft YaHei" panose="020B0503020204020204" pitchFamily="34" charset="-122"/>
                        </a:rPr>
                        <m:t>=2</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r>
                        <a:rPr kumimoji="1" lang="en-US" altLang="zh-CN" sz="2800" i="1" dirty="0" smtClean="0">
                          <a:solidFill>
                            <a:srgbClr val="2980B9"/>
                          </a:solidFill>
                          <a:latin typeface="Cambria Math" panose="02040503050406030204" pitchFamily="18" charset="0"/>
                          <a:ea typeface="Microsoft YaHei" panose="020B0503020204020204" pitchFamily="34" charset="-122"/>
                        </a:rPr>
                        <m:t>=2(</m:t>
                      </m:r>
                      <m:sSup>
                        <m:sSupPr>
                          <m:ctrlPr>
                            <a:rPr kumimoji="1" lang="en-US" altLang="zh-CN" sz="2800" i="1" dirty="0" smtClean="0">
                              <a:solidFill>
                                <a:srgbClr val="2980B9"/>
                              </a:solidFill>
                              <a:latin typeface="Cambria Math" panose="02040503050406030204" pitchFamily="18" charset="0"/>
                              <a:ea typeface="Microsoft YaHei" panose="020B0503020204020204" pitchFamily="34" charset="-122"/>
                            </a:rPr>
                          </m:ctrlPr>
                        </m:sSupPr>
                        <m:e>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e>
                        <m:sup>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sup>
                      </m:sSup>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sSup>
                        <m:sSupPr>
                          <m:ctrlPr>
                            <a:rPr kumimoji="1" lang="en-US" altLang="zh-CN" sz="2800" b="0" i="1" dirty="0" smtClean="0">
                              <a:solidFill>
                                <a:srgbClr val="2980B9"/>
                              </a:solidFill>
                              <a:latin typeface="Cambria Math" panose="02040503050406030204" pitchFamily="18" charset="0"/>
                              <a:ea typeface="Microsoft YaHei" panose="020B0503020204020204" pitchFamily="34" charset="-122"/>
                            </a:rPr>
                          </m:ctrlPr>
                        </m:sSupPr>
                        <m:e>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e>
                        <m:sup>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sup>
                      </m:sSup>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oMath>
                  </m:oMathPara>
                </a14:m>
                <a:endParaRPr kumimoji="1" lang="zh-CN" altLang="en-US" sz="2800" dirty="0">
                  <a:solidFill>
                    <a:srgbClr val="2980B9"/>
                  </a:solidFill>
                  <a:latin typeface="Microsoft YaHei" panose="020B0503020204020204" pitchFamily="34" charset="-122"/>
                  <a:ea typeface="Microsoft YaHei" panose="020B0503020204020204" pitchFamily="34" charset="-122"/>
                </a:endParaRPr>
              </a:p>
            </p:txBody>
          </p:sp>
        </mc:Choice>
        <mc:Fallback xmlns="">
          <p:sp>
            <p:nvSpPr>
              <p:cNvPr id="36" name="说明3">
                <a:extLst>
                  <a:ext uri="{FF2B5EF4-FFF2-40B4-BE49-F238E27FC236}">
                    <a16:creationId xmlns:a16="http://schemas.microsoft.com/office/drawing/2014/main" id="{A70C7AC0-9BC3-2333-13F8-1F5DC911A261}"/>
                  </a:ext>
                </a:extLst>
              </p:cNvPr>
              <p:cNvSpPr txBox="1">
                <a:spLocks noRot="1" noChangeAspect="1" noMove="1" noResize="1" noEditPoints="1" noAdjustHandles="1" noChangeArrowheads="1" noChangeShapeType="1" noTextEdit="1"/>
              </p:cNvSpPr>
              <p:nvPr/>
            </p:nvSpPr>
            <p:spPr>
              <a:xfrm>
                <a:off x="424634" y="5963575"/>
                <a:ext cx="4134352" cy="578882"/>
              </a:xfrm>
              <a:prstGeom prst="flowChartAlternateProcess">
                <a:avLst/>
              </a:prstGeom>
              <a:blipFill>
                <a:blip r:embed="rId14"/>
                <a:stretch>
                  <a:fillRect b="-12500"/>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说明3">
                <a:extLst>
                  <a:ext uri="{FF2B5EF4-FFF2-40B4-BE49-F238E27FC236}">
                    <a16:creationId xmlns:a16="http://schemas.microsoft.com/office/drawing/2014/main" id="{E2004B68-BFB6-E302-DB8C-3E45BBE86F98}"/>
                  </a:ext>
                </a:extLst>
              </p:cNvPr>
              <p:cNvSpPr txBox="1"/>
              <p:nvPr/>
            </p:nvSpPr>
            <p:spPr>
              <a:xfrm>
                <a:off x="9476355" y="5966388"/>
                <a:ext cx="2573135"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14:m>
                  <m:oMathPara xmlns:m="http://schemas.openxmlformats.org/officeDocument/2006/math">
                    <m:oMathParaPr>
                      <m:jc m:val="centerGroup"/>
                    </m:oMathParaPr>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r>
                        <a:rPr kumimoji="1" lang="en-US" altLang="zh-CN" sz="2800" b="0" i="1" dirty="0" smtClean="0">
                          <a:solidFill>
                            <a:srgbClr val="2980B9"/>
                          </a:solidFill>
                          <a:latin typeface="Cambria Math" panose="02040503050406030204" pitchFamily="18" charset="0"/>
                          <a:ea typeface="Microsoft YaHei" panose="020B0503020204020204" pitchFamily="34" charset="-122"/>
                        </a:rPr>
                        <m:t>=1−1=0</m:t>
                      </m:r>
                    </m:oMath>
                  </m:oMathPara>
                </a14:m>
                <a:endParaRPr kumimoji="1" lang="zh-CN" altLang="en-US" sz="2800" dirty="0">
                  <a:solidFill>
                    <a:srgbClr val="2980B9"/>
                  </a:solidFill>
                  <a:latin typeface="Microsoft YaHei" panose="020B0503020204020204" pitchFamily="34" charset="-122"/>
                  <a:ea typeface="Microsoft YaHei" panose="020B0503020204020204" pitchFamily="34" charset="-122"/>
                </a:endParaRPr>
              </a:p>
            </p:txBody>
          </p:sp>
        </mc:Choice>
        <mc:Fallback xmlns="">
          <p:sp>
            <p:nvSpPr>
              <p:cNvPr id="37" name="说明3">
                <a:extLst>
                  <a:ext uri="{FF2B5EF4-FFF2-40B4-BE49-F238E27FC236}">
                    <a16:creationId xmlns:a16="http://schemas.microsoft.com/office/drawing/2014/main" id="{E2004B68-BFB6-E302-DB8C-3E45BBE86F98}"/>
                  </a:ext>
                </a:extLst>
              </p:cNvPr>
              <p:cNvSpPr txBox="1">
                <a:spLocks noRot="1" noChangeAspect="1" noMove="1" noResize="1" noEditPoints="1" noAdjustHandles="1" noChangeArrowheads="1" noChangeShapeType="1" noTextEdit="1"/>
              </p:cNvSpPr>
              <p:nvPr/>
            </p:nvSpPr>
            <p:spPr>
              <a:xfrm>
                <a:off x="9476355" y="5966388"/>
                <a:ext cx="2573135" cy="578882"/>
              </a:xfrm>
              <a:prstGeom prst="flowChartAlternateProcess">
                <a:avLst/>
              </a:prstGeom>
              <a:blipFill>
                <a:blip r:embed="rId15"/>
                <a:stretch>
                  <a:fillRect/>
                </a:stretch>
              </a:blipFill>
              <a:ln>
                <a:prstDash val="sysDot"/>
              </a:ln>
            </p:spPr>
            <p:txBody>
              <a:bodyPr/>
              <a:lstStyle/>
              <a:p>
                <a:r>
                  <a:rPr lang="zh-CN" altLang="en-US">
                    <a:noFill/>
                  </a:rPr>
                  <a:t> </a:t>
                </a:r>
              </a:p>
            </p:txBody>
          </p:sp>
        </mc:Fallback>
      </mc:AlternateContent>
    </p:spTree>
    <p:extLst>
      <p:ext uri="{BB962C8B-B14F-4D97-AF65-F5344CB8AC3E}">
        <p14:creationId xmlns:p14="http://schemas.microsoft.com/office/powerpoint/2010/main" val="1033085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par>
                          <p:cTn id="22" fill="hold">
                            <p:stCondLst>
                              <p:cond delay="500"/>
                            </p:stCondLst>
                            <p:childTnLst>
                              <p:par>
                                <p:cTn id="23" presetID="22" presetClass="entr" presetSubtype="4" fill="hold" grpId="0"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wipe(down)">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down)">
                                      <p:cBhvr>
                                        <p:cTn id="35" dur="500"/>
                                        <p:tgtEl>
                                          <p:spTgt spid="35"/>
                                        </p:tgtEl>
                                      </p:cBhvr>
                                    </p:animEffec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down)">
                                      <p:cBhvr>
                                        <p:cTn id="39" dur="5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down)">
                                      <p:cBhvr>
                                        <p:cTn id="4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5" grpId="0" animBg="1"/>
      <p:bldP spid="2" grpId="0" animBg="1"/>
      <p:bldP spid="4" grpId="0" animBg="1"/>
      <p:bldP spid="6" grpId="0" animBg="1"/>
      <p:bldP spid="34" grpId="0" animBg="1"/>
      <p:bldP spid="35" grpId="0" animBg="1"/>
      <p:bldP spid="36" grpId="0" animBg="1"/>
      <p:bldP spid="3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奈奎斯特稳定判据</a:t>
            </a:r>
          </a:p>
        </p:txBody>
      </p:sp>
      <mc:AlternateContent xmlns:mc="http://schemas.openxmlformats.org/markup-compatibility/2006" xmlns:a14="http://schemas.microsoft.com/office/drawing/2010/main">
        <mc:Choice Requires="a14">
          <p:sp>
            <p:nvSpPr>
              <p:cNvPr id="68" name="说明3">
                <a:extLst>
                  <a:ext uri="{FF2B5EF4-FFF2-40B4-BE49-F238E27FC236}">
                    <a16:creationId xmlns:a16="http://schemas.microsoft.com/office/drawing/2014/main" id="{D5AA8BA3-5D7D-374B-719B-DBCABB67ECC1}"/>
                  </a:ext>
                </a:extLst>
              </p:cNvPr>
              <p:cNvSpPr txBox="1"/>
              <p:nvPr/>
            </p:nvSpPr>
            <p:spPr>
              <a:xfrm>
                <a:off x="320223" y="1896666"/>
                <a:ext cx="11607627"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latin typeface="Microsoft YaHei" panose="020B0503020204020204" pitchFamily="34" charset="-122"/>
                    <a:ea typeface="Microsoft YaHei" panose="020B0503020204020204" pitchFamily="34" charset="-122"/>
                  </a:rPr>
                  <a:t>若半闭合 </a:t>
                </a:r>
                <a:r>
                  <a:rPr kumimoji="1" lang="en-US" altLang="zh-CN" sz="2800" dirty="0">
                    <a:solidFill>
                      <a:srgbClr val="2980B9"/>
                    </a:solidFill>
                    <a:latin typeface="Microsoft YaHei" panose="020B0503020204020204" pitchFamily="34" charset="-122"/>
                    <a:ea typeface="Microsoft YaHei" panose="020B0503020204020204" pitchFamily="34" charset="-122"/>
                  </a:rPr>
                  <a:t>Nyquist</a:t>
                </a:r>
                <a:r>
                  <a:rPr kumimoji="1" lang="zh-CN" altLang="en-US" sz="2800" dirty="0">
                    <a:solidFill>
                      <a:srgbClr val="2980B9"/>
                    </a:solidFill>
                    <a:latin typeface="Microsoft YaHei" panose="020B0503020204020204" pitchFamily="34" charset="-122"/>
                    <a:ea typeface="Microsoft YaHei" panose="020B0503020204020204" pitchFamily="34" charset="-122"/>
                  </a:rPr>
                  <a:t> 曲线不通过点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𝑗</m:t>
                    </m:r>
                    <m:r>
                      <a:rPr kumimoji="1" lang="en-US" altLang="zh-CN" sz="2800" i="1" dirty="0" smtClean="0">
                        <a:solidFill>
                          <a:srgbClr val="2980B9"/>
                        </a:solidFill>
                        <a:latin typeface="Cambria Math" panose="02040503050406030204" pitchFamily="18" charset="0"/>
                        <a:ea typeface="Microsoft YaHei" panose="020B0503020204020204" pitchFamily="34" charset="-122"/>
                      </a:rPr>
                      <m: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，且穿越负实轴段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m:t>
                    </m:r>
                  </m:oMath>
                </a14:m>
                <a:r>
                  <a:rPr kumimoji="1" lang="en-US"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次数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r>
                      <a:rPr kumimoji="1" lang="en-US" altLang="zh-CN" sz="2800" i="1" dirty="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𝑃</m:t>
                    </m:r>
                    <m:r>
                      <a:rPr kumimoji="1" lang="en-US" altLang="zh-CN" sz="2800" i="1" dirty="0" smtClean="0">
                        <a:solidFill>
                          <a:srgbClr val="2980B9"/>
                        </a:solidFill>
                        <a:latin typeface="Cambria Math" panose="02040503050406030204" pitchFamily="18" charset="0"/>
                        <a:ea typeface="Microsoft YaHei" panose="020B0503020204020204" pitchFamily="34" charset="-122"/>
                      </a:rPr>
                      <m:t>/2</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，则系统闭环稳定。</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𝑃</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为右半平面开环极点数目。</a:t>
                </a:r>
              </a:p>
              <a:p>
                <a:r>
                  <a:rPr kumimoji="1" lang="zh-CN" altLang="en-US" sz="2800" dirty="0">
                    <a:solidFill>
                      <a:srgbClr val="2980B9"/>
                    </a:solidFill>
                    <a:latin typeface="Microsoft YaHei" panose="020B0503020204020204" pitchFamily="34" charset="-122"/>
                    <a:ea typeface="Microsoft YaHei" panose="020B0503020204020204" pitchFamily="34" charset="-122"/>
                  </a:rPr>
                  <a:t>若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r>
                      <a:rPr kumimoji="1" lang="zh-CN" altLang="en-US"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𝑃</m:t>
                    </m:r>
                    <m:r>
                      <a:rPr kumimoji="1" lang="en-US" altLang="zh-CN" sz="2800" i="1" dirty="0" smtClean="0">
                        <a:solidFill>
                          <a:srgbClr val="2980B9"/>
                        </a:solidFill>
                        <a:latin typeface="Cambria Math" panose="02040503050406030204" pitchFamily="18" charset="0"/>
                        <a:ea typeface="Microsoft YaHei" panose="020B0503020204020204" pitchFamily="34" charset="-122"/>
                      </a:rPr>
                      <m:t>/2</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，则闭环不稳定。不稳定根个数为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𝑍</m:t>
                    </m:r>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𝑃</m:t>
                    </m:r>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𝑅</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a:t>
                </a:r>
              </a:p>
            </p:txBody>
          </p:sp>
        </mc:Choice>
        <mc:Fallback xmlns="">
          <p:sp>
            <p:nvSpPr>
              <p:cNvPr id="68" name="说明3">
                <a:extLst>
                  <a:ext uri="{FF2B5EF4-FFF2-40B4-BE49-F238E27FC236}">
                    <a16:creationId xmlns:a16="http://schemas.microsoft.com/office/drawing/2014/main" id="{D5AA8BA3-5D7D-374B-719B-DBCABB67ECC1}"/>
                  </a:ext>
                </a:extLst>
              </p:cNvPr>
              <p:cNvSpPr txBox="1">
                <a:spLocks noRot="1" noChangeAspect="1" noMove="1" noResize="1" noEditPoints="1" noAdjustHandles="1" noChangeArrowheads="1" noChangeShapeType="1" noTextEdit="1"/>
              </p:cNvSpPr>
              <p:nvPr/>
            </p:nvSpPr>
            <p:spPr>
              <a:xfrm>
                <a:off x="320223" y="1896666"/>
                <a:ext cx="11607627" cy="1532334"/>
              </a:xfrm>
              <a:prstGeom prst="flowChartAlternateProcess">
                <a:avLst/>
              </a:prstGeom>
              <a:blipFill>
                <a:blip r:embed="rId3"/>
                <a:stretch>
                  <a:fillRect l="-327" r="-218" b="-4032"/>
                </a:stretch>
              </a:blipFill>
              <a:ln>
                <a:prstDash val="sysDot"/>
              </a:ln>
            </p:spPr>
            <p:txBody>
              <a:bodyPr/>
              <a:lstStyle/>
              <a:p>
                <a:r>
                  <a:rPr lang="zh-CN" altLang="en-US">
                    <a:noFill/>
                  </a:rPr>
                  <a:t> </a:t>
                </a:r>
              </a:p>
            </p:txBody>
          </p:sp>
        </mc:Fallback>
      </mc:AlternateContent>
      <p:sp>
        <p:nvSpPr>
          <p:cNvPr id="3" name="小标题1">
            <a:extLst>
              <a:ext uri="{FF2B5EF4-FFF2-40B4-BE49-F238E27FC236}">
                <a16:creationId xmlns:a16="http://schemas.microsoft.com/office/drawing/2014/main" id="{39C0DF73-3E0A-391A-FBC5-F7B6F36F079C}"/>
              </a:ext>
            </a:extLst>
          </p:cNvPr>
          <p:cNvSpPr/>
          <p:nvPr/>
        </p:nvSpPr>
        <p:spPr bwMode="auto">
          <a:xfrm>
            <a:off x="320224" y="1052832"/>
            <a:ext cx="4133790"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简化的</a:t>
            </a:r>
            <a:r>
              <a:rPr lang="en-US" altLang="zh-CN" sz="3200" b="1" dirty="0">
                <a:solidFill>
                  <a:schemeClr val="bg1"/>
                </a:solidFill>
                <a:latin typeface="+mn-ea"/>
              </a:rPr>
              <a:t>Nyquist</a:t>
            </a:r>
            <a:r>
              <a:rPr lang="zh-CN" altLang="en-US" sz="3200" b="1" dirty="0">
                <a:solidFill>
                  <a:schemeClr val="bg1"/>
                </a:solidFill>
                <a:latin typeface="+mn-ea"/>
              </a:rPr>
              <a:t>判据</a:t>
            </a:r>
          </a:p>
        </p:txBody>
      </p:sp>
      <mc:AlternateContent xmlns:mc="http://schemas.openxmlformats.org/markup-compatibility/2006" xmlns:a14="http://schemas.microsoft.com/office/drawing/2010/main">
        <mc:Choice Requires="a14">
          <p:sp>
            <p:nvSpPr>
              <p:cNvPr id="7" name="wc1">
                <a:extLst>
                  <a:ext uri="{FF2B5EF4-FFF2-40B4-BE49-F238E27FC236}">
                    <a16:creationId xmlns:a16="http://schemas.microsoft.com/office/drawing/2014/main" id="{D56B3E51-CC67-1842-4A33-8B47DEDBE08B}"/>
                  </a:ext>
                </a:extLst>
              </p:cNvPr>
              <p:cNvSpPr txBox="1"/>
              <p:nvPr/>
            </p:nvSpPr>
            <p:spPr>
              <a:xfrm>
                <a:off x="5837473" y="3894739"/>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7" name="wc1">
                <a:extLst>
                  <a:ext uri="{FF2B5EF4-FFF2-40B4-BE49-F238E27FC236}">
                    <a16:creationId xmlns:a16="http://schemas.microsoft.com/office/drawing/2014/main" id="{D56B3E51-CC67-1842-4A33-8B47DEDBE08B}"/>
                  </a:ext>
                </a:extLst>
              </p:cNvPr>
              <p:cNvSpPr txBox="1">
                <a:spLocks noRot="1" noChangeAspect="1" noMove="1" noResize="1" noEditPoints="1" noAdjustHandles="1" noChangeArrowheads="1" noChangeShapeType="1" noTextEdit="1"/>
              </p:cNvSpPr>
              <p:nvPr/>
            </p:nvSpPr>
            <p:spPr>
              <a:xfrm>
                <a:off x="5837473" y="3894739"/>
                <a:ext cx="801225" cy="524695"/>
              </a:xfrm>
              <a:prstGeom prst="rect">
                <a:avLst/>
              </a:prstGeom>
              <a:blipFill>
                <a:blip r:embed="rId4"/>
                <a:stretch>
                  <a:fillRect r="-3125"/>
                </a:stretch>
              </a:blipFill>
            </p:spPr>
            <p:txBody>
              <a:bodyPr/>
              <a:lstStyle/>
              <a:p>
                <a:r>
                  <a:rPr lang="zh-CN" altLang="en-US">
                    <a:noFill/>
                  </a:rPr>
                  <a:t> </a:t>
                </a:r>
              </a:p>
            </p:txBody>
          </p:sp>
        </mc:Fallback>
      </mc:AlternateContent>
      <p:grpSp>
        <p:nvGrpSpPr>
          <p:cNvPr id="8" name="坐标轴">
            <a:extLst>
              <a:ext uri="{FF2B5EF4-FFF2-40B4-BE49-F238E27FC236}">
                <a16:creationId xmlns:a16="http://schemas.microsoft.com/office/drawing/2014/main" id="{4A3A8B04-0AFC-2594-A55D-4233297134D9}"/>
              </a:ext>
            </a:extLst>
          </p:cNvPr>
          <p:cNvGrpSpPr/>
          <p:nvPr/>
        </p:nvGrpSpPr>
        <p:grpSpPr>
          <a:xfrm>
            <a:off x="3409408" y="3876925"/>
            <a:ext cx="4535630" cy="2560329"/>
            <a:chOff x="6894154" y="3567852"/>
            <a:chExt cx="4535630" cy="2560329"/>
          </a:xfrm>
        </p:grpSpPr>
        <p:cxnSp>
          <p:nvCxnSpPr>
            <p:cNvPr id="9" name="实轴">
              <a:extLst>
                <a:ext uri="{FF2B5EF4-FFF2-40B4-BE49-F238E27FC236}">
                  <a16:creationId xmlns:a16="http://schemas.microsoft.com/office/drawing/2014/main" id="{60C6E3B5-5CD8-362C-2AA1-E06235B10737}"/>
                </a:ext>
              </a:extLst>
            </p:cNvPr>
            <p:cNvCxnSpPr>
              <a:cxnSpLocks/>
            </p:cNvCxnSpPr>
            <p:nvPr/>
          </p:nvCxnSpPr>
          <p:spPr>
            <a:xfrm flipH="1">
              <a:off x="6894154" y="4597431"/>
              <a:ext cx="4248472"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虚轴">
              <a:extLst>
                <a:ext uri="{FF2B5EF4-FFF2-40B4-BE49-F238E27FC236}">
                  <a16:creationId xmlns:a16="http://schemas.microsoft.com/office/drawing/2014/main" id="{7CA4B816-BA7D-9434-7A53-8A3FAFED1C96}"/>
                </a:ext>
              </a:extLst>
            </p:cNvPr>
            <p:cNvCxnSpPr>
              <a:cxnSpLocks/>
            </p:cNvCxnSpPr>
            <p:nvPr/>
          </p:nvCxnSpPr>
          <p:spPr>
            <a:xfrm flipV="1">
              <a:off x="9276356" y="3679909"/>
              <a:ext cx="0" cy="2448272"/>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
                  <a:extLst>
                    <a:ext uri="{FF2B5EF4-FFF2-40B4-BE49-F238E27FC236}">
                      <a16:creationId xmlns:a16="http://schemas.microsoft.com/office/drawing/2014/main" id="{783CBF27-DFF1-91D5-9EA1-0AD89860973E}"/>
                    </a:ext>
                  </a:extLst>
                </p:cNvPr>
                <p:cNvSpPr txBox="1"/>
                <p:nvPr/>
              </p:nvSpPr>
              <p:spPr>
                <a:xfrm>
                  <a:off x="10853248" y="474144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1" name="Re">
                  <a:extLst>
                    <a:ext uri="{FF2B5EF4-FFF2-40B4-BE49-F238E27FC236}">
                      <a16:creationId xmlns:a16="http://schemas.microsoft.com/office/drawing/2014/main" id="{783CBF27-DFF1-91D5-9EA1-0AD89860973E}"/>
                    </a:ext>
                  </a:extLst>
                </p:cNvPr>
                <p:cNvSpPr txBox="1">
                  <a:spLocks noRot="1" noChangeAspect="1" noMove="1" noResize="1" noEditPoints="1" noAdjustHandles="1" noChangeArrowheads="1" noChangeShapeType="1" noTextEdit="1"/>
                </p:cNvSpPr>
                <p:nvPr/>
              </p:nvSpPr>
              <p:spPr>
                <a:xfrm>
                  <a:off x="10853248" y="4741447"/>
                  <a:ext cx="576536" cy="523220"/>
                </a:xfrm>
                <a:prstGeom prst="rect">
                  <a:avLst/>
                </a:prstGeom>
                <a:blipFill>
                  <a:blip r:embed="rId5"/>
                  <a:stretch>
                    <a:fillRect l="-6522" r="-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Im">
                  <a:extLst>
                    <a:ext uri="{FF2B5EF4-FFF2-40B4-BE49-F238E27FC236}">
                      <a16:creationId xmlns:a16="http://schemas.microsoft.com/office/drawing/2014/main" id="{4A4AF148-644D-3776-39A1-362A86B12CC9}"/>
                    </a:ext>
                  </a:extLst>
                </p:cNvPr>
                <p:cNvSpPr txBox="1"/>
                <p:nvPr/>
              </p:nvSpPr>
              <p:spPr>
                <a:xfrm>
                  <a:off x="8537895" y="356785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12" name="Im">
                  <a:extLst>
                    <a:ext uri="{FF2B5EF4-FFF2-40B4-BE49-F238E27FC236}">
                      <a16:creationId xmlns:a16="http://schemas.microsoft.com/office/drawing/2014/main" id="{4A4AF148-644D-3776-39A1-362A86B12CC9}"/>
                    </a:ext>
                  </a:extLst>
                </p:cNvPr>
                <p:cNvSpPr txBox="1">
                  <a:spLocks noRot="1" noChangeAspect="1" noMove="1" noResize="1" noEditPoints="1" noAdjustHandles="1" noChangeArrowheads="1" noChangeShapeType="1" noTextEdit="1"/>
                </p:cNvSpPr>
                <p:nvPr/>
              </p:nvSpPr>
              <p:spPr>
                <a:xfrm>
                  <a:off x="8537895" y="3567852"/>
                  <a:ext cx="576536" cy="523220"/>
                </a:xfrm>
                <a:prstGeom prst="rect">
                  <a:avLst/>
                </a:prstGeom>
                <a:blipFill>
                  <a:blip r:embed="rId6"/>
                  <a:stretch>
                    <a:fillRect l="-4255" r="-851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 name="label2">
                <a:extLst>
                  <a:ext uri="{FF2B5EF4-FFF2-40B4-BE49-F238E27FC236}">
                    <a16:creationId xmlns:a16="http://schemas.microsoft.com/office/drawing/2014/main" id="{71FB1952-FB30-3F3D-B9B7-6A753E5DA07D}"/>
                  </a:ext>
                </a:extLst>
              </p:cNvPr>
              <p:cNvSpPr txBox="1"/>
              <p:nvPr/>
            </p:nvSpPr>
            <p:spPr>
              <a:xfrm>
                <a:off x="4566166" y="5141737"/>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13" name="label2">
                <a:extLst>
                  <a:ext uri="{FF2B5EF4-FFF2-40B4-BE49-F238E27FC236}">
                    <a16:creationId xmlns:a16="http://schemas.microsoft.com/office/drawing/2014/main" id="{71FB1952-FB30-3F3D-B9B7-6A753E5DA07D}"/>
                  </a:ext>
                </a:extLst>
              </p:cNvPr>
              <p:cNvSpPr txBox="1">
                <a:spLocks noRot="1" noChangeAspect="1" noMove="1" noResize="1" noEditPoints="1" noAdjustHandles="1" noChangeArrowheads="1" noChangeShapeType="1" noTextEdit="1"/>
              </p:cNvSpPr>
              <p:nvPr/>
            </p:nvSpPr>
            <p:spPr>
              <a:xfrm>
                <a:off x="4566166" y="5141737"/>
                <a:ext cx="801225" cy="523220"/>
              </a:xfrm>
              <a:prstGeom prst="rect">
                <a:avLst/>
              </a:prstGeom>
              <a:blipFill>
                <a:blip r:embed="rId7"/>
                <a:stretch>
                  <a:fillRect/>
                </a:stretch>
              </a:blipFill>
            </p:spPr>
            <p:txBody>
              <a:bodyPr/>
              <a:lstStyle/>
              <a:p>
                <a:r>
                  <a:rPr lang="zh-CN" altLang="en-US">
                    <a:noFill/>
                  </a:rPr>
                  <a:t> </a:t>
                </a:r>
              </a:p>
            </p:txBody>
          </p:sp>
        </mc:Fallback>
      </mc:AlternateContent>
      <p:sp>
        <p:nvSpPr>
          <p:cNvPr id="14" name="幅相">
            <a:extLst>
              <a:ext uri="{FF2B5EF4-FFF2-40B4-BE49-F238E27FC236}">
                <a16:creationId xmlns:a16="http://schemas.microsoft.com/office/drawing/2014/main" id="{47B422CD-B224-B277-C714-5AC6FAB3E8A3}"/>
              </a:ext>
            </a:extLst>
          </p:cNvPr>
          <p:cNvSpPr/>
          <p:nvPr/>
        </p:nvSpPr>
        <p:spPr>
          <a:xfrm>
            <a:off x="3926451" y="4726155"/>
            <a:ext cx="1866219" cy="137290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724443 w 724443"/>
              <a:gd name="connsiteY0" fmla="*/ 292415 h 1973377"/>
              <a:gd name="connsiteX1" fmla="*/ 240881 w 724443"/>
              <a:gd name="connsiteY1" fmla="*/ 490692 h 1973377"/>
              <a:gd name="connsiteX2" fmla="*/ 0 w 724443"/>
              <a:gd name="connsiteY2" fmla="*/ 1973377 h 1973377"/>
              <a:gd name="connsiteX0" fmla="*/ 724443 w 724443"/>
              <a:gd name="connsiteY0" fmla="*/ 0 h 1680962"/>
              <a:gd name="connsiteX1" fmla="*/ 240881 w 724443"/>
              <a:gd name="connsiteY1" fmla="*/ 198277 h 1680962"/>
              <a:gd name="connsiteX2" fmla="*/ 0 w 724443"/>
              <a:gd name="connsiteY2" fmla="*/ 1680962 h 1680962"/>
              <a:gd name="connsiteX0" fmla="*/ 724443 w 724443"/>
              <a:gd name="connsiteY0" fmla="*/ 278533 h 1959495"/>
              <a:gd name="connsiteX1" fmla="*/ 240881 w 724443"/>
              <a:gd name="connsiteY1" fmla="*/ 476810 h 1959495"/>
              <a:gd name="connsiteX2" fmla="*/ 0 w 724443"/>
              <a:gd name="connsiteY2" fmla="*/ 1959495 h 1959495"/>
              <a:gd name="connsiteX0" fmla="*/ 730625 w 730625"/>
              <a:gd name="connsiteY0" fmla="*/ 278533 h 1959495"/>
              <a:gd name="connsiteX1" fmla="*/ 247063 w 730625"/>
              <a:gd name="connsiteY1" fmla="*/ 476810 h 1959495"/>
              <a:gd name="connsiteX2" fmla="*/ 22394 w 730625"/>
              <a:gd name="connsiteY2" fmla="*/ 963264 h 1959495"/>
              <a:gd name="connsiteX3" fmla="*/ 6182 w 730625"/>
              <a:gd name="connsiteY3" fmla="*/ 1959495 h 1959495"/>
              <a:gd name="connsiteX0" fmla="*/ 1123921 w 1123921"/>
              <a:gd name="connsiteY0" fmla="*/ 509021 h 2189983"/>
              <a:gd name="connsiteX1" fmla="*/ 640359 w 1123921"/>
              <a:gd name="connsiteY1" fmla="*/ 707298 h 2189983"/>
              <a:gd name="connsiteX2" fmla="*/ 2590 w 1123921"/>
              <a:gd name="connsiteY2" fmla="*/ 38422 h 2189983"/>
              <a:gd name="connsiteX3" fmla="*/ 399478 w 1123921"/>
              <a:gd name="connsiteY3" fmla="*/ 2189983 h 2189983"/>
              <a:gd name="connsiteX0" fmla="*/ 1123921 w 1123921"/>
              <a:gd name="connsiteY0" fmla="*/ 484669 h 2165631"/>
              <a:gd name="connsiteX1" fmla="*/ 640359 w 1123921"/>
              <a:gd name="connsiteY1" fmla="*/ 682946 h 2165631"/>
              <a:gd name="connsiteX2" fmla="*/ 2590 w 1123921"/>
              <a:gd name="connsiteY2" fmla="*/ 14070 h 2165631"/>
              <a:gd name="connsiteX3" fmla="*/ 399478 w 1123921"/>
              <a:gd name="connsiteY3" fmla="*/ 2165631 h 2165631"/>
              <a:gd name="connsiteX0" fmla="*/ 1148991 w 1148991"/>
              <a:gd name="connsiteY0" fmla="*/ 484669 h 2165631"/>
              <a:gd name="connsiteX1" fmla="*/ 665429 w 1148991"/>
              <a:gd name="connsiteY1" fmla="*/ 682946 h 2165631"/>
              <a:gd name="connsiteX2" fmla="*/ 27660 w 1148991"/>
              <a:gd name="connsiteY2" fmla="*/ 14070 h 2165631"/>
              <a:gd name="connsiteX3" fmla="*/ 424548 w 1148991"/>
              <a:gd name="connsiteY3" fmla="*/ 2165631 h 2165631"/>
              <a:gd name="connsiteX0" fmla="*/ 1394982 w 1394982"/>
              <a:gd name="connsiteY0" fmla="*/ 278534 h 1959496"/>
              <a:gd name="connsiteX1" fmla="*/ 911420 w 1394982"/>
              <a:gd name="connsiteY1" fmla="*/ 476811 h 1959496"/>
              <a:gd name="connsiteX2" fmla="*/ 19993 w 1394982"/>
              <a:gd name="connsiteY2" fmla="*/ 257905 h 1959496"/>
              <a:gd name="connsiteX3" fmla="*/ 670539 w 1394982"/>
              <a:gd name="connsiteY3" fmla="*/ 1959496 h 1959496"/>
              <a:gd name="connsiteX0" fmla="*/ 1394982 w 1394982"/>
              <a:gd name="connsiteY0" fmla="*/ 285324 h 1966286"/>
              <a:gd name="connsiteX1" fmla="*/ 911420 w 1394982"/>
              <a:gd name="connsiteY1" fmla="*/ 483601 h 1966286"/>
              <a:gd name="connsiteX2" fmla="*/ 19993 w 1394982"/>
              <a:gd name="connsiteY2" fmla="*/ 264695 h 1966286"/>
              <a:gd name="connsiteX3" fmla="*/ 670539 w 1394982"/>
              <a:gd name="connsiteY3" fmla="*/ 1966286 h 1966286"/>
              <a:gd name="connsiteX0" fmla="*/ 1375699 w 1375699"/>
              <a:gd name="connsiteY0" fmla="*/ 285325 h 1966287"/>
              <a:gd name="connsiteX1" fmla="*/ 892137 w 1375699"/>
              <a:gd name="connsiteY1" fmla="*/ 483602 h 1966287"/>
              <a:gd name="connsiteX2" fmla="*/ 710 w 1375699"/>
              <a:gd name="connsiteY2" fmla="*/ 264696 h 1966287"/>
              <a:gd name="connsiteX3" fmla="*/ 651256 w 1375699"/>
              <a:gd name="connsiteY3" fmla="*/ 1966287 h 1966287"/>
              <a:gd name="connsiteX0" fmla="*/ 1375699 w 1375699"/>
              <a:gd name="connsiteY0" fmla="*/ 277390 h 1958352"/>
              <a:gd name="connsiteX1" fmla="*/ 739943 w 1375699"/>
              <a:gd name="connsiteY1" fmla="*/ 524312 h 1958352"/>
              <a:gd name="connsiteX2" fmla="*/ 710 w 1375699"/>
              <a:gd name="connsiteY2" fmla="*/ 256761 h 1958352"/>
              <a:gd name="connsiteX3" fmla="*/ 651256 w 1375699"/>
              <a:gd name="connsiteY3" fmla="*/ 1958352 h 1958352"/>
              <a:gd name="connsiteX0" fmla="*/ 1375699 w 1375699"/>
              <a:gd name="connsiteY0" fmla="*/ 277390 h 1958352"/>
              <a:gd name="connsiteX1" fmla="*/ 739943 w 1375699"/>
              <a:gd name="connsiteY1" fmla="*/ 524312 h 1958352"/>
              <a:gd name="connsiteX2" fmla="*/ 710 w 1375699"/>
              <a:gd name="connsiteY2" fmla="*/ 256761 h 1958352"/>
              <a:gd name="connsiteX3" fmla="*/ 651256 w 1375699"/>
              <a:gd name="connsiteY3" fmla="*/ 1958352 h 1958352"/>
              <a:gd name="connsiteX0" fmla="*/ 1375699 w 1375699"/>
              <a:gd name="connsiteY0" fmla="*/ 295737 h 1976699"/>
              <a:gd name="connsiteX1" fmla="*/ 739943 w 1375699"/>
              <a:gd name="connsiteY1" fmla="*/ 542659 h 1976699"/>
              <a:gd name="connsiteX2" fmla="*/ 710 w 1375699"/>
              <a:gd name="connsiteY2" fmla="*/ 275108 h 1976699"/>
              <a:gd name="connsiteX3" fmla="*/ 651256 w 1375699"/>
              <a:gd name="connsiteY3" fmla="*/ 1976699 h 1976699"/>
              <a:gd name="connsiteX0" fmla="*/ 1375699 w 1375699"/>
              <a:gd name="connsiteY0" fmla="*/ 295737 h 1976699"/>
              <a:gd name="connsiteX1" fmla="*/ 739943 w 1375699"/>
              <a:gd name="connsiteY1" fmla="*/ 542659 h 1976699"/>
              <a:gd name="connsiteX2" fmla="*/ 710 w 1375699"/>
              <a:gd name="connsiteY2" fmla="*/ 275108 h 1976699"/>
              <a:gd name="connsiteX3" fmla="*/ 651256 w 1375699"/>
              <a:gd name="connsiteY3" fmla="*/ 1976699 h 1976699"/>
              <a:gd name="connsiteX0" fmla="*/ 1376663 w 1376663"/>
              <a:gd name="connsiteY0" fmla="*/ 350584 h 2031546"/>
              <a:gd name="connsiteX1" fmla="*/ 378538 w 1376663"/>
              <a:gd name="connsiteY1" fmla="*/ 342117 h 2031546"/>
              <a:gd name="connsiteX2" fmla="*/ 1674 w 1376663"/>
              <a:gd name="connsiteY2" fmla="*/ 329955 h 2031546"/>
              <a:gd name="connsiteX3" fmla="*/ 652220 w 1376663"/>
              <a:gd name="connsiteY3" fmla="*/ 2031546 h 2031546"/>
              <a:gd name="connsiteX0" fmla="*/ 1375699 w 1375699"/>
              <a:gd name="connsiteY0" fmla="*/ 439020 h 2119982"/>
              <a:gd name="connsiteX1" fmla="*/ 377574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9020 h 2119982"/>
              <a:gd name="connsiteX1" fmla="*/ 377574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9020 h 2119982"/>
              <a:gd name="connsiteX1" fmla="*/ 551511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9020 h 2119982"/>
              <a:gd name="connsiteX1" fmla="*/ 551511 w 1375699"/>
              <a:gd name="connsiteY1" fmla="*/ 430553 h 2119982"/>
              <a:gd name="connsiteX2" fmla="*/ 710 w 1375699"/>
              <a:gd name="connsiteY2" fmla="*/ 418391 h 2119982"/>
              <a:gd name="connsiteX3" fmla="*/ 651256 w 1375699"/>
              <a:gd name="connsiteY3" fmla="*/ 2119982 h 2119982"/>
              <a:gd name="connsiteX0" fmla="*/ 1375699 w 1375699"/>
              <a:gd name="connsiteY0" fmla="*/ 432886 h 2113848"/>
              <a:gd name="connsiteX1" fmla="*/ 551511 w 1375699"/>
              <a:gd name="connsiteY1" fmla="*/ 424419 h 2113848"/>
              <a:gd name="connsiteX2" fmla="*/ 710 w 1375699"/>
              <a:gd name="connsiteY2" fmla="*/ 412257 h 2113848"/>
              <a:gd name="connsiteX3" fmla="*/ 651256 w 1375699"/>
              <a:gd name="connsiteY3" fmla="*/ 2113848 h 2113848"/>
              <a:gd name="connsiteX0" fmla="*/ 1375699 w 1375699"/>
              <a:gd name="connsiteY0" fmla="*/ 447496 h 2128458"/>
              <a:gd name="connsiteX1" fmla="*/ 551511 w 1375699"/>
              <a:gd name="connsiteY1" fmla="*/ 439029 h 2128458"/>
              <a:gd name="connsiteX2" fmla="*/ 710 w 1375699"/>
              <a:gd name="connsiteY2" fmla="*/ 426867 h 2128458"/>
              <a:gd name="connsiteX3" fmla="*/ 651256 w 1375699"/>
              <a:gd name="connsiteY3" fmla="*/ 2128458 h 2128458"/>
              <a:gd name="connsiteX0" fmla="*/ 1375699 w 1375699"/>
              <a:gd name="connsiteY0" fmla="*/ 447496 h 2128458"/>
              <a:gd name="connsiteX1" fmla="*/ 551511 w 1375699"/>
              <a:gd name="connsiteY1" fmla="*/ 439029 h 2128458"/>
              <a:gd name="connsiteX2" fmla="*/ 710 w 1375699"/>
              <a:gd name="connsiteY2" fmla="*/ 426867 h 2128458"/>
              <a:gd name="connsiteX3" fmla="*/ 651256 w 1375699"/>
              <a:gd name="connsiteY3" fmla="*/ 2128458 h 2128458"/>
              <a:gd name="connsiteX0" fmla="*/ 1375699 w 1375699"/>
              <a:gd name="connsiteY0" fmla="*/ 581138 h 2262100"/>
              <a:gd name="connsiteX1" fmla="*/ 551511 w 1375699"/>
              <a:gd name="connsiteY1" fmla="*/ 572671 h 2262100"/>
              <a:gd name="connsiteX2" fmla="*/ 710 w 1375699"/>
              <a:gd name="connsiteY2" fmla="*/ 560509 h 2262100"/>
              <a:gd name="connsiteX3" fmla="*/ 651256 w 1375699"/>
              <a:gd name="connsiteY3" fmla="*/ 2262100 h 2262100"/>
              <a:gd name="connsiteX0" fmla="*/ 1375699 w 1375699"/>
              <a:gd name="connsiteY0" fmla="*/ 581138 h 2262100"/>
              <a:gd name="connsiteX1" fmla="*/ 551511 w 1375699"/>
              <a:gd name="connsiteY1" fmla="*/ 572671 h 2262100"/>
              <a:gd name="connsiteX2" fmla="*/ 710 w 1375699"/>
              <a:gd name="connsiteY2" fmla="*/ 560509 h 2262100"/>
              <a:gd name="connsiteX3" fmla="*/ 651256 w 1375699"/>
              <a:gd name="connsiteY3" fmla="*/ 2262100 h 2262100"/>
              <a:gd name="connsiteX0" fmla="*/ 1375898 w 1375898"/>
              <a:gd name="connsiteY0" fmla="*/ 567350 h 2248312"/>
              <a:gd name="connsiteX1" fmla="*/ 551710 w 1375898"/>
              <a:gd name="connsiteY1" fmla="*/ 558883 h 2248312"/>
              <a:gd name="connsiteX2" fmla="*/ 909 w 1375898"/>
              <a:gd name="connsiteY2" fmla="*/ 546721 h 2248312"/>
              <a:gd name="connsiteX3" fmla="*/ 651455 w 1375898"/>
              <a:gd name="connsiteY3" fmla="*/ 2248312 h 2248312"/>
              <a:gd name="connsiteX0" fmla="*/ 1375699 w 1375699"/>
              <a:gd name="connsiteY0" fmla="*/ 447320 h 2128282"/>
              <a:gd name="connsiteX1" fmla="*/ 551511 w 1375699"/>
              <a:gd name="connsiteY1" fmla="*/ 438853 h 2128282"/>
              <a:gd name="connsiteX2" fmla="*/ 710 w 1375699"/>
              <a:gd name="connsiteY2" fmla="*/ 426691 h 2128282"/>
              <a:gd name="connsiteX3" fmla="*/ 651256 w 1375699"/>
              <a:gd name="connsiteY3" fmla="*/ 2128282 h 2128282"/>
              <a:gd name="connsiteX0" fmla="*/ 1375699 w 1375699"/>
              <a:gd name="connsiteY0" fmla="*/ 446958 h 2127920"/>
              <a:gd name="connsiteX1" fmla="*/ 551511 w 1375699"/>
              <a:gd name="connsiteY1" fmla="*/ 438491 h 2127920"/>
              <a:gd name="connsiteX2" fmla="*/ 710 w 1375699"/>
              <a:gd name="connsiteY2" fmla="*/ 426329 h 2127920"/>
              <a:gd name="connsiteX3" fmla="*/ 651256 w 1375699"/>
              <a:gd name="connsiteY3" fmla="*/ 2127920 h 2127920"/>
              <a:gd name="connsiteX0" fmla="*/ 1385266 w 1385266"/>
              <a:gd name="connsiteY0" fmla="*/ 380646 h 2061608"/>
              <a:gd name="connsiteX1" fmla="*/ 561078 w 1385266"/>
              <a:gd name="connsiteY1" fmla="*/ 372179 h 2061608"/>
              <a:gd name="connsiteX2" fmla="*/ 10277 w 1385266"/>
              <a:gd name="connsiteY2" fmla="*/ 360017 h 2061608"/>
              <a:gd name="connsiteX3" fmla="*/ 660823 w 1385266"/>
              <a:gd name="connsiteY3" fmla="*/ 2061608 h 2061608"/>
              <a:gd name="connsiteX0" fmla="*/ 1385354 w 1385354"/>
              <a:gd name="connsiteY0" fmla="*/ 380646 h 2061608"/>
              <a:gd name="connsiteX1" fmla="*/ 561166 w 1385354"/>
              <a:gd name="connsiteY1" fmla="*/ 372179 h 2061608"/>
              <a:gd name="connsiteX2" fmla="*/ 10365 w 1385354"/>
              <a:gd name="connsiteY2" fmla="*/ 360017 h 2061608"/>
              <a:gd name="connsiteX3" fmla="*/ 660911 w 1385354"/>
              <a:gd name="connsiteY3" fmla="*/ 2061608 h 2061608"/>
              <a:gd name="connsiteX0" fmla="*/ 1375594 w 1375594"/>
              <a:gd name="connsiteY0" fmla="*/ 248225 h 1698122"/>
              <a:gd name="connsiteX1" fmla="*/ 551406 w 1375594"/>
              <a:gd name="connsiteY1" fmla="*/ 239758 h 1698122"/>
              <a:gd name="connsiteX2" fmla="*/ 605 w 1375594"/>
              <a:gd name="connsiteY2" fmla="*/ 227596 h 1698122"/>
              <a:gd name="connsiteX3" fmla="*/ 665646 w 1375594"/>
              <a:gd name="connsiteY3" fmla="*/ 1698121 h 1698122"/>
            </a:gdLst>
            <a:ahLst/>
            <a:cxnLst>
              <a:cxn ang="0">
                <a:pos x="connsiteX0" y="connsiteY0"/>
              </a:cxn>
              <a:cxn ang="0">
                <a:pos x="connsiteX1" y="connsiteY1"/>
              </a:cxn>
              <a:cxn ang="0">
                <a:pos x="connsiteX2" y="connsiteY2"/>
              </a:cxn>
              <a:cxn ang="0">
                <a:pos x="connsiteX3" y="connsiteY3"/>
              </a:cxn>
            </a:cxnLst>
            <a:rect l="l" t="t" r="r" b="b"/>
            <a:pathLst>
              <a:path w="1375594" h="1698122">
                <a:moveTo>
                  <a:pt x="1375594" y="248225"/>
                </a:moveTo>
                <a:cubicBezTo>
                  <a:pt x="1192664" y="-451850"/>
                  <a:pt x="889852" y="1190878"/>
                  <a:pt x="551406" y="239758"/>
                </a:cubicBezTo>
                <a:cubicBezTo>
                  <a:pt x="417811" y="-135678"/>
                  <a:pt x="-18435" y="-15465"/>
                  <a:pt x="605" y="227596"/>
                </a:cubicBezTo>
                <a:cubicBezTo>
                  <a:pt x="19645" y="470657"/>
                  <a:pt x="661101" y="802401"/>
                  <a:pt x="665646" y="1698121"/>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幅相">
            <a:extLst>
              <a:ext uri="{FF2B5EF4-FFF2-40B4-BE49-F238E27FC236}">
                <a16:creationId xmlns:a16="http://schemas.microsoft.com/office/drawing/2014/main" id="{C419A687-2DCF-935D-A910-66FD2C8E80E5}"/>
              </a:ext>
            </a:extLst>
          </p:cNvPr>
          <p:cNvSpPr/>
          <p:nvPr/>
        </p:nvSpPr>
        <p:spPr>
          <a:xfrm>
            <a:off x="5807174" y="4941168"/>
            <a:ext cx="1458890" cy="137378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 name="connsiteX0" fmla="*/ 0 w 1553966"/>
              <a:gd name="connsiteY0" fmla="*/ 1784337 h 1784337"/>
              <a:gd name="connsiteX1" fmla="*/ 1553678 w 1553966"/>
              <a:gd name="connsiteY1" fmla="*/ 0 h 1784337"/>
              <a:gd name="connsiteX0" fmla="*/ 0 w 1075963"/>
              <a:gd name="connsiteY0" fmla="*/ 1699207 h 1699207"/>
              <a:gd name="connsiteX1" fmla="*/ 1075351 w 1075963"/>
              <a:gd name="connsiteY1" fmla="*/ 0 h 1699207"/>
              <a:gd name="connsiteX0" fmla="*/ 0 w 1075351"/>
              <a:gd name="connsiteY0" fmla="*/ 1699207 h 1699207"/>
              <a:gd name="connsiteX1" fmla="*/ 1075351 w 1075351"/>
              <a:gd name="connsiteY1" fmla="*/ 0 h 1699207"/>
            </a:gdLst>
            <a:ahLst/>
            <a:cxnLst>
              <a:cxn ang="0">
                <a:pos x="connsiteX0" y="connsiteY0"/>
              </a:cxn>
              <a:cxn ang="0">
                <a:pos x="connsiteX1" y="connsiteY1"/>
              </a:cxn>
            </a:cxnLst>
            <a:rect l="l" t="t" r="r" b="b"/>
            <a:pathLst>
              <a:path w="1075351" h="1699207">
                <a:moveTo>
                  <a:pt x="0" y="1699207"/>
                </a:moveTo>
                <a:cubicBezTo>
                  <a:pt x="688019" y="1691443"/>
                  <a:pt x="1057718" y="864855"/>
                  <a:pt x="1075351"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16" name="原点">
                <a:extLst>
                  <a:ext uri="{FF2B5EF4-FFF2-40B4-BE49-F238E27FC236}">
                    <a16:creationId xmlns:a16="http://schemas.microsoft.com/office/drawing/2014/main" id="{8FBA4FF6-FDA3-D642-0735-B08A6A813079}"/>
                  </a:ext>
                </a:extLst>
              </p:cNvPr>
              <p:cNvSpPr txBox="1"/>
              <p:nvPr/>
            </p:nvSpPr>
            <p:spPr>
              <a:xfrm>
                <a:off x="3312213" y="498928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m:t>
                          </m:r>
                        </m:e>
                      </m:d>
                    </m:oMath>
                  </m:oMathPara>
                </a14:m>
                <a:endParaRPr lang="zh-CN" altLang="en-US" sz="2800" dirty="0">
                  <a:solidFill>
                    <a:srgbClr val="E44860"/>
                  </a:solidFill>
                </a:endParaRPr>
              </a:p>
            </p:txBody>
          </p:sp>
        </mc:Choice>
        <mc:Fallback xmlns="">
          <p:sp>
            <p:nvSpPr>
              <p:cNvPr id="16" name="原点">
                <a:extLst>
                  <a:ext uri="{FF2B5EF4-FFF2-40B4-BE49-F238E27FC236}">
                    <a16:creationId xmlns:a16="http://schemas.microsoft.com/office/drawing/2014/main" id="{8FBA4FF6-FDA3-D642-0735-B08A6A813079}"/>
                  </a:ext>
                </a:extLst>
              </p:cNvPr>
              <p:cNvSpPr txBox="1">
                <a:spLocks noRot="1" noChangeAspect="1" noMove="1" noResize="1" noEditPoints="1" noAdjustHandles="1" noChangeArrowheads="1" noChangeShapeType="1" noTextEdit="1"/>
              </p:cNvSpPr>
              <p:nvPr/>
            </p:nvSpPr>
            <p:spPr>
              <a:xfrm>
                <a:off x="3312213" y="4989280"/>
                <a:ext cx="545352" cy="524695"/>
              </a:xfrm>
              <a:prstGeom prst="rect">
                <a:avLst/>
              </a:prstGeom>
              <a:blipFill>
                <a:blip r:embed="rId8"/>
                <a:stretch>
                  <a:fillRect r="-15909"/>
                </a:stretch>
              </a:blipFill>
            </p:spPr>
            <p:txBody>
              <a:bodyPr/>
              <a:lstStyle/>
              <a:p>
                <a:r>
                  <a:rPr lang="zh-CN" altLang="en-US">
                    <a:noFill/>
                  </a:rPr>
                  <a:t> </a:t>
                </a:r>
              </a:p>
            </p:txBody>
          </p:sp>
        </mc:Fallback>
      </mc:AlternateContent>
      <p:cxnSp>
        <p:nvCxnSpPr>
          <p:cNvPr id="20" name="虚轴">
            <a:extLst>
              <a:ext uri="{FF2B5EF4-FFF2-40B4-BE49-F238E27FC236}">
                <a16:creationId xmlns:a16="http://schemas.microsoft.com/office/drawing/2014/main" id="{57148C0E-3A0E-47F5-FE23-C056FCA65D0F}"/>
              </a:ext>
            </a:extLst>
          </p:cNvPr>
          <p:cNvCxnSpPr>
            <a:cxnSpLocks/>
            <a:endCxn id="14" idx="3"/>
          </p:cNvCxnSpPr>
          <p:nvPr/>
        </p:nvCxnSpPr>
        <p:spPr>
          <a:xfrm flipH="1" flipV="1">
            <a:off x="4829509" y="6099058"/>
            <a:ext cx="946588" cy="211293"/>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4" name="极点2">
            <a:extLst>
              <a:ext uri="{FF2B5EF4-FFF2-40B4-BE49-F238E27FC236}">
                <a16:creationId xmlns:a16="http://schemas.microsoft.com/office/drawing/2014/main" id="{830853EC-5DF9-22FF-C870-94FD09675D41}"/>
              </a:ext>
            </a:extLst>
          </p:cNvPr>
          <p:cNvSpPr/>
          <p:nvPr/>
        </p:nvSpPr>
        <p:spPr>
          <a:xfrm>
            <a:off x="4889340" y="4762488"/>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31" name="原点">
                <a:extLst>
                  <a:ext uri="{FF2B5EF4-FFF2-40B4-BE49-F238E27FC236}">
                    <a16:creationId xmlns:a16="http://schemas.microsoft.com/office/drawing/2014/main" id="{65E4C7EC-0A01-CDCE-ED1F-3F599522D245}"/>
                  </a:ext>
                </a:extLst>
              </p:cNvPr>
              <p:cNvSpPr txBox="1"/>
              <p:nvPr/>
            </p:nvSpPr>
            <p:spPr>
              <a:xfrm>
                <a:off x="4461935" y="424762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m:t>
                          </m:r>
                        </m:e>
                      </m:d>
                    </m:oMath>
                  </m:oMathPara>
                </a14:m>
                <a:endParaRPr lang="zh-CN" altLang="en-US" sz="2800" dirty="0">
                  <a:solidFill>
                    <a:srgbClr val="E44860"/>
                  </a:solidFill>
                </a:endParaRPr>
              </a:p>
            </p:txBody>
          </p:sp>
        </mc:Choice>
        <mc:Fallback xmlns="">
          <p:sp>
            <p:nvSpPr>
              <p:cNvPr id="31" name="原点">
                <a:extLst>
                  <a:ext uri="{FF2B5EF4-FFF2-40B4-BE49-F238E27FC236}">
                    <a16:creationId xmlns:a16="http://schemas.microsoft.com/office/drawing/2014/main" id="{65E4C7EC-0A01-CDCE-ED1F-3F599522D245}"/>
                  </a:ext>
                </a:extLst>
              </p:cNvPr>
              <p:cNvSpPr txBox="1">
                <a:spLocks noRot="1" noChangeAspect="1" noMove="1" noResize="1" noEditPoints="1" noAdjustHandles="1" noChangeArrowheads="1" noChangeShapeType="1" noTextEdit="1"/>
              </p:cNvSpPr>
              <p:nvPr/>
            </p:nvSpPr>
            <p:spPr>
              <a:xfrm>
                <a:off x="4461935" y="4247624"/>
                <a:ext cx="545352" cy="524695"/>
              </a:xfrm>
              <a:prstGeom prst="rect">
                <a:avLst/>
              </a:prstGeom>
              <a:blipFill>
                <a:blip r:embed="rId9"/>
                <a:stretch>
                  <a:fillRect r="-136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7472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奈奎斯特稳定判据</a:t>
            </a:r>
          </a:p>
        </p:txBody>
      </p:sp>
      <mc:AlternateContent xmlns:mc="http://schemas.openxmlformats.org/markup-compatibility/2006" xmlns:a14="http://schemas.microsoft.com/office/drawing/2010/main">
        <mc:Choice Requires="a14">
          <p:sp>
            <p:nvSpPr>
              <p:cNvPr id="68" name="说明3">
                <a:extLst>
                  <a:ext uri="{FF2B5EF4-FFF2-40B4-BE49-F238E27FC236}">
                    <a16:creationId xmlns:a16="http://schemas.microsoft.com/office/drawing/2014/main" id="{D5AA8BA3-5D7D-374B-719B-DBCABB67ECC1}"/>
                  </a:ext>
                </a:extLst>
              </p:cNvPr>
              <p:cNvSpPr txBox="1"/>
              <p:nvPr/>
            </p:nvSpPr>
            <p:spPr>
              <a:xfrm>
                <a:off x="320223" y="1896666"/>
                <a:ext cx="11607627" cy="1055608"/>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latin typeface="Microsoft YaHei" panose="020B0503020204020204" pitchFamily="34" charset="-122"/>
                    <a:ea typeface="Microsoft YaHei" panose="020B0503020204020204" pitchFamily="34" charset="-122"/>
                  </a:rPr>
                  <a:t>(1)</a:t>
                </a:r>
                <a:r>
                  <a:rPr kumimoji="1" lang="zh-CN" altLang="en-US" sz="2800" dirty="0">
                    <a:solidFill>
                      <a:srgbClr val="2980B9"/>
                    </a:solidFill>
                    <a:latin typeface="Microsoft YaHei" panose="020B0503020204020204" pitchFamily="34" charset="-122"/>
                    <a:ea typeface="Microsoft YaHei" panose="020B0503020204020204" pitchFamily="34" charset="-122"/>
                  </a:rPr>
                  <a:t> 当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𝑠</m:t>
                    </m:r>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oMath>
                </a14:m>
                <a:r>
                  <a:rPr kumimoji="1" lang="en-US"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平面虚轴上有开环极点时，奈氏路径要从其右边绕出半径为无穷小的圆弧；</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𝐺𝐻</m:t>
                    </m:r>
                    <m:r>
                      <a:rPr kumimoji="1" lang="en-US" altLang="zh-CN" sz="2800" i="1" dirty="0" smtClean="0">
                        <a:solidFill>
                          <a:srgbClr val="2980B9"/>
                        </a:solidFill>
                        <a:latin typeface="Cambria Math" panose="02040503050406030204" pitchFamily="18" charset="0"/>
                        <a:ea typeface="Microsoft YaHei" panose="020B0503020204020204" pitchFamily="34" charset="-122"/>
                      </a:rPr>
                      <m:t>] </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平面对应要补充大圆弧；</a:t>
                </a:r>
              </a:p>
            </p:txBody>
          </p:sp>
        </mc:Choice>
        <mc:Fallback xmlns="">
          <p:sp>
            <p:nvSpPr>
              <p:cNvPr id="68" name="说明3">
                <a:extLst>
                  <a:ext uri="{FF2B5EF4-FFF2-40B4-BE49-F238E27FC236}">
                    <a16:creationId xmlns:a16="http://schemas.microsoft.com/office/drawing/2014/main" id="{D5AA8BA3-5D7D-374B-719B-DBCABB67ECC1}"/>
                  </a:ext>
                </a:extLst>
              </p:cNvPr>
              <p:cNvSpPr txBox="1">
                <a:spLocks noRot="1" noChangeAspect="1" noMove="1" noResize="1" noEditPoints="1" noAdjustHandles="1" noChangeArrowheads="1" noChangeShapeType="1" noTextEdit="1"/>
              </p:cNvSpPr>
              <p:nvPr/>
            </p:nvSpPr>
            <p:spPr>
              <a:xfrm>
                <a:off x="320223" y="1896666"/>
                <a:ext cx="11607627" cy="1055608"/>
              </a:xfrm>
              <a:prstGeom prst="flowChartAlternateProcess">
                <a:avLst/>
              </a:prstGeom>
              <a:blipFill>
                <a:blip r:embed="rId3"/>
                <a:stretch>
                  <a:fillRect l="-545" b="-10465"/>
                </a:stretch>
              </a:blipFill>
              <a:ln>
                <a:prstDash val="sysDot"/>
              </a:ln>
            </p:spPr>
            <p:txBody>
              <a:bodyPr/>
              <a:lstStyle/>
              <a:p>
                <a:r>
                  <a:rPr lang="zh-CN" altLang="en-US">
                    <a:noFill/>
                  </a:rPr>
                  <a:t> </a:t>
                </a:r>
              </a:p>
            </p:txBody>
          </p:sp>
        </mc:Fallback>
      </mc:AlternateContent>
      <p:sp>
        <p:nvSpPr>
          <p:cNvPr id="3" name="小标题1">
            <a:extLst>
              <a:ext uri="{FF2B5EF4-FFF2-40B4-BE49-F238E27FC236}">
                <a16:creationId xmlns:a16="http://schemas.microsoft.com/office/drawing/2014/main" id="{39C0DF73-3E0A-391A-FBC5-F7B6F36F079C}"/>
              </a:ext>
            </a:extLst>
          </p:cNvPr>
          <p:cNvSpPr/>
          <p:nvPr/>
        </p:nvSpPr>
        <p:spPr bwMode="auto">
          <a:xfrm>
            <a:off x="320224" y="1052832"/>
            <a:ext cx="2030566"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zh-CN" altLang="en-US" sz="3200" b="1" dirty="0">
                <a:solidFill>
                  <a:schemeClr val="bg1"/>
                </a:solidFill>
                <a:latin typeface="+mn-ea"/>
              </a:rPr>
              <a:t>注意问题</a:t>
            </a:r>
          </a:p>
        </p:txBody>
      </p:sp>
      <mc:AlternateContent xmlns:mc="http://schemas.openxmlformats.org/markup-compatibility/2006" xmlns:a14="http://schemas.microsoft.com/office/drawing/2010/main">
        <mc:Choice Requires="a14">
          <p:sp>
            <p:nvSpPr>
              <p:cNvPr id="2" name="说明3">
                <a:extLst>
                  <a:ext uri="{FF2B5EF4-FFF2-40B4-BE49-F238E27FC236}">
                    <a16:creationId xmlns:a16="http://schemas.microsoft.com/office/drawing/2014/main" id="{7CEEFB9E-B7AE-F3AA-0CEE-3B2DDBC2D6C7}"/>
                  </a:ext>
                </a:extLst>
              </p:cNvPr>
              <p:cNvSpPr txBox="1"/>
              <p:nvPr/>
            </p:nvSpPr>
            <p:spPr>
              <a:xfrm>
                <a:off x="316491" y="3072074"/>
                <a:ext cx="11607627"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latin typeface="Microsoft YaHei" panose="020B0503020204020204" pitchFamily="34" charset="-122"/>
                    <a:ea typeface="Microsoft YaHei" panose="020B0503020204020204" pitchFamily="34" charset="-122"/>
                  </a:rPr>
                  <a:t>(2)</a:t>
                </a:r>
                <a:r>
                  <a:rPr kumimoji="1" lang="zh-CN" altLang="en-US" sz="2800" dirty="0">
                    <a:solidFill>
                      <a:srgbClr val="2980B9"/>
                    </a:solidFill>
                    <a:latin typeface="Microsoft YaHei" panose="020B0503020204020204" pitchFamily="34" charset="-122"/>
                    <a:ea typeface="Microsoft YaHei" panose="020B0503020204020204" pitchFamily="34" charset="-122"/>
                  </a:rPr>
                  <a:t> 只有穿越实轴段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 </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才算，其它段不算；</a:t>
                </a:r>
              </a:p>
            </p:txBody>
          </p:sp>
        </mc:Choice>
        <mc:Fallback xmlns="">
          <p:sp>
            <p:nvSpPr>
              <p:cNvPr id="2" name="说明3">
                <a:extLst>
                  <a:ext uri="{FF2B5EF4-FFF2-40B4-BE49-F238E27FC236}">
                    <a16:creationId xmlns:a16="http://schemas.microsoft.com/office/drawing/2014/main" id="{7CEEFB9E-B7AE-F3AA-0CEE-3B2DDBC2D6C7}"/>
                  </a:ext>
                </a:extLst>
              </p:cNvPr>
              <p:cNvSpPr txBox="1">
                <a:spLocks noRot="1" noChangeAspect="1" noMove="1" noResize="1" noEditPoints="1" noAdjustHandles="1" noChangeArrowheads="1" noChangeShapeType="1" noTextEdit="1"/>
              </p:cNvSpPr>
              <p:nvPr/>
            </p:nvSpPr>
            <p:spPr>
              <a:xfrm>
                <a:off x="316491" y="3072074"/>
                <a:ext cx="11607627" cy="578882"/>
              </a:xfrm>
              <a:prstGeom prst="flowChartAlternateProcess">
                <a:avLst/>
              </a:prstGeom>
              <a:blipFill>
                <a:blip r:embed="rId4"/>
                <a:stretch>
                  <a:fillRect l="-764" t="-2041" b="-22449"/>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说明3">
                <a:extLst>
                  <a:ext uri="{FF2B5EF4-FFF2-40B4-BE49-F238E27FC236}">
                    <a16:creationId xmlns:a16="http://schemas.microsoft.com/office/drawing/2014/main" id="{EFDF2C35-94FF-F403-2890-519FF5311D4B}"/>
                  </a:ext>
                </a:extLst>
              </p:cNvPr>
              <p:cNvSpPr txBox="1"/>
              <p:nvPr/>
            </p:nvSpPr>
            <p:spPr>
              <a:xfrm>
                <a:off x="316491" y="3770756"/>
                <a:ext cx="11607627"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latin typeface="Microsoft YaHei" panose="020B0503020204020204" pitchFamily="34" charset="-122"/>
                    <a:ea typeface="Microsoft YaHei" panose="020B0503020204020204" pitchFamily="34" charset="-122"/>
                  </a:rPr>
                  <a:t>(3)</a:t>
                </a:r>
                <a:r>
                  <a:rPr kumimoji="1" lang="zh-CN" altLang="en-US" sz="2800" dirty="0">
                    <a:solidFill>
                      <a:srgbClr val="2980B9"/>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的最小单位为二分之一。从实轴段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m:t>
                    </m:r>
                  </m:oMath>
                </a14:m>
                <a:r>
                  <a:rPr kumimoji="1" lang="en-US"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起始或终止于实轴段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 −1)</m:t>
                    </m:r>
                  </m:oMath>
                </a14:m>
                <a:r>
                  <a:rPr kumimoji="1" lang="en-US"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算穿越半次。起始点向下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r>
                      <a:rPr kumimoji="1" lang="en-US" altLang="zh-CN" sz="2800" i="1" dirty="0">
                        <a:solidFill>
                          <a:srgbClr val="2980B9"/>
                        </a:solidFill>
                        <a:latin typeface="Cambria Math" panose="02040503050406030204" pitchFamily="18" charset="0"/>
                        <a:ea typeface="Microsoft YaHei" panose="020B0503020204020204" pitchFamily="34" charset="-122"/>
                      </a:rPr>
                      <m:t>=+0.5</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，向上</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𝑁</m:t>
                    </m:r>
                    <m:r>
                      <a:rPr kumimoji="1" lang="en-US" altLang="zh-CN" sz="2800" i="1" dirty="0" smtClean="0">
                        <a:solidFill>
                          <a:srgbClr val="2980B9"/>
                        </a:solidFill>
                        <a:latin typeface="Cambria Math" panose="02040503050406030204" pitchFamily="18" charset="0"/>
                        <a:ea typeface="Microsoft YaHei" panose="020B0503020204020204" pitchFamily="34" charset="-122"/>
                      </a:rPr>
                      <m:t>=−0.5</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终止点从上向下 </a:t>
                </a:r>
                <a14:m>
                  <m:oMath xmlns:m="http://schemas.openxmlformats.org/officeDocument/2006/math">
                    <m:r>
                      <a:rPr kumimoji="1" lang="en-US" altLang="zh-CN" sz="2800" i="1" dirty="0">
                        <a:solidFill>
                          <a:srgbClr val="2980B9"/>
                        </a:solidFill>
                        <a:latin typeface="Cambria Math" panose="02040503050406030204" pitchFamily="18" charset="0"/>
                        <a:ea typeface="Microsoft YaHei" panose="020B0503020204020204" pitchFamily="34" charset="-122"/>
                      </a:rPr>
                      <m:t>𝑁</m:t>
                    </m:r>
                    <m:r>
                      <a:rPr kumimoji="1" lang="en-US" altLang="zh-CN" sz="2800" i="1" dirty="0">
                        <a:solidFill>
                          <a:srgbClr val="2980B9"/>
                        </a:solidFill>
                        <a:latin typeface="Cambria Math" panose="02040503050406030204" pitchFamily="18" charset="0"/>
                        <a:ea typeface="Microsoft YaHei" panose="020B0503020204020204" pitchFamily="34" charset="-122"/>
                      </a:rPr>
                      <m:t>=+0.5 </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，从下向上 </a:t>
                </a:r>
                <a14:m>
                  <m:oMath xmlns:m="http://schemas.openxmlformats.org/officeDocument/2006/math">
                    <m:r>
                      <a:rPr kumimoji="1" lang="en-US" altLang="zh-CN" sz="2800" i="1" dirty="0">
                        <a:solidFill>
                          <a:srgbClr val="2980B9"/>
                        </a:solidFill>
                        <a:latin typeface="Cambria Math" panose="02040503050406030204" pitchFamily="18" charset="0"/>
                        <a:ea typeface="Microsoft YaHei" panose="020B0503020204020204" pitchFamily="34" charset="-122"/>
                      </a:rPr>
                      <m:t>𝑁</m:t>
                    </m:r>
                    <m:r>
                      <a:rPr kumimoji="1" lang="en-US" altLang="zh-CN" sz="2800" i="1" dirty="0">
                        <a:solidFill>
                          <a:srgbClr val="2980B9"/>
                        </a:solidFill>
                        <a:latin typeface="Cambria Math" panose="02040503050406030204" pitchFamily="18" charset="0"/>
                        <a:ea typeface="Microsoft YaHei" panose="020B0503020204020204" pitchFamily="34" charset="-122"/>
                      </a:rPr>
                      <m:t>=−0.5 </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a:t>
                </a:r>
              </a:p>
            </p:txBody>
          </p:sp>
        </mc:Choice>
        <mc:Fallback xmlns="">
          <p:sp>
            <p:nvSpPr>
              <p:cNvPr id="4" name="说明3">
                <a:extLst>
                  <a:ext uri="{FF2B5EF4-FFF2-40B4-BE49-F238E27FC236}">
                    <a16:creationId xmlns:a16="http://schemas.microsoft.com/office/drawing/2014/main" id="{EFDF2C35-94FF-F403-2890-519FF5311D4B}"/>
                  </a:ext>
                </a:extLst>
              </p:cNvPr>
              <p:cNvSpPr txBox="1">
                <a:spLocks noRot="1" noChangeAspect="1" noMove="1" noResize="1" noEditPoints="1" noAdjustHandles="1" noChangeArrowheads="1" noChangeShapeType="1" noTextEdit="1"/>
              </p:cNvSpPr>
              <p:nvPr/>
            </p:nvSpPr>
            <p:spPr>
              <a:xfrm>
                <a:off x="316491" y="3770756"/>
                <a:ext cx="11607627" cy="1532334"/>
              </a:xfrm>
              <a:prstGeom prst="flowChartAlternateProcess">
                <a:avLst/>
              </a:prstGeom>
              <a:blipFill>
                <a:blip r:embed="rId5"/>
                <a:stretch>
                  <a:fillRect l="-436" b="-4032"/>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说明3">
                <a:extLst>
                  <a:ext uri="{FF2B5EF4-FFF2-40B4-BE49-F238E27FC236}">
                    <a16:creationId xmlns:a16="http://schemas.microsoft.com/office/drawing/2014/main" id="{0B0A8D3A-0068-4C7C-F751-E3D53BAD6E68}"/>
                  </a:ext>
                </a:extLst>
              </p:cNvPr>
              <p:cNvSpPr txBox="1"/>
              <p:nvPr/>
            </p:nvSpPr>
            <p:spPr>
              <a:xfrm>
                <a:off x="316491" y="5515727"/>
                <a:ext cx="11607627"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CN" sz="2800" dirty="0">
                    <a:solidFill>
                      <a:srgbClr val="2980B9"/>
                    </a:solidFill>
                    <a:latin typeface="Microsoft YaHei" panose="020B0503020204020204" pitchFamily="34" charset="-122"/>
                    <a:ea typeface="Microsoft YaHei" panose="020B0503020204020204" pitchFamily="34" charset="-122"/>
                  </a:rPr>
                  <a:t>(4)</a:t>
                </a:r>
                <a:r>
                  <a:rPr kumimoji="1" lang="zh-CN" altLang="en-US" sz="2800" dirty="0">
                    <a:solidFill>
                      <a:srgbClr val="2980B9"/>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𝑍</m:t>
                    </m:r>
                    <m:r>
                      <a:rPr kumimoji="1" lang="en-US" altLang="zh-CN" sz="2800" i="1" dirty="0" smtClean="0">
                        <a:solidFill>
                          <a:srgbClr val="2980B9"/>
                        </a:solidFill>
                        <a:latin typeface="Cambria Math" panose="02040503050406030204" pitchFamily="18" charset="0"/>
                        <a:ea typeface="Microsoft YaHei" panose="020B0503020204020204" pitchFamily="34" charset="-122"/>
                      </a:rPr>
                      <m:t>&gt;0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闭环系统不稳定；</a:t>
                </a:r>
                <a:r>
                  <a:rPr kumimoji="1" lang="en-US" altLang="zh-CN" sz="2800" dirty="0">
                    <a:solidFill>
                      <a:srgbClr val="2980B9"/>
                    </a:solidFill>
                    <a:ea typeface="Microsoft YaHei" panose="020B0503020204020204" pitchFamily="34" charset="-122"/>
                  </a:rPr>
                  <a:t> </a:t>
                </a:r>
                <a14:m>
                  <m:oMath xmlns:m="http://schemas.openxmlformats.org/officeDocument/2006/math">
                    <m:r>
                      <a:rPr kumimoji="1" lang="en-US" altLang="zh-CN" sz="2800" i="1" dirty="0">
                        <a:solidFill>
                          <a:srgbClr val="2980B9"/>
                        </a:solidFill>
                        <a:latin typeface="Cambria Math" panose="02040503050406030204" pitchFamily="18" charset="0"/>
                        <a:ea typeface="Microsoft YaHei" panose="020B0503020204020204" pitchFamily="34" charset="-122"/>
                      </a:rPr>
                      <m:t>𝑍</m:t>
                    </m:r>
                    <m:r>
                      <a:rPr kumimoji="1" lang="en-US" altLang="zh-CN" sz="2800" b="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a:solidFill>
                          <a:srgbClr val="2980B9"/>
                        </a:solidFill>
                        <a:latin typeface="Cambria Math" panose="02040503050406030204" pitchFamily="18" charset="0"/>
                        <a:ea typeface="Microsoft YaHei" panose="020B0503020204020204" pitchFamily="34" charset="-122"/>
                      </a:rPr>
                      <m: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闭环系统稳定；</a:t>
                </a:r>
                <a:r>
                  <a:rPr kumimoji="1" lang="en-US" altLang="zh-CN" sz="2800" dirty="0">
                    <a:solidFill>
                      <a:srgbClr val="2980B9"/>
                    </a:solidFill>
                    <a:ea typeface="Microsoft YaHei" panose="020B0503020204020204" pitchFamily="34" charset="-122"/>
                  </a:rPr>
                  <a:t> </a:t>
                </a:r>
                <a14:m>
                  <m:oMath xmlns:m="http://schemas.openxmlformats.org/officeDocument/2006/math">
                    <m:r>
                      <a:rPr kumimoji="1" lang="en-US" altLang="zh-CN" sz="2800" i="1" dirty="0">
                        <a:solidFill>
                          <a:srgbClr val="2980B9"/>
                        </a:solidFill>
                        <a:latin typeface="Cambria Math" panose="02040503050406030204" pitchFamily="18" charset="0"/>
                        <a:ea typeface="Microsoft YaHei" panose="020B0503020204020204" pitchFamily="34" charset="-122"/>
                      </a:rPr>
                      <m:t>𝑍</m:t>
                    </m:r>
                    <m:r>
                      <a:rPr kumimoji="1" lang="en-US" altLang="zh-CN" sz="2800" b="0" i="1" dirty="0" smtClean="0">
                        <a:solidFill>
                          <a:srgbClr val="2980B9"/>
                        </a:solidFill>
                        <a:latin typeface="Cambria Math" panose="02040503050406030204" pitchFamily="18" charset="0"/>
                        <a:ea typeface="Microsoft YaHei" panose="020B0503020204020204" pitchFamily="34" charset="-122"/>
                      </a:rPr>
                      <m:t>&lt;</m:t>
                    </m:r>
                    <m:r>
                      <a:rPr kumimoji="1" lang="en-US" altLang="zh-CN" sz="2800" i="1" dirty="0">
                        <a:solidFill>
                          <a:srgbClr val="2980B9"/>
                        </a:solidFill>
                        <a:latin typeface="Cambria Math" panose="02040503050406030204" pitchFamily="18" charset="0"/>
                        <a:ea typeface="Microsoft YaHei" panose="020B0503020204020204" pitchFamily="34" charset="-122"/>
                      </a:rPr>
                      <m: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有误！</a:t>
                </a:r>
              </a:p>
            </p:txBody>
          </p:sp>
        </mc:Choice>
        <mc:Fallback xmlns="">
          <p:sp>
            <p:nvSpPr>
              <p:cNvPr id="5" name="说明3">
                <a:extLst>
                  <a:ext uri="{FF2B5EF4-FFF2-40B4-BE49-F238E27FC236}">
                    <a16:creationId xmlns:a16="http://schemas.microsoft.com/office/drawing/2014/main" id="{0B0A8D3A-0068-4C7C-F751-E3D53BAD6E68}"/>
                  </a:ext>
                </a:extLst>
              </p:cNvPr>
              <p:cNvSpPr txBox="1">
                <a:spLocks noRot="1" noChangeAspect="1" noMove="1" noResize="1" noEditPoints="1" noAdjustHandles="1" noChangeArrowheads="1" noChangeShapeType="1" noTextEdit="1"/>
              </p:cNvSpPr>
              <p:nvPr/>
            </p:nvSpPr>
            <p:spPr>
              <a:xfrm>
                <a:off x="316491" y="5515727"/>
                <a:ext cx="11607627" cy="578882"/>
              </a:xfrm>
              <a:prstGeom prst="flowChartAlternateProcess">
                <a:avLst/>
              </a:prstGeom>
              <a:blipFill>
                <a:blip r:embed="rId6"/>
                <a:stretch>
                  <a:fillRect l="-764" t="-6250" b="-20833"/>
                </a:stretch>
              </a:blipFill>
              <a:ln>
                <a:prstDash val="sysDot"/>
              </a:ln>
            </p:spPr>
            <p:txBody>
              <a:bodyPr/>
              <a:lstStyle/>
              <a:p>
                <a:r>
                  <a:rPr lang="zh-CN" altLang="en-US">
                    <a:noFill/>
                  </a:rPr>
                  <a:t> </a:t>
                </a:r>
              </a:p>
            </p:txBody>
          </p:sp>
        </mc:Fallback>
      </mc:AlternateContent>
    </p:spTree>
    <p:extLst>
      <p:ext uri="{BB962C8B-B14F-4D97-AF65-F5344CB8AC3E}">
        <p14:creationId xmlns:p14="http://schemas.microsoft.com/office/powerpoint/2010/main" val="2535159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2" grpId="0" animBg="1"/>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奈奎斯特稳定判据的应用</a:t>
            </a:r>
          </a:p>
        </p:txBody>
      </p:sp>
      <p:sp>
        <p:nvSpPr>
          <p:cNvPr id="3" name="小标题1">
            <a:extLst>
              <a:ext uri="{FF2B5EF4-FFF2-40B4-BE49-F238E27FC236}">
                <a16:creationId xmlns:a16="http://schemas.microsoft.com/office/drawing/2014/main" id="{39C0DF73-3E0A-391A-FBC5-F7B6F36F079C}"/>
              </a:ext>
            </a:extLst>
          </p:cNvPr>
          <p:cNvSpPr/>
          <p:nvPr/>
        </p:nvSpPr>
        <p:spPr bwMode="auto">
          <a:xfrm>
            <a:off x="221020" y="949557"/>
            <a:ext cx="6306234" cy="1152032"/>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r>
              <a:rPr lang="zh-CN" altLang="en-US" sz="3200" b="1" dirty="0">
                <a:solidFill>
                  <a:schemeClr val="bg1"/>
                </a:solidFill>
                <a:latin typeface="+mn-ea"/>
              </a:rPr>
              <a:t>已知单位反馈系统开环传递函数，</a:t>
            </a:r>
            <a:endParaRPr lang="en-US" altLang="zh-CN" sz="3200" b="1" dirty="0">
              <a:solidFill>
                <a:schemeClr val="bg1"/>
              </a:solidFill>
              <a:latin typeface="+mn-ea"/>
            </a:endParaRPr>
          </a:p>
          <a:p>
            <a:r>
              <a:rPr lang="zh-CN" altLang="en-US" sz="3200" b="1" dirty="0">
                <a:solidFill>
                  <a:schemeClr val="bg1"/>
                </a:solidFill>
                <a:latin typeface="+mn-ea"/>
              </a:rPr>
              <a:t>分析系统稳定性。</a:t>
            </a:r>
          </a:p>
        </p:txBody>
      </p:sp>
      <mc:AlternateContent xmlns:mc="http://schemas.openxmlformats.org/markup-compatibility/2006" xmlns:a14="http://schemas.microsoft.com/office/drawing/2010/main">
        <mc:Choice Requires="a14">
          <p:sp>
            <p:nvSpPr>
              <p:cNvPr id="5" name="说明3">
                <a:extLst>
                  <a:ext uri="{FF2B5EF4-FFF2-40B4-BE49-F238E27FC236}">
                    <a16:creationId xmlns:a16="http://schemas.microsoft.com/office/drawing/2014/main" id="{0B0A8D3A-0068-4C7C-F751-E3D53BAD6E68}"/>
                  </a:ext>
                </a:extLst>
              </p:cNvPr>
              <p:cNvSpPr txBox="1"/>
              <p:nvPr/>
            </p:nvSpPr>
            <p:spPr>
              <a:xfrm>
                <a:off x="358494" y="6017621"/>
                <a:ext cx="5706707" cy="651739"/>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kumimoji="1" lang="en-US" altLang="zh-CN" sz="2800" b="0" i="1" smtClean="0">
                            <a:solidFill>
                              <a:srgbClr val="2980B9"/>
                            </a:solidFill>
                            <a:latin typeface="Cambria Math" panose="02040503050406030204" pitchFamily="18" charset="0"/>
                            <a:ea typeface="Microsoft YaHei" panose="020B0503020204020204" pitchFamily="34" charset="-122"/>
                          </a:rPr>
                        </m:ctrlPr>
                      </m:sSubPr>
                      <m:e>
                        <m:r>
                          <a:rPr kumimoji="1" lang="zh-CN" altLang="en-US" sz="2800" i="1" smtClean="0">
                            <a:solidFill>
                              <a:srgbClr val="2980B9"/>
                            </a:solidFill>
                            <a:latin typeface="Cambria Math" panose="02040503050406030204" pitchFamily="18" charset="0"/>
                            <a:ea typeface="Microsoft YaHei" panose="020B0503020204020204" pitchFamily="34" charset="-122"/>
                          </a:rPr>
                          <m:t>𝜔</m:t>
                        </m:r>
                      </m:e>
                      <m:sub>
                        <m:r>
                          <a:rPr kumimoji="1" lang="en-US" altLang="zh-CN" sz="2800" b="0" i="1" smtClean="0">
                            <a:solidFill>
                              <a:srgbClr val="2980B9"/>
                            </a:solidFill>
                            <a:latin typeface="Cambria Math" panose="02040503050406030204" pitchFamily="18" charset="0"/>
                            <a:ea typeface="Microsoft YaHei" panose="020B0503020204020204" pitchFamily="34" charset="-122"/>
                          </a:rPr>
                          <m:t>𝑔</m:t>
                        </m:r>
                      </m:sub>
                    </m:sSub>
                  </m:oMath>
                </a14:m>
                <a:r>
                  <a:rPr kumimoji="1" lang="zh-CN" altLang="en-US" sz="2800" dirty="0">
                    <a:solidFill>
                      <a:srgbClr val="2980B9"/>
                    </a:solidFill>
                    <a:latin typeface="Microsoft YaHei" panose="020B0503020204020204" pitchFamily="34" charset="-122"/>
                    <a:ea typeface="Microsoft YaHei" panose="020B0503020204020204" pitchFamily="34" charset="-122"/>
                  </a:rPr>
                  <a:t>与</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𝐾</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无关，但</a:t>
                </a:r>
                <a14:m>
                  <m:oMath xmlns:m="http://schemas.openxmlformats.org/officeDocument/2006/math">
                    <m:d>
                      <m:dPr>
                        <m:begChr m:val="|"/>
                        <m:endChr m:val="|"/>
                        <m:ctrlPr>
                          <a:rPr kumimoji="1" lang="en-US" altLang="zh-CN" sz="2800" b="0" i="1" dirty="0" smtClean="0">
                            <a:solidFill>
                              <a:srgbClr val="2980B9"/>
                            </a:solidFill>
                            <a:latin typeface="Cambria Math" panose="02040503050406030204" pitchFamily="18" charset="0"/>
                            <a:ea typeface="Microsoft YaHei" panose="020B0503020204020204" pitchFamily="34" charset="-122"/>
                          </a:rPr>
                        </m:ctrlPr>
                      </m:dPr>
                      <m:e>
                        <m:r>
                          <a:rPr kumimoji="1" lang="en-US" altLang="zh-CN" sz="2800" i="1" dirty="0" smtClean="0">
                            <a:solidFill>
                              <a:srgbClr val="2980B9"/>
                            </a:solidFill>
                            <a:latin typeface="Cambria Math" panose="02040503050406030204" pitchFamily="18" charset="0"/>
                            <a:ea typeface="Microsoft YaHei" panose="020B0503020204020204" pitchFamily="34" charset="-122"/>
                          </a:rPr>
                          <m:t>𝐺</m:t>
                        </m:r>
                        <m:d>
                          <m:dPr>
                            <m:ctrlPr>
                              <a:rPr kumimoji="1" lang="en-US" altLang="zh-CN" sz="2800" i="1" dirty="0" smtClean="0">
                                <a:solidFill>
                                  <a:srgbClr val="2980B9"/>
                                </a:solidFill>
                                <a:latin typeface="Cambria Math" panose="02040503050406030204" pitchFamily="18" charset="0"/>
                                <a:ea typeface="Microsoft YaHei" panose="020B0503020204020204" pitchFamily="34" charset="-122"/>
                              </a:rPr>
                            </m:ctrlPr>
                          </m:dPr>
                          <m:e>
                            <m:sSub>
                              <m:sSubPr>
                                <m:ctrlPr>
                                  <a:rPr kumimoji="1" lang="en-US" altLang="zh-CN" sz="2800" i="1">
                                    <a:solidFill>
                                      <a:srgbClr val="2980B9"/>
                                    </a:solidFill>
                                    <a:latin typeface="Cambria Math" panose="02040503050406030204" pitchFamily="18" charset="0"/>
                                    <a:ea typeface="Microsoft YaHei" panose="020B0503020204020204" pitchFamily="34" charset="-122"/>
                                  </a:rPr>
                                </m:ctrlPr>
                              </m:sSubPr>
                              <m:e>
                                <m:r>
                                  <a:rPr kumimoji="1" lang="zh-CN" altLang="en-US" sz="2800" i="1">
                                    <a:solidFill>
                                      <a:srgbClr val="2980B9"/>
                                    </a:solidFill>
                                    <a:latin typeface="Cambria Math" panose="02040503050406030204" pitchFamily="18" charset="0"/>
                                    <a:ea typeface="Microsoft YaHei" panose="020B0503020204020204" pitchFamily="34" charset="-122"/>
                                  </a:rPr>
                                  <m:t>𝜔</m:t>
                                </m:r>
                              </m:e>
                              <m:sub>
                                <m:r>
                                  <a:rPr kumimoji="1" lang="en-US" altLang="zh-CN" sz="2800" i="1">
                                    <a:solidFill>
                                      <a:srgbClr val="2980B9"/>
                                    </a:solidFill>
                                    <a:latin typeface="Cambria Math" panose="02040503050406030204" pitchFamily="18" charset="0"/>
                                    <a:ea typeface="Microsoft YaHei" panose="020B0503020204020204" pitchFamily="34" charset="-122"/>
                                  </a:rPr>
                                  <m:t>𝑔</m:t>
                                </m:r>
                              </m:sub>
                            </m:sSub>
                          </m:e>
                        </m:d>
                      </m:e>
                    </m:d>
                  </m:oMath>
                </a14:m>
                <a:r>
                  <a:rPr kumimoji="1" lang="zh-CN" altLang="en-US" sz="2800" dirty="0">
                    <a:solidFill>
                      <a:srgbClr val="2980B9"/>
                    </a:solidFill>
                    <a:latin typeface="Microsoft YaHei" panose="020B0503020204020204" pitchFamily="34" charset="-122"/>
                    <a:ea typeface="Microsoft YaHei" panose="020B0503020204020204" pitchFamily="34" charset="-122"/>
                  </a:rPr>
                  <a:t>与</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𝐾</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成正比</a:t>
                </a:r>
              </a:p>
            </p:txBody>
          </p:sp>
        </mc:Choice>
        <mc:Fallback xmlns="">
          <p:sp>
            <p:nvSpPr>
              <p:cNvPr id="5" name="说明3">
                <a:extLst>
                  <a:ext uri="{FF2B5EF4-FFF2-40B4-BE49-F238E27FC236}">
                    <a16:creationId xmlns:a16="http://schemas.microsoft.com/office/drawing/2014/main" id="{0B0A8D3A-0068-4C7C-F751-E3D53BAD6E68}"/>
                  </a:ext>
                </a:extLst>
              </p:cNvPr>
              <p:cNvSpPr txBox="1">
                <a:spLocks noRot="1" noChangeAspect="1" noMove="1" noResize="1" noEditPoints="1" noAdjustHandles="1" noChangeArrowheads="1" noChangeShapeType="1" noTextEdit="1"/>
              </p:cNvSpPr>
              <p:nvPr/>
            </p:nvSpPr>
            <p:spPr>
              <a:xfrm>
                <a:off x="358494" y="6017621"/>
                <a:ext cx="5706707" cy="651739"/>
              </a:xfrm>
              <a:prstGeom prst="flowChartAlternateProcess">
                <a:avLst/>
              </a:prstGeom>
              <a:blipFill>
                <a:blip r:embed="rId3"/>
                <a:stretch>
                  <a:fillRect b="-12727"/>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7B9C046-6169-5A0C-277B-D603029C5E7D}"/>
                  </a:ext>
                </a:extLst>
              </p:cNvPr>
              <p:cNvSpPr txBox="1"/>
              <p:nvPr/>
            </p:nvSpPr>
            <p:spPr>
              <a:xfrm>
                <a:off x="190550" y="2193231"/>
                <a:ext cx="4392488" cy="757259"/>
              </a:xfrm>
              <a:prstGeom prst="rect">
                <a:avLst/>
              </a:prstGeom>
              <a:noFill/>
            </p:spPr>
            <p:txBody>
              <a:bodyPr wrap="square">
                <a:spAutoFit/>
              </a:bodyPr>
              <a:lstStyle/>
              <a:p>
                <a14:m>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1</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2</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𝑇</m:t>
                                </m:r>
                              </m:e>
                              <m:sub>
                                <m:r>
                                  <a:rPr lang="en-US" altLang="zh-CN" sz="2800" b="0" i="1" smtClean="0">
                                    <a:latin typeface="Cambria Math" panose="02040503050406030204" pitchFamily="18" charset="0"/>
                                  </a:rPr>
                                  <m:t>3</m:t>
                                </m:r>
                              </m:sub>
                            </m:sSub>
                            <m:r>
                              <a:rPr lang="en-US" altLang="zh-CN" sz="2800" i="1">
                                <a:latin typeface="Cambria Math" panose="02040503050406030204" pitchFamily="18" charset="0"/>
                              </a:rPr>
                              <m:t>𝑠</m:t>
                            </m:r>
                            <m:r>
                              <a:rPr lang="en-US" altLang="zh-CN" sz="2800" i="1">
                                <a:latin typeface="Cambria Math" panose="02040503050406030204" pitchFamily="18" charset="0"/>
                              </a:rPr>
                              <m:t>+1</m:t>
                            </m:r>
                          </m:e>
                        </m:d>
                      </m:den>
                    </m:f>
                  </m:oMath>
                </a14:m>
                <a:r>
                  <a:rPr lang="zh-CN" altLang="en-US" sz="2800" dirty="0">
                    <a:solidFill>
                      <a:schemeClr val="tx1"/>
                    </a:solidFill>
                  </a:rPr>
                  <a:t> </a:t>
                </a:r>
              </a:p>
            </p:txBody>
          </p:sp>
        </mc:Choice>
        <mc:Fallback xmlns="">
          <p:sp>
            <p:nvSpPr>
              <p:cNvPr id="6" name="文本框 5">
                <a:extLst>
                  <a:ext uri="{FF2B5EF4-FFF2-40B4-BE49-F238E27FC236}">
                    <a16:creationId xmlns:a16="http://schemas.microsoft.com/office/drawing/2014/main" id="{47B9C046-6169-5A0C-277B-D603029C5E7D}"/>
                  </a:ext>
                </a:extLst>
              </p:cNvPr>
              <p:cNvSpPr txBox="1">
                <a:spLocks noRot="1" noChangeAspect="1" noMove="1" noResize="1" noEditPoints="1" noAdjustHandles="1" noChangeArrowheads="1" noChangeShapeType="1" noTextEdit="1"/>
              </p:cNvSpPr>
              <p:nvPr/>
            </p:nvSpPr>
            <p:spPr>
              <a:xfrm>
                <a:off x="190550" y="2193231"/>
                <a:ext cx="4392488" cy="757259"/>
              </a:xfrm>
              <a:prstGeom prst="rect">
                <a:avLst/>
              </a:prstGeom>
              <a:blipFill>
                <a:blip r:embed="rId4"/>
                <a:stretch>
                  <a:fillRect l="-5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6A96DBD-51B4-F3CB-A194-856930B5B6FD}"/>
                  </a:ext>
                </a:extLst>
              </p:cNvPr>
              <p:cNvSpPr txBox="1"/>
              <p:nvPr/>
            </p:nvSpPr>
            <p:spPr>
              <a:xfrm>
                <a:off x="1165738" y="3001714"/>
                <a:ext cx="3528392" cy="10534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𝐺</m:t>
                              </m:r>
                              <m:d>
                                <m:dPr>
                                  <m:ctrlPr>
                                    <a:rPr lang="zh-CN" altLang="en-US" sz="2800" i="1">
                                      <a:latin typeface="Cambria Math" panose="02040503050406030204" pitchFamily="18" charset="0"/>
                                    </a:rPr>
                                  </m:ctrlPr>
                                </m:dPr>
                                <m:e>
                                  <m:r>
                                    <a:rPr lang="en-US" altLang="zh-CN" sz="2800" i="1">
                                      <a:latin typeface="Cambria Math" panose="02040503050406030204" pitchFamily="18" charset="0"/>
                                    </a:rPr>
                                    <m:t>𝑗</m:t>
                                  </m:r>
                                  <m:r>
                                    <a:rPr lang="en-US" altLang="zh-CN" sz="2800" i="1">
                                      <a:latin typeface="Cambria Math" panose="02040503050406030204" pitchFamily="18" charset="0"/>
                                    </a:rPr>
                                    <m:t>0</m:t>
                                  </m:r>
                                </m:e>
                              </m:d>
                              <m:r>
                                <a:rPr lang="zh-CN" altLang="en-US" sz="2800">
                                  <a:latin typeface="Cambria Math" panose="02040503050406030204" pitchFamily="18" charset="0"/>
                                </a:rPr>
                                <m:t>=</m:t>
                              </m:r>
                              <m:r>
                                <a:rPr lang="en-US" altLang="zh-CN" sz="2800" i="1">
                                  <a:latin typeface="Cambria Math" panose="02040503050406030204" pitchFamily="18" charset="0"/>
                                </a:rPr>
                                <m:t>𝐾</m:t>
                              </m:r>
                              <m:r>
                                <a:rPr lang="en-US" altLang="zh-CN" sz="2800" i="1">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rPr>
                                <m:t>𝐺</m:t>
                              </m:r>
                              <m:d>
                                <m:dPr>
                                  <m:ctrlPr>
                                    <a:rPr lang="zh-CN" altLang="en-US" sz="2800" i="1">
                                      <a:latin typeface="Cambria Math" panose="02040503050406030204" pitchFamily="18" charset="0"/>
                                    </a:rPr>
                                  </m:ctrlPr>
                                </m:dPr>
                                <m:e>
                                  <m:r>
                                    <a:rPr lang="en-US" altLang="zh-CN" sz="2800" i="1">
                                      <a:latin typeface="Cambria Math" panose="02040503050406030204" pitchFamily="18" charset="0"/>
                                    </a:rPr>
                                    <m:t>𝑗</m:t>
                                  </m:r>
                                  <m:r>
                                    <a:rPr lang="en-US" altLang="zh-CN" sz="2800" i="1">
                                      <a:latin typeface="Cambria Math" panose="02040503050406030204" pitchFamily="18" charset="0"/>
                                      <a:ea typeface="Cambria Math" panose="02040503050406030204" pitchFamily="18" charset="0"/>
                                    </a:rPr>
                                    <m:t>∞</m:t>
                                  </m:r>
                                </m:e>
                              </m:d>
                              <m:r>
                                <a:rPr lang="zh-CN" altLang="en-US" sz="2800">
                                  <a:latin typeface="Cambria Math" panose="02040503050406030204" pitchFamily="18" charset="0"/>
                                </a:rPr>
                                <m:t>=</m:t>
                              </m:r>
                              <m:r>
                                <a:rPr lang="en-US" altLang="zh-CN" sz="2800" i="1">
                                  <a:latin typeface="Cambria Math" panose="02040503050406030204" pitchFamily="18" charset="0"/>
                                </a:rPr>
                                <m:t>0</m:t>
                              </m:r>
                              <m:r>
                                <a:rPr lang="en-US" altLang="zh-CN" sz="2800" i="1">
                                  <a:latin typeface="Cambria Math" panose="02040503050406030204" pitchFamily="18" charset="0"/>
                                  <a:ea typeface="Cambria Math" panose="02040503050406030204" pitchFamily="18" charset="0"/>
                                </a:rPr>
                                <m:t>∠−270°</m:t>
                              </m:r>
                              <m:r>
                                <m:rPr>
                                  <m:nor/>
                                </m:rPr>
                                <a:rPr lang="en-US" altLang="zh-CN" sz="2800" dirty="0"/>
                                <m:t> </m:t>
                              </m:r>
                            </m:e>
                          </m:eqArr>
                        </m:e>
                      </m:d>
                    </m:oMath>
                  </m:oMathPara>
                </a14:m>
                <a:endParaRPr lang="en-US" altLang="zh-CN" sz="2800" dirty="0">
                  <a:solidFill>
                    <a:schemeClr val="tx1"/>
                  </a:solidFill>
                </a:endParaRPr>
              </a:p>
            </p:txBody>
          </p:sp>
        </mc:Choice>
        <mc:Fallback xmlns="">
          <p:sp>
            <p:nvSpPr>
              <p:cNvPr id="7" name="文本框 6">
                <a:extLst>
                  <a:ext uri="{FF2B5EF4-FFF2-40B4-BE49-F238E27FC236}">
                    <a16:creationId xmlns:a16="http://schemas.microsoft.com/office/drawing/2014/main" id="{96A96DBD-51B4-F3CB-A194-856930B5B6FD}"/>
                  </a:ext>
                </a:extLst>
              </p:cNvPr>
              <p:cNvSpPr txBox="1">
                <a:spLocks noRot="1" noChangeAspect="1" noMove="1" noResize="1" noEditPoints="1" noAdjustHandles="1" noChangeArrowheads="1" noChangeShapeType="1" noTextEdit="1"/>
              </p:cNvSpPr>
              <p:nvPr/>
            </p:nvSpPr>
            <p:spPr>
              <a:xfrm>
                <a:off x="1165738" y="3001714"/>
                <a:ext cx="3528392" cy="1053494"/>
              </a:xfrm>
              <a:prstGeom prst="rect">
                <a:avLst/>
              </a:prstGeom>
              <a:blipFill>
                <a:blip r:embed="rId5"/>
                <a:stretch>
                  <a:fillRect l="-47312" t="-201190" r="-1434" b="-29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A349B0D-DDEC-2541-EFED-E84DB2BECFD0}"/>
                  </a:ext>
                </a:extLst>
              </p:cNvPr>
              <p:cNvSpPr txBox="1"/>
              <p:nvPr/>
            </p:nvSpPr>
            <p:spPr>
              <a:xfrm>
                <a:off x="358494" y="4095476"/>
                <a:ext cx="5976664" cy="12114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𝐾</m:t>
                      </m:r>
                      <m:r>
                        <a:rPr lang="en-US" altLang="zh-CN" sz="2800" b="0" i="1" smtClean="0">
                          <a:latin typeface="Cambria Math" panose="02040503050406030204" pitchFamily="18" charset="0"/>
                        </a:rPr>
                        <m:t>=</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𝐾</m:t>
                                  </m:r>
                                </m:e>
                                <m:sub>
                                  <m:r>
                                    <a:rPr lang="en-US" altLang="zh-CN" sz="2800" b="0" i="1" smtClean="0">
                                      <a:latin typeface="Cambria Math" panose="02040503050406030204" pitchFamily="18" charset="0"/>
                                    </a:rPr>
                                    <m:t>1</m:t>
                                  </m:r>
                                </m:sub>
                              </m:sSub>
                              <m:d>
                                <m:dPr>
                                  <m:ctrlPr>
                                    <a:rPr lang="en-US" altLang="zh-CN" sz="2800" b="0" i="1" smtClean="0">
                                      <a:latin typeface="Cambria Math" panose="02040503050406030204" pitchFamily="18" charset="0"/>
                                    </a:rPr>
                                  </m:ctrlPr>
                                </m:dPr>
                                <m:e>
                                  <m:r>
                                    <a:rPr lang="zh-CN" altLang="en-US" sz="2800" i="1">
                                      <a:latin typeface="Cambria Math" panose="02040503050406030204" pitchFamily="18" charset="0"/>
                                    </a:rPr>
                                    <m:t>小</m:t>
                                  </m:r>
                                </m:e>
                              </m:d>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=0=</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/2</m:t>
                              </m:r>
                              <m:d>
                                <m:dPr>
                                  <m:ctrlPr>
                                    <a:rPr lang="en-US" altLang="zh-CN" sz="2800" b="0" i="1" smtClean="0">
                                      <a:latin typeface="Cambria Math" panose="02040503050406030204" pitchFamily="18" charset="0"/>
                                    </a:rPr>
                                  </m:ctrlPr>
                                </m:dPr>
                                <m:e>
                                  <m:r>
                                    <a:rPr lang="zh-CN" altLang="en-US" sz="2800" i="1">
                                      <a:latin typeface="Cambria Math" panose="02040503050406030204" pitchFamily="18" charset="0"/>
                                    </a:rPr>
                                    <m:t>稳定</m:t>
                                  </m:r>
                                </m:e>
                              </m:d>
                            </m:e>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𝐾</m:t>
                                  </m:r>
                                </m:e>
                                <m:sub>
                                  <m:r>
                                    <a:rPr lang="en-US" altLang="zh-CN" sz="2800" i="1">
                                      <a:latin typeface="Cambria Math" panose="02040503050406030204" pitchFamily="18" charset="0"/>
                                    </a:rPr>
                                    <m:t>1</m:t>
                                  </m:r>
                                </m:sub>
                              </m:sSub>
                              <m:d>
                                <m:dPr>
                                  <m:ctrlPr>
                                    <a:rPr lang="en-US" altLang="zh-CN" sz="2800" i="1">
                                      <a:latin typeface="Cambria Math" panose="02040503050406030204" pitchFamily="18" charset="0"/>
                                    </a:rPr>
                                  </m:ctrlPr>
                                </m:dPr>
                                <m:e>
                                  <m:r>
                                    <a:rPr lang="zh-CN" altLang="en-US" sz="2800" i="1" smtClean="0">
                                      <a:latin typeface="Cambria Math" panose="02040503050406030204" pitchFamily="18" charset="0"/>
                                    </a:rPr>
                                    <m:t>大</m:t>
                                  </m:r>
                                </m:e>
                              </m:d>
                              <m:r>
                                <a:rPr lang="en-US" altLang="zh-CN" sz="2800" i="1">
                                  <a:latin typeface="Cambria Math" panose="02040503050406030204" pitchFamily="18" charset="0"/>
                                </a:rPr>
                                <m:t>𝑁</m:t>
                              </m:r>
                              <m:r>
                                <a:rPr lang="en-US" altLang="zh-CN" sz="2800" i="1">
                                  <a:latin typeface="Cambria Math" panose="02040503050406030204" pitchFamily="18" charset="0"/>
                                </a:rPr>
                                <m:t>=−1≠</m:t>
                              </m:r>
                              <m:r>
                                <a:rPr lang="en-US" altLang="zh-CN" sz="2800" i="1">
                                  <a:latin typeface="Cambria Math" panose="02040503050406030204" pitchFamily="18" charset="0"/>
                                </a:rPr>
                                <m:t>𝑃</m:t>
                              </m:r>
                              <m:r>
                                <a:rPr lang="en-US" altLang="zh-CN" sz="2800" i="1">
                                  <a:latin typeface="Cambria Math" panose="02040503050406030204" pitchFamily="18" charset="0"/>
                                </a:rPr>
                                <m:t>/2</m:t>
                              </m:r>
                              <m:d>
                                <m:dPr>
                                  <m:ctrlPr>
                                    <a:rPr lang="en-US" altLang="zh-CN" sz="2800" i="1">
                                      <a:latin typeface="Cambria Math" panose="02040503050406030204" pitchFamily="18" charset="0"/>
                                    </a:rPr>
                                  </m:ctrlPr>
                                </m:dPr>
                                <m:e>
                                  <m:r>
                                    <a:rPr lang="zh-CN" altLang="en-US" sz="2800" i="1" smtClean="0">
                                      <a:latin typeface="Cambria Math" panose="02040503050406030204" pitchFamily="18" charset="0"/>
                                    </a:rPr>
                                    <m:t>不</m:t>
                                  </m:r>
                                  <m:r>
                                    <a:rPr lang="zh-CN" altLang="en-US" sz="2800" i="1">
                                      <a:latin typeface="Cambria Math" panose="02040503050406030204" pitchFamily="18" charset="0"/>
                                    </a:rPr>
                                    <m:t>稳定</m:t>
                                  </m:r>
                                </m:e>
                              </m:d>
                            </m:e>
                          </m:eqArr>
                        </m:e>
                      </m:d>
                    </m:oMath>
                  </m:oMathPara>
                </a14:m>
                <a:endParaRPr lang="en-US" altLang="zh-CN" sz="2800" dirty="0">
                  <a:solidFill>
                    <a:schemeClr val="tx1"/>
                  </a:solidFill>
                </a:endParaRPr>
              </a:p>
            </p:txBody>
          </p:sp>
        </mc:Choice>
        <mc:Fallback xmlns="">
          <p:sp>
            <p:nvSpPr>
              <p:cNvPr id="8" name="文本框 7">
                <a:extLst>
                  <a:ext uri="{FF2B5EF4-FFF2-40B4-BE49-F238E27FC236}">
                    <a16:creationId xmlns:a16="http://schemas.microsoft.com/office/drawing/2014/main" id="{2A349B0D-DDEC-2541-EFED-E84DB2BECFD0}"/>
                  </a:ext>
                </a:extLst>
              </p:cNvPr>
              <p:cNvSpPr txBox="1">
                <a:spLocks noRot="1" noChangeAspect="1" noMove="1" noResize="1" noEditPoints="1" noAdjustHandles="1" noChangeArrowheads="1" noChangeShapeType="1" noTextEdit="1"/>
              </p:cNvSpPr>
              <p:nvPr/>
            </p:nvSpPr>
            <p:spPr>
              <a:xfrm>
                <a:off x="358494" y="4095476"/>
                <a:ext cx="5976664" cy="1211422"/>
              </a:xfrm>
              <a:prstGeom prst="rect">
                <a:avLst/>
              </a:prstGeom>
              <a:blipFill>
                <a:blip r:embed="rId6"/>
                <a:stretch>
                  <a:fillRect l="-19321" t="-206186" b="-2948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6347C4F-373D-620A-4F51-C2315AC7D5EC}"/>
                  </a:ext>
                </a:extLst>
              </p:cNvPr>
              <p:cNvSpPr txBox="1"/>
              <p:nvPr/>
            </p:nvSpPr>
            <p:spPr>
              <a:xfrm>
                <a:off x="478582" y="5328239"/>
                <a:ext cx="46805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𝑍</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𝑃</m:t>
                      </m:r>
                      <m:r>
                        <a:rPr lang="en-US" altLang="zh-CN" sz="2800" b="0" i="1" smtClean="0">
                          <a:solidFill>
                            <a:schemeClr val="tx1"/>
                          </a:solidFill>
                          <a:latin typeface="Cambria Math" panose="02040503050406030204" pitchFamily="18" charset="0"/>
                        </a:rPr>
                        <m:t>−2</m:t>
                      </m:r>
                      <m:r>
                        <a:rPr lang="en-US" altLang="zh-CN" sz="2800" b="0" i="1" smtClean="0">
                          <a:solidFill>
                            <a:schemeClr val="tx1"/>
                          </a:solidFill>
                          <a:latin typeface="Cambria Math" panose="02040503050406030204" pitchFamily="18" charset="0"/>
                        </a:rPr>
                        <m:t>𝑁</m:t>
                      </m:r>
                      <m:r>
                        <a:rPr lang="en-US" altLang="zh-CN" sz="2800" b="0" i="1" smtClean="0">
                          <a:solidFill>
                            <a:schemeClr val="tx1"/>
                          </a:solidFill>
                          <a:latin typeface="Cambria Math" panose="02040503050406030204" pitchFamily="18" charset="0"/>
                        </a:rPr>
                        <m:t>=0−2</m:t>
                      </m:r>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−1</m:t>
                          </m:r>
                        </m:e>
                      </m:d>
                      <m:r>
                        <a:rPr lang="en-US" altLang="zh-CN" sz="2800" b="0" i="1" smtClean="0">
                          <a:solidFill>
                            <a:schemeClr val="tx1"/>
                          </a:solidFill>
                          <a:latin typeface="Cambria Math" panose="02040503050406030204" pitchFamily="18" charset="0"/>
                        </a:rPr>
                        <m:t>=2</m:t>
                      </m:r>
                    </m:oMath>
                  </m:oMathPara>
                </a14:m>
                <a:endParaRPr lang="en-US" altLang="zh-CN" sz="2800" dirty="0">
                  <a:solidFill>
                    <a:schemeClr val="tx1"/>
                  </a:solidFill>
                </a:endParaRPr>
              </a:p>
            </p:txBody>
          </p:sp>
        </mc:Choice>
        <mc:Fallback xmlns="">
          <p:sp>
            <p:nvSpPr>
              <p:cNvPr id="11" name="文本框 10">
                <a:extLst>
                  <a:ext uri="{FF2B5EF4-FFF2-40B4-BE49-F238E27FC236}">
                    <a16:creationId xmlns:a16="http://schemas.microsoft.com/office/drawing/2014/main" id="{B6347C4F-373D-620A-4F51-C2315AC7D5EC}"/>
                  </a:ext>
                </a:extLst>
              </p:cNvPr>
              <p:cNvSpPr txBox="1">
                <a:spLocks noRot="1" noChangeAspect="1" noMove="1" noResize="1" noEditPoints="1" noAdjustHandles="1" noChangeArrowheads="1" noChangeShapeType="1" noTextEdit="1"/>
              </p:cNvSpPr>
              <p:nvPr/>
            </p:nvSpPr>
            <p:spPr>
              <a:xfrm>
                <a:off x="478582" y="5328239"/>
                <a:ext cx="4680520" cy="523220"/>
              </a:xfrm>
              <a:prstGeom prst="rect">
                <a:avLst/>
              </a:prstGeom>
              <a:blipFill>
                <a:blip r:embed="rId7"/>
                <a:stretch>
                  <a:fillRect l="-541" r="-541"/>
                </a:stretch>
              </a:blipFill>
            </p:spPr>
            <p:txBody>
              <a:bodyPr/>
              <a:lstStyle/>
              <a:p>
                <a:r>
                  <a:rPr lang="zh-CN" altLang="en-US">
                    <a:noFill/>
                  </a:rPr>
                  <a:t> </a:t>
                </a:r>
              </a:p>
            </p:txBody>
          </p:sp>
        </mc:Fallback>
      </mc:AlternateContent>
      <p:sp>
        <p:nvSpPr>
          <p:cNvPr id="12" name="重要1">
            <a:extLst>
              <a:ext uri="{FF2B5EF4-FFF2-40B4-BE49-F238E27FC236}">
                <a16:creationId xmlns:a16="http://schemas.microsoft.com/office/drawing/2014/main" id="{958C4154-7D59-DE22-4E21-373D26B20CB1}"/>
              </a:ext>
            </a:extLst>
          </p:cNvPr>
          <p:cNvSpPr txBox="1"/>
          <p:nvPr/>
        </p:nvSpPr>
        <p:spPr>
          <a:xfrm>
            <a:off x="190550" y="3198395"/>
            <a:ext cx="854089"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kumimoji="1" lang="zh-CN" altLang="en-US" sz="3200" b="1" dirty="0">
                <a:solidFill>
                  <a:schemeClr val="bg1"/>
                </a:solidFill>
              </a:rPr>
              <a:t>解</a:t>
            </a:r>
          </a:p>
        </p:txBody>
      </p:sp>
      <mc:AlternateContent xmlns:mc="http://schemas.openxmlformats.org/markup-compatibility/2006" xmlns:a14="http://schemas.microsoft.com/office/drawing/2010/main">
        <mc:Choice Requires="a14">
          <p:sp>
            <p:nvSpPr>
              <p:cNvPr id="14" name="wc1">
                <a:extLst>
                  <a:ext uri="{FF2B5EF4-FFF2-40B4-BE49-F238E27FC236}">
                    <a16:creationId xmlns:a16="http://schemas.microsoft.com/office/drawing/2014/main" id="{7528208B-CE6A-CD93-65C5-65475B39C6B0}"/>
                  </a:ext>
                </a:extLst>
              </p:cNvPr>
              <p:cNvSpPr txBox="1"/>
              <p:nvPr/>
            </p:nvSpPr>
            <p:spPr>
              <a:xfrm>
                <a:off x="9065579" y="3933056"/>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m:t>
                          </m:r>
                        </m:e>
                      </m:d>
                    </m:oMath>
                  </m:oMathPara>
                </a14:m>
                <a:endParaRPr lang="zh-CN" altLang="en-US" sz="2800" dirty="0"/>
              </a:p>
            </p:txBody>
          </p:sp>
        </mc:Choice>
        <mc:Fallback xmlns="">
          <p:sp>
            <p:nvSpPr>
              <p:cNvPr id="14" name="wc1">
                <a:extLst>
                  <a:ext uri="{FF2B5EF4-FFF2-40B4-BE49-F238E27FC236}">
                    <a16:creationId xmlns:a16="http://schemas.microsoft.com/office/drawing/2014/main" id="{7528208B-CE6A-CD93-65C5-65475B39C6B0}"/>
                  </a:ext>
                </a:extLst>
              </p:cNvPr>
              <p:cNvSpPr txBox="1">
                <a:spLocks noRot="1" noChangeAspect="1" noMove="1" noResize="1" noEditPoints="1" noAdjustHandles="1" noChangeArrowheads="1" noChangeShapeType="1" noTextEdit="1"/>
              </p:cNvSpPr>
              <p:nvPr/>
            </p:nvSpPr>
            <p:spPr>
              <a:xfrm>
                <a:off x="9065579" y="3933056"/>
                <a:ext cx="801225" cy="524695"/>
              </a:xfrm>
              <a:prstGeom prst="rect">
                <a:avLst/>
              </a:prstGeom>
              <a:blipFill>
                <a:blip r:embed="rId8"/>
                <a:stretch>
                  <a:fillRect/>
                </a:stretch>
              </a:blipFill>
            </p:spPr>
            <p:txBody>
              <a:bodyPr/>
              <a:lstStyle/>
              <a:p>
                <a:r>
                  <a:rPr lang="zh-CN" altLang="en-US">
                    <a:noFill/>
                  </a:rPr>
                  <a:t> </a:t>
                </a:r>
              </a:p>
            </p:txBody>
          </p:sp>
        </mc:Fallback>
      </mc:AlternateContent>
      <p:grpSp>
        <p:nvGrpSpPr>
          <p:cNvPr id="15" name="坐标轴">
            <a:extLst>
              <a:ext uri="{FF2B5EF4-FFF2-40B4-BE49-F238E27FC236}">
                <a16:creationId xmlns:a16="http://schemas.microsoft.com/office/drawing/2014/main" id="{BD887A8C-7341-D0C9-2BA9-41C8559A4F72}"/>
              </a:ext>
            </a:extLst>
          </p:cNvPr>
          <p:cNvGrpSpPr/>
          <p:nvPr/>
        </p:nvGrpSpPr>
        <p:grpSpPr>
          <a:xfrm>
            <a:off x="6931299" y="3933056"/>
            <a:ext cx="4780532" cy="2605303"/>
            <a:chOff x="7903323" y="4240166"/>
            <a:chExt cx="4780532" cy="2605303"/>
          </a:xfrm>
        </p:grpSpPr>
        <p:cxnSp>
          <p:nvCxnSpPr>
            <p:cNvPr id="16" name="实轴">
              <a:extLst>
                <a:ext uri="{FF2B5EF4-FFF2-40B4-BE49-F238E27FC236}">
                  <a16:creationId xmlns:a16="http://schemas.microsoft.com/office/drawing/2014/main" id="{6993CCCD-5E0D-98EC-1A5A-4524954F4B1F}"/>
                </a:ext>
              </a:extLst>
            </p:cNvPr>
            <p:cNvCxnSpPr>
              <a:cxnSpLocks/>
            </p:cNvCxnSpPr>
            <p:nvPr/>
          </p:nvCxnSpPr>
          <p:spPr>
            <a:xfrm flipH="1">
              <a:off x="7903323" y="5358556"/>
              <a:ext cx="465636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虚轴">
              <a:extLst>
                <a:ext uri="{FF2B5EF4-FFF2-40B4-BE49-F238E27FC236}">
                  <a16:creationId xmlns:a16="http://schemas.microsoft.com/office/drawing/2014/main" id="{07843F92-322E-E34B-3669-5CE24B552BA9}"/>
                </a:ext>
              </a:extLst>
            </p:cNvPr>
            <p:cNvCxnSpPr>
              <a:cxnSpLocks/>
            </p:cNvCxnSpPr>
            <p:nvPr/>
          </p:nvCxnSpPr>
          <p:spPr>
            <a:xfrm flipV="1">
              <a:off x="9991555" y="4360211"/>
              <a:ext cx="0" cy="248525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
                  <a:extLst>
                    <a:ext uri="{FF2B5EF4-FFF2-40B4-BE49-F238E27FC236}">
                      <a16:creationId xmlns:a16="http://schemas.microsoft.com/office/drawing/2014/main" id="{82587D05-6AF0-E381-3141-53F1FDA8602A}"/>
                    </a:ext>
                  </a:extLst>
                </p:cNvPr>
                <p:cNvSpPr txBox="1"/>
                <p:nvPr/>
              </p:nvSpPr>
              <p:spPr>
                <a:xfrm>
                  <a:off x="12107319" y="544142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8" name="Re">
                  <a:extLst>
                    <a:ext uri="{FF2B5EF4-FFF2-40B4-BE49-F238E27FC236}">
                      <a16:creationId xmlns:a16="http://schemas.microsoft.com/office/drawing/2014/main" id="{82587D05-6AF0-E381-3141-53F1FDA8602A}"/>
                    </a:ext>
                  </a:extLst>
                </p:cNvPr>
                <p:cNvSpPr txBox="1">
                  <a:spLocks noRot="1" noChangeAspect="1" noMove="1" noResize="1" noEditPoints="1" noAdjustHandles="1" noChangeArrowheads="1" noChangeShapeType="1" noTextEdit="1"/>
                </p:cNvSpPr>
                <p:nvPr/>
              </p:nvSpPr>
              <p:spPr>
                <a:xfrm>
                  <a:off x="12107319" y="5441421"/>
                  <a:ext cx="576536" cy="523220"/>
                </a:xfrm>
                <a:prstGeom prst="rect">
                  <a:avLst/>
                </a:prstGeom>
                <a:blipFill>
                  <a:blip r:embed="rId9"/>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Im">
                  <a:extLst>
                    <a:ext uri="{FF2B5EF4-FFF2-40B4-BE49-F238E27FC236}">
                      <a16:creationId xmlns:a16="http://schemas.microsoft.com/office/drawing/2014/main" id="{EA544022-33A1-2124-A7FC-7B82910C5DFB}"/>
                    </a:ext>
                  </a:extLst>
                </p:cNvPr>
                <p:cNvSpPr txBox="1"/>
                <p:nvPr/>
              </p:nvSpPr>
              <p:spPr>
                <a:xfrm>
                  <a:off x="9290624" y="424016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19" name="Im">
                  <a:extLst>
                    <a:ext uri="{FF2B5EF4-FFF2-40B4-BE49-F238E27FC236}">
                      <a16:creationId xmlns:a16="http://schemas.microsoft.com/office/drawing/2014/main" id="{EA544022-33A1-2124-A7FC-7B82910C5DFB}"/>
                    </a:ext>
                  </a:extLst>
                </p:cNvPr>
                <p:cNvSpPr txBox="1">
                  <a:spLocks noRot="1" noChangeAspect="1" noMove="1" noResize="1" noEditPoints="1" noAdjustHandles="1" noChangeArrowheads="1" noChangeShapeType="1" noTextEdit="1"/>
                </p:cNvSpPr>
                <p:nvPr/>
              </p:nvSpPr>
              <p:spPr>
                <a:xfrm>
                  <a:off x="9290624" y="4240166"/>
                  <a:ext cx="576536" cy="523220"/>
                </a:xfrm>
                <a:prstGeom prst="rect">
                  <a:avLst/>
                </a:prstGeom>
                <a:blipFill>
                  <a:blip r:embed="rId10"/>
                  <a:stretch>
                    <a:fillRect l="-6522" r="-8696"/>
                  </a:stretch>
                </a:blipFill>
              </p:spPr>
              <p:txBody>
                <a:bodyPr/>
                <a:lstStyle/>
                <a:p>
                  <a:r>
                    <a:rPr lang="zh-CN" altLang="en-US">
                      <a:noFill/>
                    </a:rPr>
                    <a:t> </a:t>
                  </a:r>
                </a:p>
              </p:txBody>
            </p:sp>
          </mc:Fallback>
        </mc:AlternateContent>
      </p:grpSp>
      <p:sp>
        <p:nvSpPr>
          <p:cNvPr id="21" name="幅相">
            <a:extLst>
              <a:ext uri="{FF2B5EF4-FFF2-40B4-BE49-F238E27FC236}">
                <a16:creationId xmlns:a16="http://schemas.microsoft.com/office/drawing/2014/main" id="{15BD82C5-FB00-EA74-577A-2E2FF7699D1D}"/>
              </a:ext>
            </a:extLst>
          </p:cNvPr>
          <p:cNvSpPr/>
          <p:nvPr/>
        </p:nvSpPr>
        <p:spPr>
          <a:xfrm>
            <a:off x="8679724" y="4774105"/>
            <a:ext cx="1346100" cy="83590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Lst>
            <a:ahLst/>
            <a:cxnLst>
              <a:cxn ang="0">
                <a:pos x="connsiteX0" y="connsiteY0"/>
              </a:cxn>
              <a:cxn ang="0">
                <a:pos x="connsiteX1" y="connsiteY1"/>
              </a:cxn>
            </a:cxnLst>
            <a:rect l="l" t="t" r="r" b="b"/>
            <a:pathLst>
              <a:path w="992213" h="1033915">
                <a:moveTo>
                  <a:pt x="246473" y="340069"/>
                </a:moveTo>
                <a:cubicBezTo>
                  <a:pt x="-194878" y="-1053825"/>
                  <a:pt x="-99149" y="2423200"/>
                  <a:pt x="992213" y="364189"/>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27" name="label2">
                <a:extLst>
                  <a:ext uri="{FF2B5EF4-FFF2-40B4-BE49-F238E27FC236}">
                    <a16:creationId xmlns:a16="http://schemas.microsoft.com/office/drawing/2014/main" id="{C5AF4E69-CB49-3CDD-5BAD-995E1B916267}"/>
                  </a:ext>
                </a:extLst>
              </p:cNvPr>
              <p:cNvSpPr txBox="1"/>
              <p:nvPr/>
            </p:nvSpPr>
            <p:spPr>
              <a:xfrm>
                <a:off x="7981970" y="5067178"/>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27" name="label2">
                <a:extLst>
                  <a:ext uri="{FF2B5EF4-FFF2-40B4-BE49-F238E27FC236}">
                    <a16:creationId xmlns:a16="http://schemas.microsoft.com/office/drawing/2014/main" id="{C5AF4E69-CB49-3CDD-5BAD-995E1B916267}"/>
                  </a:ext>
                </a:extLst>
              </p:cNvPr>
              <p:cNvSpPr txBox="1">
                <a:spLocks noRot="1" noChangeAspect="1" noMove="1" noResize="1" noEditPoints="1" noAdjustHandles="1" noChangeArrowheads="1" noChangeShapeType="1" noTextEdit="1"/>
              </p:cNvSpPr>
              <p:nvPr/>
            </p:nvSpPr>
            <p:spPr>
              <a:xfrm>
                <a:off x="7981970" y="5067178"/>
                <a:ext cx="801225" cy="523220"/>
              </a:xfrm>
              <a:prstGeom prst="rect">
                <a:avLst/>
              </a:prstGeom>
              <a:blipFill>
                <a:blip r:embed="rId11"/>
                <a:stretch>
                  <a:fillRect/>
                </a:stretch>
              </a:blipFill>
            </p:spPr>
            <p:txBody>
              <a:bodyPr/>
              <a:lstStyle/>
              <a:p>
                <a:r>
                  <a:rPr lang="zh-CN" altLang="en-US">
                    <a:noFill/>
                  </a:rPr>
                  <a:t> </a:t>
                </a:r>
              </a:p>
            </p:txBody>
          </p:sp>
        </mc:Fallback>
      </mc:AlternateContent>
      <p:sp>
        <p:nvSpPr>
          <p:cNvPr id="28" name="极点2">
            <a:extLst>
              <a:ext uri="{FF2B5EF4-FFF2-40B4-BE49-F238E27FC236}">
                <a16:creationId xmlns:a16="http://schemas.microsoft.com/office/drawing/2014/main" id="{96FF9F4C-E591-4B90-7272-ED1A1CD20F57}"/>
              </a:ext>
            </a:extLst>
          </p:cNvPr>
          <p:cNvSpPr/>
          <p:nvPr/>
        </p:nvSpPr>
        <p:spPr>
          <a:xfrm>
            <a:off x="8174584" y="490743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31" name="幅相">
            <a:extLst>
              <a:ext uri="{FF2B5EF4-FFF2-40B4-BE49-F238E27FC236}">
                <a16:creationId xmlns:a16="http://schemas.microsoft.com/office/drawing/2014/main" id="{B5B17A8D-B6CE-1CAE-F71A-47EFF1858E2A}"/>
              </a:ext>
            </a:extLst>
          </p:cNvPr>
          <p:cNvSpPr/>
          <p:nvPr/>
        </p:nvSpPr>
        <p:spPr>
          <a:xfrm>
            <a:off x="8071099" y="4528342"/>
            <a:ext cx="2642979" cy="1735273"/>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145629 w 1398686"/>
              <a:gd name="connsiteY0" fmla="*/ 338080 h 1052732"/>
              <a:gd name="connsiteX1" fmla="*/ 1398685 w 1398686"/>
              <a:gd name="connsiteY1" fmla="*/ 386522 h 1052732"/>
              <a:gd name="connsiteX0" fmla="*/ 525041 w 1778098"/>
              <a:gd name="connsiteY0" fmla="*/ 258898 h 1547582"/>
              <a:gd name="connsiteX1" fmla="*/ 1778097 w 1778098"/>
              <a:gd name="connsiteY1" fmla="*/ 307340 h 1547582"/>
              <a:gd name="connsiteX0" fmla="*/ 845895 w 2098951"/>
              <a:gd name="connsiteY0" fmla="*/ 397422 h 1619227"/>
              <a:gd name="connsiteX1" fmla="*/ 2098951 w 2098951"/>
              <a:gd name="connsiteY1" fmla="*/ 445864 h 1619227"/>
              <a:gd name="connsiteX0" fmla="*/ 917898 w 2170954"/>
              <a:gd name="connsiteY0" fmla="*/ 323146 h 2182972"/>
              <a:gd name="connsiteX1" fmla="*/ 2170954 w 2170954"/>
              <a:gd name="connsiteY1" fmla="*/ 371588 h 2182972"/>
              <a:gd name="connsiteX0" fmla="*/ 650184 w 1903240"/>
              <a:gd name="connsiteY0" fmla="*/ 345438 h 1984175"/>
              <a:gd name="connsiteX1" fmla="*/ 1903240 w 1903240"/>
              <a:gd name="connsiteY1" fmla="*/ 393880 h 1984175"/>
              <a:gd name="connsiteX0" fmla="*/ 695090 w 1948146"/>
              <a:gd name="connsiteY0" fmla="*/ 640709 h 2146334"/>
              <a:gd name="connsiteX1" fmla="*/ 1948146 w 1948146"/>
              <a:gd name="connsiteY1" fmla="*/ 689151 h 2146334"/>
            </a:gdLst>
            <a:ahLst/>
            <a:cxnLst>
              <a:cxn ang="0">
                <a:pos x="connsiteX0" y="connsiteY0"/>
              </a:cxn>
              <a:cxn ang="0">
                <a:pos x="connsiteX1" y="connsiteY1"/>
              </a:cxn>
            </a:cxnLst>
            <a:rect l="l" t="t" r="r" b="b"/>
            <a:pathLst>
              <a:path w="1948146" h="2146334">
                <a:moveTo>
                  <a:pt x="695090" y="640709"/>
                </a:moveTo>
                <a:cubicBezTo>
                  <a:pt x="-630441" y="-2090938"/>
                  <a:pt x="23335" y="5070986"/>
                  <a:pt x="1948146" y="689151"/>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32" name="wc1">
                <a:extLst>
                  <a:ext uri="{FF2B5EF4-FFF2-40B4-BE49-F238E27FC236}">
                    <a16:creationId xmlns:a16="http://schemas.microsoft.com/office/drawing/2014/main" id="{6E6DCB6A-0C59-5601-8FDA-EA87620790C9}"/>
                  </a:ext>
                </a:extLst>
              </p:cNvPr>
              <p:cNvSpPr txBox="1"/>
              <p:nvPr/>
            </p:nvSpPr>
            <p:spPr>
              <a:xfrm>
                <a:off x="9602416" y="4456276"/>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𝐾</m:t>
                          </m:r>
                        </m:e>
                        <m:sub>
                          <m:r>
                            <a:rPr lang="en-US" altLang="zh-CN" sz="2800" b="0" i="1" smtClean="0">
                              <a:latin typeface="Cambria Math" panose="02040503050406030204" pitchFamily="18" charset="0"/>
                            </a:rPr>
                            <m:t>1</m:t>
                          </m:r>
                        </m:sub>
                      </m:sSub>
                    </m:oMath>
                  </m:oMathPara>
                </a14:m>
                <a:endParaRPr lang="zh-CN" altLang="en-US" sz="2800" dirty="0"/>
              </a:p>
            </p:txBody>
          </p:sp>
        </mc:Choice>
        <mc:Fallback xmlns="">
          <p:sp>
            <p:nvSpPr>
              <p:cNvPr id="32" name="wc1">
                <a:extLst>
                  <a:ext uri="{FF2B5EF4-FFF2-40B4-BE49-F238E27FC236}">
                    <a16:creationId xmlns:a16="http://schemas.microsoft.com/office/drawing/2014/main" id="{6E6DCB6A-0C59-5601-8FDA-EA87620790C9}"/>
                  </a:ext>
                </a:extLst>
              </p:cNvPr>
              <p:cNvSpPr txBox="1">
                <a:spLocks noRot="1" noChangeAspect="1" noMove="1" noResize="1" noEditPoints="1" noAdjustHandles="1" noChangeArrowheads="1" noChangeShapeType="1" noTextEdit="1"/>
              </p:cNvSpPr>
              <p:nvPr/>
            </p:nvSpPr>
            <p:spPr>
              <a:xfrm>
                <a:off x="9602416" y="4456276"/>
                <a:ext cx="801225" cy="524695"/>
              </a:xfrm>
              <a:prstGeom prst="rect">
                <a:avLst/>
              </a:prstGeom>
              <a:blipFill>
                <a:blip r:embed="rId12"/>
                <a:stretch>
                  <a:fillRect b="-23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wc1">
                <a:extLst>
                  <a:ext uri="{FF2B5EF4-FFF2-40B4-BE49-F238E27FC236}">
                    <a16:creationId xmlns:a16="http://schemas.microsoft.com/office/drawing/2014/main" id="{C34F88B5-67A5-45BD-AE40-E700CF589857}"/>
                  </a:ext>
                </a:extLst>
              </p:cNvPr>
              <p:cNvSpPr txBox="1"/>
              <p:nvPr/>
            </p:nvSpPr>
            <p:spPr>
              <a:xfrm>
                <a:off x="10313465" y="4473208"/>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𝐾</m:t>
                          </m:r>
                        </m:e>
                        <m:sub>
                          <m:r>
                            <a:rPr lang="en-US" altLang="zh-CN" sz="2800" b="0" i="1" smtClean="0">
                              <a:latin typeface="Cambria Math" panose="02040503050406030204" pitchFamily="18" charset="0"/>
                            </a:rPr>
                            <m:t>2</m:t>
                          </m:r>
                        </m:sub>
                      </m:sSub>
                    </m:oMath>
                  </m:oMathPara>
                </a14:m>
                <a:endParaRPr lang="zh-CN" altLang="en-US" sz="2800" dirty="0"/>
              </a:p>
            </p:txBody>
          </p:sp>
        </mc:Choice>
        <mc:Fallback xmlns="">
          <p:sp>
            <p:nvSpPr>
              <p:cNvPr id="33" name="wc1">
                <a:extLst>
                  <a:ext uri="{FF2B5EF4-FFF2-40B4-BE49-F238E27FC236}">
                    <a16:creationId xmlns:a16="http://schemas.microsoft.com/office/drawing/2014/main" id="{C34F88B5-67A5-45BD-AE40-E700CF589857}"/>
                  </a:ext>
                </a:extLst>
              </p:cNvPr>
              <p:cNvSpPr txBox="1">
                <a:spLocks noRot="1" noChangeAspect="1" noMove="1" noResize="1" noEditPoints="1" noAdjustHandles="1" noChangeArrowheads="1" noChangeShapeType="1" noTextEdit="1"/>
              </p:cNvSpPr>
              <p:nvPr/>
            </p:nvSpPr>
            <p:spPr>
              <a:xfrm>
                <a:off x="10313465" y="4473208"/>
                <a:ext cx="801225" cy="524695"/>
              </a:xfrm>
              <a:prstGeom prst="rect">
                <a:avLst/>
              </a:prstGeom>
              <a:blipFill>
                <a:blip r:embed="rId13"/>
                <a:stretch>
                  <a:fillRect b="-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wc1">
                <a:extLst>
                  <a:ext uri="{FF2B5EF4-FFF2-40B4-BE49-F238E27FC236}">
                    <a16:creationId xmlns:a16="http://schemas.microsoft.com/office/drawing/2014/main" id="{B30FB21A-22A7-03AA-6644-3659D00D709A}"/>
                  </a:ext>
                </a:extLst>
              </p:cNvPr>
              <p:cNvSpPr txBox="1"/>
              <p:nvPr/>
            </p:nvSpPr>
            <p:spPr>
              <a:xfrm>
                <a:off x="9078123" y="429785"/>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35" name="wc1">
                <a:extLst>
                  <a:ext uri="{FF2B5EF4-FFF2-40B4-BE49-F238E27FC236}">
                    <a16:creationId xmlns:a16="http://schemas.microsoft.com/office/drawing/2014/main" id="{B30FB21A-22A7-03AA-6644-3659D00D709A}"/>
                  </a:ext>
                </a:extLst>
              </p:cNvPr>
              <p:cNvSpPr txBox="1">
                <a:spLocks noRot="1" noChangeAspect="1" noMove="1" noResize="1" noEditPoints="1" noAdjustHandles="1" noChangeArrowheads="1" noChangeShapeType="1" noTextEdit="1"/>
              </p:cNvSpPr>
              <p:nvPr/>
            </p:nvSpPr>
            <p:spPr>
              <a:xfrm>
                <a:off x="9078123" y="429785"/>
                <a:ext cx="801225" cy="524695"/>
              </a:xfrm>
              <a:prstGeom prst="rect">
                <a:avLst/>
              </a:prstGeom>
              <a:blipFill>
                <a:blip r:embed="rId14"/>
                <a:stretch>
                  <a:fillRect/>
                </a:stretch>
              </a:blipFill>
            </p:spPr>
            <p:txBody>
              <a:bodyPr/>
              <a:lstStyle/>
              <a:p>
                <a:r>
                  <a:rPr lang="zh-CN" altLang="en-US">
                    <a:noFill/>
                  </a:rPr>
                  <a:t> </a:t>
                </a:r>
              </a:p>
            </p:txBody>
          </p:sp>
        </mc:Fallback>
      </mc:AlternateContent>
      <p:grpSp>
        <p:nvGrpSpPr>
          <p:cNvPr id="36" name="坐标轴">
            <a:extLst>
              <a:ext uri="{FF2B5EF4-FFF2-40B4-BE49-F238E27FC236}">
                <a16:creationId xmlns:a16="http://schemas.microsoft.com/office/drawing/2014/main" id="{685BB8FD-EF8A-7A84-82E6-CC7DDE3ECC06}"/>
              </a:ext>
            </a:extLst>
          </p:cNvPr>
          <p:cNvGrpSpPr/>
          <p:nvPr/>
        </p:nvGrpSpPr>
        <p:grpSpPr>
          <a:xfrm>
            <a:off x="6931299" y="429785"/>
            <a:ext cx="4780532" cy="3008522"/>
            <a:chOff x="7903323" y="3924161"/>
            <a:chExt cx="4780532" cy="3008522"/>
          </a:xfrm>
        </p:grpSpPr>
        <p:cxnSp>
          <p:nvCxnSpPr>
            <p:cNvPr id="37" name="实轴">
              <a:extLst>
                <a:ext uri="{FF2B5EF4-FFF2-40B4-BE49-F238E27FC236}">
                  <a16:creationId xmlns:a16="http://schemas.microsoft.com/office/drawing/2014/main" id="{906B091F-DDB9-9DB0-9257-CCC71A486DAB}"/>
                </a:ext>
              </a:extLst>
            </p:cNvPr>
            <p:cNvCxnSpPr>
              <a:cxnSpLocks/>
            </p:cNvCxnSpPr>
            <p:nvPr/>
          </p:nvCxnSpPr>
          <p:spPr>
            <a:xfrm flipH="1">
              <a:off x="7903323" y="5627232"/>
              <a:ext cx="465636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8" name="虚轴">
              <a:extLst>
                <a:ext uri="{FF2B5EF4-FFF2-40B4-BE49-F238E27FC236}">
                  <a16:creationId xmlns:a16="http://schemas.microsoft.com/office/drawing/2014/main" id="{A405F0BE-03C9-94FF-7684-9C8774606894}"/>
                </a:ext>
              </a:extLst>
            </p:cNvPr>
            <p:cNvCxnSpPr>
              <a:cxnSpLocks/>
            </p:cNvCxnSpPr>
            <p:nvPr/>
          </p:nvCxnSpPr>
          <p:spPr>
            <a:xfrm flipV="1">
              <a:off x="9991555" y="4101382"/>
              <a:ext cx="0" cy="2831301"/>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e">
                  <a:extLst>
                    <a:ext uri="{FF2B5EF4-FFF2-40B4-BE49-F238E27FC236}">
                      <a16:creationId xmlns:a16="http://schemas.microsoft.com/office/drawing/2014/main" id="{B99029C2-FB03-757C-7501-FD5D2E1FCF46}"/>
                    </a:ext>
                  </a:extLst>
                </p:cNvPr>
                <p:cNvSpPr txBox="1"/>
                <p:nvPr/>
              </p:nvSpPr>
              <p:spPr>
                <a:xfrm>
                  <a:off x="12107319" y="564490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9" name="Re">
                  <a:extLst>
                    <a:ext uri="{FF2B5EF4-FFF2-40B4-BE49-F238E27FC236}">
                      <a16:creationId xmlns:a16="http://schemas.microsoft.com/office/drawing/2014/main" id="{B99029C2-FB03-757C-7501-FD5D2E1FCF46}"/>
                    </a:ext>
                  </a:extLst>
                </p:cNvPr>
                <p:cNvSpPr txBox="1">
                  <a:spLocks noRot="1" noChangeAspect="1" noMove="1" noResize="1" noEditPoints="1" noAdjustHandles="1" noChangeArrowheads="1" noChangeShapeType="1" noTextEdit="1"/>
                </p:cNvSpPr>
                <p:nvPr/>
              </p:nvSpPr>
              <p:spPr>
                <a:xfrm>
                  <a:off x="12107319" y="5644903"/>
                  <a:ext cx="576536" cy="523220"/>
                </a:xfrm>
                <a:prstGeom prst="rect">
                  <a:avLst/>
                </a:prstGeom>
                <a:blipFill>
                  <a:blip r:embed="rId9"/>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Im">
                  <a:extLst>
                    <a:ext uri="{FF2B5EF4-FFF2-40B4-BE49-F238E27FC236}">
                      <a16:creationId xmlns:a16="http://schemas.microsoft.com/office/drawing/2014/main" id="{2A195DAE-5BA8-9161-C530-4DD48C8AAB8C}"/>
                    </a:ext>
                  </a:extLst>
                </p:cNvPr>
                <p:cNvSpPr txBox="1"/>
                <p:nvPr/>
              </p:nvSpPr>
              <p:spPr>
                <a:xfrm>
                  <a:off x="9290624" y="392416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40" name="Im">
                  <a:extLst>
                    <a:ext uri="{FF2B5EF4-FFF2-40B4-BE49-F238E27FC236}">
                      <a16:creationId xmlns:a16="http://schemas.microsoft.com/office/drawing/2014/main" id="{2A195DAE-5BA8-9161-C530-4DD48C8AAB8C}"/>
                    </a:ext>
                  </a:extLst>
                </p:cNvPr>
                <p:cNvSpPr txBox="1">
                  <a:spLocks noRot="1" noChangeAspect="1" noMove="1" noResize="1" noEditPoints="1" noAdjustHandles="1" noChangeArrowheads="1" noChangeShapeType="1" noTextEdit="1"/>
                </p:cNvSpPr>
                <p:nvPr/>
              </p:nvSpPr>
              <p:spPr>
                <a:xfrm>
                  <a:off x="9290624" y="3924161"/>
                  <a:ext cx="576536" cy="523220"/>
                </a:xfrm>
                <a:prstGeom prst="rect">
                  <a:avLst/>
                </a:prstGeom>
                <a:blipFill>
                  <a:blip r:embed="rId15"/>
                  <a:stretch>
                    <a:fillRect l="-6522" r="-8696"/>
                  </a:stretch>
                </a:blipFill>
              </p:spPr>
              <p:txBody>
                <a:bodyPr/>
                <a:lstStyle/>
                <a:p>
                  <a:r>
                    <a:rPr lang="zh-CN" altLang="en-US">
                      <a:noFill/>
                    </a:rPr>
                    <a:t> </a:t>
                  </a:r>
                </a:p>
              </p:txBody>
            </p:sp>
          </mc:Fallback>
        </mc:AlternateContent>
      </p:grpSp>
      <p:sp>
        <p:nvSpPr>
          <p:cNvPr id="41" name="幅相">
            <a:extLst>
              <a:ext uri="{FF2B5EF4-FFF2-40B4-BE49-F238E27FC236}">
                <a16:creationId xmlns:a16="http://schemas.microsoft.com/office/drawing/2014/main" id="{1CB9A196-22D9-2421-D0FC-03642876812B}"/>
              </a:ext>
            </a:extLst>
          </p:cNvPr>
          <p:cNvSpPr/>
          <p:nvPr/>
        </p:nvSpPr>
        <p:spPr>
          <a:xfrm>
            <a:off x="8443273" y="838978"/>
            <a:ext cx="1898630" cy="129769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514585 w 651546"/>
              <a:gd name="connsiteY0" fmla="*/ 337096 h 1062167"/>
              <a:gd name="connsiteX1" fmla="*/ 651546 w 651546"/>
              <a:gd name="connsiteY1" fmla="*/ 397700 h 1062167"/>
              <a:gd name="connsiteX0" fmla="*/ 1657686 w 1657685"/>
              <a:gd name="connsiteY0" fmla="*/ 303621 h 1430919"/>
              <a:gd name="connsiteX1" fmla="*/ 323429 w 1657685"/>
              <a:gd name="connsiteY1" fmla="*/ 826358 h 1430919"/>
              <a:gd name="connsiteX0" fmla="*/ 1700968 w 1700968"/>
              <a:gd name="connsiteY0" fmla="*/ 0 h 1609977"/>
              <a:gd name="connsiteX1" fmla="*/ 366711 w 1700968"/>
              <a:gd name="connsiteY1" fmla="*/ 522737 h 1609977"/>
              <a:gd name="connsiteX0" fmla="*/ 1311469 w 1311469"/>
              <a:gd name="connsiteY0" fmla="*/ 0 h 2447379"/>
              <a:gd name="connsiteX1" fmla="*/ 448291 w 1311469"/>
              <a:gd name="connsiteY1" fmla="*/ 1641585 h 2447379"/>
              <a:gd name="connsiteX0" fmla="*/ 1757050 w 1757050"/>
              <a:gd name="connsiteY0" fmla="*/ 0 h 2417956"/>
              <a:gd name="connsiteX1" fmla="*/ 357566 w 1757050"/>
              <a:gd name="connsiteY1" fmla="*/ 1605100 h 2417956"/>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Lst>
            <a:ahLst/>
            <a:cxnLst>
              <a:cxn ang="0">
                <a:pos x="connsiteX0" y="connsiteY0"/>
              </a:cxn>
              <a:cxn ang="0">
                <a:pos x="connsiteX1" y="connsiteY1"/>
              </a:cxn>
            </a:cxnLst>
            <a:rect l="l" t="t" r="r" b="b"/>
            <a:pathLst>
              <a:path w="1399484" h="1605100">
                <a:moveTo>
                  <a:pt x="1399484" y="0"/>
                </a:moveTo>
                <a:cubicBezTo>
                  <a:pt x="907402" y="211409"/>
                  <a:pt x="10239" y="952122"/>
                  <a:pt x="0" y="1605100"/>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极点2">
            <a:extLst>
              <a:ext uri="{FF2B5EF4-FFF2-40B4-BE49-F238E27FC236}">
                <a16:creationId xmlns:a16="http://schemas.microsoft.com/office/drawing/2014/main" id="{9CC7E961-2D8D-8AA3-C189-B1F3DBFC229B}"/>
              </a:ext>
            </a:extLst>
          </p:cNvPr>
          <p:cNvSpPr/>
          <p:nvPr/>
        </p:nvSpPr>
        <p:spPr>
          <a:xfrm>
            <a:off x="8571181" y="1992656"/>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46" name="wc1">
                <a:extLst>
                  <a:ext uri="{FF2B5EF4-FFF2-40B4-BE49-F238E27FC236}">
                    <a16:creationId xmlns:a16="http://schemas.microsoft.com/office/drawing/2014/main" id="{41AD4668-39B0-A1AB-DB53-75CEC38DCE42}"/>
                  </a:ext>
                </a:extLst>
              </p:cNvPr>
              <p:cNvSpPr txBox="1"/>
              <p:nvPr/>
            </p:nvSpPr>
            <p:spPr>
              <a:xfrm>
                <a:off x="7251105" y="2304425"/>
                <a:ext cx="550730" cy="756104"/>
              </a:xfrm>
              <a:prstGeom prst="rect">
                <a:avLst/>
              </a:prstGeom>
              <a:noFill/>
            </p:spPr>
            <p:txBody>
              <a:bodyPr wrap="square">
                <a:spAutoFit/>
              </a:bodyPr>
              <a:lstStyle/>
              <a:p>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3</m:t>
                            </m:r>
                          </m:sub>
                        </m:sSub>
                      </m:den>
                    </m:f>
                  </m:oMath>
                </a14:m>
                <a:r>
                  <a:rPr lang="zh-CN" altLang="en-US" sz="2800" dirty="0"/>
                  <a:t> </a:t>
                </a:r>
              </a:p>
            </p:txBody>
          </p:sp>
        </mc:Choice>
        <mc:Fallback xmlns="">
          <p:sp>
            <p:nvSpPr>
              <p:cNvPr id="46" name="wc1">
                <a:extLst>
                  <a:ext uri="{FF2B5EF4-FFF2-40B4-BE49-F238E27FC236}">
                    <a16:creationId xmlns:a16="http://schemas.microsoft.com/office/drawing/2014/main" id="{41AD4668-39B0-A1AB-DB53-75CEC38DCE42}"/>
                  </a:ext>
                </a:extLst>
              </p:cNvPr>
              <p:cNvSpPr txBox="1">
                <a:spLocks noRot="1" noChangeAspect="1" noMove="1" noResize="1" noEditPoints="1" noAdjustHandles="1" noChangeArrowheads="1" noChangeShapeType="1" noTextEdit="1"/>
              </p:cNvSpPr>
              <p:nvPr/>
            </p:nvSpPr>
            <p:spPr>
              <a:xfrm>
                <a:off x="7251105" y="2304425"/>
                <a:ext cx="550730" cy="756104"/>
              </a:xfrm>
              <a:prstGeom prst="rect">
                <a:avLst/>
              </a:prstGeom>
              <a:blipFill>
                <a:blip r:embed="rId16"/>
                <a:stretch>
                  <a:fillRect b="-1667"/>
                </a:stretch>
              </a:blipFill>
            </p:spPr>
            <p:txBody>
              <a:bodyPr/>
              <a:lstStyle/>
              <a:p>
                <a:r>
                  <a:rPr lang="zh-CN" altLang="en-US">
                    <a:noFill/>
                  </a:rPr>
                  <a:t> </a:t>
                </a:r>
              </a:p>
            </p:txBody>
          </p:sp>
        </mc:Fallback>
      </mc:AlternateContent>
      <p:sp>
        <p:nvSpPr>
          <p:cNvPr id="48" name="幅相">
            <a:extLst>
              <a:ext uri="{FF2B5EF4-FFF2-40B4-BE49-F238E27FC236}">
                <a16:creationId xmlns:a16="http://schemas.microsoft.com/office/drawing/2014/main" id="{399912B3-E3D8-2EA7-0766-BC9247BA64DF}"/>
              </a:ext>
            </a:extLst>
          </p:cNvPr>
          <p:cNvSpPr/>
          <p:nvPr/>
        </p:nvSpPr>
        <p:spPr>
          <a:xfrm flipV="1">
            <a:off x="8443273" y="2140613"/>
            <a:ext cx="1898630" cy="129769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514585 w 651546"/>
              <a:gd name="connsiteY0" fmla="*/ 337096 h 1062167"/>
              <a:gd name="connsiteX1" fmla="*/ 651546 w 651546"/>
              <a:gd name="connsiteY1" fmla="*/ 397700 h 1062167"/>
              <a:gd name="connsiteX0" fmla="*/ 1657686 w 1657685"/>
              <a:gd name="connsiteY0" fmla="*/ 303621 h 1430919"/>
              <a:gd name="connsiteX1" fmla="*/ 323429 w 1657685"/>
              <a:gd name="connsiteY1" fmla="*/ 826358 h 1430919"/>
              <a:gd name="connsiteX0" fmla="*/ 1700968 w 1700968"/>
              <a:gd name="connsiteY0" fmla="*/ 0 h 1609977"/>
              <a:gd name="connsiteX1" fmla="*/ 366711 w 1700968"/>
              <a:gd name="connsiteY1" fmla="*/ 522737 h 1609977"/>
              <a:gd name="connsiteX0" fmla="*/ 1311469 w 1311469"/>
              <a:gd name="connsiteY0" fmla="*/ 0 h 2447379"/>
              <a:gd name="connsiteX1" fmla="*/ 448291 w 1311469"/>
              <a:gd name="connsiteY1" fmla="*/ 1641585 h 2447379"/>
              <a:gd name="connsiteX0" fmla="*/ 1757050 w 1757050"/>
              <a:gd name="connsiteY0" fmla="*/ 0 h 2417956"/>
              <a:gd name="connsiteX1" fmla="*/ 357566 w 1757050"/>
              <a:gd name="connsiteY1" fmla="*/ 1605100 h 2417956"/>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Lst>
            <a:ahLst/>
            <a:cxnLst>
              <a:cxn ang="0">
                <a:pos x="connsiteX0" y="connsiteY0"/>
              </a:cxn>
              <a:cxn ang="0">
                <a:pos x="connsiteX1" y="connsiteY1"/>
              </a:cxn>
            </a:cxnLst>
            <a:rect l="l" t="t" r="r" b="b"/>
            <a:pathLst>
              <a:path w="1399484" h="1605100">
                <a:moveTo>
                  <a:pt x="1399484" y="0"/>
                </a:moveTo>
                <a:cubicBezTo>
                  <a:pt x="907402" y="211409"/>
                  <a:pt x="10239" y="952122"/>
                  <a:pt x="0" y="1605100"/>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9" name="极点2">
            <a:extLst>
              <a:ext uri="{FF2B5EF4-FFF2-40B4-BE49-F238E27FC236}">
                <a16:creationId xmlns:a16="http://schemas.microsoft.com/office/drawing/2014/main" id="{F58CA829-ED87-2E47-3913-AC6DBF23777A}"/>
              </a:ext>
            </a:extLst>
          </p:cNvPr>
          <p:cNvSpPr/>
          <p:nvPr/>
        </p:nvSpPr>
        <p:spPr>
          <a:xfrm>
            <a:off x="7948889" y="1992656"/>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50" name="极点2">
            <a:extLst>
              <a:ext uri="{FF2B5EF4-FFF2-40B4-BE49-F238E27FC236}">
                <a16:creationId xmlns:a16="http://schemas.microsoft.com/office/drawing/2014/main" id="{6096382F-6584-F0FA-3200-7F8ADB5EC42C}"/>
              </a:ext>
            </a:extLst>
          </p:cNvPr>
          <p:cNvSpPr/>
          <p:nvPr/>
        </p:nvSpPr>
        <p:spPr>
          <a:xfrm>
            <a:off x="7382454" y="198884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51" name="wc1">
                <a:extLst>
                  <a:ext uri="{FF2B5EF4-FFF2-40B4-BE49-F238E27FC236}">
                    <a16:creationId xmlns:a16="http://schemas.microsoft.com/office/drawing/2014/main" id="{DE58D6FE-C9B8-2CC8-6742-1E13622397C8}"/>
                  </a:ext>
                </a:extLst>
              </p:cNvPr>
              <p:cNvSpPr txBox="1"/>
              <p:nvPr/>
            </p:nvSpPr>
            <p:spPr>
              <a:xfrm>
                <a:off x="7836453" y="2295695"/>
                <a:ext cx="550730" cy="771237"/>
              </a:xfrm>
              <a:prstGeom prst="rect">
                <a:avLst/>
              </a:prstGeom>
              <a:noFill/>
            </p:spPr>
            <p:txBody>
              <a:bodyPr wrap="square">
                <a:spAutoFit/>
              </a:bodyPr>
              <a:lstStyle/>
              <a:p>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2</m:t>
                            </m:r>
                          </m:sub>
                        </m:sSub>
                      </m:den>
                    </m:f>
                  </m:oMath>
                </a14:m>
                <a:r>
                  <a:rPr lang="zh-CN" altLang="en-US" sz="2800" dirty="0"/>
                  <a:t> </a:t>
                </a:r>
              </a:p>
            </p:txBody>
          </p:sp>
        </mc:Choice>
        <mc:Fallback xmlns="">
          <p:sp>
            <p:nvSpPr>
              <p:cNvPr id="51" name="wc1">
                <a:extLst>
                  <a:ext uri="{FF2B5EF4-FFF2-40B4-BE49-F238E27FC236}">
                    <a16:creationId xmlns:a16="http://schemas.microsoft.com/office/drawing/2014/main" id="{DE58D6FE-C9B8-2CC8-6742-1E13622397C8}"/>
                  </a:ext>
                </a:extLst>
              </p:cNvPr>
              <p:cNvSpPr txBox="1">
                <a:spLocks noRot="1" noChangeAspect="1" noMove="1" noResize="1" noEditPoints="1" noAdjustHandles="1" noChangeArrowheads="1" noChangeShapeType="1" noTextEdit="1"/>
              </p:cNvSpPr>
              <p:nvPr/>
            </p:nvSpPr>
            <p:spPr>
              <a:xfrm>
                <a:off x="7836453" y="2295695"/>
                <a:ext cx="550730" cy="771237"/>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wc1">
                <a:extLst>
                  <a:ext uri="{FF2B5EF4-FFF2-40B4-BE49-F238E27FC236}">
                    <a16:creationId xmlns:a16="http://schemas.microsoft.com/office/drawing/2014/main" id="{8807EC45-55CA-0441-5AB6-24170DD3BBF5}"/>
                  </a:ext>
                </a:extLst>
              </p:cNvPr>
              <p:cNvSpPr txBox="1"/>
              <p:nvPr/>
            </p:nvSpPr>
            <p:spPr>
              <a:xfrm>
                <a:off x="8426095" y="2298606"/>
                <a:ext cx="550730" cy="771237"/>
              </a:xfrm>
              <a:prstGeom prst="rect">
                <a:avLst/>
              </a:prstGeom>
              <a:noFill/>
            </p:spPr>
            <p:txBody>
              <a:bodyPr wrap="square">
                <a:spAutoFit/>
              </a:bodyPr>
              <a:lstStyle/>
              <a:p>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1</m:t>
                            </m:r>
                          </m:sub>
                        </m:sSub>
                      </m:den>
                    </m:f>
                  </m:oMath>
                </a14:m>
                <a:r>
                  <a:rPr lang="zh-CN" altLang="en-US" sz="2800" dirty="0"/>
                  <a:t> </a:t>
                </a:r>
              </a:p>
            </p:txBody>
          </p:sp>
        </mc:Choice>
        <mc:Fallback xmlns="">
          <p:sp>
            <p:nvSpPr>
              <p:cNvPr id="52" name="wc1">
                <a:extLst>
                  <a:ext uri="{FF2B5EF4-FFF2-40B4-BE49-F238E27FC236}">
                    <a16:creationId xmlns:a16="http://schemas.microsoft.com/office/drawing/2014/main" id="{8807EC45-55CA-0441-5AB6-24170DD3BBF5}"/>
                  </a:ext>
                </a:extLst>
              </p:cNvPr>
              <p:cNvSpPr txBox="1">
                <a:spLocks noRot="1" noChangeAspect="1" noMove="1" noResize="1" noEditPoints="1" noAdjustHandles="1" noChangeArrowheads="1" noChangeShapeType="1" noTextEdit="1"/>
              </p:cNvSpPr>
              <p:nvPr/>
            </p:nvSpPr>
            <p:spPr>
              <a:xfrm>
                <a:off x="8426095" y="2298606"/>
                <a:ext cx="550730" cy="771237"/>
              </a:xfrm>
              <a:prstGeom prst="rect">
                <a:avLst/>
              </a:prstGeom>
              <a:blipFill>
                <a:blip r:embed="rId18"/>
                <a:stretch>
                  <a:fillRect/>
                </a:stretch>
              </a:blipFill>
            </p:spPr>
            <p:txBody>
              <a:bodyPr/>
              <a:lstStyle/>
              <a:p>
                <a:r>
                  <a:rPr lang="zh-CN" altLang="en-US">
                    <a:noFill/>
                  </a:rPr>
                  <a:t> </a:t>
                </a:r>
              </a:p>
            </p:txBody>
          </p:sp>
        </mc:Fallback>
      </mc:AlternateContent>
      <p:cxnSp>
        <p:nvCxnSpPr>
          <p:cNvPr id="56" name="直线连接符 55">
            <a:extLst>
              <a:ext uri="{FF2B5EF4-FFF2-40B4-BE49-F238E27FC236}">
                <a16:creationId xmlns:a16="http://schemas.microsoft.com/office/drawing/2014/main" id="{17F6A471-5073-0684-CBC3-B89C76D2AECA}"/>
              </a:ext>
            </a:extLst>
          </p:cNvPr>
          <p:cNvCxnSpPr/>
          <p:nvPr/>
        </p:nvCxnSpPr>
        <p:spPr>
          <a:xfrm>
            <a:off x="8063115" y="2132856"/>
            <a:ext cx="720080" cy="0"/>
          </a:xfrm>
          <a:prstGeom prst="line">
            <a:avLst/>
          </a:prstGeom>
          <a:ln w="38100">
            <a:solidFill>
              <a:srgbClr val="E44860"/>
            </a:solidFill>
            <a:tailEnd type="none"/>
          </a:ln>
        </p:spPr>
        <p:style>
          <a:lnRef idx="1">
            <a:schemeClr val="accent1"/>
          </a:lnRef>
          <a:fillRef idx="0">
            <a:schemeClr val="accent1"/>
          </a:fillRef>
          <a:effectRef idx="0">
            <a:schemeClr val="accent1"/>
          </a:effectRef>
          <a:fontRef idx="minor">
            <a:schemeClr val="tx1"/>
          </a:fontRef>
        </p:style>
      </p:cxnSp>
      <p:cxnSp>
        <p:nvCxnSpPr>
          <p:cNvPr id="57" name="直线连接符 56">
            <a:extLst>
              <a:ext uri="{FF2B5EF4-FFF2-40B4-BE49-F238E27FC236}">
                <a16:creationId xmlns:a16="http://schemas.microsoft.com/office/drawing/2014/main" id="{BC3448A8-589C-D8FD-F036-11B4B851C1C7}"/>
              </a:ext>
            </a:extLst>
          </p:cNvPr>
          <p:cNvCxnSpPr/>
          <p:nvPr/>
        </p:nvCxnSpPr>
        <p:spPr>
          <a:xfrm>
            <a:off x="6806390" y="2133603"/>
            <a:ext cx="720080" cy="0"/>
          </a:xfrm>
          <a:prstGeom prst="line">
            <a:avLst/>
          </a:prstGeom>
          <a:ln w="38100">
            <a:solidFill>
              <a:srgbClr val="E44860"/>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141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heel(1)">
                                      <p:cBhvr>
                                        <p:cTn id="22" dur="20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heel(1)">
                                      <p:cBhvr>
                                        <p:cTn id="27" dur="20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11" grpId="0"/>
      <p:bldP spid="12" grpId="0" animBg="1"/>
      <p:bldP spid="21" grpId="0" animBg="1"/>
      <p:bldP spid="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奈奎斯特稳定判据的应用</a:t>
            </a:r>
          </a:p>
        </p:txBody>
      </p:sp>
      <p:sp>
        <p:nvSpPr>
          <p:cNvPr id="3" name="小标题1">
            <a:extLst>
              <a:ext uri="{FF2B5EF4-FFF2-40B4-BE49-F238E27FC236}">
                <a16:creationId xmlns:a16="http://schemas.microsoft.com/office/drawing/2014/main" id="{39C0DF73-3E0A-391A-FBC5-F7B6F36F079C}"/>
              </a:ext>
            </a:extLst>
          </p:cNvPr>
          <p:cNvSpPr/>
          <p:nvPr/>
        </p:nvSpPr>
        <p:spPr bwMode="auto">
          <a:xfrm>
            <a:off x="221020" y="949557"/>
            <a:ext cx="5529453" cy="1152032"/>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r>
              <a:rPr lang="zh-CN" altLang="en-US" sz="3200" b="1" dirty="0">
                <a:solidFill>
                  <a:schemeClr val="bg1"/>
                </a:solidFill>
                <a:latin typeface="+mn-ea"/>
              </a:rPr>
              <a:t>已知系统开环传递函数，</a:t>
            </a:r>
            <a:endParaRPr lang="en-US" altLang="zh-CN" sz="3200" b="1" dirty="0">
              <a:solidFill>
                <a:schemeClr val="bg1"/>
              </a:solidFill>
              <a:latin typeface="+mn-ea"/>
            </a:endParaRPr>
          </a:p>
          <a:p>
            <a:r>
              <a:rPr lang="zh-CN" altLang="en-US" sz="3200" b="1" dirty="0">
                <a:solidFill>
                  <a:schemeClr val="bg1"/>
                </a:solidFill>
                <a:latin typeface="+mn-ea"/>
              </a:rPr>
              <a:t>分析系统稳定性，求临界值。</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7B9C046-6169-5A0C-277B-D603029C5E7D}"/>
                  </a:ext>
                </a:extLst>
              </p:cNvPr>
              <p:cNvSpPr txBox="1"/>
              <p:nvPr/>
            </p:nvSpPr>
            <p:spPr>
              <a:xfrm>
                <a:off x="190550" y="2193231"/>
                <a:ext cx="4392488" cy="757259"/>
              </a:xfrm>
              <a:prstGeom prst="rect">
                <a:avLst/>
              </a:prstGeom>
              <a:noFill/>
            </p:spPr>
            <p:txBody>
              <a:bodyPr wrap="square">
                <a:spAutoFit/>
              </a:bodyPr>
              <a:lstStyle/>
              <a:p>
                <a14:m>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r>
                          <a:rPr lang="en-US" altLang="zh-CN" sz="2800" b="0" i="1" smtClean="0">
                            <a:solidFill>
                              <a:schemeClr val="tx1"/>
                            </a:solidFill>
                            <a:latin typeface="Cambria Math" panose="02040503050406030204" pitchFamily="18" charset="0"/>
                          </a:rPr>
                          <m:t>𝑠</m:t>
                        </m:r>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1</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2</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en>
                    </m:f>
                  </m:oMath>
                </a14:m>
                <a:r>
                  <a:rPr lang="zh-CN" altLang="en-US" sz="2800" dirty="0">
                    <a:solidFill>
                      <a:schemeClr val="tx1"/>
                    </a:solidFill>
                  </a:rPr>
                  <a:t> </a:t>
                </a:r>
              </a:p>
            </p:txBody>
          </p:sp>
        </mc:Choice>
        <mc:Fallback xmlns="">
          <p:sp>
            <p:nvSpPr>
              <p:cNvPr id="6" name="文本框 5">
                <a:extLst>
                  <a:ext uri="{FF2B5EF4-FFF2-40B4-BE49-F238E27FC236}">
                    <a16:creationId xmlns:a16="http://schemas.microsoft.com/office/drawing/2014/main" id="{47B9C046-6169-5A0C-277B-D603029C5E7D}"/>
                  </a:ext>
                </a:extLst>
              </p:cNvPr>
              <p:cNvSpPr txBox="1">
                <a:spLocks noRot="1" noChangeAspect="1" noMove="1" noResize="1" noEditPoints="1" noAdjustHandles="1" noChangeArrowheads="1" noChangeShapeType="1" noTextEdit="1"/>
              </p:cNvSpPr>
              <p:nvPr/>
            </p:nvSpPr>
            <p:spPr>
              <a:xfrm>
                <a:off x="190550" y="2193231"/>
                <a:ext cx="4392488" cy="757259"/>
              </a:xfrm>
              <a:prstGeom prst="rect">
                <a:avLst/>
              </a:prstGeom>
              <a:blipFill>
                <a:blip r:embed="rId3"/>
                <a:stretch>
                  <a:fillRect l="-5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6A96DBD-51B4-F3CB-A194-856930B5B6FD}"/>
                  </a:ext>
                </a:extLst>
              </p:cNvPr>
              <p:cNvSpPr txBox="1"/>
              <p:nvPr/>
            </p:nvSpPr>
            <p:spPr>
              <a:xfrm>
                <a:off x="1165738" y="3001714"/>
                <a:ext cx="3528392" cy="1687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𝐺</m:t>
                              </m:r>
                              <m:d>
                                <m:dPr>
                                  <m:ctrlPr>
                                    <a:rPr lang="zh-CN" altLang="en-US" sz="2800" i="1">
                                      <a:latin typeface="Cambria Math" panose="02040503050406030204" pitchFamily="18" charset="0"/>
                                    </a:rPr>
                                  </m:ctrlPr>
                                </m:dPr>
                                <m:e>
                                  <m:r>
                                    <a:rPr lang="en-US" altLang="zh-CN" sz="2800" i="1">
                                      <a:latin typeface="Cambria Math" panose="02040503050406030204" pitchFamily="18" charset="0"/>
                                    </a:rPr>
                                    <m:t>𝑗</m:t>
                                  </m:r>
                                  <m:r>
                                    <a:rPr lang="en-US" altLang="zh-CN" sz="2800" i="1">
                                      <a:latin typeface="Cambria Math" panose="02040503050406030204" pitchFamily="18" charset="0"/>
                                    </a:rPr>
                                    <m:t>0</m:t>
                                  </m:r>
                                </m:e>
                              </m:d>
                              <m:r>
                                <a:rPr lang="zh-CN" altLang="en-US" sz="2800">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rPr>
                                <m:t>𝐺</m:t>
                              </m:r>
                              <m:d>
                                <m:dPr>
                                  <m:ctrlPr>
                                    <a:rPr lang="zh-CN" altLang="en-US" sz="2800" i="1">
                                      <a:latin typeface="Cambria Math" panose="02040503050406030204" pitchFamily="18" charset="0"/>
                                    </a:rPr>
                                  </m:ctrlPr>
                                </m:dPr>
                                <m:e>
                                  <m:r>
                                    <a:rPr lang="en-US" altLang="zh-CN" sz="2800" i="1">
                                      <a:latin typeface="Cambria Math" panose="02040503050406030204" pitchFamily="18" charset="0"/>
                                    </a:rPr>
                                    <m:t>𝑗</m:t>
                                  </m:r>
                                  <m:sSup>
                                    <m:sSupPr>
                                      <m:ctrlPr>
                                        <a:rPr lang="en-US" altLang="zh-CN" sz="2800" b="0" i="1" smtClean="0">
                                          <a:latin typeface="Cambria Math" panose="02040503050406030204" pitchFamily="18" charset="0"/>
                                        </a:rPr>
                                      </m:ctrlPr>
                                    </m:sSupPr>
                                    <m:e>
                                      <m:r>
                                        <a:rPr lang="en-US" altLang="zh-CN" sz="2800" i="1">
                                          <a:latin typeface="Cambria Math" panose="02040503050406030204" pitchFamily="18" charset="0"/>
                                        </a:rPr>
                                        <m:t>0</m:t>
                                      </m:r>
                                    </m:e>
                                    <m:sup>
                                      <m:r>
                                        <a:rPr lang="en-US" altLang="zh-CN" sz="2800" b="0" i="1" smtClean="0">
                                          <a:latin typeface="Cambria Math" panose="02040503050406030204" pitchFamily="18" charset="0"/>
                                        </a:rPr>
                                        <m:t>+</m:t>
                                      </m:r>
                                    </m:sup>
                                  </m:sSup>
                                </m:e>
                              </m:d>
                              <m:r>
                                <a:rPr lang="zh-CN" altLang="en-US" sz="2800">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−9</m:t>
                              </m:r>
                              <m:r>
                                <a:rPr lang="en-US" altLang="zh-CN" sz="2800" i="1">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rPr>
                                <m:t>𝐺</m:t>
                              </m:r>
                              <m:d>
                                <m:dPr>
                                  <m:ctrlPr>
                                    <a:rPr lang="zh-CN" altLang="en-US" sz="2800" i="1">
                                      <a:latin typeface="Cambria Math" panose="02040503050406030204" pitchFamily="18" charset="0"/>
                                    </a:rPr>
                                  </m:ctrlPr>
                                </m:dPr>
                                <m:e>
                                  <m:r>
                                    <a:rPr lang="en-US" altLang="zh-CN" sz="2800" i="1">
                                      <a:latin typeface="Cambria Math" panose="02040503050406030204" pitchFamily="18" charset="0"/>
                                    </a:rPr>
                                    <m:t>𝑗</m:t>
                                  </m:r>
                                  <m:r>
                                    <a:rPr lang="en-US" altLang="zh-CN" sz="2800" i="1">
                                      <a:latin typeface="Cambria Math" panose="02040503050406030204" pitchFamily="18" charset="0"/>
                                      <a:ea typeface="Cambria Math" panose="02040503050406030204" pitchFamily="18" charset="0"/>
                                    </a:rPr>
                                    <m:t>∞</m:t>
                                  </m:r>
                                </m:e>
                              </m:d>
                              <m:r>
                                <a:rPr lang="zh-CN" altLang="en-US" sz="2800">
                                  <a:latin typeface="Cambria Math" panose="02040503050406030204" pitchFamily="18" charset="0"/>
                                </a:rPr>
                                <m:t>=</m:t>
                              </m:r>
                              <m:r>
                                <a:rPr lang="en-US" altLang="zh-CN" sz="2800" i="1">
                                  <a:latin typeface="Cambria Math" panose="02040503050406030204" pitchFamily="18" charset="0"/>
                                </a:rPr>
                                <m:t>0</m:t>
                              </m:r>
                              <m:r>
                                <a:rPr lang="en-US" altLang="zh-CN" sz="2800" i="1">
                                  <a:latin typeface="Cambria Math" panose="02040503050406030204" pitchFamily="18" charset="0"/>
                                  <a:ea typeface="Cambria Math" panose="02040503050406030204" pitchFamily="18" charset="0"/>
                                </a:rPr>
                                <m:t>∠−270°</m:t>
                              </m:r>
                              <m:r>
                                <m:rPr>
                                  <m:nor/>
                                </m:rPr>
                                <a:rPr lang="en-US" altLang="zh-CN" sz="2800" dirty="0"/>
                                <m:t> </m:t>
                              </m:r>
                            </m:e>
                          </m:eqArr>
                        </m:e>
                      </m:d>
                    </m:oMath>
                  </m:oMathPara>
                </a14:m>
                <a:endParaRPr lang="en-US" altLang="zh-CN" sz="2800" dirty="0">
                  <a:solidFill>
                    <a:schemeClr val="tx1"/>
                  </a:solidFill>
                </a:endParaRPr>
              </a:p>
            </p:txBody>
          </p:sp>
        </mc:Choice>
        <mc:Fallback xmlns="">
          <p:sp>
            <p:nvSpPr>
              <p:cNvPr id="7" name="文本框 6">
                <a:extLst>
                  <a:ext uri="{FF2B5EF4-FFF2-40B4-BE49-F238E27FC236}">
                    <a16:creationId xmlns:a16="http://schemas.microsoft.com/office/drawing/2014/main" id="{96A96DBD-51B4-F3CB-A194-856930B5B6FD}"/>
                  </a:ext>
                </a:extLst>
              </p:cNvPr>
              <p:cNvSpPr txBox="1">
                <a:spLocks noRot="1" noChangeAspect="1" noMove="1" noResize="1" noEditPoints="1" noAdjustHandles="1" noChangeArrowheads="1" noChangeShapeType="1" noTextEdit="1"/>
              </p:cNvSpPr>
              <p:nvPr/>
            </p:nvSpPr>
            <p:spPr>
              <a:xfrm>
                <a:off x="1165738" y="3001714"/>
                <a:ext cx="3528392" cy="1687834"/>
              </a:xfrm>
              <a:prstGeom prst="rect">
                <a:avLst/>
              </a:prstGeom>
              <a:blipFill>
                <a:blip r:embed="rId4"/>
                <a:stretch>
                  <a:fillRect l="-83154" t="-218657" r="-2151" b="-3097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A349B0D-DDEC-2541-EFED-E84DB2BECFD0}"/>
                  </a:ext>
                </a:extLst>
              </p:cNvPr>
              <p:cNvSpPr txBox="1"/>
              <p:nvPr/>
            </p:nvSpPr>
            <p:spPr>
              <a:xfrm>
                <a:off x="123234" y="4711794"/>
                <a:ext cx="5976664" cy="12114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𝐾</m:t>
                      </m:r>
                      <m:r>
                        <a:rPr lang="en-US" altLang="zh-CN" sz="2800" b="0" i="1" smtClean="0">
                          <a:latin typeface="Cambria Math" panose="02040503050406030204" pitchFamily="18" charset="0"/>
                        </a:rPr>
                        <m:t>=</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𝐾</m:t>
                                  </m:r>
                                </m:e>
                                <m:sub>
                                  <m:r>
                                    <a:rPr lang="en-US" altLang="zh-CN" sz="2800" b="0" i="1" smtClean="0">
                                      <a:latin typeface="Cambria Math" panose="02040503050406030204" pitchFamily="18" charset="0"/>
                                    </a:rPr>
                                    <m:t>1</m:t>
                                  </m:r>
                                </m:sub>
                              </m:sSub>
                              <m:d>
                                <m:dPr>
                                  <m:ctrlPr>
                                    <a:rPr lang="en-US" altLang="zh-CN" sz="2800" b="0" i="1" smtClean="0">
                                      <a:latin typeface="Cambria Math" panose="02040503050406030204" pitchFamily="18" charset="0"/>
                                    </a:rPr>
                                  </m:ctrlPr>
                                </m:dPr>
                                <m:e>
                                  <m:r>
                                    <a:rPr lang="zh-CN" altLang="en-US" sz="2800" i="1">
                                      <a:latin typeface="Cambria Math" panose="02040503050406030204" pitchFamily="18" charset="0"/>
                                    </a:rPr>
                                    <m:t>小</m:t>
                                  </m:r>
                                </m:e>
                              </m:d>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=0=</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/2</m:t>
                              </m:r>
                              <m:d>
                                <m:dPr>
                                  <m:ctrlPr>
                                    <a:rPr lang="en-US" altLang="zh-CN" sz="2800" b="0" i="1" smtClean="0">
                                      <a:latin typeface="Cambria Math" panose="02040503050406030204" pitchFamily="18" charset="0"/>
                                    </a:rPr>
                                  </m:ctrlPr>
                                </m:dPr>
                                <m:e>
                                  <m:r>
                                    <a:rPr lang="zh-CN" altLang="en-US" sz="2800" i="1">
                                      <a:latin typeface="Cambria Math" panose="02040503050406030204" pitchFamily="18" charset="0"/>
                                    </a:rPr>
                                    <m:t>稳定</m:t>
                                  </m:r>
                                </m:e>
                              </m:d>
                            </m:e>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𝐾</m:t>
                                  </m:r>
                                </m:e>
                                <m:sub>
                                  <m:r>
                                    <a:rPr lang="en-US" altLang="zh-CN" sz="2800" i="1">
                                      <a:latin typeface="Cambria Math" panose="02040503050406030204" pitchFamily="18" charset="0"/>
                                    </a:rPr>
                                    <m:t>1</m:t>
                                  </m:r>
                                </m:sub>
                              </m:sSub>
                              <m:d>
                                <m:dPr>
                                  <m:ctrlPr>
                                    <a:rPr lang="en-US" altLang="zh-CN" sz="2800" i="1">
                                      <a:latin typeface="Cambria Math" panose="02040503050406030204" pitchFamily="18" charset="0"/>
                                    </a:rPr>
                                  </m:ctrlPr>
                                </m:dPr>
                                <m:e>
                                  <m:r>
                                    <a:rPr lang="zh-CN" altLang="en-US" sz="2800" i="1" smtClean="0">
                                      <a:latin typeface="Cambria Math" panose="02040503050406030204" pitchFamily="18" charset="0"/>
                                    </a:rPr>
                                    <m:t>大</m:t>
                                  </m:r>
                                </m:e>
                              </m:d>
                              <m:r>
                                <a:rPr lang="en-US" altLang="zh-CN" sz="2800" i="1">
                                  <a:latin typeface="Cambria Math" panose="02040503050406030204" pitchFamily="18" charset="0"/>
                                </a:rPr>
                                <m:t>𝑁</m:t>
                              </m:r>
                              <m:r>
                                <a:rPr lang="en-US" altLang="zh-CN" sz="2800" i="1">
                                  <a:latin typeface="Cambria Math" panose="02040503050406030204" pitchFamily="18" charset="0"/>
                                </a:rPr>
                                <m:t>=−1≠</m:t>
                              </m:r>
                              <m:r>
                                <a:rPr lang="en-US" altLang="zh-CN" sz="2800" i="1">
                                  <a:latin typeface="Cambria Math" panose="02040503050406030204" pitchFamily="18" charset="0"/>
                                </a:rPr>
                                <m:t>𝑃</m:t>
                              </m:r>
                              <m:r>
                                <a:rPr lang="en-US" altLang="zh-CN" sz="2800" i="1">
                                  <a:latin typeface="Cambria Math" panose="02040503050406030204" pitchFamily="18" charset="0"/>
                                </a:rPr>
                                <m:t>/2</m:t>
                              </m:r>
                              <m:d>
                                <m:dPr>
                                  <m:ctrlPr>
                                    <a:rPr lang="en-US" altLang="zh-CN" sz="2800" i="1">
                                      <a:latin typeface="Cambria Math" panose="02040503050406030204" pitchFamily="18" charset="0"/>
                                    </a:rPr>
                                  </m:ctrlPr>
                                </m:dPr>
                                <m:e>
                                  <m:r>
                                    <a:rPr lang="zh-CN" altLang="en-US" sz="2800" i="1" smtClean="0">
                                      <a:latin typeface="Cambria Math" panose="02040503050406030204" pitchFamily="18" charset="0"/>
                                    </a:rPr>
                                    <m:t>不</m:t>
                                  </m:r>
                                  <m:r>
                                    <a:rPr lang="zh-CN" altLang="en-US" sz="2800" i="1">
                                      <a:latin typeface="Cambria Math" panose="02040503050406030204" pitchFamily="18" charset="0"/>
                                    </a:rPr>
                                    <m:t>稳定</m:t>
                                  </m:r>
                                </m:e>
                              </m:d>
                            </m:e>
                          </m:eqArr>
                        </m:e>
                      </m:d>
                    </m:oMath>
                  </m:oMathPara>
                </a14:m>
                <a:endParaRPr lang="en-US" altLang="zh-CN" sz="2800" dirty="0">
                  <a:solidFill>
                    <a:schemeClr val="tx1"/>
                  </a:solidFill>
                </a:endParaRPr>
              </a:p>
            </p:txBody>
          </p:sp>
        </mc:Choice>
        <mc:Fallback xmlns="">
          <p:sp>
            <p:nvSpPr>
              <p:cNvPr id="8" name="文本框 7">
                <a:extLst>
                  <a:ext uri="{FF2B5EF4-FFF2-40B4-BE49-F238E27FC236}">
                    <a16:creationId xmlns:a16="http://schemas.microsoft.com/office/drawing/2014/main" id="{2A349B0D-DDEC-2541-EFED-E84DB2BECFD0}"/>
                  </a:ext>
                </a:extLst>
              </p:cNvPr>
              <p:cNvSpPr txBox="1">
                <a:spLocks noRot="1" noChangeAspect="1" noMove="1" noResize="1" noEditPoints="1" noAdjustHandles="1" noChangeArrowheads="1" noChangeShapeType="1" noTextEdit="1"/>
              </p:cNvSpPr>
              <p:nvPr/>
            </p:nvSpPr>
            <p:spPr>
              <a:xfrm>
                <a:off x="123234" y="4711794"/>
                <a:ext cx="5976664" cy="1211422"/>
              </a:xfrm>
              <a:prstGeom prst="rect">
                <a:avLst/>
              </a:prstGeom>
              <a:blipFill>
                <a:blip r:embed="rId5"/>
                <a:stretch>
                  <a:fillRect l="-19280" t="-208333" b="-2979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6347C4F-373D-620A-4F51-C2315AC7D5EC}"/>
                  </a:ext>
                </a:extLst>
              </p:cNvPr>
              <p:cNvSpPr txBox="1"/>
              <p:nvPr/>
            </p:nvSpPr>
            <p:spPr>
              <a:xfrm>
                <a:off x="268976" y="6047725"/>
                <a:ext cx="46805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𝑍</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𝑃</m:t>
                      </m:r>
                      <m:r>
                        <a:rPr lang="en-US" altLang="zh-CN" sz="2800" b="0" i="1" smtClean="0">
                          <a:solidFill>
                            <a:schemeClr val="tx1"/>
                          </a:solidFill>
                          <a:latin typeface="Cambria Math" panose="02040503050406030204" pitchFamily="18" charset="0"/>
                        </a:rPr>
                        <m:t>−2</m:t>
                      </m:r>
                      <m:r>
                        <a:rPr lang="en-US" altLang="zh-CN" sz="2800" b="0" i="1" smtClean="0">
                          <a:solidFill>
                            <a:schemeClr val="tx1"/>
                          </a:solidFill>
                          <a:latin typeface="Cambria Math" panose="02040503050406030204" pitchFamily="18" charset="0"/>
                        </a:rPr>
                        <m:t>𝑁</m:t>
                      </m:r>
                      <m:r>
                        <a:rPr lang="en-US" altLang="zh-CN" sz="2800" b="0" i="1" smtClean="0">
                          <a:solidFill>
                            <a:schemeClr val="tx1"/>
                          </a:solidFill>
                          <a:latin typeface="Cambria Math" panose="02040503050406030204" pitchFamily="18" charset="0"/>
                        </a:rPr>
                        <m:t>=0−2</m:t>
                      </m:r>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−1</m:t>
                          </m:r>
                        </m:e>
                      </m:d>
                      <m:r>
                        <a:rPr lang="en-US" altLang="zh-CN" sz="2800" b="0" i="1" smtClean="0">
                          <a:solidFill>
                            <a:schemeClr val="tx1"/>
                          </a:solidFill>
                          <a:latin typeface="Cambria Math" panose="02040503050406030204" pitchFamily="18" charset="0"/>
                        </a:rPr>
                        <m:t>=2</m:t>
                      </m:r>
                    </m:oMath>
                  </m:oMathPara>
                </a14:m>
                <a:endParaRPr lang="en-US" altLang="zh-CN" sz="2800" dirty="0">
                  <a:solidFill>
                    <a:schemeClr val="tx1"/>
                  </a:solidFill>
                </a:endParaRPr>
              </a:p>
            </p:txBody>
          </p:sp>
        </mc:Choice>
        <mc:Fallback xmlns="">
          <p:sp>
            <p:nvSpPr>
              <p:cNvPr id="11" name="文本框 10">
                <a:extLst>
                  <a:ext uri="{FF2B5EF4-FFF2-40B4-BE49-F238E27FC236}">
                    <a16:creationId xmlns:a16="http://schemas.microsoft.com/office/drawing/2014/main" id="{B6347C4F-373D-620A-4F51-C2315AC7D5EC}"/>
                  </a:ext>
                </a:extLst>
              </p:cNvPr>
              <p:cNvSpPr txBox="1">
                <a:spLocks noRot="1" noChangeAspect="1" noMove="1" noResize="1" noEditPoints="1" noAdjustHandles="1" noChangeArrowheads="1" noChangeShapeType="1" noTextEdit="1"/>
              </p:cNvSpPr>
              <p:nvPr/>
            </p:nvSpPr>
            <p:spPr>
              <a:xfrm>
                <a:off x="268976" y="6047725"/>
                <a:ext cx="4680520" cy="523220"/>
              </a:xfrm>
              <a:prstGeom prst="rect">
                <a:avLst/>
              </a:prstGeom>
              <a:blipFill>
                <a:blip r:embed="rId6"/>
                <a:stretch>
                  <a:fillRect l="-813" r="-813"/>
                </a:stretch>
              </a:blipFill>
            </p:spPr>
            <p:txBody>
              <a:bodyPr/>
              <a:lstStyle/>
              <a:p>
                <a:r>
                  <a:rPr lang="zh-CN" altLang="en-US">
                    <a:noFill/>
                  </a:rPr>
                  <a:t> </a:t>
                </a:r>
              </a:p>
            </p:txBody>
          </p:sp>
        </mc:Fallback>
      </mc:AlternateContent>
      <p:sp>
        <p:nvSpPr>
          <p:cNvPr id="12" name="重要1">
            <a:extLst>
              <a:ext uri="{FF2B5EF4-FFF2-40B4-BE49-F238E27FC236}">
                <a16:creationId xmlns:a16="http://schemas.microsoft.com/office/drawing/2014/main" id="{958C4154-7D59-DE22-4E21-373D26B20CB1}"/>
              </a:ext>
            </a:extLst>
          </p:cNvPr>
          <p:cNvSpPr txBox="1"/>
          <p:nvPr/>
        </p:nvSpPr>
        <p:spPr>
          <a:xfrm>
            <a:off x="190550" y="3198395"/>
            <a:ext cx="854089" cy="66960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kumimoji="1" lang="zh-CN" altLang="en-US" sz="3200" b="1" dirty="0">
                <a:solidFill>
                  <a:schemeClr val="bg1"/>
                </a:solidFill>
              </a:rPr>
              <a:t>解</a:t>
            </a:r>
          </a:p>
        </p:txBody>
      </p:sp>
      <mc:AlternateContent xmlns:mc="http://schemas.openxmlformats.org/markup-compatibility/2006" xmlns:a14="http://schemas.microsoft.com/office/drawing/2010/main">
        <mc:Choice Requires="a14">
          <p:sp>
            <p:nvSpPr>
              <p:cNvPr id="14" name="wc1">
                <a:extLst>
                  <a:ext uri="{FF2B5EF4-FFF2-40B4-BE49-F238E27FC236}">
                    <a16:creationId xmlns:a16="http://schemas.microsoft.com/office/drawing/2014/main" id="{7528208B-CE6A-CD93-65C5-65475B39C6B0}"/>
                  </a:ext>
                </a:extLst>
              </p:cNvPr>
              <p:cNvSpPr txBox="1"/>
              <p:nvPr/>
            </p:nvSpPr>
            <p:spPr>
              <a:xfrm>
                <a:off x="9065579" y="3933056"/>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m:t>
                          </m:r>
                        </m:e>
                      </m:d>
                    </m:oMath>
                  </m:oMathPara>
                </a14:m>
                <a:endParaRPr lang="zh-CN" altLang="en-US" sz="2800" dirty="0"/>
              </a:p>
            </p:txBody>
          </p:sp>
        </mc:Choice>
        <mc:Fallback xmlns="">
          <p:sp>
            <p:nvSpPr>
              <p:cNvPr id="14" name="wc1">
                <a:extLst>
                  <a:ext uri="{FF2B5EF4-FFF2-40B4-BE49-F238E27FC236}">
                    <a16:creationId xmlns:a16="http://schemas.microsoft.com/office/drawing/2014/main" id="{7528208B-CE6A-CD93-65C5-65475B39C6B0}"/>
                  </a:ext>
                </a:extLst>
              </p:cNvPr>
              <p:cNvSpPr txBox="1">
                <a:spLocks noRot="1" noChangeAspect="1" noMove="1" noResize="1" noEditPoints="1" noAdjustHandles="1" noChangeArrowheads="1" noChangeShapeType="1" noTextEdit="1"/>
              </p:cNvSpPr>
              <p:nvPr/>
            </p:nvSpPr>
            <p:spPr>
              <a:xfrm>
                <a:off x="9065579" y="3933056"/>
                <a:ext cx="801225" cy="524695"/>
              </a:xfrm>
              <a:prstGeom prst="rect">
                <a:avLst/>
              </a:prstGeom>
              <a:blipFill>
                <a:blip r:embed="rId7"/>
                <a:stretch>
                  <a:fillRect/>
                </a:stretch>
              </a:blipFill>
            </p:spPr>
            <p:txBody>
              <a:bodyPr/>
              <a:lstStyle/>
              <a:p>
                <a:r>
                  <a:rPr lang="zh-CN" altLang="en-US">
                    <a:noFill/>
                  </a:rPr>
                  <a:t> </a:t>
                </a:r>
              </a:p>
            </p:txBody>
          </p:sp>
        </mc:Fallback>
      </mc:AlternateContent>
      <p:grpSp>
        <p:nvGrpSpPr>
          <p:cNvPr id="15" name="坐标轴">
            <a:extLst>
              <a:ext uri="{FF2B5EF4-FFF2-40B4-BE49-F238E27FC236}">
                <a16:creationId xmlns:a16="http://schemas.microsoft.com/office/drawing/2014/main" id="{BD887A8C-7341-D0C9-2BA9-41C8559A4F72}"/>
              </a:ext>
            </a:extLst>
          </p:cNvPr>
          <p:cNvGrpSpPr/>
          <p:nvPr/>
        </p:nvGrpSpPr>
        <p:grpSpPr>
          <a:xfrm>
            <a:off x="6931299" y="3933056"/>
            <a:ext cx="4780532" cy="2605303"/>
            <a:chOff x="7903323" y="4240166"/>
            <a:chExt cx="4780532" cy="2605303"/>
          </a:xfrm>
        </p:grpSpPr>
        <p:cxnSp>
          <p:nvCxnSpPr>
            <p:cNvPr id="16" name="实轴">
              <a:extLst>
                <a:ext uri="{FF2B5EF4-FFF2-40B4-BE49-F238E27FC236}">
                  <a16:creationId xmlns:a16="http://schemas.microsoft.com/office/drawing/2014/main" id="{6993CCCD-5E0D-98EC-1A5A-4524954F4B1F}"/>
                </a:ext>
              </a:extLst>
            </p:cNvPr>
            <p:cNvCxnSpPr>
              <a:cxnSpLocks/>
            </p:cNvCxnSpPr>
            <p:nvPr/>
          </p:nvCxnSpPr>
          <p:spPr>
            <a:xfrm flipH="1">
              <a:off x="7903323" y="5358556"/>
              <a:ext cx="465636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虚轴">
              <a:extLst>
                <a:ext uri="{FF2B5EF4-FFF2-40B4-BE49-F238E27FC236}">
                  <a16:creationId xmlns:a16="http://schemas.microsoft.com/office/drawing/2014/main" id="{07843F92-322E-E34B-3669-5CE24B552BA9}"/>
                </a:ext>
              </a:extLst>
            </p:cNvPr>
            <p:cNvCxnSpPr>
              <a:cxnSpLocks/>
            </p:cNvCxnSpPr>
            <p:nvPr/>
          </p:nvCxnSpPr>
          <p:spPr>
            <a:xfrm flipV="1">
              <a:off x="9991555" y="4360211"/>
              <a:ext cx="0" cy="248525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
                  <a:extLst>
                    <a:ext uri="{FF2B5EF4-FFF2-40B4-BE49-F238E27FC236}">
                      <a16:creationId xmlns:a16="http://schemas.microsoft.com/office/drawing/2014/main" id="{82587D05-6AF0-E381-3141-53F1FDA8602A}"/>
                    </a:ext>
                  </a:extLst>
                </p:cNvPr>
                <p:cNvSpPr txBox="1"/>
                <p:nvPr/>
              </p:nvSpPr>
              <p:spPr>
                <a:xfrm>
                  <a:off x="12107319" y="544142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8" name="Re">
                  <a:extLst>
                    <a:ext uri="{FF2B5EF4-FFF2-40B4-BE49-F238E27FC236}">
                      <a16:creationId xmlns:a16="http://schemas.microsoft.com/office/drawing/2014/main" id="{82587D05-6AF0-E381-3141-53F1FDA8602A}"/>
                    </a:ext>
                  </a:extLst>
                </p:cNvPr>
                <p:cNvSpPr txBox="1">
                  <a:spLocks noRot="1" noChangeAspect="1" noMove="1" noResize="1" noEditPoints="1" noAdjustHandles="1" noChangeArrowheads="1" noChangeShapeType="1" noTextEdit="1"/>
                </p:cNvSpPr>
                <p:nvPr/>
              </p:nvSpPr>
              <p:spPr>
                <a:xfrm>
                  <a:off x="12107319" y="5441421"/>
                  <a:ext cx="576536" cy="523220"/>
                </a:xfrm>
                <a:prstGeom prst="rect">
                  <a:avLst/>
                </a:prstGeom>
                <a:blipFill>
                  <a:blip r:embed="rId8"/>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Im">
                  <a:extLst>
                    <a:ext uri="{FF2B5EF4-FFF2-40B4-BE49-F238E27FC236}">
                      <a16:creationId xmlns:a16="http://schemas.microsoft.com/office/drawing/2014/main" id="{EA544022-33A1-2124-A7FC-7B82910C5DFB}"/>
                    </a:ext>
                  </a:extLst>
                </p:cNvPr>
                <p:cNvSpPr txBox="1"/>
                <p:nvPr/>
              </p:nvSpPr>
              <p:spPr>
                <a:xfrm>
                  <a:off x="9290624" y="424016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19" name="Im">
                  <a:extLst>
                    <a:ext uri="{FF2B5EF4-FFF2-40B4-BE49-F238E27FC236}">
                      <a16:creationId xmlns:a16="http://schemas.microsoft.com/office/drawing/2014/main" id="{EA544022-33A1-2124-A7FC-7B82910C5DFB}"/>
                    </a:ext>
                  </a:extLst>
                </p:cNvPr>
                <p:cNvSpPr txBox="1">
                  <a:spLocks noRot="1" noChangeAspect="1" noMove="1" noResize="1" noEditPoints="1" noAdjustHandles="1" noChangeArrowheads="1" noChangeShapeType="1" noTextEdit="1"/>
                </p:cNvSpPr>
                <p:nvPr/>
              </p:nvSpPr>
              <p:spPr>
                <a:xfrm>
                  <a:off x="9290624" y="4240166"/>
                  <a:ext cx="576536" cy="523220"/>
                </a:xfrm>
                <a:prstGeom prst="rect">
                  <a:avLst/>
                </a:prstGeom>
                <a:blipFill>
                  <a:blip r:embed="rId9"/>
                  <a:stretch>
                    <a:fillRect l="-6522" r="-869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label2">
                <a:extLst>
                  <a:ext uri="{FF2B5EF4-FFF2-40B4-BE49-F238E27FC236}">
                    <a16:creationId xmlns:a16="http://schemas.microsoft.com/office/drawing/2014/main" id="{C5AF4E69-CB49-3CDD-5BAD-995E1B916267}"/>
                  </a:ext>
                </a:extLst>
              </p:cNvPr>
              <p:cNvSpPr txBox="1"/>
              <p:nvPr/>
            </p:nvSpPr>
            <p:spPr>
              <a:xfrm>
                <a:off x="7981970" y="5067178"/>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27" name="label2">
                <a:extLst>
                  <a:ext uri="{FF2B5EF4-FFF2-40B4-BE49-F238E27FC236}">
                    <a16:creationId xmlns:a16="http://schemas.microsoft.com/office/drawing/2014/main" id="{C5AF4E69-CB49-3CDD-5BAD-995E1B916267}"/>
                  </a:ext>
                </a:extLst>
              </p:cNvPr>
              <p:cNvSpPr txBox="1">
                <a:spLocks noRot="1" noChangeAspect="1" noMove="1" noResize="1" noEditPoints="1" noAdjustHandles="1" noChangeArrowheads="1" noChangeShapeType="1" noTextEdit="1"/>
              </p:cNvSpPr>
              <p:nvPr/>
            </p:nvSpPr>
            <p:spPr>
              <a:xfrm>
                <a:off x="7981970" y="5067178"/>
                <a:ext cx="801225" cy="523220"/>
              </a:xfrm>
              <a:prstGeom prst="rect">
                <a:avLst/>
              </a:prstGeom>
              <a:blipFill>
                <a:blip r:embed="rId10"/>
                <a:stretch>
                  <a:fillRect/>
                </a:stretch>
              </a:blipFill>
            </p:spPr>
            <p:txBody>
              <a:bodyPr/>
              <a:lstStyle/>
              <a:p>
                <a:r>
                  <a:rPr lang="zh-CN" altLang="en-US">
                    <a:noFill/>
                  </a:rPr>
                  <a:t> </a:t>
                </a:r>
              </a:p>
            </p:txBody>
          </p:sp>
        </mc:Fallback>
      </mc:AlternateContent>
      <p:sp>
        <p:nvSpPr>
          <p:cNvPr id="28" name="极点2">
            <a:extLst>
              <a:ext uri="{FF2B5EF4-FFF2-40B4-BE49-F238E27FC236}">
                <a16:creationId xmlns:a16="http://schemas.microsoft.com/office/drawing/2014/main" id="{96FF9F4C-E591-4B90-7272-ED1A1CD20F57}"/>
              </a:ext>
            </a:extLst>
          </p:cNvPr>
          <p:cNvSpPr/>
          <p:nvPr/>
        </p:nvSpPr>
        <p:spPr>
          <a:xfrm>
            <a:off x="8174584" y="490743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31" name="幅相">
            <a:extLst>
              <a:ext uri="{FF2B5EF4-FFF2-40B4-BE49-F238E27FC236}">
                <a16:creationId xmlns:a16="http://schemas.microsoft.com/office/drawing/2014/main" id="{B5B17A8D-B6CE-1CAE-F71A-47EFF1858E2A}"/>
              </a:ext>
            </a:extLst>
          </p:cNvPr>
          <p:cNvSpPr/>
          <p:nvPr/>
        </p:nvSpPr>
        <p:spPr>
          <a:xfrm>
            <a:off x="7528427" y="4513824"/>
            <a:ext cx="1485675" cy="1928535"/>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145629 w 1398686"/>
              <a:gd name="connsiteY0" fmla="*/ 338080 h 1052732"/>
              <a:gd name="connsiteX1" fmla="*/ 1398685 w 1398686"/>
              <a:gd name="connsiteY1" fmla="*/ 386522 h 1052732"/>
              <a:gd name="connsiteX0" fmla="*/ 525041 w 1778098"/>
              <a:gd name="connsiteY0" fmla="*/ 258898 h 1547582"/>
              <a:gd name="connsiteX1" fmla="*/ 1778097 w 1778098"/>
              <a:gd name="connsiteY1" fmla="*/ 307340 h 1547582"/>
              <a:gd name="connsiteX0" fmla="*/ 845895 w 2098951"/>
              <a:gd name="connsiteY0" fmla="*/ 397422 h 1619227"/>
              <a:gd name="connsiteX1" fmla="*/ 2098951 w 2098951"/>
              <a:gd name="connsiteY1" fmla="*/ 445864 h 1619227"/>
              <a:gd name="connsiteX0" fmla="*/ 917898 w 2170954"/>
              <a:gd name="connsiteY0" fmla="*/ 323146 h 2182972"/>
              <a:gd name="connsiteX1" fmla="*/ 2170954 w 2170954"/>
              <a:gd name="connsiteY1" fmla="*/ 371588 h 2182972"/>
              <a:gd name="connsiteX0" fmla="*/ 650184 w 1903240"/>
              <a:gd name="connsiteY0" fmla="*/ 345438 h 1984175"/>
              <a:gd name="connsiteX1" fmla="*/ 1903240 w 1903240"/>
              <a:gd name="connsiteY1" fmla="*/ 393880 h 1984175"/>
              <a:gd name="connsiteX0" fmla="*/ 695090 w 1948146"/>
              <a:gd name="connsiteY0" fmla="*/ 640709 h 2146334"/>
              <a:gd name="connsiteX1" fmla="*/ 1948146 w 1948146"/>
              <a:gd name="connsiteY1" fmla="*/ 689151 h 2146334"/>
              <a:gd name="connsiteX0" fmla="*/ 1636927 w 1636927"/>
              <a:gd name="connsiteY0" fmla="*/ 581390 h 2830622"/>
              <a:gd name="connsiteX1" fmla="*/ 991170 w 1636927"/>
              <a:gd name="connsiteY1" fmla="*/ 1493289 h 2830622"/>
              <a:gd name="connsiteX0" fmla="*/ 824302 w 824302"/>
              <a:gd name="connsiteY0" fmla="*/ 1070631 h 1982531"/>
              <a:gd name="connsiteX1" fmla="*/ 178545 w 824302"/>
              <a:gd name="connsiteY1" fmla="*/ 1982530 h 1982531"/>
              <a:gd name="connsiteX0" fmla="*/ 1115345 w 1115345"/>
              <a:gd name="connsiteY0" fmla="*/ 928470 h 2655180"/>
              <a:gd name="connsiteX1" fmla="*/ 20250 w 1115345"/>
              <a:gd name="connsiteY1" fmla="*/ 2655181 h 2655180"/>
              <a:gd name="connsiteX0" fmla="*/ 1095095 w 1095095"/>
              <a:gd name="connsiteY0" fmla="*/ 988090 h 2714802"/>
              <a:gd name="connsiteX1" fmla="*/ 0 w 1095095"/>
              <a:gd name="connsiteY1" fmla="*/ 2714801 h 2714802"/>
              <a:gd name="connsiteX0" fmla="*/ 1095095 w 1095095"/>
              <a:gd name="connsiteY0" fmla="*/ 658667 h 2385377"/>
              <a:gd name="connsiteX1" fmla="*/ 0 w 1095095"/>
              <a:gd name="connsiteY1" fmla="*/ 2385378 h 2385377"/>
            </a:gdLst>
            <a:ahLst/>
            <a:cxnLst>
              <a:cxn ang="0">
                <a:pos x="connsiteX0" y="connsiteY0"/>
              </a:cxn>
              <a:cxn ang="0">
                <a:pos x="connsiteX1" y="connsiteY1"/>
              </a:cxn>
            </a:cxnLst>
            <a:rect l="l" t="t" r="r" b="b"/>
            <a:pathLst>
              <a:path w="1095095" h="2385377">
                <a:moveTo>
                  <a:pt x="1095095" y="658667"/>
                </a:moveTo>
                <a:cubicBezTo>
                  <a:pt x="668240" y="-1294653"/>
                  <a:pt x="104456" y="1647274"/>
                  <a:pt x="0" y="2385378"/>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35" name="wc1">
                <a:extLst>
                  <a:ext uri="{FF2B5EF4-FFF2-40B4-BE49-F238E27FC236}">
                    <a16:creationId xmlns:a16="http://schemas.microsoft.com/office/drawing/2014/main" id="{B30FB21A-22A7-03AA-6644-3659D00D709A}"/>
                  </a:ext>
                </a:extLst>
              </p:cNvPr>
              <p:cNvSpPr txBox="1"/>
              <p:nvPr/>
            </p:nvSpPr>
            <p:spPr>
              <a:xfrm>
                <a:off x="9078123" y="429785"/>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𝑠</m:t>
                          </m:r>
                        </m:e>
                      </m:d>
                    </m:oMath>
                  </m:oMathPara>
                </a14:m>
                <a:endParaRPr lang="zh-CN" altLang="en-US" sz="2800" dirty="0"/>
              </a:p>
            </p:txBody>
          </p:sp>
        </mc:Choice>
        <mc:Fallback xmlns="">
          <p:sp>
            <p:nvSpPr>
              <p:cNvPr id="35" name="wc1">
                <a:extLst>
                  <a:ext uri="{FF2B5EF4-FFF2-40B4-BE49-F238E27FC236}">
                    <a16:creationId xmlns:a16="http://schemas.microsoft.com/office/drawing/2014/main" id="{B30FB21A-22A7-03AA-6644-3659D00D709A}"/>
                  </a:ext>
                </a:extLst>
              </p:cNvPr>
              <p:cNvSpPr txBox="1">
                <a:spLocks noRot="1" noChangeAspect="1" noMove="1" noResize="1" noEditPoints="1" noAdjustHandles="1" noChangeArrowheads="1" noChangeShapeType="1" noTextEdit="1"/>
              </p:cNvSpPr>
              <p:nvPr/>
            </p:nvSpPr>
            <p:spPr>
              <a:xfrm>
                <a:off x="9078123" y="429785"/>
                <a:ext cx="801225" cy="524695"/>
              </a:xfrm>
              <a:prstGeom prst="rect">
                <a:avLst/>
              </a:prstGeom>
              <a:blipFill>
                <a:blip r:embed="rId11"/>
                <a:stretch>
                  <a:fillRect/>
                </a:stretch>
              </a:blipFill>
            </p:spPr>
            <p:txBody>
              <a:bodyPr/>
              <a:lstStyle/>
              <a:p>
                <a:r>
                  <a:rPr lang="zh-CN" altLang="en-US">
                    <a:noFill/>
                  </a:rPr>
                  <a:t> </a:t>
                </a:r>
              </a:p>
            </p:txBody>
          </p:sp>
        </mc:Fallback>
      </mc:AlternateContent>
      <p:grpSp>
        <p:nvGrpSpPr>
          <p:cNvPr id="36" name="坐标轴">
            <a:extLst>
              <a:ext uri="{FF2B5EF4-FFF2-40B4-BE49-F238E27FC236}">
                <a16:creationId xmlns:a16="http://schemas.microsoft.com/office/drawing/2014/main" id="{685BB8FD-EF8A-7A84-82E6-CC7DDE3ECC06}"/>
              </a:ext>
            </a:extLst>
          </p:cNvPr>
          <p:cNvGrpSpPr/>
          <p:nvPr/>
        </p:nvGrpSpPr>
        <p:grpSpPr>
          <a:xfrm>
            <a:off x="6931299" y="429785"/>
            <a:ext cx="4780532" cy="3008522"/>
            <a:chOff x="7903323" y="3924161"/>
            <a:chExt cx="4780532" cy="3008522"/>
          </a:xfrm>
        </p:grpSpPr>
        <p:cxnSp>
          <p:nvCxnSpPr>
            <p:cNvPr id="37" name="实轴">
              <a:extLst>
                <a:ext uri="{FF2B5EF4-FFF2-40B4-BE49-F238E27FC236}">
                  <a16:creationId xmlns:a16="http://schemas.microsoft.com/office/drawing/2014/main" id="{906B091F-DDB9-9DB0-9257-CCC71A486DAB}"/>
                </a:ext>
              </a:extLst>
            </p:cNvPr>
            <p:cNvCxnSpPr>
              <a:cxnSpLocks/>
            </p:cNvCxnSpPr>
            <p:nvPr/>
          </p:nvCxnSpPr>
          <p:spPr>
            <a:xfrm flipH="1">
              <a:off x="7903323" y="5627232"/>
              <a:ext cx="465636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8" name="虚轴">
              <a:extLst>
                <a:ext uri="{FF2B5EF4-FFF2-40B4-BE49-F238E27FC236}">
                  <a16:creationId xmlns:a16="http://schemas.microsoft.com/office/drawing/2014/main" id="{A405F0BE-03C9-94FF-7684-9C8774606894}"/>
                </a:ext>
              </a:extLst>
            </p:cNvPr>
            <p:cNvCxnSpPr>
              <a:cxnSpLocks/>
            </p:cNvCxnSpPr>
            <p:nvPr/>
          </p:nvCxnSpPr>
          <p:spPr>
            <a:xfrm flipV="1">
              <a:off x="9991555" y="4101382"/>
              <a:ext cx="0" cy="2831301"/>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e">
                  <a:extLst>
                    <a:ext uri="{FF2B5EF4-FFF2-40B4-BE49-F238E27FC236}">
                      <a16:creationId xmlns:a16="http://schemas.microsoft.com/office/drawing/2014/main" id="{B99029C2-FB03-757C-7501-FD5D2E1FCF46}"/>
                    </a:ext>
                  </a:extLst>
                </p:cNvPr>
                <p:cNvSpPr txBox="1"/>
                <p:nvPr/>
              </p:nvSpPr>
              <p:spPr>
                <a:xfrm>
                  <a:off x="12107319" y="564490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9" name="Re">
                  <a:extLst>
                    <a:ext uri="{FF2B5EF4-FFF2-40B4-BE49-F238E27FC236}">
                      <a16:creationId xmlns:a16="http://schemas.microsoft.com/office/drawing/2014/main" id="{B99029C2-FB03-757C-7501-FD5D2E1FCF46}"/>
                    </a:ext>
                  </a:extLst>
                </p:cNvPr>
                <p:cNvSpPr txBox="1">
                  <a:spLocks noRot="1" noChangeAspect="1" noMove="1" noResize="1" noEditPoints="1" noAdjustHandles="1" noChangeArrowheads="1" noChangeShapeType="1" noTextEdit="1"/>
                </p:cNvSpPr>
                <p:nvPr/>
              </p:nvSpPr>
              <p:spPr>
                <a:xfrm>
                  <a:off x="12107319" y="5644903"/>
                  <a:ext cx="576536" cy="523220"/>
                </a:xfrm>
                <a:prstGeom prst="rect">
                  <a:avLst/>
                </a:prstGeom>
                <a:blipFill>
                  <a:blip r:embed="rId8"/>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Im">
                  <a:extLst>
                    <a:ext uri="{FF2B5EF4-FFF2-40B4-BE49-F238E27FC236}">
                      <a16:creationId xmlns:a16="http://schemas.microsoft.com/office/drawing/2014/main" id="{2A195DAE-5BA8-9161-C530-4DD48C8AAB8C}"/>
                    </a:ext>
                  </a:extLst>
                </p:cNvPr>
                <p:cNvSpPr txBox="1"/>
                <p:nvPr/>
              </p:nvSpPr>
              <p:spPr>
                <a:xfrm>
                  <a:off x="9290624" y="392416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40" name="Im">
                  <a:extLst>
                    <a:ext uri="{FF2B5EF4-FFF2-40B4-BE49-F238E27FC236}">
                      <a16:creationId xmlns:a16="http://schemas.microsoft.com/office/drawing/2014/main" id="{2A195DAE-5BA8-9161-C530-4DD48C8AAB8C}"/>
                    </a:ext>
                  </a:extLst>
                </p:cNvPr>
                <p:cNvSpPr txBox="1">
                  <a:spLocks noRot="1" noChangeAspect="1" noMove="1" noResize="1" noEditPoints="1" noAdjustHandles="1" noChangeArrowheads="1" noChangeShapeType="1" noTextEdit="1"/>
                </p:cNvSpPr>
                <p:nvPr/>
              </p:nvSpPr>
              <p:spPr>
                <a:xfrm>
                  <a:off x="9290624" y="3924161"/>
                  <a:ext cx="576536" cy="523220"/>
                </a:xfrm>
                <a:prstGeom prst="rect">
                  <a:avLst/>
                </a:prstGeom>
                <a:blipFill>
                  <a:blip r:embed="rId12"/>
                  <a:stretch>
                    <a:fillRect l="-6522" r="-8696"/>
                  </a:stretch>
                </a:blipFill>
              </p:spPr>
              <p:txBody>
                <a:bodyPr/>
                <a:lstStyle/>
                <a:p>
                  <a:r>
                    <a:rPr lang="zh-CN" altLang="en-US">
                      <a:noFill/>
                    </a:rPr>
                    <a:t> </a:t>
                  </a:r>
                </a:p>
              </p:txBody>
            </p:sp>
          </mc:Fallback>
        </mc:AlternateContent>
      </p:grpSp>
      <p:sp>
        <p:nvSpPr>
          <p:cNvPr id="41" name="幅相">
            <a:extLst>
              <a:ext uri="{FF2B5EF4-FFF2-40B4-BE49-F238E27FC236}">
                <a16:creationId xmlns:a16="http://schemas.microsoft.com/office/drawing/2014/main" id="{1CB9A196-22D9-2421-D0FC-03642876812B}"/>
              </a:ext>
            </a:extLst>
          </p:cNvPr>
          <p:cNvSpPr/>
          <p:nvPr/>
        </p:nvSpPr>
        <p:spPr>
          <a:xfrm>
            <a:off x="8661072" y="838978"/>
            <a:ext cx="1898630" cy="129769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514585 w 651546"/>
              <a:gd name="connsiteY0" fmla="*/ 337096 h 1062167"/>
              <a:gd name="connsiteX1" fmla="*/ 651546 w 651546"/>
              <a:gd name="connsiteY1" fmla="*/ 397700 h 1062167"/>
              <a:gd name="connsiteX0" fmla="*/ 1657686 w 1657685"/>
              <a:gd name="connsiteY0" fmla="*/ 303621 h 1430919"/>
              <a:gd name="connsiteX1" fmla="*/ 323429 w 1657685"/>
              <a:gd name="connsiteY1" fmla="*/ 826358 h 1430919"/>
              <a:gd name="connsiteX0" fmla="*/ 1700968 w 1700968"/>
              <a:gd name="connsiteY0" fmla="*/ 0 h 1609977"/>
              <a:gd name="connsiteX1" fmla="*/ 366711 w 1700968"/>
              <a:gd name="connsiteY1" fmla="*/ 522737 h 1609977"/>
              <a:gd name="connsiteX0" fmla="*/ 1311469 w 1311469"/>
              <a:gd name="connsiteY0" fmla="*/ 0 h 2447379"/>
              <a:gd name="connsiteX1" fmla="*/ 448291 w 1311469"/>
              <a:gd name="connsiteY1" fmla="*/ 1641585 h 2447379"/>
              <a:gd name="connsiteX0" fmla="*/ 1757050 w 1757050"/>
              <a:gd name="connsiteY0" fmla="*/ 0 h 2417956"/>
              <a:gd name="connsiteX1" fmla="*/ 357566 w 1757050"/>
              <a:gd name="connsiteY1" fmla="*/ 1605100 h 2417956"/>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Lst>
            <a:ahLst/>
            <a:cxnLst>
              <a:cxn ang="0">
                <a:pos x="connsiteX0" y="connsiteY0"/>
              </a:cxn>
              <a:cxn ang="0">
                <a:pos x="connsiteX1" y="connsiteY1"/>
              </a:cxn>
            </a:cxnLst>
            <a:rect l="l" t="t" r="r" b="b"/>
            <a:pathLst>
              <a:path w="1399484" h="1605100">
                <a:moveTo>
                  <a:pt x="1399484" y="0"/>
                </a:moveTo>
                <a:cubicBezTo>
                  <a:pt x="907402" y="211409"/>
                  <a:pt x="10239" y="952122"/>
                  <a:pt x="0" y="1605100"/>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极点2">
            <a:extLst>
              <a:ext uri="{FF2B5EF4-FFF2-40B4-BE49-F238E27FC236}">
                <a16:creationId xmlns:a16="http://schemas.microsoft.com/office/drawing/2014/main" id="{9CC7E961-2D8D-8AA3-C189-B1F3DBFC229B}"/>
              </a:ext>
            </a:extLst>
          </p:cNvPr>
          <p:cNvSpPr/>
          <p:nvPr/>
        </p:nvSpPr>
        <p:spPr>
          <a:xfrm>
            <a:off x="8865692" y="1983007"/>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48" name="幅相">
            <a:extLst>
              <a:ext uri="{FF2B5EF4-FFF2-40B4-BE49-F238E27FC236}">
                <a16:creationId xmlns:a16="http://schemas.microsoft.com/office/drawing/2014/main" id="{399912B3-E3D8-2EA7-0766-BC9247BA64DF}"/>
              </a:ext>
            </a:extLst>
          </p:cNvPr>
          <p:cNvSpPr/>
          <p:nvPr/>
        </p:nvSpPr>
        <p:spPr>
          <a:xfrm flipV="1">
            <a:off x="8661072" y="2140613"/>
            <a:ext cx="1898630" cy="129769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514585 w 651546"/>
              <a:gd name="connsiteY0" fmla="*/ 337096 h 1062167"/>
              <a:gd name="connsiteX1" fmla="*/ 651546 w 651546"/>
              <a:gd name="connsiteY1" fmla="*/ 397700 h 1062167"/>
              <a:gd name="connsiteX0" fmla="*/ 1657686 w 1657685"/>
              <a:gd name="connsiteY0" fmla="*/ 303621 h 1430919"/>
              <a:gd name="connsiteX1" fmla="*/ 323429 w 1657685"/>
              <a:gd name="connsiteY1" fmla="*/ 826358 h 1430919"/>
              <a:gd name="connsiteX0" fmla="*/ 1700968 w 1700968"/>
              <a:gd name="connsiteY0" fmla="*/ 0 h 1609977"/>
              <a:gd name="connsiteX1" fmla="*/ 366711 w 1700968"/>
              <a:gd name="connsiteY1" fmla="*/ 522737 h 1609977"/>
              <a:gd name="connsiteX0" fmla="*/ 1311469 w 1311469"/>
              <a:gd name="connsiteY0" fmla="*/ 0 h 2447379"/>
              <a:gd name="connsiteX1" fmla="*/ 448291 w 1311469"/>
              <a:gd name="connsiteY1" fmla="*/ 1641585 h 2447379"/>
              <a:gd name="connsiteX0" fmla="*/ 1757050 w 1757050"/>
              <a:gd name="connsiteY0" fmla="*/ 0 h 2417956"/>
              <a:gd name="connsiteX1" fmla="*/ 357566 w 1757050"/>
              <a:gd name="connsiteY1" fmla="*/ 1605100 h 2417956"/>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 name="connsiteX0" fmla="*/ 1399484 w 1399484"/>
              <a:gd name="connsiteY0" fmla="*/ 0 h 1605100"/>
              <a:gd name="connsiteX1" fmla="*/ 0 w 1399484"/>
              <a:gd name="connsiteY1" fmla="*/ 1605100 h 1605100"/>
            </a:gdLst>
            <a:ahLst/>
            <a:cxnLst>
              <a:cxn ang="0">
                <a:pos x="connsiteX0" y="connsiteY0"/>
              </a:cxn>
              <a:cxn ang="0">
                <a:pos x="connsiteX1" y="connsiteY1"/>
              </a:cxn>
            </a:cxnLst>
            <a:rect l="l" t="t" r="r" b="b"/>
            <a:pathLst>
              <a:path w="1399484" h="1605100">
                <a:moveTo>
                  <a:pt x="1399484" y="0"/>
                </a:moveTo>
                <a:cubicBezTo>
                  <a:pt x="907402" y="211409"/>
                  <a:pt x="10239" y="952122"/>
                  <a:pt x="0" y="1605100"/>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9" name="极点2">
            <a:extLst>
              <a:ext uri="{FF2B5EF4-FFF2-40B4-BE49-F238E27FC236}">
                <a16:creationId xmlns:a16="http://schemas.microsoft.com/office/drawing/2014/main" id="{F58CA829-ED87-2E47-3913-AC6DBF23777A}"/>
              </a:ext>
            </a:extLst>
          </p:cNvPr>
          <p:cNvSpPr/>
          <p:nvPr/>
        </p:nvSpPr>
        <p:spPr>
          <a:xfrm>
            <a:off x="8193811" y="1983007"/>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50" name="极点2">
            <a:extLst>
              <a:ext uri="{FF2B5EF4-FFF2-40B4-BE49-F238E27FC236}">
                <a16:creationId xmlns:a16="http://schemas.microsoft.com/office/drawing/2014/main" id="{6096382F-6584-F0FA-3200-7F8ADB5EC42C}"/>
              </a:ext>
            </a:extLst>
          </p:cNvPr>
          <p:cNvSpPr/>
          <p:nvPr/>
        </p:nvSpPr>
        <p:spPr>
          <a:xfrm>
            <a:off x="7382454" y="198884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51" name="wc1">
                <a:extLst>
                  <a:ext uri="{FF2B5EF4-FFF2-40B4-BE49-F238E27FC236}">
                    <a16:creationId xmlns:a16="http://schemas.microsoft.com/office/drawing/2014/main" id="{DE58D6FE-C9B8-2CC8-6742-1E13622397C8}"/>
                  </a:ext>
                </a:extLst>
              </p:cNvPr>
              <p:cNvSpPr txBox="1"/>
              <p:nvPr/>
            </p:nvSpPr>
            <p:spPr>
              <a:xfrm>
                <a:off x="7251105" y="2298605"/>
                <a:ext cx="550730" cy="771237"/>
              </a:xfrm>
              <a:prstGeom prst="rect">
                <a:avLst/>
              </a:prstGeom>
              <a:noFill/>
            </p:spPr>
            <p:txBody>
              <a:bodyPr wrap="square">
                <a:spAutoFit/>
              </a:bodyPr>
              <a:lstStyle/>
              <a:p>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2</m:t>
                            </m:r>
                          </m:sub>
                        </m:sSub>
                      </m:den>
                    </m:f>
                  </m:oMath>
                </a14:m>
                <a:r>
                  <a:rPr lang="zh-CN" altLang="en-US" sz="2800" dirty="0"/>
                  <a:t> </a:t>
                </a:r>
              </a:p>
            </p:txBody>
          </p:sp>
        </mc:Choice>
        <mc:Fallback xmlns="">
          <p:sp>
            <p:nvSpPr>
              <p:cNvPr id="51" name="wc1">
                <a:extLst>
                  <a:ext uri="{FF2B5EF4-FFF2-40B4-BE49-F238E27FC236}">
                    <a16:creationId xmlns:a16="http://schemas.microsoft.com/office/drawing/2014/main" id="{DE58D6FE-C9B8-2CC8-6742-1E13622397C8}"/>
                  </a:ext>
                </a:extLst>
              </p:cNvPr>
              <p:cNvSpPr txBox="1">
                <a:spLocks noRot="1" noChangeAspect="1" noMove="1" noResize="1" noEditPoints="1" noAdjustHandles="1" noChangeArrowheads="1" noChangeShapeType="1" noTextEdit="1"/>
              </p:cNvSpPr>
              <p:nvPr/>
            </p:nvSpPr>
            <p:spPr>
              <a:xfrm>
                <a:off x="7251105" y="2298605"/>
                <a:ext cx="550730" cy="77123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wc1">
                <a:extLst>
                  <a:ext uri="{FF2B5EF4-FFF2-40B4-BE49-F238E27FC236}">
                    <a16:creationId xmlns:a16="http://schemas.microsoft.com/office/drawing/2014/main" id="{8807EC45-55CA-0441-5AB6-24170DD3BBF5}"/>
                  </a:ext>
                </a:extLst>
              </p:cNvPr>
              <p:cNvSpPr txBox="1"/>
              <p:nvPr/>
            </p:nvSpPr>
            <p:spPr>
              <a:xfrm>
                <a:off x="8053000" y="2298606"/>
                <a:ext cx="550730" cy="771237"/>
              </a:xfrm>
              <a:prstGeom prst="rect">
                <a:avLst/>
              </a:prstGeom>
              <a:noFill/>
            </p:spPr>
            <p:txBody>
              <a:bodyPr wrap="square">
                <a:spAutoFit/>
              </a:bodyPr>
              <a:lstStyle/>
              <a:p>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1</m:t>
                            </m:r>
                          </m:sub>
                        </m:sSub>
                      </m:den>
                    </m:f>
                  </m:oMath>
                </a14:m>
                <a:r>
                  <a:rPr lang="zh-CN" altLang="en-US" sz="2800" dirty="0"/>
                  <a:t> </a:t>
                </a:r>
              </a:p>
            </p:txBody>
          </p:sp>
        </mc:Choice>
        <mc:Fallback xmlns="">
          <p:sp>
            <p:nvSpPr>
              <p:cNvPr id="52" name="wc1">
                <a:extLst>
                  <a:ext uri="{FF2B5EF4-FFF2-40B4-BE49-F238E27FC236}">
                    <a16:creationId xmlns:a16="http://schemas.microsoft.com/office/drawing/2014/main" id="{8807EC45-55CA-0441-5AB6-24170DD3BBF5}"/>
                  </a:ext>
                </a:extLst>
              </p:cNvPr>
              <p:cNvSpPr txBox="1">
                <a:spLocks noRot="1" noChangeAspect="1" noMove="1" noResize="1" noEditPoints="1" noAdjustHandles="1" noChangeArrowheads="1" noChangeShapeType="1" noTextEdit="1"/>
              </p:cNvSpPr>
              <p:nvPr/>
            </p:nvSpPr>
            <p:spPr>
              <a:xfrm>
                <a:off x="8053000" y="2298606"/>
                <a:ext cx="550730" cy="771237"/>
              </a:xfrm>
              <a:prstGeom prst="rect">
                <a:avLst/>
              </a:prstGeom>
              <a:blipFill>
                <a:blip r:embed="rId14"/>
                <a:stretch>
                  <a:fillRect/>
                </a:stretch>
              </a:blipFill>
            </p:spPr>
            <p:txBody>
              <a:bodyPr/>
              <a:lstStyle/>
              <a:p>
                <a:r>
                  <a:rPr lang="zh-CN" altLang="en-US">
                    <a:noFill/>
                  </a:rPr>
                  <a:t> </a:t>
                </a:r>
              </a:p>
            </p:txBody>
          </p:sp>
        </mc:Fallback>
      </mc:AlternateContent>
      <p:cxnSp>
        <p:nvCxnSpPr>
          <p:cNvPr id="2" name="直线连接符 1">
            <a:extLst>
              <a:ext uri="{FF2B5EF4-FFF2-40B4-BE49-F238E27FC236}">
                <a16:creationId xmlns:a16="http://schemas.microsoft.com/office/drawing/2014/main" id="{93F58A2A-8A18-73D5-8BB3-A62FC24CB59F}"/>
              </a:ext>
            </a:extLst>
          </p:cNvPr>
          <p:cNvCxnSpPr/>
          <p:nvPr/>
        </p:nvCxnSpPr>
        <p:spPr>
          <a:xfrm>
            <a:off x="8301032" y="2133603"/>
            <a:ext cx="720080" cy="0"/>
          </a:xfrm>
          <a:prstGeom prst="line">
            <a:avLst/>
          </a:prstGeom>
          <a:ln w="38100">
            <a:solidFill>
              <a:srgbClr val="E44860"/>
            </a:solidFill>
            <a:tailEnd type="none"/>
          </a:ln>
        </p:spPr>
        <p:style>
          <a:lnRef idx="1">
            <a:schemeClr val="accent1"/>
          </a:lnRef>
          <a:fillRef idx="0">
            <a:schemeClr val="accent1"/>
          </a:fillRef>
          <a:effectRef idx="0">
            <a:schemeClr val="accent1"/>
          </a:effectRef>
          <a:fontRef idx="minor">
            <a:schemeClr val="tx1"/>
          </a:fontRef>
        </p:style>
      </p:cxnSp>
      <p:cxnSp>
        <p:nvCxnSpPr>
          <p:cNvPr id="4" name="直线连接符 3">
            <a:extLst>
              <a:ext uri="{FF2B5EF4-FFF2-40B4-BE49-F238E27FC236}">
                <a16:creationId xmlns:a16="http://schemas.microsoft.com/office/drawing/2014/main" id="{DD4D3963-B3E2-11DC-4BBC-F6CBAF7D34DB}"/>
              </a:ext>
            </a:extLst>
          </p:cNvPr>
          <p:cNvCxnSpPr/>
          <p:nvPr/>
        </p:nvCxnSpPr>
        <p:spPr>
          <a:xfrm>
            <a:off x="6806390" y="2133603"/>
            <a:ext cx="720080" cy="0"/>
          </a:xfrm>
          <a:prstGeom prst="line">
            <a:avLst/>
          </a:prstGeom>
          <a:ln w="38100">
            <a:solidFill>
              <a:srgbClr val="E4486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6CAD9050-4BD6-BDC4-E320-2665FA60B18F}"/>
              </a:ext>
            </a:extLst>
          </p:cNvPr>
          <p:cNvGrpSpPr/>
          <p:nvPr/>
        </p:nvGrpSpPr>
        <p:grpSpPr>
          <a:xfrm>
            <a:off x="8222608" y="4794454"/>
            <a:ext cx="2555382" cy="1807347"/>
            <a:chOff x="8222608" y="4794454"/>
            <a:chExt cx="2555382" cy="1807347"/>
          </a:xfrm>
        </p:grpSpPr>
        <p:sp>
          <p:nvSpPr>
            <p:cNvPr id="21" name="幅相">
              <a:extLst>
                <a:ext uri="{FF2B5EF4-FFF2-40B4-BE49-F238E27FC236}">
                  <a16:creationId xmlns:a16="http://schemas.microsoft.com/office/drawing/2014/main" id="{15BD82C5-FB00-EA74-577A-2E2FF7699D1D}"/>
                </a:ext>
              </a:extLst>
            </p:cNvPr>
            <p:cNvSpPr/>
            <p:nvPr/>
          </p:nvSpPr>
          <p:spPr>
            <a:xfrm>
              <a:off x="8236351" y="4794454"/>
              <a:ext cx="777753" cy="166044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Lst>
              <a:ahLst/>
              <a:cxnLst>
                <a:cxn ang="0">
                  <a:pos x="connsiteX0" y="connsiteY0"/>
                </a:cxn>
                <a:cxn ang="0">
                  <a:pos x="connsiteX1" y="connsiteY1"/>
                </a:cxn>
              </a:cxnLst>
              <a:rect l="l" t="t" r="r" b="b"/>
              <a:pathLst>
                <a:path w="573284" h="2053774">
                  <a:moveTo>
                    <a:pt x="573284" y="314901"/>
                  </a:moveTo>
                  <a:cubicBezTo>
                    <a:pt x="356602" y="-847927"/>
                    <a:pt x="31983" y="1546735"/>
                    <a:pt x="0" y="2053774"/>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 name="幅相">
              <a:extLst>
                <a:ext uri="{FF2B5EF4-FFF2-40B4-BE49-F238E27FC236}">
                  <a16:creationId xmlns:a16="http://schemas.microsoft.com/office/drawing/2014/main" id="{4FFE3FB7-4FDA-2EDB-42D4-F10B5C7D2F62}"/>
                </a:ext>
              </a:extLst>
            </p:cNvPr>
            <p:cNvSpPr/>
            <p:nvPr/>
          </p:nvSpPr>
          <p:spPr>
            <a:xfrm>
              <a:off x="8222608" y="5043964"/>
              <a:ext cx="2555382" cy="1557837"/>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68285 w 192719"/>
                <a:gd name="connsiteY0" fmla="*/ 575980 h 794680"/>
                <a:gd name="connsiteX1" fmla="*/ 190749 w 192719"/>
                <a:gd name="connsiteY1" fmla="*/ 794680 h 794680"/>
                <a:gd name="connsiteX0" fmla="*/ 15467 w 1899401"/>
                <a:gd name="connsiteY0" fmla="*/ 1845104 h 1845105"/>
                <a:gd name="connsiteX1" fmla="*/ 1899044 w 1899401"/>
                <a:gd name="connsiteY1" fmla="*/ 130146 h 1845105"/>
                <a:gd name="connsiteX0" fmla="*/ 18668 w 1902245"/>
                <a:gd name="connsiteY0" fmla="*/ 1714958 h 1714957"/>
                <a:gd name="connsiteX1" fmla="*/ 1902245 w 1902245"/>
                <a:gd name="connsiteY1" fmla="*/ 0 h 1714957"/>
                <a:gd name="connsiteX0" fmla="*/ 0 w 1883577"/>
                <a:gd name="connsiteY0" fmla="*/ 1714958 h 1926865"/>
                <a:gd name="connsiteX1" fmla="*/ 1883577 w 1883577"/>
                <a:gd name="connsiteY1" fmla="*/ 0 h 1926865"/>
              </a:gdLst>
              <a:ahLst/>
              <a:cxnLst>
                <a:cxn ang="0">
                  <a:pos x="connsiteX0" y="connsiteY0"/>
                </a:cxn>
                <a:cxn ang="0">
                  <a:pos x="connsiteX1" y="connsiteY1"/>
                </a:cxn>
              </a:cxnLst>
              <a:rect l="l" t="t" r="r" b="b"/>
              <a:pathLst>
                <a:path w="1883577" h="1926865">
                  <a:moveTo>
                    <a:pt x="0" y="1714958"/>
                  </a:moveTo>
                  <a:cubicBezTo>
                    <a:pt x="319623" y="1707461"/>
                    <a:pt x="1516954" y="2825177"/>
                    <a:pt x="1883577" y="0"/>
                  </a:cubicBezTo>
                </a:path>
              </a:pathLst>
            </a:custGeom>
            <a:noFill/>
            <a:ln w="38100">
              <a:solidFill>
                <a:srgbClr val="E44860"/>
              </a:solidFill>
              <a:prstDash val="sysDot"/>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Tree>
    <p:extLst>
      <p:ext uri="{BB962C8B-B14F-4D97-AF65-F5344CB8AC3E}">
        <p14:creationId xmlns:p14="http://schemas.microsoft.com/office/powerpoint/2010/main" val="4198152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heel(1)">
                                      <p:cBhvr>
                                        <p:cTn id="27" dur="20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animBg="1"/>
      <p:bldP spid="3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对数稳定判据</a:t>
            </a:r>
          </a:p>
        </p:txBody>
      </p:sp>
      <mc:AlternateContent xmlns:mc="http://schemas.openxmlformats.org/markup-compatibility/2006" xmlns:a14="http://schemas.microsoft.com/office/drawing/2010/main">
        <mc:Choice Requires="a14">
          <p:sp>
            <p:nvSpPr>
              <p:cNvPr id="14" name="wc1">
                <a:extLst>
                  <a:ext uri="{FF2B5EF4-FFF2-40B4-BE49-F238E27FC236}">
                    <a16:creationId xmlns:a16="http://schemas.microsoft.com/office/drawing/2014/main" id="{7528208B-CE6A-CD93-65C5-65475B39C6B0}"/>
                  </a:ext>
                </a:extLst>
              </p:cNvPr>
              <p:cNvSpPr txBox="1"/>
              <p:nvPr/>
            </p:nvSpPr>
            <p:spPr>
              <a:xfrm>
                <a:off x="7936603" y="2950628"/>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14" name="wc1">
                <a:extLst>
                  <a:ext uri="{FF2B5EF4-FFF2-40B4-BE49-F238E27FC236}">
                    <a16:creationId xmlns:a16="http://schemas.microsoft.com/office/drawing/2014/main" id="{7528208B-CE6A-CD93-65C5-65475B39C6B0}"/>
                  </a:ext>
                </a:extLst>
              </p:cNvPr>
              <p:cNvSpPr txBox="1">
                <a:spLocks noRot="1" noChangeAspect="1" noMove="1" noResize="1" noEditPoints="1" noAdjustHandles="1" noChangeArrowheads="1" noChangeShapeType="1" noTextEdit="1"/>
              </p:cNvSpPr>
              <p:nvPr/>
            </p:nvSpPr>
            <p:spPr>
              <a:xfrm>
                <a:off x="7936603" y="2950628"/>
                <a:ext cx="414004" cy="524695"/>
              </a:xfrm>
              <a:prstGeom prst="rect">
                <a:avLst/>
              </a:prstGeom>
              <a:blipFill>
                <a:blip r:embed="rId3"/>
                <a:stretch>
                  <a:fillRect l="-2941" r="-2941"/>
                </a:stretch>
              </a:blipFill>
            </p:spPr>
            <p:txBody>
              <a:bodyPr/>
              <a:lstStyle/>
              <a:p>
                <a:r>
                  <a:rPr lang="zh-CN" altLang="en-US">
                    <a:noFill/>
                  </a:rPr>
                  <a:t> </a:t>
                </a:r>
              </a:p>
            </p:txBody>
          </p:sp>
        </mc:Fallback>
      </mc:AlternateContent>
      <p:grpSp>
        <p:nvGrpSpPr>
          <p:cNvPr id="15" name="坐标轴">
            <a:extLst>
              <a:ext uri="{FF2B5EF4-FFF2-40B4-BE49-F238E27FC236}">
                <a16:creationId xmlns:a16="http://schemas.microsoft.com/office/drawing/2014/main" id="{BD887A8C-7341-D0C9-2BA9-41C8559A4F72}"/>
              </a:ext>
            </a:extLst>
          </p:cNvPr>
          <p:cNvGrpSpPr/>
          <p:nvPr/>
        </p:nvGrpSpPr>
        <p:grpSpPr>
          <a:xfrm>
            <a:off x="8372677" y="2108286"/>
            <a:ext cx="3699193" cy="1829474"/>
            <a:chOff x="8500451" y="2991460"/>
            <a:chExt cx="3699193" cy="1829474"/>
          </a:xfrm>
        </p:grpSpPr>
        <p:cxnSp>
          <p:nvCxnSpPr>
            <p:cNvPr id="16" name="实轴">
              <a:extLst>
                <a:ext uri="{FF2B5EF4-FFF2-40B4-BE49-F238E27FC236}">
                  <a16:creationId xmlns:a16="http://schemas.microsoft.com/office/drawing/2014/main" id="{6993CCCD-5E0D-98EC-1A5A-4524954F4B1F}"/>
                </a:ext>
              </a:extLst>
            </p:cNvPr>
            <p:cNvCxnSpPr>
              <a:cxnSpLocks/>
            </p:cNvCxnSpPr>
            <p:nvPr/>
          </p:nvCxnSpPr>
          <p:spPr>
            <a:xfrm flipH="1">
              <a:off x="8500451" y="4096150"/>
              <a:ext cx="3315576"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虚轴">
              <a:extLst>
                <a:ext uri="{FF2B5EF4-FFF2-40B4-BE49-F238E27FC236}">
                  <a16:creationId xmlns:a16="http://schemas.microsoft.com/office/drawing/2014/main" id="{07843F92-322E-E34B-3669-5CE24B552BA9}"/>
                </a:ext>
              </a:extLst>
            </p:cNvPr>
            <p:cNvCxnSpPr>
              <a:cxnSpLocks/>
            </p:cNvCxnSpPr>
            <p:nvPr/>
          </p:nvCxnSpPr>
          <p:spPr>
            <a:xfrm flipV="1">
              <a:off x="8500451" y="3069545"/>
              <a:ext cx="0" cy="1751389"/>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
                  <a:extLst>
                    <a:ext uri="{FF2B5EF4-FFF2-40B4-BE49-F238E27FC236}">
                      <a16:creationId xmlns:a16="http://schemas.microsoft.com/office/drawing/2014/main" id="{82587D05-6AF0-E381-3141-53F1FDA8602A}"/>
                    </a:ext>
                  </a:extLst>
                </p:cNvPr>
                <p:cNvSpPr txBox="1"/>
                <p:nvPr/>
              </p:nvSpPr>
              <p:spPr>
                <a:xfrm>
                  <a:off x="11623108" y="3581894"/>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𝜔</m:t>
                        </m:r>
                      </m:oMath>
                    </m:oMathPara>
                  </a14:m>
                  <a:endParaRPr lang="zh-CN" altLang="en-US" sz="2800" dirty="0"/>
                </a:p>
              </p:txBody>
            </p:sp>
          </mc:Choice>
          <mc:Fallback xmlns="">
            <p:sp>
              <p:nvSpPr>
                <p:cNvPr id="18" name="Re">
                  <a:extLst>
                    <a:ext uri="{FF2B5EF4-FFF2-40B4-BE49-F238E27FC236}">
                      <a16:creationId xmlns:a16="http://schemas.microsoft.com/office/drawing/2014/main" id="{82587D05-6AF0-E381-3141-53F1FDA8602A}"/>
                    </a:ext>
                  </a:extLst>
                </p:cNvPr>
                <p:cNvSpPr txBox="1">
                  <a:spLocks noRot="1" noChangeAspect="1" noMove="1" noResize="1" noEditPoints="1" noAdjustHandles="1" noChangeArrowheads="1" noChangeShapeType="1" noTextEdit="1"/>
                </p:cNvSpPr>
                <p:nvPr/>
              </p:nvSpPr>
              <p:spPr>
                <a:xfrm>
                  <a:off x="11623108" y="3581894"/>
                  <a:ext cx="576536"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Im">
                  <a:extLst>
                    <a:ext uri="{FF2B5EF4-FFF2-40B4-BE49-F238E27FC236}">
                      <a16:creationId xmlns:a16="http://schemas.microsoft.com/office/drawing/2014/main" id="{EA544022-33A1-2124-A7FC-7B82910C5DFB}"/>
                    </a:ext>
                  </a:extLst>
                </p:cNvPr>
                <p:cNvSpPr txBox="1"/>
                <p:nvPr/>
              </p:nvSpPr>
              <p:spPr>
                <a:xfrm>
                  <a:off x="8571060" y="2991460"/>
                  <a:ext cx="1466535" cy="523220"/>
                </a:xfrm>
                <a:prstGeom prst="rect">
                  <a:avLst/>
                </a:prstGeom>
                <a:noFill/>
              </p:spPr>
              <p:txBody>
                <a:bodyPr wrap="square">
                  <a:spAutoFit/>
                </a:bodyPr>
                <a:lstStyle/>
                <a:p>
                  <a14:m>
                    <m:oMath xmlns:m="http://schemas.openxmlformats.org/officeDocument/2006/math">
                      <m:r>
                        <a:rPr lang="en-US" altLang="zh-CN" sz="2800" b="0" i="1" smtClean="0">
                          <a:latin typeface="Cambria Math" panose="02040503050406030204" pitchFamily="18" charset="0"/>
                        </a:rPr>
                        <m:t>𝐿</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𝜔</m:t>
                          </m:r>
                        </m:e>
                      </m:d>
                    </m:oMath>
                  </a14:m>
                  <a:r>
                    <a:rPr lang="en-US" altLang="zh-CN" sz="2800" dirty="0"/>
                    <a:t>dB</a:t>
                  </a:r>
                  <a:endParaRPr lang="zh-CN" altLang="en-US" sz="2800" dirty="0"/>
                </a:p>
              </p:txBody>
            </p:sp>
          </mc:Choice>
          <mc:Fallback xmlns="">
            <p:sp>
              <p:nvSpPr>
                <p:cNvPr id="19" name="Im">
                  <a:extLst>
                    <a:ext uri="{FF2B5EF4-FFF2-40B4-BE49-F238E27FC236}">
                      <a16:creationId xmlns:a16="http://schemas.microsoft.com/office/drawing/2014/main" id="{EA544022-33A1-2124-A7FC-7B82910C5DFB}"/>
                    </a:ext>
                  </a:extLst>
                </p:cNvPr>
                <p:cNvSpPr txBox="1">
                  <a:spLocks noRot="1" noChangeAspect="1" noMove="1" noResize="1" noEditPoints="1" noAdjustHandles="1" noChangeArrowheads="1" noChangeShapeType="1" noTextEdit="1"/>
                </p:cNvSpPr>
                <p:nvPr/>
              </p:nvSpPr>
              <p:spPr>
                <a:xfrm>
                  <a:off x="8571060" y="2991460"/>
                  <a:ext cx="1466535" cy="523220"/>
                </a:xfrm>
                <a:prstGeom prst="rect">
                  <a:avLst/>
                </a:prstGeom>
                <a:blipFill>
                  <a:blip r:embed="rId5"/>
                  <a:stretch>
                    <a:fillRect l="-1709" t="-14286" b="-28571"/>
                  </a:stretch>
                </a:blipFill>
              </p:spPr>
              <p:txBody>
                <a:bodyPr/>
                <a:lstStyle/>
                <a:p>
                  <a:r>
                    <a:rPr lang="zh-CN" altLang="en-US">
                      <a:noFill/>
                    </a:rPr>
                    <a:t> </a:t>
                  </a:r>
                </a:p>
              </p:txBody>
            </p:sp>
          </mc:Fallback>
        </mc:AlternateContent>
      </p:grpSp>
      <p:sp>
        <p:nvSpPr>
          <p:cNvPr id="21" name="幅相">
            <a:extLst>
              <a:ext uri="{FF2B5EF4-FFF2-40B4-BE49-F238E27FC236}">
                <a16:creationId xmlns:a16="http://schemas.microsoft.com/office/drawing/2014/main" id="{15BD82C5-FB00-EA74-577A-2E2FF7699D1D}"/>
              </a:ext>
            </a:extLst>
          </p:cNvPr>
          <p:cNvSpPr/>
          <p:nvPr/>
        </p:nvSpPr>
        <p:spPr>
          <a:xfrm>
            <a:off x="8704433" y="2680178"/>
            <a:ext cx="2124772" cy="1111210"/>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776211 w 776211"/>
              <a:gd name="connsiteY0" fmla="*/ 732888 h 732888"/>
              <a:gd name="connsiteX1" fmla="*/ 0 w 776211"/>
              <a:gd name="connsiteY1" fmla="*/ 525941 h 732888"/>
              <a:gd name="connsiteX0" fmla="*/ 776211 w 776211"/>
              <a:gd name="connsiteY0" fmla="*/ 569097 h 569097"/>
              <a:gd name="connsiteX1" fmla="*/ 0 w 776211"/>
              <a:gd name="connsiteY1" fmla="*/ 362150 h 569097"/>
              <a:gd name="connsiteX0" fmla="*/ 834190 w 834190"/>
              <a:gd name="connsiteY0" fmla="*/ 597130 h 597130"/>
              <a:gd name="connsiteX1" fmla="*/ 0 w 834190"/>
              <a:gd name="connsiteY1" fmla="*/ 305053 h 597130"/>
              <a:gd name="connsiteX0" fmla="*/ 1515444 w 1515444"/>
              <a:gd name="connsiteY0" fmla="*/ 1508215 h 1508215"/>
              <a:gd name="connsiteX1" fmla="*/ 0 w 1515444"/>
              <a:gd name="connsiteY1" fmla="*/ 0 h 1508215"/>
              <a:gd name="connsiteX0" fmla="*/ 1515444 w 1515444"/>
              <a:gd name="connsiteY0" fmla="*/ 1508215 h 1508215"/>
              <a:gd name="connsiteX1" fmla="*/ 0 w 1515444"/>
              <a:gd name="connsiteY1" fmla="*/ 0 h 1508215"/>
              <a:gd name="connsiteX0" fmla="*/ 1566176 w 1566176"/>
              <a:gd name="connsiteY0" fmla="*/ 1374440 h 1374440"/>
              <a:gd name="connsiteX1" fmla="*/ 0 w 1566176"/>
              <a:gd name="connsiteY1" fmla="*/ 0 h 1374440"/>
            </a:gdLst>
            <a:ahLst/>
            <a:cxnLst>
              <a:cxn ang="0">
                <a:pos x="connsiteX0" y="connsiteY0"/>
              </a:cxn>
              <a:cxn ang="0">
                <a:pos x="connsiteX1" y="connsiteY1"/>
              </a:cxn>
            </a:cxnLst>
            <a:rect l="l" t="t" r="r" b="b"/>
            <a:pathLst>
              <a:path w="1566176" h="1374440">
                <a:moveTo>
                  <a:pt x="1566176" y="1374440"/>
                </a:moveTo>
                <a:cubicBezTo>
                  <a:pt x="1110331" y="65675"/>
                  <a:pt x="394352" y="28061"/>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27" name="label2">
                <a:extLst>
                  <a:ext uri="{FF2B5EF4-FFF2-40B4-BE49-F238E27FC236}">
                    <a16:creationId xmlns:a16="http://schemas.microsoft.com/office/drawing/2014/main" id="{C5AF4E69-CB49-3CDD-5BAD-995E1B916267}"/>
                  </a:ext>
                </a:extLst>
              </p:cNvPr>
              <p:cNvSpPr txBox="1"/>
              <p:nvPr/>
            </p:nvSpPr>
            <p:spPr>
              <a:xfrm>
                <a:off x="8405785" y="5355161"/>
                <a:ext cx="59729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27" name="label2">
                <a:extLst>
                  <a:ext uri="{FF2B5EF4-FFF2-40B4-BE49-F238E27FC236}">
                    <a16:creationId xmlns:a16="http://schemas.microsoft.com/office/drawing/2014/main" id="{C5AF4E69-CB49-3CDD-5BAD-995E1B916267}"/>
                  </a:ext>
                </a:extLst>
              </p:cNvPr>
              <p:cNvSpPr txBox="1">
                <a:spLocks noRot="1" noChangeAspect="1" noMove="1" noResize="1" noEditPoints="1" noAdjustHandles="1" noChangeArrowheads="1" noChangeShapeType="1" noTextEdit="1"/>
              </p:cNvSpPr>
              <p:nvPr/>
            </p:nvSpPr>
            <p:spPr>
              <a:xfrm>
                <a:off x="8405785" y="5355161"/>
                <a:ext cx="597296" cy="523220"/>
              </a:xfrm>
              <a:prstGeom prst="rect">
                <a:avLst/>
              </a:prstGeom>
              <a:blipFill>
                <a:blip r:embed="rId6"/>
                <a:stretch>
                  <a:fillRect/>
                </a:stretch>
              </a:blipFill>
            </p:spPr>
            <p:txBody>
              <a:bodyPr/>
              <a:lstStyle/>
              <a:p>
                <a:r>
                  <a:rPr lang="zh-CN" altLang="en-US">
                    <a:noFill/>
                  </a:rPr>
                  <a:t> </a:t>
                </a:r>
              </a:p>
            </p:txBody>
          </p:sp>
        </mc:Fallback>
      </mc:AlternateContent>
      <p:sp>
        <p:nvSpPr>
          <p:cNvPr id="31" name="幅相">
            <a:extLst>
              <a:ext uri="{FF2B5EF4-FFF2-40B4-BE49-F238E27FC236}">
                <a16:creationId xmlns:a16="http://schemas.microsoft.com/office/drawing/2014/main" id="{B5B17A8D-B6CE-1CAE-F71A-47EFF1858E2A}"/>
              </a:ext>
            </a:extLst>
          </p:cNvPr>
          <p:cNvSpPr/>
          <p:nvPr/>
        </p:nvSpPr>
        <p:spPr>
          <a:xfrm>
            <a:off x="8652201" y="5164583"/>
            <a:ext cx="2223092" cy="6785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145629 w 1398686"/>
              <a:gd name="connsiteY0" fmla="*/ 338080 h 1052732"/>
              <a:gd name="connsiteX1" fmla="*/ 1398685 w 1398686"/>
              <a:gd name="connsiteY1" fmla="*/ 386522 h 1052732"/>
              <a:gd name="connsiteX0" fmla="*/ 525041 w 1778098"/>
              <a:gd name="connsiteY0" fmla="*/ 258898 h 1547582"/>
              <a:gd name="connsiteX1" fmla="*/ 1778097 w 1778098"/>
              <a:gd name="connsiteY1" fmla="*/ 307340 h 1547582"/>
              <a:gd name="connsiteX0" fmla="*/ 845895 w 2098951"/>
              <a:gd name="connsiteY0" fmla="*/ 397422 h 1619227"/>
              <a:gd name="connsiteX1" fmla="*/ 2098951 w 2098951"/>
              <a:gd name="connsiteY1" fmla="*/ 445864 h 1619227"/>
              <a:gd name="connsiteX0" fmla="*/ 917898 w 2170954"/>
              <a:gd name="connsiteY0" fmla="*/ 323146 h 2182972"/>
              <a:gd name="connsiteX1" fmla="*/ 2170954 w 2170954"/>
              <a:gd name="connsiteY1" fmla="*/ 371588 h 2182972"/>
              <a:gd name="connsiteX0" fmla="*/ 650184 w 1903240"/>
              <a:gd name="connsiteY0" fmla="*/ 345438 h 1984175"/>
              <a:gd name="connsiteX1" fmla="*/ 1903240 w 1903240"/>
              <a:gd name="connsiteY1" fmla="*/ 393880 h 1984175"/>
              <a:gd name="connsiteX0" fmla="*/ 695090 w 1948146"/>
              <a:gd name="connsiteY0" fmla="*/ 640709 h 2146334"/>
              <a:gd name="connsiteX1" fmla="*/ 1948146 w 1948146"/>
              <a:gd name="connsiteY1" fmla="*/ 689151 h 2146334"/>
              <a:gd name="connsiteX0" fmla="*/ 1636927 w 1636927"/>
              <a:gd name="connsiteY0" fmla="*/ 581390 h 2830622"/>
              <a:gd name="connsiteX1" fmla="*/ 991170 w 1636927"/>
              <a:gd name="connsiteY1" fmla="*/ 1493289 h 2830622"/>
              <a:gd name="connsiteX0" fmla="*/ 824302 w 824302"/>
              <a:gd name="connsiteY0" fmla="*/ 1070631 h 1982531"/>
              <a:gd name="connsiteX1" fmla="*/ 178545 w 824302"/>
              <a:gd name="connsiteY1" fmla="*/ 1982530 h 1982531"/>
              <a:gd name="connsiteX0" fmla="*/ 1115345 w 1115345"/>
              <a:gd name="connsiteY0" fmla="*/ 928470 h 2655180"/>
              <a:gd name="connsiteX1" fmla="*/ 20250 w 1115345"/>
              <a:gd name="connsiteY1" fmla="*/ 2655181 h 2655180"/>
              <a:gd name="connsiteX0" fmla="*/ 1095095 w 1095095"/>
              <a:gd name="connsiteY0" fmla="*/ 988090 h 2714802"/>
              <a:gd name="connsiteX1" fmla="*/ 0 w 1095095"/>
              <a:gd name="connsiteY1" fmla="*/ 2714801 h 2714802"/>
              <a:gd name="connsiteX0" fmla="*/ 1095095 w 1095095"/>
              <a:gd name="connsiteY0" fmla="*/ 658667 h 2385377"/>
              <a:gd name="connsiteX1" fmla="*/ 0 w 1095095"/>
              <a:gd name="connsiteY1" fmla="*/ 2385378 h 2385377"/>
              <a:gd name="connsiteX0" fmla="*/ 1587917 w 1587917"/>
              <a:gd name="connsiteY0" fmla="*/ 801337 h 1725396"/>
              <a:gd name="connsiteX1" fmla="*/ 0 w 1587917"/>
              <a:gd name="connsiteY1" fmla="*/ 1725396 h 1725396"/>
              <a:gd name="connsiteX0" fmla="*/ 1442969 w 1442969"/>
              <a:gd name="connsiteY0" fmla="*/ 1260323 h 1260323"/>
              <a:gd name="connsiteX1" fmla="*/ 0 w 1442969"/>
              <a:gd name="connsiteY1" fmla="*/ 761501 h 1260323"/>
              <a:gd name="connsiteX0" fmla="*/ 1442969 w 1442969"/>
              <a:gd name="connsiteY0" fmla="*/ 737597 h 737597"/>
              <a:gd name="connsiteX1" fmla="*/ 0 w 1442969"/>
              <a:gd name="connsiteY1" fmla="*/ 238775 h 737597"/>
              <a:gd name="connsiteX0" fmla="*/ 1638648 w 1638648"/>
              <a:gd name="connsiteY0" fmla="*/ 839340 h 839341"/>
              <a:gd name="connsiteX1" fmla="*/ 0 w 1638648"/>
              <a:gd name="connsiteY1" fmla="*/ 0 h 839341"/>
              <a:gd name="connsiteX0" fmla="*/ 1638648 w 1638648"/>
              <a:gd name="connsiteY0" fmla="*/ 947618 h 947618"/>
              <a:gd name="connsiteX1" fmla="*/ 0 w 1638648"/>
              <a:gd name="connsiteY1" fmla="*/ 108278 h 947618"/>
              <a:gd name="connsiteX0" fmla="*/ 1638648 w 1638648"/>
              <a:gd name="connsiteY0" fmla="*/ 839340 h 839340"/>
              <a:gd name="connsiteX1" fmla="*/ 0 w 1638648"/>
              <a:gd name="connsiteY1" fmla="*/ 0 h 839340"/>
            </a:gdLst>
            <a:ahLst/>
            <a:cxnLst>
              <a:cxn ang="0">
                <a:pos x="connsiteX0" y="connsiteY0"/>
              </a:cxn>
              <a:cxn ang="0">
                <a:pos x="connsiteX1" y="connsiteY1"/>
              </a:cxn>
            </a:cxnLst>
            <a:rect l="l" t="t" r="r" b="b"/>
            <a:pathLst>
              <a:path w="1638648" h="839340">
                <a:moveTo>
                  <a:pt x="1638648" y="839340"/>
                </a:moveTo>
                <a:cubicBezTo>
                  <a:pt x="892908" y="-1418014"/>
                  <a:pt x="604526" y="2095498"/>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5" name="说明3">
                <a:extLst>
                  <a:ext uri="{FF2B5EF4-FFF2-40B4-BE49-F238E27FC236}">
                    <a16:creationId xmlns:a16="http://schemas.microsoft.com/office/drawing/2014/main" id="{35E924AA-6834-17F4-4946-01AB8F56BCEC}"/>
                  </a:ext>
                </a:extLst>
              </p:cNvPr>
              <p:cNvSpPr txBox="1"/>
              <p:nvPr/>
            </p:nvSpPr>
            <p:spPr>
              <a:xfrm>
                <a:off x="5932135" y="224532"/>
                <a:ext cx="6258278"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𝑣</m:t>
                    </m:r>
                    <m:r>
                      <a:rPr kumimoji="1" lang="en-US" altLang="zh-CN" sz="2800" i="1" dirty="0" smtClean="0">
                        <a:solidFill>
                          <a:srgbClr val="2980B9"/>
                        </a:solidFill>
                        <a:latin typeface="Cambria Math" panose="02040503050406030204" pitchFamily="18" charset="0"/>
                        <a:ea typeface="Microsoft YaHei" panose="020B0503020204020204" pitchFamily="34" charset="-122"/>
                      </a:rPr>
                      <m: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时，</a:t>
                </a:r>
                <a:r>
                  <a:rPr kumimoji="1" lang="en-US" altLang="zh-CN" sz="2800" dirty="0">
                    <a:solidFill>
                      <a:srgbClr val="2980B9"/>
                    </a:solidFill>
                    <a:latin typeface="Microsoft YaHei" panose="020B0503020204020204" pitchFamily="34" charset="-122"/>
                    <a:ea typeface="Microsoft YaHei" panose="020B0503020204020204" pitchFamily="34" charset="-122"/>
                  </a:rPr>
                  <a:t>Bode</a:t>
                </a:r>
                <a:r>
                  <a:rPr kumimoji="1" lang="zh-CN" altLang="en-US" sz="2800" dirty="0">
                    <a:solidFill>
                      <a:srgbClr val="2980B9"/>
                    </a:solidFill>
                    <a:latin typeface="Microsoft YaHei" panose="020B0503020204020204" pitchFamily="34" charset="-122"/>
                    <a:ea typeface="Microsoft YaHei" panose="020B0503020204020204" pitchFamily="34" charset="-122"/>
                  </a:rPr>
                  <a:t>图不变；</a:t>
                </a:r>
                <a:endParaRPr kumimoji="1" lang="en-US" altLang="zh-CN" sz="2800" dirty="0">
                  <a:solidFill>
                    <a:srgbClr val="2980B9"/>
                  </a:solidFill>
                  <a:latin typeface="Microsoft YaHei" panose="020B0503020204020204" pitchFamily="34" charset="-122"/>
                  <a:ea typeface="Microsoft YaHei" panose="020B0503020204020204" pitchFamily="34" charset="-122"/>
                </a:endParaRPr>
              </a:p>
              <a:p>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𝑣</m:t>
                    </m:r>
                    <m:r>
                      <a:rPr kumimoji="1" lang="en-US" altLang="zh-CN" sz="2800" i="1" dirty="0" smtClean="0">
                        <a:solidFill>
                          <a:srgbClr val="2980B9"/>
                        </a:solidFill>
                        <a:latin typeface="Cambria Math" panose="02040503050406030204" pitchFamily="18" charset="0"/>
                        <a:ea typeface="Cambria Math" panose="02040503050406030204" pitchFamily="18" charset="0"/>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时，只要把相频曲线</a:t>
                </a:r>
                <a14:m>
                  <m:oMath xmlns:m="http://schemas.openxmlformats.org/officeDocument/2006/math">
                    <m:r>
                      <m:rPr>
                        <m:sty m:val="p"/>
                      </m:rPr>
                      <a:rPr kumimoji="1" lang="el-GR" altLang="zh-CN" sz="2800" i="1" dirty="0" smtClean="0">
                        <a:solidFill>
                          <a:srgbClr val="2980B9"/>
                        </a:solidFill>
                        <a:latin typeface="Cambria Math" panose="02040503050406030204" pitchFamily="18" charset="0"/>
                        <a:ea typeface="Cambria Math" panose="02040503050406030204" pitchFamily="18" charset="0"/>
                      </a:rPr>
                      <m:t>ψ</m:t>
                    </m:r>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Cambria Math" panose="02040503050406030204" pitchFamily="18" charset="0"/>
                      </a:rPr>
                      <m:t>𝜔</m:t>
                    </m:r>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的起点</a:t>
                </a:r>
                <a14:m>
                  <m:oMath xmlns:m="http://schemas.openxmlformats.org/officeDocument/2006/math">
                    <m:r>
                      <a:rPr kumimoji="1" lang="en-US" altLang="zh-CN" sz="2800" i="1" dirty="0">
                        <a:solidFill>
                          <a:srgbClr val="2980B9"/>
                        </a:solidFill>
                        <a:latin typeface="Cambria Math" panose="02040503050406030204" pitchFamily="18" charset="0"/>
                        <a:ea typeface="Cambria Math" panose="02040503050406030204" pitchFamily="18" charset="0"/>
                      </a:rPr>
                      <m:t>𝜔</m:t>
                    </m:r>
                    <m:r>
                      <a:rPr kumimoji="1" lang="en-US" altLang="zh-CN" sz="2800" i="1" dirty="0" smtClean="0">
                        <a:solidFill>
                          <a:srgbClr val="2980B9"/>
                        </a:solidFill>
                        <a:latin typeface="Cambria Math" panose="02040503050406030204" pitchFamily="18" charset="0"/>
                        <a:ea typeface="Cambria Math" panose="02040503050406030204" pitchFamily="18" charset="0"/>
                      </a:rPr>
                      <m:t>→</m:t>
                    </m:r>
                    <m:sSup>
                      <m:sSupPr>
                        <m:ctrlPr>
                          <a:rPr kumimoji="1" lang="en-US" altLang="zh-CN" sz="2800" b="0" i="1" dirty="0" smtClean="0">
                            <a:solidFill>
                              <a:srgbClr val="2980B9"/>
                            </a:solidFill>
                            <a:latin typeface="Cambria Math" panose="02040503050406030204" pitchFamily="18" charset="0"/>
                            <a:ea typeface="Microsoft YaHei" panose="020B0503020204020204" pitchFamily="34" charset="-122"/>
                          </a:rPr>
                        </m:ctrlPr>
                      </m:sSupPr>
                      <m:e>
                        <m:r>
                          <a:rPr kumimoji="1" lang="en-US" altLang="zh-CN" sz="2800" i="1" dirty="0" smtClean="0">
                            <a:solidFill>
                              <a:srgbClr val="2980B9"/>
                            </a:solidFill>
                            <a:latin typeface="Cambria Math" panose="02040503050406030204" pitchFamily="18" charset="0"/>
                            <a:ea typeface="Microsoft YaHei" panose="020B0503020204020204" pitchFamily="34" charset="-122"/>
                          </a:rPr>
                          <m:t>0</m:t>
                        </m:r>
                      </m:e>
                      <m:sup>
                        <m:r>
                          <a:rPr kumimoji="1" lang="en-US" altLang="zh-CN" sz="2800" b="0" i="1" dirty="0" smtClean="0">
                            <a:solidFill>
                              <a:srgbClr val="2980B9"/>
                            </a:solidFill>
                            <a:latin typeface="Cambria Math" panose="02040503050406030204" pitchFamily="18" charset="0"/>
                            <a:ea typeface="Microsoft YaHei" panose="020B0503020204020204" pitchFamily="34" charset="-122"/>
                          </a:rPr>
                          <m:t>+</m:t>
                        </m:r>
                      </m:sup>
                    </m:sSup>
                  </m:oMath>
                </a14:m>
                <a:r>
                  <a:rPr kumimoji="1" lang="zh-CN" altLang="en-US" sz="2800" dirty="0">
                    <a:solidFill>
                      <a:srgbClr val="2980B9"/>
                    </a:solidFill>
                    <a:latin typeface="Microsoft YaHei" panose="020B0503020204020204" pitchFamily="34" charset="-122"/>
                    <a:ea typeface="Microsoft YaHei" panose="020B0503020204020204" pitchFamily="34" charset="-122"/>
                  </a:rPr>
                  <a:t>向上抬升</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𝑣</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个</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90</m:t>
                    </m:r>
                    <m:r>
                      <a:rPr kumimoji="1" lang="en-US" altLang="zh-CN" sz="2800" i="1" dirty="0" smtClean="0">
                        <a:solidFill>
                          <a:srgbClr val="2980B9"/>
                        </a:solidFill>
                        <a:latin typeface="Cambria Math" panose="02040503050406030204" pitchFamily="18" charset="0"/>
                        <a:ea typeface="Cambria Math" panose="02040503050406030204" pitchFamily="18" charset="0"/>
                      </a:rPr>
                      <m:t>°</m:t>
                    </m:r>
                  </m:oMath>
                </a14:m>
                <a:endParaRPr kumimoji="1" lang="zh-CN" altLang="en-US" sz="2800" dirty="0">
                  <a:solidFill>
                    <a:srgbClr val="2980B9"/>
                  </a:solidFill>
                  <a:latin typeface="Microsoft YaHei" panose="020B0503020204020204" pitchFamily="34" charset="-122"/>
                  <a:ea typeface="Microsoft YaHei" panose="020B0503020204020204" pitchFamily="34" charset="-122"/>
                </a:endParaRPr>
              </a:p>
            </p:txBody>
          </p:sp>
        </mc:Choice>
        <mc:Fallback xmlns="">
          <p:sp>
            <p:nvSpPr>
              <p:cNvPr id="5" name="说明3">
                <a:extLst>
                  <a:ext uri="{FF2B5EF4-FFF2-40B4-BE49-F238E27FC236}">
                    <a16:creationId xmlns:a16="http://schemas.microsoft.com/office/drawing/2014/main" id="{35E924AA-6834-17F4-4946-01AB8F56BCEC}"/>
                  </a:ext>
                </a:extLst>
              </p:cNvPr>
              <p:cNvSpPr txBox="1">
                <a:spLocks noRot="1" noChangeAspect="1" noMove="1" noResize="1" noEditPoints="1" noAdjustHandles="1" noChangeArrowheads="1" noChangeShapeType="1" noTextEdit="1"/>
              </p:cNvSpPr>
              <p:nvPr/>
            </p:nvSpPr>
            <p:spPr>
              <a:xfrm>
                <a:off x="5932135" y="224532"/>
                <a:ext cx="6258278" cy="1532334"/>
              </a:xfrm>
              <a:prstGeom prst="flowChartAlternateProcess">
                <a:avLst/>
              </a:prstGeom>
              <a:blipFill>
                <a:blip r:embed="rId7"/>
                <a:stretch>
                  <a:fillRect l="-808" b="-4839"/>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说明3">
                <a:extLst>
                  <a:ext uri="{FF2B5EF4-FFF2-40B4-BE49-F238E27FC236}">
                    <a16:creationId xmlns:a16="http://schemas.microsoft.com/office/drawing/2014/main" id="{C5FF9D19-1302-D905-1690-D88E4BF6D79B}"/>
                  </a:ext>
                </a:extLst>
              </p:cNvPr>
              <p:cNvSpPr txBox="1"/>
              <p:nvPr/>
            </p:nvSpPr>
            <p:spPr>
              <a:xfrm>
                <a:off x="208203" y="960306"/>
                <a:ext cx="5435940" cy="2485787"/>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latin typeface="Microsoft YaHei" panose="020B0503020204020204" pitchFamily="34" charset="-122"/>
                    <a:ea typeface="Microsoft YaHei" panose="020B0503020204020204" pitchFamily="34" charset="-122"/>
                  </a:rPr>
                  <a:t>在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𝐺𝐻</m:t>
                    </m:r>
                    <m:r>
                      <a:rPr kumimoji="1" lang="en-US" altLang="zh-CN" sz="2800" i="1" dirty="0" smtClean="0">
                        <a:solidFill>
                          <a:srgbClr val="2980B9"/>
                        </a:solidFill>
                        <a:latin typeface="Cambria Math" panose="02040503050406030204" pitchFamily="18" charset="0"/>
                        <a:ea typeface="Microsoft YaHei" panose="020B0503020204020204" pitchFamily="34" charset="-122"/>
                      </a:rPr>
                      <m:t>]</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平面穿越是指 </a:t>
                </a:r>
                <a14:m>
                  <m:oMath xmlns:m="http://schemas.openxmlformats.org/officeDocument/2006/math">
                    <m:d>
                      <m:dPr>
                        <m:begChr m:val="|"/>
                        <m:endChr m:val="|"/>
                        <m:ctrlPr>
                          <a:rPr kumimoji="1" lang="en-US" altLang="zh-CN" sz="2800" i="1" dirty="0" smtClean="0">
                            <a:solidFill>
                              <a:srgbClr val="2980B9"/>
                            </a:solidFill>
                            <a:latin typeface="Cambria Math" panose="02040503050406030204" pitchFamily="18" charset="0"/>
                            <a:ea typeface="Microsoft YaHei" panose="020B0503020204020204" pitchFamily="34" charset="-122"/>
                          </a:rPr>
                        </m:ctrlPr>
                      </m:dPr>
                      <m:e>
                        <m:r>
                          <a:rPr kumimoji="1" lang="en-US" altLang="zh-CN" sz="2800" i="1" dirty="0" smtClean="0">
                            <a:solidFill>
                              <a:srgbClr val="2980B9"/>
                            </a:solidFill>
                            <a:latin typeface="Cambria Math" panose="02040503050406030204" pitchFamily="18" charset="0"/>
                            <a:ea typeface="Microsoft YaHei" panose="020B0503020204020204" pitchFamily="34" charset="-122"/>
                          </a:rPr>
                          <m:t>𝐺𝐻</m:t>
                        </m:r>
                        <m:d>
                          <m:dPr>
                            <m:ctrlPr>
                              <a:rPr kumimoji="1" lang="en-US" altLang="zh-CN" sz="2800" i="1" dirty="0" smtClean="0">
                                <a:solidFill>
                                  <a:srgbClr val="2980B9"/>
                                </a:solidFill>
                                <a:latin typeface="Cambria Math" panose="02040503050406030204" pitchFamily="18" charset="0"/>
                                <a:ea typeface="Microsoft YaHei" panose="020B0503020204020204" pitchFamily="34" charset="-122"/>
                              </a:rPr>
                            </m:ctrlPr>
                          </m:dPr>
                          <m:e>
                            <m:r>
                              <a:rPr kumimoji="1" lang="en-US" altLang="zh-CN" sz="2800" b="0" i="1" dirty="0" smtClean="0">
                                <a:solidFill>
                                  <a:srgbClr val="2980B9"/>
                                </a:solidFill>
                                <a:latin typeface="Cambria Math" panose="02040503050406030204" pitchFamily="18" charset="0"/>
                                <a:ea typeface="Microsoft YaHei" panose="020B0503020204020204" pitchFamily="34" charset="-122"/>
                              </a:rPr>
                              <m:t>𝑗</m:t>
                            </m:r>
                            <m:r>
                              <a:rPr kumimoji="1" lang="el-GR" altLang="zh-CN" sz="2800" i="1" dirty="0">
                                <a:solidFill>
                                  <a:srgbClr val="2980B9"/>
                                </a:solidFill>
                                <a:latin typeface="Cambria Math" panose="02040503050406030204" pitchFamily="18" charset="0"/>
                                <a:ea typeface="Microsoft YaHei" panose="020B0503020204020204" pitchFamily="34" charset="-122"/>
                              </a:rPr>
                              <m:t>𝜔</m:t>
                            </m:r>
                          </m:e>
                        </m:d>
                      </m:e>
                    </m:d>
                    <m:r>
                      <a:rPr kumimoji="1" lang="el-GR" altLang="zh-CN" sz="2800" i="1" dirty="0">
                        <a:solidFill>
                          <a:srgbClr val="2980B9"/>
                        </a:solidFill>
                        <a:latin typeface="Cambria Math" panose="02040503050406030204" pitchFamily="18" charset="0"/>
                        <a:ea typeface="Microsoft YaHei" panose="020B0503020204020204" pitchFamily="34" charset="-122"/>
                      </a:rPr>
                      <m:t>&gt;1</m:t>
                    </m:r>
                  </m:oMath>
                </a14:m>
                <a:r>
                  <a:rPr kumimoji="1" lang="el-GR"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时 </a:t>
                </a:r>
                <a14:m>
                  <m:oMath xmlns:m="http://schemas.openxmlformats.org/officeDocument/2006/math">
                    <m:r>
                      <a:rPr kumimoji="1" lang="en-US" altLang="zh-CN" sz="2800" i="1" dirty="0">
                        <a:solidFill>
                          <a:srgbClr val="2980B9"/>
                        </a:solidFill>
                        <a:latin typeface="Cambria Math" panose="02040503050406030204" pitchFamily="18" charset="0"/>
                        <a:ea typeface="Microsoft YaHei" panose="020B0503020204020204" pitchFamily="34" charset="-122"/>
                      </a:rPr>
                      <m:t>𝐺𝐻</m:t>
                    </m:r>
                    <m:d>
                      <m:dPr>
                        <m:ctrlPr>
                          <a:rPr kumimoji="1" lang="en-US" altLang="zh-CN" sz="2800" i="1" dirty="0">
                            <a:solidFill>
                              <a:srgbClr val="2980B9"/>
                            </a:solidFill>
                            <a:latin typeface="Cambria Math" panose="02040503050406030204" pitchFamily="18" charset="0"/>
                            <a:ea typeface="Microsoft YaHei" panose="020B0503020204020204" pitchFamily="34" charset="-122"/>
                          </a:rPr>
                        </m:ctrlPr>
                      </m:dPr>
                      <m:e>
                        <m:r>
                          <a:rPr kumimoji="1" lang="en-US" altLang="zh-CN" sz="2800" i="1" dirty="0">
                            <a:solidFill>
                              <a:srgbClr val="2980B9"/>
                            </a:solidFill>
                            <a:latin typeface="Cambria Math" panose="02040503050406030204" pitchFamily="18" charset="0"/>
                            <a:ea typeface="Microsoft YaHei" panose="020B0503020204020204" pitchFamily="34" charset="-122"/>
                          </a:rPr>
                          <m:t>𝑗</m:t>
                        </m:r>
                        <m:r>
                          <a:rPr kumimoji="1" lang="el-GR" altLang="zh-CN" sz="2800" i="1" dirty="0">
                            <a:solidFill>
                              <a:srgbClr val="2980B9"/>
                            </a:solidFill>
                            <a:latin typeface="Cambria Math" panose="02040503050406030204" pitchFamily="18" charset="0"/>
                            <a:ea typeface="Microsoft YaHei" panose="020B0503020204020204" pitchFamily="34" charset="-122"/>
                          </a:rPr>
                          <m:t>𝜔</m:t>
                        </m:r>
                      </m:e>
                    </m:d>
                  </m:oMath>
                </a14:m>
                <a:r>
                  <a:rPr kumimoji="1" lang="el-GR" altLang="zh-CN" sz="2800" dirty="0">
                    <a:solidFill>
                      <a:srgbClr val="2980B9"/>
                    </a:solidFill>
                    <a:latin typeface="Microsoft YaHei" panose="020B0503020204020204" pitchFamily="34" charset="-122"/>
                    <a:ea typeface="Microsoft YaHei" panose="020B0503020204020204" pitchFamily="34" charset="-122"/>
                  </a:rPr>
                  <a:t> </a:t>
                </a:r>
                <a:r>
                  <a:rPr kumimoji="1" lang="zh-CN" altLang="en-US" sz="2800" dirty="0">
                    <a:solidFill>
                      <a:srgbClr val="2980B9"/>
                    </a:solidFill>
                    <a:latin typeface="Microsoft YaHei" panose="020B0503020204020204" pitchFamily="34" charset="-122"/>
                    <a:ea typeface="Microsoft YaHei" panose="020B0503020204020204" pitchFamily="34" charset="-122"/>
                  </a:rPr>
                  <a:t>穿越负实轴。对应地，在 </a:t>
                </a:r>
                <a:r>
                  <a:rPr kumimoji="1" lang="en-US" altLang="zh-CN" sz="2800" dirty="0">
                    <a:solidFill>
                      <a:srgbClr val="2980B9"/>
                    </a:solidFill>
                    <a:latin typeface="Microsoft YaHei" panose="020B0503020204020204" pitchFamily="34" charset="-122"/>
                    <a:ea typeface="Microsoft YaHei" panose="020B0503020204020204" pitchFamily="34" charset="-122"/>
                  </a:rPr>
                  <a:t>Bode</a:t>
                </a:r>
                <a:r>
                  <a:rPr kumimoji="1" lang="zh-CN" altLang="en-US" sz="2800" dirty="0">
                    <a:solidFill>
                      <a:srgbClr val="2980B9"/>
                    </a:solidFill>
                    <a:latin typeface="Microsoft YaHei" panose="020B0503020204020204" pitchFamily="34" charset="-122"/>
                    <a:ea typeface="Microsoft YaHei" panose="020B0503020204020204" pitchFamily="34" charset="-122"/>
                  </a:rPr>
                  <a:t> 图发生穿越就是 </a:t>
                </a:r>
                <a14:m>
                  <m:oMath xmlns:m="http://schemas.openxmlformats.org/officeDocument/2006/math">
                    <m:r>
                      <a:rPr kumimoji="1" lang="en-US" altLang="zh-CN" sz="2800" b="0" i="1" dirty="0" smtClean="0">
                        <a:solidFill>
                          <a:srgbClr val="2980B9"/>
                        </a:solidFill>
                        <a:latin typeface="Cambria Math" panose="02040503050406030204" pitchFamily="18" charset="0"/>
                        <a:ea typeface="Microsoft YaHei" panose="020B0503020204020204" pitchFamily="34" charset="-122"/>
                      </a:rPr>
                      <m:t>𝐿</m:t>
                    </m:r>
                    <m:r>
                      <a:rPr kumimoji="1" lang="en-US" altLang="zh-CN" sz="2800" i="1" dirty="0">
                        <a:solidFill>
                          <a:srgbClr val="2980B9"/>
                        </a:solidFill>
                        <a:latin typeface="Cambria Math" panose="02040503050406030204" pitchFamily="18" charset="0"/>
                        <a:ea typeface="Microsoft YaHei" panose="020B0503020204020204" pitchFamily="34" charset="-122"/>
                      </a:rPr>
                      <m:t>(</m:t>
                    </m:r>
                    <m:r>
                      <a:rPr kumimoji="1" lang="el-GR" altLang="zh-CN" sz="2800" i="1" dirty="0">
                        <a:solidFill>
                          <a:srgbClr val="2980B9"/>
                        </a:solidFill>
                        <a:latin typeface="Cambria Math" panose="02040503050406030204" pitchFamily="18" charset="0"/>
                        <a:ea typeface="Microsoft YaHei" panose="020B0503020204020204" pitchFamily="34" charset="-122"/>
                      </a:rPr>
                      <m:t>𝜔</m:t>
                    </m:r>
                    <m:r>
                      <a:rPr kumimoji="1" lang="el-GR" altLang="zh-CN" sz="2800" i="1" dirty="0">
                        <a:solidFill>
                          <a:srgbClr val="2980B9"/>
                        </a:solidFill>
                        <a:latin typeface="Cambria Math" panose="02040503050406030204" pitchFamily="18" charset="0"/>
                        <a:ea typeface="Microsoft YaHei" panose="020B0503020204020204" pitchFamily="34" charset="-122"/>
                      </a:rPr>
                      <m:t>)&gt;0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时，</a:t>
                </a:r>
                <a:r>
                  <a:rPr kumimoji="1" lang="en-US" altLang="zh-CN" sz="2800" dirty="0">
                    <a:solidFill>
                      <a:srgbClr val="2980B9"/>
                    </a:solidFill>
                    <a:latin typeface="Microsoft YaHei" panose="020B0503020204020204" pitchFamily="34" charset="-122"/>
                    <a:ea typeface="Microsoft YaHei" panose="020B0503020204020204" pitchFamily="34" charset="-122"/>
                  </a:rPr>
                  <a:t>(</a:t>
                </a:r>
                <a:r>
                  <a:rPr kumimoji="1" lang="zh-CN" altLang="en-US" sz="2800" dirty="0">
                    <a:solidFill>
                      <a:srgbClr val="2980B9"/>
                    </a:solidFill>
                    <a:latin typeface="Microsoft YaHei" panose="020B0503020204020204" pitchFamily="34" charset="-122"/>
                    <a:ea typeface="Microsoft YaHei" panose="020B0503020204020204" pitchFamily="34" charset="-122"/>
                  </a:rPr>
                  <a:t>提升后的</a:t>
                </a:r>
                <a:r>
                  <a:rPr kumimoji="1" lang="en-US" altLang="zh-CN" sz="2800" dirty="0">
                    <a:solidFill>
                      <a:srgbClr val="2980B9"/>
                    </a:solidFill>
                    <a:latin typeface="Microsoft YaHei" panose="020B0503020204020204" pitchFamily="34" charset="-122"/>
                    <a:ea typeface="Microsoft YaHei" panose="020B0503020204020204" pitchFamily="34" charset="-122"/>
                  </a:rPr>
                  <a:t>)</a:t>
                </a:r>
                <a:r>
                  <a:rPr kumimoji="1" lang="zh-CN" altLang="en-US" sz="2800" dirty="0">
                    <a:solidFill>
                      <a:srgbClr val="2980B9"/>
                    </a:solidFill>
                    <a:latin typeface="Microsoft YaHei" panose="020B0503020204020204" pitchFamily="34" charset="-122"/>
                    <a:ea typeface="Microsoft YaHei" panose="020B0503020204020204" pitchFamily="34" charset="-122"/>
                  </a:rPr>
                  <a:t>相频特性穿越 </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180∗</m:t>
                    </m:r>
                    <m:r>
                      <a:rPr kumimoji="1" lang="en-US" altLang="zh-CN" sz="2800" b="0" i="1" dirty="0" smtClean="0">
                        <a:solidFill>
                          <a:srgbClr val="2980B9"/>
                        </a:solidFill>
                        <a:latin typeface="Cambria Math" panose="02040503050406030204" pitchFamily="18" charset="0"/>
                        <a:ea typeface="Microsoft YaHei" panose="020B0503020204020204" pitchFamily="34" charset="-122"/>
                      </a:rPr>
                      <m:t>𝑣</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 线。</a:t>
                </a:r>
              </a:p>
            </p:txBody>
          </p:sp>
        </mc:Choice>
        <mc:Fallback xmlns="">
          <p:sp>
            <p:nvSpPr>
              <p:cNvPr id="10" name="说明3">
                <a:extLst>
                  <a:ext uri="{FF2B5EF4-FFF2-40B4-BE49-F238E27FC236}">
                    <a16:creationId xmlns:a16="http://schemas.microsoft.com/office/drawing/2014/main" id="{C5FF9D19-1302-D905-1690-D88E4BF6D79B}"/>
                  </a:ext>
                </a:extLst>
              </p:cNvPr>
              <p:cNvSpPr txBox="1">
                <a:spLocks noRot="1" noChangeAspect="1" noMove="1" noResize="1" noEditPoints="1" noAdjustHandles="1" noChangeArrowheads="1" noChangeShapeType="1" noTextEdit="1"/>
              </p:cNvSpPr>
              <p:nvPr/>
            </p:nvSpPr>
            <p:spPr>
              <a:xfrm>
                <a:off x="208203" y="960306"/>
                <a:ext cx="5435940" cy="2485787"/>
              </a:xfrm>
              <a:prstGeom prst="flowChartAlternateProcess">
                <a:avLst/>
              </a:prstGeom>
              <a:blipFill>
                <a:blip r:embed="rId8"/>
                <a:stretch>
                  <a:fillRect b="-1005"/>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说明3">
                <a:extLst>
                  <a:ext uri="{FF2B5EF4-FFF2-40B4-BE49-F238E27FC236}">
                    <a16:creationId xmlns:a16="http://schemas.microsoft.com/office/drawing/2014/main" id="{6C70C531-10C7-7A2D-ED67-16255816FE64}"/>
                  </a:ext>
                </a:extLst>
              </p:cNvPr>
              <p:cNvSpPr txBox="1"/>
              <p:nvPr/>
            </p:nvSpPr>
            <p:spPr>
              <a:xfrm>
                <a:off x="242048" y="3501947"/>
                <a:ext cx="3994420"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latin typeface="Microsoft YaHei" panose="020B0503020204020204" pitchFamily="34" charset="-122"/>
                    <a:ea typeface="Microsoft YaHei" panose="020B0503020204020204" pitchFamily="34" charset="-122"/>
                  </a:rPr>
                  <a:t>正穿越：相位增加</a:t>
                </a:r>
                <a14:m>
                  <m:oMath xmlns:m="http://schemas.openxmlformats.org/officeDocument/2006/math">
                    <m:d>
                      <m:dPr>
                        <m:ctrlPr>
                          <a:rPr kumimoji="1" lang="en-US" altLang="zh-CN" sz="2800" i="1" dirty="0" smtClean="0">
                            <a:solidFill>
                              <a:srgbClr val="2980B9"/>
                            </a:solidFill>
                            <a:latin typeface="Cambria Math" panose="02040503050406030204" pitchFamily="18" charset="0"/>
                            <a:ea typeface="Microsoft YaHei" panose="020B0503020204020204" pitchFamily="34" charset="-122"/>
                          </a:rPr>
                        </m:ctrlPr>
                      </m:dPr>
                      <m:e>
                        <m:r>
                          <a:rPr kumimoji="1" lang="el-GR" altLang="zh-CN" sz="2800" i="1" dirty="0">
                            <a:solidFill>
                              <a:srgbClr val="2980B9"/>
                            </a:solidFill>
                            <a:latin typeface="Cambria Math" panose="02040503050406030204" pitchFamily="18" charset="0"/>
                            <a:ea typeface="Microsoft YaHei" panose="020B0503020204020204" pitchFamily="34" charset="-122"/>
                          </a:rPr>
                          <m:t>𝜔</m:t>
                        </m:r>
                        <m:r>
                          <a:rPr kumimoji="1" lang="el-GR" altLang="zh-CN" sz="2800" i="1" dirty="0" smtClean="0">
                            <a:solidFill>
                              <a:srgbClr val="2980B9"/>
                            </a:solidFill>
                            <a:latin typeface="Cambria Math" panose="02040503050406030204" pitchFamily="18" charset="0"/>
                            <a:ea typeface="Cambria Math" panose="02040503050406030204" pitchFamily="18" charset="0"/>
                          </a:rPr>
                          <m:t>↑</m:t>
                        </m:r>
                      </m:e>
                    </m:d>
                  </m:oMath>
                </a14:m>
                <a:endParaRPr kumimoji="1" lang="zh-CN" altLang="en-US" sz="2800" dirty="0">
                  <a:solidFill>
                    <a:srgbClr val="2980B9"/>
                  </a:solidFill>
                  <a:latin typeface="Microsoft YaHei" panose="020B0503020204020204" pitchFamily="34" charset="-122"/>
                  <a:ea typeface="Microsoft YaHei" panose="020B0503020204020204" pitchFamily="34" charset="-122"/>
                </a:endParaRPr>
              </a:p>
            </p:txBody>
          </p:sp>
        </mc:Choice>
        <mc:Fallback xmlns="">
          <p:sp>
            <p:nvSpPr>
              <p:cNvPr id="13" name="说明3">
                <a:extLst>
                  <a:ext uri="{FF2B5EF4-FFF2-40B4-BE49-F238E27FC236}">
                    <a16:creationId xmlns:a16="http://schemas.microsoft.com/office/drawing/2014/main" id="{6C70C531-10C7-7A2D-ED67-16255816FE64}"/>
                  </a:ext>
                </a:extLst>
              </p:cNvPr>
              <p:cNvSpPr txBox="1">
                <a:spLocks noRot="1" noChangeAspect="1" noMove="1" noResize="1" noEditPoints="1" noAdjustHandles="1" noChangeArrowheads="1" noChangeShapeType="1" noTextEdit="1"/>
              </p:cNvSpPr>
              <p:nvPr/>
            </p:nvSpPr>
            <p:spPr>
              <a:xfrm>
                <a:off x="242048" y="3501947"/>
                <a:ext cx="3994420" cy="578882"/>
              </a:xfrm>
              <a:prstGeom prst="flowChartAlternateProcess">
                <a:avLst/>
              </a:prstGeom>
              <a:blipFill>
                <a:blip r:embed="rId9"/>
                <a:stretch>
                  <a:fillRect l="-2208" t="-4082" b="-20408"/>
                </a:stretch>
              </a:blipFill>
              <a:ln>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说明3">
                <a:extLst>
                  <a:ext uri="{FF2B5EF4-FFF2-40B4-BE49-F238E27FC236}">
                    <a16:creationId xmlns:a16="http://schemas.microsoft.com/office/drawing/2014/main" id="{37CB7D61-8EF5-13D7-9493-9C2E0DD8C702}"/>
                  </a:ext>
                </a:extLst>
              </p:cNvPr>
              <p:cNvSpPr txBox="1"/>
              <p:nvPr/>
            </p:nvSpPr>
            <p:spPr>
              <a:xfrm>
                <a:off x="4258538" y="3501947"/>
                <a:ext cx="3994420" cy="578882"/>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latin typeface="Microsoft YaHei" panose="020B0503020204020204" pitchFamily="34" charset="-122"/>
                    <a:ea typeface="Microsoft YaHei" panose="020B0503020204020204" pitchFamily="34" charset="-122"/>
                  </a:rPr>
                  <a:t>负穿越：相位减少</a:t>
                </a:r>
                <a14:m>
                  <m:oMath xmlns:m="http://schemas.openxmlformats.org/officeDocument/2006/math">
                    <m:d>
                      <m:dPr>
                        <m:ctrlPr>
                          <a:rPr kumimoji="1" lang="en-US" altLang="zh-CN" sz="2800" i="1" dirty="0" smtClean="0">
                            <a:solidFill>
                              <a:srgbClr val="2980B9"/>
                            </a:solidFill>
                            <a:latin typeface="Cambria Math" panose="02040503050406030204" pitchFamily="18" charset="0"/>
                            <a:ea typeface="Microsoft YaHei" panose="020B0503020204020204" pitchFamily="34" charset="-122"/>
                          </a:rPr>
                        </m:ctrlPr>
                      </m:dPr>
                      <m:e>
                        <m:r>
                          <a:rPr kumimoji="1" lang="el-GR" altLang="zh-CN" sz="2800" i="1" dirty="0">
                            <a:solidFill>
                              <a:srgbClr val="2980B9"/>
                            </a:solidFill>
                            <a:latin typeface="Cambria Math" panose="02040503050406030204" pitchFamily="18" charset="0"/>
                            <a:ea typeface="Microsoft YaHei" panose="020B0503020204020204" pitchFamily="34" charset="-122"/>
                          </a:rPr>
                          <m:t>𝜔</m:t>
                        </m:r>
                        <m:r>
                          <a:rPr kumimoji="1" lang="el-GR" altLang="zh-CN" sz="2800" i="1" dirty="0">
                            <a:solidFill>
                              <a:srgbClr val="2980B9"/>
                            </a:solidFill>
                            <a:latin typeface="Cambria Math" panose="02040503050406030204" pitchFamily="18" charset="0"/>
                            <a:ea typeface="Cambria Math" panose="02040503050406030204" pitchFamily="18" charset="0"/>
                          </a:rPr>
                          <m:t>↓</m:t>
                        </m:r>
                      </m:e>
                    </m:d>
                  </m:oMath>
                </a14:m>
                <a:endParaRPr kumimoji="1" lang="zh-CN" altLang="en-US" sz="2800" dirty="0">
                  <a:solidFill>
                    <a:srgbClr val="2980B9"/>
                  </a:solidFill>
                  <a:latin typeface="Microsoft YaHei" panose="020B0503020204020204" pitchFamily="34" charset="-122"/>
                  <a:ea typeface="Microsoft YaHei" panose="020B0503020204020204" pitchFamily="34" charset="-122"/>
                </a:endParaRPr>
              </a:p>
            </p:txBody>
          </p:sp>
        </mc:Choice>
        <mc:Fallback xmlns="">
          <p:sp>
            <p:nvSpPr>
              <p:cNvPr id="20" name="说明3">
                <a:extLst>
                  <a:ext uri="{FF2B5EF4-FFF2-40B4-BE49-F238E27FC236}">
                    <a16:creationId xmlns:a16="http://schemas.microsoft.com/office/drawing/2014/main" id="{37CB7D61-8EF5-13D7-9493-9C2E0DD8C702}"/>
                  </a:ext>
                </a:extLst>
              </p:cNvPr>
              <p:cNvSpPr txBox="1">
                <a:spLocks noRot="1" noChangeAspect="1" noMove="1" noResize="1" noEditPoints="1" noAdjustHandles="1" noChangeArrowheads="1" noChangeShapeType="1" noTextEdit="1"/>
              </p:cNvSpPr>
              <p:nvPr/>
            </p:nvSpPr>
            <p:spPr>
              <a:xfrm>
                <a:off x="4258538" y="3501947"/>
                <a:ext cx="3994420" cy="578882"/>
              </a:xfrm>
              <a:prstGeom prst="flowChartAlternateProcess">
                <a:avLst/>
              </a:prstGeom>
              <a:blipFill>
                <a:blip r:embed="rId10"/>
                <a:stretch>
                  <a:fillRect l="-2208" t="-4082" b="-20408"/>
                </a:stretch>
              </a:blipFill>
              <a:ln>
                <a:prstDash val="sysDot"/>
              </a:ln>
            </p:spPr>
            <p:txBody>
              <a:bodyPr/>
              <a:lstStyle/>
              <a:p>
                <a:r>
                  <a:rPr lang="zh-CN" altLang="en-US">
                    <a:noFill/>
                  </a:rPr>
                  <a:t> </a:t>
                </a:r>
              </a:p>
            </p:txBody>
          </p:sp>
        </mc:Fallback>
      </mc:AlternateContent>
      <p:sp>
        <p:nvSpPr>
          <p:cNvPr id="22" name="小标题1">
            <a:extLst>
              <a:ext uri="{FF2B5EF4-FFF2-40B4-BE49-F238E27FC236}">
                <a16:creationId xmlns:a16="http://schemas.microsoft.com/office/drawing/2014/main" id="{309E82FA-1C75-328D-5716-753CCCBBC285}"/>
              </a:ext>
            </a:extLst>
          </p:cNvPr>
          <p:cNvSpPr/>
          <p:nvPr/>
        </p:nvSpPr>
        <p:spPr bwMode="auto">
          <a:xfrm>
            <a:off x="252015" y="4175004"/>
            <a:ext cx="2792507" cy="578882"/>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r>
              <a:rPr lang="zh-CN" altLang="en-US" sz="3200" b="1" dirty="0">
                <a:solidFill>
                  <a:schemeClr val="bg1"/>
                </a:solidFill>
                <a:latin typeface="+mn-ea"/>
              </a:rPr>
              <a:t>穿越计算次数</a:t>
            </a:r>
          </a:p>
        </p:txBody>
      </p:sp>
      <mc:AlternateContent xmlns:mc="http://schemas.openxmlformats.org/markup-compatibility/2006" xmlns:a14="http://schemas.microsoft.com/office/drawing/2010/main">
        <mc:Choice Requires="a14">
          <p:sp>
            <p:nvSpPr>
              <p:cNvPr id="23" name="说明3">
                <a:extLst>
                  <a:ext uri="{FF2B5EF4-FFF2-40B4-BE49-F238E27FC236}">
                    <a16:creationId xmlns:a16="http://schemas.microsoft.com/office/drawing/2014/main" id="{B0E20596-66CB-C7B1-CC86-8E6B0AA3733C}"/>
                  </a:ext>
                </a:extLst>
              </p:cNvPr>
              <p:cNvSpPr txBox="1"/>
              <p:nvPr/>
            </p:nvSpPr>
            <p:spPr>
              <a:xfrm>
                <a:off x="210072" y="4821379"/>
                <a:ext cx="7117677" cy="2009061"/>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rgbClr val="2980B9"/>
                    </a:solidFill>
                    <a:latin typeface="Microsoft YaHei" panose="020B0503020204020204" pitchFamily="34" charset="-122"/>
                    <a:ea typeface="Microsoft YaHei" panose="020B0503020204020204" pitchFamily="34" charset="-122"/>
                  </a:rPr>
                  <a:t>正穿越一次：</a:t>
                </a:r>
                <a:r>
                  <a:rPr kumimoji="1" lang="en-US" altLang="zh-CN" sz="2800" dirty="0">
                    <a:solidFill>
                      <a:srgbClr val="2980B9"/>
                    </a:solidFill>
                    <a:ea typeface="Microsoft YaHei" panose="020B0503020204020204" pitchFamily="34" charset="-122"/>
                  </a:rPr>
                  <a:t> </a:t>
                </a:r>
                <a14:m>
                  <m:oMath xmlns:m="http://schemas.openxmlformats.org/officeDocument/2006/math">
                    <m:r>
                      <a:rPr kumimoji="1" lang="en-US" altLang="zh-CN" sz="2800" i="1" dirty="0">
                        <a:solidFill>
                          <a:srgbClr val="2980B9"/>
                        </a:solidFill>
                        <a:latin typeface="Cambria Math" panose="02040503050406030204" pitchFamily="18" charset="0"/>
                        <a:ea typeface="Microsoft YaHei" panose="020B0503020204020204" pitchFamily="34" charset="-122"/>
                      </a:rPr>
                      <m:t>𝐿</m:t>
                    </m:r>
                    <m:r>
                      <a:rPr kumimoji="1" lang="en-US" altLang="zh-CN" sz="2800" i="1" dirty="0">
                        <a:solidFill>
                          <a:srgbClr val="2980B9"/>
                        </a:solidFill>
                        <a:latin typeface="Cambria Math" panose="02040503050406030204" pitchFamily="18" charset="0"/>
                        <a:ea typeface="Microsoft YaHei" panose="020B0503020204020204" pitchFamily="34" charset="-122"/>
                      </a:rPr>
                      <m:t>(</m:t>
                    </m:r>
                    <m:r>
                      <a:rPr kumimoji="1" lang="el-GR" altLang="zh-CN" sz="2800" i="1" dirty="0">
                        <a:solidFill>
                          <a:srgbClr val="2980B9"/>
                        </a:solidFill>
                        <a:latin typeface="Cambria Math" panose="02040503050406030204" pitchFamily="18" charset="0"/>
                        <a:ea typeface="Microsoft YaHei" panose="020B0503020204020204" pitchFamily="34" charset="-122"/>
                      </a:rPr>
                      <m:t>𝜔</m:t>
                    </m:r>
                    <m:r>
                      <a:rPr kumimoji="1" lang="el-GR" altLang="zh-CN" sz="2800" i="1" dirty="0">
                        <a:solidFill>
                          <a:srgbClr val="2980B9"/>
                        </a:solidFill>
                        <a:latin typeface="Cambria Math" panose="02040503050406030204" pitchFamily="18" charset="0"/>
                        <a:ea typeface="Microsoft YaHei" panose="020B0503020204020204" pitchFamily="34" charset="-122"/>
                      </a:rPr>
                      <m:t>)&gt;0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时，相频曲线由下向上穿越</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−180</m:t>
                    </m:r>
                    <m:r>
                      <a:rPr kumimoji="1" lang="zh-CN" altLang="en-US"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𝑣</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线一次</a:t>
                </a:r>
                <a:endParaRPr kumimoji="1" lang="en-US" altLang="zh-CN" sz="2800" dirty="0">
                  <a:solidFill>
                    <a:srgbClr val="2980B9"/>
                  </a:solidFill>
                  <a:latin typeface="Microsoft YaHei" panose="020B0503020204020204" pitchFamily="34" charset="-122"/>
                  <a:ea typeface="Microsoft YaHei" panose="020B0503020204020204" pitchFamily="34" charset="-122"/>
                </a:endParaRPr>
              </a:p>
              <a:p>
                <a:r>
                  <a:rPr kumimoji="1" lang="zh-CN" altLang="en-US" sz="2800" dirty="0">
                    <a:solidFill>
                      <a:srgbClr val="2980B9"/>
                    </a:solidFill>
                    <a:latin typeface="Microsoft YaHei" panose="020B0503020204020204" pitchFamily="34" charset="-122"/>
                    <a:ea typeface="Microsoft YaHei" panose="020B0503020204020204" pitchFamily="34" charset="-122"/>
                  </a:rPr>
                  <a:t>负穿越一次：</a:t>
                </a:r>
                <a:r>
                  <a:rPr kumimoji="1" lang="en-US" altLang="zh-CN" sz="2800" dirty="0">
                    <a:solidFill>
                      <a:srgbClr val="2980B9"/>
                    </a:solidFill>
                    <a:ea typeface="Microsoft YaHei" panose="020B0503020204020204" pitchFamily="34" charset="-122"/>
                  </a:rPr>
                  <a:t> </a:t>
                </a:r>
                <a14:m>
                  <m:oMath xmlns:m="http://schemas.openxmlformats.org/officeDocument/2006/math">
                    <m:r>
                      <a:rPr kumimoji="1" lang="en-US" altLang="zh-CN" sz="2800" i="1" dirty="0">
                        <a:solidFill>
                          <a:srgbClr val="2980B9"/>
                        </a:solidFill>
                        <a:latin typeface="Cambria Math" panose="02040503050406030204" pitchFamily="18" charset="0"/>
                        <a:ea typeface="Microsoft YaHei" panose="020B0503020204020204" pitchFamily="34" charset="-122"/>
                      </a:rPr>
                      <m:t>𝐿</m:t>
                    </m:r>
                    <m:r>
                      <a:rPr kumimoji="1" lang="en-US" altLang="zh-CN" sz="2800" i="1" dirty="0">
                        <a:solidFill>
                          <a:srgbClr val="2980B9"/>
                        </a:solidFill>
                        <a:latin typeface="Cambria Math" panose="02040503050406030204" pitchFamily="18" charset="0"/>
                        <a:ea typeface="Microsoft YaHei" panose="020B0503020204020204" pitchFamily="34" charset="-122"/>
                      </a:rPr>
                      <m:t>(</m:t>
                    </m:r>
                    <m:r>
                      <a:rPr kumimoji="1" lang="el-GR" altLang="zh-CN" sz="2800" i="1" dirty="0">
                        <a:solidFill>
                          <a:srgbClr val="2980B9"/>
                        </a:solidFill>
                        <a:latin typeface="Cambria Math" panose="02040503050406030204" pitchFamily="18" charset="0"/>
                        <a:ea typeface="Microsoft YaHei" panose="020B0503020204020204" pitchFamily="34" charset="-122"/>
                      </a:rPr>
                      <m:t>𝜔</m:t>
                    </m:r>
                    <m:r>
                      <a:rPr kumimoji="1" lang="el-GR" altLang="zh-CN" sz="2800" i="1" dirty="0">
                        <a:solidFill>
                          <a:srgbClr val="2980B9"/>
                        </a:solidFill>
                        <a:latin typeface="Cambria Math" panose="02040503050406030204" pitchFamily="18" charset="0"/>
                        <a:ea typeface="Microsoft YaHei" panose="020B0503020204020204" pitchFamily="34" charset="-122"/>
                      </a:rPr>
                      <m:t>)&gt;0</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时，相频曲线由上向下穿越</a:t>
                </a:r>
                <a14:m>
                  <m:oMath xmlns:m="http://schemas.openxmlformats.org/officeDocument/2006/math">
                    <m:r>
                      <a:rPr kumimoji="1" lang="en-US" altLang="zh-CN" sz="2800" i="1" dirty="0" smtClean="0">
                        <a:solidFill>
                          <a:srgbClr val="2980B9"/>
                        </a:solidFill>
                        <a:latin typeface="Cambria Math" panose="02040503050406030204" pitchFamily="18" charset="0"/>
                        <a:ea typeface="Microsoft YaHei" panose="020B0503020204020204" pitchFamily="34" charset="-122"/>
                      </a:rPr>
                      <m:t>−180</m:t>
                    </m:r>
                    <m:r>
                      <a:rPr kumimoji="1" lang="zh-CN" altLang="en-US" sz="2800" i="1" dirty="0" smtClean="0">
                        <a:solidFill>
                          <a:srgbClr val="2980B9"/>
                        </a:solidFill>
                        <a:latin typeface="Cambria Math" panose="02040503050406030204" pitchFamily="18" charset="0"/>
                        <a:ea typeface="Microsoft YaHei" panose="020B0503020204020204" pitchFamily="34" charset="-122"/>
                      </a:rPr>
                      <m:t>∗</m:t>
                    </m:r>
                    <m:r>
                      <a:rPr kumimoji="1" lang="en-US" altLang="zh-CN" sz="2800" i="1" dirty="0" smtClean="0">
                        <a:solidFill>
                          <a:srgbClr val="2980B9"/>
                        </a:solidFill>
                        <a:latin typeface="Cambria Math" panose="02040503050406030204" pitchFamily="18" charset="0"/>
                        <a:ea typeface="Microsoft YaHei" panose="020B0503020204020204" pitchFamily="34" charset="-122"/>
                      </a:rPr>
                      <m:t>𝑣</m:t>
                    </m:r>
                  </m:oMath>
                </a14:m>
                <a:r>
                  <a:rPr kumimoji="1" lang="zh-CN" altLang="en-US" sz="2800" dirty="0">
                    <a:solidFill>
                      <a:srgbClr val="2980B9"/>
                    </a:solidFill>
                    <a:latin typeface="Microsoft YaHei" panose="020B0503020204020204" pitchFamily="34" charset="-122"/>
                    <a:ea typeface="Microsoft YaHei" panose="020B0503020204020204" pitchFamily="34" charset="-122"/>
                  </a:rPr>
                  <a:t>线一次</a:t>
                </a:r>
              </a:p>
            </p:txBody>
          </p:sp>
        </mc:Choice>
        <mc:Fallback xmlns="">
          <p:sp>
            <p:nvSpPr>
              <p:cNvPr id="23" name="说明3">
                <a:extLst>
                  <a:ext uri="{FF2B5EF4-FFF2-40B4-BE49-F238E27FC236}">
                    <a16:creationId xmlns:a16="http://schemas.microsoft.com/office/drawing/2014/main" id="{B0E20596-66CB-C7B1-CC86-8E6B0AA3733C}"/>
                  </a:ext>
                </a:extLst>
              </p:cNvPr>
              <p:cNvSpPr txBox="1">
                <a:spLocks noRot="1" noChangeAspect="1" noMove="1" noResize="1" noEditPoints="1" noAdjustHandles="1" noChangeArrowheads="1" noChangeShapeType="1" noTextEdit="1"/>
              </p:cNvSpPr>
              <p:nvPr/>
            </p:nvSpPr>
            <p:spPr>
              <a:xfrm>
                <a:off x="210072" y="4821379"/>
                <a:ext cx="7117677" cy="2009061"/>
              </a:xfrm>
              <a:prstGeom prst="flowChartAlternateProcess">
                <a:avLst/>
              </a:prstGeom>
              <a:blipFill>
                <a:blip r:embed="rId11"/>
                <a:stretch>
                  <a:fillRect l="-178" b="-3106"/>
                </a:stretch>
              </a:blipFill>
              <a:ln>
                <a:prstDash val="sysDot"/>
              </a:ln>
            </p:spPr>
            <p:txBody>
              <a:bodyPr/>
              <a:lstStyle/>
              <a:p>
                <a:r>
                  <a:rPr lang="zh-CN" altLang="en-US">
                    <a:noFill/>
                  </a:rPr>
                  <a:t> </a:t>
                </a:r>
              </a:p>
            </p:txBody>
          </p:sp>
        </mc:Fallback>
      </mc:AlternateContent>
      <p:cxnSp>
        <p:nvCxnSpPr>
          <p:cNvPr id="26" name="实轴">
            <a:extLst>
              <a:ext uri="{FF2B5EF4-FFF2-40B4-BE49-F238E27FC236}">
                <a16:creationId xmlns:a16="http://schemas.microsoft.com/office/drawing/2014/main" id="{3863961B-B322-8D81-E706-BD3C9A364D82}"/>
              </a:ext>
            </a:extLst>
          </p:cNvPr>
          <p:cNvCxnSpPr>
            <a:cxnSpLocks/>
          </p:cNvCxnSpPr>
          <p:nvPr/>
        </p:nvCxnSpPr>
        <p:spPr>
          <a:xfrm flipH="1">
            <a:off x="8365233" y="4573274"/>
            <a:ext cx="3315576"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A18080BB-9E94-EDF4-C527-BDF50EA8ACC4}"/>
              </a:ext>
            </a:extLst>
          </p:cNvPr>
          <p:cNvCxnSpPr>
            <a:cxnSpLocks/>
          </p:cNvCxnSpPr>
          <p:nvPr/>
        </p:nvCxnSpPr>
        <p:spPr>
          <a:xfrm flipV="1">
            <a:off x="8365233" y="4188243"/>
            <a:ext cx="0" cy="1751389"/>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wc1">
                <a:extLst>
                  <a:ext uri="{FF2B5EF4-FFF2-40B4-BE49-F238E27FC236}">
                    <a16:creationId xmlns:a16="http://schemas.microsoft.com/office/drawing/2014/main" id="{3821BC93-7D0B-7C5A-58D0-6C24A09F4959}"/>
                  </a:ext>
                </a:extLst>
              </p:cNvPr>
              <p:cNvSpPr txBox="1"/>
              <p:nvPr/>
            </p:nvSpPr>
            <p:spPr>
              <a:xfrm>
                <a:off x="7851412" y="4359719"/>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0" name="wc1">
                <a:extLst>
                  <a:ext uri="{FF2B5EF4-FFF2-40B4-BE49-F238E27FC236}">
                    <a16:creationId xmlns:a16="http://schemas.microsoft.com/office/drawing/2014/main" id="{3821BC93-7D0B-7C5A-58D0-6C24A09F4959}"/>
                  </a:ext>
                </a:extLst>
              </p:cNvPr>
              <p:cNvSpPr txBox="1">
                <a:spLocks noRot="1" noChangeAspect="1" noMove="1" noResize="1" noEditPoints="1" noAdjustHandles="1" noChangeArrowheads="1" noChangeShapeType="1" noTextEdit="1"/>
              </p:cNvSpPr>
              <p:nvPr/>
            </p:nvSpPr>
            <p:spPr>
              <a:xfrm>
                <a:off x="7851412" y="4359719"/>
                <a:ext cx="414004" cy="524695"/>
              </a:xfrm>
              <a:prstGeom prst="rect">
                <a:avLst/>
              </a:prstGeom>
              <a:blipFill>
                <a:blip r:embed="rId12"/>
                <a:stretch>
                  <a:fillRect l="-9091" r="-30303"/>
                </a:stretch>
              </a:blipFill>
            </p:spPr>
            <p:txBody>
              <a:bodyPr/>
              <a:lstStyle/>
              <a:p>
                <a:r>
                  <a:rPr lang="zh-CN" altLang="en-US">
                    <a:noFill/>
                  </a:rPr>
                  <a:t> </a:t>
                </a:r>
              </a:p>
            </p:txBody>
          </p:sp>
        </mc:Fallback>
      </mc:AlternateContent>
      <p:cxnSp>
        <p:nvCxnSpPr>
          <p:cNvPr id="32" name="实轴">
            <a:extLst>
              <a:ext uri="{FF2B5EF4-FFF2-40B4-BE49-F238E27FC236}">
                <a16:creationId xmlns:a16="http://schemas.microsoft.com/office/drawing/2014/main" id="{CB1C7777-9670-AC0E-0408-FE39E849B227}"/>
              </a:ext>
            </a:extLst>
          </p:cNvPr>
          <p:cNvCxnSpPr>
            <a:cxnSpLocks/>
          </p:cNvCxnSpPr>
          <p:nvPr/>
        </p:nvCxnSpPr>
        <p:spPr>
          <a:xfrm flipH="1">
            <a:off x="8350607" y="5373216"/>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wc1">
                <a:extLst>
                  <a:ext uri="{FF2B5EF4-FFF2-40B4-BE49-F238E27FC236}">
                    <a16:creationId xmlns:a16="http://schemas.microsoft.com/office/drawing/2014/main" id="{8C3809A4-3D0B-BF39-D91B-6EA034AF82B5}"/>
                  </a:ext>
                </a:extLst>
              </p:cNvPr>
              <p:cNvSpPr txBox="1"/>
              <p:nvPr/>
            </p:nvSpPr>
            <p:spPr>
              <a:xfrm>
                <a:off x="7134698" y="5110868"/>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−180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3" name="wc1">
                <a:extLst>
                  <a:ext uri="{FF2B5EF4-FFF2-40B4-BE49-F238E27FC236}">
                    <a16:creationId xmlns:a16="http://schemas.microsoft.com/office/drawing/2014/main" id="{8C3809A4-3D0B-BF39-D91B-6EA034AF82B5}"/>
                  </a:ext>
                </a:extLst>
              </p:cNvPr>
              <p:cNvSpPr txBox="1">
                <a:spLocks noRot="1" noChangeAspect="1" noMove="1" noResize="1" noEditPoints="1" noAdjustHandles="1" noChangeArrowheads="1" noChangeShapeType="1" noTextEdit="1"/>
              </p:cNvSpPr>
              <p:nvPr/>
            </p:nvSpPr>
            <p:spPr>
              <a:xfrm>
                <a:off x="7134698" y="5110868"/>
                <a:ext cx="414004" cy="524695"/>
              </a:xfrm>
              <a:prstGeom prst="rect">
                <a:avLst/>
              </a:prstGeom>
              <a:blipFill>
                <a:blip r:embed="rId13"/>
                <a:stretch>
                  <a:fillRect r="-182353"/>
                </a:stretch>
              </a:blipFill>
            </p:spPr>
            <p:txBody>
              <a:bodyPr/>
              <a:lstStyle/>
              <a:p>
                <a:r>
                  <a:rPr lang="zh-CN" altLang="en-US">
                    <a:noFill/>
                  </a:rPr>
                  <a:t> </a:t>
                </a:r>
              </a:p>
            </p:txBody>
          </p:sp>
        </mc:Fallback>
      </mc:AlternateContent>
      <p:cxnSp>
        <p:nvCxnSpPr>
          <p:cNvPr id="34" name="实轴">
            <a:extLst>
              <a:ext uri="{FF2B5EF4-FFF2-40B4-BE49-F238E27FC236}">
                <a16:creationId xmlns:a16="http://schemas.microsoft.com/office/drawing/2014/main" id="{6157AAA9-4BBD-A777-8F11-19909A29BD23}"/>
              </a:ext>
            </a:extLst>
          </p:cNvPr>
          <p:cNvCxnSpPr>
            <a:cxnSpLocks/>
          </p:cNvCxnSpPr>
          <p:nvPr/>
        </p:nvCxnSpPr>
        <p:spPr>
          <a:xfrm flipV="1">
            <a:off x="10415686" y="3212975"/>
            <a:ext cx="0" cy="2108258"/>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label2">
                <a:extLst>
                  <a:ext uri="{FF2B5EF4-FFF2-40B4-BE49-F238E27FC236}">
                    <a16:creationId xmlns:a16="http://schemas.microsoft.com/office/drawing/2014/main" id="{09CE6690-9EAC-AFB2-8349-48020D9AB75A}"/>
                  </a:ext>
                </a:extLst>
              </p:cNvPr>
              <p:cNvSpPr txBox="1"/>
              <p:nvPr/>
            </p:nvSpPr>
            <p:spPr>
              <a:xfrm>
                <a:off x="9388092" y="4927863"/>
                <a:ext cx="597296"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oMath>
                  </m:oMathPara>
                </a14:m>
                <a:endParaRPr lang="zh-CN" altLang="en-US" sz="2800" dirty="0"/>
              </a:p>
            </p:txBody>
          </p:sp>
        </mc:Choice>
        <mc:Fallback xmlns="">
          <p:sp>
            <p:nvSpPr>
              <p:cNvPr id="46" name="label2">
                <a:extLst>
                  <a:ext uri="{FF2B5EF4-FFF2-40B4-BE49-F238E27FC236}">
                    <a16:creationId xmlns:a16="http://schemas.microsoft.com/office/drawing/2014/main" id="{09CE6690-9EAC-AFB2-8349-48020D9AB75A}"/>
                  </a:ext>
                </a:extLst>
              </p:cNvPr>
              <p:cNvSpPr txBox="1">
                <a:spLocks noRot="1" noChangeAspect="1" noMove="1" noResize="1" noEditPoints="1" noAdjustHandles="1" noChangeArrowheads="1" noChangeShapeType="1" noTextEdit="1"/>
              </p:cNvSpPr>
              <p:nvPr/>
            </p:nvSpPr>
            <p:spPr>
              <a:xfrm>
                <a:off x="9388092" y="4927863"/>
                <a:ext cx="597296" cy="52469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Re">
                <a:extLst>
                  <a:ext uri="{FF2B5EF4-FFF2-40B4-BE49-F238E27FC236}">
                    <a16:creationId xmlns:a16="http://schemas.microsoft.com/office/drawing/2014/main" id="{62265BD8-BC55-7A9C-5E9E-A1C642F5A18B}"/>
                  </a:ext>
                </a:extLst>
              </p:cNvPr>
              <p:cNvSpPr txBox="1"/>
              <p:nvPr/>
            </p:nvSpPr>
            <p:spPr>
              <a:xfrm>
                <a:off x="10156210" y="269129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i="1" smtClean="0">
                              <a:latin typeface="Cambria Math" panose="02040503050406030204" pitchFamily="18" charset="0"/>
                              <a:ea typeface="Cambria Math" panose="02040503050406030204" pitchFamily="18" charset="0"/>
                            </a:rPr>
                            <m:t>𝜔</m:t>
                          </m:r>
                        </m:e>
                        <m:sub>
                          <m:r>
                            <a:rPr lang="en-US" altLang="zh-CN" sz="2800" b="0" i="1" smtClean="0">
                              <a:latin typeface="Cambria Math" panose="02040503050406030204" pitchFamily="18" charset="0"/>
                              <a:ea typeface="Cambria Math" panose="02040503050406030204" pitchFamily="18" charset="0"/>
                            </a:rPr>
                            <m:t>𝑐</m:t>
                          </m:r>
                        </m:sub>
                      </m:sSub>
                    </m:oMath>
                  </m:oMathPara>
                </a14:m>
                <a:endParaRPr lang="zh-CN" altLang="en-US" sz="2800" dirty="0"/>
              </a:p>
            </p:txBody>
          </p:sp>
        </mc:Choice>
        <mc:Fallback xmlns="">
          <p:sp>
            <p:nvSpPr>
              <p:cNvPr id="2" name="Re">
                <a:extLst>
                  <a:ext uri="{FF2B5EF4-FFF2-40B4-BE49-F238E27FC236}">
                    <a16:creationId xmlns:a16="http://schemas.microsoft.com/office/drawing/2014/main" id="{62265BD8-BC55-7A9C-5E9E-A1C642F5A18B}"/>
                  </a:ext>
                </a:extLst>
              </p:cNvPr>
              <p:cNvSpPr txBox="1">
                <a:spLocks noRot="1" noChangeAspect="1" noMove="1" noResize="1" noEditPoints="1" noAdjustHandles="1" noChangeArrowheads="1" noChangeShapeType="1" noTextEdit="1"/>
              </p:cNvSpPr>
              <p:nvPr/>
            </p:nvSpPr>
            <p:spPr>
              <a:xfrm>
                <a:off x="10156210" y="2691296"/>
                <a:ext cx="576536" cy="52322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Re">
                <a:extLst>
                  <a:ext uri="{FF2B5EF4-FFF2-40B4-BE49-F238E27FC236}">
                    <a16:creationId xmlns:a16="http://schemas.microsoft.com/office/drawing/2014/main" id="{36E565E4-922E-A969-866F-B38A72CB53E3}"/>
                  </a:ext>
                </a:extLst>
              </p:cNvPr>
              <p:cNvSpPr txBox="1"/>
              <p:nvPr/>
            </p:nvSpPr>
            <p:spPr>
              <a:xfrm>
                <a:off x="8416164" y="3874730"/>
                <a:ext cx="98655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𝜓</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𝜔</m:t>
                      </m:r>
                      <m:r>
                        <a:rPr lang="en-US" altLang="zh-CN" sz="2800" i="1">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 name="Re">
                <a:extLst>
                  <a:ext uri="{FF2B5EF4-FFF2-40B4-BE49-F238E27FC236}">
                    <a16:creationId xmlns:a16="http://schemas.microsoft.com/office/drawing/2014/main" id="{36E565E4-922E-A969-866F-B38A72CB53E3}"/>
                  </a:ext>
                </a:extLst>
              </p:cNvPr>
              <p:cNvSpPr txBox="1">
                <a:spLocks noRot="1" noChangeAspect="1" noMove="1" noResize="1" noEditPoints="1" noAdjustHandles="1" noChangeArrowheads="1" noChangeShapeType="1" noTextEdit="1"/>
              </p:cNvSpPr>
              <p:nvPr/>
            </p:nvSpPr>
            <p:spPr>
              <a:xfrm>
                <a:off x="8416164" y="3874730"/>
                <a:ext cx="986551" cy="523220"/>
              </a:xfrm>
              <a:prstGeom prst="rect">
                <a:avLst/>
              </a:prstGeom>
              <a:blipFill>
                <a:blip r:embed="rId16"/>
                <a:stretch>
                  <a:fillRect l="-6329" r="-8861" b="-1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3267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par>
                          <p:cTn id="25" fill="hold">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3" grpId="0" animBg="1"/>
      <p:bldP spid="20" grpId="0" animBg="1"/>
      <p:bldP spid="22" grpId="0" animBg="1"/>
      <p:bldP spid="2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对数稳定判据例</a:t>
            </a: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wc1">
                <a:extLst>
                  <a:ext uri="{FF2B5EF4-FFF2-40B4-BE49-F238E27FC236}">
                    <a16:creationId xmlns:a16="http://schemas.microsoft.com/office/drawing/2014/main" id="{7528208B-CE6A-CD93-65C5-65475B39C6B0}"/>
                  </a:ext>
                </a:extLst>
              </p:cNvPr>
              <p:cNvSpPr txBox="1"/>
              <p:nvPr/>
            </p:nvSpPr>
            <p:spPr>
              <a:xfrm>
                <a:off x="1003712" y="2190539"/>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14" name="wc1">
                <a:extLst>
                  <a:ext uri="{FF2B5EF4-FFF2-40B4-BE49-F238E27FC236}">
                    <a16:creationId xmlns:a16="http://schemas.microsoft.com/office/drawing/2014/main" id="{7528208B-CE6A-CD93-65C5-65475B39C6B0}"/>
                  </a:ext>
                </a:extLst>
              </p:cNvPr>
              <p:cNvSpPr txBox="1">
                <a:spLocks noRot="1" noChangeAspect="1" noMove="1" noResize="1" noEditPoints="1" noAdjustHandles="1" noChangeArrowheads="1" noChangeShapeType="1" noTextEdit="1"/>
              </p:cNvSpPr>
              <p:nvPr/>
            </p:nvSpPr>
            <p:spPr>
              <a:xfrm>
                <a:off x="1003712" y="2190539"/>
                <a:ext cx="414004" cy="524695"/>
              </a:xfrm>
              <a:prstGeom prst="rect">
                <a:avLst/>
              </a:prstGeom>
              <a:blipFill>
                <a:blip r:embed="rId3"/>
                <a:stretch>
                  <a:fillRect l="-6061" r="-3030"/>
                </a:stretch>
              </a:blipFill>
            </p:spPr>
            <p:txBody>
              <a:bodyPr/>
              <a:lstStyle/>
              <a:p>
                <a:r>
                  <a:rPr lang="zh-CN" altLang="en-US">
                    <a:noFill/>
                  </a:rPr>
                  <a:t> </a:t>
                </a:r>
              </a:p>
            </p:txBody>
          </p:sp>
        </mc:Fallback>
      </mc:AlternateContent>
      <p:grpSp>
        <p:nvGrpSpPr>
          <p:cNvPr id="15" name="坐标轴">
            <a:extLst>
              <a:ext uri="{FF2B5EF4-FFF2-40B4-BE49-F238E27FC236}">
                <a16:creationId xmlns:a16="http://schemas.microsoft.com/office/drawing/2014/main" id="{BD887A8C-7341-D0C9-2BA9-41C8559A4F72}"/>
              </a:ext>
            </a:extLst>
          </p:cNvPr>
          <p:cNvGrpSpPr/>
          <p:nvPr/>
        </p:nvGrpSpPr>
        <p:grpSpPr>
          <a:xfrm>
            <a:off x="1511706" y="1124744"/>
            <a:ext cx="3549898" cy="2111429"/>
            <a:chOff x="8500451" y="2576128"/>
            <a:chExt cx="3549898" cy="2111429"/>
          </a:xfrm>
        </p:grpSpPr>
        <p:cxnSp>
          <p:nvCxnSpPr>
            <p:cNvPr id="16" name="实轴">
              <a:extLst>
                <a:ext uri="{FF2B5EF4-FFF2-40B4-BE49-F238E27FC236}">
                  <a16:creationId xmlns:a16="http://schemas.microsoft.com/office/drawing/2014/main" id="{6993CCCD-5E0D-98EC-1A5A-4524954F4B1F}"/>
                </a:ext>
              </a:extLst>
            </p:cNvPr>
            <p:cNvCxnSpPr>
              <a:cxnSpLocks/>
            </p:cNvCxnSpPr>
            <p:nvPr/>
          </p:nvCxnSpPr>
          <p:spPr>
            <a:xfrm flipH="1">
              <a:off x="8500451" y="3872272"/>
              <a:ext cx="3315576"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虚轴">
              <a:extLst>
                <a:ext uri="{FF2B5EF4-FFF2-40B4-BE49-F238E27FC236}">
                  <a16:creationId xmlns:a16="http://schemas.microsoft.com/office/drawing/2014/main" id="{07843F92-322E-E34B-3669-5CE24B552BA9}"/>
                </a:ext>
              </a:extLst>
            </p:cNvPr>
            <p:cNvCxnSpPr>
              <a:cxnSpLocks/>
            </p:cNvCxnSpPr>
            <p:nvPr/>
          </p:nvCxnSpPr>
          <p:spPr>
            <a:xfrm flipV="1">
              <a:off x="8500451" y="2744478"/>
              <a:ext cx="0" cy="1943079"/>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
                  <a:extLst>
                    <a:ext uri="{FF2B5EF4-FFF2-40B4-BE49-F238E27FC236}">
                      <a16:creationId xmlns:a16="http://schemas.microsoft.com/office/drawing/2014/main" id="{82587D05-6AF0-E381-3141-53F1FDA8602A}"/>
                    </a:ext>
                  </a:extLst>
                </p:cNvPr>
                <p:cNvSpPr txBox="1"/>
                <p:nvPr/>
              </p:nvSpPr>
              <p:spPr>
                <a:xfrm>
                  <a:off x="11473813" y="332901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𝜔</m:t>
                        </m:r>
                      </m:oMath>
                    </m:oMathPara>
                  </a14:m>
                  <a:endParaRPr lang="zh-CN" altLang="en-US" sz="2800" dirty="0"/>
                </a:p>
              </p:txBody>
            </p:sp>
          </mc:Choice>
          <mc:Fallback xmlns="">
            <p:sp>
              <p:nvSpPr>
                <p:cNvPr id="18" name="Re">
                  <a:extLst>
                    <a:ext uri="{FF2B5EF4-FFF2-40B4-BE49-F238E27FC236}">
                      <a16:creationId xmlns:a16="http://schemas.microsoft.com/office/drawing/2014/main" id="{82587D05-6AF0-E381-3141-53F1FDA8602A}"/>
                    </a:ext>
                  </a:extLst>
                </p:cNvPr>
                <p:cNvSpPr txBox="1">
                  <a:spLocks noRot="1" noChangeAspect="1" noMove="1" noResize="1" noEditPoints="1" noAdjustHandles="1" noChangeArrowheads="1" noChangeShapeType="1" noTextEdit="1"/>
                </p:cNvSpPr>
                <p:nvPr/>
              </p:nvSpPr>
              <p:spPr>
                <a:xfrm>
                  <a:off x="11473813" y="3329011"/>
                  <a:ext cx="576536"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Im">
                  <a:extLst>
                    <a:ext uri="{FF2B5EF4-FFF2-40B4-BE49-F238E27FC236}">
                      <a16:creationId xmlns:a16="http://schemas.microsoft.com/office/drawing/2014/main" id="{EA544022-33A1-2124-A7FC-7B82910C5DFB}"/>
                    </a:ext>
                  </a:extLst>
                </p:cNvPr>
                <p:cNvSpPr txBox="1"/>
                <p:nvPr/>
              </p:nvSpPr>
              <p:spPr>
                <a:xfrm>
                  <a:off x="8543938" y="2576128"/>
                  <a:ext cx="1466535" cy="523220"/>
                </a:xfrm>
                <a:prstGeom prst="rect">
                  <a:avLst/>
                </a:prstGeom>
                <a:noFill/>
              </p:spPr>
              <p:txBody>
                <a:bodyPr wrap="square">
                  <a:spAutoFit/>
                </a:bodyPr>
                <a:lstStyle/>
                <a:p>
                  <a14:m>
                    <m:oMath xmlns:m="http://schemas.openxmlformats.org/officeDocument/2006/math">
                      <m:r>
                        <a:rPr lang="en-US" altLang="zh-CN" sz="2800" b="0" i="1" smtClean="0">
                          <a:latin typeface="Cambria Math" panose="02040503050406030204" pitchFamily="18" charset="0"/>
                        </a:rPr>
                        <m:t>𝐿</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𝜔</m:t>
                          </m:r>
                        </m:e>
                      </m:d>
                    </m:oMath>
                  </a14:m>
                  <a:r>
                    <a:rPr lang="en-US" altLang="zh-CN" sz="2800" dirty="0"/>
                    <a:t>dB</a:t>
                  </a:r>
                  <a:endParaRPr lang="zh-CN" altLang="en-US" sz="2800" dirty="0"/>
                </a:p>
              </p:txBody>
            </p:sp>
          </mc:Choice>
          <mc:Fallback xmlns="">
            <p:sp>
              <p:nvSpPr>
                <p:cNvPr id="19" name="Im">
                  <a:extLst>
                    <a:ext uri="{FF2B5EF4-FFF2-40B4-BE49-F238E27FC236}">
                      <a16:creationId xmlns:a16="http://schemas.microsoft.com/office/drawing/2014/main" id="{EA544022-33A1-2124-A7FC-7B82910C5DFB}"/>
                    </a:ext>
                  </a:extLst>
                </p:cNvPr>
                <p:cNvSpPr txBox="1">
                  <a:spLocks noRot="1" noChangeAspect="1" noMove="1" noResize="1" noEditPoints="1" noAdjustHandles="1" noChangeArrowheads="1" noChangeShapeType="1" noTextEdit="1"/>
                </p:cNvSpPr>
                <p:nvPr/>
              </p:nvSpPr>
              <p:spPr>
                <a:xfrm>
                  <a:off x="8543938" y="2576128"/>
                  <a:ext cx="1466535" cy="523220"/>
                </a:xfrm>
                <a:prstGeom prst="rect">
                  <a:avLst/>
                </a:prstGeom>
                <a:blipFill>
                  <a:blip r:embed="rId5"/>
                  <a:stretch>
                    <a:fillRect l="-1709" t="-11905" b="-30952"/>
                  </a:stretch>
                </a:blipFill>
              </p:spPr>
              <p:txBody>
                <a:bodyPr/>
                <a:lstStyle/>
                <a:p>
                  <a:r>
                    <a:rPr lang="zh-CN" altLang="en-US">
                      <a:noFill/>
                    </a:rPr>
                    <a:t> </a:t>
                  </a:r>
                </a:p>
              </p:txBody>
            </p:sp>
          </mc:Fallback>
        </mc:AlternateContent>
      </p:grpSp>
      <p:sp>
        <p:nvSpPr>
          <p:cNvPr id="21" name="幅相">
            <a:extLst>
              <a:ext uri="{FF2B5EF4-FFF2-40B4-BE49-F238E27FC236}">
                <a16:creationId xmlns:a16="http://schemas.microsoft.com/office/drawing/2014/main" id="{15BD82C5-FB00-EA74-577A-2E2FF7699D1D}"/>
              </a:ext>
            </a:extLst>
          </p:cNvPr>
          <p:cNvSpPr/>
          <p:nvPr/>
        </p:nvSpPr>
        <p:spPr>
          <a:xfrm>
            <a:off x="1517458" y="1658743"/>
            <a:ext cx="2967610" cy="158828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776211 w 776211"/>
              <a:gd name="connsiteY0" fmla="*/ 732888 h 732888"/>
              <a:gd name="connsiteX1" fmla="*/ 0 w 776211"/>
              <a:gd name="connsiteY1" fmla="*/ 525941 h 732888"/>
              <a:gd name="connsiteX0" fmla="*/ 776211 w 776211"/>
              <a:gd name="connsiteY0" fmla="*/ 569097 h 569097"/>
              <a:gd name="connsiteX1" fmla="*/ 0 w 776211"/>
              <a:gd name="connsiteY1" fmla="*/ 362150 h 569097"/>
              <a:gd name="connsiteX0" fmla="*/ 834190 w 834190"/>
              <a:gd name="connsiteY0" fmla="*/ 597130 h 597130"/>
              <a:gd name="connsiteX1" fmla="*/ 0 w 834190"/>
              <a:gd name="connsiteY1" fmla="*/ 305053 h 597130"/>
              <a:gd name="connsiteX0" fmla="*/ 1515444 w 1515444"/>
              <a:gd name="connsiteY0" fmla="*/ 1508215 h 1508215"/>
              <a:gd name="connsiteX1" fmla="*/ 0 w 1515444"/>
              <a:gd name="connsiteY1" fmla="*/ 0 h 1508215"/>
              <a:gd name="connsiteX0" fmla="*/ 1515444 w 1515444"/>
              <a:gd name="connsiteY0" fmla="*/ 1508215 h 1508215"/>
              <a:gd name="connsiteX1" fmla="*/ 0 w 1515444"/>
              <a:gd name="connsiteY1" fmla="*/ 0 h 1508215"/>
              <a:gd name="connsiteX0" fmla="*/ 1566176 w 1566176"/>
              <a:gd name="connsiteY0" fmla="*/ 1374440 h 1374440"/>
              <a:gd name="connsiteX1" fmla="*/ 0 w 1566176"/>
              <a:gd name="connsiteY1" fmla="*/ 0 h 1374440"/>
              <a:gd name="connsiteX0" fmla="*/ 1783030 w 1783030"/>
              <a:gd name="connsiteY0" fmla="*/ 1659650 h 1659650"/>
              <a:gd name="connsiteX1" fmla="*/ 0 w 1783030"/>
              <a:gd name="connsiteY1" fmla="*/ 0 h 1659650"/>
              <a:gd name="connsiteX0" fmla="*/ 1783030 w 1783030"/>
              <a:gd name="connsiteY0" fmla="*/ 1659650 h 1659650"/>
              <a:gd name="connsiteX1" fmla="*/ 0 w 1783030"/>
              <a:gd name="connsiteY1" fmla="*/ 0 h 1659650"/>
              <a:gd name="connsiteX0" fmla="*/ 1783030 w 1783030"/>
              <a:gd name="connsiteY0" fmla="*/ 1659650 h 1659650"/>
              <a:gd name="connsiteX1" fmla="*/ 434623 w 1783030"/>
              <a:gd name="connsiteY1" fmla="*/ 220176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1096908 w 1783030"/>
              <a:gd name="connsiteY1" fmla="*/ 1046303 h 1659650"/>
              <a:gd name="connsiteX2" fmla="*/ 428762 w 1783030"/>
              <a:gd name="connsiteY2" fmla="*/ 416873 h 1659650"/>
              <a:gd name="connsiteX3" fmla="*/ 0 w 1783030"/>
              <a:gd name="connsiteY3" fmla="*/ 0 h 1659650"/>
              <a:gd name="connsiteX0" fmla="*/ 1783030 w 1783030"/>
              <a:gd name="connsiteY0" fmla="*/ 1659650 h 1659650"/>
              <a:gd name="connsiteX1" fmla="*/ 1161379 w 1783030"/>
              <a:gd name="connsiteY1" fmla="*/ 898781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2163990 w 2163990"/>
              <a:gd name="connsiteY0" fmla="*/ 1689155 h 1689155"/>
              <a:gd name="connsiteX1" fmla="*/ 1178962 w 2163990"/>
              <a:gd name="connsiteY1" fmla="*/ 859442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Lst>
            <a:ahLst/>
            <a:cxnLst>
              <a:cxn ang="0">
                <a:pos x="connsiteX0" y="connsiteY0"/>
              </a:cxn>
              <a:cxn ang="0">
                <a:pos x="connsiteX1" y="connsiteY1"/>
              </a:cxn>
              <a:cxn ang="0">
                <a:pos x="connsiteX2" y="connsiteY2"/>
              </a:cxn>
              <a:cxn ang="0">
                <a:pos x="connsiteX3" y="connsiteY3"/>
              </a:cxn>
            </a:cxnLst>
            <a:rect l="l" t="t" r="r" b="b"/>
            <a:pathLst>
              <a:path w="2187434" h="1964532">
                <a:moveTo>
                  <a:pt x="2187434" y="1964532"/>
                </a:moveTo>
                <a:lnTo>
                  <a:pt x="1442704" y="1213497"/>
                </a:lnTo>
                <a:cubicBezTo>
                  <a:pt x="1088052" y="1016203"/>
                  <a:pt x="1038300" y="957791"/>
                  <a:pt x="686644" y="751259"/>
                </a:cubicBezTo>
                <a:cubicBezTo>
                  <a:pt x="408097" y="450662"/>
                  <a:pt x="294717" y="273933"/>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1" name="幅相">
            <a:extLst>
              <a:ext uri="{FF2B5EF4-FFF2-40B4-BE49-F238E27FC236}">
                <a16:creationId xmlns:a16="http://schemas.microsoft.com/office/drawing/2014/main" id="{B5B17A8D-B6CE-1CAE-F71A-47EFF1858E2A}"/>
              </a:ext>
            </a:extLst>
          </p:cNvPr>
          <p:cNvSpPr/>
          <p:nvPr/>
        </p:nvSpPr>
        <p:spPr>
          <a:xfrm>
            <a:off x="1628228" y="4563962"/>
            <a:ext cx="3149420" cy="34524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145629 w 1398686"/>
              <a:gd name="connsiteY0" fmla="*/ 338080 h 1052732"/>
              <a:gd name="connsiteX1" fmla="*/ 1398685 w 1398686"/>
              <a:gd name="connsiteY1" fmla="*/ 386522 h 1052732"/>
              <a:gd name="connsiteX0" fmla="*/ 525041 w 1778098"/>
              <a:gd name="connsiteY0" fmla="*/ 258898 h 1547582"/>
              <a:gd name="connsiteX1" fmla="*/ 1778097 w 1778098"/>
              <a:gd name="connsiteY1" fmla="*/ 307340 h 1547582"/>
              <a:gd name="connsiteX0" fmla="*/ 845895 w 2098951"/>
              <a:gd name="connsiteY0" fmla="*/ 397422 h 1619227"/>
              <a:gd name="connsiteX1" fmla="*/ 2098951 w 2098951"/>
              <a:gd name="connsiteY1" fmla="*/ 445864 h 1619227"/>
              <a:gd name="connsiteX0" fmla="*/ 917898 w 2170954"/>
              <a:gd name="connsiteY0" fmla="*/ 323146 h 2182972"/>
              <a:gd name="connsiteX1" fmla="*/ 2170954 w 2170954"/>
              <a:gd name="connsiteY1" fmla="*/ 371588 h 2182972"/>
              <a:gd name="connsiteX0" fmla="*/ 650184 w 1903240"/>
              <a:gd name="connsiteY0" fmla="*/ 345438 h 1984175"/>
              <a:gd name="connsiteX1" fmla="*/ 1903240 w 1903240"/>
              <a:gd name="connsiteY1" fmla="*/ 393880 h 1984175"/>
              <a:gd name="connsiteX0" fmla="*/ 695090 w 1948146"/>
              <a:gd name="connsiteY0" fmla="*/ 640709 h 2146334"/>
              <a:gd name="connsiteX1" fmla="*/ 1948146 w 1948146"/>
              <a:gd name="connsiteY1" fmla="*/ 689151 h 2146334"/>
              <a:gd name="connsiteX0" fmla="*/ 1636927 w 1636927"/>
              <a:gd name="connsiteY0" fmla="*/ 581390 h 2830622"/>
              <a:gd name="connsiteX1" fmla="*/ 991170 w 1636927"/>
              <a:gd name="connsiteY1" fmla="*/ 1493289 h 2830622"/>
              <a:gd name="connsiteX0" fmla="*/ 824302 w 824302"/>
              <a:gd name="connsiteY0" fmla="*/ 1070631 h 1982531"/>
              <a:gd name="connsiteX1" fmla="*/ 178545 w 824302"/>
              <a:gd name="connsiteY1" fmla="*/ 1982530 h 1982531"/>
              <a:gd name="connsiteX0" fmla="*/ 1115345 w 1115345"/>
              <a:gd name="connsiteY0" fmla="*/ 928470 h 2655180"/>
              <a:gd name="connsiteX1" fmla="*/ 20250 w 1115345"/>
              <a:gd name="connsiteY1" fmla="*/ 2655181 h 2655180"/>
              <a:gd name="connsiteX0" fmla="*/ 1095095 w 1095095"/>
              <a:gd name="connsiteY0" fmla="*/ 988090 h 2714802"/>
              <a:gd name="connsiteX1" fmla="*/ 0 w 1095095"/>
              <a:gd name="connsiteY1" fmla="*/ 2714801 h 2714802"/>
              <a:gd name="connsiteX0" fmla="*/ 1095095 w 1095095"/>
              <a:gd name="connsiteY0" fmla="*/ 658667 h 2385377"/>
              <a:gd name="connsiteX1" fmla="*/ 0 w 1095095"/>
              <a:gd name="connsiteY1" fmla="*/ 2385378 h 2385377"/>
              <a:gd name="connsiteX0" fmla="*/ 1587917 w 1587917"/>
              <a:gd name="connsiteY0" fmla="*/ 801337 h 1725396"/>
              <a:gd name="connsiteX1" fmla="*/ 0 w 1587917"/>
              <a:gd name="connsiteY1" fmla="*/ 1725396 h 1725396"/>
              <a:gd name="connsiteX0" fmla="*/ 1442969 w 1442969"/>
              <a:gd name="connsiteY0" fmla="*/ 1260323 h 1260323"/>
              <a:gd name="connsiteX1" fmla="*/ 0 w 1442969"/>
              <a:gd name="connsiteY1" fmla="*/ 761501 h 1260323"/>
              <a:gd name="connsiteX0" fmla="*/ 1442969 w 1442969"/>
              <a:gd name="connsiteY0" fmla="*/ 737597 h 737597"/>
              <a:gd name="connsiteX1" fmla="*/ 0 w 1442969"/>
              <a:gd name="connsiteY1" fmla="*/ 238775 h 737597"/>
              <a:gd name="connsiteX0" fmla="*/ 1638648 w 1638648"/>
              <a:gd name="connsiteY0" fmla="*/ 839340 h 839341"/>
              <a:gd name="connsiteX1" fmla="*/ 0 w 1638648"/>
              <a:gd name="connsiteY1" fmla="*/ 0 h 839341"/>
              <a:gd name="connsiteX0" fmla="*/ 1638648 w 1638648"/>
              <a:gd name="connsiteY0" fmla="*/ 947618 h 947618"/>
              <a:gd name="connsiteX1" fmla="*/ 0 w 1638648"/>
              <a:gd name="connsiteY1" fmla="*/ 108278 h 947618"/>
              <a:gd name="connsiteX0" fmla="*/ 1638648 w 1638648"/>
              <a:gd name="connsiteY0" fmla="*/ 839340 h 839340"/>
              <a:gd name="connsiteX1" fmla="*/ 0 w 1638648"/>
              <a:gd name="connsiteY1" fmla="*/ 0 h 839340"/>
              <a:gd name="connsiteX0" fmla="*/ 1826198 w 1826198"/>
              <a:gd name="connsiteY0" fmla="*/ 725462 h 938081"/>
              <a:gd name="connsiteX1" fmla="*/ 0 w 1826198"/>
              <a:gd name="connsiteY1" fmla="*/ 299185 h 938081"/>
              <a:gd name="connsiteX0" fmla="*/ 1826198 w 1826198"/>
              <a:gd name="connsiteY0" fmla="*/ 1213248 h 1213249"/>
              <a:gd name="connsiteX1" fmla="*/ 0 w 1826198"/>
              <a:gd name="connsiteY1" fmla="*/ 786971 h 1213249"/>
              <a:gd name="connsiteX0" fmla="*/ 1826198 w 1826198"/>
              <a:gd name="connsiteY0" fmla="*/ 1213248 h 1213248"/>
              <a:gd name="connsiteX1" fmla="*/ 0 w 1826198"/>
              <a:gd name="connsiteY1" fmla="*/ 786971 h 1213248"/>
              <a:gd name="connsiteX0" fmla="*/ 2388848 w 2388848"/>
              <a:gd name="connsiteY0" fmla="*/ 1066812 h 1092938"/>
              <a:gd name="connsiteX1" fmla="*/ 0 w 2388848"/>
              <a:gd name="connsiteY1" fmla="*/ 1092939 h 1092938"/>
              <a:gd name="connsiteX0" fmla="*/ 2388848 w 2388848"/>
              <a:gd name="connsiteY0" fmla="*/ 420652 h 446780"/>
              <a:gd name="connsiteX1" fmla="*/ 0 w 2388848"/>
              <a:gd name="connsiteY1" fmla="*/ 446779 h 446780"/>
              <a:gd name="connsiteX0" fmla="*/ 2388848 w 2388848"/>
              <a:gd name="connsiteY0" fmla="*/ 403580 h 429707"/>
              <a:gd name="connsiteX1" fmla="*/ 0 w 2388848"/>
              <a:gd name="connsiteY1" fmla="*/ 429707 h 429707"/>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421283 h 447410"/>
              <a:gd name="connsiteX1" fmla="*/ 1141270 w 2388848"/>
              <a:gd name="connsiteY1" fmla="*/ 14037 h 447410"/>
              <a:gd name="connsiteX2" fmla="*/ 0 w 2388848"/>
              <a:gd name="connsiteY2" fmla="*/ 447410 h 447410"/>
              <a:gd name="connsiteX0" fmla="*/ 2388848 w 2388848"/>
              <a:gd name="connsiteY0" fmla="*/ 440026 h 466153"/>
              <a:gd name="connsiteX1" fmla="*/ 977164 w 2388848"/>
              <a:gd name="connsiteY1" fmla="*/ 13111 h 466153"/>
              <a:gd name="connsiteX2" fmla="*/ 0 w 2388848"/>
              <a:gd name="connsiteY2" fmla="*/ 466153 h 466153"/>
              <a:gd name="connsiteX0" fmla="*/ 2388848 w 2388848"/>
              <a:gd name="connsiteY0" fmla="*/ 427447 h 453574"/>
              <a:gd name="connsiteX1" fmla="*/ 977164 w 2388848"/>
              <a:gd name="connsiteY1" fmla="*/ 532 h 453574"/>
              <a:gd name="connsiteX2" fmla="*/ 0 w 2388848"/>
              <a:gd name="connsiteY2" fmla="*/ 453574 h 453574"/>
              <a:gd name="connsiteX0" fmla="*/ 2388848 w 2388848"/>
              <a:gd name="connsiteY0" fmla="*/ 427203 h 453330"/>
              <a:gd name="connsiteX1" fmla="*/ 977164 w 2388848"/>
              <a:gd name="connsiteY1" fmla="*/ 288 h 453330"/>
              <a:gd name="connsiteX2" fmla="*/ 0 w 2388848"/>
              <a:gd name="connsiteY2" fmla="*/ 453330 h 453330"/>
              <a:gd name="connsiteX0" fmla="*/ 2388848 w 2388848"/>
              <a:gd name="connsiteY0" fmla="*/ 426919 h 453046"/>
              <a:gd name="connsiteX1" fmla="*/ 977164 w 2388848"/>
              <a:gd name="connsiteY1" fmla="*/ 4 h 453046"/>
              <a:gd name="connsiteX2" fmla="*/ 0 w 2388848"/>
              <a:gd name="connsiteY2" fmla="*/ 453046 h 453046"/>
              <a:gd name="connsiteX0" fmla="*/ 2388848 w 2388848"/>
              <a:gd name="connsiteY0" fmla="*/ 426919 h 453046"/>
              <a:gd name="connsiteX1" fmla="*/ 977164 w 2388848"/>
              <a:gd name="connsiteY1" fmla="*/ 4 h 453046"/>
              <a:gd name="connsiteX2" fmla="*/ 0 w 2388848"/>
              <a:gd name="connsiteY2" fmla="*/ 453046 h 453046"/>
              <a:gd name="connsiteX0" fmla="*/ 2321447 w 2321447"/>
              <a:gd name="connsiteY0" fmla="*/ 427022 h 427028"/>
              <a:gd name="connsiteX1" fmla="*/ 909763 w 2321447"/>
              <a:gd name="connsiteY1" fmla="*/ 107 h 427028"/>
              <a:gd name="connsiteX2" fmla="*/ 0 w 2321447"/>
              <a:gd name="connsiteY2" fmla="*/ 391457 h 427028"/>
            </a:gdLst>
            <a:ahLst/>
            <a:cxnLst>
              <a:cxn ang="0">
                <a:pos x="connsiteX0" y="connsiteY0"/>
              </a:cxn>
              <a:cxn ang="0">
                <a:pos x="connsiteX1" y="connsiteY1"/>
              </a:cxn>
              <a:cxn ang="0">
                <a:pos x="connsiteX2" y="connsiteY2"/>
              </a:cxn>
            </a:cxnLst>
            <a:rect l="l" t="t" r="r" b="b"/>
            <a:pathLst>
              <a:path w="2321447" h="427028">
                <a:moveTo>
                  <a:pt x="2321447" y="427022"/>
                </a:moveTo>
                <a:cubicBezTo>
                  <a:pt x="1612542" y="428960"/>
                  <a:pt x="1296671" y="6034"/>
                  <a:pt x="909763" y="107"/>
                </a:cubicBezTo>
                <a:cubicBezTo>
                  <a:pt x="522855" y="-5820"/>
                  <a:pt x="522473" y="234773"/>
                  <a:pt x="0" y="391457"/>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26" name="实轴">
            <a:extLst>
              <a:ext uri="{FF2B5EF4-FFF2-40B4-BE49-F238E27FC236}">
                <a16:creationId xmlns:a16="http://schemas.microsoft.com/office/drawing/2014/main" id="{3863961B-B322-8D81-E706-BD3C9A364D82}"/>
              </a:ext>
            </a:extLst>
          </p:cNvPr>
          <p:cNvCxnSpPr>
            <a:cxnSpLocks/>
          </p:cNvCxnSpPr>
          <p:nvPr/>
        </p:nvCxnSpPr>
        <p:spPr>
          <a:xfrm flipH="1">
            <a:off x="1504262" y="4005064"/>
            <a:ext cx="3315576"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虚轴">
            <a:extLst>
              <a:ext uri="{FF2B5EF4-FFF2-40B4-BE49-F238E27FC236}">
                <a16:creationId xmlns:a16="http://schemas.microsoft.com/office/drawing/2014/main" id="{A18080BB-9E94-EDF4-C527-BDF50EA8ACC4}"/>
              </a:ext>
            </a:extLst>
          </p:cNvPr>
          <p:cNvCxnSpPr>
            <a:cxnSpLocks/>
          </p:cNvCxnSpPr>
          <p:nvPr/>
        </p:nvCxnSpPr>
        <p:spPr>
          <a:xfrm flipV="1">
            <a:off x="1504262" y="3620033"/>
            <a:ext cx="0" cy="1969207"/>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wc1">
                <a:extLst>
                  <a:ext uri="{FF2B5EF4-FFF2-40B4-BE49-F238E27FC236}">
                    <a16:creationId xmlns:a16="http://schemas.microsoft.com/office/drawing/2014/main" id="{3821BC93-7D0B-7C5A-58D0-6C24A09F4959}"/>
                  </a:ext>
                </a:extLst>
              </p:cNvPr>
              <p:cNvSpPr txBox="1"/>
              <p:nvPr/>
            </p:nvSpPr>
            <p:spPr>
              <a:xfrm>
                <a:off x="960673" y="3742716"/>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0" name="wc1">
                <a:extLst>
                  <a:ext uri="{FF2B5EF4-FFF2-40B4-BE49-F238E27FC236}">
                    <a16:creationId xmlns:a16="http://schemas.microsoft.com/office/drawing/2014/main" id="{3821BC93-7D0B-7C5A-58D0-6C24A09F4959}"/>
                  </a:ext>
                </a:extLst>
              </p:cNvPr>
              <p:cNvSpPr txBox="1">
                <a:spLocks noRot="1" noChangeAspect="1" noMove="1" noResize="1" noEditPoints="1" noAdjustHandles="1" noChangeArrowheads="1" noChangeShapeType="1" noTextEdit="1"/>
              </p:cNvSpPr>
              <p:nvPr/>
            </p:nvSpPr>
            <p:spPr>
              <a:xfrm>
                <a:off x="960673" y="3742716"/>
                <a:ext cx="414004" cy="524695"/>
              </a:xfrm>
              <a:prstGeom prst="rect">
                <a:avLst/>
              </a:prstGeom>
              <a:blipFill>
                <a:blip r:embed="rId6"/>
                <a:stretch>
                  <a:fillRect l="-8824" r="-29412"/>
                </a:stretch>
              </a:blipFill>
            </p:spPr>
            <p:txBody>
              <a:bodyPr/>
              <a:lstStyle/>
              <a:p>
                <a:r>
                  <a:rPr lang="zh-CN" altLang="en-US">
                    <a:noFill/>
                  </a:rPr>
                  <a:t> </a:t>
                </a:r>
              </a:p>
            </p:txBody>
          </p:sp>
        </mc:Fallback>
      </mc:AlternateContent>
      <p:cxnSp>
        <p:nvCxnSpPr>
          <p:cNvPr id="32" name="实轴">
            <a:extLst>
              <a:ext uri="{FF2B5EF4-FFF2-40B4-BE49-F238E27FC236}">
                <a16:creationId xmlns:a16="http://schemas.microsoft.com/office/drawing/2014/main" id="{CB1C7777-9670-AC0E-0408-FE39E849B227}"/>
              </a:ext>
            </a:extLst>
          </p:cNvPr>
          <p:cNvCxnSpPr>
            <a:cxnSpLocks/>
          </p:cNvCxnSpPr>
          <p:nvPr/>
        </p:nvCxnSpPr>
        <p:spPr>
          <a:xfrm flipH="1">
            <a:off x="1489636" y="4495727"/>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wc1">
                <a:extLst>
                  <a:ext uri="{FF2B5EF4-FFF2-40B4-BE49-F238E27FC236}">
                    <a16:creationId xmlns:a16="http://schemas.microsoft.com/office/drawing/2014/main" id="{8C3809A4-3D0B-BF39-D91B-6EA034AF82B5}"/>
                  </a:ext>
                </a:extLst>
              </p:cNvPr>
              <p:cNvSpPr txBox="1"/>
              <p:nvPr/>
            </p:nvSpPr>
            <p:spPr>
              <a:xfrm>
                <a:off x="294486" y="4678820"/>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−180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3" name="wc1">
                <a:extLst>
                  <a:ext uri="{FF2B5EF4-FFF2-40B4-BE49-F238E27FC236}">
                    <a16:creationId xmlns:a16="http://schemas.microsoft.com/office/drawing/2014/main" id="{8C3809A4-3D0B-BF39-D91B-6EA034AF82B5}"/>
                  </a:ext>
                </a:extLst>
              </p:cNvPr>
              <p:cNvSpPr txBox="1">
                <a:spLocks noRot="1" noChangeAspect="1" noMove="1" noResize="1" noEditPoints="1" noAdjustHandles="1" noChangeArrowheads="1" noChangeShapeType="1" noTextEdit="1"/>
              </p:cNvSpPr>
              <p:nvPr/>
            </p:nvSpPr>
            <p:spPr>
              <a:xfrm>
                <a:off x="294486" y="4678820"/>
                <a:ext cx="414004" cy="524695"/>
              </a:xfrm>
              <a:prstGeom prst="rect">
                <a:avLst/>
              </a:prstGeom>
              <a:blipFill>
                <a:blip r:embed="rId7"/>
                <a:stretch>
                  <a:fillRect r="-190909"/>
                </a:stretch>
              </a:blipFill>
            </p:spPr>
            <p:txBody>
              <a:bodyPr/>
              <a:lstStyle/>
              <a:p>
                <a:r>
                  <a:rPr lang="zh-CN" altLang="en-US">
                    <a:noFill/>
                  </a:rPr>
                  <a:t> </a:t>
                </a:r>
              </a:p>
            </p:txBody>
          </p:sp>
        </mc:Fallback>
      </mc:AlternateContent>
      <p:cxnSp>
        <p:nvCxnSpPr>
          <p:cNvPr id="34" name="实轴">
            <a:extLst>
              <a:ext uri="{FF2B5EF4-FFF2-40B4-BE49-F238E27FC236}">
                <a16:creationId xmlns:a16="http://schemas.microsoft.com/office/drawing/2014/main" id="{6157AAA9-4BBD-A777-8F11-19909A29BD23}"/>
              </a:ext>
            </a:extLst>
          </p:cNvPr>
          <p:cNvCxnSpPr>
            <a:cxnSpLocks/>
          </p:cNvCxnSpPr>
          <p:nvPr/>
        </p:nvCxnSpPr>
        <p:spPr>
          <a:xfrm flipV="1">
            <a:off x="2902776" y="2440930"/>
            <a:ext cx="0" cy="2108258"/>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
                <a:extLst>
                  <a:ext uri="{FF2B5EF4-FFF2-40B4-BE49-F238E27FC236}">
                    <a16:creationId xmlns:a16="http://schemas.microsoft.com/office/drawing/2014/main" id="{62265BD8-BC55-7A9C-5E9E-A1C642F5A18B}"/>
                  </a:ext>
                </a:extLst>
              </p:cNvPr>
              <p:cNvSpPr txBox="1"/>
              <p:nvPr/>
            </p:nvSpPr>
            <p:spPr>
              <a:xfrm>
                <a:off x="2541744" y="1863510"/>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−20</m:t>
                      </m:r>
                    </m:oMath>
                  </m:oMathPara>
                </a14:m>
                <a:endParaRPr lang="zh-CN" altLang="en-US" sz="2800" dirty="0"/>
              </a:p>
            </p:txBody>
          </p:sp>
        </mc:Choice>
        <mc:Fallback xmlns="">
          <p:sp>
            <p:nvSpPr>
              <p:cNvPr id="2" name="Re">
                <a:extLst>
                  <a:ext uri="{FF2B5EF4-FFF2-40B4-BE49-F238E27FC236}">
                    <a16:creationId xmlns:a16="http://schemas.microsoft.com/office/drawing/2014/main" id="{62265BD8-BC55-7A9C-5E9E-A1C642F5A18B}"/>
                  </a:ext>
                </a:extLst>
              </p:cNvPr>
              <p:cNvSpPr txBox="1">
                <a:spLocks noRot="1" noChangeAspect="1" noMove="1" noResize="1" noEditPoints="1" noAdjustHandles="1" noChangeArrowheads="1" noChangeShapeType="1" noTextEdit="1"/>
              </p:cNvSpPr>
              <p:nvPr/>
            </p:nvSpPr>
            <p:spPr>
              <a:xfrm>
                <a:off x="2541744" y="1863510"/>
                <a:ext cx="576536" cy="523220"/>
              </a:xfrm>
              <a:prstGeom prst="rect">
                <a:avLst/>
              </a:prstGeom>
              <a:blipFill>
                <a:blip r:embed="rId8"/>
                <a:stretch>
                  <a:fillRect r="-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Re">
                <a:extLst>
                  <a:ext uri="{FF2B5EF4-FFF2-40B4-BE49-F238E27FC236}">
                    <a16:creationId xmlns:a16="http://schemas.microsoft.com/office/drawing/2014/main" id="{36E565E4-922E-A969-866F-B38A72CB53E3}"/>
                  </a:ext>
                </a:extLst>
              </p:cNvPr>
              <p:cNvSpPr txBox="1"/>
              <p:nvPr/>
            </p:nvSpPr>
            <p:spPr>
              <a:xfrm>
                <a:off x="1555193" y="3306520"/>
                <a:ext cx="98655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𝜓</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𝜔</m:t>
                      </m:r>
                      <m:r>
                        <a:rPr lang="en-US" altLang="zh-CN" sz="2800" i="1">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 name="Re">
                <a:extLst>
                  <a:ext uri="{FF2B5EF4-FFF2-40B4-BE49-F238E27FC236}">
                    <a16:creationId xmlns:a16="http://schemas.microsoft.com/office/drawing/2014/main" id="{36E565E4-922E-A969-866F-B38A72CB53E3}"/>
                  </a:ext>
                </a:extLst>
              </p:cNvPr>
              <p:cNvSpPr txBox="1">
                <a:spLocks noRot="1" noChangeAspect="1" noMove="1" noResize="1" noEditPoints="1" noAdjustHandles="1" noChangeArrowheads="1" noChangeShapeType="1" noTextEdit="1"/>
              </p:cNvSpPr>
              <p:nvPr/>
            </p:nvSpPr>
            <p:spPr>
              <a:xfrm>
                <a:off x="1555193" y="3306520"/>
                <a:ext cx="986551" cy="523220"/>
              </a:xfrm>
              <a:prstGeom prst="rect">
                <a:avLst/>
              </a:prstGeom>
              <a:blipFill>
                <a:blip r:embed="rId9"/>
                <a:stretch>
                  <a:fillRect l="-6329" r="-8861" b="-19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7B5CCD6-2FC3-8052-3132-787E55D9CBCC}"/>
                  </a:ext>
                </a:extLst>
              </p:cNvPr>
              <p:cNvSpPr txBox="1"/>
              <p:nvPr/>
            </p:nvSpPr>
            <p:spPr>
              <a:xfrm>
                <a:off x="6095206" y="217668"/>
                <a:ext cx="5508479" cy="778675"/>
              </a:xfrm>
              <a:prstGeom prst="rect">
                <a:avLst/>
              </a:prstGeom>
              <a:noFill/>
            </p:spPr>
            <p:txBody>
              <a:bodyPr wrap="square">
                <a:spAutoFit/>
              </a:bodyPr>
              <a:lstStyle/>
              <a:p>
                <a14:m>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ea typeface="Cambria Math" panose="02040503050406030204" pitchFamily="18" charset="0"/>
                              </a:rPr>
                              <m:t>𝜏</m:t>
                            </m:r>
                            <m:r>
                              <a:rPr lang="en-US" altLang="zh-CN" sz="2800" b="0" i="1" smtClean="0">
                                <a:solidFill>
                                  <a:schemeClr val="tx1"/>
                                </a:solidFill>
                                <a:latin typeface="Cambria Math" panose="02040503050406030204" pitchFamily="18" charset="0"/>
                                <a:ea typeface="Cambria Math" panose="02040503050406030204" pitchFamily="18" charset="0"/>
                              </a:rPr>
                              <m:t>𝑠</m:t>
                            </m:r>
                            <m:r>
                              <a:rPr lang="en-US" altLang="zh-CN" sz="2800" b="0" i="1" smtClean="0">
                                <a:solidFill>
                                  <a:schemeClr val="tx1"/>
                                </a:solidFill>
                                <a:latin typeface="Cambria Math" panose="02040503050406030204" pitchFamily="18" charset="0"/>
                                <a:ea typeface="Cambria Math" panose="02040503050406030204" pitchFamily="18" charset="0"/>
                              </a:rPr>
                              <m:t>+1</m:t>
                            </m:r>
                          </m:e>
                        </m:d>
                      </m:num>
                      <m:den>
                        <m:sSup>
                          <m:sSupPr>
                            <m:ctrlPr>
                              <a:rPr lang="en-US" altLang="zh-CN" sz="2800" b="0" i="1" smtClean="0">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𝑠</m:t>
                            </m:r>
                          </m:e>
                          <m:sup>
                            <m:r>
                              <a:rPr lang="en-US" altLang="zh-CN" sz="2800" b="0" i="1" smtClean="0">
                                <a:solidFill>
                                  <a:schemeClr val="tx1"/>
                                </a:solidFill>
                                <a:latin typeface="Cambria Math" panose="02040503050406030204" pitchFamily="18" charset="0"/>
                              </a:rPr>
                              <m:t>2</m:t>
                            </m:r>
                          </m:sup>
                        </m:sSup>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𝑇𝑠</m:t>
                            </m:r>
                            <m:r>
                              <a:rPr lang="en-US" altLang="zh-CN" sz="2800" b="0" i="1" smtClean="0">
                                <a:solidFill>
                                  <a:schemeClr val="tx1"/>
                                </a:solidFill>
                                <a:latin typeface="Cambria Math" panose="02040503050406030204" pitchFamily="18" charset="0"/>
                              </a:rPr>
                              <m:t>+1</m:t>
                            </m:r>
                          </m:e>
                        </m:d>
                      </m:den>
                    </m:f>
                  </m:oMath>
                </a14:m>
                <a:r>
                  <a:rPr lang="en-US" altLang="zh-CN" sz="2800" dirty="0">
                    <a:solidFill>
                      <a:schemeClr val="tx1"/>
                    </a:solidFill>
                  </a:rPr>
                  <a:t>,</a:t>
                </a:r>
                <a:r>
                  <a:rPr lang="zh-CN" altLang="en-US" sz="2800" dirty="0">
                    <a:solidFill>
                      <a:schemeClr val="tx1"/>
                    </a:solidFill>
                  </a:rPr>
                  <a:t> </a:t>
                </a:r>
                <a:r>
                  <a:rPr lang="en-US" altLang="zh-CN" sz="2800" dirty="0">
                    <a:solidFill>
                      <a:schemeClr val="tx1"/>
                    </a:solidFill>
                  </a:rPr>
                  <a:t>(a)</a:t>
                </a:r>
                <a:r>
                  <a:rPr lang="zh-CN" altLang="en-US" sz="2800" dirty="0">
                    <a:solidFill>
                      <a:schemeClr val="tx1"/>
                    </a:solidFill>
                  </a:rPr>
                  <a:t> </a:t>
                </a:r>
                <a14:m>
                  <m:oMath xmlns:m="http://schemas.openxmlformats.org/officeDocument/2006/math">
                    <m:r>
                      <a:rPr lang="en-US" altLang="zh-CN" sz="2800" i="1">
                        <a:latin typeface="Cambria Math" panose="02040503050406030204" pitchFamily="18" charset="0"/>
                        <a:ea typeface="Cambria Math" panose="02040503050406030204" pitchFamily="18" charset="0"/>
                      </a:rPr>
                      <m:t>𝜏</m:t>
                    </m:r>
                    <m:r>
                      <a:rPr lang="en-US" altLang="zh-CN" sz="2800" b="0" i="1" smtClean="0">
                        <a:latin typeface="Cambria Math" panose="02040503050406030204" pitchFamily="18" charset="0"/>
                        <a:ea typeface="Cambria Math" panose="02040503050406030204" pitchFamily="18" charset="0"/>
                      </a:rPr>
                      <m:t>&gt;</m:t>
                    </m:r>
                    <m:r>
                      <a:rPr lang="en-US" altLang="zh-CN" sz="2800" b="0" i="1" smtClean="0">
                        <a:latin typeface="Cambria Math" panose="02040503050406030204" pitchFamily="18" charset="0"/>
                        <a:ea typeface="Cambria Math" panose="02040503050406030204" pitchFamily="18" charset="0"/>
                      </a:rPr>
                      <m:t>𝑇</m:t>
                    </m:r>
                  </m:oMath>
                </a14:m>
                <a:r>
                  <a:rPr lang="zh-CN" altLang="en-US" sz="2800" dirty="0">
                    <a:solidFill>
                      <a:schemeClr val="tx1"/>
                    </a:solidFill>
                  </a:rPr>
                  <a:t>  </a:t>
                </a:r>
                <a:r>
                  <a:rPr lang="en-US" altLang="zh-CN" sz="2800" dirty="0">
                    <a:solidFill>
                      <a:schemeClr val="tx1"/>
                    </a:solidFill>
                  </a:rPr>
                  <a:t>(b)</a:t>
                </a:r>
                <a:r>
                  <a:rPr lang="zh-CN" altLang="en-US" sz="2800" dirty="0">
                    <a:solidFill>
                      <a:schemeClr val="tx1"/>
                    </a:solidFill>
                  </a:rPr>
                  <a:t> </a:t>
                </a:r>
                <a14:m>
                  <m:oMath xmlns:m="http://schemas.openxmlformats.org/officeDocument/2006/math">
                    <m:r>
                      <a:rPr lang="en-US" altLang="zh-CN" sz="2800" i="1">
                        <a:latin typeface="Cambria Math" panose="02040503050406030204" pitchFamily="18" charset="0"/>
                        <a:ea typeface="Cambria Math" panose="02040503050406030204" pitchFamily="18" charset="0"/>
                      </a:rPr>
                      <m:t>𝜏</m:t>
                    </m:r>
                    <m:r>
                      <a:rPr lang="en-US" altLang="zh-CN" sz="2800" b="0" i="1" smtClean="0">
                        <a:latin typeface="Cambria Math" panose="02040503050406030204" pitchFamily="18" charset="0"/>
                        <a:ea typeface="Cambria Math" panose="02040503050406030204" pitchFamily="18" charset="0"/>
                      </a:rPr>
                      <m:t>&lt;</m:t>
                    </m:r>
                    <m:r>
                      <a:rPr lang="en-US" altLang="zh-CN" sz="2800" b="0" i="1" smtClean="0">
                        <a:latin typeface="Cambria Math" panose="02040503050406030204" pitchFamily="18" charset="0"/>
                        <a:ea typeface="Cambria Math" panose="02040503050406030204" pitchFamily="18" charset="0"/>
                      </a:rPr>
                      <m:t>𝑇</m:t>
                    </m:r>
                  </m:oMath>
                </a14:m>
                <a:endParaRPr lang="zh-CN" altLang="en-US" sz="2800" dirty="0">
                  <a:solidFill>
                    <a:schemeClr val="tx1"/>
                  </a:solidFill>
                </a:endParaRPr>
              </a:p>
            </p:txBody>
          </p:sp>
        </mc:Choice>
        <mc:Fallback xmlns="">
          <p:sp>
            <p:nvSpPr>
              <p:cNvPr id="4" name="文本框 3">
                <a:extLst>
                  <a:ext uri="{FF2B5EF4-FFF2-40B4-BE49-F238E27FC236}">
                    <a16:creationId xmlns:a16="http://schemas.microsoft.com/office/drawing/2014/main" id="{77B5CCD6-2FC3-8052-3132-787E55D9CBCC}"/>
                  </a:ext>
                </a:extLst>
              </p:cNvPr>
              <p:cNvSpPr txBox="1">
                <a:spLocks noRot="1" noChangeAspect="1" noMove="1" noResize="1" noEditPoints="1" noAdjustHandles="1" noChangeArrowheads="1" noChangeShapeType="1" noTextEdit="1"/>
              </p:cNvSpPr>
              <p:nvPr/>
            </p:nvSpPr>
            <p:spPr>
              <a:xfrm>
                <a:off x="6095206" y="217668"/>
                <a:ext cx="5508479" cy="778675"/>
              </a:xfrm>
              <a:prstGeom prst="rect">
                <a:avLst/>
              </a:prstGeom>
              <a:blipFill>
                <a:blip r:embed="rId10"/>
                <a:stretch>
                  <a:fillRect l="-691" b="-4839"/>
                </a:stretch>
              </a:blipFill>
            </p:spPr>
            <p:txBody>
              <a:bodyPr/>
              <a:lstStyle/>
              <a:p>
                <a:r>
                  <a:rPr lang="zh-CN" altLang="en-US">
                    <a:noFill/>
                  </a:rPr>
                  <a:t> </a:t>
                </a:r>
              </a:p>
            </p:txBody>
          </p:sp>
        </mc:Fallback>
      </mc:AlternateContent>
      <p:cxnSp>
        <p:nvCxnSpPr>
          <p:cNvPr id="7" name="实轴">
            <a:extLst>
              <a:ext uri="{FF2B5EF4-FFF2-40B4-BE49-F238E27FC236}">
                <a16:creationId xmlns:a16="http://schemas.microsoft.com/office/drawing/2014/main" id="{937B473A-EF49-E0F9-D266-BB68366F8494}"/>
              </a:ext>
            </a:extLst>
          </p:cNvPr>
          <p:cNvCxnSpPr>
            <a:cxnSpLocks/>
          </p:cNvCxnSpPr>
          <p:nvPr/>
        </p:nvCxnSpPr>
        <p:spPr>
          <a:xfrm flipH="1">
            <a:off x="1504262" y="4941168"/>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实轴">
            <a:extLst>
              <a:ext uri="{FF2B5EF4-FFF2-40B4-BE49-F238E27FC236}">
                <a16:creationId xmlns:a16="http://schemas.microsoft.com/office/drawing/2014/main" id="{0FC56665-39AD-4C21-0F48-CE582885231F}"/>
              </a:ext>
            </a:extLst>
          </p:cNvPr>
          <p:cNvCxnSpPr>
            <a:cxnSpLocks/>
          </p:cNvCxnSpPr>
          <p:nvPr/>
        </p:nvCxnSpPr>
        <p:spPr>
          <a:xfrm flipH="1">
            <a:off x="1489636" y="5391890"/>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wc1">
                <a:extLst>
                  <a:ext uri="{FF2B5EF4-FFF2-40B4-BE49-F238E27FC236}">
                    <a16:creationId xmlns:a16="http://schemas.microsoft.com/office/drawing/2014/main" id="{FD116DF8-C6C0-F0DF-F845-5D0FF5337E65}"/>
                  </a:ext>
                </a:extLst>
              </p:cNvPr>
              <p:cNvSpPr txBox="1"/>
              <p:nvPr/>
            </p:nvSpPr>
            <p:spPr>
              <a:xfrm>
                <a:off x="501488" y="4233379"/>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−90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12" name="wc1">
                <a:extLst>
                  <a:ext uri="{FF2B5EF4-FFF2-40B4-BE49-F238E27FC236}">
                    <a16:creationId xmlns:a16="http://schemas.microsoft.com/office/drawing/2014/main" id="{FD116DF8-C6C0-F0DF-F845-5D0FF5337E65}"/>
                  </a:ext>
                </a:extLst>
              </p:cNvPr>
              <p:cNvSpPr txBox="1">
                <a:spLocks noRot="1" noChangeAspect="1" noMove="1" noResize="1" noEditPoints="1" noAdjustHandles="1" noChangeArrowheads="1" noChangeShapeType="1" noTextEdit="1"/>
              </p:cNvSpPr>
              <p:nvPr/>
            </p:nvSpPr>
            <p:spPr>
              <a:xfrm>
                <a:off x="501488" y="4233379"/>
                <a:ext cx="414004" cy="524695"/>
              </a:xfrm>
              <a:prstGeom prst="rect">
                <a:avLst/>
              </a:prstGeom>
              <a:blipFill>
                <a:blip r:embed="rId11"/>
                <a:stretch>
                  <a:fillRect r="-145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wc1">
                <a:extLst>
                  <a:ext uri="{FF2B5EF4-FFF2-40B4-BE49-F238E27FC236}">
                    <a16:creationId xmlns:a16="http://schemas.microsoft.com/office/drawing/2014/main" id="{F963F301-8278-1E0F-3F19-6E10398652BA}"/>
                  </a:ext>
                </a:extLst>
              </p:cNvPr>
              <p:cNvSpPr txBox="1"/>
              <p:nvPr/>
            </p:nvSpPr>
            <p:spPr>
              <a:xfrm>
                <a:off x="286505" y="5130271"/>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−270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24" name="wc1">
                <a:extLst>
                  <a:ext uri="{FF2B5EF4-FFF2-40B4-BE49-F238E27FC236}">
                    <a16:creationId xmlns:a16="http://schemas.microsoft.com/office/drawing/2014/main" id="{F963F301-8278-1E0F-3F19-6E10398652BA}"/>
                  </a:ext>
                </a:extLst>
              </p:cNvPr>
              <p:cNvSpPr txBox="1">
                <a:spLocks noRot="1" noChangeAspect="1" noMove="1" noResize="1" noEditPoints="1" noAdjustHandles="1" noChangeArrowheads="1" noChangeShapeType="1" noTextEdit="1"/>
              </p:cNvSpPr>
              <p:nvPr/>
            </p:nvSpPr>
            <p:spPr>
              <a:xfrm>
                <a:off x="286505" y="5130271"/>
                <a:ext cx="414004" cy="524695"/>
              </a:xfrm>
              <a:prstGeom prst="rect">
                <a:avLst/>
              </a:prstGeom>
              <a:blipFill>
                <a:blip r:embed="rId12"/>
                <a:stretch>
                  <a:fillRect r="-182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Re">
                <a:extLst>
                  <a:ext uri="{FF2B5EF4-FFF2-40B4-BE49-F238E27FC236}">
                    <a16:creationId xmlns:a16="http://schemas.microsoft.com/office/drawing/2014/main" id="{7A49F49C-1D89-221A-F1FD-BF6C14CE2830}"/>
                  </a:ext>
                </a:extLst>
              </p:cNvPr>
              <p:cNvSpPr txBox="1"/>
              <p:nvPr/>
            </p:nvSpPr>
            <p:spPr>
              <a:xfrm>
                <a:off x="4485068" y="3515898"/>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𝜔</m:t>
                      </m:r>
                    </m:oMath>
                  </m:oMathPara>
                </a14:m>
                <a:endParaRPr lang="zh-CN" altLang="en-US" sz="2800" dirty="0"/>
              </a:p>
            </p:txBody>
          </p:sp>
        </mc:Choice>
        <mc:Fallback xmlns="">
          <p:sp>
            <p:nvSpPr>
              <p:cNvPr id="25" name="Re">
                <a:extLst>
                  <a:ext uri="{FF2B5EF4-FFF2-40B4-BE49-F238E27FC236}">
                    <a16:creationId xmlns:a16="http://schemas.microsoft.com/office/drawing/2014/main" id="{7A49F49C-1D89-221A-F1FD-BF6C14CE2830}"/>
                  </a:ext>
                </a:extLst>
              </p:cNvPr>
              <p:cNvSpPr txBox="1">
                <a:spLocks noRot="1" noChangeAspect="1" noMove="1" noResize="1" noEditPoints="1" noAdjustHandles="1" noChangeArrowheads="1" noChangeShapeType="1" noTextEdit="1"/>
              </p:cNvSpPr>
              <p:nvPr/>
            </p:nvSpPr>
            <p:spPr>
              <a:xfrm>
                <a:off x="4485068" y="3515898"/>
                <a:ext cx="576536"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Re">
                <a:extLst>
                  <a:ext uri="{FF2B5EF4-FFF2-40B4-BE49-F238E27FC236}">
                    <a16:creationId xmlns:a16="http://schemas.microsoft.com/office/drawing/2014/main" id="{1C301D7D-5215-43DE-9D6C-2370DBB061DD}"/>
                  </a:ext>
                </a:extLst>
              </p:cNvPr>
              <p:cNvSpPr txBox="1"/>
              <p:nvPr/>
            </p:nvSpPr>
            <p:spPr>
              <a:xfrm>
                <a:off x="1857610" y="1531418"/>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−40</m:t>
                      </m:r>
                    </m:oMath>
                  </m:oMathPara>
                </a14:m>
                <a:endParaRPr lang="zh-CN" altLang="en-US" sz="2800" dirty="0"/>
              </a:p>
            </p:txBody>
          </p:sp>
        </mc:Choice>
        <mc:Fallback xmlns="">
          <p:sp>
            <p:nvSpPr>
              <p:cNvPr id="28" name="Re">
                <a:extLst>
                  <a:ext uri="{FF2B5EF4-FFF2-40B4-BE49-F238E27FC236}">
                    <a16:creationId xmlns:a16="http://schemas.microsoft.com/office/drawing/2014/main" id="{1C301D7D-5215-43DE-9D6C-2370DBB061DD}"/>
                  </a:ext>
                </a:extLst>
              </p:cNvPr>
              <p:cNvSpPr txBox="1">
                <a:spLocks noRot="1" noChangeAspect="1" noMove="1" noResize="1" noEditPoints="1" noAdjustHandles="1" noChangeArrowheads="1" noChangeShapeType="1" noTextEdit="1"/>
              </p:cNvSpPr>
              <p:nvPr/>
            </p:nvSpPr>
            <p:spPr>
              <a:xfrm>
                <a:off x="1857610" y="1531418"/>
                <a:ext cx="576536" cy="523220"/>
              </a:xfrm>
              <a:prstGeom prst="rect">
                <a:avLst/>
              </a:prstGeom>
              <a:blipFill>
                <a:blip r:embed="rId13"/>
                <a:stretch>
                  <a:fillRect r="-521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Re">
                <a:extLst>
                  <a:ext uri="{FF2B5EF4-FFF2-40B4-BE49-F238E27FC236}">
                    <a16:creationId xmlns:a16="http://schemas.microsoft.com/office/drawing/2014/main" id="{55BB8C3B-2A97-7B86-656E-8231D15ECCA4}"/>
                  </a:ext>
                </a:extLst>
              </p:cNvPr>
              <p:cNvSpPr txBox="1"/>
              <p:nvPr/>
            </p:nvSpPr>
            <p:spPr>
              <a:xfrm>
                <a:off x="3897599" y="256087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−40</m:t>
                      </m:r>
                    </m:oMath>
                  </m:oMathPara>
                </a14:m>
                <a:endParaRPr lang="zh-CN" altLang="en-US" sz="2800" dirty="0"/>
              </a:p>
            </p:txBody>
          </p:sp>
        </mc:Choice>
        <mc:Fallback xmlns="">
          <p:sp>
            <p:nvSpPr>
              <p:cNvPr id="35" name="Re">
                <a:extLst>
                  <a:ext uri="{FF2B5EF4-FFF2-40B4-BE49-F238E27FC236}">
                    <a16:creationId xmlns:a16="http://schemas.microsoft.com/office/drawing/2014/main" id="{55BB8C3B-2A97-7B86-656E-8231D15ECCA4}"/>
                  </a:ext>
                </a:extLst>
              </p:cNvPr>
              <p:cNvSpPr txBox="1">
                <a:spLocks noRot="1" noChangeAspect="1" noMove="1" noResize="1" noEditPoints="1" noAdjustHandles="1" noChangeArrowheads="1" noChangeShapeType="1" noTextEdit="1"/>
              </p:cNvSpPr>
              <p:nvPr/>
            </p:nvSpPr>
            <p:spPr>
              <a:xfrm>
                <a:off x="3897599" y="2560876"/>
                <a:ext cx="576536" cy="523220"/>
              </a:xfrm>
              <a:prstGeom prst="rect">
                <a:avLst/>
              </a:prstGeom>
              <a:blipFill>
                <a:blip r:embed="rId14"/>
                <a:stretch>
                  <a:fillRect r="-489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小标题1">
                <a:extLst>
                  <a:ext uri="{FF2B5EF4-FFF2-40B4-BE49-F238E27FC236}">
                    <a16:creationId xmlns:a16="http://schemas.microsoft.com/office/drawing/2014/main" id="{189B33C1-39D4-0680-BBB3-481A5FF34FE1}"/>
                  </a:ext>
                </a:extLst>
              </p:cNvPr>
              <p:cNvSpPr/>
              <p:nvPr/>
            </p:nvSpPr>
            <p:spPr bwMode="auto">
              <a:xfrm>
                <a:off x="548936" y="5923051"/>
                <a:ext cx="4707680"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en-US" altLang="zh-CN" sz="3200" b="1" dirty="0">
                    <a:solidFill>
                      <a:schemeClr val="bg1"/>
                    </a:solidFill>
                    <a:latin typeface="+mn-ea"/>
                  </a:rPr>
                  <a:t>(a)</a:t>
                </a:r>
                <a:r>
                  <a:rPr lang="zh-CN" altLang="en-US" sz="3200" b="1" dirty="0">
                    <a:solidFill>
                      <a:schemeClr val="bg1"/>
                    </a:solidFill>
                    <a:latin typeface="+mn-ea"/>
                  </a:rPr>
                  <a:t> </a:t>
                </a:r>
                <a14:m>
                  <m:oMath xmlns:m="http://schemas.openxmlformats.org/officeDocument/2006/math">
                    <m:r>
                      <a:rPr lang="en-US" altLang="zh-CN" sz="3200" b="1" i="1" dirty="0" smtClean="0">
                        <a:solidFill>
                          <a:schemeClr val="bg1"/>
                        </a:solidFill>
                        <a:latin typeface="Cambria Math" panose="02040503050406030204" pitchFamily="18" charset="0"/>
                      </a:rPr>
                      <m:t>𝑵</m:t>
                    </m:r>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𝟎</m:t>
                    </m:r>
                    <m:r>
                      <a:rPr lang="en-US" altLang="zh-CN" sz="3200" b="1" i="1" dirty="0" smtClean="0">
                        <a:solidFill>
                          <a:schemeClr val="bg1"/>
                        </a:solidFill>
                        <a:latin typeface="Cambria Math" panose="02040503050406030204" pitchFamily="18" charset="0"/>
                        <a:ea typeface="Cambria Math" panose="02040503050406030204" pitchFamily="18" charset="0"/>
                      </a:rPr>
                      <m:t>=</m:t>
                    </m:r>
                    <m:r>
                      <a:rPr lang="en-US" altLang="zh-CN" sz="3200" b="1" i="1" dirty="0" smtClean="0">
                        <a:solidFill>
                          <a:schemeClr val="bg1"/>
                        </a:solidFill>
                        <a:latin typeface="Cambria Math" panose="02040503050406030204" pitchFamily="18" charset="0"/>
                      </a:rPr>
                      <m:t>𝑷</m:t>
                    </m:r>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𝟐</m:t>
                    </m:r>
                  </m:oMath>
                </a14:m>
                <a:r>
                  <a:rPr lang="zh-CN" altLang="en-US" sz="3200" b="1" dirty="0">
                    <a:solidFill>
                      <a:schemeClr val="bg1"/>
                    </a:solidFill>
                    <a:latin typeface="+mn-ea"/>
                  </a:rPr>
                  <a:t>， 稳定</a:t>
                </a:r>
              </a:p>
            </p:txBody>
          </p:sp>
        </mc:Choice>
        <mc:Fallback xmlns="">
          <p:sp>
            <p:nvSpPr>
              <p:cNvPr id="36" name="小标题1">
                <a:extLst>
                  <a:ext uri="{FF2B5EF4-FFF2-40B4-BE49-F238E27FC236}">
                    <a16:creationId xmlns:a16="http://schemas.microsoft.com/office/drawing/2014/main" id="{189B33C1-39D4-0680-BBB3-481A5FF34FE1}"/>
                  </a:ext>
                </a:extLst>
              </p:cNvPr>
              <p:cNvSpPr>
                <a:spLocks noRot="1" noChangeAspect="1" noMove="1" noResize="1" noEditPoints="1" noAdjustHandles="1" noChangeArrowheads="1" noChangeShapeType="1" noTextEdit="1"/>
              </p:cNvSpPr>
              <p:nvPr/>
            </p:nvSpPr>
            <p:spPr bwMode="auto">
              <a:xfrm>
                <a:off x="548936" y="5923051"/>
                <a:ext cx="4707680" cy="576000"/>
              </a:xfrm>
              <a:prstGeom prst="roundRect">
                <a:avLst/>
              </a:prstGeom>
              <a:blipFill>
                <a:blip r:embed="rId15"/>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p:cxnSp>
        <p:nvCxnSpPr>
          <p:cNvPr id="37" name="实轴">
            <a:extLst>
              <a:ext uri="{FF2B5EF4-FFF2-40B4-BE49-F238E27FC236}">
                <a16:creationId xmlns:a16="http://schemas.microsoft.com/office/drawing/2014/main" id="{9F5E8A16-B5D9-A703-DFC2-2173A6C2E880}"/>
              </a:ext>
            </a:extLst>
          </p:cNvPr>
          <p:cNvCxnSpPr>
            <a:cxnSpLocks/>
          </p:cNvCxnSpPr>
          <p:nvPr/>
        </p:nvCxnSpPr>
        <p:spPr>
          <a:xfrm flipV="1">
            <a:off x="2434146" y="2264633"/>
            <a:ext cx="0" cy="156255"/>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实轴">
            <a:extLst>
              <a:ext uri="{FF2B5EF4-FFF2-40B4-BE49-F238E27FC236}">
                <a16:creationId xmlns:a16="http://schemas.microsoft.com/office/drawing/2014/main" id="{00380A58-654A-5DB7-737D-C328347D9C81}"/>
              </a:ext>
            </a:extLst>
          </p:cNvPr>
          <p:cNvCxnSpPr>
            <a:cxnSpLocks/>
            <a:stCxn id="21" idx="1"/>
          </p:cNvCxnSpPr>
          <p:nvPr/>
        </p:nvCxnSpPr>
        <p:spPr>
          <a:xfrm flipV="1">
            <a:off x="3474721" y="2400847"/>
            <a:ext cx="0" cy="238986"/>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
                <a:extLst>
                  <a:ext uri="{FF2B5EF4-FFF2-40B4-BE49-F238E27FC236}">
                    <a16:creationId xmlns:a16="http://schemas.microsoft.com/office/drawing/2014/main" id="{9C4D989A-156A-DA26-B83C-D143DB9E7A28}"/>
                  </a:ext>
                </a:extLst>
              </p:cNvPr>
              <p:cNvSpPr txBox="1"/>
              <p:nvPr/>
            </p:nvSpPr>
            <p:spPr>
              <a:xfrm>
                <a:off x="1809911" y="2423532"/>
                <a:ext cx="110030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1/</m:t>
                      </m:r>
                      <m:r>
                        <a:rPr lang="en-US" altLang="zh-CN" sz="2800" i="1">
                          <a:latin typeface="Cambria Math" panose="02040503050406030204" pitchFamily="18" charset="0"/>
                          <a:ea typeface="Cambria Math" panose="02040503050406030204" pitchFamily="18" charset="0"/>
                        </a:rPr>
                        <m:t>𝜏</m:t>
                      </m:r>
                    </m:oMath>
                  </m:oMathPara>
                </a14:m>
                <a:endParaRPr lang="zh-CN" altLang="en-US" sz="2800" dirty="0"/>
              </a:p>
            </p:txBody>
          </p:sp>
        </mc:Choice>
        <mc:Fallback xmlns="">
          <p:sp>
            <p:nvSpPr>
              <p:cNvPr id="42" name="Re">
                <a:extLst>
                  <a:ext uri="{FF2B5EF4-FFF2-40B4-BE49-F238E27FC236}">
                    <a16:creationId xmlns:a16="http://schemas.microsoft.com/office/drawing/2014/main" id="{9C4D989A-156A-DA26-B83C-D143DB9E7A28}"/>
                  </a:ext>
                </a:extLst>
              </p:cNvPr>
              <p:cNvSpPr txBox="1">
                <a:spLocks noRot="1" noChangeAspect="1" noMove="1" noResize="1" noEditPoints="1" noAdjustHandles="1" noChangeArrowheads="1" noChangeShapeType="1" noTextEdit="1"/>
              </p:cNvSpPr>
              <p:nvPr/>
            </p:nvSpPr>
            <p:spPr>
              <a:xfrm>
                <a:off x="1809911" y="2423532"/>
                <a:ext cx="1100309" cy="523220"/>
              </a:xfrm>
              <a:prstGeom prst="rect">
                <a:avLst/>
              </a:prstGeom>
              <a:blipFill>
                <a:blip r:embed="rId16"/>
                <a:stretch>
                  <a:fillRect b="-195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Re">
                <a:extLst>
                  <a:ext uri="{FF2B5EF4-FFF2-40B4-BE49-F238E27FC236}">
                    <a16:creationId xmlns:a16="http://schemas.microsoft.com/office/drawing/2014/main" id="{D82C70E0-9F8A-7AD0-5E3F-291AE41CEEFA}"/>
                  </a:ext>
                </a:extLst>
              </p:cNvPr>
              <p:cNvSpPr txBox="1"/>
              <p:nvPr/>
            </p:nvSpPr>
            <p:spPr>
              <a:xfrm>
                <a:off x="2922816" y="2707532"/>
                <a:ext cx="110030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1/</m:t>
                      </m:r>
                      <m:r>
                        <a:rPr lang="en-US" altLang="zh-CN" sz="2800" b="0" i="1" smtClean="0">
                          <a:latin typeface="Cambria Math" panose="02040503050406030204" pitchFamily="18" charset="0"/>
                          <a:ea typeface="Cambria Math" panose="02040503050406030204" pitchFamily="18" charset="0"/>
                        </a:rPr>
                        <m:t>𝑇</m:t>
                      </m:r>
                    </m:oMath>
                  </m:oMathPara>
                </a14:m>
                <a:endParaRPr lang="zh-CN" altLang="en-US" sz="2800" dirty="0"/>
              </a:p>
            </p:txBody>
          </p:sp>
        </mc:Choice>
        <mc:Fallback xmlns="">
          <p:sp>
            <p:nvSpPr>
              <p:cNvPr id="43" name="Re">
                <a:extLst>
                  <a:ext uri="{FF2B5EF4-FFF2-40B4-BE49-F238E27FC236}">
                    <a16:creationId xmlns:a16="http://schemas.microsoft.com/office/drawing/2014/main" id="{D82C70E0-9F8A-7AD0-5E3F-291AE41CEEFA}"/>
                  </a:ext>
                </a:extLst>
              </p:cNvPr>
              <p:cNvSpPr txBox="1">
                <a:spLocks noRot="1" noChangeAspect="1" noMove="1" noResize="1" noEditPoints="1" noAdjustHandles="1" noChangeArrowheads="1" noChangeShapeType="1" noTextEdit="1"/>
              </p:cNvSpPr>
              <p:nvPr/>
            </p:nvSpPr>
            <p:spPr>
              <a:xfrm>
                <a:off x="2922816" y="2707532"/>
                <a:ext cx="1100309" cy="523220"/>
              </a:xfrm>
              <a:prstGeom prst="rect">
                <a:avLst/>
              </a:prstGeom>
              <a:blipFill>
                <a:blip r:embed="rId17"/>
                <a:stretch>
                  <a:fillRect b="-19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wc1">
                <a:extLst>
                  <a:ext uri="{FF2B5EF4-FFF2-40B4-BE49-F238E27FC236}">
                    <a16:creationId xmlns:a16="http://schemas.microsoft.com/office/drawing/2014/main" id="{C72ECD3C-7BD5-084D-6214-447B5C7790CB}"/>
                  </a:ext>
                </a:extLst>
              </p:cNvPr>
              <p:cNvSpPr txBox="1"/>
              <p:nvPr/>
            </p:nvSpPr>
            <p:spPr>
              <a:xfrm>
                <a:off x="7581930" y="2190539"/>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oMath>
                  </m:oMathPara>
                </a14:m>
                <a:endParaRPr lang="zh-CN" altLang="en-US" sz="2800" dirty="0"/>
              </a:p>
            </p:txBody>
          </p:sp>
        </mc:Choice>
        <mc:Fallback xmlns="">
          <p:sp>
            <p:nvSpPr>
              <p:cNvPr id="44" name="wc1">
                <a:extLst>
                  <a:ext uri="{FF2B5EF4-FFF2-40B4-BE49-F238E27FC236}">
                    <a16:creationId xmlns:a16="http://schemas.microsoft.com/office/drawing/2014/main" id="{C72ECD3C-7BD5-084D-6214-447B5C7790CB}"/>
                  </a:ext>
                </a:extLst>
              </p:cNvPr>
              <p:cNvSpPr txBox="1">
                <a:spLocks noRot="1" noChangeAspect="1" noMove="1" noResize="1" noEditPoints="1" noAdjustHandles="1" noChangeArrowheads="1" noChangeShapeType="1" noTextEdit="1"/>
              </p:cNvSpPr>
              <p:nvPr/>
            </p:nvSpPr>
            <p:spPr>
              <a:xfrm>
                <a:off x="7581930" y="2190539"/>
                <a:ext cx="414004" cy="524695"/>
              </a:xfrm>
              <a:prstGeom prst="rect">
                <a:avLst/>
              </a:prstGeom>
              <a:blipFill>
                <a:blip r:embed="rId3"/>
                <a:stretch>
                  <a:fillRect l="-6061" r="-3030"/>
                </a:stretch>
              </a:blipFill>
            </p:spPr>
            <p:txBody>
              <a:bodyPr/>
              <a:lstStyle/>
              <a:p>
                <a:r>
                  <a:rPr lang="zh-CN" altLang="en-US">
                    <a:noFill/>
                  </a:rPr>
                  <a:t> </a:t>
                </a:r>
              </a:p>
            </p:txBody>
          </p:sp>
        </mc:Fallback>
      </mc:AlternateContent>
      <p:grpSp>
        <p:nvGrpSpPr>
          <p:cNvPr id="47" name="坐标轴">
            <a:extLst>
              <a:ext uri="{FF2B5EF4-FFF2-40B4-BE49-F238E27FC236}">
                <a16:creationId xmlns:a16="http://schemas.microsoft.com/office/drawing/2014/main" id="{1D6E6CBA-26CB-DD61-7F6C-458CF7AE9972}"/>
              </a:ext>
            </a:extLst>
          </p:cNvPr>
          <p:cNvGrpSpPr/>
          <p:nvPr/>
        </p:nvGrpSpPr>
        <p:grpSpPr>
          <a:xfrm>
            <a:off x="8089924" y="1124744"/>
            <a:ext cx="3549898" cy="2111429"/>
            <a:chOff x="8500451" y="2576128"/>
            <a:chExt cx="3549898" cy="2111429"/>
          </a:xfrm>
        </p:grpSpPr>
        <p:cxnSp>
          <p:nvCxnSpPr>
            <p:cNvPr id="48" name="实轴">
              <a:extLst>
                <a:ext uri="{FF2B5EF4-FFF2-40B4-BE49-F238E27FC236}">
                  <a16:creationId xmlns:a16="http://schemas.microsoft.com/office/drawing/2014/main" id="{781A0E7B-FC89-F9D3-0764-3AFE61A7B33B}"/>
                </a:ext>
              </a:extLst>
            </p:cNvPr>
            <p:cNvCxnSpPr>
              <a:cxnSpLocks/>
            </p:cNvCxnSpPr>
            <p:nvPr/>
          </p:nvCxnSpPr>
          <p:spPr>
            <a:xfrm flipH="1">
              <a:off x="8500451" y="3872272"/>
              <a:ext cx="3315576"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虚轴">
              <a:extLst>
                <a:ext uri="{FF2B5EF4-FFF2-40B4-BE49-F238E27FC236}">
                  <a16:creationId xmlns:a16="http://schemas.microsoft.com/office/drawing/2014/main" id="{C769E149-DD48-7A6F-F7D3-BE0C88B99136}"/>
                </a:ext>
              </a:extLst>
            </p:cNvPr>
            <p:cNvCxnSpPr>
              <a:cxnSpLocks/>
            </p:cNvCxnSpPr>
            <p:nvPr/>
          </p:nvCxnSpPr>
          <p:spPr>
            <a:xfrm flipV="1">
              <a:off x="8500451" y="2744478"/>
              <a:ext cx="0" cy="1943079"/>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
                  <a:extLst>
                    <a:ext uri="{FF2B5EF4-FFF2-40B4-BE49-F238E27FC236}">
                      <a16:creationId xmlns:a16="http://schemas.microsoft.com/office/drawing/2014/main" id="{A5EF7839-85A2-7392-749B-950DC9B98639}"/>
                    </a:ext>
                  </a:extLst>
                </p:cNvPr>
                <p:cNvSpPr txBox="1"/>
                <p:nvPr/>
              </p:nvSpPr>
              <p:spPr>
                <a:xfrm>
                  <a:off x="11473813" y="332901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𝜔</m:t>
                        </m:r>
                      </m:oMath>
                    </m:oMathPara>
                  </a14:m>
                  <a:endParaRPr lang="zh-CN" altLang="en-US" sz="2800" dirty="0"/>
                </a:p>
              </p:txBody>
            </p:sp>
          </mc:Choice>
          <mc:Fallback xmlns="">
            <p:sp>
              <p:nvSpPr>
                <p:cNvPr id="50" name="Re">
                  <a:extLst>
                    <a:ext uri="{FF2B5EF4-FFF2-40B4-BE49-F238E27FC236}">
                      <a16:creationId xmlns:a16="http://schemas.microsoft.com/office/drawing/2014/main" id="{A5EF7839-85A2-7392-749B-950DC9B98639}"/>
                    </a:ext>
                  </a:extLst>
                </p:cNvPr>
                <p:cNvSpPr txBox="1">
                  <a:spLocks noRot="1" noChangeAspect="1" noMove="1" noResize="1" noEditPoints="1" noAdjustHandles="1" noChangeArrowheads="1" noChangeShapeType="1" noTextEdit="1"/>
                </p:cNvSpPr>
                <p:nvPr/>
              </p:nvSpPr>
              <p:spPr>
                <a:xfrm>
                  <a:off x="11473813" y="3329011"/>
                  <a:ext cx="576536"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Im">
                  <a:extLst>
                    <a:ext uri="{FF2B5EF4-FFF2-40B4-BE49-F238E27FC236}">
                      <a16:creationId xmlns:a16="http://schemas.microsoft.com/office/drawing/2014/main" id="{134500AF-293B-14DC-3666-3DF538AF0A67}"/>
                    </a:ext>
                  </a:extLst>
                </p:cNvPr>
                <p:cNvSpPr txBox="1"/>
                <p:nvPr/>
              </p:nvSpPr>
              <p:spPr>
                <a:xfrm>
                  <a:off x="8543938" y="2576128"/>
                  <a:ext cx="1466535" cy="523220"/>
                </a:xfrm>
                <a:prstGeom prst="rect">
                  <a:avLst/>
                </a:prstGeom>
                <a:noFill/>
              </p:spPr>
              <p:txBody>
                <a:bodyPr wrap="square">
                  <a:spAutoFit/>
                </a:bodyPr>
                <a:lstStyle/>
                <a:p>
                  <a14:m>
                    <m:oMath xmlns:m="http://schemas.openxmlformats.org/officeDocument/2006/math">
                      <m:r>
                        <a:rPr lang="en-US" altLang="zh-CN" sz="2800" b="0" i="1" smtClean="0">
                          <a:latin typeface="Cambria Math" panose="02040503050406030204" pitchFamily="18" charset="0"/>
                        </a:rPr>
                        <m:t>𝐿</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𝜔</m:t>
                          </m:r>
                        </m:e>
                      </m:d>
                    </m:oMath>
                  </a14:m>
                  <a:r>
                    <a:rPr lang="en-US" altLang="zh-CN" sz="2800" dirty="0"/>
                    <a:t>dB</a:t>
                  </a:r>
                  <a:endParaRPr lang="zh-CN" altLang="en-US" sz="2800" dirty="0"/>
                </a:p>
              </p:txBody>
            </p:sp>
          </mc:Choice>
          <mc:Fallback xmlns="">
            <p:sp>
              <p:nvSpPr>
                <p:cNvPr id="51" name="Im">
                  <a:extLst>
                    <a:ext uri="{FF2B5EF4-FFF2-40B4-BE49-F238E27FC236}">
                      <a16:creationId xmlns:a16="http://schemas.microsoft.com/office/drawing/2014/main" id="{134500AF-293B-14DC-3666-3DF538AF0A67}"/>
                    </a:ext>
                  </a:extLst>
                </p:cNvPr>
                <p:cNvSpPr txBox="1">
                  <a:spLocks noRot="1" noChangeAspect="1" noMove="1" noResize="1" noEditPoints="1" noAdjustHandles="1" noChangeArrowheads="1" noChangeShapeType="1" noTextEdit="1"/>
                </p:cNvSpPr>
                <p:nvPr/>
              </p:nvSpPr>
              <p:spPr>
                <a:xfrm>
                  <a:off x="8543938" y="2576128"/>
                  <a:ext cx="1466535" cy="523220"/>
                </a:xfrm>
                <a:prstGeom prst="rect">
                  <a:avLst/>
                </a:prstGeom>
                <a:blipFill>
                  <a:blip r:embed="rId18"/>
                  <a:stretch>
                    <a:fillRect l="-2586" t="-11905" b="-30952"/>
                  </a:stretch>
                </a:blipFill>
              </p:spPr>
              <p:txBody>
                <a:bodyPr/>
                <a:lstStyle/>
                <a:p>
                  <a:r>
                    <a:rPr lang="zh-CN" altLang="en-US">
                      <a:noFill/>
                    </a:rPr>
                    <a:t> </a:t>
                  </a:r>
                </a:p>
              </p:txBody>
            </p:sp>
          </mc:Fallback>
        </mc:AlternateContent>
      </p:grpSp>
      <p:sp>
        <p:nvSpPr>
          <p:cNvPr id="52" name="幅相">
            <a:extLst>
              <a:ext uri="{FF2B5EF4-FFF2-40B4-BE49-F238E27FC236}">
                <a16:creationId xmlns:a16="http://schemas.microsoft.com/office/drawing/2014/main" id="{A2C68616-360B-BD4E-88A1-15D1B2DFCEFA}"/>
              </a:ext>
            </a:extLst>
          </p:cNvPr>
          <p:cNvSpPr/>
          <p:nvPr/>
        </p:nvSpPr>
        <p:spPr>
          <a:xfrm>
            <a:off x="8519625" y="1625491"/>
            <a:ext cx="2543661" cy="1621539"/>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776211 w 776211"/>
              <a:gd name="connsiteY0" fmla="*/ 732888 h 732888"/>
              <a:gd name="connsiteX1" fmla="*/ 0 w 776211"/>
              <a:gd name="connsiteY1" fmla="*/ 525941 h 732888"/>
              <a:gd name="connsiteX0" fmla="*/ 776211 w 776211"/>
              <a:gd name="connsiteY0" fmla="*/ 569097 h 569097"/>
              <a:gd name="connsiteX1" fmla="*/ 0 w 776211"/>
              <a:gd name="connsiteY1" fmla="*/ 362150 h 569097"/>
              <a:gd name="connsiteX0" fmla="*/ 834190 w 834190"/>
              <a:gd name="connsiteY0" fmla="*/ 597130 h 597130"/>
              <a:gd name="connsiteX1" fmla="*/ 0 w 834190"/>
              <a:gd name="connsiteY1" fmla="*/ 305053 h 597130"/>
              <a:gd name="connsiteX0" fmla="*/ 1515444 w 1515444"/>
              <a:gd name="connsiteY0" fmla="*/ 1508215 h 1508215"/>
              <a:gd name="connsiteX1" fmla="*/ 0 w 1515444"/>
              <a:gd name="connsiteY1" fmla="*/ 0 h 1508215"/>
              <a:gd name="connsiteX0" fmla="*/ 1515444 w 1515444"/>
              <a:gd name="connsiteY0" fmla="*/ 1508215 h 1508215"/>
              <a:gd name="connsiteX1" fmla="*/ 0 w 1515444"/>
              <a:gd name="connsiteY1" fmla="*/ 0 h 1508215"/>
              <a:gd name="connsiteX0" fmla="*/ 1566176 w 1566176"/>
              <a:gd name="connsiteY0" fmla="*/ 1374440 h 1374440"/>
              <a:gd name="connsiteX1" fmla="*/ 0 w 1566176"/>
              <a:gd name="connsiteY1" fmla="*/ 0 h 1374440"/>
              <a:gd name="connsiteX0" fmla="*/ 1783030 w 1783030"/>
              <a:gd name="connsiteY0" fmla="*/ 1659650 h 1659650"/>
              <a:gd name="connsiteX1" fmla="*/ 0 w 1783030"/>
              <a:gd name="connsiteY1" fmla="*/ 0 h 1659650"/>
              <a:gd name="connsiteX0" fmla="*/ 1783030 w 1783030"/>
              <a:gd name="connsiteY0" fmla="*/ 1659650 h 1659650"/>
              <a:gd name="connsiteX1" fmla="*/ 0 w 1783030"/>
              <a:gd name="connsiteY1" fmla="*/ 0 h 1659650"/>
              <a:gd name="connsiteX0" fmla="*/ 1783030 w 1783030"/>
              <a:gd name="connsiteY0" fmla="*/ 1659650 h 1659650"/>
              <a:gd name="connsiteX1" fmla="*/ 434623 w 1783030"/>
              <a:gd name="connsiteY1" fmla="*/ 220176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1096908 w 1783030"/>
              <a:gd name="connsiteY1" fmla="*/ 1046303 h 1659650"/>
              <a:gd name="connsiteX2" fmla="*/ 428762 w 1783030"/>
              <a:gd name="connsiteY2" fmla="*/ 416873 h 1659650"/>
              <a:gd name="connsiteX3" fmla="*/ 0 w 1783030"/>
              <a:gd name="connsiteY3" fmla="*/ 0 h 1659650"/>
              <a:gd name="connsiteX0" fmla="*/ 1783030 w 1783030"/>
              <a:gd name="connsiteY0" fmla="*/ 1659650 h 1659650"/>
              <a:gd name="connsiteX1" fmla="*/ 1161379 w 1783030"/>
              <a:gd name="connsiteY1" fmla="*/ 898781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2163990 w 2163990"/>
              <a:gd name="connsiteY0" fmla="*/ 1689155 h 1689155"/>
              <a:gd name="connsiteX1" fmla="*/ 1178962 w 2163990"/>
              <a:gd name="connsiteY1" fmla="*/ 859442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 name="connsiteX0" fmla="*/ 1874940 w 1874940"/>
              <a:gd name="connsiteY0" fmla="*/ 2005660 h 2005660"/>
              <a:gd name="connsiteX1" fmla="*/ 1130210 w 1874940"/>
              <a:gd name="connsiteY1" fmla="*/ 1254625 h 2005660"/>
              <a:gd name="connsiteX2" fmla="*/ 374150 w 1874940"/>
              <a:gd name="connsiteY2" fmla="*/ 792387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263858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Lst>
            <a:ahLst/>
            <a:cxnLst>
              <a:cxn ang="0">
                <a:pos x="connsiteX0" y="connsiteY0"/>
              </a:cxn>
              <a:cxn ang="0">
                <a:pos x="connsiteX1" y="connsiteY1"/>
              </a:cxn>
              <a:cxn ang="0">
                <a:pos x="connsiteX2" y="connsiteY2"/>
              </a:cxn>
              <a:cxn ang="0">
                <a:pos x="connsiteX3" y="connsiteY3"/>
              </a:cxn>
            </a:cxnLst>
            <a:rect l="l" t="t" r="r" b="b"/>
            <a:pathLst>
              <a:path w="1874940" h="2005660">
                <a:moveTo>
                  <a:pt x="1874940" y="2005660"/>
                </a:moveTo>
                <a:lnTo>
                  <a:pt x="952518" y="1378008"/>
                </a:lnTo>
                <a:cubicBezTo>
                  <a:pt x="702030" y="985358"/>
                  <a:pt x="633895" y="813845"/>
                  <a:pt x="337386" y="339984"/>
                </a:cubicBezTo>
                <a:cubicBezTo>
                  <a:pt x="156876" y="131925"/>
                  <a:pt x="208935" y="212241"/>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3" name="幅相">
            <a:extLst>
              <a:ext uri="{FF2B5EF4-FFF2-40B4-BE49-F238E27FC236}">
                <a16:creationId xmlns:a16="http://schemas.microsoft.com/office/drawing/2014/main" id="{26D48894-B502-CB5D-63F0-F7FA1A966C4F}"/>
              </a:ext>
            </a:extLst>
          </p:cNvPr>
          <p:cNvSpPr/>
          <p:nvPr/>
        </p:nvSpPr>
        <p:spPr>
          <a:xfrm>
            <a:off x="8206446" y="4980202"/>
            <a:ext cx="3107856" cy="36524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145629 w 1398686"/>
              <a:gd name="connsiteY0" fmla="*/ 338080 h 1052732"/>
              <a:gd name="connsiteX1" fmla="*/ 1398685 w 1398686"/>
              <a:gd name="connsiteY1" fmla="*/ 386522 h 1052732"/>
              <a:gd name="connsiteX0" fmla="*/ 525041 w 1778098"/>
              <a:gd name="connsiteY0" fmla="*/ 258898 h 1547582"/>
              <a:gd name="connsiteX1" fmla="*/ 1778097 w 1778098"/>
              <a:gd name="connsiteY1" fmla="*/ 307340 h 1547582"/>
              <a:gd name="connsiteX0" fmla="*/ 845895 w 2098951"/>
              <a:gd name="connsiteY0" fmla="*/ 397422 h 1619227"/>
              <a:gd name="connsiteX1" fmla="*/ 2098951 w 2098951"/>
              <a:gd name="connsiteY1" fmla="*/ 445864 h 1619227"/>
              <a:gd name="connsiteX0" fmla="*/ 917898 w 2170954"/>
              <a:gd name="connsiteY0" fmla="*/ 323146 h 2182972"/>
              <a:gd name="connsiteX1" fmla="*/ 2170954 w 2170954"/>
              <a:gd name="connsiteY1" fmla="*/ 371588 h 2182972"/>
              <a:gd name="connsiteX0" fmla="*/ 650184 w 1903240"/>
              <a:gd name="connsiteY0" fmla="*/ 345438 h 1984175"/>
              <a:gd name="connsiteX1" fmla="*/ 1903240 w 1903240"/>
              <a:gd name="connsiteY1" fmla="*/ 393880 h 1984175"/>
              <a:gd name="connsiteX0" fmla="*/ 695090 w 1948146"/>
              <a:gd name="connsiteY0" fmla="*/ 640709 h 2146334"/>
              <a:gd name="connsiteX1" fmla="*/ 1948146 w 1948146"/>
              <a:gd name="connsiteY1" fmla="*/ 689151 h 2146334"/>
              <a:gd name="connsiteX0" fmla="*/ 1636927 w 1636927"/>
              <a:gd name="connsiteY0" fmla="*/ 581390 h 2830622"/>
              <a:gd name="connsiteX1" fmla="*/ 991170 w 1636927"/>
              <a:gd name="connsiteY1" fmla="*/ 1493289 h 2830622"/>
              <a:gd name="connsiteX0" fmla="*/ 824302 w 824302"/>
              <a:gd name="connsiteY0" fmla="*/ 1070631 h 1982531"/>
              <a:gd name="connsiteX1" fmla="*/ 178545 w 824302"/>
              <a:gd name="connsiteY1" fmla="*/ 1982530 h 1982531"/>
              <a:gd name="connsiteX0" fmla="*/ 1115345 w 1115345"/>
              <a:gd name="connsiteY0" fmla="*/ 928470 h 2655180"/>
              <a:gd name="connsiteX1" fmla="*/ 20250 w 1115345"/>
              <a:gd name="connsiteY1" fmla="*/ 2655181 h 2655180"/>
              <a:gd name="connsiteX0" fmla="*/ 1095095 w 1095095"/>
              <a:gd name="connsiteY0" fmla="*/ 988090 h 2714802"/>
              <a:gd name="connsiteX1" fmla="*/ 0 w 1095095"/>
              <a:gd name="connsiteY1" fmla="*/ 2714801 h 2714802"/>
              <a:gd name="connsiteX0" fmla="*/ 1095095 w 1095095"/>
              <a:gd name="connsiteY0" fmla="*/ 658667 h 2385377"/>
              <a:gd name="connsiteX1" fmla="*/ 0 w 1095095"/>
              <a:gd name="connsiteY1" fmla="*/ 2385378 h 2385377"/>
              <a:gd name="connsiteX0" fmla="*/ 1587917 w 1587917"/>
              <a:gd name="connsiteY0" fmla="*/ 801337 h 1725396"/>
              <a:gd name="connsiteX1" fmla="*/ 0 w 1587917"/>
              <a:gd name="connsiteY1" fmla="*/ 1725396 h 1725396"/>
              <a:gd name="connsiteX0" fmla="*/ 1442969 w 1442969"/>
              <a:gd name="connsiteY0" fmla="*/ 1260323 h 1260323"/>
              <a:gd name="connsiteX1" fmla="*/ 0 w 1442969"/>
              <a:gd name="connsiteY1" fmla="*/ 761501 h 1260323"/>
              <a:gd name="connsiteX0" fmla="*/ 1442969 w 1442969"/>
              <a:gd name="connsiteY0" fmla="*/ 737597 h 737597"/>
              <a:gd name="connsiteX1" fmla="*/ 0 w 1442969"/>
              <a:gd name="connsiteY1" fmla="*/ 238775 h 737597"/>
              <a:gd name="connsiteX0" fmla="*/ 1638648 w 1638648"/>
              <a:gd name="connsiteY0" fmla="*/ 839340 h 839341"/>
              <a:gd name="connsiteX1" fmla="*/ 0 w 1638648"/>
              <a:gd name="connsiteY1" fmla="*/ 0 h 839341"/>
              <a:gd name="connsiteX0" fmla="*/ 1638648 w 1638648"/>
              <a:gd name="connsiteY0" fmla="*/ 947618 h 947618"/>
              <a:gd name="connsiteX1" fmla="*/ 0 w 1638648"/>
              <a:gd name="connsiteY1" fmla="*/ 108278 h 947618"/>
              <a:gd name="connsiteX0" fmla="*/ 1638648 w 1638648"/>
              <a:gd name="connsiteY0" fmla="*/ 839340 h 839340"/>
              <a:gd name="connsiteX1" fmla="*/ 0 w 1638648"/>
              <a:gd name="connsiteY1" fmla="*/ 0 h 839340"/>
              <a:gd name="connsiteX0" fmla="*/ 1826198 w 1826198"/>
              <a:gd name="connsiteY0" fmla="*/ 725462 h 938081"/>
              <a:gd name="connsiteX1" fmla="*/ 0 w 1826198"/>
              <a:gd name="connsiteY1" fmla="*/ 299185 h 938081"/>
              <a:gd name="connsiteX0" fmla="*/ 1826198 w 1826198"/>
              <a:gd name="connsiteY0" fmla="*/ 1213248 h 1213249"/>
              <a:gd name="connsiteX1" fmla="*/ 0 w 1826198"/>
              <a:gd name="connsiteY1" fmla="*/ 786971 h 1213249"/>
              <a:gd name="connsiteX0" fmla="*/ 1826198 w 1826198"/>
              <a:gd name="connsiteY0" fmla="*/ 1213248 h 1213248"/>
              <a:gd name="connsiteX1" fmla="*/ 0 w 1826198"/>
              <a:gd name="connsiteY1" fmla="*/ 786971 h 1213248"/>
              <a:gd name="connsiteX0" fmla="*/ 2388848 w 2388848"/>
              <a:gd name="connsiteY0" fmla="*/ 1066812 h 1092938"/>
              <a:gd name="connsiteX1" fmla="*/ 0 w 2388848"/>
              <a:gd name="connsiteY1" fmla="*/ 1092939 h 1092938"/>
              <a:gd name="connsiteX0" fmla="*/ 2388848 w 2388848"/>
              <a:gd name="connsiteY0" fmla="*/ 420652 h 446780"/>
              <a:gd name="connsiteX1" fmla="*/ 0 w 2388848"/>
              <a:gd name="connsiteY1" fmla="*/ 446779 h 446780"/>
              <a:gd name="connsiteX0" fmla="*/ 2388848 w 2388848"/>
              <a:gd name="connsiteY0" fmla="*/ 403580 h 429707"/>
              <a:gd name="connsiteX1" fmla="*/ 0 w 2388848"/>
              <a:gd name="connsiteY1" fmla="*/ 429707 h 429707"/>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421283 h 447410"/>
              <a:gd name="connsiteX1" fmla="*/ 1141270 w 2388848"/>
              <a:gd name="connsiteY1" fmla="*/ 14037 h 447410"/>
              <a:gd name="connsiteX2" fmla="*/ 0 w 2388848"/>
              <a:gd name="connsiteY2" fmla="*/ 447410 h 447410"/>
              <a:gd name="connsiteX0" fmla="*/ 2388848 w 2388848"/>
              <a:gd name="connsiteY0" fmla="*/ 440026 h 466153"/>
              <a:gd name="connsiteX1" fmla="*/ 977164 w 2388848"/>
              <a:gd name="connsiteY1" fmla="*/ 13111 h 466153"/>
              <a:gd name="connsiteX2" fmla="*/ 0 w 2388848"/>
              <a:gd name="connsiteY2" fmla="*/ 466153 h 466153"/>
              <a:gd name="connsiteX0" fmla="*/ 2388848 w 2388848"/>
              <a:gd name="connsiteY0" fmla="*/ 427447 h 453574"/>
              <a:gd name="connsiteX1" fmla="*/ 977164 w 2388848"/>
              <a:gd name="connsiteY1" fmla="*/ 532 h 453574"/>
              <a:gd name="connsiteX2" fmla="*/ 0 w 2388848"/>
              <a:gd name="connsiteY2" fmla="*/ 453574 h 453574"/>
              <a:gd name="connsiteX0" fmla="*/ 2388848 w 2388848"/>
              <a:gd name="connsiteY0" fmla="*/ 427203 h 453330"/>
              <a:gd name="connsiteX1" fmla="*/ 977164 w 2388848"/>
              <a:gd name="connsiteY1" fmla="*/ 288 h 453330"/>
              <a:gd name="connsiteX2" fmla="*/ 0 w 2388848"/>
              <a:gd name="connsiteY2" fmla="*/ 453330 h 453330"/>
              <a:gd name="connsiteX0" fmla="*/ 2388848 w 2388848"/>
              <a:gd name="connsiteY0" fmla="*/ 426919 h 453046"/>
              <a:gd name="connsiteX1" fmla="*/ 977164 w 2388848"/>
              <a:gd name="connsiteY1" fmla="*/ 4 h 453046"/>
              <a:gd name="connsiteX2" fmla="*/ 0 w 2388848"/>
              <a:gd name="connsiteY2" fmla="*/ 453046 h 453046"/>
              <a:gd name="connsiteX0" fmla="*/ 2388848 w 2388848"/>
              <a:gd name="connsiteY0" fmla="*/ 426919 h 453046"/>
              <a:gd name="connsiteX1" fmla="*/ 977164 w 2388848"/>
              <a:gd name="connsiteY1" fmla="*/ 4 h 453046"/>
              <a:gd name="connsiteX2" fmla="*/ 0 w 2388848"/>
              <a:gd name="connsiteY2" fmla="*/ 453046 h 453046"/>
              <a:gd name="connsiteX0" fmla="*/ 2388848 w 2388848"/>
              <a:gd name="connsiteY0" fmla="*/ 0 h 539585"/>
              <a:gd name="connsiteX1" fmla="*/ 995546 w 2388848"/>
              <a:gd name="connsiteY1" fmla="*/ 539584 h 539585"/>
              <a:gd name="connsiteX2" fmla="*/ 0 w 2388848"/>
              <a:gd name="connsiteY2" fmla="*/ 26127 h 539585"/>
              <a:gd name="connsiteX0" fmla="*/ 2388848 w 2388848"/>
              <a:gd name="connsiteY0" fmla="*/ 0 h 539585"/>
              <a:gd name="connsiteX1" fmla="*/ 995546 w 2388848"/>
              <a:gd name="connsiteY1" fmla="*/ 539584 h 539585"/>
              <a:gd name="connsiteX2" fmla="*/ 0 w 2388848"/>
              <a:gd name="connsiteY2" fmla="*/ 26127 h 539585"/>
              <a:gd name="connsiteX0" fmla="*/ 2370466 w 2370466"/>
              <a:gd name="connsiteY0" fmla="*/ 0 h 539865"/>
              <a:gd name="connsiteX1" fmla="*/ 977164 w 2370466"/>
              <a:gd name="connsiteY1" fmla="*/ 539584 h 539865"/>
              <a:gd name="connsiteX2" fmla="*/ 0 w 2370466"/>
              <a:gd name="connsiteY2" fmla="*/ 77537 h 539865"/>
              <a:gd name="connsiteX0" fmla="*/ 2339829 w 2339829"/>
              <a:gd name="connsiteY0" fmla="*/ 15000 h 462057"/>
              <a:gd name="connsiteX1" fmla="*/ 977164 w 2339829"/>
              <a:gd name="connsiteY1" fmla="*/ 462047 h 462057"/>
              <a:gd name="connsiteX2" fmla="*/ 0 w 2339829"/>
              <a:gd name="connsiteY2" fmla="*/ 0 h 462057"/>
              <a:gd name="connsiteX0" fmla="*/ 2290810 w 2290810"/>
              <a:gd name="connsiteY0" fmla="*/ 4718 h 451766"/>
              <a:gd name="connsiteX1" fmla="*/ 928145 w 2290810"/>
              <a:gd name="connsiteY1" fmla="*/ 451765 h 451766"/>
              <a:gd name="connsiteX2" fmla="*/ 0 w 2290810"/>
              <a:gd name="connsiteY2" fmla="*/ 0 h 451766"/>
            </a:gdLst>
            <a:ahLst/>
            <a:cxnLst>
              <a:cxn ang="0">
                <a:pos x="connsiteX0" y="connsiteY0"/>
              </a:cxn>
              <a:cxn ang="0">
                <a:pos x="connsiteX1" y="connsiteY1"/>
              </a:cxn>
              <a:cxn ang="0">
                <a:pos x="connsiteX2" y="connsiteY2"/>
              </a:cxn>
            </a:cxnLst>
            <a:rect l="l" t="t" r="r" b="b"/>
            <a:pathLst>
              <a:path w="2290810" h="451766">
                <a:moveTo>
                  <a:pt x="2290810" y="4718"/>
                </a:moveTo>
                <a:cubicBezTo>
                  <a:pt x="1581905" y="6656"/>
                  <a:pt x="1309947" y="452551"/>
                  <a:pt x="928145" y="451765"/>
                </a:cubicBezTo>
                <a:cubicBezTo>
                  <a:pt x="546343" y="450979"/>
                  <a:pt x="485708" y="38672"/>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54" name="实轴">
            <a:extLst>
              <a:ext uri="{FF2B5EF4-FFF2-40B4-BE49-F238E27FC236}">
                <a16:creationId xmlns:a16="http://schemas.microsoft.com/office/drawing/2014/main" id="{9D14795A-6CB0-3C4E-D378-A91803F75218}"/>
              </a:ext>
            </a:extLst>
          </p:cNvPr>
          <p:cNvCxnSpPr>
            <a:cxnSpLocks/>
          </p:cNvCxnSpPr>
          <p:nvPr/>
        </p:nvCxnSpPr>
        <p:spPr>
          <a:xfrm flipH="1">
            <a:off x="8082480" y="4005064"/>
            <a:ext cx="3315576"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5" name="虚轴">
            <a:extLst>
              <a:ext uri="{FF2B5EF4-FFF2-40B4-BE49-F238E27FC236}">
                <a16:creationId xmlns:a16="http://schemas.microsoft.com/office/drawing/2014/main" id="{AA3332A3-E628-9B7D-2E6F-55557930AC3D}"/>
              </a:ext>
            </a:extLst>
          </p:cNvPr>
          <p:cNvCxnSpPr>
            <a:cxnSpLocks/>
          </p:cNvCxnSpPr>
          <p:nvPr/>
        </p:nvCxnSpPr>
        <p:spPr>
          <a:xfrm flipV="1">
            <a:off x="8082480" y="3620033"/>
            <a:ext cx="0" cy="1969207"/>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wc1">
                <a:extLst>
                  <a:ext uri="{FF2B5EF4-FFF2-40B4-BE49-F238E27FC236}">
                    <a16:creationId xmlns:a16="http://schemas.microsoft.com/office/drawing/2014/main" id="{ECCCFEC2-524D-F36C-0580-D2F8AAF88366}"/>
                  </a:ext>
                </a:extLst>
              </p:cNvPr>
              <p:cNvSpPr txBox="1"/>
              <p:nvPr/>
            </p:nvSpPr>
            <p:spPr>
              <a:xfrm>
                <a:off x="7538891" y="3742716"/>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6" name="wc1">
                <a:extLst>
                  <a:ext uri="{FF2B5EF4-FFF2-40B4-BE49-F238E27FC236}">
                    <a16:creationId xmlns:a16="http://schemas.microsoft.com/office/drawing/2014/main" id="{ECCCFEC2-524D-F36C-0580-D2F8AAF88366}"/>
                  </a:ext>
                </a:extLst>
              </p:cNvPr>
              <p:cNvSpPr txBox="1">
                <a:spLocks noRot="1" noChangeAspect="1" noMove="1" noResize="1" noEditPoints="1" noAdjustHandles="1" noChangeArrowheads="1" noChangeShapeType="1" noTextEdit="1"/>
              </p:cNvSpPr>
              <p:nvPr/>
            </p:nvSpPr>
            <p:spPr>
              <a:xfrm>
                <a:off x="7538891" y="3742716"/>
                <a:ext cx="414004" cy="524695"/>
              </a:xfrm>
              <a:prstGeom prst="rect">
                <a:avLst/>
              </a:prstGeom>
              <a:blipFill>
                <a:blip r:embed="rId6"/>
                <a:stretch>
                  <a:fillRect l="-8824" r="-29412"/>
                </a:stretch>
              </a:blipFill>
            </p:spPr>
            <p:txBody>
              <a:bodyPr/>
              <a:lstStyle/>
              <a:p>
                <a:r>
                  <a:rPr lang="zh-CN" altLang="en-US">
                    <a:noFill/>
                  </a:rPr>
                  <a:t> </a:t>
                </a:r>
              </a:p>
            </p:txBody>
          </p:sp>
        </mc:Fallback>
      </mc:AlternateContent>
      <p:cxnSp>
        <p:nvCxnSpPr>
          <p:cNvPr id="57" name="实轴">
            <a:extLst>
              <a:ext uri="{FF2B5EF4-FFF2-40B4-BE49-F238E27FC236}">
                <a16:creationId xmlns:a16="http://schemas.microsoft.com/office/drawing/2014/main" id="{E34B926B-9F12-4F4B-C6E5-E34F305D4167}"/>
              </a:ext>
            </a:extLst>
          </p:cNvPr>
          <p:cNvCxnSpPr>
            <a:cxnSpLocks/>
          </p:cNvCxnSpPr>
          <p:nvPr/>
        </p:nvCxnSpPr>
        <p:spPr>
          <a:xfrm flipH="1">
            <a:off x="8067854" y="4495727"/>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wc1">
                <a:extLst>
                  <a:ext uri="{FF2B5EF4-FFF2-40B4-BE49-F238E27FC236}">
                    <a16:creationId xmlns:a16="http://schemas.microsoft.com/office/drawing/2014/main" id="{0B18C689-AAF6-E7E4-F479-0AF6C307A546}"/>
                  </a:ext>
                </a:extLst>
              </p:cNvPr>
              <p:cNvSpPr txBox="1"/>
              <p:nvPr/>
            </p:nvSpPr>
            <p:spPr>
              <a:xfrm>
                <a:off x="6872704" y="4678820"/>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−180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8" name="wc1">
                <a:extLst>
                  <a:ext uri="{FF2B5EF4-FFF2-40B4-BE49-F238E27FC236}">
                    <a16:creationId xmlns:a16="http://schemas.microsoft.com/office/drawing/2014/main" id="{0B18C689-AAF6-E7E4-F479-0AF6C307A546}"/>
                  </a:ext>
                </a:extLst>
              </p:cNvPr>
              <p:cNvSpPr txBox="1">
                <a:spLocks noRot="1" noChangeAspect="1" noMove="1" noResize="1" noEditPoints="1" noAdjustHandles="1" noChangeArrowheads="1" noChangeShapeType="1" noTextEdit="1"/>
              </p:cNvSpPr>
              <p:nvPr/>
            </p:nvSpPr>
            <p:spPr>
              <a:xfrm>
                <a:off x="6872704" y="4678820"/>
                <a:ext cx="414004" cy="524695"/>
              </a:xfrm>
              <a:prstGeom prst="rect">
                <a:avLst/>
              </a:prstGeom>
              <a:blipFill>
                <a:blip r:embed="rId19"/>
                <a:stretch>
                  <a:fillRect r="-182353"/>
                </a:stretch>
              </a:blipFill>
            </p:spPr>
            <p:txBody>
              <a:bodyPr/>
              <a:lstStyle/>
              <a:p>
                <a:r>
                  <a:rPr lang="zh-CN" altLang="en-US">
                    <a:noFill/>
                  </a:rPr>
                  <a:t> </a:t>
                </a:r>
              </a:p>
            </p:txBody>
          </p:sp>
        </mc:Fallback>
      </mc:AlternateContent>
      <p:cxnSp>
        <p:nvCxnSpPr>
          <p:cNvPr id="59" name="实轴">
            <a:extLst>
              <a:ext uri="{FF2B5EF4-FFF2-40B4-BE49-F238E27FC236}">
                <a16:creationId xmlns:a16="http://schemas.microsoft.com/office/drawing/2014/main" id="{C26BAA90-2729-B5C8-06F2-C3177B26B7A7}"/>
              </a:ext>
            </a:extLst>
          </p:cNvPr>
          <p:cNvCxnSpPr>
            <a:cxnSpLocks/>
          </p:cNvCxnSpPr>
          <p:nvPr/>
        </p:nvCxnSpPr>
        <p:spPr>
          <a:xfrm flipV="1">
            <a:off x="9480994" y="2440930"/>
            <a:ext cx="0" cy="2108258"/>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
                <a:extLst>
                  <a:ext uri="{FF2B5EF4-FFF2-40B4-BE49-F238E27FC236}">
                    <a16:creationId xmlns:a16="http://schemas.microsoft.com/office/drawing/2014/main" id="{CB3D08B0-AA78-9D10-31F0-7A68F6E2557C}"/>
                  </a:ext>
                </a:extLst>
              </p:cNvPr>
              <p:cNvSpPr txBox="1"/>
              <p:nvPr/>
            </p:nvSpPr>
            <p:spPr>
              <a:xfrm>
                <a:off x="9053071" y="165654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−60</m:t>
                      </m:r>
                    </m:oMath>
                  </m:oMathPara>
                </a14:m>
                <a:endParaRPr lang="zh-CN" altLang="en-US" sz="2800" dirty="0"/>
              </a:p>
            </p:txBody>
          </p:sp>
        </mc:Choice>
        <mc:Fallback xmlns="">
          <p:sp>
            <p:nvSpPr>
              <p:cNvPr id="60" name="Re">
                <a:extLst>
                  <a:ext uri="{FF2B5EF4-FFF2-40B4-BE49-F238E27FC236}">
                    <a16:creationId xmlns:a16="http://schemas.microsoft.com/office/drawing/2014/main" id="{CB3D08B0-AA78-9D10-31F0-7A68F6E2557C}"/>
                  </a:ext>
                </a:extLst>
              </p:cNvPr>
              <p:cNvSpPr txBox="1">
                <a:spLocks noRot="1" noChangeAspect="1" noMove="1" noResize="1" noEditPoints="1" noAdjustHandles="1" noChangeArrowheads="1" noChangeShapeType="1" noTextEdit="1"/>
              </p:cNvSpPr>
              <p:nvPr/>
            </p:nvSpPr>
            <p:spPr>
              <a:xfrm>
                <a:off x="9053071" y="1656543"/>
                <a:ext cx="576536" cy="523220"/>
              </a:xfrm>
              <a:prstGeom prst="rect">
                <a:avLst/>
              </a:prstGeom>
              <a:blipFill>
                <a:blip r:embed="rId20"/>
                <a:stretch>
                  <a:fillRect r="-489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Re">
                <a:extLst>
                  <a:ext uri="{FF2B5EF4-FFF2-40B4-BE49-F238E27FC236}">
                    <a16:creationId xmlns:a16="http://schemas.microsoft.com/office/drawing/2014/main" id="{14767F27-73C0-F5AE-F37E-6DA9DE421932}"/>
                  </a:ext>
                </a:extLst>
              </p:cNvPr>
              <p:cNvSpPr txBox="1"/>
              <p:nvPr/>
            </p:nvSpPr>
            <p:spPr>
              <a:xfrm>
                <a:off x="8133411" y="3306520"/>
                <a:ext cx="98655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𝜓</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𝜔</m:t>
                      </m:r>
                      <m:r>
                        <a:rPr lang="en-US" altLang="zh-CN" sz="2800" i="1">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61" name="Re">
                <a:extLst>
                  <a:ext uri="{FF2B5EF4-FFF2-40B4-BE49-F238E27FC236}">
                    <a16:creationId xmlns:a16="http://schemas.microsoft.com/office/drawing/2014/main" id="{14767F27-73C0-F5AE-F37E-6DA9DE421932}"/>
                  </a:ext>
                </a:extLst>
              </p:cNvPr>
              <p:cNvSpPr txBox="1">
                <a:spLocks noRot="1" noChangeAspect="1" noMove="1" noResize="1" noEditPoints="1" noAdjustHandles="1" noChangeArrowheads="1" noChangeShapeType="1" noTextEdit="1"/>
              </p:cNvSpPr>
              <p:nvPr/>
            </p:nvSpPr>
            <p:spPr>
              <a:xfrm>
                <a:off x="8133411" y="3306520"/>
                <a:ext cx="986551" cy="523220"/>
              </a:xfrm>
              <a:prstGeom prst="rect">
                <a:avLst/>
              </a:prstGeom>
              <a:blipFill>
                <a:blip r:embed="rId9"/>
                <a:stretch>
                  <a:fillRect l="-6329" r="-8861" b="-19048"/>
                </a:stretch>
              </a:blipFill>
            </p:spPr>
            <p:txBody>
              <a:bodyPr/>
              <a:lstStyle/>
              <a:p>
                <a:r>
                  <a:rPr lang="zh-CN" altLang="en-US">
                    <a:noFill/>
                  </a:rPr>
                  <a:t> </a:t>
                </a:r>
              </a:p>
            </p:txBody>
          </p:sp>
        </mc:Fallback>
      </mc:AlternateContent>
      <p:cxnSp>
        <p:nvCxnSpPr>
          <p:cNvPr id="62" name="实轴">
            <a:extLst>
              <a:ext uri="{FF2B5EF4-FFF2-40B4-BE49-F238E27FC236}">
                <a16:creationId xmlns:a16="http://schemas.microsoft.com/office/drawing/2014/main" id="{CC750311-7172-7ED7-2B13-B7C9D1945388}"/>
              </a:ext>
            </a:extLst>
          </p:cNvPr>
          <p:cNvCxnSpPr>
            <a:cxnSpLocks/>
          </p:cNvCxnSpPr>
          <p:nvPr/>
        </p:nvCxnSpPr>
        <p:spPr>
          <a:xfrm flipH="1">
            <a:off x="8082480" y="4941168"/>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实轴">
            <a:extLst>
              <a:ext uri="{FF2B5EF4-FFF2-40B4-BE49-F238E27FC236}">
                <a16:creationId xmlns:a16="http://schemas.microsoft.com/office/drawing/2014/main" id="{D2A0A7FA-D3D6-ACC7-5BE8-4EBD11486F95}"/>
              </a:ext>
            </a:extLst>
          </p:cNvPr>
          <p:cNvCxnSpPr>
            <a:cxnSpLocks/>
          </p:cNvCxnSpPr>
          <p:nvPr/>
        </p:nvCxnSpPr>
        <p:spPr>
          <a:xfrm flipH="1">
            <a:off x="8067854" y="5391890"/>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wc1">
                <a:extLst>
                  <a:ext uri="{FF2B5EF4-FFF2-40B4-BE49-F238E27FC236}">
                    <a16:creationId xmlns:a16="http://schemas.microsoft.com/office/drawing/2014/main" id="{5DB2574A-A33F-9EDB-EFCC-0396E58B0AEF}"/>
                  </a:ext>
                </a:extLst>
              </p:cNvPr>
              <p:cNvSpPr txBox="1"/>
              <p:nvPr/>
            </p:nvSpPr>
            <p:spPr>
              <a:xfrm>
                <a:off x="7079706" y="4233379"/>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−90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64" name="wc1">
                <a:extLst>
                  <a:ext uri="{FF2B5EF4-FFF2-40B4-BE49-F238E27FC236}">
                    <a16:creationId xmlns:a16="http://schemas.microsoft.com/office/drawing/2014/main" id="{5DB2574A-A33F-9EDB-EFCC-0396E58B0AEF}"/>
                  </a:ext>
                </a:extLst>
              </p:cNvPr>
              <p:cNvSpPr txBox="1">
                <a:spLocks noRot="1" noChangeAspect="1" noMove="1" noResize="1" noEditPoints="1" noAdjustHandles="1" noChangeArrowheads="1" noChangeShapeType="1" noTextEdit="1"/>
              </p:cNvSpPr>
              <p:nvPr/>
            </p:nvSpPr>
            <p:spPr>
              <a:xfrm>
                <a:off x="7079706" y="4233379"/>
                <a:ext cx="414004" cy="524695"/>
              </a:xfrm>
              <a:prstGeom prst="rect">
                <a:avLst/>
              </a:prstGeom>
              <a:blipFill>
                <a:blip r:embed="rId21"/>
                <a:stretch>
                  <a:fillRect r="-1424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wc1">
                <a:extLst>
                  <a:ext uri="{FF2B5EF4-FFF2-40B4-BE49-F238E27FC236}">
                    <a16:creationId xmlns:a16="http://schemas.microsoft.com/office/drawing/2014/main" id="{4D603742-4004-E83C-6AF1-6A02CC546A8C}"/>
                  </a:ext>
                </a:extLst>
              </p:cNvPr>
              <p:cNvSpPr txBox="1"/>
              <p:nvPr/>
            </p:nvSpPr>
            <p:spPr>
              <a:xfrm>
                <a:off x="6864723" y="5130271"/>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−270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65" name="wc1">
                <a:extLst>
                  <a:ext uri="{FF2B5EF4-FFF2-40B4-BE49-F238E27FC236}">
                    <a16:creationId xmlns:a16="http://schemas.microsoft.com/office/drawing/2014/main" id="{4D603742-4004-E83C-6AF1-6A02CC546A8C}"/>
                  </a:ext>
                </a:extLst>
              </p:cNvPr>
              <p:cNvSpPr txBox="1">
                <a:spLocks noRot="1" noChangeAspect="1" noMove="1" noResize="1" noEditPoints="1" noAdjustHandles="1" noChangeArrowheads="1" noChangeShapeType="1" noTextEdit="1"/>
              </p:cNvSpPr>
              <p:nvPr/>
            </p:nvSpPr>
            <p:spPr>
              <a:xfrm>
                <a:off x="6864723" y="5130271"/>
                <a:ext cx="414004" cy="524695"/>
              </a:xfrm>
              <a:prstGeom prst="rect">
                <a:avLst/>
              </a:prstGeom>
              <a:blipFill>
                <a:blip r:embed="rId12"/>
                <a:stretch>
                  <a:fillRect r="-182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Re">
                <a:extLst>
                  <a:ext uri="{FF2B5EF4-FFF2-40B4-BE49-F238E27FC236}">
                    <a16:creationId xmlns:a16="http://schemas.microsoft.com/office/drawing/2014/main" id="{4F14ADE8-C82A-F95D-F37B-7DA6415D1D1D}"/>
                  </a:ext>
                </a:extLst>
              </p:cNvPr>
              <p:cNvSpPr txBox="1"/>
              <p:nvPr/>
            </p:nvSpPr>
            <p:spPr>
              <a:xfrm>
                <a:off x="11063286" y="3515898"/>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𝜔</m:t>
                      </m:r>
                    </m:oMath>
                  </m:oMathPara>
                </a14:m>
                <a:endParaRPr lang="zh-CN" altLang="en-US" sz="2800" dirty="0"/>
              </a:p>
            </p:txBody>
          </p:sp>
        </mc:Choice>
        <mc:Fallback xmlns="">
          <p:sp>
            <p:nvSpPr>
              <p:cNvPr id="66" name="Re">
                <a:extLst>
                  <a:ext uri="{FF2B5EF4-FFF2-40B4-BE49-F238E27FC236}">
                    <a16:creationId xmlns:a16="http://schemas.microsoft.com/office/drawing/2014/main" id="{4F14ADE8-C82A-F95D-F37B-7DA6415D1D1D}"/>
                  </a:ext>
                </a:extLst>
              </p:cNvPr>
              <p:cNvSpPr txBox="1">
                <a:spLocks noRot="1" noChangeAspect="1" noMove="1" noResize="1" noEditPoints="1" noAdjustHandles="1" noChangeArrowheads="1" noChangeShapeType="1" noTextEdit="1"/>
              </p:cNvSpPr>
              <p:nvPr/>
            </p:nvSpPr>
            <p:spPr>
              <a:xfrm>
                <a:off x="11063286" y="3515898"/>
                <a:ext cx="576536"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Re">
                <a:extLst>
                  <a:ext uri="{FF2B5EF4-FFF2-40B4-BE49-F238E27FC236}">
                    <a16:creationId xmlns:a16="http://schemas.microsoft.com/office/drawing/2014/main" id="{9B03D7B7-734A-C84B-20BE-A5DAB7E2C151}"/>
                  </a:ext>
                </a:extLst>
              </p:cNvPr>
              <p:cNvSpPr txBox="1"/>
              <p:nvPr/>
            </p:nvSpPr>
            <p:spPr>
              <a:xfrm>
                <a:off x="8060839" y="167759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−40</m:t>
                      </m:r>
                    </m:oMath>
                  </m:oMathPara>
                </a14:m>
                <a:endParaRPr lang="zh-CN" altLang="en-US" sz="2800" dirty="0"/>
              </a:p>
            </p:txBody>
          </p:sp>
        </mc:Choice>
        <mc:Fallback xmlns="">
          <p:sp>
            <p:nvSpPr>
              <p:cNvPr id="67" name="Re">
                <a:extLst>
                  <a:ext uri="{FF2B5EF4-FFF2-40B4-BE49-F238E27FC236}">
                    <a16:creationId xmlns:a16="http://schemas.microsoft.com/office/drawing/2014/main" id="{9B03D7B7-734A-C84B-20BE-A5DAB7E2C151}"/>
                  </a:ext>
                </a:extLst>
              </p:cNvPr>
              <p:cNvSpPr txBox="1">
                <a:spLocks noRot="1" noChangeAspect="1" noMove="1" noResize="1" noEditPoints="1" noAdjustHandles="1" noChangeArrowheads="1" noChangeShapeType="1" noTextEdit="1"/>
              </p:cNvSpPr>
              <p:nvPr/>
            </p:nvSpPr>
            <p:spPr>
              <a:xfrm>
                <a:off x="8060839" y="1677592"/>
                <a:ext cx="576536" cy="523220"/>
              </a:xfrm>
              <a:prstGeom prst="rect">
                <a:avLst/>
              </a:prstGeom>
              <a:blipFill>
                <a:blip r:embed="rId22"/>
                <a:stretch>
                  <a:fillRect r="-489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Re">
                <a:extLst>
                  <a:ext uri="{FF2B5EF4-FFF2-40B4-BE49-F238E27FC236}">
                    <a16:creationId xmlns:a16="http://schemas.microsoft.com/office/drawing/2014/main" id="{DA577E67-EF07-1EA3-C9B7-F658126CCE64}"/>
                  </a:ext>
                </a:extLst>
              </p:cNvPr>
              <p:cNvSpPr txBox="1"/>
              <p:nvPr/>
            </p:nvSpPr>
            <p:spPr>
              <a:xfrm>
                <a:off x="10475817" y="256087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−40</m:t>
                      </m:r>
                    </m:oMath>
                  </m:oMathPara>
                </a14:m>
                <a:endParaRPr lang="zh-CN" altLang="en-US" sz="2800" dirty="0"/>
              </a:p>
            </p:txBody>
          </p:sp>
        </mc:Choice>
        <mc:Fallback xmlns="">
          <p:sp>
            <p:nvSpPr>
              <p:cNvPr id="68" name="Re">
                <a:extLst>
                  <a:ext uri="{FF2B5EF4-FFF2-40B4-BE49-F238E27FC236}">
                    <a16:creationId xmlns:a16="http://schemas.microsoft.com/office/drawing/2014/main" id="{DA577E67-EF07-1EA3-C9B7-F658126CCE64}"/>
                  </a:ext>
                </a:extLst>
              </p:cNvPr>
              <p:cNvSpPr txBox="1">
                <a:spLocks noRot="1" noChangeAspect="1" noMove="1" noResize="1" noEditPoints="1" noAdjustHandles="1" noChangeArrowheads="1" noChangeShapeType="1" noTextEdit="1"/>
              </p:cNvSpPr>
              <p:nvPr/>
            </p:nvSpPr>
            <p:spPr>
              <a:xfrm>
                <a:off x="10475817" y="2560876"/>
                <a:ext cx="576536" cy="523220"/>
              </a:xfrm>
              <a:prstGeom prst="rect">
                <a:avLst/>
              </a:prstGeom>
              <a:blipFill>
                <a:blip r:embed="rId14"/>
                <a:stretch>
                  <a:fillRect r="-489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小标题1">
                <a:extLst>
                  <a:ext uri="{FF2B5EF4-FFF2-40B4-BE49-F238E27FC236}">
                    <a16:creationId xmlns:a16="http://schemas.microsoft.com/office/drawing/2014/main" id="{9508117A-3222-2FBD-4425-2D8395B11E3E}"/>
                  </a:ext>
                </a:extLst>
              </p:cNvPr>
              <p:cNvSpPr/>
              <p:nvPr/>
            </p:nvSpPr>
            <p:spPr bwMode="auto">
              <a:xfrm>
                <a:off x="6527263" y="5923051"/>
                <a:ext cx="5400588"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nchorCtr="1"/>
              <a:lstStyle/>
              <a:p>
                <a:pPr algn="ctr"/>
                <a:r>
                  <a:rPr lang="en-US" altLang="zh-CN" sz="3200" b="1" dirty="0">
                    <a:solidFill>
                      <a:schemeClr val="bg1"/>
                    </a:solidFill>
                    <a:latin typeface="+mn-ea"/>
                  </a:rPr>
                  <a:t>(b)</a:t>
                </a:r>
                <a:r>
                  <a:rPr lang="zh-CN" altLang="en-US" sz="3200" b="1" dirty="0">
                    <a:solidFill>
                      <a:schemeClr val="bg1"/>
                    </a:solidFill>
                    <a:latin typeface="+mn-ea"/>
                  </a:rPr>
                  <a:t> </a:t>
                </a:r>
                <a14:m>
                  <m:oMath xmlns:m="http://schemas.openxmlformats.org/officeDocument/2006/math">
                    <m:r>
                      <a:rPr lang="en-US" altLang="zh-CN" sz="3200" b="1" i="1" dirty="0" smtClean="0">
                        <a:solidFill>
                          <a:schemeClr val="bg1"/>
                        </a:solidFill>
                        <a:latin typeface="Cambria Math" panose="02040503050406030204" pitchFamily="18" charset="0"/>
                      </a:rPr>
                      <m:t>𝑵</m:t>
                    </m:r>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𝟏</m:t>
                    </m:r>
                    <m:r>
                      <a:rPr lang="en-US" altLang="zh-CN" sz="3200" b="1" i="1" dirty="0" smtClean="0">
                        <a:solidFill>
                          <a:schemeClr val="bg1"/>
                        </a:solidFill>
                        <a:latin typeface="Cambria Math" panose="02040503050406030204" pitchFamily="18" charset="0"/>
                        <a:ea typeface="Cambria Math" panose="02040503050406030204" pitchFamily="18" charset="0"/>
                      </a:rPr>
                      <m:t>≠</m:t>
                    </m:r>
                    <m:r>
                      <a:rPr lang="en-US" altLang="zh-CN" sz="3200" b="1" i="1" dirty="0" smtClean="0">
                        <a:solidFill>
                          <a:schemeClr val="bg1"/>
                        </a:solidFill>
                        <a:latin typeface="Cambria Math" panose="02040503050406030204" pitchFamily="18" charset="0"/>
                      </a:rPr>
                      <m:t>𝑷</m:t>
                    </m:r>
                    <m:r>
                      <a:rPr lang="en-US" altLang="zh-CN" sz="3200" b="1" i="1" dirty="0" smtClean="0">
                        <a:solidFill>
                          <a:schemeClr val="bg1"/>
                        </a:solidFill>
                        <a:latin typeface="Cambria Math" panose="02040503050406030204" pitchFamily="18" charset="0"/>
                      </a:rPr>
                      <m:t>/</m:t>
                    </m:r>
                    <m:r>
                      <a:rPr lang="en-US" altLang="zh-CN" sz="3200" b="1" i="1" dirty="0" smtClean="0">
                        <a:solidFill>
                          <a:schemeClr val="bg1"/>
                        </a:solidFill>
                        <a:latin typeface="Cambria Math" panose="02040503050406030204" pitchFamily="18" charset="0"/>
                      </a:rPr>
                      <m:t>𝟐</m:t>
                    </m:r>
                  </m:oMath>
                </a14:m>
                <a:r>
                  <a:rPr lang="zh-CN" altLang="en-US" sz="3200" b="1" dirty="0">
                    <a:solidFill>
                      <a:schemeClr val="bg1"/>
                    </a:solidFill>
                    <a:latin typeface="+mn-ea"/>
                  </a:rPr>
                  <a:t>， 不稳定</a:t>
                </a:r>
              </a:p>
            </p:txBody>
          </p:sp>
        </mc:Choice>
        <mc:Fallback xmlns="">
          <p:sp>
            <p:nvSpPr>
              <p:cNvPr id="69" name="小标题1">
                <a:extLst>
                  <a:ext uri="{FF2B5EF4-FFF2-40B4-BE49-F238E27FC236}">
                    <a16:creationId xmlns:a16="http://schemas.microsoft.com/office/drawing/2014/main" id="{9508117A-3222-2FBD-4425-2D8395B11E3E}"/>
                  </a:ext>
                </a:extLst>
              </p:cNvPr>
              <p:cNvSpPr>
                <a:spLocks noRot="1" noChangeAspect="1" noMove="1" noResize="1" noEditPoints="1" noAdjustHandles="1" noChangeArrowheads="1" noChangeShapeType="1" noTextEdit="1"/>
              </p:cNvSpPr>
              <p:nvPr/>
            </p:nvSpPr>
            <p:spPr bwMode="auto">
              <a:xfrm>
                <a:off x="6527263" y="5923051"/>
                <a:ext cx="5400588" cy="576000"/>
              </a:xfrm>
              <a:prstGeom prst="roundRect">
                <a:avLst/>
              </a:prstGeom>
              <a:blipFill>
                <a:blip r:embed="rId23"/>
                <a:stretch>
                  <a:fillRect/>
                </a:stretch>
              </a:blipFill>
              <a:ln w="38100">
                <a:noFill/>
              </a:ln>
              <a:effectLst>
                <a:outerShdw blurRad="50800" dist="38100" algn="l" rotWithShape="0">
                  <a:prstClr val="black">
                    <a:alpha val="40000"/>
                  </a:prstClr>
                </a:outerShdw>
              </a:effectLst>
            </p:spPr>
            <p:txBody>
              <a:bodyPr/>
              <a:lstStyle/>
              <a:p>
                <a:r>
                  <a:rPr lang="zh-CN" altLang="en-US">
                    <a:noFill/>
                  </a:rPr>
                  <a:t> </a:t>
                </a:r>
              </a:p>
            </p:txBody>
          </p:sp>
        </mc:Fallback>
      </mc:AlternateContent>
      <p:cxnSp>
        <p:nvCxnSpPr>
          <p:cNvPr id="70" name="实轴">
            <a:extLst>
              <a:ext uri="{FF2B5EF4-FFF2-40B4-BE49-F238E27FC236}">
                <a16:creationId xmlns:a16="http://schemas.microsoft.com/office/drawing/2014/main" id="{B38FBD47-5867-1724-B696-9EF52A390EB1}"/>
              </a:ext>
            </a:extLst>
          </p:cNvPr>
          <p:cNvCxnSpPr>
            <a:cxnSpLocks/>
            <a:stCxn id="72" idx="0"/>
            <a:endCxn id="52" idx="2"/>
          </p:cNvCxnSpPr>
          <p:nvPr/>
        </p:nvCxnSpPr>
        <p:spPr>
          <a:xfrm flipV="1">
            <a:off x="8970956" y="1900362"/>
            <a:ext cx="6388" cy="530324"/>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实轴">
            <a:extLst>
              <a:ext uri="{FF2B5EF4-FFF2-40B4-BE49-F238E27FC236}">
                <a16:creationId xmlns:a16="http://schemas.microsoft.com/office/drawing/2014/main" id="{4500803E-0953-64EF-8D4E-1E4C0D9EF3B8}"/>
              </a:ext>
            </a:extLst>
          </p:cNvPr>
          <p:cNvCxnSpPr>
            <a:cxnSpLocks/>
            <a:stCxn id="52" idx="1"/>
          </p:cNvCxnSpPr>
          <p:nvPr/>
        </p:nvCxnSpPr>
        <p:spPr>
          <a:xfrm flipV="1">
            <a:off x="9811871" y="2404121"/>
            <a:ext cx="0" cy="335464"/>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Re">
                <a:extLst>
                  <a:ext uri="{FF2B5EF4-FFF2-40B4-BE49-F238E27FC236}">
                    <a16:creationId xmlns:a16="http://schemas.microsoft.com/office/drawing/2014/main" id="{169127DB-08EA-BBCE-142C-08DFF90B76E1}"/>
                  </a:ext>
                </a:extLst>
              </p:cNvPr>
              <p:cNvSpPr txBox="1"/>
              <p:nvPr/>
            </p:nvSpPr>
            <p:spPr>
              <a:xfrm>
                <a:off x="8420801" y="2430686"/>
                <a:ext cx="110030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1/</m:t>
                      </m:r>
                      <m:r>
                        <a:rPr lang="en-US" altLang="zh-CN" sz="2800" i="1">
                          <a:latin typeface="Cambria Math" panose="02040503050406030204" pitchFamily="18" charset="0"/>
                          <a:ea typeface="Cambria Math" panose="02040503050406030204" pitchFamily="18" charset="0"/>
                        </a:rPr>
                        <m:t>𝜏</m:t>
                      </m:r>
                    </m:oMath>
                  </m:oMathPara>
                </a14:m>
                <a:endParaRPr lang="zh-CN" altLang="en-US" sz="2800" dirty="0"/>
              </a:p>
            </p:txBody>
          </p:sp>
        </mc:Choice>
        <mc:Fallback xmlns="">
          <p:sp>
            <p:nvSpPr>
              <p:cNvPr id="72" name="Re">
                <a:extLst>
                  <a:ext uri="{FF2B5EF4-FFF2-40B4-BE49-F238E27FC236}">
                    <a16:creationId xmlns:a16="http://schemas.microsoft.com/office/drawing/2014/main" id="{169127DB-08EA-BBCE-142C-08DFF90B76E1}"/>
                  </a:ext>
                </a:extLst>
              </p:cNvPr>
              <p:cNvSpPr txBox="1">
                <a:spLocks noRot="1" noChangeAspect="1" noMove="1" noResize="1" noEditPoints="1" noAdjustHandles="1" noChangeArrowheads="1" noChangeShapeType="1" noTextEdit="1"/>
              </p:cNvSpPr>
              <p:nvPr/>
            </p:nvSpPr>
            <p:spPr>
              <a:xfrm>
                <a:off x="8420801" y="2430686"/>
                <a:ext cx="1100309" cy="523220"/>
              </a:xfrm>
              <a:prstGeom prst="rect">
                <a:avLst/>
              </a:prstGeom>
              <a:blipFill>
                <a:blip r:embed="rId24"/>
                <a:stretch>
                  <a:fillRect b="-19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Re">
                <a:extLst>
                  <a:ext uri="{FF2B5EF4-FFF2-40B4-BE49-F238E27FC236}">
                    <a16:creationId xmlns:a16="http://schemas.microsoft.com/office/drawing/2014/main" id="{3B62F4D2-11F7-3F04-967C-AE5340BBA348}"/>
                  </a:ext>
                </a:extLst>
              </p:cNvPr>
              <p:cNvSpPr txBox="1"/>
              <p:nvPr/>
            </p:nvSpPr>
            <p:spPr>
              <a:xfrm>
                <a:off x="9297058" y="1943716"/>
                <a:ext cx="110030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1/</m:t>
                      </m:r>
                      <m:r>
                        <a:rPr lang="en-US" altLang="zh-CN" sz="2800" b="0" i="1" smtClean="0">
                          <a:latin typeface="Cambria Math" panose="02040503050406030204" pitchFamily="18" charset="0"/>
                          <a:ea typeface="Cambria Math" panose="02040503050406030204" pitchFamily="18" charset="0"/>
                        </a:rPr>
                        <m:t>𝑇</m:t>
                      </m:r>
                    </m:oMath>
                  </m:oMathPara>
                </a14:m>
                <a:endParaRPr lang="zh-CN" altLang="en-US" sz="2800" dirty="0"/>
              </a:p>
            </p:txBody>
          </p:sp>
        </mc:Choice>
        <mc:Fallback xmlns="">
          <p:sp>
            <p:nvSpPr>
              <p:cNvPr id="73" name="Re">
                <a:extLst>
                  <a:ext uri="{FF2B5EF4-FFF2-40B4-BE49-F238E27FC236}">
                    <a16:creationId xmlns:a16="http://schemas.microsoft.com/office/drawing/2014/main" id="{3B62F4D2-11F7-3F04-967C-AE5340BBA348}"/>
                  </a:ext>
                </a:extLst>
              </p:cNvPr>
              <p:cNvSpPr txBox="1">
                <a:spLocks noRot="1" noChangeAspect="1" noMove="1" noResize="1" noEditPoints="1" noAdjustHandles="1" noChangeArrowheads="1" noChangeShapeType="1" noTextEdit="1"/>
              </p:cNvSpPr>
              <p:nvPr/>
            </p:nvSpPr>
            <p:spPr>
              <a:xfrm>
                <a:off x="9297058" y="1943716"/>
                <a:ext cx="1100309" cy="523220"/>
              </a:xfrm>
              <a:prstGeom prst="rect">
                <a:avLst/>
              </a:prstGeom>
              <a:blipFill>
                <a:blip r:embed="rId25"/>
                <a:stretch>
                  <a:fillRect b="-19048"/>
                </a:stretch>
              </a:blipFill>
            </p:spPr>
            <p:txBody>
              <a:bodyPr/>
              <a:lstStyle/>
              <a:p>
                <a:r>
                  <a:rPr lang="zh-CN" altLang="en-US">
                    <a:noFill/>
                  </a:rPr>
                  <a:t> </a:t>
                </a:r>
              </a:p>
            </p:txBody>
          </p:sp>
        </mc:Fallback>
      </mc:AlternateContent>
      <p:cxnSp>
        <p:nvCxnSpPr>
          <p:cNvPr id="78" name="实轴">
            <a:extLst>
              <a:ext uri="{FF2B5EF4-FFF2-40B4-BE49-F238E27FC236}">
                <a16:creationId xmlns:a16="http://schemas.microsoft.com/office/drawing/2014/main" id="{13580A22-A763-FACD-CA7A-A7A0A99B34F6}"/>
              </a:ext>
            </a:extLst>
          </p:cNvPr>
          <p:cNvCxnSpPr>
            <a:cxnSpLocks/>
            <a:stCxn id="31" idx="2"/>
          </p:cNvCxnSpPr>
          <p:nvPr/>
        </p:nvCxnSpPr>
        <p:spPr>
          <a:xfrm flipH="1" flipV="1">
            <a:off x="1518889" y="4005063"/>
            <a:ext cx="109339" cy="875385"/>
          </a:xfrm>
          <a:prstGeom prst="straightConnector1">
            <a:avLst/>
          </a:prstGeom>
          <a:ln w="38100">
            <a:solidFill>
              <a:srgbClr val="E4486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3" name="实轴">
            <a:extLst>
              <a:ext uri="{FF2B5EF4-FFF2-40B4-BE49-F238E27FC236}">
                <a16:creationId xmlns:a16="http://schemas.microsoft.com/office/drawing/2014/main" id="{83BF40D8-30F3-7116-3574-039A895E41FC}"/>
              </a:ext>
            </a:extLst>
          </p:cNvPr>
          <p:cNvCxnSpPr>
            <a:cxnSpLocks/>
            <a:stCxn id="53" idx="2"/>
          </p:cNvCxnSpPr>
          <p:nvPr/>
        </p:nvCxnSpPr>
        <p:spPr>
          <a:xfrm flipH="1" flipV="1">
            <a:off x="8094024" y="4007475"/>
            <a:ext cx="112422" cy="972727"/>
          </a:xfrm>
          <a:prstGeom prst="straightConnector1">
            <a:avLst/>
          </a:prstGeom>
          <a:ln w="38100">
            <a:solidFill>
              <a:srgbClr val="E4486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sp>
        <p:nvSpPr>
          <p:cNvPr id="86" name="重要1">
            <a:extLst>
              <a:ext uri="{FF2B5EF4-FFF2-40B4-BE49-F238E27FC236}">
                <a16:creationId xmlns:a16="http://schemas.microsoft.com/office/drawing/2014/main" id="{7A74F091-61A2-CD3F-48FD-F814163E94FB}"/>
              </a:ext>
            </a:extLst>
          </p:cNvPr>
          <p:cNvSpPr txBox="1"/>
          <p:nvPr/>
        </p:nvSpPr>
        <p:spPr>
          <a:xfrm>
            <a:off x="4985530" y="2341629"/>
            <a:ext cx="2644715" cy="1233488"/>
          </a:xfrm>
          <a:prstGeom prst="roundRect">
            <a:avLst>
              <a:gd name="adj" fmla="val 22661"/>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kumimoji="1" lang="zh-CN" altLang="en-US" sz="3200" b="1" dirty="0">
                <a:solidFill>
                  <a:schemeClr val="bg1"/>
                </a:solidFill>
              </a:rPr>
              <a:t>注意相频特性起点提升！</a:t>
            </a:r>
          </a:p>
        </p:txBody>
      </p:sp>
    </p:spTree>
    <p:extLst>
      <p:ext uri="{BB962C8B-B14F-4D97-AF65-F5344CB8AC3E}">
        <p14:creationId xmlns:p14="http://schemas.microsoft.com/office/powerpoint/2010/main" val="3967875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268976" y="345396"/>
            <a:ext cx="53219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对数稳定判据例</a:t>
            </a: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7B5CCD6-2FC3-8052-3132-787E55D9CBCC}"/>
                  </a:ext>
                </a:extLst>
              </p:cNvPr>
              <p:cNvSpPr txBox="1"/>
              <p:nvPr/>
            </p:nvSpPr>
            <p:spPr>
              <a:xfrm>
                <a:off x="121566" y="1223995"/>
                <a:ext cx="3553412" cy="785343"/>
              </a:xfrm>
              <a:prstGeom prst="rect">
                <a:avLst/>
              </a:prstGeom>
              <a:noFill/>
            </p:spPr>
            <p:txBody>
              <a:bodyPr wrap="square">
                <a:spAutoFit/>
              </a:bodyPr>
              <a:lstStyle/>
              <a:p>
                <a14:m>
                  <m:oMath xmlns:m="http://schemas.openxmlformats.org/officeDocument/2006/math">
                    <m:r>
                      <a:rPr lang="zh-CN" altLang="en-US" sz="2800" i="1" smtClean="0">
                        <a:latin typeface="Cambria Math" panose="02040503050406030204" pitchFamily="18" charset="0"/>
                      </a:rPr>
                      <m:t>𝐺</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r>
                      <a:rPr lang="zh-CN" altLang="en-US" sz="2800" i="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𝐾</m:t>
                        </m:r>
                      </m:num>
                      <m:den>
                        <m:r>
                          <a:rPr lang="en-US" altLang="zh-CN" sz="2800" b="0" i="1" smtClean="0">
                            <a:solidFill>
                              <a:schemeClr val="tx1"/>
                            </a:solidFill>
                            <a:latin typeface="Cambria Math" panose="02040503050406030204" pitchFamily="18" charset="0"/>
                          </a:rPr>
                          <m:t>𝑠</m:t>
                        </m:r>
                        <m:d>
                          <m:dPr>
                            <m:ctrlPr>
                              <a:rPr lang="en-US" altLang="zh-CN" sz="2800" b="0" i="1" smtClean="0">
                                <a:solidFill>
                                  <a:schemeClr val="tx1"/>
                                </a:solidFill>
                                <a:latin typeface="Cambria Math" panose="02040503050406030204" pitchFamily="18" charset="0"/>
                              </a:rPr>
                            </m:ctrlPr>
                          </m:dPr>
                          <m:e>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𝑇</m:t>
                                </m:r>
                              </m:e>
                              <m:sub>
                                <m:r>
                                  <a:rPr lang="en-US" altLang="zh-CN" sz="2800" b="0" i="1" smtClean="0">
                                    <a:solidFill>
                                      <a:schemeClr val="tx1"/>
                                    </a:solidFill>
                                    <a:latin typeface="Cambria Math" panose="02040503050406030204" pitchFamily="18" charset="0"/>
                                  </a:rPr>
                                  <m:t>1</m:t>
                                </m:r>
                              </m:sub>
                            </m:sSub>
                            <m:r>
                              <a:rPr lang="en-US" altLang="zh-CN" sz="2800" b="0" i="1" smtClean="0">
                                <a:solidFill>
                                  <a:schemeClr val="tx1"/>
                                </a:solidFill>
                                <a:latin typeface="Cambria Math" panose="02040503050406030204" pitchFamily="18" charset="0"/>
                              </a:rPr>
                              <m:t>𝑠</m:t>
                            </m:r>
                            <m:r>
                              <a:rPr lang="en-US" altLang="zh-CN" sz="2800" b="0" i="1" smtClean="0">
                                <a:solidFill>
                                  <a:schemeClr val="tx1"/>
                                </a:solidFill>
                                <a:latin typeface="Cambria Math" panose="02040503050406030204" pitchFamily="18" charset="0"/>
                              </a:rPr>
                              <m:t>+1</m:t>
                            </m:r>
                          </m:e>
                        </m:d>
                        <m:d>
                          <m:dPr>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𝑇</m:t>
                                </m:r>
                              </m:e>
                              <m:sub>
                                <m:r>
                                  <a:rPr lang="en-US" altLang="zh-CN" sz="2800" b="0" i="1" smtClean="0">
                                    <a:latin typeface="Cambria Math" panose="02040503050406030204" pitchFamily="18" charset="0"/>
                                  </a:rPr>
                                  <m:t>2</m:t>
                                </m:r>
                              </m:sub>
                            </m:sSub>
                            <m:r>
                              <a:rPr lang="en-US" altLang="zh-CN" sz="2800" i="1">
                                <a:latin typeface="Cambria Math" panose="02040503050406030204" pitchFamily="18" charset="0"/>
                              </a:rPr>
                              <m:t>𝑠</m:t>
                            </m:r>
                            <m:r>
                              <a:rPr lang="en-US" altLang="zh-CN" sz="2800" i="1">
                                <a:latin typeface="Cambria Math" panose="02040503050406030204" pitchFamily="18" charset="0"/>
                              </a:rPr>
                              <m:t>+1</m:t>
                            </m:r>
                          </m:e>
                        </m:d>
                      </m:den>
                    </m:f>
                  </m:oMath>
                </a14:m>
                <a:r>
                  <a:rPr lang="zh-CN" altLang="en-US" sz="2800" dirty="0">
                    <a:solidFill>
                      <a:schemeClr val="tx1"/>
                    </a:solidFill>
                  </a:rPr>
                  <a:t> </a:t>
                </a:r>
              </a:p>
            </p:txBody>
          </p:sp>
        </mc:Choice>
        <mc:Fallback xmlns="">
          <p:sp>
            <p:nvSpPr>
              <p:cNvPr id="4" name="文本框 3">
                <a:extLst>
                  <a:ext uri="{FF2B5EF4-FFF2-40B4-BE49-F238E27FC236}">
                    <a16:creationId xmlns:a16="http://schemas.microsoft.com/office/drawing/2014/main" id="{77B5CCD6-2FC3-8052-3132-787E55D9CBCC}"/>
                  </a:ext>
                </a:extLst>
              </p:cNvPr>
              <p:cNvSpPr txBox="1">
                <a:spLocks noRot="1" noChangeAspect="1" noMove="1" noResize="1" noEditPoints="1" noAdjustHandles="1" noChangeArrowheads="1" noChangeShapeType="1" noTextEdit="1"/>
              </p:cNvSpPr>
              <p:nvPr/>
            </p:nvSpPr>
            <p:spPr>
              <a:xfrm>
                <a:off x="121566" y="1223995"/>
                <a:ext cx="3553412" cy="785343"/>
              </a:xfrm>
              <a:prstGeom prst="rect">
                <a:avLst/>
              </a:prstGeom>
              <a:blipFill>
                <a:blip r:embed="rId3"/>
                <a:stretch>
                  <a:fillRect l="-712"/>
                </a:stretch>
              </a:blipFill>
            </p:spPr>
            <p:txBody>
              <a:bodyPr/>
              <a:lstStyle/>
              <a:p>
                <a:r>
                  <a:rPr lang="zh-CN" altLang="en-US">
                    <a:noFill/>
                  </a:rPr>
                  <a:t> </a:t>
                </a:r>
              </a:p>
            </p:txBody>
          </p:sp>
        </mc:Fallback>
      </mc:AlternateContent>
      <p:sp>
        <p:nvSpPr>
          <p:cNvPr id="52" name="幅相">
            <a:extLst>
              <a:ext uri="{FF2B5EF4-FFF2-40B4-BE49-F238E27FC236}">
                <a16:creationId xmlns:a16="http://schemas.microsoft.com/office/drawing/2014/main" id="{A2C68616-360B-BD4E-88A1-15D1B2DFCEFA}"/>
              </a:ext>
            </a:extLst>
          </p:cNvPr>
          <p:cNvSpPr/>
          <p:nvPr/>
        </p:nvSpPr>
        <p:spPr>
          <a:xfrm>
            <a:off x="8690653" y="3772340"/>
            <a:ext cx="2502098" cy="204548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776211 w 776211"/>
              <a:gd name="connsiteY0" fmla="*/ 732888 h 732888"/>
              <a:gd name="connsiteX1" fmla="*/ 0 w 776211"/>
              <a:gd name="connsiteY1" fmla="*/ 525941 h 732888"/>
              <a:gd name="connsiteX0" fmla="*/ 776211 w 776211"/>
              <a:gd name="connsiteY0" fmla="*/ 569097 h 569097"/>
              <a:gd name="connsiteX1" fmla="*/ 0 w 776211"/>
              <a:gd name="connsiteY1" fmla="*/ 362150 h 569097"/>
              <a:gd name="connsiteX0" fmla="*/ 834190 w 834190"/>
              <a:gd name="connsiteY0" fmla="*/ 597130 h 597130"/>
              <a:gd name="connsiteX1" fmla="*/ 0 w 834190"/>
              <a:gd name="connsiteY1" fmla="*/ 305053 h 597130"/>
              <a:gd name="connsiteX0" fmla="*/ 1515444 w 1515444"/>
              <a:gd name="connsiteY0" fmla="*/ 1508215 h 1508215"/>
              <a:gd name="connsiteX1" fmla="*/ 0 w 1515444"/>
              <a:gd name="connsiteY1" fmla="*/ 0 h 1508215"/>
              <a:gd name="connsiteX0" fmla="*/ 1515444 w 1515444"/>
              <a:gd name="connsiteY0" fmla="*/ 1508215 h 1508215"/>
              <a:gd name="connsiteX1" fmla="*/ 0 w 1515444"/>
              <a:gd name="connsiteY1" fmla="*/ 0 h 1508215"/>
              <a:gd name="connsiteX0" fmla="*/ 1566176 w 1566176"/>
              <a:gd name="connsiteY0" fmla="*/ 1374440 h 1374440"/>
              <a:gd name="connsiteX1" fmla="*/ 0 w 1566176"/>
              <a:gd name="connsiteY1" fmla="*/ 0 h 1374440"/>
              <a:gd name="connsiteX0" fmla="*/ 1783030 w 1783030"/>
              <a:gd name="connsiteY0" fmla="*/ 1659650 h 1659650"/>
              <a:gd name="connsiteX1" fmla="*/ 0 w 1783030"/>
              <a:gd name="connsiteY1" fmla="*/ 0 h 1659650"/>
              <a:gd name="connsiteX0" fmla="*/ 1783030 w 1783030"/>
              <a:gd name="connsiteY0" fmla="*/ 1659650 h 1659650"/>
              <a:gd name="connsiteX1" fmla="*/ 0 w 1783030"/>
              <a:gd name="connsiteY1" fmla="*/ 0 h 1659650"/>
              <a:gd name="connsiteX0" fmla="*/ 1783030 w 1783030"/>
              <a:gd name="connsiteY0" fmla="*/ 1659650 h 1659650"/>
              <a:gd name="connsiteX1" fmla="*/ 434623 w 1783030"/>
              <a:gd name="connsiteY1" fmla="*/ 220176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1096908 w 1783030"/>
              <a:gd name="connsiteY1" fmla="*/ 1046303 h 1659650"/>
              <a:gd name="connsiteX2" fmla="*/ 428762 w 1783030"/>
              <a:gd name="connsiteY2" fmla="*/ 416873 h 1659650"/>
              <a:gd name="connsiteX3" fmla="*/ 0 w 1783030"/>
              <a:gd name="connsiteY3" fmla="*/ 0 h 1659650"/>
              <a:gd name="connsiteX0" fmla="*/ 1783030 w 1783030"/>
              <a:gd name="connsiteY0" fmla="*/ 1659650 h 1659650"/>
              <a:gd name="connsiteX1" fmla="*/ 1161379 w 1783030"/>
              <a:gd name="connsiteY1" fmla="*/ 898781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2163990 w 2163990"/>
              <a:gd name="connsiteY0" fmla="*/ 1689155 h 1689155"/>
              <a:gd name="connsiteX1" fmla="*/ 1178962 w 2163990"/>
              <a:gd name="connsiteY1" fmla="*/ 859442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 name="connsiteX0" fmla="*/ 1874940 w 1874940"/>
              <a:gd name="connsiteY0" fmla="*/ 2005660 h 2005660"/>
              <a:gd name="connsiteX1" fmla="*/ 1130210 w 1874940"/>
              <a:gd name="connsiteY1" fmla="*/ 1254625 h 2005660"/>
              <a:gd name="connsiteX2" fmla="*/ 374150 w 1874940"/>
              <a:gd name="connsiteY2" fmla="*/ 792387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263858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1222121 w 1874940"/>
              <a:gd name="connsiteY1" fmla="*/ 1295753 h 2005660"/>
              <a:gd name="connsiteX2" fmla="*/ 337386 w 1874940"/>
              <a:gd name="connsiteY2" fmla="*/ 339984 h 2005660"/>
              <a:gd name="connsiteX3" fmla="*/ 0 w 1874940"/>
              <a:gd name="connsiteY3" fmla="*/ 0 h 2005660"/>
              <a:gd name="connsiteX0" fmla="*/ 1844304 w 1844304"/>
              <a:gd name="connsiteY0" fmla="*/ 2571165 h 2571165"/>
              <a:gd name="connsiteX1" fmla="*/ 1222121 w 1844304"/>
              <a:gd name="connsiteY1" fmla="*/ 1295753 h 2571165"/>
              <a:gd name="connsiteX2" fmla="*/ 337386 w 1844304"/>
              <a:gd name="connsiteY2" fmla="*/ 339984 h 2571165"/>
              <a:gd name="connsiteX3" fmla="*/ 0 w 1844304"/>
              <a:gd name="connsiteY3" fmla="*/ 0 h 2571165"/>
              <a:gd name="connsiteX0" fmla="*/ 1844304 w 1844304"/>
              <a:gd name="connsiteY0" fmla="*/ 2571165 h 2571165"/>
              <a:gd name="connsiteX1" fmla="*/ 1222121 w 1844304"/>
              <a:gd name="connsiteY1" fmla="*/ 1295753 h 2571165"/>
              <a:gd name="connsiteX2" fmla="*/ 337386 w 1844304"/>
              <a:gd name="connsiteY2" fmla="*/ 339984 h 2571165"/>
              <a:gd name="connsiteX3" fmla="*/ 0 w 1844304"/>
              <a:gd name="connsiteY3" fmla="*/ 0 h 2571165"/>
              <a:gd name="connsiteX0" fmla="*/ 1844304 w 1844304"/>
              <a:gd name="connsiteY0" fmla="*/ 2571165 h 2571165"/>
              <a:gd name="connsiteX1" fmla="*/ 1222121 w 1844304"/>
              <a:gd name="connsiteY1" fmla="*/ 1295753 h 2571165"/>
              <a:gd name="connsiteX2" fmla="*/ 337386 w 1844304"/>
              <a:gd name="connsiteY2" fmla="*/ 339984 h 2571165"/>
              <a:gd name="connsiteX3" fmla="*/ 0 w 1844304"/>
              <a:gd name="connsiteY3" fmla="*/ 0 h 2571165"/>
              <a:gd name="connsiteX0" fmla="*/ 1844304 w 1844304"/>
              <a:gd name="connsiteY0" fmla="*/ 2571165 h 2571165"/>
              <a:gd name="connsiteX1" fmla="*/ 1222121 w 1844304"/>
              <a:gd name="connsiteY1" fmla="*/ 1295753 h 2571165"/>
              <a:gd name="connsiteX2" fmla="*/ 539588 w 1844304"/>
              <a:gd name="connsiteY2" fmla="*/ 288574 h 2571165"/>
              <a:gd name="connsiteX3" fmla="*/ 0 w 1844304"/>
              <a:gd name="connsiteY3" fmla="*/ 0 h 2571165"/>
              <a:gd name="connsiteX0" fmla="*/ 1844304 w 1844304"/>
              <a:gd name="connsiteY0" fmla="*/ 2571165 h 2571165"/>
              <a:gd name="connsiteX1" fmla="*/ 1222121 w 1844304"/>
              <a:gd name="connsiteY1" fmla="*/ 1295753 h 2571165"/>
              <a:gd name="connsiteX2" fmla="*/ 508951 w 1844304"/>
              <a:gd name="connsiteY2" fmla="*/ 381111 h 2571165"/>
              <a:gd name="connsiteX3" fmla="*/ 0 w 1844304"/>
              <a:gd name="connsiteY3" fmla="*/ 0 h 2571165"/>
              <a:gd name="connsiteX0" fmla="*/ 1844304 w 1844304"/>
              <a:gd name="connsiteY0" fmla="*/ 2571165 h 2571165"/>
              <a:gd name="connsiteX1" fmla="*/ 1222121 w 1844304"/>
              <a:gd name="connsiteY1" fmla="*/ 1295753 h 2571165"/>
              <a:gd name="connsiteX2" fmla="*/ 508951 w 1844304"/>
              <a:gd name="connsiteY2" fmla="*/ 381111 h 2571165"/>
              <a:gd name="connsiteX3" fmla="*/ 0 w 1844304"/>
              <a:gd name="connsiteY3" fmla="*/ 0 h 2571165"/>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Lst>
            <a:ahLst/>
            <a:cxnLst>
              <a:cxn ang="0">
                <a:pos x="connsiteX0" y="connsiteY0"/>
              </a:cxn>
              <a:cxn ang="0">
                <a:pos x="connsiteX1" y="connsiteY1"/>
              </a:cxn>
              <a:cxn ang="0">
                <a:pos x="connsiteX2" y="connsiteY2"/>
              </a:cxn>
              <a:cxn ang="0">
                <a:pos x="connsiteX3" y="connsiteY3"/>
              </a:cxn>
            </a:cxnLst>
            <a:rect l="l" t="t" r="r" b="b"/>
            <a:pathLst>
              <a:path w="1844304" h="2530037">
                <a:moveTo>
                  <a:pt x="1844304" y="2530037"/>
                </a:moveTo>
                <a:lnTo>
                  <a:pt x="1222121" y="1254625"/>
                </a:lnTo>
                <a:cubicBezTo>
                  <a:pt x="849087" y="800284"/>
                  <a:pt x="848351" y="834409"/>
                  <a:pt x="508951" y="339983"/>
                </a:cubicBezTo>
                <a:cubicBezTo>
                  <a:pt x="285550" y="183334"/>
                  <a:pt x="257954" y="181394"/>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3" name="幅相">
            <a:extLst>
              <a:ext uri="{FF2B5EF4-FFF2-40B4-BE49-F238E27FC236}">
                <a16:creationId xmlns:a16="http://schemas.microsoft.com/office/drawing/2014/main" id="{26D48894-B502-CB5D-63F0-F7FA1A966C4F}"/>
              </a:ext>
            </a:extLst>
          </p:cNvPr>
          <p:cNvSpPr/>
          <p:nvPr/>
        </p:nvSpPr>
        <p:spPr>
          <a:xfrm>
            <a:off x="8403038" y="5321986"/>
            <a:ext cx="3166046" cy="810149"/>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145629 w 1398686"/>
              <a:gd name="connsiteY0" fmla="*/ 338080 h 1052732"/>
              <a:gd name="connsiteX1" fmla="*/ 1398685 w 1398686"/>
              <a:gd name="connsiteY1" fmla="*/ 386522 h 1052732"/>
              <a:gd name="connsiteX0" fmla="*/ 525041 w 1778098"/>
              <a:gd name="connsiteY0" fmla="*/ 258898 h 1547582"/>
              <a:gd name="connsiteX1" fmla="*/ 1778097 w 1778098"/>
              <a:gd name="connsiteY1" fmla="*/ 307340 h 1547582"/>
              <a:gd name="connsiteX0" fmla="*/ 845895 w 2098951"/>
              <a:gd name="connsiteY0" fmla="*/ 397422 h 1619227"/>
              <a:gd name="connsiteX1" fmla="*/ 2098951 w 2098951"/>
              <a:gd name="connsiteY1" fmla="*/ 445864 h 1619227"/>
              <a:gd name="connsiteX0" fmla="*/ 917898 w 2170954"/>
              <a:gd name="connsiteY0" fmla="*/ 323146 h 2182972"/>
              <a:gd name="connsiteX1" fmla="*/ 2170954 w 2170954"/>
              <a:gd name="connsiteY1" fmla="*/ 371588 h 2182972"/>
              <a:gd name="connsiteX0" fmla="*/ 650184 w 1903240"/>
              <a:gd name="connsiteY0" fmla="*/ 345438 h 1984175"/>
              <a:gd name="connsiteX1" fmla="*/ 1903240 w 1903240"/>
              <a:gd name="connsiteY1" fmla="*/ 393880 h 1984175"/>
              <a:gd name="connsiteX0" fmla="*/ 695090 w 1948146"/>
              <a:gd name="connsiteY0" fmla="*/ 640709 h 2146334"/>
              <a:gd name="connsiteX1" fmla="*/ 1948146 w 1948146"/>
              <a:gd name="connsiteY1" fmla="*/ 689151 h 2146334"/>
              <a:gd name="connsiteX0" fmla="*/ 1636927 w 1636927"/>
              <a:gd name="connsiteY0" fmla="*/ 581390 h 2830622"/>
              <a:gd name="connsiteX1" fmla="*/ 991170 w 1636927"/>
              <a:gd name="connsiteY1" fmla="*/ 1493289 h 2830622"/>
              <a:gd name="connsiteX0" fmla="*/ 824302 w 824302"/>
              <a:gd name="connsiteY0" fmla="*/ 1070631 h 1982531"/>
              <a:gd name="connsiteX1" fmla="*/ 178545 w 824302"/>
              <a:gd name="connsiteY1" fmla="*/ 1982530 h 1982531"/>
              <a:gd name="connsiteX0" fmla="*/ 1115345 w 1115345"/>
              <a:gd name="connsiteY0" fmla="*/ 928470 h 2655180"/>
              <a:gd name="connsiteX1" fmla="*/ 20250 w 1115345"/>
              <a:gd name="connsiteY1" fmla="*/ 2655181 h 2655180"/>
              <a:gd name="connsiteX0" fmla="*/ 1095095 w 1095095"/>
              <a:gd name="connsiteY0" fmla="*/ 988090 h 2714802"/>
              <a:gd name="connsiteX1" fmla="*/ 0 w 1095095"/>
              <a:gd name="connsiteY1" fmla="*/ 2714801 h 2714802"/>
              <a:gd name="connsiteX0" fmla="*/ 1095095 w 1095095"/>
              <a:gd name="connsiteY0" fmla="*/ 658667 h 2385377"/>
              <a:gd name="connsiteX1" fmla="*/ 0 w 1095095"/>
              <a:gd name="connsiteY1" fmla="*/ 2385378 h 2385377"/>
              <a:gd name="connsiteX0" fmla="*/ 1587917 w 1587917"/>
              <a:gd name="connsiteY0" fmla="*/ 801337 h 1725396"/>
              <a:gd name="connsiteX1" fmla="*/ 0 w 1587917"/>
              <a:gd name="connsiteY1" fmla="*/ 1725396 h 1725396"/>
              <a:gd name="connsiteX0" fmla="*/ 1442969 w 1442969"/>
              <a:gd name="connsiteY0" fmla="*/ 1260323 h 1260323"/>
              <a:gd name="connsiteX1" fmla="*/ 0 w 1442969"/>
              <a:gd name="connsiteY1" fmla="*/ 761501 h 1260323"/>
              <a:gd name="connsiteX0" fmla="*/ 1442969 w 1442969"/>
              <a:gd name="connsiteY0" fmla="*/ 737597 h 737597"/>
              <a:gd name="connsiteX1" fmla="*/ 0 w 1442969"/>
              <a:gd name="connsiteY1" fmla="*/ 238775 h 737597"/>
              <a:gd name="connsiteX0" fmla="*/ 1638648 w 1638648"/>
              <a:gd name="connsiteY0" fmla="*/ 839340 h 839341"/>
              <a:gd name="connsiteX1" fmla="*/ 0 w 1638648"/>
              <a:gd name="connsiteY1" fmla="*/ 0 h 839341"/>
              <a:gd name="connsiteX0" fmla="*/ 1638648 w 1638648"/>
              <a:gd name="connsiteY0" fmla="*/ 947618 h 947618"/>
              <a:gd name="connsiteX1" fmla="*/ 0 w 1638648"/>
              <a:gd name="connsiteY1" fmla="*/ 108278 h 947618"/>
              <a:gd name="connsiteX0" fmla="*/ 1638648 w 1638648"/>
              <a:gd name="connsiteY0" fmla="*/ 839340 h 839340"/>
              <a:gd name="connsiteX1" fmla="*/ 0 w 1638648"/>
              <a:gd name="connsiteY1" fmla="*/ 0 h 839340"/>
              <a:gd name="connsiteX0" fmla="*/ 1826198 w 1826198"/>
              <a:gd name="connsiteY0" fmla="*/ 725462 h 938081"/>
              <a:gd name="connsiteX1" fmla="*/ 0 w 1826198"/>
              <a:gd name="connsiteY1" fmla="*/ 299185 h 938081"/>
              <a:gd name="connsiteX0" fmla="*/ 1826198 w 1826198"/>
              <a:gd name="connsiteY0" fmla="*/ 1213248 h 1213249"/>
              <a:gd name="connsiteX1" fmla="*/ 0 w 1826198"/>
              <a:gd name="connsiteY1" fmla="*/ 786971 h 1213249"/>
              <a:gd name="connsiteX0" fmla="*/ 1826198 w 1826198"/>
              <a:gd name="connsiteY0" fmla="*/ 1213248 h 1213248"/>
              <a:gd name="connsiteX1" fmla="*/ 0 w 1826198"/>
              <a:gd name="connsiteY1" fmla="*/ 786971 h 1213248"/>
              <a:gd name="connsiteX0" fmla="*/ 2388848 w 2388848"/>
              <a:gd name="connsiteY0" fmla="*/ 1066812 h 1092938"/>
              <a:gd name="connsiteX1" fmla="*/ 0 w 2388848"/>
              <a:gd name="connsiteY1" fmla="*/ 1092939 h 1092938"/>
              <a:gd name="connsiteX0" fmla="*/ 2388848 w 2388848"/>
              <a:gd name="connsiteY0" fmla="*/ 420652 h 446780"/>
              <a:gd name="connsiteX1" fmla="*/ 0 w 2388848"/>
              <a:gd name="connsiteY1" fmla="*/ 446779 h 446780"/>
              <a:gd name="connsiteX0" fmla="*/ 2388848 w 2388848"/>
              <a:gd name="connsiteY0" fmla="*/ 403580 h 429707"/>
              <a:gd name="connsiteX1" fmla="*/ 0 w 2388848"/>
              <a:gd name="connsiteY1" fmla="*/ 429707 h 429707"/>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528024 h 554151"/>
              <a:gd name="connsiteX1" fmla="*/ 1141270 w 2388848"/>
              <a:gd name="connsiteY1" fmla="*/ 120778 h 554151"/>
              <a:gd name="connsiteX2" fmla="*/ 0 w 2388848"/>
              <a:gd name="connsiteY2" fmla="*/ 554151 h 554151"/>
              <a:gd name="connsiteX0" fmla="*/ 2388848 w 2388848"/>
              <a:gd name="connsiteY0" fmla="*/ 421283 h 447410"/>
              <a:gd name="connsiteX1" fmla="*/ 1141270 w 2388848"/>
              <a:gd name="connsiteY1" fmla="*/ 14037 h 447410"/>
              <a:gd name="connsiteX2" fmla="*/ 0 w 2388848"/>
              <a:gd name="connsiteY2" fmla="*/ 447410 h 447410"/>
              <a:gd name="connsiteX0" fmla="*/ 2388848 w 2388848"/>
              <a:gd name="connsiteY0" fmla="*/ 440026 h 466153"/>
              <a:gd name="connsiteX1" fmla="*/ 977164 w 2388848"/>
              <a:gd name="connsiteY1" fmla="*/ 13111 h 466153"/>
              <a:gd name="connsiteX2" fmla="*/ 0 w 2388848"/>
              <a:gd name="connsiteY2" fmla="*/ 466153 h 466153"/>
              <a:gd name="connsiteX0" fmla="*/ 2388848 w 2388848"/>
              <a:gd name="connsiteY0" fmla="*/ 427447 h 453574"/>
              <a:gd name="connsiteX1" fmla="*/ 977164 w 2388848"/>
              <a:gd name="connsiteY1" fmla="*/ 532 h 453574"/>
              <a:gd name="connsiteX2" fmla="*/ 0 w 2388848"/>
              <a:gd name="connsiteY2" fmla="*/ 453574 h 453574"/>
              <a:gd name="connsiteX0" fmla="*/ 2388848 w 2388848"/>
              <a:gd name="connsiteY0" fmla="*/ 427203 h 453330"/>
              <a:gd name="connsiteX1" fmla="*/ 977164 w 2388848"/>
              <a:gd name="connsiteY1" fmla="*/ 288 h 453330"/>
              <a:gd name="connsiteX2" fmla="*/ 0 w 2388848"/>
              <a:gd name="connsiteY2" fmla="*/ 453330 h 453330"/>
              <a:gd name="connsiteX0" fmla="*/ 2388848 w 2388848"/>
              <a:gd name="connsiteY0" fmla="*/ 426919 h 453046"/>
              <a:gd name="connsiteX1" fmla="*/ 977164 w 2388848"/>
              <a:gd name="connsiteY1" fmla="*/ 4 h 453046"/>
              <a:gd name="connsiteX2" fmla="*/ 0 w 2388848"/>
              <a:gd name="connsiteY2" fmla="*/ 453046 h 453046"/>
              <a:gd name="connsiteX0" fmla="*/ 2388848 w 2388848"/>
              <a:gd name="connsiteY0" fmla="*/ 426919 h 453046"/>
              <a:gd name="connsiteX1" fmla="*/ 977164 w 2388848"/>
              <a:gd name="connsiteY1" fmla="*/ 4 h 453046"/>
              <a:gd name="connsiteX2" fmla="*/ 0 w 2388848"/>
              <a:gd name="connsiteY2" fmla="*/ 453046 h 453046"/>
              <a:gd name="connsiteX0" fmla="*/ 2388848 w 2388848"/>
              <a:gd name="connsiteY0" fmla="*/ 0 h 539585"/>
              <a:gd name="connsiteX1" fmla="*/ 995546 w 2388848"/>
              <a:gd name="connsiteY1" fmla="*/ 539584 h 539585"/>
              <a:gd name="connsiteX2" fmla="*/ 0 w 2388848"/>
              <a:gd name="connsiteY2" fmla="*/ 26127 h 539585"/>
              <a:gd name="connsiteX0" fmla="*/ 2388848 w 2388848"/>
              <a:gd name="connsiteY0" fmla="*/ 0 h 539585"/>
              <a:gd name="connsiteX1" fmla="*/ 995546 w 2388848"/>
              <a:gd name="connsiteY1" fmla="*/ 539584 h 539585"/>
              <a:gd name="connsiteX2" fmla="*/ 0 w 2388848"/>
              <a:gd name="connsiteY2" fmla="*/ 26127 h 539585"/>
              <a:gd name="connsiteX0" fmla="*/ 2370466 w 2370466"/>
              <a:gd name="connsiteY0" fmla="*/ 0 h 539865"/>
              <a:gd name="connsiteX1" fmla="*/ 977164 w 2370466"/>
              <a:gd name="connsiteY1" fmla="*/ 539584 h 539865"/>
              <a:gd name="connsiteX2" fmla="*/ 0 w 2370466"/>
              <a:gd name="connsiteY2" fmla="*/ 77537 h 539865"/>
              <a:gd name="connsiteX0" fmla="*/ 2339829 w 2339829"/>
              <a:gd name="connsiteY0" fmla="*/ 15000 h 462057"/>
              <a:gd name="connsiteX1" fmla="*/ 977164 w 2339829"/>
              <a:gd name="connsiteY1" fmla="*/ 462047 h 462057"/>
              <a:gd name="connsiteX2" fmla="*/ 0 w 2339829"/>
              <a:gd name="connsiteY2" fmla="*/ 0 h 462057"/>
              <a:gd name="connsiteX0" fmla="*/ 2290810 w 2290810"/>
              <a:gd name="connsiteY0" fmla="*/ 4718 h 451766"/>
              <a:gd name="connsiteX1" fmla="*/ 928145 w 2290810"/>
              <a:gd name="connsiteY1" fmla="*/ 451765 h 451766"/>
              <a:gd name="connsiteX2" fmla="*/ 0 w 2290810"/>
              <a:gd name="connsiteY2" fmla="*/ 0 h 451766"/>
              <a:gd name="connsiteX0" fmla="*/ 2358211 w 2358211"/>
              <a:gd name="connsiteY0" fmla="*/ 559942 h 1017855"/>
              <a:gd name="connsiteX1" fmla="*/ 995546 w 2358211"/>
              <a:gd name="connsiteY1" fmla="*/ 1006989 h 1017855"/>
              <a:gd name="connsiteX2" fmla="*/ 0 w 2358211"/>
              <a:gd name="connsiteY2" fmla="*/ 0 h 1017855"/>
              <a:gd name="connsiteX0" fmla="*/ 2333702 w 2333702"/>
              <a:gd name="connsiteY0" fmla="*/ 1002064 h 1080380"/>
              <a:gd name="connsiteX1" fmla="*/ 995546 w 2333702"/>
              <a:gd name="connsiteY1" fmla="*/ 1006989 h 1080380"/>
              <a:gd name="connsiteX2" fmla="*/ 0 w 2333702"/>
              <a:gd name="connsiteY2" fmla="*/ 0 h 1080380"/>
              <a:gd name="connsiteX0" fmla="*/ 2333702 w 2333702"/>
              <a:gd name="connsiteY0" fmla="*/ 1002064 h 1055103"/>
              <a:gd name="connsiteX1" fmla="*/ 995546 w 2333702"/>
              <a:gd name="connsiteY1" fmla="*/ 1006989 h 1055103"/>
              <a:gd name="connsiteX2" fmla="*/ 0 w 2333702"/>
              <a:gd name="connsiteY2" fmla="*/ 0 h 1055103"/>
              <a:gd name="connsiteX0" fmla="*/ 2333702 w 2333702"/>
              <a:gd name="connsiteY0" fmla="*/ 1002064 h 1002064"/>
              <a:gd name="connsiteX1" fmla="*/ 1136475 w 2333702"/>
              <a:gd name="connsiteY1" fmla="*/ 677968 h 1002064"/>
              <a:gd name="connsiteX2" fmla="*/ 0 w 2333702"/>
              <a:gd name="connsiteY2" fmla="*/ 0 h 1002064"/>
              <a:gd name="connsiteX0" fmla="*/ 2333702 w 2333702"/>
              <a:gd name="connsiteY0" fmla="*/ 1002064 h 1002064"/>
              <a:gd name="connsiteX1" fmla="*/ 1191621 w 2333702"/>
              <a:gd name="connsiteY1" fmla="*/ 749942 h 1002064"/>
              <a:gd name="connsiteX2" fmla="*/ 0 w 2333702"/>
              <a:gd name="connsiteY2" fmla="*/ 0 h 1002064"/>
              <a:gd name="connsiteX0" fmla="*/ 2333702 w 2333702"/>
              <a:gd name="connsiteY0" fmla="*/ 1002064 h 1002064"/>
              <a:gd name="connsiteX1" fmla="*/ 1191621 w 2333702"/>
              <a:gd name="connsiteY1" fmla="*/ 749942 h 1002064"/>
              <a:gd name="connsiteX2" fmla="*/ 0 w 2333702"/>
              <a:gd name="connsiteY2" fmla="*/ 0 h 1002064"/>
              <a:gd name="connsiteX0" fmla="*/ 2333702 w 2333702"/>
              <a:gd name="connsiteY0" fmla="*/ 1002064 h 1002064"/>
              <a:gd name="connsiteX1" fmla="*/ 1191621 w 2333702"/>
              <a:gd name="connsiteY1" fmla="*/ 749942 h 1002064"/>
              <a:gd name="connsiteX2" fmla="*/ 0 w 2333702"/>
              <a:gd name="connsiteY2" fmla="*/ 0 h 1002064"/>
              <a:gd name="connsiteX0" fmla="*/ 2333702 w 2333702"/>
              <a:gd name="connsiteY0" fmla="*/ 1002064 h 1002064"/>
              <a:gd name="connsiteX1" fmla="*/ 1191621 w 2333702"/>
              <a:gd name="connsiteY1" fmla="*/ 749942 h 1002064"/>
              <a:gd name="connsiteX2" fmla="*/ 0 w 2333702"/>
              <a:gd name="connsiteY2" fmla="*/ 0 h 1002064"/>
            </a:gdLst>
            <a:ahLst/>
            <a:cxnLst>
              <a:cxn ang="0">
                <a:pos x="connsiteX0" y="connsiteY0"/>
              </a:cxn>
              <a:cxn ang="0">
                <a:pos x="connsiteX1" y="connsiteY1"/>
              </a:cxn>
              <a:cxn ang="0">
                <a:pos x="connsiteX2" y="connsiteY2"/>
              </a:cxn>
            </a:cxnLst>
            <a:rect l="l" t="t" r="r" b="b"/>
            <a:pathLst>
              <a:path w="2333702" h="1002064">
                <a:moveTo>
                  <a:pt x="2333702" y="1002064"/>
                </a:moveTo>
                <a:cubicBezTo>
                  <a:pt x="1747345" y="973157"/>
                  <a:pt x="1611208" y="978644"/>
                  <a:pt x="1191621" y="749942"/>
                </a:cubicBezTo>
                <a:cubicBezTo>
                  <a:pt x="772034" y="521240"/>
                  <a:pt x="712420" y="38673"/>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54" name="实轴">
            <a:extLst>
              <a:ext uri="{FF2B5EF4-FFF2-40B4-BE49-F238E27FC236}">
                <a16:creationId xmlns:a16="http://schemas.microsoft.com/office/drawing/2014/main" id="{9D14795A-6CB0-3C4E-D378-A91803F75218}"/>
              </a:ext>
            </a:extLst>
          </p:cNvPr>
          <p:cNvCxnSpPr>
            <a:cxnSpLocks/>
          </p:cNvCxnSpPr>
          <p:nvPr/>
        </p:nvCxnSpPr>
        <p:spPr>
          <a:xfrm flipH="1">
            <a:off x="8370512" y="4795737"/>
            <a:ext cx="3315576"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5" name="虚轴">
            <a:extLst>
              <a:ext uri="{FF2B5EF4-FFF2-40B4-BE49-F238E27FC236}">
                <a16:creationId xmlns:a16="http://schemas.microsoft.com/office/drawing/2014/main" id="{AA3332A3-E628-9B7D-2E6F-55557930AC3D}"/>
              </a:ext>
            </a:extLst>
          </p:cNvPr>
          <p:cNvCxnSpPr>
            <a:cxnSpLocks/>
          </p:cNvCxnSpPr>
          <p:nvPr/>
        </p:nvCxnSpPr>
        <p:spPr>
          <a:xfrm flipV="1">
            <a:off x="8370512" y="3242943"/>
            <a:ext cx="0" cy="3136970"/>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wc1">
                <a:extLst>
                  <a:ext uri="{FF2B5EF4-FFF2-40B4-BE49-F238E27FC236}">
                    <a16:creationId xmlns:a16="http://schemas.microsoft.com/office/drawing/2014/main" id="{ECCCFEC2-524D-F36C-0580-D2F8AAF88366}"/>
                  </a:ext>
                </a:extLst>
              </p:cNvPr>
              <p:cNvSpPr txBox="1"/>
              <p:nvPr/>
            </p:nvSpPr>
            <p:spPr>
              <a:xfrm>
                <a:off x="7826923" y="4533389"/>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6" name="wc1">
                <a:extLst>
                  <a:ext uri="{FF2B5EF4-FFF2-40B4-BE49-F238E27FC236}">
                    <a16:creationId xmlns:a16="http://schemas.microsoft.com/office/drawing/2014/main" id="{ECCCFEC2-524D-F36C-0580-D2F8AAF88366}"/>
                  </a:ext>
                </a:extLst>
              </p:cNvPr>
              <p:cNvSpPr txBox="1">
                <a:spLocks noRot="1" noChangeAspect="1" noMove="1" noResize="1" noEditPoints="1" noAdjustHandles="1" noChangeArrowheads="1" noChangeShapeType="1" noTextEdit="1"/>
              </p:cNvSpPr>
              <p:nvPr/>
            </p:nvSpPr>
            <p:spPr>
              <a:xfrm>
                <a:off x="7826923" y="4533389"/>
                <a:ext cx="414004" cy="524695"/>
              </a:xfrm>
              <a:prstGeom prst="rect">
                <a:avLst/>
              </a:prstGeom>
              <a:blipFill>
                <a:blip r:embed="rId4"/>
                <a:stretch>
                  <a:fillRect l="-9091" r="-33333"/>
                </a:stretch>
              </a:blipFill>
            </p:spPr>
            <p:txBody>
              <a:bodyPr/>
              <a:lstStyle/>
              <a:p>
                <a:r>
                  <a:rPr lang="zh-CN" altLang="en-US">
                    <a:noFill/>
                  </a:rPr>
                  <a:t> </a:t>
                </a:r>
              </a:p>
            </p:txBody>
          </p:sp>
        </mc:Fallback>
      </mc:AlternateContent>
      <p:cxnSp>
        <p:nvCxnSpPr>
          <p:cNvPr id="57" name="实轴">
            <a:extLst>
              <a:ext uri="{FF2B5EF4-FFF2-40B4-BE49-F238E27FC236}">
                <a16:creationId xmlns:a16="http://schemas.microsoft.com/office/drawing/2014/main" id="{E34B926B-9F12-4F4B-C6E5-E34F305D4167}"/>
              </a:ext>
            </a:extLst>
          </p:cNvPr>
          <p:cNvCxnSpPr>
            <a:cxnSpLocks/>
          </p:cNvCxnSpPr>
          <p:nvPr/>
        </p:nvCxnSpPr>
        <p:spPr>
          <a:xfrm flipH="1">
            <a:off x="8355886" y="5286400"/>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wc1">
                <a:extLst>
                  <a:ext uri="{FF2B5EF4-FFF2-40B4-BE49-F238E27FC236}">
                    <a16:creationId xmlns:a16="http://schemas.microsoft.com/office/drawing/2014/main" id="{0B18C689-AAF6-E7E4-F479-0AF6C307A546}"/>
                  </a:ext>
                </a:extLst>
              </p:cNvPr>
              <p:cNvSpPr txBox="1"/>
              <p:nvPr/>
            </p:nvSpPr>
            <p:spPr>
              <a:xfrm>
                <a:off x="7160736" y="5469493"/>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−180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58" name="wc1">
                <a:extLst>
                  <a:ext uri="{FF2B5EF4-FFF2-40B4-BE49-F238E27FC236}">
                    <a16:creationId xmlns:a16="http://schemas.microsoft.com/office/drawing/2014/main" id="{0B18C689-AAF6-E7E4-F479-0AF6C307A546}"/>
                  </a:ext>
                </a:extLst>
              </p:cNvPr>
              <p:cNvSpPr txBox="1">
                <a:spLocks noRot="1" noChangeAspect="1" noMove="1" noResize="1" noEditPoints="1" noAdjustHandles="1" noChangeArrowheads="1" noChangeShapeType="1" noTextEdit="1"/>
              </p:cNvSpPr>
              <p:nvPr/>
            </p:nvSpPr>
            <p:spPr>
              <a:xfrm>
                <a:off x="7160736" y="5469493"/>
                <a:ext cx="414004" cy="524695"/>
              </a:xfrm>
              <a:prstGeom prst="rect">
                <a:avLst/>
              </a:prstGeom>
              <a:blipFill>
                <a:blip r:embed="rId5"/>
                <a:stretch>
                  <a:fillRect r="-187879"/>
                </a:stretch>
              </a:blipFill>
            </p:spPr>
            <p:txBody>
              <a:bodyPr/>
              <a:lstStyle/>
              <a:p>
                <a:r>
                  <a:rPr lang="zh-CN" altLang="en-US">
                    <a:noFill/>
                  </a:rPr>
                  <a:t> </a:t>
                </a:r>
              </a:p>
            </p:txBody>
          </p:sp>
        </mc:Fallback>
      </mc:AlternateContent>
      <p:cxnSp>
        <p:nvCxnSpPr>
          <p:cNvPr id="62" name="实轴">
            <a:extLst>
              <a:ext uri="{FF2B5EF4-FFF2-40B4-BE49-F238E27FC236}">
                <a16:creationId xmlns:a16="http://schemas.microsoft.com/office/drawing/2014/main" id="{CC750311-7172-7ED7-2B13-B7C9D1945388}"/>
              </a:ext>
            </a:extLst>
          </p:cNvPr>
          <p:cNvCxnSpPr>
            <a:cxnSpLocks/>
          </p:cNvCxnSpPr>
          <p:nvPr/>
        </p:nvCxnSpPr>
        <p:spPr>
          <a:xfrm flipH="1">
            <a:off x="8370512" y="5731841"/>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实轴">
            <a:extLst>
              <a:ext uri="{FF2B5EF4-FFF2-40B4-BE49-F238E27FC236}">
                <a16:creationId xmlns:a16="http://schemas.microsoft.com/office/drawing/2014/main" id="{D2A0A7FA-D3D6-ACC7-5BE8-4EBD11486F95}"/>
              </a:ext>
            </a:extLst>
          </p:cNvPr>
          <p:cNvCxnSpPr>
            <a:cxnSpLocks/>
          </p:cNvCxnSpPr>
          <p:nvPr/>
        </p:nvCxnSpPr>
        <p:spPr>
          <a:xfrm flipH="1">
            <a:off x="8355886" y="6182563"/>
            <a:ext cx="3315576" cy="0"/>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wc1">
                <a:extLst>
                  <a:ext uri="{FF2B5EF4-FFF2-40B4-BE49-F238E27FC236}">
                    <a16:creationId xmlns:a16="http://schemas.microsoft.com/office/drawing/2014/main" id="{5DB2574A-A33F-9EDB-EFCC-0396E58B0AEF}"/>
                  </a:ext>
                </a:extLst>
              </p:cNvPr>
              <p:cNvSpPr txBox="1"/>
              <p:nvPr/>
            </p:nvSpPr>
            <p:spPr>
              <a:xfrm>
                <a:off x="7367738" y="5024052"/>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−90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64" name="wc1">
                <a:extLst>
                  <a:ext uri="{FF2B5EF4-FFF2-40B4-BE49-F238E27FC236}">
                    <a16:creationId xmlns:a16="http://schemas.microsoft.com/office/drawing/2014/main" id="{5DB2574A-A33F-9EDB-EFCC-0396E58B0AEF}"/>
                  </a:ext>
                </a:extLst>
              </p:cNvPr>
              <p:cNvSpPr txBox="1">
                <a:spLocks noRot="1" noChangeAspect="1" noMove="1" noResize="1" noEditPoints="1" noAdjustHandles="1" noChangeArrowheads="1" noChangeShapeType="1" noTextEdit="1"/>
              </p:cNvSpPr>
              <p:nvPr/>
            </p:nvSpPr>
            <p:spPr>
              <a:xfrm>
                <a:off x="7367738" y="5024052"/>
                <a:ext cx="414004" cy="524695"/>
              </a:xfrm>
              <a:prstGeom prst="rect">
                <a:avLst/>
              </a:prstGeom>
              <a:blipFill>
                <a:blip r:embed="rId6"/>
                <a:stretch>
                  <a:fillRect r="-1424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wc1">
                <a:extLst>
                  <a:ext uri="{FF2B5EF4-FFF2-40B4-BE49-F238E27FC236}">
                    <a16:creationId xmlns:a16="http://schemas.microsoft.com/office/drawing/2014/main" id="{4D603742-4004-E83C-6AF1-6A02CC546A8C}"/>
                  </a:ext>
                </a:extLst>
              </p:cNvPr>
              <p:cNvSpPr txBox="1"/>
              <p:nvPr/>
            </p:nvSpPr>
            <p:spPr>
              <a:xfrm>
                <a:off x="7152755" y="5920944"/>
                <a:ext cx="414004"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−270</m:t>
                      </m:r>
                      <m:r>
                        <a:rPr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65" name="wc1">
                <a:extLst>
                  <a:ext uri="{FF2B5EF4-FFF2-40B4-BE49-F238E27FC236}">
                    <a16:creationId xmlns:a16="http://schemas.microsoft.com/office/drawing/2014/main" id="{4D603742-4004-E83C-6AF1-6A02CC546A8C}"/>
                  </a:ext>
                </a:extLst>
              </p:cNvPr>
              <p:cNvSpPr txBox="1">
                <a:spLocks noRot="1" noChangeAspect="1" noMove="1" noResize="1" noEditPoints="1" noAdjustHandles="1" noChangeArrowheads="1" noChangeShapeType="1" noTextEdit="1"/>
              </p:cNvSpPr>
              <p:nvPr/>
            </p:nvSpPr>
            <p:spPr>
              <a:xfrm>
                <a:off x="7152755" y="5920944"/>
                <a:ext cx="414004" cy="524695"/>
              </a:xfrm>
              <a:prstGeom prst="rect">
                <a:avLst/>
              </a:prstGeom>
              <a:blipFill>
                <a:blip r:embed="rId7"/>
                <a:stretch>
                  <a:fillRect r="-19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Re">
                <a:extLst>
                  <a:ext uri="{FF2B5EF4-FFF2-40B4-BE49-F238E27FC236}">
                    <a16:creationId xmlns:a16="http://schemas.microsoft.com/office/drawing/2014/main" id="{4F14ADE8-C82A-F95D-F37B-7DA6415D1D1D}"/>
                  </a:ext>
                </a:extLst>
              </p:cNvPr>
              <p:cNvSpPr txBox="1"/>
              <p:nvPr/>
            </p:nvSpPr>
            <p:spPr>
              <a:xfrm>
                <a:off x="11351318" y="430657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𝜔</m:t>
                      </m:r>
                    </m:oMath>
                  </m:oMathPara>
                </a14:m>
                <a:endParaRPr lang="zh-CN" altLang="en-US" sz="2800" dirty="0"/>
              </a:p>
            </p:txBody>
          </p:sp>
        </mc:Choice>
        <mc:Fallback xmlns="">
          <p:sp>
            <p:nvSpPr>
              <p:cNvPr id="66" name="Re">
                <a:extLst>
                  <a:ext uri="{FF2B5EF4-FFF2-40B4-BE49-F238E27FC236}">
                    <a16:creationId xmlns:a16="http://schemas.microsoft.com/office/drawing/2014/main" id="{4F14ADE8-C82A-F95D-F37B-7DA6415D1D1D}"/>
                  </a:ext>
                </a:extLst>
              </p:cNvPr>
              <p:cNvSpPr txBox="1">
                <a:spLocks noRot="1" noChangeAspect="1" noMove="1" noResize="1" noEditPoints="1" noAdjustHandles="1" noChangeArrowheads="1" noChangeShapeType="1" noTextEdit="1"/>
              </p:cNvSpPr>
              <p:nvPr/>
            </p:nvSpPr>
            <p:spPr>
              <a:xfrm>
                <a:off x="11351318" y="4306571"/>
                <a:ext cx="576536" cy="52322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Re">
                <a:extLst>
                  <a:ext uri="{FF2B5EF4-FFF2-40B4-BE49-F238E27FC236}">
                    <a16:creationId xmlns:a16="http://schemas.microsoft.com/office/drawing/2014/main" id="{DA577E67-EF07-1EA3-C9B7-F658126CCE64}"/>
                  </a:ext>
                </a:extLst>
              </p:cNvPr>
              <p:cNvSpPr txBox="1"/>
              <p:nvPr/>
            </p:nvSpPr>
            <p:spPr>
              <a:xfrm>
                <a:off x="9710197" y="3926963"/>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−40</m:t>
                      </m:r>
                    </m:oMath>
                  </m:oMathPara>
                </a14:m>
                <a:endParaRPr lang="zh-CN" altLang="en-US" sz="2800" dirty="0"/>
              </a:p>
            </p:txBody>
          </p:sp>
        </mc:Choice>
        <mc:Fallback xmlns="">
          <p:sp>
            <p:nvSpPr>
              <p:cNvPr id="68" name="Re">
                <a:extLst>
                  <a:ext uri="{FF2B5EF4-FFF2-40B4-BE49-F238E27FC236}">
                    <a16:creationId xmlns:a16="http://schemas.microsoft.com/office/drawing/2014/main" id="{DA577E67-EF07-1EA3-C9B7-F658126CCE64}"/>
                  </a:ext>
                </a:extLst>
              </p:cNvPr>
              <p:cNvSpPr txBox="1">
                <a:spLocks noRot="1" noChangeAspect="1" noMove="1" noResize="1" noEditPoints="1" noAdjustHandles="1" noChangeArrowheads="1" noChangeShapeType="1" noTextEdit="1"/>
              </p:cNvSpPr>
              <p:nvPr/>
            </p:nvSpPr>
            <p:spPr>
              <a:xfrm>
                <a:off x="9710197" y="3926963"/>
                <a:ext cx="576536" cy="523220"/>
              </a:xfrm>
              <a:prstGeom prst="rect">
                <a:avLst/>
              </a:prstGeom>
              <a:blipFill>
                <a:blip r:embed="rId9"/>
                <a:stretch>
                  <a:fillRect r="-52174"/>
                </a:stretch>
              </a:blipFill>
            </p:spPr>
            <p:txBody>
              <a:bodyPr/>
              <a:lstStyle/>
              <a:p>
                <a:r>
                  <a:rPr lang="zh-CN" altLang="en-US">
                    <a:noFill/>
                  </a:rPr>
                  <a:t> </a:t>
                </a:r>
              </a:p>
            </p:txBody>
          </p:sp>
        </mc:Fallback>
      </mc:AlternateContent>
      <p:cxnSp>
        <p:nvCxnSpPr>
          <p:cNvPr id="70" name="实轴">
            <a:extLst>
              <a:ext uri="{FF2B5EF4-FFF2-40B4-BE49-F238E27FC236}">
                <a16:creationId xmlns:a16="http://schemas.microsoft.com/office/drawing/2014/main" id="{B38FBD47-5867-1724-B696-9EF52A390EB1}"/>
              </a:ext>
            </a:extLst>
          </p:cNvPr>
          <p:cNvCxnSpPr>
            <a:cxnSpLocks/>
          </p:cNvCxnSpPr>
          <p:nvPr/>
        </p:nvCxnSpPr>
        <p:spPr>
          <a:xfrm flipV="1">
            <a:off x="9381128" y="4811428"/>
            <a:ext cx="0" cy="1371135"/>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实轴">
            <a:extLst>
              <a:ext uri="{FF2B5EF4-FFF2-40B4-BE49-F238E27FC236}">
                <a16:creationId xmlns:a16="http://schemas.microsoft.com/office/drawing/2014/main" id="{4500803E-0953-64EF-8D4E-1E4C0D9EF3B8}"/>
              </a:ext>
            </a:extLst>
          </p:cNvPr>
          <p:cNvCxnSpPr>
            <a:cxnSpLocks/>
            <a:stCxn id="52" idx="1"/>
          </p:cNvCxnSpPr>
          <p:nvPr/>
        </p:nvCxnSpPr>
        <p:spPr>
          <a:xfrm>
            <a:off x="10348659" y="4786681"/>
            <a:ext cx="0" cy="1395882"/>
          </a:xfrm>
          <a:prstGeom prst="straightConnector1">
            <a:avLst/>
          </a:prstGeom>
          <a:ln w="2540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Re">
                <a:extLst>
                  <a:ext uri="{FF2B5EF4-FFF2-40B4-BE49-F238E27FC236}">
                    <a16:creationId xmlns:a16="http://schemas.microsoft.com/office/drawing/2014/main" id="{3B62F4D2-11F7-3F04-967C-AE5340BBA348}"/>
                  </a:ext>
                </a:extLst>
              </p:cNvPr>
              <p:cNvSpPr txBox="1"/>
              <p:nvPr/>
            </p:nvSpPr>
            <p:spPr>
              <a:xfrm>
                <a:off x="8768132" y="6218148"/>
                <a:ext cx="110030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1/</m:t>
                      </m:r>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𝑇</m:t>
                          </m:r>
                        </m:e>
                        <m:sub>
                          <m:r>
                            <a:rPr lang="en-US" altLang="zh-CN" sz="2800" b="0" i="1" smtClean="0">
                              <a:latin typeface="Cambria Math" panose="02040503050406030204" pitchFamily="18" charset="0"/>
                              <a:ea typeface="Cambria Math" panose="02040503050406030204" pitchFamily="18" charset="0"/>
                            </a:rPr>
                            <m:t>1</m:t>
                          </m:r>
                        </m:sub>
                      </m:sSub>
                    </m:oMath>
                  </m:oMathPara>
                </a14:m>
                <a:endParaRPr lang="zh-CN" altLang="en-US" sz="2800" dirty="0"/>
              </a:p>
            </p:txBody>
          </p:sp>
        </mc:Choice>
        <mc:Fallback xmlns="">
          <p:sp>
            <p:nvSpPr>
              <p:cNvPr id="73" name="Re">
                <a:extLst>
                  <a:ext uri="{FF2B5EF4-FFF2-40B4-BE49-F238E27FC236}">
                    <a16:creationId xmlns:a16="http://schemas.microsoft.com/office/drawing/2014/main" id="{3B62F4D2-11F7-3F04-967C-AE5340BBA348}"/>
                  </a:ext>
                </a:extLst>
              </p:cNvPr>
              <p:cNvSpPr txBox="1">
                <a:spLocks noRot="1" noChangeAspect="1" noMove="1" noResize="1" noEditPoints="1" noAdjustHandles="1" noChangeArrowheads="1" noChangeShapeType="1" noTextEdit="1"/>
              </p:cNvSpPr>
              <p:nvPr/>
            </p:nvSpPr>
            <p:spPr>
              <a:xfrm>
                <a:off x="8768132" y="6218148"/>
                <a:ext cx="1100309" cy="523220"/>
              </a:xfrm>
              <a:prstGeom prst="rect">
                <a:avLst/>
              </a:prstGeom>
              <a:blipFill>
                <a:blip r:embed="rId10"/>
                <a:stretch>
                  <a:fillRect b="-19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wc1">
                <a:extLst>
                  <a:ext uri="{FF2B5EF4-FFF2-40B4-BE49-F238E27FC236}">
                    <a16:creationId xmlns:a16="http://schemas.microsoft.com/office/drawing/2014/main" id="{4FBB705D-4335-EDA1-2C59-72098FA5F198}"/>
                  </a:ext>
                </a:extLst>
              </p:cNvPr>
              <p:cNvSpPr txBox="1"/>
              <p:nvPr/>
            </p:nvSpPr>
            <p:spPr>
              <a:xfrm>
                <a:off x="4022487" y="1000093"/>
                <a:ext cx="201574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𝑍</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𝑁</m:t>
                      </m:r>
                    </m:oMath>
                  </m:oMathPara>
                </a14:m>
                <a:endParaRPr lang="zh-CN" altLang="en-US" sz="2800" dirty="0"/>
              </a:p>
            </p:txBody>
          </p:sp>
        </mc:Choice>
        <mc:Fallback xmlns="">
          <p:sp>
            <p:nvSpPr>
              <p:cNvPr id="5" name="wc1">
                <a:extLst>
                  <a:ext uri="{FF2B5EF4-FFF2-40B4-BE49-F238E27FC236}">
                    <a16:creationId xmlns:a16="http://schemas.microsoft.com/office/drawing/2014/main" id="{4FBB705D-4335-EDA1-2C59-72098FA5F198}"/>
                  </a:ext>
                </a:extLst>
              </p:cNvPr>
              <p:cNvSpPr txBox="1">
                <a:spLocks noRot="1" noChangeAspect="1" noMove="1" noResize="1" noEditPoints="1" noAdjustHandles="1" noChangeArrowheads="1" noChangeShapeType="1" noTextEdit="1"/>
              </p:cNvSpPr>
              <p:nvPr/>
            </p:nvSpPr>
            <p:spPr>
              <a:xfrm>
                <a:off x="4022487" y="1000093"/>
                <a:ext cx="2015741" cy="523220"/>
              </a:xfrm>
              <a:prstGeom prst="rect">
                <a:avLst/>
              </a:prstGeom>
              <a:blipFill>
                <a:blip r:embed="rId11"/>
                <a:stretch>
                  <a:fillRect l="-625" r="-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wc1">
                <a:extLst>
                  <a:ext uri="{FF2B5EF4-FFF2-40B4-BE49-F238E27FC236}">
                    <a16:creationId xmlns:a16="http://schemas.microsoft.com/office/drawing/2014/main" id="{161C5036-230A-32CC-B2B3-4A58194EF6B6}"/>
                  </a:ext>
                </a:extLst>
              </p:cNvPr>
              <p:cNvSpPr txBox="1"/>
              <p:nvPr/>
            </p:nvSpPr>
            <p:spPr>
              <a:xfrm>
                <a:off x="3914195" y="1608676"/>
                <a:ext cx="237625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𝑁</m:t>
                          </m:r>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𝑁</m:t>
                          </m:r>
                        </m:e>
                        <m:sup>
                          <m:r>
                            <a:rPr lang="en-US" altLang="zh-CN" sz="2800" b="0" i="1" smtClean="0">
                              <a:latin typeface="Cambria Math" panose="02040503050406030204" pitchFamily="18" charset="0"/>
                            </a:rPr>
                            <m:t>−</m:t>
                          </m:r>
                        </m:sup>
                      </m:sSup>
                    </m:oMath>
                  </m:oMathPara>
                </a14:m>
                <a:endParaRPr lang="zh-CN" altLang="en-US" sz="2800" dirty="0"/>
              </a:p>
            </p:txBody>
          </p:sp>
        </mc:Choice>
        <mc:Fallback xmlns="">
          <p:sp>
            <p:nvSpPr>
              <p:cNvPr id="6" name="wc1">
                <a:extLst>
                  <a:ext uri="{FF2B5EF4-FFF2-40B4-BE49-F238E27FC236}">
                    <a16:creationId xmlns:a16="http://schemas.microsoft.com/office/drawing/2014/main" id="{161C5036-230A-32CC-B2B3-4A58194EF6B6}"/>
                  </a:ext>
                </a:extLst>
              </p:cNvPr>
              <p:cNvSpPr txBox="1">
                <a:spLocks noRot="1" noChangeAspect="1" noMove="1" noResize="1" noEditPoints="1" noAdjustHandles="1" noChangeArrowheads="1" noChangeShapeType="1" noTextEdit="1"/>
              </p:cNvSpPr>
              <p:nvPr/>
            </p:nvSpPr>
            <p:spPr>
              <a:xfrm>
                <a:off x="3914195" y="1608676"/>
                <a:ext cx="2376259" cy="52322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wc1">
                <a:extLst>
                  <a:ext uri="{FF2B5EF4-FFF2-40B4-BE49-F238E27FC236}">
                    <a16:creationId xmlns:a16="http://schemas.microsoft.com/office/drawing/2014/main" id="{1A856D0F-9BD5-4B1F-644E-8F17AA89F5DD}"/>
                  </a:ext>
                </a:extLst>
              </p:cNvPr>
              <p:cNvSpPr txBox="1"/>
              <p:nvPr/>
            </p:nvSpPr>
            <p:spPr>
              <a:xfrm>
                <a:off x="-25474" y="3901055"/>
                <a:ext cx="86409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𝐾</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9" name="wc1">
                <a:extLst>
                  <a:ext uri="{FF2B5EF4-FFF2-40B4-BE49-F238E27FC236}">
                    <a16:creationId xmlns:a16="http://schemas.microsoft.com/office/drawing/2014/main" id="{1A856D0F-9BD5-4B1F-644E-8F17AA89F5DD}"/>
                  </a:ext>
                </a:extLst>
              </p:cNvPr>
              <p:cNvSpPr txBox="1">
                <a:spLocks noRot="1" noChangeAspect="1" noMove="1" noResize="1" noEditPoints="1" noAdjustHandles="1" noChangeArrowheads="1" noChangeShapeType="1" noTextEdit="1"/>
              </p:cNvSpPr>
              <p:nvPr/>
            </p:nvSpPr>
            <p:spPr>
              <a:xfrm>
                <a:off x="-25474" y="3901055"/>
                <a:ext cx="864096" cy="523220"/>
              </a:xfrm>
              <a:prstGeom prst="rect">
                <a:avLst/>
              </a:prstGeom>
              <a:blipFill>
                <a:blip r:embed="rId13"/>
                <a:stretch>
                  <a:fillRect l="-1449"/>
                </a:stretch>
              </a:blipFill>
            </p:spPr>
            <p:txBody>
              <a:bodyPr/>
              <a:lstStyle/>
              <a:p>
                <a:r>
                  <a:rPr lang="zh-CN" altLang="en-US">
                    <a:noFill/>
                  </a:rPr>
                  <a:t> </a:t>
                </a:r>
              </a:p>
            </p:txBody>
          </p:sp>
        </mc:Fallback>
      </mc:AlternateContent>
      <p:sp>
        <p:nvSpPr>
          <p:cNvPr id="10" name="左大括号 9">
            <a:extLst>
              <a:ext uri="{FF2B5EF4-FFF2-40B4-BE49-F238E27FC236}">
                <a16:creationId xmlns:a16="http://schemas.microsoft.com/office/drawing/2014/main" id="{B2B7BF28-32AE-6597-D812-A604CFFF5761}"/>
              </a:ext>
            </a:extLst>
          </p:cNvPr>
          <p:cNvSpPr/>
          <p:nvPr/>
        </p:nvSpPr>
        <p:spPr>
          <a:xfrm>
            <a:off x="811712" y="3314800"/>
            <a:ext cx="288274" cy="1695729"/>
          </a:xfrm>
          <a:prstGeom prst="leftBrace">
            <a:avLst/>
          </a:prstGeom>
          <a:ln w="381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1" name="wc1">
                <a:extLst>
                  <a:ext uri="{FF2B5EF4-FFF2-40B4-BE49-F238E27FC236}">
                    <a16:creationId xmlns:a16="http://schemas.microsoft.com/office/drawing/2014/main" id="{46025BDC-6A55-2552-38C3-D632CCCEA8F4}"/>
                  </a:ext>
                </a:extLst>
              </p:cNvPr>
              <p:cNvSpPr txBox="1"/>
              <p:nvPr/>
            </p:nvSpPr>
            <p:spPr>
              <a:xfrm>
                <a:off x="1002521" y="3053190"/>
                <a:ext cx="86409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𝐾</m:t>
                          </m:r>
                        </m:e>
                        <m:sub>
                          <m:r>
                            <a:rPr lang="en-US" altLang="zh-CN" sz="2800" b="0" i="1" smtClean="0">
                              <a:latin typeface="Cambria Math" panose="02040503050406030204" pitchFamily="18" charset="0"/>
                            </a:rPr>
                            <m:t>1</m:t>
                          </m:r>
                        </m:sub>
                      </m:sSub>
                    </m:oMath>
                  </m:oMathPara>
                </a14:m>
                <a:endParaRPr lang="zh-CN" altLang="en-US" sz="2800" dirty="0"/>
              </a:p>
            </p:txBody>
          </p:sp>
        </mc:Choice>
        <mc:Fallback xmlns="">
          <p:sp>
            <p:nvSpPr>
              <p:cNvPr id="11" name="wc1">
                <a:extLst>
                  <a:ext uri="{FF2B5EF4-FFF2-40B4-BE49-F238E27FC236}">
                    <a16:creationId xmlns:a16="http://schemas.microsoft.com/office/drawing/2014/main" id="{46025BDC-6A55-2552-38C3-D632CCCEA8F4}"/>
                  </a:ext>
                </a:extLst>
              </p:cNvPr>
              <p:cNvSpPr txBox="1">
                <a:spLocks noRot="1" noChangeAspect="1" noMove="1" noResize="1" noEditPoints="1" noAdjustHandles="1" noChangeArrowheads="1" noChangeShapeType="1" noTextEdit="1"/>
              </p:cNvSpPr>
              <p:nvPr/>
            </p:nvSpPr>
            <p:spPr>
              <a:xfrm>
                <a:off x="1002521" y="3053190"/>
                <a:ext cx="864096" cy="523220"/>
              </a:xfrm>
              <a:prstGeom prst="rect">
                <a:avLst/>
              </a:prstGeom>
              <a:blipFill>
                <a:blip r:embed="rId14"/>
                <a:stretch>
                  <a:fillRect b="-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wc1">
                <a:extLst>
                  <a:ext uri="{FF2B5EF4-FFF2-40B4-BE49-F238E27FC236}">
                    <a16:creationId xmlns:a16="http://schemas.microsoft.com/office/drawing/2014/main" id="{C255567E-D1D6-53C1-4687-ECF611DD7465}"/>
                  </a:ext>
                </a:extLst>
              </p:cNvPr>
              <p:cNvSpPr txBox="1"/>
              <p:nvPr/>
            </p:nvSpPr>
            <p:spPr>
              <a:xfrm>
                <a:off x="994849" y="4737686"/>
                <a:ext cx="86409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𝐾</m:t>
                          </m:r>
                        </m:e>
                        <m:sub>
                          <m:r>
                            <a:rPr lang="en-US" altLang="zh-CN" sz="2800" b="0" i="1" smtClean="0">
                              <a:latin typeface="Cambria Math" panose="02040503050406030204" pitchFamily="18" charset="0"/>
                            </a:rPr>
                            <m:t>2</m:t>
                          </m:r>
                        </m:sub>
                      </m:sSub>
                    </m:oMath>
                  </m:oMathPara>
                </a14:m>
                <a:endParaRPr lang="zh-CN" altLang="en-US" sz="2800" dirty="0"/>
              </a:p>
            </p:txBody>
          </p:sp>
        </mc:Choice>
        <mc:Fallback xmlns="">
          <p:sp>
            <p:nvSpPr>
              <p:cNvPr id="13" name="wc1">
                <a:extLst>
                  <a:ext uri="{FF2B5EF4-FFF2-40B4-BE49-F238E27FC236}">
                    <a16:creationId xmlns:a16="http://schemas.microsoft.com/office/drawing/2014/main" id="{C255567E-D1D6-53C1-4687-ECF611DD7465}"/>
                  </a:ext>
                </a:extLst>
              </p:cNvPr>
              <p:cNvSpPr txBox="1">
                <a:spLocks noRot="1" noChangeAspect="1" noMove="1" noResize="1" noEditPoints="1" noAdjustHandles="1" noChangeArrowheads="1" noChangeShapeType="1" noTextEdit="1"/>
              </p:cNvSpPr>
              <p:nvPr/>
            </p:nvSpPr>
            <p:spPr>
              <a:xfrm>
                <a:off x="994849" y="4737686"/>
                <a:ext cx="864096" cy="523220"/>
              </a:xfrm>
              <a:prstGeom prst="rect">
                <a:avLst/>
              </a:prstGeom>
              <a:blipFill>
                <a:blip r:embed="rId15"/>
                <a:stretch>
                  <a:fillRect b="-23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wc1">
                <a:extLst>
                  <a:ext uri="{FF2B5EF4-FFF2-40B4-BE49-F238E27FC236}">
                    <a16:creationId xmlns:a16="http://schemas.microsoft.com/office/drawing/2014/main" id="{AEADF979-4C2E-4859-EA0F-D257BF050615}"/>
                  </a:ext>
                </a:extLst>
              </p:cNvPr>
              <p:cNvSpPr txBox="1"/>
              <p:nvPr/>
            </p:nvSpPr>
            <p:spPr>
              <a:xfrm>
                <a:off x="1974657" y="2361158"/>
                <a:ext cx="433163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𝑁</m:t>
                          </m:r>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𝑁</m:t>
                          </m:r>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=0−0=0</m:t>
                      </m:r>
                    </m:oMath>
                  </m:oMathPara>
                </a14:m>
                <a:endParaRPr lang="zh-CN" altLang="en-US" sz="2800" dirty="0"/>
              </a:p>
            </p:txBody>
          </p:sp>
        </mc:Choice>
        <mc:Fallback xmlns="">
          <p:sp>
            <p:nvSpPr>
              <p:cNvPr id="20" name="wc1">
                <a:extLst>
                  <a:ext uri="{FF2B5EF4-FFF2-40B4-BE49-F238E27FC236}">
                    <a16:creationId xmlns:a16="http://schemas.microsoft.com/office/drawing/2014/main" id="{AEADF979-4C2E-4859-EA0F-D257BF050615}"/>
                  </a:ext>
                </a:extLst>
              </p:cNvPr>
              <p:cNvSpPr txBox="1">
                <a:spLocks noRot="1" noChangeAspect="1" noMove="1" noResize="1" noEditPoints="1" noAdjustHandles="1" noChangeArrowheads="1" noChangeShapeType="1" noTextEdit="1"/>
              </p:cNvSpPr>
              <p:nvPr/>
            </p:nvSpPr>
            <p:spPr>
              <a:xfrm>
                <a:off x="1974657" y="2361158"/>
                <a:ext cx="4331632" cy="523220"/>
              </a:xfrm>
              <a:prstGeom prst="rect">
                <a:avLst/>
              </a:prstGeom>
              <a:blipFill>
                <a:blip r:embed="rId16"/>
                <a:stretch>
                  <a:fillRect/>
                </a:stretch>
              </a:blipFill>
            </p:spPr>
            <p:txBody>
              <a:bodyPr/>
              <a:lstStyle/>
              <a:p>
                <a:r>
                  <a:rPr lang="zh-CN" altLang="en-US">
                    <a:noFill/>
                  </a:rPr>
                  <a:t> </a:t>
                </a:r>
              </a:p>
            </p:txBody>
          </p:sp>
        </mc:Fallback>
      </mc:AlternateContent>
      <p:sp>
        <p:nvSpPr>
          <p:cNvPr id="22" name="左大括号 21">
            <a:extLst>
              <a:ext uri="{FF2B5EF4-FFF2-40B4-BE49-F238E27FC236}">
                <a16:creationId xmlns:a16="http://schemas.microsoft.com/office/drawing/2014/main" id="{6B519480-6C33-EF41-47A6-83F9E75F96DC}"/>
              </a:ext>
            </a:extLst>
          </p:cNvPr>
          <p:cNvSpPr/>
          <p:nvPr/>
        </p:nvSpPr>
        <p:spPr>
          <a:xfrm>
            <a:off x="1695490" y="2565936"/>
            <a:ext cx="283463" cy="1481167"/>
          </a:xfrm>
          <a:prstGeom prst="leftBrace">
            <a:avLst/>
          </a:prstGeom>
          <a:ln w="381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3" name="wc1">
                <a:extLst>
                  <a:ext uri="{FF2B5EF4-FFF2-40B4-BE49-F238E27FC236}">
                    <a16:creationId xmlns:a16="http://schemas.microsoft.com/office/drawing/2014/main" id="{65B88593-EB72-0318-E5C4-C375EFFCA5A9}"/>
                  </a:ext>
                </a:extLst>
              </p:cNvPr>
              <p:cNvSpPr txBox="1"/>
              <p:nvPr/>
            </p:nvSpPr>
            <p:spPr>
              <a:xfrm>
                <a:off x="2000185" y="2934705"/>
                <a:ext cx="450604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𝑍</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=0−2×0=0</m:t>
                      </m:r>
                    </m:oMath>
                  </m:oMathPara>
                </a14:m>
                <a:endParaRPr lang="zh-CN" altLang="en-US" sz="2800" dirty="0"/>
              </a:p>
            </p:txBody>
          </p:sp>
        </mc:Choice>
        <mc:Fallback xmlns="">
          <p:sp>
            <p:nvSpPr>
              <p:cNvPr id="23" name="wc1">
                <a:extLst>
                  <a:ext uri="{FF2B5EF4-FFF2-40B4-BE49-F238E27FC236}">
                    <a16:creationId xmlns:a16="http://schemas.microsoft.com/office/drawing/2014/main" id="{65B88593-EB72-0318-E5C4-C375EFFCA5A9}"/>
                  </a:ext>
                </a:extLst>
              </p:cNvPr>
              <p:cNvSpPr txBox="1">
                <a:spLocks noRot="1" noChangeAspect="1" noMove="1" noResize="1" noEditPoints="1" noAdjustHandles="1" noChangeArrowheads="1" noChangeShapeType="1" noTextEdit="1"/>
              </p:cNvSpPr>
              <p:nvPr/>
            </p:nvSpPr>
            <p:spPr>
              <a:xfrm>
                <a:off x="2000185" y="2934705"/>
                <a:ext cx="4506046" cy="523220"/>
              </a:xfrm>
              <a:prstGeom prst="rect">
                <a:avLst/>
              </a:prstGeom>
              <a:blipFill>
                <a:blip r:embed="rId17"/>
                <a:stretch>
                  <a:fillRect/>
                </a:stretch>
              </a:blipFill>
            </p:spPr>
            <p:txBody>
              <a:bodyPr/>
              <a:lstStyle/>
              <a:p>
                <a:r>
                  <a:rPr lang="zh-CN" altLang="en-US">
                    <a:noFill/>
                  </a:rPr>
                  <a:t> </a:t>
                </a:r>
              </a:p>
            </p:txBody>
          </p:sp>
        </mc:Fallback>
      </mc:AlternateContent>
      <p:sp>
        <p:nvSpPr>
          <p:cNvPr id="27" name="wc1">
            <a:extLst>
              <a:ext uri="{FF2B5EF4-FFF2-40B4-BE49-F238E27FC236}">
                <a16:creationId xmlns:a16="http://schemas.microsoft.com/office/drawing/2014/main" id="{4AD04A03-D233-811B-AA30-5CD34D73B34F}"/>
              </a:ext>
            </a:extLst>
          </p:cNvPr>
          <p:cNvSpPr txBox="1"/>
          <p:nvPr/>
        </p:nvSpPr>
        <p:spPr>
          <a:xfrm>
            <a:off x="2036758" y="3611008"/>
            <a:ext cx="986550" cy="523220"/>
          </a:xfrm>
          <a:prstGeom prst="rect">
            <a:avLst/>
          </a:prstGeom>
          <a:noFill/>
        </p:spPr>
        <p:txBody>
          <a:bodyPr wrap="square">
            <a:spAutoFit/>
          </a:bodyPr>
          <a:lstStyle/>
          <a:p>
            <a:r>
              <a:rPr lang="zh-CN" altLang="en-US" sz="2800" dirty="0"/>
              <a:t>稳定</a:t>
            </a:r>
          </a:p>
        </p:txBody>
      </p:sp>
      <mc:AlternateContent xmlns:mc="http://schemas.openxmlformats.org/markup-compatibility/2006" xmlns:a14="http://schemas.microsoft.com/office/drawing/2010/main">
        <mc:Choice Requires="a14">
          <p:sp>
            <p:nvSpPr>
              <p:cNvPr id="38" name="wc1">
                <a:extLst>
                  <a:ext uri="{FF2B5EF4-FFF2-40B4-BE49-F238E27FC236}">
                    <a16:creationId xmlns:a16="http://schemas.microsoft.com/office/drawing/2014/main" id="{70F77C62-B149-B098-FAFF-59E73BC6DBFB}"/>
                  </a:ext>
                </a:extLst>
              </p:cNvPr>
              <p:cNvSpPr txBox="1"/>
              <p:nvPr/>
            </p:nvSpPr>
            <p:spPr>
              <a:xfrm>
                <a:off x="1935088" y="4197985"/>
                <a:ext cx="455047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𝑁</m:t>
                          </m:r>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𝑁</m:t>
                          </m:r>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=0−1=−1</m:t>
                      </m:r>
                    </m:oMath>
                  </m:oMathPara>
                </a14:m>
                <a:endParaRPr lang="zh-CN" altLang="en-US" sz="2800" dirty="0"/>
              </a:p>
            </p:txBody>
          </p:sp>
        </mc:Choice>
        <mc:Fallback xmlns="">
          <p:sp>
            <p:nvSpPr>
              <p:cNvPr id="38" name="wc1">
                <a:extLst>
                  <a:ext uri="{FF2B5EF4-FFF2-40B4-BE49-F238E27FC236}">
                    <a16:creationId xmlns:a16="http://schemas.microsoft.com/office/drawing/2014/main" id="{70F77C62-B149-B098-FAFF-59E73BC6DBFB}"/>
                  </a:ext>
                </a:extLst>
              </p:cNvPr>
              <p:cNvSpPr txBox="1">
                <a:spLocks noRot="1" noChangeAspect="1" noMove="1" noResize="1" noEditPoints="1" noAdjustHandles="1" noChangeArrowheads="1" noChangeShapeType="1" noTextEdit="1"/>
              </p:cNvSpPr>
              <p:nvPr/>
            </p:nvSpPr>
            <p:spPr>
              <a:xfrm>
                <a:off x="1935088" y="4197985"/>
                <a:ext cx="4550475" cy="523220"/>
              </a:xfrm>
              <a:prstGeom prst="rect">
                <a:avLst/>
              </a:prstGeom>
              <a:blipFill>
                <a:blip r:embed="rId18"/>
                <a:stretch>
                  <a:fillRect l="-279" r="-279"/>
                </a:stretch>
              </a:blipFill>
            </p:spPr>
            <p:txBody>
              <a:bodyPr/>
              <a:lstStyle/>
              <a:p>
                <a:r>
                  <a:rPr lang="zh-CN" altLang="en-US">
                    <a:noFill/>
                  </a:rPr>
                  <a:t> </a:t>
                </a:r>
              </a:p>
            </p:txBody>
          </p:sp>
        </mc:Fallback>
      </mc:AlternateContent>
      <p:sp>
        <p:nvSpPr>
          <p:cNvPr id="40" name="左大括号 39">
            <a:extLst>
              <a:ext uri="{FF2B5EF4-FFF2-40B4-BE49-F238E27FC236}">
                <a16:creationId xmlns:a16="http://schemas.microsoft.com/office/drawing/2014/main" id="{208353CA-6A48-BB0A-88AB-8041621D901B}"/>
              </a:ext>
            </a:extLst>
          </p:cNvPr>
          <p:cNvSpPr/>
          <p:nvPr/>
        </p:nvSpPr>
        <p:spPr>
          <a:xfrm>
            <a:off x="1699418" y="4269946"/>
            <a:ext cx="283492" cy="1481166"/>
          </a:xfrm>
          <a:prstGeom prst="leftBrace">
            <a:avLst/>
          </a:prstGeom>
          <a:ln w="381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1" name="wc1">
                <a:extLst>
                  <a:ext uri="{FF2B5EF4-FFF2-40B4-BE49-F238E27FC236}">
                    <a16:creationId xmlns:a16="http://schemas.microsoft.com/office/drawing/2014/main" id="{4C7274D9-FCA7-0456-33F5-EA34B57BF56A}"/>
                  </a:ext>
                </a:extLst>
              </p:cNvPr>
              <p:cNvSpPr txBox="1"/>
              <p:nvPr/>
            </p:nvSpPr>
            <p:spPr>
              <a:xfrm>
                <a:off x="1927556" y="4818638"/>
                <a:ext cx="493661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𝑍</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=0−2×(−1)=2</m:t>
                      </m:r>
                    </m:oMath>
                  </m:oMathPara>
                </a14:m>
                <a:endParaRPr lang="zh-CN" altLang="en-US" sz="2800" dirty="0"/>
              </a:p>
            </p:txBody>
          </p:sp>
        </mc:Choice>
        <mc:Fallback xmlns="">
          <p:sp>
            <p:nvSpPr>
              <p:cNvPr id="41" name="wc1">
                <a:extLst>
                  <a:ext uri="{FF2B5EF4-FFF2-40B4-BE49-F238E27FC236}">
                    <a16:creationId xmlns:a16="http://schemas.microsoft.com/office/drawing/2014/main" id="{4C7274D9-FCA7-0456-33F5-EA34B57BF56A}"/>
                  </a:ext>
                </a:extLst>
              </p:cNvPr>
              <p:cNvSpPr txBox="1">
                <a:spLocks noRot="1" noChangeAspect="1" noMove="1" noResize="1" noEditPoints="1" noAdjustHandles="1" noChangeArrowheads="1" noChangeShapeType="1" noTextEdit="1"/>
              </p:cNvSpPr>
              <p:nvPr/>
            </p:nvSpPr>
            <p:spPr>
              <a:xfrm>
                <a:off x="1927556" y="4818638"/>
                <a:ext cx="4936619" cy="523220"/>
              </a:xfrm>
              <a:prstGeom prst="rect">
                <a:avLst/>
              </a:prstGeom>
              <a:blipFill>
                <a:blip r:embed="rId19"/>
                <a:stretch>
                  <a:fillRect l="-513" r="-513" b="-19048"/>
                </a:stretch>
              </a:blipFill>
            </p:spPr>
            <p:txBody>
              <a:bodyPr/>
              <a:lstStyle/>
              <a:p>
                <a:r>
                  <a:rPr lang="zh-CN" altLang="en-US">
                    <a:noFill/>
                  </a:rPr>
                  <a:t> </a:t>
                </a:r>
              </a:p>
            </p:txBody>
          </p:sp>
        </mc:Fallback>
      </mc:AlternateContent>
      <p:sp>
        <p:nvSpPr>
          <p:cNvPr id="46" name="wc1">
            <a:extLst>
              <a:ext uri="{FF2B5EF4-FFF2-40B4-BE49-F238E27FC236}">
                <a16:creationId xmlns:a16="http://schemas.microsoft.com/office/drawing/2014/main" id="{52FA8DF1-65F2-C5FF-DF75-A4F2200DF930}"/>
              </a:ext>
            </a:extLst>
          </p:cNvPr>
          <p:cNvSpPr txBox="1"/>
          <p:nvPr/>
        </p:nvSpPr>
        <p:spPr>
          <a:xfrm>
            <a:off x="2036758" y="5417325"/>
            <a:ext cx="1375215" cy="523220"/>
          </a:xfrm>
          <a:prstGeom prst="rect">
            <a:avLst/>
          </a:prstGeom>
          <a:noFill/>
        </p:spPr>
        <p:txBody>
          <a:bodyPr wrap="square">
            <a:spAutoFit/>
          </a:bodyPr>
          <a:lstStyle/>
          <a:p>
            <a:r>
              <a:rPr lang="zh-CN" altLang="en-US" sz="2800" dirty="0"/>
              <a:t>不稳定</a:t>
            </a:r>
          </a:p>
        </p:txBody>
      </p:sp>
      <mc:AlternateContent xmlns:mc="http://schemas.openxmlformats.org/markup-compatibility/2006" xmlns:a14="http://schemas.microsoft.com/office/drawing/2010/main">
        <mc:Choice Requires="a14">
          <p:sp>
            <p:nvSpPr>
              <p:cNvPr id="82" name="Re">
                <a:extLst>
                  <a:ext uri="{FF2B5EF4-FFF2-40B4-BE49-F238E27FC236}">
                    <a16:creationId xmlns:a16="http://schemas.microsoft.com/office/drawing/2014/main" id="{D53D3F9E-D521-0D78-E237-68B304A81ED9}"/>
                  </a:ext>
                </a:extLst>
              </p:cNvPr>
              <p:cNvSpPr txBox="1"/>
              <p:nvPr/>
            </p:nvSpPr>
            <p:spPr>
              <a:xfrm>
                <a:off x="8741751" y="341344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−20</m:t>
                      </m:r>
                    </m:oMath>
                  </m:oMathPara>
                </a14:m>
                <a:endParaRPr lang="zh-CN" altLang="en-US" sz="2800" dirty="0"/>
              </a:p>
            </p:txBody>
          </p:sp>
        </mc:Choice>
        <mc:Fallback xmlns="">
          <p:sp>
            <p:nvSpPr>
              <p:cNvPr id="82" name="Re">
                <a:extLst>
                  <a:ext uri="{FF2B5EF4-FFF2-40B4-BE49-F238E27FC236}">
                    <a16:creationId xmlns:a16="http://schemas.microsoft.com/office/drawing/2014/main" id="{D53D3F9E-D521-0D78-E237-68B304A81ED9}"/>
                  </a:ext>
                </a:extLst>
              </p:cNvPr>
              <p:cNvSpPr txBox="1">
                <a:spLocks noRot="1" noChangeAspect="1" noMove="1" noResize="1" noEditPoints="1" noAdjustHandles="1" noChangeArrowheads="1" noChangeShapeType="1" noTextEdit="1"/>
              </p:cNvSpPr>
              <p:nvPr/>
            </p:nvSpPr>
            <p:spPr>
              <a:xfrm>
                <a:off x="8741751" y="3413441"/>
                <a:ext cx="576536" cy="523220"/>
              </a:xfrm>
              <a:prstGeom prst="rect">
                <a:avLst/>
              </a:prstGeom>
              <a:blipFill>
                <a:blip r:embed="rId20"/>
                <a:stretch>
                  <a:fillRect r="-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Re">
                <a:extLst>
                  <a:ext uri="{FF2B5EF4-FFF2-40B4-BE49-F238E27FC236}">
                    <a16:creationId xmlns:a16="http://schemas.microsoft.com/office/drawing/2014/main" id="{06AF333B-B9DA-F3D2-0753-66AFC309C7B0}"/>
                  </a:ext>
                </a:extLst>
              </p:cNvPr>
              <p:cNvSpPr txBox="1"/>
              <p:nvPr/>
            </p:nvSpPr>
            <p:spPr>
              <a:xfrm>
                <a:off x="10934107" y="524189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−60</m:t>
                      </m:r>
                    </m:oMath>
                  </m:oMathPara>
                </a14:m>
                <a:endParaRPr lang="zh-CN" altLang="en-US" sz="2800" dirty="0"/>
              </a:p>
            </p:txBody>
          </p:sp>
        </mc:Choice>
        <mc:Fallback xmlns="">
          <p:sp>
            <p:nvSpPr>
              <p:cNvPr id="84" name="Re">
                <a:extLst>
                  <a:ext uri="{FF2B5EF4-FFF2-40B4-BE49-F238E27FC236}">
                    <a16:creationId xmlns:a16="http://schemas.microsoft.com/office/drawing/2014/main" id="{06AF333B-B9DA-F3D2-0753-66AFC309C7B0}"/>
                  </a:ext>
                </a:extLst>
              </p:cNvPr>
              <p:cNvSpPr txBox="1">
                <a:spLocks noRot="1" noChangeAspect="1" noMove="1" noResize="1" noEditPoints="1" noAdjustHandles="1" noChangeArrowheads="1" noChangeShapeType="1" noTextEdit="1"/>
              </p:cNvSpPr>
              <p:nvPr/>
            </p:nvSpPr>
            <p:spPr>
              <a:xfrm>
                <a:off x="10934107" y="5241891"/>
                <a:ext cx="576536" cy="523220"/>
              </a:xfrm>
              <a:prstGeom prst="rect">
                <a:avLst/>
              </a:prstGeom>
              <a:blipFill>
                <a:blip r:embed="rId21"/>
                <a:stretch>
                  <a:fillRect r="-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Re">
                <a:extLst>
                  <a:ext uri="{FF2B5EF4-FFF2-40B4-BE49-F238E27FC236}">
                    <a16:creationId xmlns:a16="http://schemas.microsoft.com/office/drawing/2014/main" id="{D76D68C0-7AA5-DD84-D348-CCB0C66F1D51}"/>
                  </a:ext>
                </a:extLst>
              </p:cNvPr>
              <p:cNvSpPr txBox="1"/>
              <p:nvPr/>
            </p:nvSpPr>
            <p:spPr>
              <a:xfrm>
                <a:off x="9887978" y="6194919"/>
                <a:ext cx="110030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1/</m:t>
                      </m:r>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𝑇</m:t>
                          </m:r>
                        </m:e>
                        <m:sub>
                          <m:r>
                            <a:rPr lang="en-US" altLang="zh-CN" sz="2800" b="0" i="1" smtClean="0">
                              <a:latin typeface="Cambria Math" panose="02040503050406030204" pitchFamily="18" charset="0"/>
                              <a:ea typeface="Cambria Math" panose="02040503050406030204" pitchFamily="18" charset="0"/>
                            </a:rPr>
                            <m:t>2</m:t>
                          </m:r>
                        </m:sub>
                      </m:sSub>
                    </m:oMath>
                  </m:oMathPara>
                </a14:m>
                <a:endParaRPr lang="zh-CN" altLang="en-US" sz="2800" dirty="0"/>
              </a:p>
            </p:txBody>
          </p:sp>
        </mc:Choice>
        <mc:Fallback xmlns="">
          <p:sp>
            <p:nvSpPr>
              <p:cNvPr id="85" name="Re">
                <a:extLst>
                  <a:ext uri="{FF2B5EF4-FFF2-40B4-BE49-F238E27FC236}">
                    <a16:creationId xmlns:a16="http://schemas.microsoft.com/office/drawing/2014/main" id="{D76D68C0-7AA5-DD84-D348-CCB0C66F1D51}"/>
                  </a:ext>
                </a:extLst>
              </p:cNvPr>
              <p:cNvSpPr txBox="1">
                <a:spLocks noRot="1" noChangeAspect="1" noMove="1" noResize="1" noEditPoints="1" noAdjustHandles="1" noChangeArrowheads="1" noChangeShapeType="1" noTextEdit="1"/>
              </p:cNvSpPr>
              <p:nvPr/>
            </p:nvSpPr>
            <p:spPr>
              <a:xfrm>
                <a:off x="9887978" y="6194919"/>
                <a:ext cx="1100309" cy="523220"/>
              </a:xfrm>
              <a:prstGeom prst="rect">
                <a:avLst/>
              </a:prstGeom>
              <a:blipFill>
                <a:blip r:embed="rId22"/>
                <a:stretch>
                  <a:fillRect b="-19048"/>
                </a:stretch>
              </a:blipFill>
            </p:spPr>
            <p:txBody>
              <a:bodyPr/>
              <a:lstStyle/>
              <a:p>
                <a:r>
                  <a:rPr lang="zh-CN" altLang="en-US">
                    <a:noFill/>
                  </a:rPr>
                  <a:t> </a:t>
                </a:r>
              </a:p>
            </p:txBody>
          </p:sp>
        </mc:Fallback>
      </mc:AlternateContent>
      <p:sp>
        <p:nvSpPr>
          <p:cNvPr id="87" name="幅相">
            <a:extLst>
              <a:ext uri="{FF2B5EF4-FFF2-40B4-BE49-F238E27FC236}">
                <a16:creationId xmlns:a16="http://schemas.microsoft.com/office/drawing/2014/main" id="{7F36E52B-DCF3-02E1-CCA3-E5896A3772BD}"/>
              </a:ext>
            </a:extLst>
          </p:cNvPr>
          <p:cNvSpPr/>
          <p:nvPr/>
        </p:nvSpPr>
        <p:spPr>
          <a:xfrm>
            <a:off x="8666590" y="4512384"/>
            <a:ext cx="2502098" cy="204548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776211 w 776211"/>
              <a:gd name="connsiteY0" fmla="*/ 732888 h 732888"/>
              <a:gd name="connsiteX1" fmla="*/ 0 w 776211"/>
              <a:gd name="connsiteY1" fmla="*/ 525941 h 732888"/>
              <a:gd name="connsiteX0" fmla="*/ 776211 w 776211"/>
              <a:gd name="connsiteY0" fmla="*/ 569097 h 569097"/>
              <a:gd name="connsiteX1" fmla="*/ 0 w 776211"/>
              <a:gd name="connsiteY1" fmla="*/ 362150 h 569097"/>
              <a:gd name="connsiteX0" fmla="*/ 834190 w 834190"/>
              <a:gd name="connsiteY0" fmla="*/ 597130 h 597130"/>
              <a:gd name="connsiteX1" fmla="*/ 0 w 834190"/>
              <a:gd name="connsiteY1" fmla="*/ 305053 h 597130"/>
              <a:gd name="connsiteX0" fmla="*/ 1515444 w 1515444"/>
              <a:gd name="connsiteY0" fmla="*/ 1508215 h 1508215"/>
              <a:gd name="connsiteX1" fmla="*/ 0 w 1515444"/>
              <a:gd name="connsiteY1" fmla="*/ 0 h 1508215"/>
              <a:gd name="connsiteX0" fmla="*/ 1515444 w 1515444"/>
              <a:gd name="connsiteY0" fmla="*/ 1508215 h 1508215"/>
              <a:gd name="connsiteX1" fmla="*/ 0 w 1515444"/>
              <a:gd name="connsiteY1" fmla="*/ 0 h 1508215"/>
              <a:gd name="connsiteX0" fmla="*/ 1566176 w 1566176"/>
              <a:gd name="connsiteY0" fmla="*/ 1374440 h 1374440"/>
              <a:gd name="connsiteX1" fmla="*/ 0 w 1566176"/>
              <a:gd name="connsiteY1" fmla="*/ 0 h 1374440"/>
              <a:gd name="connsiteX0" fmla="*/ 1783030 w 1783030"/>
              <a:gd name="connsiteY0" fmla="*/ 1659650 h 1659650"/>
              <a:gd name="connsiteX1" fmla="*/ 0 w 1783030"/>
              <a:gd name="connsiteY1" fmla="*/ 0 h 1659650"/>
              <a:gd name="connsiteX0" fmla="*/ 1783030 w 1783030"/>
              <a:gd name="connsiteY0" fmla="*/ 1659650 h 1659650"/>
              <a:gd name="connsiteX1" fmla="*/ 0 w 1783030"/>
              <a:gd name="connsiteY1" fmla="*/ 0 h 1659650"/>
              <a:gd name="connsiteX0" fmla="*/ 1783030 w 1783030"/>
              <a:gd name="connsiteY0" fmla="*/ 1659650 h 1659650"/>
              <a:gd name="connsiteX1" fmla="*/ 434623 w 1783030"/>
              <a:gd name="connsiteY1" fmla="*/ 220176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428762 w 1783030"/>
              <a:gd name="connsiteY1" fmla="*/ 416873 h 1659650"/>
              <a:gd name="connsiteX2" fmla="*/ 0 w 1783030"/>
              <a:gd name="connsiteY2" fmla="*/ 0 h 1659650"/>
              <a:gd name="connsiteX0" fmla="*/ 1783030 w 1783030"/>
              <a:gd name="connsiteY0" fmla="*/ 1659650 h 1659650"/>
              <a:gd name="connsiteX1" fmla="*/ 1096908 w 1783030"/>
              <a:gd name="connsiteY1" fmla="*/ 1046303 h 1659650"/>
              <a:gd name="connsiteX2" fmla="*/ 428762 w 1783030"/>
              <a:gd name="connsiteY2" fmla="*/ 416873 h 1659650"/>
              <a:gd name="connsiteX3" fmla="*/ 0 w 1783030"/>
              <a:gd name="connsiteY3" fmla="*/ 0 h 1659650"/>
              <a:gd name="connsiteX0" fmla="*/ 1783030 w 1783030"/>
              <a:gd name="connsiteY0" fmla="*/ 1659650 h 1659650"/>
              <a:gd name="connsiteX1" fmla="*/ 1161379 w 1783030"/>
              <a:gd name="connsiteY1" fmla="*/ 898781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28762 w 1783030"/>
              <a:gd name="connsiteY2" fmla="*/ 416873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1783030 w 1783030"/>
              <a:gd name="connsiteY0" fmla="*/ 1659650 h 1659650"/>
              <a:gd name="connsiteX1" fmla="*/ 1178962 w 1783030"/>
              <a:gd name="connsiteY1" fmla="*/ 859442 h 1659650"/>
              <a:gd name="connsiteX2" fmla="*/ 475650 w 1783030"/>
              <a:gd name="connsiteY2" fmla="*/ 446377 h 1659650"/>
              <a:gd name="connsiteX3" fmla="*/ 0 w 1783030"/>
              <a:gd name="connsiteY3" fmla="*/ 0 h 1659650"/>
              <a:gd name="connsiteX0" fmla="*/ 2163990 w 2163990"/>
              <a:gd name="connsiteY0" fmla="*/ 1689155 h 1689155"/>
              <a:gd name="connsiteX1" fmla="*/ 1178962 w 2163990"/>
              <a:gd name="connsiteY1" fmla="*/ 859442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475650 w 2163990"/>
              <a:gd name="connsiteY2" fmla="*/ 446377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63990 w 2163990"/>
              <a:gd name="connsiteY0" fmla="*/ 1689155 h 1689155"/>
              <a:gd name="connsiteX1" fmla="*/ 1419260 w 2163990"/>
              <a:gd name="connsiteY1" fmla="*/ 938120 h 1689155"/>
              <a:gd name="connsiteX2" fmla="*/ 663200 w 2163990"/>
              <a:gd name="connsiteY2" fmla="*/ 475882 h 1689155"/>
              <a:gd name="connsiteX3" fmla="*/ 0 w 2163990"/>
              <a:gd name="connsiteY3" fmla="*/ 0 h 1689155"/>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 name="connsiteX0" fmla="*/ 2187434 w 2187434"/>
              <a:gd name="connsiteY0" fmla="*/ 1964532 h 1964532"/>
              <a:gd name="connsiteX1" fmla="*/ 1442704 w 2187434"/>
              <a:gd name="connsiteY1" fmla="*/ 1213497 h 1964532"/>
              <a:gd name="connsiteX2" fmla="*/ 686644 w 2187434"/>
              <a:gd name="connsiteY2" fmla="*/ 751259 h 1964532"/>
              <a:gd name="connsiteX3" fmla="*/ 0 w 2187434"/>
              <a:gd name="connsiteY3" fmla="*/ 0 h 1964532"/>
              <a:gd name="connsiteX0" fmla="*/ 1874940 w 1874940"/>
              <a:gd name="connsiteY0" fmla="*/ 2005660 h 2005660"/>
              <a:gd name="connsiteX1" fmla="*/ 1130210 w 1874940"/>
              <a:gd name="connsiteY1" fmla="*/ 1254625 h 2005660"/>
              <a:gd name="connsiteX2" fmla="*/ 374150 w 1874940"/>
              <a:gd name="connsiteY2" fmla="*/ 792387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1130210 w 1874940"/>
              <a:gd name="connsiteY1" fmla="*/ 1254625 h 2005660"/>
              <a:gd name="connsiteX2" fmla="*/ 263858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263858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06749 w 1874940"/>
              <a:gd name="connsiteY2" fmla="*/ 401675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952518 w 1874940"/>
              <a:gd name="connsiteY1" fmla="*/ 1378008 h 2005660"/>
              <a:gd name="connsiteX2" fmla="*/ 337386 w 1874940"/>
              <a:gd name="connsiteY2" fmla="*/ 339984 h 2005660"/>
              <a:gd name="connsiteX3" fmla="*/ 0 w 1874940"/>
              <a:gd name="connsiteY3" fmla="*/ 0 h 2005660"/>
              <a:gd name="connsiteX0" fmla="*/ 1874940 w 1874940"/>
              <a:gd name="connsiteY0" fmla="*/ 2005660 h 2005660"/>
              <a:gd name="connsiteX1" fmla="*/ 1222121 w 1874940"/>
              <a:gd name="connsiteY1" fmla="*/ 1295753 h 2005660"/>
              <a:gd name="connsiteX2" fmla="*/ 337386 w 1874940"/>
              <a:gd name="connsiteY2" fmla="*/ 339984 h 2005660"/>
              <a:gd name="connsiteX3" fmla="*/ 0 w 1874940"/>
              <a:gd name="connsiteY3" fmla="*/ 0 h 2005660"/>
              <a:gd name="connsiteX0" fmla="*/ 1844304 w 1844304"/>
              <a:gd name="connsiteY0" fmla="*/ 2571165 h 2571165"/>
              <a:gd name="connsiteX1" fmla="*/ 1222121 w 1844304"/>
              <a:gd name="connsiteY1" fmla="*/ 1295753 h 2571165"/>
              <a:gd name="connsiteX2" fmla="*/ 337386 w 1844304"/>
              <a:gd name="connsiteY2" fmla="*/ 339984 h 2571165"/>
              <a:gd name="connsiteX3" fmla="*/ 0 w 1844304"/>
              <a:gd name="connsiteY3" fmla="*/ 0 h 2571165"/>
              <a:gd name="connsiteX0" fmla="*/ 1844304 w 1844304"/>
              <a:gd name="connsiteY0" fmla="*/ 2571165 h 2571165"/>
              <a:gd name="connsiteX1" fmla="*/ 1222121 w 1844304"/>
              <a:gd name="connsiteY1" fmla="*/ 1295753 h 2571165"/>
              <a:gd name="connsiteX2" fmla="*/ 337386 w 1844304"/>
              <a:gd name="connsiteY2" fmla="*/ 339984 h 2571165"/>
              <a:gd name="connsiteX3" fmla="*/ 0 w 1844304"/>
              <a:gd name="connsiteY3" fmla="*/ 0 h 2571165"/>
              <a:gd name="connsiteX0" fmla="*/ 1844304 w 1844304"/>
              <a:gd name="connsiteY0" fmla="*/ 2571165 h 2571165"/>
              <a:gd name="connsiteX1" fmla="*/ 1222121 w 1844304"/>
              <a:gd name="connsiteY1" fmla="*/ 1295753 h 2571165"/>
              <a:gd name="connsiteX2" fmla="*/ 337386 w 1844304"/>
              <a:gd name="connsiteY2" fmla="*/ 339984 h 2571165"/>
              <a:gd name="connsiteX3" fmla="*/ 0 w 1844304"/>
              <a:gd name="connsiteY3" fmla="*/ 0 h 2571165"/>
              <a:gd name="connsiteX0" fmla="*/ 1844304 w 1844304"/>
              <a:gd name="connsiteY0" fmla="*/ 2571165 h 2571165"/>
              <a:gd name="connsiteX1" fmla="*/ 1222121 w 1844304"/>
              <a:gd name="connsiteY1" fmla="*/ 1295753 h 2571165"/>
              <a:gd name="connsiteX2" fmla="*/ 539588 w 1844304"/>
              <a:gd name="connsiteY2" fmla="*/ 288574 h 2571165"/>
              <a:gd name="connsiteX3" fmla="*/ 0 w 1844304"/>
              <a:gd name="connsiteY3" fmla="*/ 0 h 2571165"/>
              <a:gd name="connsiteX0" fmla="*/ 1844304 w 1844304"/>
              <a:gd name="connsiteY0" fmla="*/ 2571165 h 2571165"/>
              <a:gd name="connsiteX1" fmla="*/ 1222121 w 1844304"/>
              <a:gd name="connsiteY1" fmla="*/ 1295753 h 2571165"/>
              <a:gd name="connsiteX2" fmla="*/ 508951 w 1844304"/>
              <a:gd name="connsiteY2" fmla="*/ 381111 h 2571165"/>
              <a:gd name="connsiteX3" fmla="*/ 0 w 1844304"/>
              <a:gd name="connsiteY3" fmla="*/ 0 h 2571165"/>
              <a:gd name="connsiteX0" fmla="*/ 1844304 w 1844304"/>
              <a:gd name="connsiteY0" fmla="*/ 2571165 h 2571165"/>
              <a:gd name="connsiteX1" fmla="*/ 1222121 w 1844304"/>
              <a:gd name="connsiteY1" fmla="*/ 1295753 h 2571165"/>
              <a:gd name="connsiteX2" fmla="*/ 508951 w 1844304"/>
              <a:gd name="connsiteY2" fmla="*/ 381111 h 2571165"/>
              <a:gd name="connsiteX3" fmla="*/ 0 w 1844304"/>
              <a:gd name="connsiteY3" fmla="*/ 0 h 2571165"/>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 name="connsiteX0" fmla="*/ 1844304 w 1844304"/>
              <a:gd name="connsiteY0" fmla="*/ 2530037 h 2530037"/>
              <a:gd name="connsiteX1" fmla="*/ 1222121 w 1844304"/>
              <a:gd name="connsiteY1" fmla="*/ 1254625 h 2530037"/>
              <a:gd name="connsiteX2" fmla="*/ 508951 w 1844304"/>
              <a:gd name="connsiteY2" fmla="*/ 339983 h 2530037"/>
              <a:gd name="connsiteX3" fmla="*/ 0 w 1844304"/>
              <a:gd name="connsiteY3" fmla="*/ 0 h 2530037"/>
            </a:gdLst>
            <a:ahLst/>
            <a:cxnLst>
              <a:cxn ang="0">
                <a:pos x="connsiteX0" y="connsiteY0"/>
              </a:cxn>
              <a:cxn ang="0">
                <a:pos x="connsiteX1" y="connsiteY1"/>
              </a:cxn>
              <a:cxn ang="0">
                <a:pos x="connsiteX2" y="connsiteY2"/>
              </a:cxn>
              <a:cxn ang="0">
                <a:pos x="connsiteX3" y="connsiteY3"/>
              </a:cxn>
            </a:cxnLst>
            <a:rect l="l" t="t" r="r" b="b"/>
            <a:pathLst>
              <a:path w="1844304" h="2530037">
                <a:moveTo>
                  <a:pt x="1844304" y="2530037"/>
                </a:moveTo>
                <a:lnTo>
                  <a:pt x="1222121" y="1254625"/>
                </a:lnTo>
                <a:cubicBezTo>
                  <a:pt x="849087" y="800284"/>
                  <a:pt x="848351" y="834409"/>
                  <a:pt x="508951" y="339983"/>
                </a:cubicBezTo>
                <a:cubicBezTo>
                  <a:pt x="285550" y="183334"/>
                  <a:pt x="257954" y="181394"/>
                  <a:pt x="0" y="0"/>
                </a:cubicBezTo>
              </a:path>
            </a:pathLst>
          </a:custGeom>
          <a:noFill/>
          <a:ln w="38100">
            <a:solidFill>
              <a:srgbClr val="E44860"/>
            </a:solid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88" name="Im">
                <a:extLst>
                  <a:ext uri="{FF2B5EF4-FFF2-40B4-BE49-F238E27FC236}">
                    <a16:creationId xmlns:a16="http://schemas.microsoft.com/office/drawing/2014/main" id="{2325CB2C-5F0B-9B3D-2493-43F373E369E7}"/>
                  </a:ext>
                </a:extLst>
              </p:cNvPr>
              <p:cNvSpPr txBox="1"/>
              <p:nvPr/>
            </p:nvSpPr>
            <p:spPr>
              <a:xfrm>
                <a:off x="8472782" y="2981333"/>
                <a:ext cx="1466535" cy="523220"/>
              </a:xfrm>
              <a:prstGeom prst="rect">
                <a:avLst/>
              </a:prstGeom>
              <a:noFill/>
            </p:spPr>
            <p:txBody>
              <a:bodyPr wrap="square">
                <a:spAutoFit/>
              </a:bodyPr>
              <a:lstStyle/>
              <a:p>
                <a14:m>
                  <m:oMath xmlns:m="http://schemas.openxmlformats.org/officeDocument/2006/math">
                    <m:r>
                      <a:rPr lang="en-US" altLang="zh-CN" sz="2800" b="0" i="1" smtClean="0">
                        <a:latin typeface="Cambria Math" panose="02040503050406030204" pitchFamily="18" charset="0"/>
                      </a:rPr>
                      <m:t>𝐿</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𝜔</m:t>
                        </m:r>
                      </m:e>
                    </m:d>
                  </m:oMath>
                </a14:m>
                <a:r>
                  <a:rPr lang="en-US" altLang="zh-CN" sz="2800" dirty="0"/>
                  <a:t>dB</a:t>
                </a:r>
                <a:endParaRPr lang="zh-CN" altLang="en-US" sz="2800" dirty="0"/>
              </a:p>
            </p:txBody>
          </p:sp>
        </mc:Choice>
        <mc:Fallback xmlns="">
          <p:sp>
            <p:nvSpPr>
              <p:cNvPr id="88" name="Im">
                <a:extLst>
                  <a:ext uri="{FF2B5EF4-FFF2-40B4-BE49-F238E27FC236}">
                    <a16:creationId xmlns:a16="http://schemas.microsoft.com/office/drawing/2014/main" id="{2325CB2C-5F0B-9B3D-2493-43F373E369E7}"/>
                  </a:ext>
                </a:extLst>
              </p:cNvPr>
              <p:cNvSpPr txBox="1">
                <a:spLocks noRot="1" noChangeAspect="1" noMove="1" noResize="1" noEditPoints="1" noAdjustHandles="1" noChangeArrowheads="1" noChangeShapeType="1" noTextEdit="1"/>
              </p:cNvSpPr>
              <p:nvPr/>
            </p:nvSpPr>
            <p:spPr>
              <a:xfrm>
                <a:off x="8472782" y="2981333"/>
                <a:ext cx="1466535" cy="523220"/>
              </a:xfrm>
              <a:prstGeom prst="rect">
                <a:avLst/>
              </a:prstGeom>
              <a:blipFill>
                <a:blip r:embed="rId23"/>
                <a:stretch>
                  <a:fillRect l="-2586" t="-11905" b="-30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wc1">
                <a:extLst>
                  <a:ext uri="{FF2B5EF4-FFF2-40B4-BE49-F238E27FC236}">
                    <a16:creationId xmlns:a16="http://schemas.microsoft.com/office/drawing/2014/main" id="{4246256E-4BBC-CE56-DFA1-F1BB24D99A0C}"/>
                  </a:ext>
                </a:extLst>
              </p:cNvPr>
              <p:cNvSpPr txBox="1"/>
              <p:nvPr/>
            </p:nvSpPr>
            <p:spPr>
              <a:xfrm>
                <a:off x="9194388" y="274981"/>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m:t>
                          </m:r>
                        </m:e>
                      </m:d>
                    </m:oMath>
                  </m:oMathPara>
                </a14:m>
                <a:endParaRPr lang="zh-CN" altLang="en-US" sz="2800" dirty="0"/>
              </a:p>
            </p:txBody>
          </p:sp>
        </mc:Choice>
        <mc:Fallback xmlns="">
          <p:sp>
            <p:nvSpPr>
              <p:cNvPr id="90" name="wc1">
                <a:extLst>
                  <a:ext uri="{FF2B5EF4-FFF2-40B4-BE49-F238E27FC236}">
                    <a16:creationId xmlns:a16="http://schemas.microsoft.com/office/drawing/2014/main" id="{4246256E-4BBC-CE56-DFA1-F1BB24D99A0C}"/>
                  </a:ext>
                </a:extLst>
              </p:cNvPr>
              <p:cNvSpPr txBox="1">
                <a:spLocks noRot="1" noChangeAspect="1" noMove="1" noResize="1" noEditPoints="1" noAdjustHandles="1" noChangeArrowheads="1" noChangeShapeType="1" noTextEdit="1"/>
              </p:cNvSpPr>
              <p:nvPr/>
            </p:nvSpPr>
            <p:spPr>
              <a:xfrm>
                <a:off x="9194388" y="274981"/>
                <a:ext cx="801225" cy="524695"/>
              </a:xfrm>
              <a:prstGeom prst="rect">
                <a:avLst/>
              </a:prstGeom>
              <a:blipFill>
                <a:blip r:embed="rId24"/>
                <a:stretch>
                  <a:fillRect/>
                </a:stretch>
              </a:blipFill>
            </p:spPr>
            <p:txBody>
              <a:bodyPr/>
              <a:lstStyle/>
              <a:p>
                <a:r>
                  <a:rPr lang="zh-CN" altLang="en-US">
                    <a:noFill/>
                  </a:rPr>
                  <a:t> </a:t>
                </a:r>
              </a:p>
            </p:txBody>
          </p:sp>
        </mc:Fallback>
      </mc:AlternateContent>
      <p:grpSp>
        <p:nvGrpSpPr>
          <p:cNvPr id="91" name="坐标轴">
            <a:extLst>
              <a:ext uri="{FF2B5EF4-FFF2-40B4-BE49-F238E27FC236}">
                <a16:creationId xmlns:a16="http://schemas.microsoft.com/office/drawing/2014/main" id="{2E88D25E-9F68-26B7-CE3D-5FC0F617813D}"/>
              </a:ext>
            </a:extLst>
          </p:cNvPr>
          <p:cNvGrpSpPr/>
          <p:nvPr/>
        </p:nvGrpSpPr>
        <p:grpSpPr>
          <a:xfrm>
            <a:off x="7060108" y="274981"/>
            <a:ext cx="4780532" cy="2605303"/>
            <a:chOff x="7903323" y="4240166"/>
            <a:chExt cx="4780532" cy="2605303"/>
          </a:xfrm>
        </p:grpSpPr>
        <p:cxnSp>
          <p:nvCxnSpPr>
            <p:cNvPr id="92" name="实轴">
              <a:extLst>
                <a:ext uri="{FF2B5EF4-FFF2-40B4-BE49-F238E27FC236}">
                  <a16:creationId xmlns:a16="http://schemas.microsoft.com/office/drawing/2014/main" id="{205CAA06-860C-E152-6F70-B434BB262657}"/>
                </a:ext>
              </a:extLst>
            </p:cNvPr>
            <p:cNvCxnSpPr>
              <a:cxnSpLocks/>
            </p:cNvCxnSpPr>
            <p:nvPr/>
          </p:nvCxnSpPr>
          <p:spPr>
            <a:xfrm flipH="1">
              <a:off x="7903323" y="5358556"/>
              <a:ext cx="4656360"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3" name="虚轴">
              <a:extLst>
                <a:ext uri="{FF2B5EF4-FFF2-40B4-BE49-F238E27FC236}">
                  <a16:creationId xmlns:a16="http://schemas.microsoft.com/office/drawing/2014/main" id="{E42DF4FC-A251-ACD5-7DCA-B30FA5FC8B81}"/>
                </a:ext>
              </a:extLst>
            </p:cNvPr>
            <p:cNvCxnSpPr>
              <a:cxnSpLocks/>
            </p:cNvCxnSpPr>
            <p:nvPr/>
          </p:nvCxnSpPr>
          <p:spPr>
            <a:xfrm flipV="1">
              <a:off x="9991555" y="4360211"/>
              <a:ext cx="0" cy="248525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Re">
                  <a:extLst>
                    <a:ext uri="{FF2B5EF4-FFF2-40B4-BE49-F238E27FC236}">
                      <a16:creationId xmlns:a16="http://schemas.microsoft.com/office/drawing/2014/main" id="{DACF0D33-F03E-32B3-D327-78BB84199C99}"/>
                    </a:ext>
                  </a:extLst>
                </p:cNvPr>
                <p:cNvSpPr txBox="1"/>
                <p:nvPr/>
              </p:nvSpPr>
              <p:spPr>
                <a:xfrm>
                  <a:off x="12107319" y="5441421"/>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18" name="Re">
                  <a:extLst>
                    <a:ext uri="{FF2B5EF4-FFF2-40B4-BE49-F238E27FC236}">
                      <a16:creationId xmlns:a16="http://schemas.microsoft.com/office/drawing/2014/main" id="{82587D05-6AF0-E381-3141-53F1FDA8602A}"/>
                    </a:ext>
                  </a:extLst>
                </p:cNvPr>
                <p:cNvSpPr txBox="1">
                  <a:spLocks noRot="1" noChangeAspect="1" noMove="1" noResize="1" noEditPoints="1" noAdjustHandles="1" noChangeArrowheads="1" noChangeShapeType="1" noTextEdit="1"/>
                </p:cNvSpPr>
                <p:nvPr/>
              </p:nvSpPr>
              <p:spPr>
                <a:xfrm>
                  <a:off x="12107319" y="5441421"/>
                  <a:ext cx="576536" cy="523220"/>
                </a:xfrm>
                <a:prstGeom prst="rect">
                  <a:avLst/>
                </a:prstGeom>
                <a:blipFill>
                  <a:blip r:embed="rId25"/>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Im">
                  <a:extLst>
                    <a:ext uri="{FF2B5EF4-FFF2-40B4-BE49-F238E27FC236}">
                      <a16:creationId xmlns:a16="http://schemas.microsoft.com/office/drawing/2014/main" id="{EF3C8B59-4E36-CE97-E6DF-E742391EFE61}"/>
                    </a:ext>
                  </a:extLst>
                </p:cNvPr>
                <p:cNvSpPr txBox="1"/>
                <p:nvPr/>
              </p:nvSpPr>
              <p:spPr>
                <a:xfrm>
                  <a:off x="9290624" y="4240166"/>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19" name="Im">
                  <a:extLst>
                    <a:ext uri="{FF2B5EF4-FFF2-40B4-BE49-F238E27FC236}">
                      <a16:creationId xmlns:a16="http://schemas.microsoft.com/office/drawing/2014/main" id="{EA544022-33A1-2124-A7FC-7B82910C5DFB}"/>
                    </a:ext>
                  </a:extLst>
                </p:cNvPr>
                <p:cNvSpPr txBox="1">
                  <a:spLocks noRot="1" noChangeAspect="1" noMove="1" noResize="1" noEditPoints="1" noAdjustHandles="1" noChangeArrowheads="1" noChangeShapeType="1" noTextEdit="1"/>
                </p:cNvSpPr>
                <p:nvPr/>
              </p:nvSpPr>
              <p:spPr>
                <a:xfrm>
                  <a:off x="9290624" y="4240166"/>
                  <a:ext cx="576536" cy="523220"/>
                </a:xfrm>
                <a:prstGeom prst="rect">
                  <a:avLst/>
                </a:prstGeom>
                <a:blipFill>
                  <a:blip r:embed="rId26"/>
                  <a:stretch>
                    <a:fillRect l="-6522" r="-8696"/>
                  </a:stretch>
                </a:blipFill>
              </p:spPr>
              <p:txBody>
                <a:bodyPr/>
                <a:lstStyle/>
                <a:p>
                  <a:r>
                    <a:rPr lang="zh-CN" altLang="en-US">
                      <a:noFill/>
                    </a:rPr>
                    <a:t> </a:t>
                  </a:r>
                </a:p>
              </p:txBody>
            </p:sp>
          </mc:Fallback>
        </mc:AlternateContent>
      </p:grpSp>
      <p:sp>
        <p:nvSpPr>
          <p:cNvPr id="98" name="幅相">
            <a:extLst>
              <a:ext uri="{FF2B5EF4-FFF2-40B4-BE49-F238E27FC236}">
                <a16:creationId xmlns:a16="http://schemas.microsoft.com/office/drawing/2014/main" id="{7AC82F3D-D029-7C05-7D34-E4B6F00FD674}"/>
              </a:ext>
            </a:extLst>
          </p:cNvPr>
          <p:cNvSpPr/>
          <p:nvPr/>
        </p:nvSpPr>
        <p:spPr>
          <a:xfrm>
            <a:off x="7856742" y="865355"/>
            <a:ext cx="1286170" cy="1345352"/>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145629 w 1398686"/>
              <a:gd name="connsiteY0" fmla="*/ 338080 h 1052732"/>
              <a:gd name="connsiteX1" fmla="*/ 1398685 w 1398686"/>
              <a:gd name="connsiteY1" fmla="*/ 386522 h 1052732"/>
              <a:gd name="connsiteX0" fmla="*/ 525041 w 1778098"/>
              <a:gd name="connsiteY0" fmla="*/ 258898 h 1547582"/>
              <a:gd name="connsiteX1" fmla="*/ 1778097 w 1778098"/>
              <a:gd name="connsiteY1" fmla="*/ 307340 h 1547582"/>
              <a:gd name="connsiteX0" fmla="*/ 845895 w 2098951"/>
              <a:gd name="connsiteY0" fmla="*/ 397422 h 1619227"/>
              <a:gd name="connsiteX1" fmla="*/ 2098951 w 2098951"/>
              <a:gd name="connsiteY1" fmla="*/ 445864 h 1619227"/>
              <a:gd name="connsiteX0" fmla="*/ 917898 w 2170954"/>
              <a:gd name="connsiteY0" fmla="*/ 323146 h 2182972"/>
              <a:gd name="connsiteX1" fmla="*/ 2170954 w 2170954"/>
              <a:gd name="connsiteY1" fmla="*/ 371588 h 2182972"/>
              <a:gd name="connsiteX0" fmla="*/ 650184 w 1903240"/>
              <a:gd name="connsiteY0" fmla="*/ 345438 h 1984175"/>
              <a:gd name="connsiteX1" fmla="*/ 1903240 w 1903240"/>
              <a:gd name="connsiteY1" fmla="*/ 393880 h 1984175"/>
              <a:gd name="connsiteX0" fmla="*/ 695090 w 1948146"/>
              <a:gd name="connsiteY0" fmla="*/ 640709 h 2146334"/>
              <a:gd name="connsiteX1" fmla="*/ 1948146 w 1948146"/>
              <a:gd name="connsiteY1" fmla="*/ 689151 h 2146334"/>
              <a:gd name="connsiteX0" fmla="*/ 1636927 w 1636927"/>
              <a:gd name="connsiteY0" fmla="*/ 581390 h 2830622"/>
              <a:gd name="connsiteX1" fmla="*/ 991170 w 1636927"/>
              <a:gd name="connsiteY1" fmla="*/ 1493289 h 2830622"/>
              <a:gd name="connsiteX0" fmla="*/ 824302 w 824302"/>
              <a:gd name="connsiteY0" fmla="*/ 1070631 h 1982531"/>
              <a:gd name="connsiteX1" fmla="*/ 178545 w 824302"/>
              <a:gd name="connsiteY1" fmla="*/ 1982530 h 1982531"/>
              <a:gd name="connsiteX0" fmla="*/ 1115345 w 1115345"/>
              <a:gd name="connsiteY0" fmla="*/ 928470 h 2655180"/>
              <a:gd name="connsiteX1" fmla="*/ 20250 w 1115345"/>
              <a:gd name="connsiteY1" fmla="*/ 2655181 h 2655180"/>
              <a:gd name="connsiteX0" fmla="*/ 1095095 w 1095095"/>
              <a:gd name="connsiteY0" fmla="*/ 988090 h 2714802"/>
              <a:gd name="connsiteX1" fmla="*/ 0 w 1095095"/>
              <a:gd name="connsiteY1" fmla="*/ 2714801 h 2714802"/>
              <a:gd name="connsiteX0" fmla="*/ 1095095 w 1095095"/>
              <a:gd name="connsiteY0" fmla="*/ 658667 h 2385377"/>
              <a:gd name="connsiteX1" fmla="*/ 0 w 1095095"/>
              <a:gd name="connsiteY1" fmla="*/ 2385378 h 2385377"/>
              <a:gd name="connsiteX0" fmla="*/ 948039 w 948039"/>
              <a:gd name="connsiteY0" fmla="*/ 781848 h 1799109"/>
              <a:gd name="connsiteX1" fmla="*/ 0 w 948039"/>
              <a:gd name="connsiteY1" fmla="*/ 1799109 h 1799109"/>
              <a:gd name="connsiteX0" fmla="*/ 948039 w 948039"/>
              <a:gd name="connsiteY0" fmla="*/ 646785 h 1664046"/>
              <a:gd name="connsiteX1" fmla="*/ 0 w 948039"/>
              <a:gd name="connsiteY1" fmla="*/ 1664046 h 1664046"/>
            </a:gdLst>
            <a:ahLst/>
            <a:cxnLst>
              <a:cxn ang="0">
                <a:pos x="connsiteX0" y="connsiteY0"/>
              </a:cxn>
              <a:cxn ang="0">
                <a:pos x="connsiteX1" y="connsiteY1"/>
              </a:cxn>
            </a:cxnLst>
            <a:rect l="l" t="t" r="r" b="b"/>
            <a:pathLst>
              <a:path w="948039" h="1664046">
                <a:moveTo>
                  <a:pt x="948039" y="646785"/>
                </a:moveTo>
                <a:cubicBezTo>
                  <a:pt x="349619" y="-998080"/>
                  <a:pt x="104456" y="925942"/>
                  <a:pt x="0" y="1664046"/>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99" name="组合 98">
            <a:extLst>
              <a:ext uri="{FF2B5EF4-FFF2-40B4-BE49-F238E27FC236}">
                <a16:creationId xmlns:a16="http://schemas.microsoft.com/office/drawing/2014/main" id="{8DC63200-E690-716A-E231-B78F11468CDC}"/>
              </a:ext>
            </a:extLst>
          </p:cNvPr>
          <p:cNvGrpSpPr/>
          <p:nvPr/>
        </p:nvGrpSpPr>
        <p:grpSpPr>
          <a:xfrm>
            <a:off x="8426232" y="1100031"/>
            <a:ext cx="2480567" cy="1680302"/>
            <a:chOff x="8297423" y="4758106"/>
            <a:chExt cx="2480567" cy="1680302"/>
          </a:xfrm>
        </p:grpSpPr>
        <p:sp>
          <p:nvSpPr>
            <p:cNvPr id="100" name="幅相">
              <a:extLst>
                <a:ext uri="{FF2B5EF4-FFF2-40B4-BE49-F238E27FC236}">
                  <a16:creationId xmlns:a16="http://schemas.microsoft.com/office/drawing/2014/main" id="{A031B478-5612-B79A-4E86-C8E23D372910}"/>
                </a:ext>
              </a:extLst>
            </p:cNvPr>
            <p:cNvSpPr/>
            <p:nvPr/>
          </p:nvSpPr>
          <p:spPr>
            <a:xfrm>
              <a:off x="8302853" y="4758106"/>
              <a:ext cx="711251" cy="136427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524265 w 524265"/>
                <a:gd name="connsiteY0" fmla="*/ 359858 h 1687456"/>
                <a:gd name="connsiteX1" fmla="*/ 0 w 524265"/>
                <a:gd name="connsiteY1" fmla="*/ 1687455 h 1687456"/>
              </a:gdLst>
              <a:ahLst/>
              <a:cxnLst>
                <a:cxn ang="0">
                  <a:pos x="connsiteX0" y="connsiteY0"/>
                </a:cxn>
                <a:cxn ang="0">
                  <a:pos x="connsiteX1" y="connsiteY1"/>
                </a:cxn>
              </a:cxnLst>
              <a:rect l="l" t="t" r="r" b="b"/>
              <a:pathLst>
                <a:path w="524265" h="1687456">
                  <a:moveTo>
                    <a:pt x="524265" y="359858"/>
                  </a:moveTo>
                  <a:cubicBezTo>
                    <a:pt x="307583" y="-802970"/>
                    <a:pt x="31983" y="1180416"/>
                    <a:pt x="0" y="1687455"/>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1" name="幅相">
              <a:extLst>
                <a:ext uri="{FF2B5EF4-FFF2-40B4-BE49-F238E27FC236}">
                  <a16:creationId xmlns:a16="http://schemas.microsoft.com/office/drawing/2014/main" id="{E9E47ADA-E242-CAFA-1069-B890A9C9E988}"/>
                </a:ext>
              </a:extLst>
            </p:cNvPr>
            <p:cNvSpPr/>
            <p:nvPr/>
          </p:nvSpPr>
          <p:spPr>
            <a:xfrm>
              <a:off x="8297423" y="5043964"/>
              <a:ext cx="2480567" cy="139444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21318 w 767058"/>
                <a:gd name="connsiteY0" fmla="*/ 797468 h 821588"/>
                <a:gd name="connsiteX1" fmla="*/ 767058 w 767058"/>
                <a:gd name="connsiteY1" fmla="*/ 821588 h 821588"/>
                <a:gd name="connsiteX0" fmla="*/ 7316 w 753056"/>
                <a:gd name="connsiteY0" fmla="*/ 257343 h 921255"/>
                <a:gd name="connsiteX1" fmla="*/ 753056 w 753056"/>
                <a:gd name="connsiteY1" fmla="*/ 281463 h 921255"/>
                <a:gd name="connsiteX0" fmla="*/ 115945 w 861685"/>
                <a:gd name="connsiteY0" fmla="*/ 352638 h 981013"/>
                <a:gd name="connsiteX1" fmla="*/ 861685 w 861685"/>
                <a:gd name="connsiteY1" fmla="*/ 376758 h 981013"/>
                <a:gd name="connsiteX0" fmla="*/ 191918 w 937658"/>
                <a:gd name="connsiteY0" fmla="*/ 322328 h 1117958"/>
                <a:gd name="connsiteX1" fmla="*/ 937658 w 937658"/>
                <a:gd name="connsiteY1" fmla="*/ 346448 h 1117958"/>
                <a:gd name="connsiteX0" fmla="*/ 234325 w 980065"/>
                <a:gd name="connsiteY0" fmla="*/ 320651 h 1126520"/>
                <a:gd name="connsiteX1" fmla="*/ 980065 w 980065"/>
                <a:gd name="connsiteY1" fmla="*/ 344771 h 1126520"/>
                <a:gd name="connsiteX0" fmla="*/ 268695 w 1014435"/>
                <a:gd name="connsiteY0" fmla="*/ 351639 h 985028"/>
                <a:gd name="connsiteX1" fmla="*/ 1014435 w 1014435"/>
                <a:gd name="connsiteY1" fmla="*/ 375759 h 985028"/>
                <a:gd name="connsiteX0" fmla="*/ 246473 w 992213"/>
                <a:gd name="connsiteY0" fmla="*/ 340069 h 1033915"/>
                <a:gd name="connsiteX1" fmla="*/ 992213 w 992213"/>
                <a:gd name="connsiteY1" fmla="*/ 364189 h 1033915"/>
                <a:gd name="connsiteX0" fmla="*/ 923755 w 923755"/>
                <a:gd name="connsiteY0" fmla="*/ 284413 h 1692941"/>
                <a:gd name="connsiteX1" fmla="*/ 466430 w 923755"/>
                <a:gd name="connsiteY1" fmla="*/ 1123344 h 1692941"/>
                <a:gd name="connsiteX0" fmla="*/ 457325 w 457325"/>
                <a:gd name="connsiteY0" fmla="*/ 546862 h 1385793"/>
                <a:gd name="connsiteX1" fmla="*/ 0 w 457325"/>
                <a:gd name="connsiteY1" fmla="*/ 1385793 h 1385793"/>
                <a:gd name="connsiteX0" fmla="*/ 696489 w 696489"/>
                <a:gd name="connsiteY0" fmla="*/ 420582 h 2086487"/>
                <a:gd name="connsiteX1" fmla="*/ 0 w 696489"/>
                <a:gd name="connsiteY1" fmla="*/ 2086487 h 2086487"/>
                <a:gd name="connsiteX0" fmla="*/ 696489 w 696489"/>
                <a:gd name="connsiteY0" fmla="*/ 411507 h 2077412"/>
                <a:gd name="connsiteX1" fmla="*/ 0 w 696489"/>
                <a:gd name="connsiteY1" fmla="*/ 2077412 h 2077412"/>
                <a:gd name="connsiteX0" fmla="*/ 696489 w 696489"/>
                <a:gd name="connsiteY0" fmla="*/ 411507 h 2077412"/>
                <a:gd name="connsiteX1" fmla="*/ 0 w 696489"/>
                <a:gd name="connsiteY1" fmla="*/ 2077412 h 2077412"/>
                <a:gd name="connsiteX0" fmla="*/ 573284 w 573284"/>
                <a:gd name="connsiteY0" fmla="*/ 403358 h 2142231"/>
                <a:gd name="connsiteX1" fmla="*/ 0 w 573284"/>
                <a:gd name="connsiteY1" fmla="*/ 2142231 h 2142231"/>
                <a:gd name="connsiteX0" fmla="*/ 573284 w 573284"/>
                <a:gd name="connsiteY0" fmla="*/ 314901 h 2053774"/>
                <a:gd name="connsiteX1" fmla="*/ 0 w 573284"/>
                <a:gd name="connsiteY1" fmla="*/ 2053774 h 2053774"/>
                <a:gd name="connsiteX0" fmla="*/ 68285 w 192719"/>
                <a:gd name="connsiteY0" fmla="*/ 575980 h 794680"/>
                <a:gd name="connsiteX1" fmla="*/ 190749 w 192719"/>
                <a:gd name="connsiteY1" fmla="*/ 794680 h 794680"/>
                <a:gd name="connsiteX0" fmla="*/ 15467 w 1899401"/>
                <a:gd name="connsiteY0" fmla="*/ 1845104 h 1845105"/>
                <a:gd name="connsiteX1" fmla="*/ 1899044 w 1899401"/>
                <a:gd name="connsiteY1" fmla="*/ 130146 h 1845105"/>
                <a:gd name="connsiteX0" fmla="*/ 18668 w 1902245"/>
                <a:gd name="connsiteY0" fmla="*/ 1714958 h 1714957"/>
                <a:gd name="connsiteX1" fmla="*/ 1902245 w 1902245"/>
                <a:gd name="connsiteY1" fmla="*/ 0 h 1714957"/>
                <a:gd name="connsiteX0" fmla="*/ 0 w 1883577"/>
                <a:gd name="connsiteY0" fmla="*/ 1714958 h 1926865"/>
                <a:gd name="connsiteX1" fmla="*/ 1883577 w 1883577"/>
                <a:gd name="connsiteY1" fmla="*/ 0 h 1926865"/>
                <a:gd name="connsiteX0" fmla="*/ 0 w 1828431"/>
                <a:gd name="connsiteY0" fmla="*/ 1334528 h 1724767"/>
                <a:gd name="connsiteX1" fmla="*/ 1828431 w 1828431"/>
                <a:gd name="connsiteY1" fmla="*/ 0 h 1724767"/>
              </a:gdLst>
              <a:ahLst/>
              <a:cxnLst>
                <a:cxn ang="0">
                  <a:pos x="connsiteX0" y="connsiteY0"/>
                </a:cxn>
                <a:cxn ang="0">
                  <a:pos x="connsiteX1" y="connsiteY1"/>
                </a:cxn>
              </a:cxnLst>
              <a:rect l="l" t="t" r="r" b="b"/>
              <a:pathLst>
                <a:path w="1828431" h="1724767">
                  <a:moveTo>
                    <a:pt x="0" y="1334528"/>
                  </a:moveTo>
                  <a:cubicBezTo>
                    <a:pt x="319623" y="1327031"/>
                    <a:pt x="1461808" y="2825177"/>
                    <a:pt x="1828431" y="0"/>
                  </a:cubicBezTo>
                </a:path>
              </a:pathLst>
            </a:custGeom>
            <a:noFill/>
            <a:ln w="38100">
              <a:solidFill>
                <a:srgbClr val="E44860"/>
              </a:solidFill>
              <a:prstDash val="sysDot"/>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102" name="椭圆 101">
            <a:extLst>
              <a:ext uri="{FF2B5EF4-FFF2-40B4-BE49-F238E27FC236}">
                <a16:creationId xmlns:a16="http://schemas.microsoft.com/office/drawing/2014/main" id="{5B2393B8-667C-FE61-DD59-FED212B8FF80}"/>
              </a:ext>
            </a:extLst>
          </p:cNvPr>
          <p:cNvSpPr/>
          <p:nvPr/>
        </p:nvSpPr>
        <p:spPr>
          <a:xfrm>
            <a:off x="8455018" y="705848"/>
            <a:ext cx="1335284" cy="1335284"/>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96" name="label2">
                <a:extLst>
                  <a:ext uri="{FF2B5EF4-FFF2-40B4-BE49-F238E27FC236}">
                    <a16:creationId xmlns:a16="http://schemas.microsoft.com/office/drawing/2014/main" id="{D14578D9-B19B-7D1E-FDA8-467DA81367A8}"/>
                  </a:ext>
                </a:extLst>
              </p:cNvPr>
              <p:cNvSpPr txBox="1"/>
              <p:nvPr/>
            </p:nvSpPr>
            <p:spPr>
              <a:xfrm>
                <a:off x="7840809" y="1464465"/>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96" name="label2">
                <a:extLst>
                  <a:ext uri="{FF2B5EF4-FFF2-40B4-BE49-F238E27FC236}">
                    <a16:creationId xmlns:a16="http://schemas.microsoft.com/office/drawing/2014/main" id="{D14578D9-B19B-7D1E-FDA8-467DA81367A8}"/>
                  </a:ext>
                </a:extLst>
              </p:cNvPr>
              <p:cNvSpPr txBox="1">
                <a:spLocks noRot="1" noChangeAspect="1" noMove="1" noResize="1" noEditPoints="1" noAdjustHandles="1" noChangeArrowheads="1" noChangeShapeType="1" noTextEdit="1"/>
              </p:cNvSpPr>
              <p:nvPr/>
            </p:nvSpPr>
            <p:spPr>
              <a:xfrm>
                <a:off x="7840809" y="1464465"/>
                <a:ext cx="801225" cy="523220"/>
              </a:xfrm>
              <a:prstGeom prst="rect">
                <a:avLst/>
              </a:prstGeom>
              <a:blipFill>
                <a:blip r:embed="rId27"/>
                <a:stretch>
                  <a:fillRect/>
                </a:stretch>
              </a:blipFill>
            </p:spPr>
            <p:txBody>
              <a:bodyPr/>
              <a:lstStyle/>
              <a:p>
                <a:r>
                  <a:rPr lang="zh-CN" altLang="en-US">
                    <a:noFill/>
                  </a:rPr>
                  <a:t> </a:t>
                </a:r>
              </a:p>
            </p:txBody>
          </p:sp>
        </mc:Fallback>
      </mc:AlternateContent>
      <p:sp>
        <p:nvSpPr>
          <p:cNvPr id="103" name="wg交点2">
            <a:extLst>
              <a:ext uri="{FF2B5EF4-FFF2-40B4-BE49-F238E27FC236}">
                <a16:creationId xmlns:a16="http://schemas.microsoft.com/office/drawing/2014/main" id="{5BAEE896-AD67-8E22-A649-92E511D354CD}"/>
              </a:ext>
            </a:extLst>
          </p:cNvPr>
          <p:cNvSpPr/>
          <p:nvPr/>
        </p:nvSpPr>
        <p:spPr>
          <a:xfrm>
            <a:off x="8612925" y="825388"/>
            <a:ext cx="122752" cy="122752"/>
          </a:xfrm>
          <a:prstGeom prst="ellipse">
            <a:avLst/>
          </a:prstGeom>
          <a:solidFill>
            <a:srgbClr val="7683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wg交点2">
            <a:extLst>
              <a:ext uri="{FF2B5EF4-FFF2-40B4-BE49-F238E27FC236}">
                <a16:creationId xmlns:a16="http://schemas.microsoft.com/office/drawing/2014/main" id="{97B60F2C-2D83-C639-3A1F-4B65B69CC71B}"/>
              </a:ext>
            </a:extLst>
          </p:cNvPr>
          <p:cNvSpPr/>
          <p:nvPr/>
        </p:nvSpPr>
        <p:spPr>
          <a:xfrm>
            <a:off x="8526891" y="1698846"/>
            <a:ext cx="122752" cy="122752"/>
          </a:xfrm>
          <a:prstGeom prst="ellipse">
            <a:avLst/>
          </a:prstGeom>
          <a:solidFill>
            <a:srgbClr val="7683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05" name="实轴">
            <a:extLst>
              <a:ext uri="{FF2B5EF4-FFF2-40B4-BE49-F238E27FC236}">
                <a16:creationId xmlns:a16="http://schemas.microsoft.com/office/drawing/2014/main" id="{AD7E3859-0FED-4624-192C-2A2C85014A71}"/>
              </a:ext>
            </a:extLst>
          </p:cNvPr>
          <p:cNvCxnSpPr>
            <a:cxnSpLocks/>
            <a:stCxn id="100" idx="0"/>
            <a:endCxn id="103" idx="5"/>
          </p:cNvCxnSpPr>
          <p:nvPr/>
        </p:nvCxnSpPr>
        <p:spPr>
          <a:xfrm flipH="1" flipV="1">
            <a:off x="8717700" y="930163"/>
            <a:ext cx="425213" cy="460807"/>
          </a:xfrm>
          <a:prstGeom prst="straightConnector1">
            <a:avLst/>
          </a:prstGeom>
          <a:ln w="25400">
            <a:solidFill>
              <a:srgbClr val="2980B9"/>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8" name="实轴">
            <a:extLst>
              <a:ext uri="{FF2B5EF4-FFF2-40B4-BE49-F238E27FC236}">
                <a16:creationId xmlns:a16="http://schemas.microsoft.com/office/drawing/2014/main" id="{904A5A1D-1C21-CDB4-1749-3E4C3A606B43}"/>
              </a:ext>
            </a:extLst>
          </p:cNvPr>
          <p:cNvCxnSpPr>
            <a:cxnSpLocks/>
            <a:stCxn id="100" idx="0"/>
            <a:endCxn id="104" idx="7"/>
          </p:cNvCxnSpPr>
          <p:nvPr/>
        </p:nvCxnSpPr>
        <p:spPr>
          <a:xfrm flipH="1">
            <a:off x="8631666" y="1390970"/>
            <a:ext cx="511247" cy="325853"/>
          </a:xfrm>
          <a:prstGeom prst="straightConnector1">
            <a:avLst/>
          </a:prstGeom>
          <a:ln w="25400">
            <a:solidFill>
              <a:srgbClr val="2980B9"/>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Re">
                <a:extLst>
                  <a:ext uri="{FF2B5EF4-FFF2-40B4-BE49-F238E27FC236}">
                    <a16:creationId xmlns:a16="http://schemas.microsoft.com/office/drawing/2014/main" id="{48274DD8-4A96-B8D0-D12C-722E698F6747}"/>
                  </a:ext>
                </a:extLst>
              </p:cNvPr>
              <p:cNvSpPr txBox="1"/>
              <p:nvPr/>
            </p:nvSpPr>
            <p:spPr>
              <a:xfrm>
                <a:off x="8672999" y="1445578"/>
                <a:ext cx="576536"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𝛽</m:t>
                      </m:r>
                    </m:oMath>
                  </m:oMathPara>
                </a14:m>
                <a:endParaRPr lang="zh-CN" altLang="en-US" sz="2800" dirty="0"/>
              </a:p>
            </p:txBody>
          </p:sp>
        </mc:Choice>
        <mc:Fallback xmlns="">
          <p:sp>
            <p:nvSpPr>
              <p:cNvPr id="111" name="Re">
                <a:extLst>
                  <a:ext uri="{FF2B5EF4-FFF2-40B4-BE49-F238E27FC236}">
                    <a16:creationId xmlns:a16="http://schemas.microsoft.com/office/drawing/2014/main" id="{48274DD8-4A96-B8D0-D12C-722E698F6747}"/>
                  </a:ext>
                </a:extLst>
              </p:cNvPr>
              <p:cNvSpPr txBox="1">
                <a:spLocks noRot="1" noChangeAspect="1" noMove="1" noResize="1" noEditPoints="1" noAdjustHandles="1" noChangeArrowheads="1" noChangeShapeType="1" noTextEdit="1"/>
              </p:cNvSpPr>
              <p:nvPr/>
            </p:nvSpPr>
            <p:spPr>
              <a:xfrm>
                <a:off x="8672999" y="1445578"/>
                <a:ext cx="576536" cy="524695"/>
              </a:xfrm>
              <a:prstGeom prst="rect">
                <a:avLst/>
              </a:prstGeom>
              <a:blipFill>
                <a:blip r:embed="rId28"/>
                <a:stretch>
                  <a:fillRect b="-16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Re">
                <a:extLst>
                  <a:ext uri="{FF2B5EF4-FFF2-40B4-BE49-F238E27FC236}">
                    <a16:creationId xmlns:a16="http://schemas.microsoft.com/office/drawing/2014/main" id="{C713EB92-E657-5BE9-272D-3D7691D11BAE}"/>
                  </a:ext>
                </a:extLst>
              </p:cNvPr>
              <p:cNvSpPr txBox="1"/>
              <p:nvPr/>
            </p:nvSpPr>
            <p:spPr>
              <a:xfrm>
                <a:off x="8386497" y="875816"/>
                <a:ext cx="576536"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𝛼</m:t>
                      </m:r>
                    </m:oMath>
                  </m:oMathPara>
                </a14:m>
                <a:endParaRPr lang="zh-CN" altLang="en-US" sz="2800" dirty="0"/>
              </a:p>
            </p:txBody>
          </p:sp>
        </mc:Choice>
        <mc:Fallback xmlns="">
          <p:sp>
            <p:nvSpPr>
              <p:cNvPr id="112" name="Re">
                <a:extLst>
                  <a:ext uri="{FF2B5EF4-FFF2-40B4-BE49-F238E27FC236}">
                    <a16:creationId xmlns:a16="http://schemas.microsoft.com/office/drawing/2014/main" id="{C713EB92-E657-5BE9-272D-3D7691D11BAE}"/>
                  </a:ext>
                </a:extLst>
              </p:cNvPr>
              <p:cNvSpPr txBox="1">
                <a:spLocks noRot="1" noChangeAspect="1" noMove="1" noResize="1" noEditPoints="1" noAdjustHandles="1" noChangeArrowheads="1" noChangeShapeType="1" noTextEdit="1"/>
              </p:cNvSpPr>
              <p:nvPr/>
            </p:nvSpPr>
            <p:spPr>
              <a:xfrm>
                <a:off x="8386497" y="875816"/>
                <a:ext cx="576536" cy="524695"/>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Re">
                <a:extLst>
                  <a:ext uri="{FF2B5EF4-FFF2-40B4-BE49-F238E27FC236}">
                    <a16:creationId xmlns:a16="http://schemas.microsoft.com/office/drawing/2014/main" id="{68A485CA-430F-E073-8058-AC3AD8C7EFED}"/>
                  </a:ext>
                </a:extLst>
              </p:cNvPr>
              <p:cNvSpPr txBox="1"/>
              <p:nvPr/>
            </p:nvSpPr>
            <p:spPr>
              <a:xfrm>
                <a:off x="10089446" y="1398138"/>
                <a:ext cx="134494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𝜔</m:t>
                      </m:r>
                      <m:r>
                        <a:rPr lang="en-US" altLang="zh-CN" sz="2800" b="0" i="1" smtClean="0">
                          <a:latin typeface="Cambria Math" panose="02040503050406030204" pitchFamily="18" charset="0"/>
                        </a:rPr>
                        <m:t>=0</m:t>
                      </m:r>
                    </m:oMath>
                  </m:oMathPara>
                </a14:m>
                <a:endParaRPr lang="zh-CN" altLang="en-US" sz="2800" dirty="0"/>
              </a:p>
            </p:txBody>
          </p:sp>
        </mc:Choice>
        <mc:Fallback xmlns="">
          <p:sp>
            <p:nvSpPr>
              <p:cNvPr id="114" name="Re">
                <a:extLst>
                  <a:ext uri="{FF2B5EF4-FFF2-40B4-BE49-F238E27FC236}">
                    <a16:creationId xmlns:a16="http://schemas.microsoft.com/office/drawing/2014/main" id="{68A485CA-430F-E073-8058-AC3AD8C7EFED}"/>
                  </a:ext>
                </a:extLst>
              </p:cNvPr>
              <p:cNvSpPr txBox="1">
                <a:spLocks noRot="1" noChangeAspect="1" noMove="1" noResize="1" noEditPoints="1" noAdjustHandles="1" noChangeArrowheads="1" noChangeShapeType="1" noTextEdit="1"/>
              </p:cNvSpPr>
              <p:nvPr/>
            </p:nvSpPr>
            <p:spPr>
              <a:xfrm>
                <a:off x="10089446" y="1398138"/>
                <a:ext cx="1344945" cy="523220"/>
              </a:xfrm>
              <a:prstGeom prst="rect">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Re">
                <a:extLst>
                  <a:ext uri="{FF2B5EF4-FFF2-40B4-BE49-F238E27FC236}">
                    <a16:creationId xmlns:a16="http://schemas.microsoft.com/office/drawing/2014/main" id="{BDADEB64-A27C-720F-E6E8-44CA0BA14CD3}"/>
                  </a:ext>
                </a:extLst>
              </p:cNvPr>
              <p:cNvSpPr txBox="1"/>
              <p:nvPr/>
            </p:nvSpPr>
            <p:spPr>
              <a:xfrm>
                <a:off x="7698039" y="2522374"/>
                <a:ext cx="134494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𝜔</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0</m:t>
                          </m:r>
                        </m:e>
                        <m:sup>
                          <m:r>
                            <a:rPr lang="en-US" altLang="zh-CN" sz="2800" b="0" i="1" smtClean="0">
                              <a:latin typeface="Cambria Math" panose="02040503050406030204" pitchFamily="18" charset="0"/>
                            </a:rPr>
                            <m:t>+</m:t>
                          </m:r>
                        </m:sup>
                      </m:sSup>
                    </m:oMath>
                  </m:oMathPara>
                </a14:m>
                <a:endParaRPr lang="zh-CN" altLang="en-US" sz="2800" dirty="0"/>
              </a:p>
            </p:txBody>
          </p:sp>
        </mc:Choice>
        <mc:Fallback xmlns="">
          <p:sp>
            <p:nvSpPr>
              <p:cNvPr id="115" name="Re">
                <a:extLst>
                  <a:ext uri="{FF2B5EF4-FFF2-40B4-BE49-F238E27FC236}">
                    <a16:creationId xmlns:a16="http://schemas.microsoft.com/office/drawing/2014/main" id="{BDADEB64-A27C-720F-E6E8-44CA0BA14CD3}"/>
                  </a:ext>
                </a:extLst>
              </p:cNvPr>
              <p:cNvSpPr txBox="1">
                <a:spLocks noRot="1" noChangeAspect="1" noMove="1" noResize="1" noEditPoints="1" noAdjustHandles="1" noChangeArrowheads="1" noChangeShapeType="1" noTextEdit="1"/>
              </p:cNvSpPr>
              <p:nvPr/>
            </p:nvSpPr>
            <p:spPr>
              <a:xfrm>
                <a:off x="7698039" y="2522374"/>
                <a:ext cx="1344945" cy="523220"/>
              </a:xfrm>
              <a:prstGeom prst="rect">
                <a:avLst/>
              </a:prstGeom>
              <a:blipFill>
                <a:blip r:embed="rId31"/>
                <a:stretch>
                  <a:fillRect/>
                </a:stretch>
              </a:blipFill>
            </p:spPr>
            <p:txBody>
              <a:bodyPr/>
              <a:lstStyle/>
              <a:p>
                <a:r>
                  <a:rPr lang="zh-CN" altLang="en-US">
                    <a:noFill/>
                  </a:rPr>
                  <a:t> </a:t>
                </a:r>
              </a:p>
            </p:txBody>
          </p:sp>
        </mc:Fallback>
      </mc:AlternateContent>
      <p:grpSp>
        <p:nvGrpSpPr>
          <p:cNvPr id="124" name="组合 123">
            <a:extLst>
              <a:ext uri="{FF2B5EF4-FFF2-40B4-BE49-F238E27FC236}">
                <a16:creationId xmlns:a16="http://schemas.microsoft.com/office/drawing/2014/main" id="{82A3D24B-1EF5-37A2-3723-1FF27A48AE93}"/>
              </a:ext>
            </a:extLst>
          </p:cNvPr>
          <p:cNvGrpSpPr/>
          <p:nvPr/>
        </p:nvGrpSpPr>
        <p:grpSpPr>
          <a:xfrm>
            <a:off x="9142913" y="630941"/>
            <a:ext cx="1845374" cy="760029"/>
            <a:chOff x="9142913" y="630941"/>
            <a:chExt cx="1845374" cy="760029"/>
          </a:xfrm>
        </p:grpSpPr>
        <mc:AlternateContent xmlns:mc="http://schemas.openxmlformats.org/markup-compatibility/2006" xmlns:a14="http://schemas.microsoft.com/office/drawing/2010/main">
          <mc:Choice Requires="a14">
            <p:sp>
              <p:nvSpPr>
                <p:cNvPr id="113" name="Re">
                  <a:extLst>
                    <a:ext uri="{FF2B5EF4-FFF2-40B4-BE49-F238E27FC236}">
                      <a16:creationId xmlns:a16="http://schemas.microsoft.com/office/drawing/2014/main" id="{9C2B3895-FCC8-7A99-DB62-5B9F9C511D82}"/>
                    </a:ext>
                  </a:extLst>
                </p:cNvPr>
                <p:cNvSpPr txBox="1"/>
                <p:nvPr/>
              </p:nvSpPr>
              <p:spPr>
                <a:xfrm>
                  <a:off x="9643342" y="630941"/>
                  <a:ext cx="134494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𝜔</m:t>
                        </m:r>
                        <m:r>
                          <a:rPr lang="zh-CN" altLang="en-US" sz="2800" i="1" smtClean="0">
                            <a:latin typeface="Cambria Math" panose="02040503050406030204" pitchFamily="18" charset="0"/>
                          </a:rPr>
                          <m:t>→∞</m:t>
                        </m:r>
                      </m:oMath>
                    </m:oMathPara>
                  </a14:m>
                  <a:endParaRPr lang="zh-CN" altLang="en-US" sz="2800" dirty="0"/>
                </a:p>
              </p:txBody>
            </p:sp>
          </mc:Choice>
          <mc:Fallback xmlns="">
            <p:sp>
              <p:nvSpPr>
                <p:cNvPr id="113" name="Re">
                  <a:extLst>
                    <a:ext uri="{FF2B5EF4-FFF2-40B4-BE49-F238E27FC236}">
                      <a16:creationId xmlns:a16="http://schemas.microsoft.com/office/drawing/2014/main" id="{9C2B3895-FCC8-7A99-DB62-5B9F9C511D82}"/>
                    </a:ext>
                  </a:extLst>
                </p:cNvPr>
                <p:cNvSpPr txBox="1">
                  <a:spLocks noRot="1" noChangeAspect="1" noMove="1" noResize="1" noEditPoints="1" noAdjustHandles="1" noChangeArrowheads="1" noChangeShapeType="1" noTextEdit="1"/>
                </p:cNvSpPr>
                <p:nvPr/>
              </p:nvSpPr>
              <p:spPr>
                <a:xfrm>
                  <a:off x="9643342" y="630941"/>
                  <a:ext cx="1344945" cy="523220"/>
                </a:xfrm>
                <a:prstGeom prst="rect">
                  <a:avLst/>
                </a:prstGeom>
                <a:blipFill>
                  <a:blip r:embed="rId32"/>
                  <a:stretch>
                    <a:fillRect/>
                  </a:stretch>
                </a:blipFill>
              </p:spPr>
              <p:txBody>
                <a:bodyPr/>
                <a:lstStyle/>
                <a:p>
                  <a:r>
                    <a:rPr lang="zh-CN" altLang="en-US">
                      <a:noFill/>
                    </a:rPr>
                    <a:t> </a:t>
                  </a:r>
                </a:p>
              </p:txBody>
            </p:sp>
          </mc:Fallback>
        </mc:AlternateContent>
        <p:cxnSp>
          <p:nvCxnSpPr>
            <p:cNvPr id="121" name="实轴">
              <a:extLst>
                <a:ext uri="{FF2B5EF4-FFF2-40B4-BE49-F238E27FC236}">
                  <a16:creationId xmlns:a16="http://schemas.microsoft.com/office/drawing/2014/main" id="{7B9E2D6A-187B-B751-A94A-872C42AD683E}"/>
                </a:ext>
              </a:extLst>
            </p:cNvPr>
            <p:cNvCxnSpPr>
              <a:cxnSpLocks/>
              <a:endCxn id="100" idx="0"/>
            </p:cNvCxnSpPr>
            <p:nvPr/>
          </p:nvCxnSpPr>
          <p:spPr>
            <a:xfrm flipH="1">
              <a:off x="9142913" y="1010581"/>
              <a:ext cx="647389" cy="380389"/>
            </a:xfrm>
            <a:prstGeom prst="straightConnector1">
              <a:avLst/>
            </a:prstGeom>
            <a:ln w="2540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88386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17"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ppt_x</p:attrName>
                                        </p:attrNameLst>
                                      </p:cBhvr>
                                      <p:tavLst>
                                        <p:tav tm="0">
                                          <p:val>
                                            <p:strVal val="#ppt_x-#ppt_w/2"/>
                                          </p:val>
                                        </p:tav>
                                        <p:tav tm="100000">
                                          <p:val>
                                            <p:strVal val="#ppt_x"/>
                                          </p:val>
                                        </p:tav>
                                      </p:tavLst>
                                    </p:anim>
                                    <p:anim calcmode="lin" valueType="num">
                                      <p:cBhvr>
                                        <p:cTn id="12" dur="500" fill="hold"/>
                                        <p:tgtEl>
                                          <p:spTgt spid="10"/>
                                        </p:tgtEl>
                                        <p:attrNameLst>
                                          <p:attrName>ppt_y</p:attrName>
                                        </p:attrNameLst>
                                      </p:cBhvr>
                                      <p:tavLst>
                                        <p:tav tm="0">
                                          <p:val>
                                            <p:strVal val="#ppt_y"/>
                                          </p:val>
                                        </p:tav>
                                        <p:tav tm="100000">
                                          <p:val>
                                            <p:strVal val="#ppt_y"/>
                                          </p:val>
                                        </p:tav>
                                      </p:tavLst>
                                    </p:anim>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left)">
                                      <p:cBhvr>
                                        <p:cTn id="23" dur="500"/>
                                        <p:tgtEl>
                                          <p:spTgt spid="5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7"/>
                                        </p:tgtEl>
                                        <p:attrNameLst>
                                          <p:attrName>style.visibility</p:attrName>
                                        </p:attrNameLst>
                                      </p:cBhvr>
                                      <p:to>
                                        <p:strVal val="visible"/>
                                      </p:to>
                                    </p:set>
                                    <p:animEffect transition="in" filter="wipe(left)">
                                      <p:cBhvr>
                                        <p:cTn id="28" dur="500"/>
                                        <p:tgtEl>
                                          <p:spTgt spid="8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70"/>
                                        </p:tgtEl>
                                        <p:attrNameLst>
                                          <p:attrName>style.visibility</p:attrName>
                                        </p:attrNameLst>
                                      </p:cBhvr>
                                      <p:to>
                                        <p:strVal val="visible"/>
                                      </p:to>
                                    </p:set>
                                    <p:animEffect transition="in" filter="wipe(up)">
                                      <p:cBhvr>
                                        <p:cTn id="33" dur="500"/>
                                        <p:tgtEl>
                                          <p:spTgt spid="70"/>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wipe(up)">
                                      <p:cBhvr>
                                        <p:cTn id="37" dur="500"/>
                                        <p:tgtEl>
                                          <p:spTgt spid="7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1"/>
                                        </p:tgtEl>
                                        <p:attrNameLst>
                                          <p:attrName>style.visibility</p:attrName>
                                        </p:attrNameLst>
                                      </p:cBhvr>
                                      <p:to>
                                        <p:strVal val="visible"/>
                                      </p:to>
                                    </p:set>
                                    <p:animEffect transition="in" filter="wipe(up)">
                                      <p:cBhvr>
                                        <p:cTn id="42" dur="500"/>
                                        <p:tgtEl>
                                          <p:spTgt spid="71"/>
                                        </p:tgtEl>
                                      </p:cBhvr>
                                    </p:animEffec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85"/>
                                        </p:tgtEl>
                                        <p:attrNameLst>
                                          <p:attrName>style.visibility</p:attrName>
                                        </p:attrNameLst>
                                      </p:cBhvr>
                                      <p:to>
                                        <p:strVal val="visible"/>
                                      </p:to>
                                    </p:set>
                                    <p:animEffect transition="in" filter="wipe(up)">
                                      <p:cBhvr>
                                        <p:cTn id="46" dur="500"/>
                                        <p:tgtEl>
                                          <p:spTgt spid="85"/>
                                        </p:tgtEl>
                                      </p:cBhvr>
                                    </p:animEffect>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nodeType="clickEffect">
                                  <p:stCondLst>
                                    <p:cond delay="0"/>
                                  </p:stCondLst>
                                  <p:childTnLst>
                                    <p:set>
                                      <p:cBhvr>
                                        <p:cTn id="50" dur="1" fill="hold">
                                          <p:stCondLst>
                                            <p:cond delay="0"/>
                                          </p:stCondLst>
                                        </p:cTn>
                                        <p:tgtEl>
                                          <p:spTgt spid="99"/>
                                        </p:tgtEl>
                                        <p:attrNameLst>
                                          <p:attrName>style.visibility</p:attrName>
                                        </p:attrNameLst>
                                      </p:cBhvr>
                                      <p:to>
                                        <p:strVal val="visible"/>
                                      </p:to>
                                    </p:set>
                                    <p:animEffect transition="in" filter="wheel(1)">
                                      <p:cBhvr>
                                        <p:cTn id="51" dur="2000"/>
                                        <p:tgtEl>
                                          <p:spTgt spid="99"/>
                                        </p:tgtEl>
                                      </p:cBhvr>
                                    </p:animEffect>
                                  </p:childTnLst>
                                </p:cTn>
                              </p:par>
                            </p:childTnLst>
                          </p:cTn>
                        </p:par>
                        <p:par>
                          <p:cTn id="52" fill="hold">
                            <p:stCondLst>
                              <p:cond delay="2000"/>
                            </p:stCondLst>
                            <p:childTnLst>
                              <p:par>
                                <p:cTn id="53" presetID="22" presetClass="entr" presetSubtype="4" fill="hold" grpId="0" nodeType="afterEffect">
                                  <p:stCondLst>
                                    <p:cond delay="0"/>
                                  </p:stCondLst>
                                  <p:childTnLst>
                                    <p:set>
                                      <p:cBhvr>
                                        <p:cTn id="54" dur="1" fill="hold">
                                          <p:stCondLst>
                                            <p:cond delay="0"/>
                                          </p:stCondLst>
                                        </p:cTn>
                                        <p:tgtEl>
                                          <p:spTgt spid="114"/>
                                        </p:tgtEl>
                                        <p:attrNameLst>
                                          <p:attrName>style.visibility</p:attrName>
                                        </p:attrNameLst>
                                      </p:cBhvr>
                                      <p:to>
                                        <p:strVal val="visible"/>
                                      </p:to>
                                    </p:set>
                                    <p:animEffect transition="in" filter="wipe(down)">
                                      <p:cBhvr>
                                        <p:cTn id="55" dur="500"/>
                                        <p:tgtEl>
                                          <p:spTgt spid="114"/>
                                        </p:tgtEl>
                                      </p:cBhvr>
                                    </p:animEffect>
                                  </p:childTnLst>
                                </p:cTn>
                              </p:par>
                            </p:childTnLst>
                          </p:cTn>
                        </p:par>
                        <p:par>
                          <p:cTn id="56" fill="hold">
                            <p:stCondLst>
                              <p:cond delay="2500"/>
                            </p:stCondLst>
                            <p:childTnLst>
                              <p:par>
                                <p:cTn id="57" presetID="22" presetClass="entr" presetSubtype="4" fill="hold" grpId="0" nodeType="afterEffect">
                                  <p:stCondLst>
                                    <p:cond delay="0"/>
                                  </p:stCondLst>
                                  <p:childTnLst>
                                    <p:set>
                                      <p:cBhvr>
                                        <p:cTn id="58" dur="1" fill="hold">
                                          <p:stCondLst>
                                            <p:cond delay="0"/>
                                          </p:stCondLst>
                                        </p:cTn>
                                        <p:tgtEl>
                                          <p:spTgt spid="115"/>
                                        </p:tgtEl>
                                        <p:attrNameLst>
                                          <p:attrName>style.visibility</p:attrName>
                                        </p:attrNameLst>
                                      </p:cBhvr>
                                      <p:to>
                                        <p:strVal val="visible"/>
                                      </p:to>
                                    </p:set>
                                    <p:animEffect transition="in" filter="wipe(down)">
                                      <p:cBhvr>
                                        <p:cTn id="59" dur="500"/>
                                        <p:tgtEl>
                                          <p:spTgt spid="115"/>
                                        </p:tgtEl>
                                      </p:cBhvr>
                                    </p:animEffect>
                                  </p:childTnLst>
                                </p:cTn>
                              </p:par>
                            </p:childTnLst>
                          </p:cTn>
                        </p:par>
                        <p:par>
                          <p:cTn id="60" fill="hold">
                            <p:stCondLst>
                              <p:cond delay="3000"/>
                            </p:stCondLst>
                            <p:childTnLst>
                              <p:par>
                                <p:cTn id="61" presetID="22" presetClass="entr" presetSubtype="2" fill="hold" nodeType="afterEffect">
                                  <p:stCondLst>
                                    <p:cond delay="0"/>
                                  </p:stCondLst>
                                  <p:childTnLst>
                                    <p:set>
                                      <p:cBhvr>
                                        <p:cTn id="62" dur="1" fill="hold">
                                          <p:stCondLst>
                                            <p:cond delay="0"/>
                                          </p:stCondLst>
                                        </p:cTn>
                                        <p:tgtEl>
                                          <p:spTgt spid="124"/>
                                        </p:tgtEl>
                                        <p:attrNameLst>
                                          <p:attrName>style.visibility</p:attrName>
                                        </p:attrNameLst>
                                      </p:cBhvr>
                                      <p:to>
                                        <p:strVal val="visible"/>
                                      </p:to>
                                    </p:set>
                                    <p:animEffect transition="in" filter="wipe(right)">
                                      <p:cBhvr>
                                        <p:cTn id="63" dur="500"/>
                                        <p:tgtEl>
                                          <p:spTgt spid="124"/>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04"/>
                                        </p:tgtEl>
                                        <p:attrNameLst>
                                          <p:attrName>style.visibility</p:attrName>
                                        </p:attrNameLst>
                                      </p:cBhvr>
                                      <p:to>
                                        <p:strVal val="visible"/>
                                      </p:to>
                                    </p:set>
                                  </p:childTnLst>
                                </p:cTn>
                              </p:par>
                            </p:childTnLst>
                          </p:cTn>
                        </p:par>
                        <p:par>
                          <p:cTn id="68" fill="hold">
                            <p:stCondLst>
                              <p:cond delay="0"/>
                            </p:stCondLst>
                            <p:childTnLst>
                              <p:par>
                                <p:cTn id="69" presetID="22" presetClass="entr" presetSubtype="8" fill="hold" nodeType="afterEffect">
                                  <p:stCondLst>
                                    <p:cond delay="0"/>
                                  </p:stCondLst>
                                  <p:childTnLst>
                                    <p:set>
                                      <p:cBhvr>
                                        <p:cTn id="70" dur="1" fill="hold">
                                          <p:stCondLst>
                                            <p:cond delay="0"/>
                                          </p:stCondLst>
                                        </p:cTn>
                                        <p:tgtEl>
                                          <p:spTgt spid="108"/>
                                        </p:tgtEl>
                                        <p:attrNameLst>
                                          <p:attrName>style.visibility</p:attrName>
                                        </p:attrNameLst>
                                      </p:cBhvr>
                                      <p:to>
                                        <p:strVal val="visible"/>
                                      </p:to>
                                    </p:set>
                                    <p:animEffect transition="in" filter="wipe(left)">
                                      <p:cBhvr>
                                        <p:cTn id="71" dur="500"/>
                                        <p:tgtEl>
                                          <p:spTgt spid="108"/>
                                        </p:tgtEl>
                                      </p:cBhvr>
                                    </p:animEffect>
                                  </p:childTnLst>
                                </p:cTn>
                              </p:par>
                            </p:childTnLst>
                          </p:cTn>
                        </p:par>
                        <p:par>
                          <p:cTn id="72" fill="hold">
                            <p:stCondLst>
                              <p:cond delay="500"/>
                            </p:stCondLst>
                            <p:childTnLst>
                              <p:par>
                                <p:cTn id="73" presetID="22" presetClass="entr" presetSubtype="4" fill="hold" grpId="0" nodeType="afterEffect">
                                  <p:stCondLst>
                                    <p:cond delay="0"/>
                                  </p:stCondLst>
                                  <p:childTnLst>
                                    <p:set>
                                      <p:cBhvr>
                                        <p:cTn id="74" dur="1" fill="hold">
                                          <p:stCondLst>
                                            <p:cond delay="0"/>
                                          </p:stCondLst>
                                        </p:cTn>
                                        <p:tgtEl>
                                          <p:spTgt spid="111"/>
                                        </p:tgtEl>
                                        <p:attrNameLst>
                                          <p:attrName>style.visibility</p:attrName>
                                        </p:attrNameLst>
                                      </p:cBhvr>
                                      <p:to>
                                        <p:strVal val="visible"/>
                                      </p:to>
                                    </p:set>
                                    <p:animEffect transition="in" filter="wipe(down)">
                                      <p:cBhvr>
                                        <p:cTn id="75" dur="500"/>
                                        <p:tgtEl>
                                          <p:spTgt spid="111"/>
                                        </p:tgtEl>
                                      </p:cBhvr>
                                    </p:animEffect>
                                  </p:childTnLst>
                                </p:cTn>
                              </p:par>
                            </p:childTnLst>
                          </p:cTn>
                        </p:par>
                      </p:childTnLst>
                    </p:cTn>
                  </p:par>
                  <p:par>
                    <p:cTn id="76" fill="hold">
                      <p:stCondLst>
                        <p:cond delay="indefinite"/>
                      </p:stCondLst>
                      <p:childTnLst>
                        <p:par>
                          <p:cTn id="77" fill="hold">
                            <p:stCondLst>
                              <p:cond delay="0"/>
                            </p:stCondLst>
                            <p:childTnLst>
                              <p:par>
                                <p:cTn id="78" presetID="17" presetClass="entr" presetSubtype="8"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 calcmode="lin" valueType="num">
                                      <p:cBhvr>
                                        <p:cTn id="80" dur="500" fill="hold"/>
                                        <p:tgtEl>
                                          <p:spTgt spid="22"/>
                                        </p:tgtEl>
                                        <p:attrNameLst>
                                          <p:attrName>ppt_x</p:attrName>
                                        </p:attrNameLst>
                                      </p:cBhvr>
                                      <p:tavLst>
                                        <p:tav tm="0">
                                          <p:val>
                                            <p:strVal val="#ppt_x-#ppt_w/2"/>
                                          </p:val>
                                        </p:tav>
                                        <p:tav tm="100000">
                                          <p:val>
                                            <p:strVal val="#ppt_x"/>
                                          </p:val>
                                        </p:tav>
                                      </p:tavLst>
                                    </p:anim>
                                    <p:anim calcmode="lin" valueType="num">
                                      <p:cBhvr>
                                        <p:cTn id="81" dur="500" fill="hold"/>
                                        <p:tgtEl>
                                          <p:spTgt spid="22"/>
                                        </p:tgtEl>
                                        <p:attrNameLst>
                                          <p:attrName>ppt_y</p:attrName>
                                        </p:attrNameLst>
                                      </p:cBhvr>
                                      <p:tavLst>
                                        <p:tav tm="0">
                                          <p:val>
                                            <p:strVal val="#ppt_y"/>
                                          </p:val>
                                        </p:tav>
                                        <p:tav tm="100000">
                                          <p:val>
                                            <p:strVal val="#ppt_y"/>
                                          </p:val>
                                        </p:tav>
                                      </p:tavLst>
                                    </p:anim>
                                    <p:anim calcmode="lin" valueType="num">
                                      <p:cBhvr>
                                        <p:cTn id="82" dur="500" fill="hold"/>
                                        <p:tgtEl>
                                          <p:spTgt spid="22"/>
                                        </p:tgtEl>
                                        <p:attrNameLst>
                                          <p:attrName>ppt_w</p:attrName>
                                        </p:attrNameLst>
                                      </p:cBhvr>
                                      <p:tavLst>
                                        <p:tav tm="0">
                                          <p:val>
                                            <p:fltVal val="0"/>
                                          </p:val>
                                        </p:tav>
                                        <p:tav tm="100000">
                                          <p:val>
                                            <p:strVal val="#ppt_w"/>
                                          </p:val>
                                        </p:tav>
                                      </p:tavLst>
                                    </p:anim>
                                    <p:anim calcmode="lin" valueType="num">
                                      <p:cBhvr>
                                        <p:cTn id="83"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down)">
                                      <p:cBhvr>
                                        <p:cTn id="88" dur="500"/>
                                        <p:tgtEl>
                                          <p:spTgt spid="20"/>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wipe(down)">
                                      <p:cBhvr>
                                        <p:cTn id="93" dur="500"/>
                                        <p:tgtEl>
                                          <p:spTgt spid="2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down)">
                                      <p:cBhvr>
                                        <p:cTn id="98" dur="5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wipe(left)">
                                      <p:cBhvr>
                                        <p:cTn id="103" dur="500"/>
                                        <p:tgtEl>
                                          <p:spTgt spid="52"/>
                                        </p:tgtEl>
                                      </p:cBhvr>
                                    </p:animEffect>
                                  </p:childTnLst>
                                </p:cTn>
                              </p:par>
                            </p:childTnLst>
                          </p:cTn>
                        </p:par>
                        <p:par>
                          <p:cTn id="104" fill="hold">
                            <p:stCondLst>
                              <p:cond delay="500"/>
                            </p:stCondLst>
                            <p:childTnLst>
                              <p:par>
                                <p:cTn id="105" presetID="22" presetClass="entr" presetSubtype="4" fill="hold" grpId="0" nodeType="afterEffect">
                                  <p:stCondLst>
                                    <p:cond delay="0"/>
                                  </p:stCondLst>
                                  <p:childTnLst>
                                    <p:set>
                                      <p:cBhvr>
                                        <p:cTn id="106" dur="1" fill="hold">
                                          <p:stCondLst>
                                            <p:cond delay="0"/>
                                          </p:stCondLst>
                                        </p:cTn>
                                        <p:tgtEl>
                                          <p:spTgt spid="82"/>
                                        </p:tgtEl>
                                        <p:attrNameLst>
                                          <p:attrName>style.visibility</p:attrName>
                                        </p:attrNameLst>
                                      </p:cBhvr>
                                      <p:to>
                                        <p:strVal val="visible"/>
                                      </p:to>
                                    </p:set>
                                    <p:animEffect transition="in" filter="wipe(down)">
                                      <p:cBhvr>
                                        <p:cTn id="107" dur="500"/>
                                        <p:tgtEl>
                                          <p:spTgt spid="82"/>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68"/>
                                        </p:tgtEl>
                                        <p:attrNameLst>
                                          <p:attrName>style.visibility</p:attrName>
                                        </p:attrNameLst>
                                      </p:cBhvr>
                                      <p:to>
                                        <p:strVal val="visible"/>
                                      </p:to>
                                    </p:set>
                                    <p:animEffect transition="in" filter="wipe(down)">
                                      <p:cBhvr>
                                        <p:cTn id="110" dur="500"/>
                                        <p:tgtEl>
                                          <p:spTgt spid="68"/>
                                        </p:tgtEl>
                                      </p:cBhvr>
                                    </p:animEffect>
                                  </p:childTnLst>
                                </p:cTn>
                              </p:par>
                              <p:par>
                                <p:cTn id="111" presetID="22" presetClass="entr" presetSubtype="4" fill="hold" grpId="0" nodeType="withEffect">
                                  <p:stCondLst>
                                    <p:cond delay="0"/>
                                  </p:stCondLst>
                                  <p:childTnLst>
                                    <p:set>
                                      <p:cBhvr>
                                        <p:cTn id="112" dur="1" fill="hold">
                                          <p:stCondLst>
                                            <p:cond delay="0"/>
                                          </p:stCondLst>
                                        </p:cTn>
                                        <p:tgtEl>
                                          <p:spTgt spid="84"/>
                                        </p:tgtEl>
                                        <p:attrNameLst>
                                          <p:attrName>style.visibility</p:attrName>
                                        </p:attrNameLst>
                                      </p:cBhvr>
                                      <p:to>
                                        <p:strVal val="visible"/>
                                      </p:to>
                                    </p:set>
                                    <p:animEffect transition="in" filter="wipe(down)">
                                      <p:cBhvr>
                                        <p:cTn id="113" dur="500"/>
                                        <p:tgtEl>
                                          <p:spTgt spid="84"/>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98"/>
                                        </p:tgtEl>
                                        <p:attrNameLst>
                                          <p:attrName>style.visibility</p:attrName>
                                        </p:attrNameLst>
                                      </p:cBhvr>
                                      <p:to>
                                        <p:strVal val="visible"/>
                                      </p:to>
                                    </p:set>
                                    <p:animEffect transition="in" filter="wipe(left)">
                                      <p:cBhvr>
                                        <p:cTn id="118" dur="500"/>
                                        <p:tgtEl>
                                          <p:spTgt spid="98"/>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03"/>
                                        </p:tgtEl>
                                        <p:attrNameLst>
                                          <p:attrName>style.visibility</p:attrName>
                                        </p:attrNameLst>
                                      </p:cBhvr>
                                      <p:to>
                                        <p:strVal val="visible"/>
                                      </p:to>
                                    </p:set>
                                  </p:childTnLst>
                                </p:cTn>
                              </p:par>
                            </p:childTnLst>
                          </p:cTn>
                        </p:par>
                        <p:par>
                          <p:cTn id="123" fill="hold">
                            <p:stCondLst>
                              <p:cond delay="0"/>
                            </p:stCondLst>
                            <p:childTnLst>
                              <p:par>
                                <p:cTn id="124" presetID="22" presetClass="entr" presetSubtype="8" fill="hold" nodeType="afterEffect">
                                  <p:stCondLst>
                                    <p:cond delay="0"/>
                                  </p:stCondLst>
                                  <p:childTnLst>
                                    <p:set>
                                      <p:cBhvr>
                                        <p:cTn id="125" dur="1" fill="hold">
                                          <p:stCondLst>
                                            <p:cond delay="0"/>
                                          </p:stCondLst>
                                        </p:cTn>
                                        <p:tgtEl>
                                          <p:spTgt spid="105"/>
                                        </p:tgtEl>
                                        <p:attrNameLst>
                                          <p:attrName>style.visibility</p:attrName>
                                        </p:attrNameLst>
                                      </p:cBhvr>
                                      <p:to>
                                        <p:strVal val="visible"/>
                                      </p:to>
                                    </p:set>
                                    <p:animEffect transition="in" filter="wipe(left)">
                                      <p:cBhvr>
                                        <p:cTn id="126" dur="500"/>
                                        <p:tgtEl>
                                          <p:spTgt spid="105"/>
                                        </p:tgtEl>
                                      </p:cBhvr>
                                    </p:animEffect>
                                  </p:childTnLst>
                                </p:cTn>
                              </p:par>
                            </p:childTnLst>
                          </p:cTn>
                        </p:par>
                        <p:par>
                          <p:cTn id="127" fill="hold">
                            <p:stCondLst>
                              <p:cond delay="500"/>
                            </p:stCondLst>
                            <p:childTnLst>
                              <p:par>
                                <p:cTn id="128" presetID="22" presetClass="entr" presetSubtype="4" fill="hold" grpId="0" nodeType="afterEffect">
                                  <p:stCondLst>
                                    <p:cond delay="0"/>
                                  </p:stCondLst>
                                  <p:childTnLst>
                                    <p:set>
                                      <p:cBhvr>
                                        <p:cTn id="129" dur="1" fill="hold">
                                          <p:stCondLst>
                                            <p:cond delay="0"/>
                                          </p:stCondLst>
                                        </p:cTn>
                                        <p:tgtEl>
                                          <p:spTgt spid="112"/>
                                        </p:tgtEl>
                                        <p:attrNameLst>
                                          <p:attrName>style.visibility</p:attrName>
                                        </p:attrNameLst>
                                      </p:cBhvr>
                                      <p:to>
                                        <p:strVal val="visible"/>
                                      </p:to>
                                    </p:set>
                                    <p:animEffect transition="in" filter="wipe(down)">
                                      <p:cBhvr>
                                        <p:cTn id="130" dur="500"/>
                                        <p:tgtEl>
                                          <p:spTgt spid="112"/>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4" fill="hold" grpId="0" nodeType="clickEffect">
                                  <p:stCondLst>
                                    <p:cond delay="0"/>
                                  </p:stCondLst>
                                  <p:childTnLst>
                                    <p:set>
                                      <p:cBhvr>
                                        <p:cTn id="134" dur="1" fill="hold">
                                          <p:stCondLst>
                                            <p:cond delay="0"/>
                                          </p:stCondLst>
                                        </p:cTn>
                                        <p:tgtEl>
                                          <p:spTgt spid="13"/>
                                        </p:tgtEl>
                                        <p:attrNameLst>
                                          <p:attrName>style.visibility</p:attrName>
                                        </p:attrNameLst>
                                      </p:cBhvr>
                                      <p:to>
                                        <p:strVal val="visible"/>
                                      </p:to>
                                    </p:set>
                                    <p:animEffect transition="in" filter="wipe(down)">
                                      <p:cBhvr>
                                        <p:cTn id="135" dur="500"/>
                                        <p:tgtEl>
                                          <p:spTgt spid="13"/>
                                        </p:tgtEl>
                                      </p:cBhvr>
                                    </p:animEffect>
                                  </p:childTnLst>
                                </p:cTn>
                              </p:par>
                            </p:childTnLst>
                          </p:cTn>
                        </p:par>
                        <p:par>
                          <p:cTn id="136" fill="hold">
                            <p:stCondLst>
                              <p:cond delay="500"/>
                            </p:stCondLst>
                            <p:childTnLst>
                              <p:par>
                                <p:cTn id="137" presetID="17" presetClass="entr" presetSubtype="8" fill="hold" grpId="0" nodeType="afterEffect">
                                  <p:stCondLst>
                                    <p:cond delay="0"/>
                                  </p:stCondLst>
                                  <p:childTnLst>
                                    <p:set>
                                      <p:cBhvr>
                                        <p:cTn id="138" dur="1" fill="hold">
                                          <p:stCondLst>
                                            <p:cond delay="0"/>
                                          </p:stCondLst>
                                        </p:cTn>
                                        <p:tgtEl>
                                          <p:spTgt spid="40"/>
                                        </p:tgtEl>
                                        <p:attrNameLst>
                                          <p:attrName>style.visibility</p:attrName>
                                        </p:attrNameLst>
                                      </p:cBhvr>
                                      <p:to>
                                        <p:strVal val="visible"/>
                                      </p:to>
                                    </p:set>
                                    <p:anim calcmode="lin" valueType="num">
                                      <p:cBhvr>
                                        <p:cTn id="139" dur="500" fill="hold"/>
                                        <p:tgtEl>
                                          <p:spTgt spid="40"/>
                                        </p:tgtEl>
                                        <p:attrNameLst>
                                          <p:attrName>ppt_x</p:attrName>
                                        </p:attrNameLst>
                                      </p:cBhvr>
                                      <p:tavLst>
                                        <p:tav tm="0">
                                          <p:val>
                                            <p:strVal val="#ppt_x-#ppt_w/2"/>
                                          </p:val>
                                        </p:tav>
                                        <p:tav tm="100000">
                                          <p:val>
                                            <p:strVal val="#ppt_x"/>
                                          </p:val>
                                        </p:tav>
                                      </p:tavLst>
                                    </p:anim>
                                    <p:anim calcmode="lin" valueType="num">
                                      <p:cBhvr>
                                        <p:cTn id="140" dur="500" fill="hold"/>
                                        <p:tgtEl>
                                          <p:spTgt spid="40"/>
                                        </p:tgtEl>
                                        <p:attrNameLst>
                                          <p:attrName>ppt_y</p:attrName>
                                        </p:attrNameLst>
                                      </p:cBhvr>
                                      <p:tavLst>
                                        <p:tav tm="0">
                                          <p:val>
                                            <p:strVal val="#ppt_y"/>
                                          </p:val>
                                        </p:tav>
                                        <p:tav tm="100000">
                                          <p:val>
                                            <p:strVal val="#ppt_y"/>
                                          </p:val>
                                        </p:tav>
                                      </p:tavLst>
                                    </p:anim>
                                    <p:anim calcmode="lin" valueType="num">
                                      <p:cBhvr>
                                        <p:cTn id="141" dur="500" fill="hold"/>
                                        <p:tgtEl>
                                          <p:spTgt spid="40"/>
                                        </p:tgtEl>
                                        <p:attrNameLst>
                                          <p:attrName>ppt_w</p:attrName>
                                        </p:attrNameLst>
                                      </p:cBhvr>
                                      <p:tavLst>
                                        <p:tav tm="0">
                                          <p:val>
                                            <p:fltVal val="0"/>
                                          </p:val>
                                        </p:tav>
                                        <p:tav tm="100000">
                                          <p:val>
                                            <p:strVal val="#ppt_w"/>
                                          </p:val>
                                        </p:tav>
                                      </p:tavLst>
                                    </p:anim>
                                    <p:anim calcmode="lin" valueType="num">
                                      <p:cBhvr>
                                        <p:cTn id="142" dur="500" fill="hold"/>
                                        <p:tgtEl>
                                          <p:spTgt spid="40"/>
                                        </p:tgtEl>
                                        <p:attrNameLst>
                                          <p:attrName>ppt_h</p:attrName>
                                        </p:attrNameLst>
                                      </p:cBhvr>
                                      <p:tavLst>
                                        <p:tav tm="0">
                                          <p:val>
                                            <p:strVal val="#ppt_h"/>
                                          </p:val>
                                        </p:tav>
                                        <p:tav tm="100000">
                                          <p:val>
                                            <p:strVal val="#ppt_h"/>
                                          </p:val>
                                        </p:tav>
                                      </p:tavLst>
                                    </p:anim>
                                  </p:childTnLst>
                                </p:cTn>
                              </p:par>
                            </p:childTnLst>
                          </p:cTn>
                        </p:par>
                      </p:childTnLst>
                    </p:cTn>
                  </p:par>
                  <p:par>
                    <p:cTn id="143" fill="hold">
                      <p:stCondLst>
                        <p:cond delay="indefinite"/>
                      </p:stCondLst>
                      <p:childTnLst>
                        <p:par>
                          <p:cTn id="144" fill="hold">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38"/>
                                        </p:tgtEl>
                                        <p:attrNameLst>
                                          <p:attrName>style.visibility</p:attrName>
                                        </p:attrNameLst>
                                      </p:cBhvr>
                                      <p:to>
                                        <p:strVal val="visible"/>
                                      </p:to>
                                    </p:set>
                                    <p:animEffect transition="in" filter="wipe(down)">
                                      <p:cBhvr>
                                        <p:cTn id="147" dur="500"/>
                                        <p:tgtEl>
                                          <p:spTgt spid="38"/>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4" fill="hold" grpId="0" nodeType="clickEffect">
                                  <p:stCondLst>
                                    <p:cond delay="0"/>
                                  </p:stCondLst>
                                  <p:childTnLst>
                                    <p:set>
                                      <p:cBhvr>
                                        <p:cTn id="151" dur="1" fill="hold">
                                          <p:stCondLst>
                                            <p:cond delay="0"/>
                                          </p:stCondLst>
                                        </p:cTn>
                                        <p:tgtEl>
                                          <p:spTgt spid="41"/>
                                        </p:tgtEl>
                                        <p:attrNameLst>
                                          <p:attrName>style.visibility</p:attrName>
                                        </p:attrNameLst>
                                      </p:cBhvr>
                                      <p:to>
                                        <p:strVal val="visible"/>
                                      </p:to>
                                    </p:set>
                                    <p:animEffect transition="in" filter="wipe(down)">
                                      <p:cBhvr>
                                        <p:cTn id="152" dur="500"/>
                                        <p:tgtEl>
                                          <p:spTgt spid="4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4" fill="hold" grpId="0" nodeType="clickEffect">
                                  <p:stCondLst>
                                    <p:cond delay="0"/>
                                  </p:stCondLst>
                                  <p:childTnLst>
                                    <p:set>
                                      <p:cBhvr>
                                        <p:cTn id="156" dur="1" fill="hold">
                                          <p:stCondLst>
                                            <p:cond delay="0"/>
                                          </p:stCondLst>
                                        </p:cTn>
                                        <p:tgtEl>
                                          <p:spTgt spid="46"/>
                                        </p:tgtEl>
                                        <p:attrNameLst>
                                          <p:attrName>style.visibility</p:attrName>
                                        </p:attrNameLst>
                                      </p:cBhvr>
                                      <p:to>
                                        <p:strVal val="visible"/>
                                      </p:to>
                                    </p:set>
                                    <p:animEffect transition="in" filter="wipe(down)">
                                      <p:cBhvr>
                                        <p:cTn id="15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68" grpId="0"/>
      <p:bldP spid="73" grpId="0"/>
      <p:bldP spid="9" grpId="0"/>
      <p:bldP spid="10" grpId="0" animBg="1"/>
      <p:bldP spid="11" grpId="0"/>
      <p:bldP spid="13" grpId="0"/>
      <p:bldP spid="20" grpId="0"/>
      <p:bldP spid="22" grpId="0" animBg="1"/>
      <p:bldP spid="23" grpId="0"/>
      <p:bldP spid="27" grpId="0"/>
      <p:bldP spid="38" grpId="0"/>
      <p:bldP spid="40" grpId="0" animBg="1"/>
      <p:bldP spid="41" grpId="0"/>
      <p:bldP spid="46" grpId="0"/>
      <p:bldP spid="82" grpId="0"/>
      <p:bldP spid="84" grpId="0"/>
      <p:bldP spid="85" grpId="0"/>
      <p:bldP spid="87" grpId="0" animBg="1"/>
      <p:bldP spid="98" grpId="0" animBg="1"/>
      <p:bldP spid="103" grpId="0" animBg="1"/>
      <p:bldP spid="104" grpId="0" animBg="1"/>
      <p:bldP spid="111" grpId="0"/>
      <p:bldP spid="112" grpId="0"/>
      <p:bldP spid="114" grpId="0"/>
      <p:bldP spid="1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a:t>
            </a:r>
          </a:p>
        </p:txBody>
      </p:sp>
      <p:grpSp>
        <p:nvGrpSpPr>
          <p:cNvPr id="19" name="步骤1">
            <a:extLst>
              <a:ext uri="{FF2B5EF4-FFF2-40B4-BE49-F238E27FC236}">
                <a16:creationId xmlns:a16="http://schemas.microsoft.com/office/drawing/2014/main" id="{1DF0A6FF-1D67-2486-36F5-E5EF1E2707D0}"/>
              </a:ext>
            </a:extLst>
          </p:cNvPr>
          <p:cNvGrpSpPr/>
          <p:nvPr/>
        </p:nvGrpSpPr>
        <p:grpSpPr>
          <a:xfrm>
            <a:off x="277241" y="955919"/>
            <a:ext cx="2937646" cy="725177"/>
            <a:chOff x="4943078" y="1700704"/>
            <a:chExt cx="2937646" cy="725177"/>
          </a:xfrm>
        </p:grpSpPr>
        <p:sp>
          <p:nvSpPr>
            <p:cNvPr id="20" name="标题">
              <a:extLst>
                <a:ext uri="{FF2B5EF4-FFF2-40B4-BE49-F238E27FC236}">
                  <a16:creationId xmlns:a16="http://schemas.microsoft.com/office/drawing/2014/main" id="{AE7B35A2-1941-E8EB-D7BB-FC3B4E479557}"/>
                </a:ext>
              </a:extLst>
            </p:cNvPr>
            <p:cNvSpPr/>
            <p:nvPr/>
          </p:nvSpPr>
          <p:spPr bwMode="auto">
            <a:xfrm>
              <a:off x="5502818" y="1739799"/>
              <a:ext cx="2377906" cy="646986"/>
            </a:xfrm>
            <a:prstGeom prst="roundRect">
              <a:avLst/>
            </a:prstGeom>
            <a:solidFill>
              <a:schemeClr val="tx2"/>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幅角原理</a:t>
              </a:r>
            </a:p>
          </p:txBody>
        </p:sp>
        <p:sp>
          <p:nvSpPr>
            <p:cNvPr id="21" name="序号">
              <a:extLst>
                <a:ext uri="{FF2B5EF4-FFF2-40B4-BE49-F238E27FC236}">
                  <a16:creationId xmlns:a16="http://schemas.microsoft.com/office/drawing/2014/main" id="{4EDD4ABB-AC59-9BDE-7217-79A45D20B450}"/>
                </a:ext>
              </a:extLst>
            </p:cNvPr>
            <p:cNvSpPr/>
            <p:nvPr/>
          </p:nvSpPr>
          <p:spPr bwMode="auto">
            <a:xfrm>
              <a:off x="4943078" y="1700704"/>
              <a:ext cx="725177" cy="725177"/>
            </a:xfrm>
            <a:prstGeom prst="ellipse">
              <a:avLst/>
            </a:prstGeom>
            <a:solidFill>
              <a:schemeClr val="tx2"/>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01</a:t>
              </a:r>
              <a:endParaRPr lang="zh-CN" altLang="en-US" sz="3200" dirty="0">
                <a:solidFill>
                  <a:schemeClr val="bg1"/>
                </a:solidFill>
                <a:latin typeface="Stencil" panose="040409050D0802020404" pitchFamily="82" charset="0"/>
              </a:endParaRPr>
            </a:p>
          </p:txBody>
        </p:sp>
      </p:grpSp>
      <p:grpSp>
        <p:nvGrpSpPr>
          <p:cNvPr id="22" name="步骤2">
            <a:extLst>
              <a:ext uri="{FF2B5EF4-FFF2-40B4-BE49-F238E27FC236}">
                <a16:creationId xmlns:a16="http://schemas.microsoft.com/office/drawing/2014/main" id="{F45F4F54-5A48-9DFF-111A-9147948CD157}"/>
              </a:ext>
            </a:extLst>
          </p:cNvPr>
          <p:cNvGrpSpPr/>
          <p:nvPr/>
        </p:nvGrpSpPr>
        <p:grpSpPr>
          <a:xfrm>
            <a:off x="277241" y="1769012"/>
            <a:ext cx="2937646" cy="725177"/>
            <a:chOff x="4943078" y="1700704"/>
            <a:chExt cx="2937646" cy="725177"/>
          </a:xfrm>
        </p:grpSpPr>
        <p:sp>
          <p:nvSpPr>
            <p:cNvPr id="23" name="标题">
              <a:extLst>
                <a:ext uri="{FF2B5EF4-FFF2-40B4-BE49-F238E27FC236}">
                  <a16:creationId xmlns:a16="http://schemas.microsoft.com/office/drawing/2014/main" id="{5D13C6C9-7135-610B-8953-ACD7A4A4E4DE}"/>
                </a:ext>
              </a:extLst>
            </p:cNvPr>
            <p:cNvSpPr/>
            <p:nvPr/>
          </p:nvSpPr>
          <p:spPr bwMode="auto">
            <a:xfrm>
              <a:off x="5417689" y="1750121"/>
              <a:ext cx="2463035" cy="646986"/>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奈氏路径</a:t>
              </a:r>
            </a:p>
          </p:txBody>
        </p:sp>
        <p:sp>
          <p:nvSpPr>
            <p:cNvPr id="24" name="序号">
              <a:extLst>
                <a:ext uri="{FF2B5EF4-FFF2-40B4-BE49-F238E27FC236}">
                  <a16:creationId xmlns:a16="http://schemas.microsoft.com/office/drawing/2014/main" id="{E0E52B47-7B51-9B94-226B-1EA55CBB8F22}"/>
                </a:ext>
              </a:extLst>
            </p:cNvPr>
            <p:cNvSpPr/>
            <p:nvPr/>
          </p:nvSpPr>
          <p:spPr bwMode="auto">
            <a:xfrm>
              <a:off x="4943078" y="1700704"/>
              <a:ext cx="725177" cy="725177"/>
            </a:xfrm>
            <a:prstGeom prst="ellipse">
              <a:avLst/>
            </a:prstGeom>
            <a:solidFill>
              <a:srgbClr val="E44860"/>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02</a:t>
              </a:r>
              <a:endParaRPr lang="zh-CN" altLang="en-US" sz="3200" dirty="0">
                <a:solidFill>
                  <a:schemeClr val="bg1"/>
                </a:solidFill>
                <a:latin typeface="Stencil" panose="040409050D0802020404" pitchFamily="82" charset="0"/>
              </a:endParaRPr>
            </a:p>
          </p:txBody>
        </p:sp>
      </p:grpSp>
      <p:grpSp>
        <p:nvGrpSpPr>
          <p:cNvPr id="25" name="步骤4">
            <a:extLst>
              <a:ext uri="{FF2B5EF4-FFF2-40B4-BE49-F238E27FC236}">
                <a16:creationId xmlns:a16="http://schemas.microsoft.com/office/drawing/2014/main" id="{BDBAFAA3-6448-7C50-7AAD-79F36CB67C04}"/>
              </a:ext>
            </a:extLst>
          </p:cNvPr>
          <p:cNvGrpSpPr/>
          <p:nvPr/>
        </p:nvGrpSpPr>
        <p:grpSpPr>
          <a:xfrm>
            <a:off x="259126" y="3449784"/>
            <a:ext cx="2949820" cy="725177"/>
            <a:chOff x="4943078" y="1700704"/>
            <a:chExt cx="2949820" cy="725177"/>
          </a:xfrm>
        </p:grpSpPr>
        <p:sp>
          <p:nvSpPr>
            <p:cNvPr id="26" name="标题">
              <a:extLst>
                <a:ext uri="{FF2B5EF4-FFF2-40B4-BE49-F238E27FC236}">
                  <a16:creationId xmlns:a16="http://schemas.microsoft.com/office/drawing/2014/main" id="{32490998-B565-963D-5F2D-0D864334F9A5}"/>
                </a:ext>
              </a:extLst>
            </p:cNvPr>
            <p:cNvSpPr/>
            <p:nvPr/>
          </p:nvSpPr>
          <p:spPr bwMode="auto">
            <a:xfrm>
              <a:off x="5459861" y="1739799"/>
              <a:ext cx="2433037" cy="646986"/>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对数判据</a:t>
              </a:r>
            </a:p>
          </p:txBody>
        </p:sp>
        <p:sp>
          <p:nvSpPr>
            <p:cNvPr id="27" name="序号">
              <a:extLst>
                <a:ext uri="{FF2B5EF4-FFF2-40B4-BE49-F238E27FC236}">
                  <a16:creationId xmlns:a16="http://schemas.microsoft.com/office/drawing/2014/main" id="{3B15418C-5D46-25FB-A87A-B9F63D5A2F0B}"/>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04</a:t>
              </a:r>
              <a:endParaRPr lang="zh-CN" altLang="en-US" sz="3200" dirty="0">
                <a:solidFill>
                  <a:schemeClr val="bg1"/>
                </a:solidFill>
                <a:latin typeface="Stencil" panose="040409050D0802020404" pitchFamily="82" charset="0"/>
              </a:endParaRPr>
            </a:p>
          </p:txBody>
        </p:sp>
      </p:grpSp>
      <p:grpSp>
        <p:nvGrpSpPr>
          <p:cNvPr id="28" name="步骤3">
            <a:extLst>
              <a:ext uri="{FF2B5EF4-FFF2-40B4-BE49-F238E27FC236}">
                <a16:creationId xmlns:a16="http://schemas.microsoft.com/office/drawing/2014/main" id="{DCDEE8DC-BA56-0318-6930-FF7101B52CFD}"/>
              </a:ext>
            </a:extLst>
          </p:cNvPr>
          <p:cNvGrpSpPr/>
          <p:nvPr/>
        </p:nvGrpSpPr>
        <p:grpSpPr>
          <a:xfrm>
            <a:off x="271299" y="2582105"/>
            <a:ext cx="2937647" cy="725177"/>
            <a:chOff x="4943078" y="1700704"/>
            <a:chExt cx="2937647" cy="725177"/>
          </a:xfrm>
        </p:grpSpPr>
        <p:sp>
          <p:nvSpPr>
            <p:cNvPr id="29" name="标题">
              <a:extLst>
                <a:ext uri="{FF2B5EF4-FFF2-40B4-BE49-F238E27FC236}">
                  <a16:creationId xmlns:a16="http://schemas.microsoft.com/office/drawing/2014/main" id="{173D9534-8EDB-7E86-ABE3-A8D0FCFCEE3F}"/>
                </a:ext>
              </a:extLst>
            </p:cNvPr>
            <p:cNvSpPr/>
            <p:nvPr/>
          </p:nvSpPr>
          <p:spPr bwMode="auto">
            <a:xfrm>
              <a:off x="5417690" y="1736097"/>
              <a:ext cx="2463035"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稳定判据</a:t>
              </a:r>
            </a:p>
          </p:txBody>
        </p:sp>
        <p:sp>
          <p:nvSpPr>
            <p:cNvPr id="30" name="序号">
              <a:extLst>
                <a:ext uri="{FF2B5EF4-FFF2-40B4-BE49-F238E27FC236}">
                  <a16:creationId xmlns:a16="http://schemas.microsoft.com/office/drawing/2014/main" id="{4EE3A3FD-9421-CBFA-EC5C-9B49F910783C}"/>
                </a:ext>
              </a:extLst>
            </p:cNvPr>
            <p:cNvSpPr/>
            <p:nvPr/>
          </p:nvSpPr>
          <p:spPr bwMode="auto">
            <a:xfrm>
              <a:off x="4943078" y="1700704"/>
              <a:ext cx="725177" cy="725177"/>
            </a:xfrm>
            <a:prstGeom prst="ellipse">
              <a:avLst/>
            </a:prstGeom>
            <a:solidFill>
              <a:srgbClr val="159F84"/>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03</a:t>
              </a:r>
              <a:endParaRPr lang="zh-CN" altLang="en-US" sz="3200" dirty="0">
                <a:solidFill>
                  <a:schemeClr val="bg1"/>
                </a:solidFill>
                <a:latin typeface="Stencil" panose="040409050D0802020404" pitchFamily="82" charset="0"/>
              </a:endParaRPr>
            </a:p>
          </p:txBody>
        </p:sp>
      </p:grpSp>
      <mc:AlternateContent xmlns:mc="http://schemas.openxmlformats.org/markup-compatibility/2006" xmlns:a14="http://schemas.microsoft.com/office/drawing/2010/main">
        <mc:Choice Requires="a14">
          <p:sp>
            <p:nvSpPr>
              <p:cNvPr id="31" name="说明1">
                <a:extLst>
                  <a:ext uri="{FF2B5EF4-FFF2-40B4-BE49-F238E27FC236}">
                    <a16:creationId xmlns:a16="http://schemas.microsoft.com/office/drawing/2014/main" id="{13AD52AC-E7E6-2895-D13B-B9CCA570C548}"/>
                  </a:ext>
                </a:extLst>
              </p:cNvPr>
              <p:cNvSpPr txBox="1"/>
              <p:nvPr/>
            </p:nvSpPr>
            <p:spPr>
              <a:xfrm>
                <a:off x="3574926" y="1053704"/>
                <a:ext cx="7996405" cy="523220"/>
              </a:xfrm>
              <a:prstGeom prst="rect">
                <a:avLst/>
              </a:prstGeom>
              <a:noFill/>
            </p:spPr>
            <p:txBody>
              <a:bodyPr wrap="square">
                <a:spAutoFit/>
              </a:bodyPr>
              <a:lstStyle/>
              <a:p>
                <a14:m>
                  <m:oMath xmlns:m="http://schemas.openxmlformats.org/officeDocument/2006/math">
                    <m:r>
                      <a:rPr lang="en-US" altLang="zh-CN" sz="2800" i="1" dirty="0" smtClean="0">
                        <a:latin typeface="Cambria Math" panose="02040503050406030204" pitchFamily="18" charset="0"/>
                      </a:rPr>
                      <m:t>𝑅</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𝑍</m:t>
                    </m:r>
                  </m:oMath>
                </a14:m>
                <a:r>
                  <a:rPr lang="zh-CN" altLang="en-US" sz="2800" dirty="0"/>
                  <a:t> </a:t>
                </a:r>
              </a:p>
            </p:txBody>
          </p:sp>
        </mc:Choice>
        <mc:Fallback xmlns="">
          <p:sp>
            <p:nvSpPr>
              <p:cNvPr id="31" name="说明1">
                <a:extLst>
                  <a:ext uri="{FF2B5EF4-FFF2-40B4-BE49-F238E27FC236}">
                    <a16:creationId xmlns:a16="http://schemas.microsoft.com/office/drawing/2014/main" id="{13AD52AC-E7E6-2895-D13B-B9CCA570C548}"/>
                  </a:ext>
                </a:extLst>
              </p:cNvPr>
              <p:cNvSpPr txBox="1">
                <a:spLocks noRot="1" noChangeAspect="1" noMove="1" noResize="1" noEditPoints="1" noAdjustHandles="1" noChangeArrowheads="1" noChangeShapeType="1" noTextEdit="1"/>
              </p:cNvSpPr>
              <p:nvPr/>
            </p:nvSpPr>
            <p:spPr>
              <a:xfrm>
                <a:off x="3574926" y="1053704"/>
                <a:ext cx="7996405" cy="523220"/>
              </a:xfrm>
              <a:prstGeom prst="rect">
                <a:avLst/>
              </a:prstGeom>
              <a:blipFill>
                <a:blip r:embed="rId3"/>
                <a:stretch>
                  <a:fillRect l="-475"/>
                </a:stretch>
              </a:blipFill>
            </p:spPr>
            <p:txBody>
              <a:bodyPr/>
              <a:lstStyle/>
              <a:p>
                <a:r>
                  <a:rPr lang="zh-CN" altLang="en-US">
                    <a:noFill/>
                  </a:rPr>
                  <a:t> </a:t>
                </a:r>
              </a:p>
            </p:txBody>
          </p:sp>
        </mc:Fallback>
      </mc:AlternateContent>
      <p:sp>
        <p:nvSpPr>
          <p:cNvPr id="32" name="说明2">
            <a:extLst>
              <a:ext uri="{FF2B5EF4-FFF2-40B4-BE49-F238E27FC236}">
                <a16:creationId xmlns:a16="http://schemas.microsoft.com/office/drawing/2014/main" id="{0EDA0FB0-9D8E-9B10-C08B-BDCA8A371C06}"/>
              </a:ext>
            </a:extLst>
          </p:cNvPr>
          <p:cNvSpPr txBox="1"/>
          <p:nvPr/>
        </p:nvSpPr>
        <p:spPr>
          <a:xfrm>
            <a:off x="3574926" y="1856692"/>
            <a:ext cx="8313658" cy="523220"/>
          </a:xfrm>
          <a:prstGeom prst="rect">
            <a:avLst/>
          </a:prstGeom>
          <a:noFill/>
        </p:spPr>
        <p:txBody>
          <a:bodyPr wrap="square">
            <a:spAutoFit/>
          </a:bodyPr>
          <a:lstStyle/>
          <a:p>
            <a:r>
              <a:rPr lang="zh-CN" altLang="en-US" sz="2800" dirty="0"/>
              <a:t>包围整个右半平面（不包含原点）</a:t>
            </a:r>
          </a:p>
        </p:txBody>
      </p:sp>
      <mc:AlternateContent xmlns:mc="http://schemas.openxmlformats.org/markup-compatibility/2006" xmlns:a14="http://schemas.microsoft.com/office/drawing/2010/main">
        <mc:Choice Requires="a14">
          <p:sp>
            <p:nvSpPr>
              <p:cNvPr id="33" name="说明3">
                <a:extLst>
                  <a:ext uri="{FF2B5EF4-FFF2-40B4-BE49-F238E27FC236}">
                    <a16:creationId xmlns:a16="http://schemas.microsoft.com/office/drawing/2014/main" id="{E8BCF822-C15C-BA20-871E-7C7CF6373C52}"/>
                  </a:ext>
                </a:extLst>
              </p:cNvPr>
              <p:cNvSpPr txBox="1"/>
              <p:nvPr/>
            </p:nvSpPr>
            <p:spPr>
              <a:xfrm>
                <a:off x="3574927" y="2703727"/>
                <a:ext cx="7201024" cy="523220"/>
              </a:xfrm>
              <a:prstGeom prst="rect">
                <a:avLst/>
              </a:prstGeom>
              <a:noFill/>
            </p:spPr>
            <p:txBody>
              <a:bodyPr wrap="square">
                <a:spAutoFit/>
              </a:bodyPr>
              <a:lstStyle/>
              <a:p>
                <a14:m>
                  <m:oMath xmlns:m="http://schemas.openxmlformats.org/officeDocument/2006/math">
                    <m:r>
                      <a:rPr lang="en-US" altLang="zh-CN" sz="2800" i="1" dirty="0" smtClean="0">
                        <a:latin typeface="Cambria Math" panose="02040503050406030204" pitchFamily="18" charset="0"/>
                      </a:rPr>
                      <m:t>𝑅</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𝑃</m:t>
                    </m:r>
                  </m:oMath>
                </a14:m>
                <a:r>
                  <a:rPr lang="zh-CN" altLang="en-US" sz="2800" dirty="0"/>
                  <a:t>，</a:t>
                </a:r>
                <a:r>
                  <a:rPr lang="en-US" altLang="zh-CN" sz="2800" b="1" dirty="0">
                    <a:solidFill>
                      <a:srgbClr val="2980B9"/>
                    </a:solidFill>
                  </a:rPr>
                  <a:t> </a:t>
                </a:r>
                <a14:m>
                  <m:oMath xmlns:m="http://schemas.openxmlformats.org/officeDocument/2006/math">
                    <m:sSub>
                      <m:sSubPr>
                        <m:ctrlPr>
                          <a:rPr lang="en-US" altLang="zh-CN" sz="2800" b="1" i="1">
                            <a:solidFill>
                              <a:srgbClr val="2980B9"/>
                            </a:solidFill>
                            <a:latin typeface="Cambria Math" panose="02040503050406030204" pitchFamily="18" charset="0"/>
                          </a:rPr>
                        </m:ctrlPr>
                      </m:sSubPr>
                      <m:e>
                        <m:r>
                          <m:rPr>
                            <m:sty m:val="p"/>
                          </m:rPr>
                          <a:rPr lang="zh-CN" altLang="en-US" sz="2800">
                            <a:solidFill>
                              <a:srgbClr val="2980B9"/>
                            </a:solidFill>
                            <a:latin typeface="Cambria Math" panose="02040503050406030204" pitchFamily="18" charset="0"/>
                          </a:rPr>
                          <m:t>Γ</m:t>
                        </m:r>
                      </m:e>
                      <m:sub>
                        <m:r>
                          <a:rPr lang="en-US" altLang="zh-CN" sz="2800" i="1">
                            <a:solidFill>
                              <a:srgbClr val="2980B9"/>
                            </a:solidFill>
                            <a:latin typeface="Cambria Math" panose="02040503050406030204" pitchFamily="18" charset="0"/>
                          </a:rPr>
                          <m:t>𝐺𝐻</m:t>
                        </m:r>
                      </m:sub>
                    </m:sSub>
                  </m:oMath>
                </a14:m>
                <a:r>
                  <a:rPr lang="zh-CN" altLang="en-US" sz="2800" dirty="0"/>
                  <a:t>逆时针包围</a:t>
                </a:r>
                <a14:m>
                  <m:oMath xmlns:m="http://schemas.openxmlformats.org/officeDocument/2006/math">
                    <m:r>
                      <a:rPr lang="en-US" altLang="zh-CN" sz="2800" i="1" dirty="0" smtClean="0">
                        <a:latin typeface="Cambria Math" panose="02040503050406030204" pitchFamily="18" charset="0"/>
                      </a:rPr>
                      <m:t>(−1,0</m:t>
                    </m:r>
                    <m:r>
                      <a:rPr lang="en-US" altLang="zh-CN" sz="2800" i="1" dirty="0" smtClean="0">
                        <a:latin typeface="Cambria Math" panose="02040503050406030204" pitchFamily="18" charset="0"/>
                      </a:rPr>
                      <m:t>𝑗</m:t>
                    </m:r>
                    <m:r>
                      <a:rPr lang="en-US" altLang="zh-CN" sz="2800" i="1" dirty="0" smtClean="0">
                        <a:latin typeface="Cambria Math" panose="02040503050406030204" pitchFamily="18" charset="0"/>
                      </a:rPr>
                      <m:t>)</m:t>
                    </m:r>
                  </m:oMath>
                </a14:m>
                <a:r>
                  <a:rPr lang="zh-CN" altLang="en-US" sz="2800" dirty="0"/>
                  <a:t>共</a:t>
                </a:r>
                <a14:m>
                  <m:oMath xmlns:m="http://schemas.openxmlformats.org/officeDocument/2006/math">
                    <m:r>
                      <a:rPr lang="en-US" altLang="zh-CN" sz="2800" i="1" dirty="0" smtClean="0">
                        <a:latin typeface="Cambria Math" panose="02040503050406030204" pitchFamily="18" charset="0"/>
                      </a:rPr>
                      <m:t>𝑃</m:t>
                    </m:r>
                  </m:oMath>
                </a14:m>
                <a:r>
                  <a:rPr lang="zh-CN" altLang="en-US" sz="2800" dirty="0"/>
                  <a:t>周</a:t>
                </a:r>
              </a:p>
            </p:txBody>
          </p:sp>
        </mc:Choice>
        <mc:Fallback xmlns="">
          <p:sp>
            <p:nvSpPr>
              <p:cNvPr id="33" name="说明3">
                <a:extLst>
                  <a:ext uri="{FF2B5EF4-FFF2-40B4-BE49-F238E27FC236}">
                    <a16:creationId xmlns:a16="http://schemas.microsoft.com/office/drawing/2014/main" id="{E8BCF822-C15C-BA20-871E-7C7CF6373C52}"/>
                  </a:ext>
                </a:extLst>
              </p:cNvPr>
              <p:cNvSpPr txBox="1">
                <a:spLocks noRot="1" noChangeAspect="1" noMove="1" noResize="1" noEditPoints="1" noAdjustHandles="1" noChangeArrowheads="1" noChangeShapeType="1" noTextEdit="1"/>
              </p:cNvSpPr>
              <p:nvPr/>
            </p:nvSpPr>
            <p:spPr>
              <a:xfrm>
                <a:off x="3574927" y="2703727"/>
                <a:ext cx="7201024" cy="523220"/>
              </a:xfrm>
              <a:prstGeom prst="rect">
                <a:avLst/>
              </a:prstGeom>
              <a:blipFill>
                <a:blip r:embed="rId4"/>
                <a:stretch>
                  <a:fillRect l="-528" t="-17073" b="-317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说明4">
                <a:extLst>
                  <a:ext uri="{FF2B5EF4-FFF2-40B4-BE49-F238E27FC236}">
                    <a16:creationId xmlns:a16="http://schemas.microsoft.com/office/drawing/2014/main" id="{24F65A02-B530-F2F0-2530-2B36E7D9C5CA}"/>
                  </a:ext>
                </a:extLst>
              </p:cNvPr>
              <p:cNvSpPr txBox="1"/>
              <p:nvPr/>
            </p:nvSpPr>
            <p:spPr>
              <a:xfrm>
                <a:off x="3574927" y="3550762"/>
                <a:ext cx="4330256" cy="523220"/>
              </a:xfrm>
              <a:prstGeom prst="rect">
                <a:avLst/>
              </a:prstGeom>
              <a:noFill/>
            </p:spPr>
            <p:txBody>
              <a:bodyPr wrap="square">
                <a:spAutoFit/>
              </a:bodyPr>
              <a:lstStyle/>
              <a:p>
                <a:r>
                  <a:rPr lang="zh-CN" altLang="en-US" sz="2800" dirty="0"/>
                  <a:t>补充到</a:t>
                </a:r>
                <a14:m>
                  <m:oMath xmlns:m="http://schemas.openxmlformats.org/officeDocument/2006/math">
                    <m:r>
                      <a:rPr lang="en-US" altLang="zh-CN" sz="2800" i="1" dirty="0" smtClean="0">
                        <a:latin typeface="Cambria Math" panose="02040503050406030204" pitchFamily="18" charset="0"/>
                      </a:rPr>
                      <m:t>0</m:t>
                    </m:r>
                    <m:r>
                      <a:rPr lang="en-US" altLang="zh-CN" sz="2800" i="1" dirty="0" smtClean="0">
                        <a:latin typeface="Cambria Math" panose="02040503050406030204" pitchFamily="18" charset="0"/>
                        <a:ea typeface="Cambria Math" panose="02040503050406030204" pitchFamily="18" charset="0"/>
                      </a:rPr>
                      <m:t>°</m:t>
                    </m:r>
                  </m:oMath>
                </a14:m>
                <a:r>
                  <a:rPr lang="zh-CN" altLang="en-US" sz="2800" dirty="0"/>
                  <a:t>的相频特性</a:t>
                </a:r>
              </a:p>
            </p:txBody>
          </p:sp>
        </mc:Choice>
        <mc:Fallback xmlns="">
          <p:sp>
            <p:nvSpPr>
              <p:cNvPr id="34" name="说明4">
                <a:extLst>
                  <a:ext uri="{FF2B5EF4-FFF2-40B4-BE49-F238E27FC236}">
                    <a16:creationId xmlns:a16="http://schemas.microsoft.com/office/drawing/2014/main" id="{24F65A02-B530-F2F0-2530-2B36E7D9C5CA}"/>
                  </a:ext>
                </a:extLst>
              </p:cNvPr>
              <p:cNvSpPr txBox="1">
                <a:spLocks noRot="1" noChangeAspect="1" noMove="1" noResize="1" noEditPoints="1" noAdjustHandles="1" noChangeArrowheads="1" noChangeShapeType="1" noTextEdit="1"/>
              </p:cNvSpPr>
              <p:nvPr/>
            </p:nvSpPr>
            <p:spPr>
              <a:xfrm>
                <a:off x="3574927" y="3550762"/>
                <a:ext cx="4330256" cy="523220"/>
              </a:xfrm>
              <a:prstGeom prst="rect">
                <a:avLst/>
              </a:prstGeom>
              <a:blipFill>
                <a:blip r:embed="rId5"/>
                <a:stretch>
                  <a:fillRect l="-2924" t="-14286" b="-30952"/>
                </a:stretch>
              </a:blipFill>
            </p:spPr>
            <p:txBody>
              <a:bodyPr/>
              <a:lstStyle/>
              <a:p>
                <a:r>
                  <a:rPr lang="zh-CN" altLang="en-US">
                    <a:noFill/>
                  </a:rPr>
                  <a:t> </a:t>
                </a:r>
              </a:p>
            </p:txBody>
          </p:sp>
        </mc:Fallback>
      </mc:AlternateContent>
      <p:pic>
        <p:nvPicPr>
          <p:cNvPr id="35" name="Picture 2" descr="Control, feedback, management, systems icon - Download on Iconfinder">
            <a:extLst>
              <a:ext uri="{FF2B5EF4-FFF2-40B4-BE49-F238E27FC236}">
                <a16:creationId xmlns:a16="http://schemas.microsoft.com/office/drawing/2014/main" id="{E6F94E93-458A-E75F-9A2F-B14498086F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5649" y="4100226"/>
            <a:ext cx="2619277" cy="2619277"/>
          </a:xfrm>
          <a:prstGeom prst="rect">
            <a:avLst/>
          </a:prstGeom>
          <a:noFill/>
          <a:extLst>
            <a:ext uri="{909E8E84-426E-40DD-AFC4-6F175D3DCCD1}">
              <a14:hiddenFill xmlns:a14="http://schemas.microsoft.com/office/drawing/2010/main">
                <a:solidFill>
                  <a:srgbClr val="FFFFFF"/>
                </a:solidFill>
              </a14:hiddenFill>
            </a:ext>
          </a:extLst>
        </p:spPr>
      </p:pic>
      <p:sp>
        <p:nvSpPr>
          <p:cNvPr id="36" name="小标题2">
            <a:extLst>
              <a:ext uri="{FF2B5EF4-FFF2-40B4-BE49-F238E27FC236}">
                <a16:creationId xmlns:a16="http://schemas.microsoft.com/office/drawing/2014/main" id="{6609E773-FB04-4285-ADEF-66294E9673E3}"/>
              </a:ext>
            </a:extLst>
          </p:cNvPr>
          <p:cNvSpPr/>
          <p:nvPr/>
        </p:nvSpPr>
        <p:spPr bwMode="auto">
          <a:xfrm>
            <a:off x="7905182" y="5099056"/>
            <a:ext cx="2150043"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3200" b="1" dirty="0">
                <a:solidFill>
                  <a:schemeClr val="bg1"/>
                </a:solidFill>
                <a:latin typeface="Stencil" panose="040409050D0802020404" pitchFamily="82" charset="0"/>
              </a:rPr>
              <a:t>柳暗花明</a:t>
            </a:r>
          </a:p>
        </p:txBody>
      </p:sp>
      <p:sp>
        <p:nvSpPr>
          <p:cNvPr id="37" name="小标题1">
            <a:extLst>
              <a:ext uri="{FF2B5EF4-FFF2-40B4-BE49-F238E27FC236}">
                <a16:creationId xmlns:a16="http://schemas.microsoft.com/office/drawing/2014/main" id="{B67F9E3C-9AEE-BB33-36C7-7B2CF23F4CF4}"/>
              </a:ext>
            </a:extLst>
          </p:cNvPr>
          <p:cNvSpPr/>
          <p:nvPr/>
        </p:nvSpPr>
        <p:spPr bwMode="auto">
          <a:xfrm>
            <a:off x="5552030" y="5099056"/>
            <a:ext cx="2150043"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3200" b="1" dirty="0">
                <a:solidFill>
                  <a:schemeClr val="bg1"/>
                </a:solidFill>
                <a:latin typeface="Stencil" panose="040409050D0802020404" pitchFamily="82" charset="0"/>
              </a:rPr>
              <a:t>问题转化</a:t>
            </a:r>
          </a:p>
        </p:txBody>
      </p:sp>
    </p:spTree>
    <p:extLst>
      <p:ext uri="{BB962C8B-B14F-4D97-AF65-F5344CB8AC3E}">
        <p14:creationId xmlns:p14="http://schemas.microsoft.com/office/powerpoint/2010/main" val="332209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8"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par>
                                <p:cTn id="14" presetID="22" presetClass="entr" presetSubtype="8"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down)">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wipe(down)">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down)">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down)">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500" fill="hold"/>
                                        <p:tgtEl>
                                          <p:spTgt spid="35"/>
                                        </p:tgtEl>
                                        <p:attrNameLst>
                                          <p:attrName>ppt_x</p:attrName>
                                        </p:attrNameLst>
                                      </p:cBhvr>
                                      <p:tavLst>
                                        <p:tav tm="0">
                                          <p:val>
                                            <p:strVal val="0-#ppt_w/2"/>
                                          </p:val>
                                        </p:tav>
                                        <p:tav tm="100000">
                                          <p:val>
                                            <p:strVal val="#ppt_x"/>
                                          </p:val>
                                        </p:tav>
                                      </p:tavLst>
                                    </p:anim>
                                    <p:anim calcmode="lin" valueType="num">
                                      <p:cBhvr additive="base">
                                        <p:cTn id="42" dur="500" fill="hold"/>
                                        <p:tgtEl>
                                          <p:spTgt spid="35"/>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down)">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down)">
                                      <p:cBhvr>
                                        <p:cTn id="5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6" grpId="0" animBg="1"/>
      <p:bldP spid="3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课后思考</a:t>
            </a:r>
          </a:p>
        </p:txBody>
      </p:sp>
      <p:grpSp>
        <p:nvGrpSpPr>
          <p:cNvPr id="3" name="问题">
            <a:extLst>
              <a:ext uri="{FF2B5EF4-FFF2-40B4-BE49-F238E27FC236}">
                <a16:creationId xmlns:a16="http://schemas.microsoft.com/office/drawing/2014/main" id="{D06D3F1D-D77A-CF55-27C3-5010FE1F3D41}"/>
              </a:ext>
            </a:extLst>
          </p:cNvPr>
          <p:cNvGrpSpPr/>
          <p:nvPr/>
        </p:nvGrpSpPr>
        <p:grpSpPr>
          <a:xfrm>
            <a:off x="533842" y="1124744"/>
            <a:ext cx="6929516" cy="881063"/>
            <a:chOff x="5348307" y="5538470"/>
            <a:chExt cx="6929516" cy="881063"/>
          </a:xfrm>
        </p:grpSpPr>
        <p:sp>
          <p:nvSpPr>
            <p:cNvPr id="4" name="问号">
              <a:extLst>
                <a:ext uri="{FF2B5EF4-FFF2-40B4-BE49-F238E27FC236}">
                  <a16:creationId xmlns:a16="http://schemas.microsoft.com/office/drawing/2014/main" id="{D1612918-97F0-8B94-875C-DFD8D3439BA3}"/>
                </a:ext>
              </a:extLst>
            </p:cNvPr>
            <p:cNvSpPr txBox="1"/>
            <p:nvPr/>
          </p:nvSpPr>
          <p:spPr>
            <a:xfrm>
              <a:off x="5348307" y="5538470"/>
              <a:ext cx="860323" cy="881063"/>
            </a:xfrm>
            <a:prstGeom prst="roundRect">
              <a:avLst>
                <a:gd name="adj" fmla="val 22661"/>
              </a:avLst>
            </a:prstGeom>
            <a:solidFill>
              <a:srgbClr val="F29B1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kumimoji="1" lang="zh-CN" altLang="en-US" sz="4400" b="1" dirty="0">
                  <a:solidFill>
                    <a:schemeClr val="bg1"/>
                  </a:solidFill>
                </a:rPr>
                <a:t>？</a:t>
              </a:r>
            </a:p>
          </p:txBody>
        </p:sp>
        <p:sp>
          <p:nvSpPr>
            <p:cNvPr id="5" name="文本">
              <a:extLst>
                <a:ext uri="{FF2B5EF4-FFF2-40B4-BE49-F238E27FC236}">
                  <a16:creationId xmlns:a16="http://schemas.microsoft.com/office/drawing/2014/main" id="{B40EDE9D-B618-037F-57F9-2304DF45231C}"/>
                </a:ext>
              </a:extLst>
            </p:cNvPr>
            <p:cNvSpPr txBox="1"/>
            <p:nvPr/>
          </p:nvSpPr>
          <p:spPr>
            <a:xfrm>
              <a:off x="6320700" y="5585692"/>
              <a:ext cx="5957123" cy="523220"/>
            </a:xfrm>
            <a:prstGeom prst="rect">
              <a:avLst/>
            </a:prstGeom>
            <a:noFill/>
          </p:spPr>
          <p:txBody>
            <a:bodyPr wrap="square">
              <a:spAutoFit/>
            </a:bodyPr>
            <a:lstStyle/>
            <a:p>
              <a:r>
                <a:rPr kumimoji="1" lang="zh-CN" altLang="en-US" sz="2800" dirty="0">
                  <a:latin typeface="Microsoft YaHei" panose="020B0503020204020204" pitchFamily="34" charset="-122"/>
                  <a:ea typeface="Microsoft YaHei" panose="020B0503020204020204" pitchFamily="34" charset="-122"/>
                </a:rPr>
                <a:t>试证右侧</a:t>
              </a:r>
              <a:r>
                <a:rPr kumimoji="1" lang="en-US" altLang="zh-CN" sz="2800" dirty="0">
                  <a:latin typeface="Microsoft YaHei" panose="020B0503020204020204" pitchFamily="34" charset="-122"/>
                  <a:ea typeface="Microsoft YaHei" panose="020B0503020204020204" pitchFamily="34" charset="-122"/>
                </a:rPr>
                <a:t>Nyquist</a:t>
              </a:r>
              <a:r>
                <a:rPr kumimoji="1" lang="zh-CN" altLang="en-US" sz="2800" dirty="0">
                  <a:latin typeface="Microsoft YaHei" panose="020B0503020204020204" pitchFamily="34" charset="-122"/>
                  <a:ea typeface="Microsoft YaHei" panose="020B0503020204020204" pitchFamily="34" charset="-122"/>
                </a:rPr>
                <a:t>图总是不稳定。</a:t>
              </a:r>
              <a:endParaRPr kumimoji="1" lang="en-US" altLang="zh-CN" sz="2800" dirty="0">
                <a:latin typeface="Microsoft YaHei" panose="020B0503020204020204" pitchFamily="34" charset="-122"/>
                <a:ea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6" name="wc1">
                <a:extLst>
                  <a:ext uri="{FF2B5EF4-FFF2-40B4-BE49-F238E27FC236}">
                    <a16:creationId xmlns:a16="http://schemas.microsoft.com/office/drawing/2014/main" id="{5F3F7995-D7F2-5620-99A5-BCFEA8F68299}"/>
                  </a:ext>
                </a:extLst>
              </p:cNvPr>
              <p:cNvSpPr txBox="1"/>
              <p:nvPr/>
            </p:nvSpPr>
            <p:spPr>
              <a:xfrm>
                <a:off x="8930832" y="1891237"/>
                <a:ext cx="801225"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𝐺𝐻</m:t>
                          </m:r>
                        </m:e>
                      </m:d>
                    </m:oMath>
                  </m:oMathPara>
                </a14:m>
                <a:endParaRPr lang="zh-CN" altLang="en-US" sz="2800" dirty="0"/>
              </a:p>
            </p:txBody>
          </p:sp>
        </mc:Choice>
        <mc:Fallback xmlns="">
          <p:sp>
            <p:nvSpPr>
              <p:cNvPr id="6" name="wc1">
                <a:extLst>
                  <a:ext uri="{FF2B5EF4-FFF2-40B4-BE49-F238E27FC236}">
                    <a16:creationId xmlns:a16="http://schemas.microsoft.com/office/drawing/2014/main" id="{5F3F7995-D7F2-5620-99A5-BCFEA8F68299}"/>
                  </a:ext>
                </a:extLst>
              </p:cNvPr>
              <p:cNvSpPr txBox="1">
                <a:spLocks noRot="1" noChangeAspect="1" noMove="1" noResize="1" noEditPoints="1" noAdjustHandles="1" noChangeArrowheads="1" noChangeShapeType="1" noTextEdit="1"/>
              </p:cNvSpPr>
              <p:nvPr/>
            </p:nvSpPr>
            <p:spPr>
              <a:xfrm>
                <a:off x="8930832" y="1891237"/>
                <a:ext cx="801225" cy="524695"/>
              </a:xfrm>
              <a:prstGeom prst="rect">
                <a:avLst/>
              </a:prstGeom>
              <a:blipFill>
                <a:blip r:embed="rId3"/>
                <a:stretch>
                  <a:fillRect r="-1563"/>
                </a:stretch>
              </a:blipFill>
            </p:spPr>
            <p:txBody>
              <a:bodyPr/>
              <a:lstStyle/>
              <a:p>
                <a:r>
                  <a:rPr lang="zh-CN" altLang="en-US">
                    <a:noFill/>
                  </a:rPr>
                  <a:t> </a:t>
                </a:r>
              </a:p>
            </p:txBody>
          </p:sp>
        </mc:Fallback>
      </mc:AlternateContent>
      <p:grpSp>
        <p:nvGrpSpPr>
          <p:cNvPr id="10" name="坐标轴">
            <a:extLst>
              <a:ext uri="{FF2B5EF4-FFF2-40B4-BE49-F238E27FC236}">
                <a16:creationId xmlns:a16="http://schemas.microsoft.com/office/drawing/2014/main" id="{4DE63F2B-0D5A-F205-818C-71F3CEB5C2A0}"/>
              </a:ext>
            </a:extLst>
          </p:cNvPr>
          <p:cNvGrpSpPr/>
          <p:nvPr/>
        </p:nvGrpSpPr>
        <p:grpSpPr>
          <a:xfrm>
            <a:off x="7112480" y="1892712"/>
            <a:ext cx="4815374" cy="4416608"/>
            <a:chOff x="7604456" y="2319867"/>
            <a:chExt cx="4815374" cy="4416608"/>
          </a:xfrm>
        </p:grpSpPr>
        <p:cxnSp>
          <p:nvCxnSpPr>
            <p:cNvPr id="12" name="实轴">
              <a:extLst>
                <a:ext uri="{FF2B5EF4-FFF2-40B4-BE49-F238E27FC236}">
                  <a16:creationId xmlns:a16="http://schemas.microsoft.com/office/drawing/2014/main" id="{1B665851-5A20-2DFF-684E-E7EC64B616A8}"/>
                </a:ext>
              </a:extLst>
            </p:cNvPr>
            <p:cNvCxnSpPr>
              <a:cxnSpLocks/>
            </p:cNvCxnSpPr>
            <p:nvPr/>
          </p:nvCxnSpPr>
          <p:spPr>
            <a:xfrm flipH="1">
              <a:off x="7604456" y="4597431"/>
              <a:ext cx="4331315"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虚轴">
              <a:extLst>
                <a:ext uri="{FF2B5EF4-FFF2-40B4-BE49-F238E27FC236}">
                  <a16:creationId xmlns:a16="http://schemas.microsoft.com/office/drawing/2014/main" id="{82AC9EE9-4F8F-2CA3-61E1-51F1ADFA586B}"/>
                </a:ext>
              </a:extLst>
            </p:cNvPr>
            <p:cNvCxnSpPr>
              <a:cxnSpLocks/>
            </p:cNvCxnSpPr>
            <p:nvPr/>
          </p:nvCxnSpPr>
          <p:spPr>
            <a:xfrm flipV="1">
              <a:off x="9276356" y="2373582"/>
              <a:ext cx="0" cy="4362893"/>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
                  <a:extLst>
                    <a:ext uri="{FF2B5EF4-FFF2-40B4-BE49-F238E27FC236}">
                      <a16:creationId xmlns:a16="http://schemas.microsoft.com/office/drawing/2014/main" id="{65B61B87-1E88-B64C-AE9F-3BFB926FFD42}"/>
                    </a:ext>
                  </a:extLst>
                </p:cNvPr>
                <p:cNvSpPr txBox="1"/>
                <p:nvPr/>
              </p:nvSpPr>
              <p:spPr>
                <a:xfrm>
                  <a:off x="11843294" y="4801372"/>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Re</m:t>
                        </m:r>
                      </m:oMath>
                    </m:oMathPara>
                  </a14:m>
                  <a:endParaRPr lang="zh-CN" altLang="en-US" sz="2800" dirty="0"/>
                </a:p>
              </p:txBody>
            </p:sp>
          </mc:Choice>
          <mc:Fallback xmlns="">
            <p:sp>
              <p:nvSpPr>
                <p:cNvPr id="38" name="Re">
                  <a:extLst>
                    <a:ext uri="{FF2B5EF4-FFF2-40B4-BE49-F238E27FC236}">
                      <a16:creationId xmlns:a16="http://schemas.microsoft.com/office/drawing/2014/main" id="{7D056F90-5A90-5AC2-0BB4-EC2B82239901}"/>
                    </a:ext>
                  </a:extLst>
                </p:cNvPr>
                <p:cNvSpPr txBox="1">
                  <a:spLocks noRot="1" noChangeAspect="1" noMove="1" noResize="1" noEditPoints="1" noAdjustHandles="1" noChangeArrowheads="1" noChangeShapeType="1" noTextEdit="1"/>
                </p:cNvSpPr>
                <p:nvPr/>
              </p:nvSpPr>
              <p:spPr>
                <a:xfrm>
                  <a:off x="11843294" y="4801372"/>
                  <a:ext cx="576536" cy="523220"/>
                </a:xfrm>
                <a:prstGeom prst="rect">
                  <a:avLst/>
                </a:prstGeom>
                <a:blipFill>
                  <a:blip r:embed="rId4"/>
                  <a:stretch>
                    <a:fillRect l="-4255" r="-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Im">
                  <a:extLst>
                    <a:ext uri="{FF2B5EF4-FFF2-40B4-BE49-F238E27FC236}">
                      <a16:creationId xmlns:a16="http://schemas.microsoft.com/office/drawing/2014/main" id="{B42F3507-A674-2ADE-A559-6EC94AA7D0E6}"/>
                    </a:ext>
                  </a:extLst>
                </p:cNvPr>
                <p:cNvSpPr txBox="1"/>
                <p:nvPr/>
              </p:nvSpPr>
              <p:spPr>
                <a:xfrm>
                  <a:off x="8387561" y="2319867"/>
                  <a:ext cx="57653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Microsoft YaHei" panose="020B0503020204020204" pitchFamily="34" charset="-122"/>
                          </a:rPr>
                          <m:t>Im</m:t>
                        </m:r>
                      </m:oMath>
                    </m:oMathPara>
                  </a14:m>
                  <a:endParaRPr lang="zh-CN" altLang="en-US" sz="2800" dirty="0"/>
                </a:p>
              </p:txBody>
            </p:sp>
          </mc:Choice>
          <mc:Fallback xmlns="">
            <p:sp>
              <p:nvSpPr>
                <p:cNvPr id="39" name="Im">
                  <a:extLst>
                    <a:ext uri="{FF2B5EF4-FFF2-40B4-BE49-F238E27FC236}">
                      <a16:creationId xmlns:a16="http://schemas.microsoft.com/office/drawing/2014/main" id="{B15195EC-160D-2BB3-C29E-0FE76F5C6D27}"/>
                    </a:ext>
                  </a:extLst>
                </p:cNvPr>
                <p:cNvSpPr txBox="1">
                  <a:spLocks noRot="1" noChangeAspect="1" noMove="1" noResize="1" noEditPoints="1" noAdjustHandles="1" noChangeArrowheads="1" noChangeShapeType="1" noTextEdit="1"/>
                </p:cNvSpPr>
                <p:nvPr/>
              </p:nvSpPr>
              <p:spPr>
                <a:xfrm>
                  <a:off x="8387561" y="2319867"/>
                  <a:ext cx="576536" cy="523220"/>
                </a:xfrm>
                <a:prstGeom prst="rect">
                  <a:avLst/>
                </a:prstGeom>
                <a:blipFill>
                  <a:blip r:embed="rId5"/>
                  <a:stretch>
                    <a:fillRect l="-4255" r="-851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6" name="label2">
                <a:extLst>
                  <a:ext uri="{FF2B5EF4-FFF2-40B4-BE49-F238E27FC236}">
                    <a16:creationId xmlns:a16="http://schemas.microsoft.com/office/drawing/2014/main" id="{051D5DE9-E45D-DE99-C0EB-68217F710DB4}"/>
                  </a:ext>
                </a:extLst>
              </p:cNvPr>
              <p:cNvSpPr txBox="1"/>
              <p:nvPr/>
            </p:nvSpPr>
            <p:spPr>
              <a:xfrm>
                <a:off x="7294166" y="4268706"/>
                <a:ext cx="8012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1</m:t>
                      </m:r>
                    </m:oMath>
                  </m:oMathPara>
                </a14:m>
                <a:endParaRPr lang="zh-CN" altLang="en-US" sz="2800" dirty="0"/>
              </a:p>
            </p:txBody>
          </p:sp>
        </mc:Choice>
        <mc:Fallback xmlns="">
          <p:sp>
            <p:nvSpPr>
              <p:cNvPr id="16" name="label2">
                <a:extLst>
                  <a:ext uri="{FF2B5EF4-FFF2-40B4-BE49-F238E27FC236}">
                    <a16:creationId xmlns:a16="http://schemas.microsoft.com/office/drawing/2014/main" id="{051D5DE9-E45D-DE99-C0EB-68217F710DB4}"/>
                  </a:ext>
                </a:extLst>
              </p:cNvPr>
              <p:cNvSpPr txBox="1">
                <a:spLocks noRot="1" noChangeAspect="1" noMove="1" noResize="1" noEditPoints="1" noAdjustHandles="1" noChangeArrowheads="1" noChangeShapeType="1" noTextEdit="1"/>
              </p:cNvSpPr>
              <p:nvPr/>
            </p:nvSpPr>
            <p:spPr>
              <a:xfrm>
                <a:off x="7294166" y="4268706"/>
                <a:ext cx="801225" cy="523220"/>
              </a:xfrm>
              <a:prstGeom prst="rect">
                <a:avLst/>
              </a:prstGeom>
              <a:blipFill>
                <a:blip r:embed="rId6"/>
                <a:stretch>
                  <a:fillRect/>
                </a:stretch>
              </a:blipFill>
            </p:spPr>
            <p:txBody>
              <a:bodyPr/>
              <a:lstStyle/>
              <a:p>
                <a:r>
                  <a:rPr lang="zh-CN" altLang="en-US">
                    <a:noFill/>
                  </a:rPr>
                  <a:t> </a:t>
                </a:r>
              </a:p>
            </p:txBody>
          </p:sp>
        </mc:Fallback>
      </mc:AlternateContent>
      <p:sp>
        <p:nvSpPr>
          <p:cNvPr id="17" name="幅相">
            <a:extLst>
              <a:ext uri="{FF2B5EF4-FFF2-40B4-BE49-F238E27FC236}">
                <a16:creationId xmlns:a16="http://schemas.microsoft.com/office/drawing/2014/main" id="{E76237D4-50B7-97A0-CBCD-9D9A0864E778}"/>
              </a:ext>
            </a:extLst>
          </p:cNvPr>
          <p:cNvSpPr/>
          <p:nvPr/>
        </p:nvSpPr>
        <p:spPr>
          <a:xfrm>
            <a:off x="7114358" y="3559622"/>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E4486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幅相">
            <a:extLst>
              <a:ext uri="{FF2B5EF4-FFF2-40B4-BE49-F238E27FC236}">
                <a16:creationId xmlns:a16="http://schemas.microsoft.com/office/drawing/2014/main" id="{34251AE3-2683-50AF-8C18-67FF763E6E22}"/>
              </a:ext>
            </a:extLst>
          </p:cNvPr>
          <p:cNvSpPr/>
          <p:nvPr/>
        </p:nvSpPr>
        <p:spPr>
          <a:xfrm>
            <a:off x="8790112" y="4136114"/>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19" name="原点">
                <a:extLst>
                  <a:ext uri="{FF2B5EF4-FFF2-40B4-BE49-F238E27FC236}">
                    <a16:creationId xmlns:a16="http://schemas.microsoft.com/office/drawing/2014/main" id="{74EC888F-0969-E602-7D68-B8EA30816C0E}"/>
                  </a:ext>
                </a:extLst>
              </p:cNvPr>
              <p:cNvSpPr txBox="1"/>
              <p:nvPr/>
            </p:nvSpPr>
            <p:spPr>
              <a:xfrm>
                <a:off x="7472092" y="2974880"/>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E44860"/>
                              </a:solidFill>
                              <a:latin typeface="Cambria Math" panose="02040503050406030204" pitchFamily="18" charset="0"/>
                            </a:rPr>
                          </m:ctrlPr>
                        </m:dPr>
                        <m:e>
                          <m:r>
                            <a:rPr lang="en-US" altLang="zh-CN" sz="2800" b="0" i="1" smtClean="0">
                              <a:solidFill>
                                <a:srgbClr val="E44860"/>
                              </a:solidFill>
                              <a:latin typeface="Cambria Math" panose="02040503050406030204" pitchFamily="18" charset="0"/>
                            </a:rPr>
                            <m:t>1</m:t>
                          </m:r>
                        </m:e>
                      </m:d>
                    </m:oMath>
                  </m:oMathPara>
                </a14:m>
                <a:endParaRPr lang="zh-CN" altLang="en-US" sz="2800" dirty="0">
                  <a:solidFill>
                    <a:srgbClr val="E44860"/>
                  </a:solidFill>
                </a:endParaRPr>
              </a:p>
            </p:txBody>
          </p:sp>
        </mc:Choice>
        <mc:Fallback xmlns="">
          <p:sp>
            <p:nvSpPr>
              <p:cNvPr id="19" name="原点">
                <a:extLst>
                  <a:ext uri="{FF2B5EF4-FFF2-40B4-BE49-F238E27FC236}">
                    <a16:creationId xmlns:a16="http://schemas.microsoft.com/office/drawing/2014/main" id="{74EC888F-0969-E602-7D68-B8EA30816C0E}"/>
                  </a:ext>
                </a:extLst>
              </p:cNvPr>
              <p:cNvSpPr txBox="1">
                <a:spLocks noRot="1" noChangeAspect="1" noMove="1" noResize="1" noEditPoints="1" noAdjustHandles="1" noChangeArrowheads="1" noChangeShapeType="1" noTextEdit="1"/>
              </p:cNvSpPr>
              <p:nvPr/>
            </p:nvSpPr>
            <p:spPr>
              <a:xfrm>
                <a:off x="7472092" y="2974880"/>
                <a:ext cx="545352" cy="524695"/>
              </a:xfrm>
              <a:prstGeom prst="rect">
                <a:avLst/>
              </a:prstGeom>
              <a:blipFill>
                <a:blip r:embed="rId7"/>
                <a:stretch>
                  <a:fillRect r="-2273"/>
                </a:stretch>
              </a:blipFill>
            </p:spPr>
            <p:txBody>
              <a:bodyPr/>
              <a:lstStyle/>
              <a:p>
                <a:r>
                  <a:rPr lang="zh-CN" altLang="en-US">
                    <a:noFill/>
                  </a:rPr>
                  <a:t> </a:t>
                </a:r>
              </a:p>
            </p:txBody>
          </p:sp>
        </mc:Fallback>
      </mc:AlternateContent>
      <p:sp>
        <p:nvSpPr>
          <p:cNvPr id="20" name="wg交点2">
            <a:extLst>
              <a:ext uri="{FF2B5EF4-FFF2-40B4-BE49-F238E27FC236}">
                <a16:creationId xmlns:a16="http://schemas.microsoft.com/office/drawing/2014/main" id="{DBFE5BCD-1E94-854A-E874-4314F92A875D}"/>
              </a:ext>
            </a:extLst>
          </p:cNvPr>
          <p:cNvSpPr/>
          <p:nvPr/>
        </p:nvSpPr>
        <p:spPr>
          <a:xfrm>
            <a:off x="8707491" y="4098336"/>
            <a:ext cx="122752" cy="122752"/>
          </a:xfrm>
          <a:prstGeom prst="ellipse">
            <a:avLst/>
          </a:prstGeom>
          <a:solidFill>
            <a:srgbClr val="7683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1" name="原点">
                <a:extLst>
                  <a:ext uri="{FF2B5EF4-FFF2-40B4-BE49-F238E27FC236}">
                    <a16:creationId xmlns:a16="http://schemas.microsoft.com/office/drawing/2014/main" id="{AE5090CD-4E71-9E5C-24E5-0549ADB1475A}"/>
                  </a:ext>
                </a:extLst>
              </p:cNvPr>
              <p:cNvSpPr txBox="1"/>
              <p:nvPr/>
            </p:nvSpPr>
            <p:spPr>
              <a:xfrm>
                <a:off x="8899496" y="4155693"/>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2</m:t>
                          </m:r>
                        </m:e>
                      </m:d>
                    </m:oMath>
                  </m:oMathPara>
                </a14:m>
                <a:endParaRPr lang="zh-CN" altLang="en-US" sz="2800" dirty="0">
                  <a:solidFill>
                    <a:srgbClr val="F6973B"/>
                  </a:solidFill>
                </a:endParaRPr>
              </a:p>
            </p:txBody>
          </p:sp>
        </mc:Choice>
        <mc:Fallback xmlns="">
          <p:sp>
            <p:nvSpPr>
              <p:cNvPr id="21" name="原点">
                <a:extLst>
                  <a:ext uri="{FF2B5EF4-FFF2-40B4-BE49-F238E27FC236}">
                    <a16:creationId xmlns:a16="http://schemas.microsoft.com/office/drawing/2014/main" id="{AE5090CD-4E71-9E5C-24E5-0549ADB1475A}"/>
                  </a:ext>
                </a:extLst>
              </p:cNvPr>
              <p:cNvSpPr txBox="1">
                <a:spLocks noRot="1" noChangeAspect="1" noMove="1" noResize="1" noEditPoints="1" noAdjustHandles="1" noChangeArrowheads="1" noChangeShapeType="1" noTextEdit="1"/>
              </p:cNvSpPr>
              <p:nvPr/>
            </p:nvSpPr>
            <p:spPr>
              <a:xfrm>
                <a:off x="8899496" y="4155693"/>
                <a:ext cx="545352" cy="524695"/>
              </a:xfrm>
              <a:prstGeom prst="rect">
                <a:avLst/>
              </a:prstGeom>
              <a:blipFill>
                <a:blip r:embed="rId8"/>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原点">
                <a:extLst>
                  <a:ext uri="{FF2B5EF4-FFF2-40B4-BE49-F238E27FC236}">
                    <a16:creationId xmlns:a16="http://schemas.microsoft.com/office/drawing/2014/main" id="{58C383BB-EF74-062C-DCA1-917E6C8B2F29}"/>
                  </a:ext>
                </a:extLst>
              </p:cNvPr>
              <p:cNvSpPr txBox="1"/>
              <p:nvPr/>
            </p:nvSpPr>
            <p:spPr>
              <a:xfrm>
                <a:off x="7509250" y="4786684"/>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3</m:t>
                          </m:r>
                        </m:e>
                      </m:d>
                    </m:oMath>
                  </m:oMathPara>
                </a14:m>
                <a:endParaRPr lang="zh-CN" altLang="en-US" sz="2800" dirty="0">
                  <a:solidFill>
                    <a:srgbClr val="F6973B"/>
                  </a:solidFill>
                </a:endParaRPr>
              </a:p>
            </p:txBody>
          </p:sp>
        </mc:Choice>
        <mc:Fallback xmlns="">
          <p:sp>
            <p:nvSpPr>
              <p:cNvPr id="22" name="原点">
                <a:extLst>
                  <a:ext uri="{FF2B5EF4-FFF2-40B4-BE49-F238E27FC236}">
                    <a16:creationId xmlns:a16="http://schemas.microsoft.com/office/drawing/2014/main" id="{58C383BB-EF74-062C-DCA1-917E6C8B2F29}"/>
                  </a:ext>
                </a:extLst>
              </p:cNvPr>
              <p:cNvSpPr txBox="1">
                <a:spLocks noRot="1" noChangeAspect="1" noMove="1" noResize="1" noEditPoints="1" noAdjustHandles="1" noChangeArrowheads="1" noChangeShapeType="1" noTextEdit="1"/>
              </p:cNvSpPr>
              <p:nvPr/>
            </p:nvSpPr>
            <p:spPr>
              <a:xfrm>
                <a:off x="7509250" y="4786684"/>
                <a:ext cx="545352" cy="524695"/>
              </a:xfrm>
              <a:prstGeom prst="rect">
                <a:avLst/>
              </a:prstGeom>
              <a:blipFill>
                <a:blip r:embed="rId9"/>
                <a:stretch>
                  <a:fillRect r="-2273"/>
                </a:stretch>
              </a:blipFill>
            </p:spPr>
            <p:txBody>
              <a:bodyPr/>
              <a:lstStyle/>
              <a:p>
                <a:r>
                  <a:rPr lang="zh-CN" altLang="en-US">
                    <a:noFill/>
                  </a:rPr>
                  <a:t> </a:t>
                </a:r>
              </a:p>
            </p:txBody>
          </p:sp>
        </mc:Fallback>
      </mc:AlternateContent>
      <p:sp>
        <p:nvSpPr>
          <p:cNvPr id="23" name="幅相">
            <a:extLst>
              <a:ext uri="{FF2B5EF4-FFF2-40B4-BE49-F238E27FC236}">
                <a16:creationId xmlns:a16="http://schemas.microsoft.com/office/drawing/2014/main" id="{33574647-D47D-7B3D-E25F-A0EFDCFC77E1}"/>
              </a:ext>
            </a:extLst>
          </p:cNvPr>
          <p:cNvSpPr/>
          <p:nvPr/>
        </p:nvSpPr>
        <p:spPr>
          <a:xfrm flipV="1">
            <a:off x="8779499" y="2460666"/>
            <a:ext cx="2118038" cy="1688414"/>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50080 w 711918"/>
              <a:gd name="connsiteY0" fmla="*/ 561380 h 812356"/>
              <a:gd name="connsiteX1" fmla="*/ 711918 w 711918"/>
              <a:gd name="connsiteY1" fmla="*/ 812356 h 812356"/>
              <a:gd name="connsiteX0" fmla="*/ 0 w 661838"/>
              <a:gd name="connsiteY0" fmla="*/ 0 h 250976"/>
              <a:gd name="connsiteX1" fmla="*/ 661838 w 661838"/>
              <a:gd name="connsiteY1" fmla="*/ 250976 h 250976"/>
              <a:gd name="connsiteX0" fmla="*/ 0 w 1612360"/>
              <a:gd name="connsiteY0" fmla="*/ 1108602 h 1165322"/>
              <a:gd name="connsiteX1" fmla="*/ 1612360 w 1612360"/>
              <a:gd name="connsiteY1" fmla="*/ 98071 h 1165322"/>
              <a:gd name="connsiteX0" fmla="*/ 0 w 1612583"/>
              <a:gd name="connsiteY0" fmla="*/ 1010531 h 1291974"/>
              <a:gd name="connsiteX1" fmla="*/ 1612360 w 1612583"/>
              <a:gd name="connsiteY1" fmla="*/ 0 h 1291974"/>
              <a:gd name="connsiteX0" fmla="*/ 0 w 1612583"/>
              <a:gd name="connsiteY0" fmla="*/ 1054032 h 1321440"/>
              <a:gd name="connsiteX1" fmla="*/ 1612360 w 1612583"/>
              <a:gd name="connsiteY1" fmla="*/ 0 h 1321440"/>
              <a:gd name="connsiteX0" fmla="*/ 0 w 1612581"/>
              <a:gd name="connsiteY0" fmla="*/ 1054032 h 1564787"/>
              <a:gd name="connsiteX1" fmla="*/ 1612360 w 1612581"/>
              <a:gd name="connsiteY1" fmla="*/ 0 h 1564787"/>
              <a:gd name="connsiteX0" fmla="*/ 0 w 1603942"/>
              <a:gd name="connsiteY0" fmla="*/ 1083032 h 1585424"/>
              <a:gd name="connsiteX1" fmla="*/ 1603719 w 1603942"/>
              <a:gd name="connsiteY1" fmla="*/ 0 h 1585424"/>
              <a:gd name="connsiteX0" fmla="*/ 0 w 1561156"/>
              <a:gd name="connsiteY0" fmla="*/ 2088370 h 2396382"/>
              <a:gd name="connsiteX1" fmla="*/ 1560925 w 1561156"/>
              <a:gd name="connsiteY1" fmla="*/ 0 h 2396382"/>
              <a:gd name="connsiteX0" fmla="*/ 0 w 1561267"/>
              <a:gd name="connsiteY0" fmla="*/ 2088370 h 2091061"/>
              <a:gd name="connsiteX1" fmla="*/ 1560925 w 1561267"/>
              <a:gd name="connsiteY1" fmla="*/ 0 h 2091061"/>
              <a:gd name="connsiteX0" fmla="*/ 0 w 1561211"/>
              <a:gd name="connsiteY0" fmla="*/ 2088370 h 2088370"/>
              <a:gd name="connsiteX1" fmla="*/ 1560925 w 1561211"/>
              <a:gd name="connsiteY1" fmla="*/ 0 h 2088370"/>
            </a:gdLst>
            <a:ahLst/>
            <a:cxnLst>
              <a:cxn ang="0">
                <a:pos x="connsiteX0" y="connsiteY0"/>
              </a:cxn>
              <a:cxn ang="0">
                <a:pos x="connsiteX1" y="connsiteY1"/>
              </a:cxn>
            </a:cxnLst>
            <a:rect l="l" t="t" r="r" b="b"/>
            <a:pathLst>
              <a:path w="1561211" h="2088370">
                <a:moveTo>
                  <a:pt x="0" y="2088370"/>
                </a:moveTo>
                <a:cubicBezTo>
                  <a:pt x="688019" y="2080606"/>
                  <a:pt x="1579529" y="1594537"/>
                  <a:pt x="1560925" y="0"/>
                </a:cubicBezTo>
              </a:path>
            </a:pathLst>
          </a:custGeom>
          <a:noFill/>
          <a:ln w="38100">
            <a:solidFill>
              <a:srgbClr val="768395"/>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极点2">
            <a:extLst>
              <a:ext uri="{FF2B5EF4-FFF2-40B4-BE49-F238E27FC236}">
                <a16:creationId xmlns:a16="http://schemas.microsoft.com/office/drawing/2014/main" id="{90238F1C-2D10-5CE0-4AD9-FE790D27D705}"/>
              </a:ext>
            </a:extLst>
          </p:cNvPr>
          <p:cNvSpPr/>
          <p:nvPr/>
        </p:nvSpPr>
        <p:spPr>
          <a:xfrm>
            <a:off x="7597506" y="4026260"/>
            <a:ext cx="288032" cy="288032"/>
          </a:xfrm>
          <a:prstGeom prst="mathMultiply">
            <a:avLst/>
          </a:prstGeom>
          <a:solidFill>
            <a:srgbClr val="E448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25" name="幅相">
            <a:extLst>
              <a:ext uri="{FF2B5EF4-FFF2-40B4-BE49-F238E27FC236}">
                <a16:creationId xmlns:a16="http://schemas.microsoft.com/office/drawing/2014/main" id="{6E174718-495C-275E-D107-EAF96E541E09}"/>
              </a:ext>
            </a:extLst>
          </p:cNvPr>
          <p:cNvSpPr/>
          <p:nvPr/>
        </p:nvSpPr>
        <p:spPr>
          <a:xfrm>
            <a:off x="6587934" y="4156198"/>
            <a:ext cx="2183160" cy="1683498"/>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609208"/>
              <a:gd name="connsiteY0" fmla="*/ 0 h 2082289"/>
              <a:gd name="connsiteX1" fmla="*/ 1609208 w 1609208"/>
              <a:gd name="connsiteY1" fmla="*/ 2082289 h 2082289"/>
            </a:gdLst>
            <a:ahLst/>
            <a:cxnLst>
              <a:cxn ang="0">
                <a:pos x="connsiteX0" y="connsiteY0"/>
              </a:cxn>
              <a:cxn ang="0">
                <a:pos x="connsiteX1" y="connsiteY1"/>
              </a:cxn>
            </a:cxnLst>
            <a:rect l="l" t="t" r="r" b="b"/>
            <a:pathLst>
              <a:path w="1609208" h="2082289">
                <a:moveTo>
                  <a:pt x="0" y="0"/>
                </a:moveTo>
                <a:cubicBezTo>
                  <a:pt x="15234" y="1014053"/>
                  <a:pt x="698344" y="2069813"/>
                  <a:pt x="1609208" y="2082289"/>
                </a:cubicBezTo>
              </a:path>
            </a:pathLst>
          </a:custGeom>
          <a:noFill/>
          <a:ln w="38100">
            <a:solidFill>
              <a:srgbClr val="F6973B"/>
            </a:solidFill>
            <a:prstDash val="sys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26" name="虚轴">
            <a:extLst>
              <a:ext uri="{FF2B5EF4-FFF2-40B4-BE49-F238E27FC236}">
                <a16:creationId xmlns:a16="http://schemas.microsoft.com/office/drawing/2014/main" id="{079C2042-9A92-A0F7-C803-CFB91D38B325}"/>
              </a:ext>
            </a:extLst>
          </p:cNvPr>
          <p:cNvCxnSpPr>
            <a:cxnSpLocks/>
            <a:stCxn id="25" idx="0"/>
          </p:cNvCxnSpPr>
          <p:nvPr/>
        </p:nvCxnSpPr>
        <p:spPr>
          <a:xfrm flipV="1">
            <a:off x="6587934" y="3559622"/>
            <a:ext cx="521387" cy="596576"/>
          </a:xfrm>
          <a:prstGeom prst="straightConnector1">
            <a:avLst/>
          </a:prstGeom>
          <a:ln w="38100">
            <a:solidFill>
              <a:srgbClr val="E4486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7" name="幅相">
            <a:extLst>
              <a:ext uri="{FF2B5EF4-FFF2-40B4-BE49-F238E27FC236}">
                <a16:creationId xmlns:a16="http://schemas.microsoft.com/office/drawing/2014/main" id="{996BE0C3-0497-5FD5-4610-5857B9EC693B}"/>
              </a:ext>
            </a:extLst>
          </p:cNvPr>
          <p:cNvSpPr/>
          <p:nvPr/>
        </p:nvSpPr>
        <p:spPr>
          <a:xfrm flipV="1">
            <a:off x="7097784" y="4155693"/>
            <a:ext cx="1671083" cy="630991"/>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Lst>
            <a:ahLst/>
            <a:cxnLst>
              <a:cxn ang="0">
                <a:pos x="connsiteX0" y="connsiteY0"/>
              </a:cxn>
              <a:cxn ang="0">
                <a:pos x="connsiteX1" y="connsiteY1"/>
              </a:cxn>
            </a:cxnLst>
            <a:rect l="l" t="t" r="r" b="b"/>
            <a:pathLst>
              <a:path w="1231759" h="780462">
                <a:moveTo>
                  <a:pt x="1231759" y="780462"/>
                </a:moveTo>
                <a:cubicBezTo>
                  <a:pt x="1102046" y="250023"/>
                  <a:pt x="321187" y="-129260"/>
                  <a:pt x="0" y="41315"/>
                </a:cubicBezTo>
              </a:path>
            </a:pathLst>
          </a:custGeom>
          <a:noFill/>
          <a:ln w="38100">
            <a:solidFill>
              <a:srgbClr val="768395"/>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幅相">
            <a:extLst>
              <a:ext uri="{FF2B5EF4-FFF2-40B4-BE49-F238E27FC236}">
                <a16:creationId xmlns:a16="http://schemas.microsoft.com/office/drawing/2014/main" id="{F504AED3-33C5-A80F-1727-D49CBC79FA67}"/>
              </a:ext>
            </a:extLst>
          </p:cNvPr>
          <p:cNvSpPr/>
          <p:nvPr/>
        </p:nvSpPr>
        <p:spPr>
          <a:xfrm flipV="1">
            <a:off x="6581850" y="2455302"/>
            <a:ext cx="2163496" cy="1634337"/>
          </a:xfrm>
          <a:custGeom>
            <a:avLst/>
            <a:gdLst>
              <a:gd name="connsiteX0" fmla="*/ 2311400 w 2311400"/>
              <a:gd name="connsiteY0" fmla="*/ 2806700 h 2914873"/>
              <a:gd name="connsiteX1" fmla="*/ 1936750 w 2311400"/>
              <a:gd name="connsiteY1" fmla="*/ 2813050 h 2914873"/>
              <a:gd name="connsiteX2" fmla="*/ 1974850 w 2311400"/>
              <a:gd name="connsiteY2" fmla="*/ 1733550 h 2914873"/>
              <a:gd name="connsiteX3" fmla="*/ 0 w 2311400"/>
              <a:gd name="connsiteY3" fmla="*/ 0 h 2914873"/>
              <a:gd name="connsiteX0" fmla="*/ 2311400 w 2311400"/>
              <a:gd name="connsiteY0" fmla="*/ 2806700 h 2893131"/>
              <a:gd name="connsiteX1" fmla="*/ 1936750 w 2311400"/>
              <a:gd name="connsiteY1" fmla="*/ 2813050 h 2893131"/>
              <a:gd name="connsiteX2" fmla="*/ 1974850 w 2311400"/>
              <a:gd name="connsiteY2" fmla="*/ 1733550 h 2893131"/>
              <a:gd name="connsiteX3" fmla="*/ 0 w 2311400"/>
              <a:gd name="connsiteY3" fmla="*/ 0 h 2893131"/>
              <a:gd name="connsiteX0" fmla="*/ 2311400 w 2311400"/>
              <a:gd name="connsiteY0" fmla="*/ 2806700 h 2813083"/>
              <a:gd name="connsiteX1" fmla="*/ 1936750 w 2311400"/>
              <a:gd name="connsiteY1" fmla="*/ 2813050 h 2813083"/>
              <a:gd name="connsiteX2" fmla="*/ 1974850 w 2311400"/>
              <a:gd name="connsiteY2" fmla="*/ 1733550 h 2813083"/>
              <a:gd name="connsiteX3" fmla="*/ 0 w 2311400"/>
              <a:gd name="connsiteY3" fmla="*/ 0 h 2813083"/>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76198"/>
              <a:gd name="connsiteX1" fmla="*/ 1936750 w 2311400"/>
              <a:gd name="connsiteY1" fmla="*/ 2813050 h 2876198"/>
              <a:gd name="connsiteX2" fmla="*/ 1974850 w 2311400"/>
              <a:gd name="connsiteY2" fmla="*/ 1733550 h 2876198"/>
              <a:gd name="connsiteX3" fmla="*/ 0 w 2311400"/>
              <a:gd name="connsiteY3" fmla="*/ 0 h 2876198"/>
              <a:gd name="connsiteX0" fmla="*/ 2311400 w 2311400"/>
              <a:gd name="connsiteY0" fmla="*/ 2806700 h 2813050"/>
              <a:gd name="connsiteX1" fmla="*/ 1936750 w 2311400"/>
              <a:gd name="connsiteY1" fmla="*/ 2813050 h 2813050"/>
              <a:gd name="connsiteX2" fmla="*/ 1974850 w 2311400"/>
              <a:gd name="connsiteY2" fmla="*/ 1733550 h 2813050"/>
              <a:gd name="connsiteX3" fmla="*/ 0 w 2311400"/>
              <a:gd name="connsiteY3" fmla="*/ 0 h 2813050"/>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3675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1400"/>
              <a:gd name="connsiteY0" fmla="*/ 2806700 h 2819765"/>
              <a:gd name="connsiteX1" fmla="*/ 1968500 w 2311400"/>
              <a:gd name="connsiteY1" fmla="*/ 2813050 h 2819765"/>
              <a:gd name="connsiteX2" fmla="*/ 1974850 w 2311400"/>
              <a:gd name="connsiteY2" fmla="*/ 1733550 h 2819765"/>
              <a:gd name="connsiteX3" fmla="*/ 0 w 2311400"/>
              <a:gd name="connsiteY3" fmla="*/ 0 h 2819765"/>
              <a:gd name="connsiteX0" fmla="*/ 2311400 w 2315757"/>
              <a:gd name="connsiteY0" fmla="*/ 2806700 h 2813050"/>
              <a:gd name="connsiteX1" fmla="*/ 1968500 w 2315757"/>
              <a:gd name="connsiteY1" fmla="*/ 2813050 h 2813050"/>
              <a:gd name="connsiteX2" fmla="*/ 1974850 w 2315757"/>
              <a:gd name="connsiteY2" fmla="*/ 1733550 h 2813050"/>
              <a:gd name="connsiteX3" fmla="*/ 0 w 2315757"/>
              <a:gd name="connsiteY3" fmla="*/ 0 h 2813050"/>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4522"/>
              <a:gd name="connsiteX1" fmla="*/ 1968500 w 2311400"/>
              <a:gd name="connsiteY1" fmla="*/ 2813050 h 2814522"/>
              <a:gd name="connsiteX2" fmla="*/ 1974850 w 2311400"/>
              <a:gd name="connsiteY2" fmla="*/ 1733550 h 2814522"/>
              <a:gd name="connsiteX3" fmla="*/ 0 w 2311400"/>
              <a:gd name="connsiteY3" fmla="*/ 0 h 2814522"/>
              <a:gd name="connsiteX0" fmla="*/ 2311400 w 2311400"/>
              <a:gd name="connsiteY0" fmla="*/ 2806700 h 2819056"/>
              <a:gd name="connsiteX1" fmla="*/ 1968500 w 2311400"/>
              <a:gd name="connsiteY1" fmla="*/ 2813050 h 2819056"/>
              <a:gd name="connsiteX2" fmla="*/ 1974850 w 2311400"/>
              <a:gd name="connsiteY2" fmla="*/ 1733550 h 2819056"/>
              <a:gd name="connsiteX3" fmla="*/ 0 w 2311400"/>
              <a:gd name="connsiteY3" fmla="*/ 0 h 2819056"/>
              <a:gd name="connsiteX0" fmla="*/ 2328984 w 2328984"/>
              <a:gd name="connsiteY0" fmla="*/ 2824284 h 2830615"/>
              <a:gd name="connsiteX1" fmla="*/ 1968500 w 2328984"/>
              <a:gd name="connsiteY1" fmla="*/ 2813050 h 2830615"/>
              <a:gd name="connsiteX2" fmla="*/ 1974850 w 2328984"/>
              <a:gd name="connsiteY2" fmla="*/ 1733550 h 2830615"/>
              <a:gd name="connsiteX3" fmla="*/ 0 w 2328984"/>
              <a:gd name="connsiteY3" fmla="*/ 0 h 2830615"/>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4284"/>
              <a:gd name="connsiteX1" fmla="*/ 1968500 w 2328984"/>
              <a:gd name="connsiteY1" fmla="*/ 2813050 h 2824284"/>
              <a:gd name="connsiteX2" fmla="*/ 1974850 w 2328984"/>
              <a:gd name="connsiteY2" fmla="*/ 1733550 h 2824284"/>
              <a:gd name="connsiteX3" fmla="*/ 0 w 2328984"/>
              <a:gd name="connsiteY3" fmla="*/ 0 h 2824284"/>
              <a:gd name="connsiteX0" fmla="*/ 2328984 w 2328984"/>
              <a:gd name="connsiteY0" fmla="*/ 2824284 h 2825119"/>
              <a:gd name="connsiteX1" fmla="*/ 1968500 w 2328984"/>
              <a:gd name="connsiteY1" fmla="*/ 2813050 h 2825119"/>
              <a:gd name="connsiteX2" fmla="*/ 1974850 w 2328984"/>
              <a:gd name="connsiteY2" fmla="*/ 1733550 h 2825119"/>
              <a:gd name="connsiteX3" fmla="*/ 0 w 2328984"/>
              <a:gd name="connsiteY3" fmla="*/ 0 h 2825119"/>
              <a:gd name="connsiteX0" fmla="*/ 2328984 w 2328984"/>
              <a:gd name="connsiteY0" fmla="*/ 2824284 h 3129746"/>
              <a:gd name="connsiteX1" fmla="*/ 1968500 w 2328984"/>
              <a:gd name="connsiteY1" fmla="*/ 2813050 h 3129746"/>
              <a:gd name="connsiteX2" fmla="*/ 1974850 w 2328984"/>
              <a:gd name="connsiteY2" fmla="*/ 1733550 h 3129746"/>
              <a:gd name="connsiteX3" fmla="*/ 0 w 2328984"/>
              <a:gd name="connsiteY3" fmla="*/ 0 h 3129746"/>
              <a:gd name="connsiteX0" fmla="*/ 2328984 w 2328984"/>
              <a:gd name="connsiteY0" fmla="*/ 2824284 h 3258925"/>
              <a:gd name="connsiteX1" fmla="*/ 1968500 w 2328984"/>
              <a:gd name="connsiteY1" fmla="*/ 2813050 h 3258925"/>
              <a:gd name="connsiteX2" fmla="*/ 1974850 w 2328984"/>
              <a:gd name="connsiteY2" fmla="*/ 1733550 h 3258925"/>
              <a:gd name="connsiteX3" fmla="*/ 0 w 2328984"/>
              <a:gd name="connsiteY3" fmla="*/ 0 h 3258925"/>
              <a:gd name="connsiteX0" fmla="*/ 2328984 w 2328984"/>
              <a:gd name="connsiteY0" fmla="*/ 2824284 h 2856935"/>
              <a:gd name="connsiteX1" fmla="*/ 1968500 w 2328984"/>
              <a:gd name="connsiteY1" fmla="*/ 2813050 h 2856935"/>
              <a:gd name="connsiteX2" fmla="*/ 1974850 w 2328984"/>
              <a:gd name="connsiteY2" fmla="*/ 1733550 h 2856935"/>
              <a:gd name="connsiteX3" fmla="*/ 0 w 2328984"/>
              <a:gd name="connsiteY3" fmla="*/ 0 h 2856935"/>
              <a:gd name="connsiteX0" fmla="*/ 2328984 w 2331488"/>
              <a:gd name="connsiteY0" fmla="*/ 2824284 h 3113169"/>
              <a:gd name="connsiteX1" fmla="*/ 1968500 w 2331488"/>
              <a:gd name="connsiteY1" fmla="*/ 2813050 h 3113169"/>
              <a:gd name="connsiteX2" fmla="*/ 1974850 w 2331488"/>
              <a:gd name="connsiteY2" fmla="*/ 1733550 h 3113169"/>
              <a:gd name="connsiteX3" fmla="*/ 0 w 2331488"/>
              <a:gd name="connsiteY3" fmla="*/ 0 h 3113169"/>
              <a:gd name="connsiteX0" fmla="*/ 2328984 w 2330716"/>
              <a:gd name="connsiteY0" fmla="*/ 2824284 h 3049414"/>
              <a:gd name="connsiteX1" fmla="*/ 1700335 w 2330716"/>
              <a:gd name="connsiteY1" fmla="*/ 2531696 h 3049414"/>
              <a:gd name="connsiteX2" fmla="*/ 1974850 w 2330716"/>
              <a:gd name="connsiteY2" fmla="*/ 1733550 h 3049414"/>
              <a:gd name="connsiteX3" fmla="*/ 0 w 2330716"/>
              <a:gd name="connsiteY3" fmla="*/ 0 h 3049414"/>
              <a:gd name="connsiteX0" fmla="*/ 2328984 w 2331175"/>
              <a:gd name="connsiteY0" fmla="*/ 2824284 h 3066634"/>
              <a:gd name="connsiteX1" fmla="*/ 1700335 w 2331175"/>
              <a:gd name="connsiteY1" fmla="*/ 2531696 h 3066634"/>
              <a:gd name="connsiteX2" fmla="*/ 1974850 w 2331175"/>
              <a:gd name="connsiteY2" fmla="*/ 1733550 h 3066634"/>
              <a:gd name="connsiteX3" fmla="*/ 0 w 2331175"/>
              <a:gd name="connsiteY3" fmla="*/ 0 h 3066634"/>
              <a:gd name="connsiteX0" fmla="*/ 2328984 w 2332424"/>
              <a:gd name="connsiteY0" fmla="*/ 2824284 h 3145437"/>
              <a:gd name="connsiteX1" fmla="*/ 1950916 w 2332424"/>
              <a:gd name="connsiteY1" fmla="*/ 2830634 h 3145437"/>
              <a:gd name="connsiteX2" fmla="*/ 1974850 w 2332424"/>
              <a:gd name="connsiteY2" fmla="*/ 1733550 h 3145437"/>
              <a:gd name="connsiteX3" fmla="*/ 0 w 2332424"/>
              <a:gd name="connsiteY3" fmla="*/ 0 h 3145437"/>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2300"/>
              <a:gd name="connsiteY0" fmla="*/ 2824284 h 3145571"/>
              <a:gd name="connsiteX1" fmla="*/ 1950916 w 2332300"/>
              <a:gd name="connsiteY1" fmla="*/ 2830634 h 3145571"/>
              <a:gd name="connsiteX2" fmla="*/ 1974850 w 2332300"/>
              <a:gd name="connsiteY2" fmla="*/ 1733550 h 3145571"/>
              <a:gd name="connsiteX3" fmla="*/ 0 w 2332300"/>
              <a:gd name="connsiteY3" fmla="*/ 0 h 3145571"/>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414"/>
              <a:gd name="connsiteY0" fmla="*/ 2824284 h 3094860"/>
              <a:gd name="connsiteX1" fmla="*/ 1950916 w 2337414"/>
              <a:gd name="connsiteY1" fmla="*/ 2830634 h 3094860"/>
              <a:gd name="connsiteX2" fmla="*/ 1974850 w 2337414"/>
              <a:gd name="connsiteY2" fmla="*/ 1733550 h 3094860"/>
              <a:gd name="connsiteX3" fmla="*/ 0 w 2337414"/>
              <a:gd name="connsiteY3" fmla="*/ 0 h 3094860"/>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74850 w 2337608"/>
              <a:gd name="connsiteY2" fmla="*/ 1733550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37608"/>
              <a:gd name="connsiteY0" fmla="*/ 2824284 h 3091488"/>
              <a:gd name="connsiteX1" fmla="*/ 1955312 w 2337608"/>
              <a:gd name="connsiteY1" fmla="*/ 2817446 h 3091488"/>
              <a:gd name="connsiteX2" fmla="*/ 1952869 w 2337608"/>
              <a:gd name="connsiteY2" fmla="*/ 1737946 h 3091488"/>
              <a:gd name="connsiteX3" fmla="*/ 0 w 2337608"/>
              <a:gd name="connsiteY3" fmla="*/ 0 h 3091488"/>
              <a:gd name="connsiteX0" fmla="*/ 2328984 w 2328984"/>
              <a:gd name="connsiteY0" fmla="*/ 2824284 h 2825799"/>
              <a:gd name="connsiteX1" fmla="*/ 1955312 w 2328984"/>
              <a:gd name="connsiteY1" fmla="*/ 2817446 h 2825799"/>
              <a:gd name="connsiteX2" fmla="*/ 1952869 w 2328984"/>
              <a:gd name="connsiteY2" fmla="*/ 1737946 h 2825799"/>
              <a:gd name="connsiteX3" fmla="*/ 0 w 2328984"/>
              <a:gd name="connsiteY3" fmla="*/ 0 h 2825799"/>
              <a:gd name="connsiteX0" fmla="*/ 2328984 w 2328984"/>
              <a:gd name="connsiteY0" fmla="*/ 2824284 h 2824284"/>
              <a:gd name="connsiteX1" fmla="*/ 1955312 w 2328984"/>
              <a:gd name="connsiteY1" fmla="*/ 2817446 h 2824284"/>
              <a:gd name="connsiteX2" fmla="*/ 1952869 w 2328984"/>
              <a:gd name="connsiteY2" fmla="*/ 1737946 h 2824284"/>
              <a:gd name="connsiteX3" fmla="*/ 0 w 2328984"/>
              <a:gd name="connsiteY3" fmla="*/ 0 h 2824284"/>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1737946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1952869 w 2320192"/>
              <a:gd name="connsiteY2" fmla="*/ 2239108 h 2819888"/>
              <a:gd name="connsiteX3" fmla="*/ 0 w 2320192"/>
              <a:gd name="connsiteY3" fmla="*/ 0 h 2819888"/>
              <a:gd name="connsiteX0" fmla="*/ 2320192 w 2320192"/>
              <a:gd name="connsiteY0" fmla="*/ 2819888 h 2819888"/>
              <a:gd name="connsiteX1" fmla="*/ 1955312 w 2320192"/>
              <a:gd name="connsiteY1" fmla="*/ 2817446 h 2819888"/>
              <a:gd name="connsiteX2" fmla="*/ 0 w 2320192"/>
              <a:gd name="connsiteY2"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2320192 w 2320192"/>
              <a:gd name="connsiteY0" fmla="*/ 2819888 h 2819888"/>
              <a:gd name="connsiteX1" fmla="*/ 0 w 2320192"/>
              <a:gd name="connsiteY1" fmla="*/ 0 h 2819888"/>
              <a:gd name="connsiteX0" fmla="*/ 3647342 w 3647342"/>
              <a:gd name="connsiteY0" fmla="*/ 3073888 h 3073888"/>
              <a:gd name="connsiteX1" fmla="*/ 0 w 3647342"/>
              <a:gd name="connsiteY1" fmla="*/ 0 h 3073888"/>
              <a:gd name="connsiteX0" fmla="*/ 256471 w 1264588"/>
              <a:gd name="connsiteY0" fmla="*/ 2210288 h 2210288"/>
              <a:gd name="connsiteX1" fmla="*/ 1123979 w 1264588"/>
              <a:gd name="connsiteY1" fmla="*/ 0 h 2210288"/>
              <a:gd name="connsiteX0" fmla="*/ 374863 w 1242371"/>
              <a:gd name="connsiteY0" fmla="*/ 2210288 h 2210288"/>
              <a:gd name="connsiteX1" fmla="*/ 1242371 w 1242371"/>
              <a:gd name="connsiteY1" fmla="*/ 0 h 2210288"/>
              <a:gd name="connsiteX0" fmla="*/ 339658 w 1454816"/>
              <a:gd name="connsiteY0" fmla="*/ 2146788 h 2146788"/>
              <a:gd name="connsiteX1" fmla="*/ 1454816 w 1454816"/>
              <a:gd name="connsiteY1" fmla="*/ 0 h 2146788"/>
              <a:gd name="connsiteX0" fmla="*/ 0 w 1115158"/>
              <a:gd name="connsiteY0" fmla="*/ 2146788 h 2146788"/>
              <a:gd name="connsiteX1" fmla="*/ 1115158 w 1115158"/>
              <a:gd name="connsiteY1" fmla="*/ 0 h 2146788"/>
              <a:gd name="connsiteX0" fmla="*/ 0 w 1115158"/>
              <a:gd name="connsiteY0" fmla="*/ 2146788 h 2146788"/>
              <a:gd name="connsiteX1" fmla="*/ 1115158 w 11151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0 w 848458"/>
              <a:gd name="connsiteY0" fmla="*/ 2146788 h 2146788"/>
              <a:gd name="connsiteX1" fmla="*/ 848458 w 848458"/>
              <a:gd name="connsiteY1" fmla="*/ 0 h 2146788"/>
              <a:gd name="connsiteX0" fmla="*/ 1965 w 850423"/>
              <a:gd name="connsiteY0" fmla="*/ 2146788 h 2146788"/>
              <a:gd name="connsiteX1" fmla="*/ 850423 w 850423"/>
              <a:gd name="connsiteY1" fmla="*/ 0 h 2146788"/>
              <a:gd name="connsiteX0" fmla="*/ 1777 w 888335"/>
              <a:gd name="connsiteY0" fmla="*/ 2140438 h 2140438"/>
              <a:gd name="connsiteX1" fmla="*/ 888335 w 888335"/>
              <a:gd name="connsiteY1" fmla="*/ 0 h 2140438"/>
              <a:gd name="connsiteX0" fmla="*/ 275 w 886833"/>
              <a:gd name="connsiteY0" fmla="*/ 2140438 h 2140438"/>
              <a:gd name="connsiteX1" fmla="*/ 886833 w 886833"/>
              <a:gd name="connsiteY1" fmla="*/ 0 h 2140438"/>
              <a:gd name="connsiteX0" fmla="*/ 0 w 886558"/>
              <a:gd name="connsiteY0" fmla="*/ 2140438 h 2140438"/>
              <a:gd name="connsiteX1" fmla="*/ 886558 w 886558"/>
              <a:gd name="connsiteY1" fmla="*/ 0 h 2140438"/>
              <a:gd name="connsiteX0" fmla="*/ 0 w 886558"/>
              <a:gd name="connsiteY0" fmla="*/ 2140438 h 2140438"/>
              <a:gd name="connsiteX1" fmla="*/ 886558 w 886558"/>
              <a:gd name="connsiteY1" fmla="*/ 0 h 2140438"/>
              <a:gd name="connsiteX0" fmla="*/ 0 w 721458"/>
              <a:gd name="connsiteY0" fmla="*/ 2172188 h 2172188"/>
              <a:gd name="connsiteX1" fmla="*/ 721458 w 721458"/>
              <a:gd name="connsiteY1" fmla="*/ 0 h 2172188"/>
              <a:gd name="connsiteX0" fmla="*/ 0 w 721458"/>
              <a:gd name="connsiteY0" fmla="*/ 2172188 h 2172188"/>
              <a:gd name="connsiteX1" fmla="*/ 721458 w 721458"/>
              <a:gd name="connsiteY1" fmla="*/ 0 h 2172188"/>
              <a:gd name="connsiteX0" fmla="*/ 0 w 886558"/>
              <a:gd name="connsiteY0" fmla="*/ 2108688 h 2108688"/>
              <a:gd name="connsiteX1" fmla="*/ 886558 w 886558"/>
              <a:gd name="connsiteY1" fmla="*/ 0 h 2108688"/>
              <a:gd name="connsiteX0" fmla="*/ 0 w 886558"/>
              <a:gd name="connsiteY0" fmla="*/ 2108688 h 2108688"/>
              <a:gd name="connsiteX1" fmla="*/ 886558 w 886558"/>
              <a:gd name="connsiteY1" fmla="*/ 0 h 2108688"/>
              <a:gd name="connsiteX0" fmla="*/ 115 w 886673"/>
              <a:gd name="connsiteY0" fmla="*/ 2108688 h 2108688"/>
              <a:gd name="connsiteX1" fmla="*/ 886673 w 886673"/>
              <a:gd name="connsiteY1" fmla="*/ 0 h 2108688"/>
              <a:gd name="connsiteX0" fmla="*/ 117 w 886675"/>
              <a:gd name="connsiteY0" fmla="*/ 2108688 h 2108688"/>
              <a:gd name="connsiteX1" fmla="*/ 886675 w 886675"/>
              <a:gd name="connsiteY1" fmla="*/ 0 h 2108688"/>
              <a:gd name="connsiteX0" fmla="*/ 188597 w 188597"/>
              <a:gd name="connsiteY0" fmla="*/ 1375957 h 1375957"/>
              <a:gd name="connsiteX1" fmla="*/ 15420 w 188597"/>
              <a:gd name="connsiteY1" fmla="*/ 0 h 1375957"/>
              <a:gd name="connsiteX0" fmla="*/ 179891 w 301071"/>
              <a:gd name="connsiteY0" fmla="*/ 1375957 h 1585789"/>
              <a:gd name="connsiteX1" fmla="*/ 6714 w 301071"/>
              <a:gd name="connsiteY1" fmla="*/ 0 h 1585789"/>
              <a:gd name="connsiteX0" fmla="*/ 0 w 1219617"/>
              <a:gd name="connsiteY0" fmla="*/ 1067120 h 1383642"/>
              <a:gd name="connsiteX1" fmla="*/ 1219617 w 1219617"/>
              <a:gd name="connsiteY1" fmla="*/ 0 h 1383642"/>
              <a:gd name="connsiteX0" fmla="*/ 0 w 1219617"/>
              <a:gd name="connsiteY0" fmla="*/ 1067120 h 1144709"/>
              <a:gd name="connsiteX1" fmla="*/ 1219617 w 1219617"/>
              <a:gd name="connsiteY1" fmla="*/ 0 h 1144709"/>
              <a:gd name="connsiteX0" fmla="*/ 0 w 1219617"/>
              <a:gd name="connsiteY0" fmla="*/ 1067120 h 1106481"/>
              <a:gd name="connsiteX1" fmla="*/ 1219617 w 1219617"/>
              <a:gd name="connsiteY1" fmla="*/ 0 h 1106481"/>
              <a:gd name="connsiteX0" fmla="*/ 0 w 1219617"/>
              <a:gd name="connsiteY0" fmla="*/ 1067120 h 1067360"/>
              <a:gd name="connsiteX1" fmla="*/ 1219617 w 1219617"/>
              <a:gd name="connsiteY1" fmla="*/ 0 h 1067360"/>
              <a:gd name="connsiteX0" fmla="*/ 0 w 1219617"/>
              <a:gd name="connsiteY0" fmla="*/ 1067120 h 1067215"/>
              <a:gd name="connsiteX1" fmla="*/ 1219617 w 1219617"/>
              <a:gd name="connsiteY1" fmla="*/ 0 h 1067215"/>
              <a:gd name="connsiteX0" fmla="*/ 0 w 1219617"/>
              <a:gd name="connsiteY0" fmla="*/ 1008849 h 1008950"/>
              <a:gd name="connsiteX1" fmla="*/ 1219617 w 1219617"/>
              <a:gd name="connsiteY1" fmla="*/ 0 h 1008950"/>
              <a:gd name="connsiteX0" fmla="*/ 0 w 1219617"/>
              <a:gd name="connsiteY0" fmla="*/ 1008849 h 1008941"/>
              <a:gd name="connsiteX1" fmla="*/ 1219617 w 1219617"/>
              <a:gd name="connsiteY1" fmla="*/ 0 h 1008941"/>
              <a:gd name="connsiteX0" fmla="*/ 0 w 3104310"/>
              <a:gd name="connsiteY0" fmla="*/ 329015 h 329300"/>
              <a:gd name="connsiteX1" fmla="*/ 3104310 w 3104310"/>
              <a:gd name="connsiteY1" fmla="*/ 0 h 329300"/>
              <a:gd name="connsiteX0" fmla="*/ 0 w 3104310"/>
              <a:gd name="connsiteY0" fmla="*/ 330476 h 330724"/>
              <a:gd name="connsiteX1" fmla="*/ 3104310 w 3104310"/>
              <a:gd name="connsiteY1" fmla="*/ 1461 h 330724"/>
              <a:gd name="connsiteX0" fmla="*/ 0 w 3104310"/>
              <a:gd name="connsiteY0" fmla="*/ 330552 h 330553"/>
              <a:gd name="connsiteX1" fmla="*/ 3104310 w 3104310"/>
              <a:gd name="connsiteY1" fmla="*/ 1537 h 330553"/>
              <a:gd name="connsiteX0" fmla="*/ 0 w 3104310"/>
              <a:gd name="connsiteY0" fmla="*/ 330514 h 330518"/>
              <a:gd name="connsiteX1" fmla="*/ 3104310 w 3104310"/>
              <a:gd name="connsiteY1" fmla="*/ 1499 h 330518"/>
              <a:gd name="connsiteX0" fmla="*/ 0 w 3097047"/>
              <a:gd name="connsiteY0" fmla="*/ 747339 h 747341"/>
              <a:gd name="connsiteX1" fmla="*/ 3097047 w 3097047"/>
              <a:gd name="connsiteY1" fmla="*/ 711 h 747341"/>
              <a:gd name="connsiteX0" fmla="*/ 0 w 3097047"/>
              <a:gd name="connsiteY0" fmla="*/ 746628 h 746630"/>
              <a:gd name="connsiteX1" fmla="*/ 3097047 w 3097047"/>
              <a:gd name="connsiteY1" fmla="*/ 0 h 746630"/>
              <a:gd name="connsiteX0" fmla="*/ 0 w 3097047"/>
              <a:gd name="connsiteY0" fmla="*/ 746628 h 746630"/>
              <a:gd name="connsiteX1" fmla="*/ 3097047 w 3097047"/>
              <a:gd name="connsiteY1" fmla="*/ 0 h 746630"/>
              <a:gd name="connsiteX0" fmla="*/ 0 w 3097047"/>
              <a:gd name="connsiteY0" fmla="*/ 746628 h 746628"/>
              <a:gd name="connsiteX1" fmla="*/ 3097047 w 3097047"/>
              <a:gd name="connsiteY1" fmla="*/ 0 h 746628"/>
              <a:gd name="connsiteX0" fmla="*/ 0 w 3097047"/>
              <a:gd name="connsiteY0" fmla="*/ 746938 h 746938"/>
              <a:gd name="connsiteX1" fmla="*/ 3097047 w 3097047"/>
              <a:gd name="connsiteY1" fmla="*/ 310 h 746938"/>
              <a:gd name="connsiteX0" fmla="*/ 0 w 3097047"/>
              <a:gd name="connsiteY0" fmla="*/ 746930 h 746932"/>
              <a:gd name="connsiteX1" fmla="*/ 3097047 w 3097047"/>
              <a:gd name="connsiteY1" fmla="*/ 302 h 746932"/>
              <a:gd name="connsiteX0" fmla="*/ 0 w 3100678"/>
              <a:gd name="connsiteY0" fmla="*/ 0 h 787857"/>
              <a:gd name="connsiteX1" fmla="*/ 3100678 w 3100678"/>
              <a:gd name="connsiteY1" fmla="*/ 787857 h 787857"/>
              <a:gd name="connsiteX0" fmla="*/ 0 w 3100678"/>
              <a:gd name="connsiteY0" fmla="*/ 0 h 787857"/>
              <a:gd name="connsiteX1" fmla="*/ 3100678 w 3100678"/>
              <a:gd name="connsiteY1" fmla="*/ 787857 h 787857"/>
              <a:gd name="connsiteX0" fmla="*/ 0 w 3100678"/>
              <a:gd name="connsiteY0" fmla="*/ 64 h 787921"/>
              <a:gd name="connsiteX1" fmla="*/ 3100678 w 3100678"/>
              <a:gd name="connsiteY1" fmla="*/ 787921 h 787921"/>
              <a:gd name="connsiteX0" fmla="*/ 0 w 3100678"/>
              <a:gd name="connsiteY0" fmla="*/ 64 h 787923"/>
              <a:gd name="connsiteX1" fmla="*/ 3100678 w 3100678"/>
              <a:gd name="connsiteY1" fmla="*/ 787921 h 787923"/>
              <a:gd name="connsiteX0" fmla="*/ 0 w 3328991"/>
              <a:gd name="connsiteY0" fmla="*/ 64 h 845795"/>
              <a:gd name="connsiteX1" fmla="*/ 3100678 w 3328991"/>
              <a:gd name="connsiteY1" fmla="*/ 787921 h 845795"/>
              <a:gd name="connsiteX2" fmla="*/ 3095901 w 3328991"/>
              <a:gd name="connsiteY2" fmla="*/ 786225 h 845795"/>
              <a:gd name="connsiteX0" fmla="*/ 0 w 3346010"/>
              <a:gd name="connsiteY0" fmla="*/ 64 h 820441"/>
              <a:gd name="connsiteX1" fmla="*/ 3100678 w 3346010"/>
              <a:gd name="connsiteY1" fmla="*/ 787921 h 820441"/>
              <a:gd name="connsiteX2" fmla="*/ 3157635 w 3346010"/>
              <a:gd name="connsiteY2" fmla="*/ 611410 h 820441"/>
              <a:gd name="connsiteX0" fmla="*/ 96605 w 3254241"/>
              <a:gd name="connsiteY0" fmla="*/ 66 h 802690"/>
              <a:gd name="connsiteX1" fmla="*/ 2227701 w 3254241"/>
              <a:gd name="connsiteY1" fmla="*/ 768499 h 802690"/>
              <a:gd name="connsiteX2" fmla="*/ 3254240 w 3254241"/>
              <a:gd name="connsiteY2" fmla="*/ 611412 h 802690"/>
              <a:gd name="connsiteX0" fmla="*/ 0 w 3157636"/>
              <a:gd name="connsiteY0" fmla="*/ 78 h 802704"/>
              <a:gd name="connsiteX1" fmla="*/ 2131096 w 3157636"/>
              <a:gd name="connsiteY1" fmla="*/ 768511 h 802704"/>
              <a:gd name="connsiteX2" fmla="*/ 3157635 w 3157636"/>
              <a:gd name="connsiteY2" fmla="*/ 611424 h 802704"/>
              <a:gd name="connsiteX0" fmla="*/ 0 w 3088640"/>
              <a:gd name="connsiteY0" fmla="*/ 78 h 835624"/>
              <a:gd name="connsiteX1" fmla="*/ 2131096 w 3088640"/>
              <a:gd name="connsiteY1" fmla="*/ 768511 h 835624"/>
              <a:gd name="connsiteX2" fmla="*/ 3088639 w 3088640"/>
              <a:gd name="connsiteY2" fmla="*/ 795950 h 835624"/>
              <a:gd name="connsiteX0" fmla="*/ 0 w 3088639"/>
              <a:gd name="connsiteY0" fmla="*/ 106 h 795978"/>
              <a:gd name="connsiteX1" fmla="*/ 798375 w 3088639"/>
              <a:gd name="connsiteY1" fmla="*/ 603436 h 795978"/>
              <a:gd name="connsiteX2" fmla="*/ 3088639 w 3088639"/>
              <a:gd name="connsiteY2" fmla="*/ 795978 h 795978"/>
              <a:gd name="connsiteX0" fmla="*/ 0 w 3088639"/>
              <a:gd name="connsiteY0" fmla="*/ 100 h 795973"/>
              <a:gd name="connsiteX1" fmla="*/ 798375 w 3088639"/>
              <a:gd name="connsiteY1" fmla="*/ 603430 h 795973"/>
              <a:gd name="connsiteX2" fmla="*/ 3088639 w 3088639"/>
              <a:gd name="connsiteY2" fmla="*/ 795972 h 795973"/>
              <a:gd name="connsiteX0" fmla="*/ 0 w 3088639"/>
              <a:gd name="connsiteY0" fmla="*/ 86 h 795982"/>
              <a:gd name="connsiteX1" fmla="*/ 932736 w 3088639"/>
              <a:gd name="connsiteY1" fmla="*/ 690824 h 795982"/>
              <a:gd name="connsiteX2" fmla="*/ 3088639 w 3088639"/>
              <a:gd name="connsiteY2" fmla="*/ 795958 h 795982"/>
              <a:gd name="connsiteX0" fmla="*/ 0 w 3088639"/>
              <a:gd name="connsiteY0" fmla="*/ 0 h 795896"/>
              <a:gd name="connsiteX1" fmla="*/ 932736 w 3088639"/>
              <a:gd name="connsiteY1" fmla="*/ 690738 h 795896"/>
              <a:gd name="connsiteX2" fmla="*/ 3088639 w 3088639"/>
              <a:gd name="connsiteY2" fmla="*/ 795872 h 795896"/>
              <a:gd name="connsiteX0" fmla="*/ 0 w 3085008"/>
              <a:gd name="connsiteY0" fmla="*/ 0 h 690740"/>
              <a:gd name="connsiteX1" fmla="*/ 932736 w 3085008"/>
              <a:gd name="connsiteY1" fmla="*/ 690738 h 690740"/>
              <a:gd name="connsiteX2" fmla="*/ 3085008 w 3085008"/>
              <a:gd name="connsiteY2" fmla="*/ 9206 h 690740"/>
              <a:gd name="connsiteX0" fmla="*/ 0 w 3085008"/>
              <a:gd name="connsiteY0" fmla="*/ 0 h 593622"/>
              <a:gd name="connsiteX1" fmla="*/ 932736 w 3085008"/>
              <a:gd name="connsiteY1" fmla="*/ 593619 h 593622"/>
              <a:gd name="connsiteX2" fmla="*/ 3085008 w 3085008"/>
              <a:gd name="connsiteY2" fmla="*/ 9206 h 593622"/>
              <a:gd name="connsiteX0" fmla="*/ 0 w 3085008"/>
              <a:gd name="connsiteY0" fmla="*/ 0 h 595369"/>
              <a:gd name="connsiteX1" fmla="*/ 932736 w 3085008"/>
              <a:gd name="connsiteY1" fmla="*/ 593619 h 595369"/>
              <a:gd name="connsiteX2" fmla="*/ 3085008 w 3085008"/>
              <a:gd name="connsiteY2" fmla="*/ 9206 h 595369"/>
              <a:gd name="connsiteX0" fmla="*/ 0 w 3085008"/>
              <a:gd name="connsiteY0" fmla="*/ 0 h 595367"/>
              <a:gd name="connsiteX1" fmla="*/ 932736 w 3085008"/>
              <a:gd name="connsiteY1" fmla="*/ 593619 h 595367"/>
              <a:gd name="connsiteX2" fmla="*/ 3085008 w 3085008"/>
              <a:gd name="connsiteY2" fmla="*/ 9206 h 595367"/>
              <a:gd name="connsiteX0" fmla="*/ 0 w 3245462"/>
              <a:gd name="connsiteY0" fmla="*/ 31441 h 626809"/>
              <a:gd name="connsiteX1" fmla="*/ 932736 w 3245462"/>
              <a:gd name="connsiteY1" fmla="*/ 625060 h 626809"/>
              <a:gd name="connsiteX2" fmla="*/ 3085008 w 3245462"/>
              <a:gd name="connsiteY2" fmla="*/ 40647 h 626809"/>
              <a:gd name="connsiteX3" fmla="*/ 3088575 w 3245462"/>
              <a:gd name="connsiteY3" fmla="*/ 50186 h 626809"/>
              <a:gd name="connsiteX0" fmla="*/ 0 w 3253437"/>
              <a:gd name="connsiteY0" fmla="*/ 4355 h 599723"/>
              <a:gd name="connsiteX1" fmla="*/ 932736 w 3253437"/>
              <a:gd name="connsiteY1" fmla="*/ 597974 h 599723"/>
              <a:gd name="connsiteX2" fmla="*/ 3085008 w 3253437"/>
              <a:gd name="connsiteY2" fmla="*/ 13561 h 599723"/>
              <a:gd name="connsiteX3" fmla="*/ 3117626 w 3253437"/>
              <a:gd name="connsiteY3" fmla="*/ 363017 h 599723"/>
              <a:gd name="connsiteX0" fmla="*/ 0 w 3253437"/>
              <a:gd name="connsiteY0" fmla="*/ 4353 h 599721"/>
              <a:gd name="connsiteX1" fmla="*/ 932736 w 3253437"/>
              <a:gd name="connsiteY1" fmla="*/ 597972 h 599721"/>
              <a:gd name="connsiteX2" fmla="*/ 3085008 w 3253437"/>
              <a:gd name="connsiteY2" fmla="*/ 13559 h 599721"/>
              <a:gd name="connsiteX3" fmla="*/ 3117626 w 3253437"/>
              <a:gd name="connsiteY3" fmla="*/ 363015 h 599721"/>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95368"/>
              <a:gd name="connsiteX1" fmla="*/ 932736 w 3085008"/>
              <a:gd name="connsiteY1" fmla="*/ 593619 h 595368"/>
              <a:gd name="connsiteX2" fmla="*/ 3085008 w 3085008"/>
              <a:gd name="connsiteY2" fmla="*/ 9206 h 595368"/>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7285"/>
              <a:gd name="connsiteX1" fmla="*/ 772955 w 3085008"/>
              <a:gd name="connsiteY1" fmla="*/ 535347 h 537285"/>
              <a:gd name="connsiteX2" fmla="*/ 3085008 w 3085008"/>
              <a:gd name="connsiteY2" fmla="*/ 9206 h 537285"/>
              <a:gd name="connsiteX0" fmla="*/ 0 w 3085008"/>
              <a:gd name="connsiteY0" fmla="*/ 0 h 535350"/>
              <a:gd name="connsiteX1" fmla="*/ 772955 w 3085008"/>
              <a:gd name="connsiteY1" fmla="*/ 535347 h 535350"/>
              <a:gd name="connsiteX2" fmla="*/ 3085008 w 3085008"/>
              <a:gd name="connsiteY2" fmla="*/ 9206 h 535350"/>
              <a:gd name="connsiteX0" fmla="*/ 1207605 w 2346186"/>
              <a:gd name="connsiteY0" fmla="*/ 0 h 972386"/>
              <a:gd name="connsiteX1" fmla="*/ 34133 w 2346186"/>
              <a:gd name="connsiteY1" fmla="*/ 972383 h 972386"/>
              <a:gd name="connsiteX2" fmla="*/ 2346186 w 2346186"/>
              <a:gd name="connsiteY2" fmla="*/ 446242 h 972386"/>
              <a:gd name="connsiteX0" fmla="*/ 41748 w 1180329"/>
              <a:gd name="connsiteY0" fmla="*/ 0 h 545080"/>
              <a:gd name="connsiteX1" fmla="*/ 230049 w 1180329"/>
              <a:gd name="connsiteY1" fmla="*/ 545059 h 545080"/>
              <a:gd name="connsiteX2" fmla="*/ 1180329 w 1180329"/>
              <a:gd name="connsiteY2" fmla="*/ 446242 h 545080"/>
              <a:gd name="connsiteX0" fmla="*/ 232937 w 1070112"/>
              <a:gd name="connsiteY0" fmla="*/ 0 h 1077954"/>
              <a:gd name="connsiteX1" fmla="*/ 421238 w 1070112"/>
              <a:gd name="connsiteY1" fmla="*/ 545059 h 1077954"/>
              <a:gd name="connsiteX2" fmla="*/ 1070112 w 1070112"/>
              <a:gd name="connsiteY2" fmla="*/ 1077516 h 1077954"/>
              <a:gd name="connsiteX0" fmla="*/ 0 w 837175"/>
              <a:gd name="connsiteY0" fmla="*/ 0 h 1077517"/>
              <a:gd name="connsiteX1" fmla="*/ 188301 w 837175"/>
              <a:gd name="connsiteY1" fmla="*/ 545059 h 1077517"/>
              <a:gd name="connsiteX2" fmla="*/ 837175 w 837175"/>
              <a:gd name="connsiteY2" fmla="*/ 1077516 h 1077517"/>
              <a:gd name="connsiteX0" fmla="*/ 0 w 837175"/>
              <a:gd name="connsiteY0" fmla="*/ 0 h 1077515"/>
              <a:gd name="connsiteX1" fmla="*/ 188301 w 837175"/>
              <a:gd name="connsiteY1" fmla="*/ 545059 h 1077515"/>
              <a:gd name="connsiteX2" fmla="*/ 837175 w 837175"/>
              <a:gd name="connsiteY2" fmla="*/ 1077516 h 1077515"/>
              <a:gd name="connsiteX0" fmla="*/ 0 w 782704"/>
              <a:gd name="connsiteY0" fmla="*/ 0 h 1145500"/>
              <a:gd name="connsiteX1" fmla="*/ 133830 w 782704"/>
              <a:gd name="connsiteY1" fmla="*/ 613042 h 1145500"/>
              <a:gd name="connsiteX2" fmla="*/ 782704 w 782704"/>
              <a:gd name="connsiteY2" fmla="*/ 1145499 h 1145500"/>
              <a:gd name="connsiteX0" fmla="*/ 31539 w 814243"/>
              <a:gd name="connsiteY0" fmla="*/ 0 h 1145498"/>
              <a:gd name="connsiteX1" fmla="*/ 165369 w 814243"/>
              <a:gd name="connsiteY1" fmla="*/ 613042 h 1145498"/>
              <a:gd name="connsiteX2" fmla="*/ 814243 w 814243"/>
              <a:gd name="connsiteY2" fmla="*/ 1145499 h 1145498"/>
              <a:gd name="connsiteX0" fmla="*/ 31539 w 389370"/>
              <a:gd name="connsiteY0" fmla="*/ 0 h 1232907"/>
              <a:gd name="connsiteX1" fmla="*/ 165369 w 389370"/>
              <a:gd name="connsiteY1" fmla="*/ 613042 h 1232907"/>
              <a:gd name="connsiteX2" fmla="*/ 389370 w 389370"/>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381765"/>
              <a:gd name="connsiteY0" fmla="*/ 0 h 1232907"/>
              <a:gd name="connsiteX1" fmla="*/ 157764 w 381765"/>
              <a:gd name="connsiteY1" fmla="*/ 613042 h 1232907"/>
              <a:gd name="connsiteX2" fmla="*/ 381765 w 381765"/>
              <a:gd name="connsiteY2" fmla="*/ 1232907 h 1232907"/>
              <a:gd name="connsiteX0" fmla="*/ 23934 w 157764"/>
              <a:gd name="connsiteY0" fmla="*/ 0 h 613042"/>
              <a:gd name="connsiteX1" fmla="*/ 157764 w 157764"/>
              <a:gd name="connsiteY1" fmla="*/ 613042 h 613042"/>
              <a:gd name="connsiteX0" fmla="*/ 0 w 246403"/>
              <a:gd name="connsiteY0" fmla="*/ 0 h 1108350"/>
              <a:gd name="connsiteX1" fmla="*/ 246403 w 246403"/>
              <a:gd name="connsiteY1" fmla="*/ 1108350 h 1108350"/>
              <a:gd name="connsiteX0" fmla="*/ 0 w 246403"/>
              <a:gd name="connsiteY0" fmla="*/ 0 h 1108350"/>
              <a:gd name="connsiteX1" fmla="*/ 246403 w 246403"/>
              <a:gd name="connsiteY1" fmla="*/ 1108350 h 1108350"/>
              <a:gd name="connsiteX0" fmla="*/ 0 w 268191"/>
              <a:gd name="connsiteY0" fmla="*/ 0 h 1224893"/>
              <a:gd name="connsiteX1" fmla="*/ 268191 w 268191"/>
              <a:gd name="connsiteY1" fmla="*/ 1224893 h 1224893"/>
              <a:gd name="connsiteX0" fmla="*/ 0 w 268191"/>
              <a:gd name="connsiteY0" fmla="*/ 0 h 1224893"/>
              <a:gd name="connsiteX1" fmla="*/ 268191 w 268191"/>
              <a:gd name="connsiteY1" fmla="*/ 1224893 h 1224893"/>
              <a:gd name="connsiteX0" fmla="*/ 0 w 300874"/>
              <a:gd name="connsiteY0" fmla="*/ 0 h 1700777"/>
              <a:gd name="connsiteX1" fmla="*/ 300874 w 300874"/>
              <a:gd name="connsiteY1" fmla="*/ 1700777 h 1700777"/>
              <a:gd name="connsiteX0" fmla="*/ 0 w 319031"/>
              <a:gd name="connsiteY0" fmla="*/ 0 h 1749337"/>
              <a:gd name="connsiteX1" fmla="*/ 319031 w 319031"/>
              <a:gd name="connsiteY1" fmla="*/ 1749337 h 1749337"/>
              <a:gd name="connsiteX0" fmla="*/ 0 w 319031"/>
              <a:gd name="connsiteY0" fmla="*/ 0 h 1749337"/>
              <a:gd name="connsiteX1" fmla="*/ 319031 w 319031"/>
              <a:gd name="connsiteY1" fmla="*/ 1749337 h 1749337"/>
              <a:gd name="connsiteX0" fmla="*/ 0 w 366239"/>
              <a:gd name="connsiteY0" fmla="*/ 0 h 1875592"/>
              <a:gd name="connsiteX1" fmla="*/ 366239 w 366239"/>
              <a:gd name="connsiteY1" fmla="*/ 1875592 h 1875592"/>
              <a:gd name="connsiteX0" fmla="*/ 0 w 408364"/>
              <a:gd name="connsiteY0" fmla="*/ 0 h 1679236"/>
              <a:gd name="connsiteX1" fmla="*/ 408364 w 408364"/>
              <a:gd name="connsiteY1" fmla="*/ 1679236 h 1679236"/>
              <a:gd name="connsiteX0" fmla="*/ 0 w 408364"/>
              <a:gd name="connsiteY0" fmla="*/ 0 h 1776726"/>
              <a:gd name="connsiteX1" fmla="*/ 408364 w 408364"/>
              <a:gd name="connsiteY1" fmla="*/ 1679236 h 1776726"/>
              <a:gd name="connsiteX0" fmla="*/ 0 w 459850"/>
              <a:gd name="connsiteY0" fmla="*/ 0 h 1681277"/>
              <a:gd name="connsiteX1" fmla="*/ 459850 w 459850"/>
              <a:gd name="connsiteY1" fmla="*/ 1577131 h 1681277"/>
              <a:gd name="connsiteX0" fmla="*/ 0 w 459850"/>
              <a:gd name="connsiteY0" fmla="*/ 0 h 1917866"/>
              <a:gd name="connsiteX1" fmla="*/ 459850 w 459850"/>
              <a:gd name="connsiteY1" fmla="*/ 1577131 h 1917866"/>
              <a:gd name="connsiteX0" fmla="*/ 0 w 773449"/>
              <a:gd name="connsiteY0" fmla="*/ 0 h 1590845"/>
              <a:gd name="connsiteX1" fmla="*/ 773449 w 773449"/>
              <a:gd name="connsiteY1" fmla="*/ 1192274 h 1590845"/>
              <a:gd name="connsiteX0" fmla="*/ 0 w 773449"/>
              <a:gd name="connsiteY0" fmla="*/ 0 h 1582461"/>
              <a:gd name="connsiteX1" fmla="*/ 773449 w 773449"/>
              <a:gd name="connsiteY1" fmla="*/ 1192274 h 1582461"/>
              <a:gd name="connsiteX0" fmla="*/ 0 w 810894"/>
              <a:gd name="connsiteY0" fmla="*/ 0 h 1802302"/>
              <a:gd name="connsiteX1" fmla="*/ 810894 w 810894"/>
              <a:gd name="connsiteY1" fmla="*/ 1451463 h 1802302"/>
              <a:gd name="connsiteX0" fmla="*/ 0 w 1166618"/>
              <a:gd name="connsiteY0" fmla="*/ 0 h 2176080"/>
              <a:gd name="connsiteX1" fmla="*/ 1166618 w 1166618"/>
              <a:gd name="connsiteY1" fmla="*/ 1875591 h 2176080"/>
              <a:gd name="connsiteX0" fmla="*/ 0 w 1166618"/>
              <a:gd name="connsiteY0" fmla="*/ 0 h 2368755"/>
              <a:gd name="connsiteX1" fmla="*/ 1166618 w 1166618"/>
              <a:gd name="connsiteY1" fmla="*/ 1875591 h 2368755"/>
              <a:gd name="connsiteX0" fmla="*/ 0 w 1016839"/>
              <a:gd name="connsiteY0" fmla="*/ 0 h 2736089"/>
              <a:gd name="connsiteX1" fmla="*/ 1016839 w 1016839"/>
              <a:gd name="connsiteY1" fmla="*/ 2291865 h 2736089"/>
              <a:gd name="connsiteX0" fmla="*/ 0 w 998117"/>
              <a:gd name="connsiteY0" fmla="*/ 0 h 2540793"/>
              <a:gd name="connsiteX1" fmla="*/ 998117 w 998117"/>
              <a:gd name="connsiteY1" fmla="*/ 2071947 h 2540793"/>
              <a:gd name="connsiteX0" fmla="*/ 0 w 932589"/>
              <a:gd name="connsiteY0" fmla="*/ 0 h 2375590"/>
              <a:gd name="connsiteX1" fmla="*/ 932589 w 932589"/>
              <a:gd name="connsiteY1" fmla="*/ 1883446 h 2375590"/>
              <a:gd name="connsiteX0" fmla="*/ 0 w 932589"/>
              <a:gd name="connsiteY0" fmla="*/ 0 h 2253150"/>
              <a:gd name="connsiteX1" fmla="*/ 932589 w 932589"/>
              <a:gd name="connsiteY1" fmla="*/ 1883446 h 2253150"/>
              <a:gd name="connsiteX0" fmla="*/ 0 w 890464"/>
              <a:gd name="connsiteY0" fmla="*/ 0 h 2046209"/>
              <a:gd name="connsiteX1" fmla="*/ 890464 w 890464"/>
              <a:gd name="connsiteY1" fmla="*/ 1647819 h 2046209"/>
              <a:gd name="connsiteX0" fmla="*/ 0 w 867061"/>
              <a:gd name="connsiteY0" fmla="*/ 0 h 2066714"/>
              <a:gd name="connsiteX1" fmla="*/ 867061 w 867061"/>
              <a:gd name="connsiteY1" fmla="*/ 1671382 h 2066714"/>
              <a:gd name="connsiteX0" fmla="*/ 0 w 670476"/>
              <a:gd name="connsiteY0" fmla="*/ 0 h 2156069"/>
              <a:gd name="connsiteX1" fmla="*/ 670476 w 670476"/>
              <a:gd name="connsiteY1" fmla="*/ 1773487 h 2156069"/>
              <a:gd name="connsiteX0" fmla="*/ 0 w 670476"/>
              <a:gd name="connsiteY0" fmla="*/ 0 h 2284900"/>
              <a:gd name="connsiteX1" fmla="*/ 670476 w 670476"/>
              <a:gd name="connsiteY1" fmla="*/ 1773487 h 2284900"/>
              <a:gd name="connsiteX0" fmla="*/ 0 w 609989"/>
              <a:gd name="connsiteY0" fmla="*/ 401529 h 1404271"/>
              <a:gd name="connsiteX1" fmla="*/ 609989 w 609989"/>
              <a:gd name="connsiteY1" fmla="*/ 1 h 1404271"/>
              <a:gd name="connsiteX0" fmla="*/ 512813 w 513061"/>
              <a:gd name="connsiteY0" fmla="*/ 0 h 1960050"/>
              <a:gd name="connsiteX1" fmla="*/ 77231 w 513061"/>
              <a:gd name="connsiteY1" fmla="*/ 1352983 h 1960050"/>
              <a:gd name="connsiteX0" fmla="*/ 115126 w 146163"/>
              <a:gd name="connsiteY0" fmla="*/ 0 h 1773483"/>
              <a:gd name="connsiteX1" fmla="*/ 146163 w 146163"/>
              <a:gd name="connsiteY1" fmla="*/ 1091982 h 1773483"/>
              <a:gd name="connsiteX0" fmla="*/ 406882 w 437919"/>
              <a:gd name="connsiteY0" fmla="*/ 0 h 1091982"/>
              <a:gd name="connsiteX1" fmla="*/ 437919 w 437919"/>
              <a:gd name="connsiteY1" fmla="*/ 1091982 h 1091982"/>
              <a:gd name="connsiteX0" fmla="*/ 429225 w 460262"/>
              <a:gd name="connsiteY0" fmla="*/ 477440 h 1569422"/>
              <a:gd name="connsiteX1" fmla="*/ 460262 w 460262"/>
              <a:gd name="connsiteY1" fmla="*/ 1569422 h 1569422"/>
              <a:gd name="connsiteX0" fmla="*/ 441578 w 455333"/>
              <a:gd name="connsiteY0" fmla="*/ 474335 h 1580817"/>
              <a:gd name="connsiteX1" fmla="*/ 455333 w 455333"/>
              <a:gd name="connsiteY1" fmla="*/ 1580817 h 1580817"/>
              <a:gd name="connsiteX0" fmla="*/ 380269 w 394024"/>
              <a:gd name="connsiteY0" fmla="*/ 380243 h 1486725"/>
              <a:gd name="connsiteX1" fmla="*/ 394024 w 394024"/>
              <a:gd name="connsiteY1" fmla="*/ 1486725 h 1486725"/>
              <a:gd name="connsiteX0" fmla="*/ 322844 w 336599"/>
              <a:gd name="connsiteY0" fmla="*/ 453380 h 1559862"/>
              <a:gd name="connsiteX1" fmla="*/ 336599 w 336599"/>
              <a:gd name="connsiteY1" fmla="*/ 1559862 h 1559862"/>
              <a:gd name="connsiteX0" fmla="*/ 824520 w 824520"/>
              <a:gd name="connsiteY0" fmla="*/ 383139 h 1902527"/>
              <a:gd name="connsiteX1" fmla="*/ 217761 w 824520"/>
              <a:gd name="connsiteY1" fmla="*/ 1902528 h 1902527"/>
              <a:gd name="connsiteX0" fmla="*/ 606759 w 606759"/>
              <a:gd name="connsiteY0" fmla="*/ 400287 h 1919676"/>
              <a:gd name="connsiteX1" fmla="*/ 0 w 606759"/>
              <a:gd name="connsiteY1" fmla="*/ 1919676 h 1919676"/>
              <a:gd name="connsiteX0" fmla="*/ 724443 w 724443"/>
              <a:gd name="connsiteY0" fmla="*/ 376317 h 2057279"/>
              <a:gd name="connsiteX1" fmla="*/ 0 w 724443"/>
              <a:gd name="connsiteY1" fmla="*/ 2057279 h 2057279"/>
              <a:gd name="connsiteX0" fmla="*/ 949112 w 949112"/>
              <a:gd name="connsiteY0" fmla="*/ 958655 h 958655"/>
              <a:gd name="connsiteX1" fmla="*/ 0 w 949112"/>
              <a:gd name="connsiteY1" fmla="*/ 766768 h 958655"/>
              <a:gd name="connsiteX0" fmla="*/ 949112 w 949112"/>
              <a:gd name="connsiteY0" fmla="*/ 663780 h 663780"/>
              <a:gd name="connsiteX1" fmla="*/ 0 w 949112"/>
              <a:gd name="connsiteY1" fmla="*/ 471893 h 663780"/>
              <a:gd name="connsiteX0" fmla="*/ 1014338 w 1014338"/>
              <a:gd name="connsiteY0" fmla="*/ 898142 h 898142"/>
              <a:gd name="connsiteX1" fmla="*/ 0 w 1014338"/>
              <a:gd name="connsiteY1" fmla="*/ 256285 h 898142"/>
              <a:gd name="connsiteX0" fmla="*/ 1014338 w 1014338"/>
              <a:gd name="connsiteY0" fmla="*/ 815503 h 815503"/>
              <a:gd name="connsiteX1" fmla="*/ 0 w 1014338"/>
              <a:gd name="connsiteY1" fmla="*/ 173646 h 815503"/>
              <a:gd name="connsiteX0" fmla="*/ 1014338 w 1014338"/>
              <a:gd name="connsiteY0" fmla="*/ 691536 h 691536"/>
              <a:gd name="connsiteX1" fmla="*/ 0 w 1014338"/>
              <a:gd name="connsiteY1" fmla="*/ 49679 h 691536"/>
              <a:gd name="connsiteX0" fmla="*/ 1231759 w 1231759"/>
              <a:gd name="connsiteY0" fmla="*/ 780462 h 780462"/>
              <a:gd name="connsiteX1" fmla="*/ 0 w 1231759"/>
              <a:gd name="connsiteY1" fmla="*/ 41315 h 780462"/>
              <a:gd name="connsiteX0" fmla="*/ 122910 w 146147"/>
              <a:gd name="connsiteY0" fmla="*/ 81967 h 1933189"/>
              <a:gd name="connsiteX1" fmla="*/ 0 w 146147"/>
              <a:gd name="connsiteY1" fmla="*/ 1933189 h 1933189"/>
              <a:gd name="connsiteX0" fmla="*/ 434637 w 434637"/>
              <a:gd name="connsiteY0" fmla="*/ 93759 h 1944981"/>
              <a:gd name="connsiteX1" fmla="*/ 311727 w 434637"/>
              <a:gd name="connsiteY1" fmla="*/ 1944981 h 1944981"/>
              <a:gd name="connsiteX0" fmla="*/ 17008 w 1227612"/>
              <a:gd name="connsiteY0" fmla="*/ 66895 h 2830219"/>
              <a:gd name="connsiteX1" fmla="*/ 1227612 w 1227612"/>
              <a:gd name="connsiteY1" fmla="*/ 2830219 h 2830219"/>
              <a:gd name="connsiteX0" fmla="*/ 63466 w 1274070"/>
              <a:gd name="connsiteY0" fmla="*/ -1 h 2763323"/>
              <a:gd name="connsiteX1" fmla="*/ 1274070 w 1274070"/>
              <a:gd name="connsiteY1" fmla="*/ 2763323 h 2763323"/>
              <a:gd name="connsiteX0" fmla="*/ 53712 w 1459995"/>
              <a:gd name="connsiteY0" fmla="*/ 0 h 1352608"/>
              <a:gd name="connsiteX1" fmla="*/ 1459995 w 1459995"/>
              <a:gd name="connsiteY1" fmla="*/ 1352608 h 1352608"/>
              <a:gd name="connsiteX0" fmla="*/ 45802 w 1669505"/>
              <a:gd name="connsiteY0" fmla="*/ 0 h 1632319"/>
              <a:gd name="connsiteX1" fmla="*/ 1669505 w 1669505"/>
              <a:gd name="connsiteY1" fmla="*/ 1632319 h 1632319"/>
              <a:gd name="connsiteX0" fmla="*/ 46724 w 1641438"/>
              <a:gd name="connsiteY0" fmla="*/ 0 h 1766094"/>
              <a:gd name="connsiteX1" fmla="*/ 1641438 w 1641438"/>
              <a:gd name="connsiteY1" fmla="*/ 1766094 h 1766094"/>
              <a:gd name="connsiteX0" fmla="*/ 42025 w 1636739"/>
              <a:gd name="connsiteY0" fmla="*/ 0 h 1781888"/>
              <a:gd name="connsiteX1" fmla="*/ 1636739 w 1636739"/>
              <a:gd name="connsiteY1" fmla="*/ 1766094 h 1781888"/>
              <a:gd name="connsiteX0" fmla="*/ 53938 w 1648652"/>
              <a:gd name="connsiteY0" fmla="*/ 0 h 1766094"/>
              <a:gd name="connsiteX1" fmla="*/ 1648652 w 1648652"/>
              <a:gd name="connsiteY1" fmla="*/ 1766094 h 1766094"/>
              <a:gd name="connsiteX0" fmla="*/ 0 w 1594714"/>
              <a:gd name="connsiteY0" fmla="*/ 0 h 1766094"/>
              <a:gd name="connsiteX1" fmla="*/ 1594714 w 1594714"/>
              <a:gd name="connsiteY1" fmla="*/ 1766094 h 1766094"/>
              <a:gd name="connsiteX0" fmla="*/ 0 w 1594714"/>
              <a:gd name="connsiteY0" fmla="*/ 0 h 2021483"/>
              <a:gd name="connsiteX1" fmla="*/ 1594714 w 1594714"/>
              <a:gd name="connsiteY1" fmla="*/ 2021483 h 2021483"/>
            </a:gdLst>
            <a:ahLst/>
            <a:cxnLst>
              <a:cxn ang="0">
                <a:pos x="connsiteX0" y="connsiteY0"/>
              </a:cxn>
              <a:cxn ang="0">
                <a:pos x="connsiteX1" y="connsiteY1"/>
              </a:cxn>
            </a:cxnLst>
            <a:rect l="l" t="t" r="r" b="b"/>
            <a:pathLst>
              <a:path w="1594714" h="2021483">
                <a:moveTo>
                  <a:pt x="0" y="0"/>
                </a:moveTo>
                <a:cubicBezTo>
                  <a:pt x="15234" y="1014053"/>
                  <a:pt x="683850" y="2009007"/>
                  <a:pt x="1594714" y="2021483"/>
                </a:cubicBezTo>
              </a:path>
            </a:pathLst>
          </a:custGeom>
          <a:noFill/>
          <a:ln w="38100">
            <a:solidFill>
              <a:srgbClr val="768395"/>
            </a:solidFill>
            <a:prstDash val="sysDot"/>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29" name="虚轴">
            <a:extLst>
              <a:ext uri="{FF2B5EF4-FFF2-40B4-BE49-F238E27FC236}">
                <a16:creationId xmlns:a16="http://schemas.microsoft.com/office/drawing/2014/main" id="{8B222398-2EF6-35BB-4D59-7FDE8B5D74F8}"/>
              </a:ext>
            </a:extLst>
          </p:cNvPr>
          <p:cNvCxnSpPr>
            <a:cxnSpLocks/>
            <a:stCxn id="27" idx="1"/>
            <a:endCxn id="28" idx="0"/>
          </p:cNvCxnSpPr>
          <p:nvPr/>
        </p:nvCxnSpPr>
        <p:spPr>
          <a:xfrm flipH="1" flipV="1">
            <a:off x="6581850" y="4089639"/>
            <a:ext cx="515934" cy="663642"/>
          </a:xfrm>
          <a:prstGeom prst="straightConnector1">
            <a:avLst/>
          </a:prstGeom>
          <a:ln w="38100">
            <a:solidFill>
              <a:srgbClr val="768395"/>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
                <a:extLst>
                  <a:ext uri="{FF2B5EF4-FFF2-40B4-BE49-F238E27FC236}">
                    <a16:creationId xmlns:a16="http://schemas.microsoft.com/office/drawing/2014/main" id="{9A3A79C7-3755-B380-2BC0-72B06A242C2C}"/>
                  </a:ext>
                </a:extLst>
              </p:cNvPr>
              <p:cNvSpPr txBox="1"/>
              <p:nvPr/>
            </p:nvSpPr>
            <p:spPr>
              <a:xfrm>
                <a:off x="4356327" y="3836726"/>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=0</m:t>
                      </m:r>
                    </m:oMath>
                  </m:oMathPara>
                </a14:m>
                <a:endParaRPr lang="zh-CN" altLang="en-US" sz="2800" dirty="0"/>
              </a:p>
            </p:txBody>
          </p:sp>
        </mc:Choice>
        <mc:Fallback xmlns="">
          <p:sp>
            <p:nvSpPr>
              <p:cNvPr id="30" name="Re">
                <a:extLst>
                  <a:ext uri="{FF2B5EF4-FFF2-40B4-BE49-F238E27FC236}">
                    <a16:creationId xmlns:a16="http://schemas.microsoft.com/office/drawing/2014/main" id="{9A3A79C7-3755-B380-2BC0-72B06A242C2C}"/>
                  </a:ext>
                </a:extLst>
              </p:cNvPr>
              <p:cNvSpPr txBox="1">
                <a:spLocks noRot="1" noChangeAspect="1" noMove="1" noResize="1" noEditPoints="1" noAdjustHandles="1" noChangeArrowheads="1" noChangeShapeType="1" noTextEdit="1"/>
              </p:cNvSpPr>
              <p:nvPr/>
            </p:nvSpPr>
            <p:spPr>
              <a:xfrm>
                <a:off x="4356327" y="3836726"/>
                <a:ext cx="1549820" cy="523220"/>
              </a:xfrm>
              <a:prstGeom prst="rect">
                <a:avLst/>
              </a:prstGeom>
              <a:blipFill>
                <a:blip r:embed="rId10"/>
                <a:stretch>
                  <a:fillRect/>
                </a:stretch>
              </a:blipFill>
            </p:spPr>
            <p:txBody>
              <a:bodyPr/>
              <a:lstStyle/>
              <a:p>
                <a:r>
                  <a:rPr lang="zh-CN" altLang="en-US">
                    <a:noFill/>
                  </a:rPr>
                  <a:t> </a:t>
                </a:r>
              </a:p>
            </p:txBody>
          </p:sp>
        </mc:Fallback>
      </mc:AlternateContent>
      <p:cxnSp>
        <p:nvCxnSpPr>
          <p:cNvPr id="31" name="实轴">
            <a:extLst>
              <a:ext uri="{FF2B5EF4-FFF2-40B4-BE49-F238E27FC236}">
                <a16:creationId xmlns:a16="http://schemas.microsoft.com/office/drawing/2014/main" id="{F3C44861-EE27-E699-3158-8B2A13672169}"/>
              </a:ext>
            </a:extLst>
          </p:cNvPr>
          <p:cNvCxnSpPr>
            <a:cxnSpLocks/>
          </p:cNvCxnSpPr>
          <p:nvPr/>
        </p:nvCxnSpPr>
        <p:spPr>
          <a:xfrm flipH="1">
            <a:off x="5687889" y="4127873"/>
            <a:ext cx="695349" cy="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
                <a:extLst>
                  <a:ext uri="{FF2B5EF4-FFF2-40B4-BE49-F238E27FC236}">
                    <a16:creationId xmlns:a16="http://schemas.microsoft.com/office/drawing/2014/main" id="{5CDC46E9-1240-E56A-F77A-4DE40123C976}"/>
                  </a:ext>
                </a:extLst>
              </p:cNvPr>
              <p:cNvSpPr txBox="1"/>
              <p:nvPr/>
            </p:nvSpPr>
            <p:spPr>
              <a:xfrm>
                <a:off x="4806992" y="327247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32" name="Re">
                <a:extLst>
                  <a:ext uri="{FF2B5EF4-FFF2-40B4-BE49-F238E27FC236}">
                    <a16:creationId xmlns:a16="http://schemas.microsoft.com/office/drawing/2014/main" id="{5CDC46E9-1240-E56A-F77A-4DE40123C976}"/>
                  </a:ext>
                </a:extLst>
              </p:cNvPr>
              <p:cNvSpPr txBox="1">
                <a:spLocks noRot="1" noChangeAspect="1" noMove="1" noResize="1" noEditPoints="1" noAdjustHandles="1" noChangeArrowheads="1" noChangeShapeType="1" noTextEdit="1"/>
              </p:cNvSpPr>
              <p:nvPr/>
            </p:nvSpPr>
            <p:spPr>
              <a:xfrm>
                <a:off x="4806992" y="3272470"/>
                <a:ext cx="1549820" cy="523220"/>
              </a:xfrm>
              <a:prstGeom prst="rect">
                <a:avLst/>
              </a:prstGeom>
              <a:blipFill>
                <a:blip r:embed="rId11"/>
                <a:stretch>
                  <a:fillRect/>
                </a:stretch>
              </a:blipFill>
            </p:spPr>
            <p:txBody>
              <a:bodyPr/>
              <a:lstStyle/>
              <a:p>
                <a:r>
                  <a:rPr lang="zh-CN" altLang="en-US">
                    <a:noFill/>
                  </a:rPr>
                  <a:t> </a:t>
                </a:r>
              </a:p>
            </p:txBody>
          </p:sp>
        </mc:Fallback>
      </mc:AlternateContent>
      <p:cxnSp>
        <p:nvCxnSpPr>
          <p:cNvPr id="33" name="实轴">
            <a:extLst>
              <a:ext uri="{FF2B5EF4-FFF2-40B4-BE49-F238E27FC236}">
                <a16:creationId xmlns:a16="http://schemas.microsoft.com/office/drawing/2014/main" id="{A1C7D389-CFA4-EBCA-9AE8-705084EB3CDE}"/>
              </a:ext>
            </a:extLst>
          </p:cNvPr>
          <p:cNvCxnSpPr>
            <a:cxnSpLocks/>
          </p:cNvCxnSpPr>
          <p:nvPr/>
        </p:nvCxnSpPr>
        <p:spPr>
          <a:xfrm flipH="1" flipV="1">
            <a:off x="6095206" y="3559622"/>
            <a:ext cx="680347" cy="277104"/>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e">
                <a:extLst>
                  <a:ext uri="{FF2B5EF4-FFF2-40B4-BE49-F238E27FC236}">
                    <a16:creationId xmlns:a16="http://schemas.microsoft.com/office/drawing/2014/main" id="{9B3A52D9-E237-C297-FB41-A352E1183219}"/>
                  </a:ext>
                </a:extLst>
              </p:cNvPr>
              <p:cNvSpPr txBox="1"/>
              <p:nvPr/>
            </p:nvSpPr>
            <p:spPr>
              <a:xfrm>
                <a:off x="8970384" y="3267780"/>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4" name="Re">
                <a:extLst>
                  <a:ext uri="{FF2B5EF4-FFF2-40B4-BE49-F238E27FC236}">
                    <a16:creationId xmlns:a16="http://schemas.microsoft.com/office/drawing/2014/main" id="{9B3A52D9-E237-C297-FB41-A352E1183219}"/>
                  </a:ext>
                </a:extLst>
              </p:cNvPr>
              <p:cNvSpPr txBox="1">
                <a:spLocks noRot="1" noChangeAspect="1" noMove="1" noResize="1" noEditPoints="1" noAdjustHandles="1" noChangeArrowheads="1" noChangeShapeType="1" noTextEdit="1"/>
              </p:cNvSpPr>
              <p:nvPr/>
            </p:nvSpPr>
            <p:spPr>
              <a:xfrm>
                <a:off x="8970384" y="3267780"/>
                <a:ext cx="1549820" cy="52322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Re">
                <a:extLst>
                  <a:ext uri="{FF2B5EF4-FFF2-40B4-BE49-F238E27FC236}">
                    <a16:creationId xmlns:a16="http://schemas.microsoft.com/office/drawing/2014/main" id="{6D470ECD-1EE1-6584-464E-ABC266D86A8A}"/>
                  </a:ext>
                </a:extLst>
              </p:cNvPr>
              <p:cNvSpPr txBox="1"/>
              <p:nvPr/>
            </p:nvSpPr>
            <p:spPr>
              <a:xfrm>
                <a:off x="8979223" y="4736337"/>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i="1">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m:t>
                      </m:r>
                    </m:oMath>
                  </m:oMathPara>
                </a14:m>
                <a:endParaRPr lang="zh-CN" altLang="en-US" sz="2800" dirty="0"/>
              </a:p>
            </p:txBody>
          </p:sp>
        </mc:Choice>
        <mc:Fallback xmlns="">
          <p:sp>
            <p:nvSpPr>
              <p:cNvPr id="35" name="Re">
                <a:extLst>
                  <a:ext uri="{FF2B5EF4-FFF2-40B4-BE49-F238E27FC236}">
                    <a16:creationId xmlns:a16="http://schemas.microsoft.com/office/drawing/2014/main" id="{6D470ECD-1EE1-6584-464E-ABC266D86A8A}"/>
                  </a:ext>
                </a:extLst>
              </p:cNvPr>
              <p:cNvSpPr txBox="1">
                <a:spLocks noRot="1" noChangeAspect="1" noMove="1" noResize="1" noEditPoints="1" noAdjustHandles="1" noChangeArrowheads="1" noChangeShapeType="1" noTextEdit="1"/>
              </p:cNvSpPr>
              <p:nvPr/>
            </p:nvSpPr>
            <p:spPr>
              <a:xfrm>
                <a:off x="8979223" y="4736337"/>
                <a:ext cx="1549820" cy="523220"/>
              </a:xfrm>
              <a:prstGeom prst="rect">
                <a:avLst/>
              </a:prstGeom>
              <a:blipFill>
                <a:blip r:embed="rId13"/>
                <a:stretch>
                  <a:fillRect/>
                </a:stretch>
              </a:blipFill>
            </p:spPr>
            <p:txBody>
              <a:bodyPr/>
              <a:lstStyle/>
              <a:p>
                <a:r>
                  <a:rPr lang="zh-CN" altLang="en-US">
                    <a:noFill/>
                  </a:rPr>
                  <a:t> </a:t>
                </a:r>
              </a:p>
            </p:txBody>
          </p:sp>
        </mc:Fallback>
      </mc:AlternateContent>
      <p:cxnSp>
        <p:nvCxnSpPr>
          <p:cNvPr id="36" name="实轴">
            <a:extLst>
              <a:ext uri="{FF2B5EF4-FFF2-40B4-BE49-F238E27FC236}">
                <a16:creationId xmlns:a16="http://schemas.microsoft.com/office/drawing/2014/main" id="{872380FB-6459-6A4D-39F1-506072060C9E}"/>
              </a:ext>
            </a:extLst>
          </p:cNvPr>
          <p:cNvCxnSpPr>
            <a:cxnSpLocks/>
          </p:cNvCxnSpPr>
          <p:nvPr/>
        </p:nvCxnSpPr>
        <p:spPr>
          <a:xfrm flipV="1">
            <a:off x="8830243" y="3791000"/>
            <a:ext cx="289299" cy="235260"/>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7" name="实轴">
            <a:extLst>
              <a:ext uri="{FF2B5EF4-FFF2-40B4-BE49-F238E27FC236}">
                <a16:creationId xmlns:a16="http://schemas.microsoft.com/office/drawing/2014/main" id="{FD941053-7807-8092-A540-1D3AF3710F93}"/>
              </a:ext>
            </a:extLst>
          </p:cNvPr>
          <p:cNvCxnSpPr>
            <a:cxnSpLocks/>
          </p:cNvCxnSpPr>
          <p:nvPr/>
        </p:nvCxnSpPr>
        <p:spPr>
          <a:xfrm>
            <a:off x="8830243" y="4314292"/>
            <a:ext cx="289299" cy="583145"/>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
                <a:extLst>
                  <a:ext uri="{FF2B5EF4-FFF2-40B4-BE49-F238E27FC236}">
                    <a16:creationId xmlns:a16="http://schemas.microsoft.com/office/drawing/2014/main" id="{40EBF61F-B023-A2B0-D594-9BD3C288CA91}"/>
                  </a:ext>
                </a:extLst>
              </p:cNvPr>
              <p:cNvSpPr txBox="1"/>
              <p:nvPr/>
            </p:nvSpPr>
            <p:spPr>
              <a:xfrm>
                <a:off x="4831472" y="4497069"/>
                <a:ext cx="154982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zh-CN" sz="2800" b="0" i="1" smtClean="0">
                          <a:latin typeface="Cambria Math" panose="02040503050406030204" pitchFamily="18" charset="0"/>
                          <a:ea typeface="Cambria Math" panose="02040503050406030204" pitchFamily="18" charset="0"/>
                        </a:rPr>
                        <m:t>ω</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b="0" i="1" smtClean="0">
                              <a:latin typeface="Cambria Math" panose="02040503050406030204" pitchFamily="18" charset="0"/>
                              <a:ea typeface="Cambria Math" panose="02040503050406030204" pitchFamily="18" charset="0"/>
                            </a:rPr>
                            <m:t>0</m:t>
                          </m:r>
                        </m:e>
                        <m:sup>
                          <m:r>
                            <a:rPr kumimoji="1" lang="en-US" altLang="zh-CN" sz="2800" b="0" i="1" smtClean="0">
                              <a:latin typeface="Cambria Math" panose="02040503050406030204" pitchFamily="18" charset="0"/>
                              <a:ea typeface="Cambria Math" panose="02040503050406030204" pitchFamily="18" charset="0"/>
                            </a:rPr>
                            <m:t>+</m:t>
                          </m:r>
                        </m:sup>
                      </m:sSup>
                    </m:oMath>
                  </m:oMathPara>
                </a14:m>
                <a:endParaRPr lang="zh-CN" altLang="en-US" sz="2800" dirty="0"/>
              </a:p>
            </p:txBody>
          </p:sp>
        </mc:Choice>
        <mc:Fallback xmlns="">
          <p:sp>
            <p:nvSpPr>
              <p:cNvPr id="38" name="Re">
                <a:extLst>
                  <a:ext uri="{FF2B5EF4-FFF2-40B4-BE49-F238E27FC236}">
                    <a16:creationId xmlns:a16="http://schemas.microsoft.com/office/drawing/2014/main" id="{40EBF61F-B023-A2B0-D594-9BD3C288CA91}"/>
                  </a:ext>
                </a:extLst>
              </p:cNvPr>
              <p:cNvSpPr txBox="1">
                <a:spLocks noRot="1" noChangeAspect="1" noMove="1" noResize="1" noEditPoints="1" noAdjustHandles="1" noChangeArrowheads="1" noChangeShapeType="1" noTextEdit="1"/>
              </p:cNvSpPr>
              <p:nvPr/>
            </p:nvSpPr>
            <p:spPr>
              <a:xfrm>
                <a:off x="4831472" y="4497069"/>
                <a:ext cx="1549820" cy="523220"/>
              </a:xfrm>
              <a:prstGeom prst="rect">
                <a:avLst/>
              </a:prstGeom>
              <a:blipFill>
                <a:blip r:embed="rId14"/>
                <a:stretch>
                  <a:fillRect/>
                </a:stretch>
              </a:blipFill>
            </p:spPr>
            <p:txBody>
              <a:bodyPr/>
              <a:lstStyle/>
              <a:p>
                <a:r>
                  <a:rPr lang="zh-CN" altLang="en-US">
                    <a:noFill/>
                  </a:rPr>
                  <a:t> </a:t>
                </a:r>
              </a:p>
            </p:txBody>
          </p:sp>
        </mc:Fallback>
      </mc:AlternateContent>
      <p:cxnSp>
        <p:nvCxnSpPr>
          <p:cNvPr id="39" name="实轴">
            <a:extLst>
              <a:ext uri="{FF2B5EF4-FFF2-40B4-BE49-F238E27FC236}">
                <a16:creationId xmlns:a16="http://schemas.microsoft.com/office/drawing/2014/main" id="{00712B80-B5BD-902A-B4AE-12B3B3D3785A}"/>
              </a:ext>
            </a:extLst>
          </p:cNvPr>
          <p:cNvCxnSpPr>
            <a:cxnSpLocks/>
          </p:cNvCxnSpPr>
          <p:nvPr/>
        </p:nvCxnSpPr>
        <p:spPr>
          <a:xfrm flipH="1">
            <a:off x="6119686" y="4525393"/>
            <a:ext cx="704774" cy="258828"/>
          </a:xfrm>
          <a:prstGeom prst="straightConnector1">
            <a:avLst/>
          </a:prstGeom>
          <a:ln w="254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原点">
                <a:extLst>
                  <a:ext uri="{FF2B5EF4-FFF2-40B4-BE49-F238E27FC236}">
                    <a16:creationId xmlns:a16="http://schemas.microsoft.com/office/drawing/2014/main" id="{E9957359-5F08-FFF5-7AE5-0CB5E95B8840}"/>
                  </a:ext>
                </a:extLst>
              </p:cNvPr>
              <p:cNvSpPr txBox="1"/>
              <p:nvPr/>
            </p:nvSpPr>
            <p:spPr>
              <a:xfrm>
                <a:off x="10813528" y="2950478"/>
                <a:ext cx="545352" cy="5246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800" b="0" i="1" smtClean="0">
                              <a:solidFill>
                                <a:srgbClr val="F6973B"/>
                              </a:solidFill>
                              <a:latin typeface="Cambria Math" panose="02040503050406030204" pitchFamily="18" charset="0"/>
                            </a:rPr>
                          </m:ctrlPr>
                        </m:dPr>
                        <m:e>
                          <m:r>
                            <a:rPr lang="en-US" altLang="zh-CN" sz="2800" b="0" i="1" smtClean="0">
                              <a:solidFill>
                                <a:srgbClr val="F6973B"/>
                              </a:solidFill>
                              <a:latin typeface="Cambria Math" panose="02040503050406030204" pitchFamily="18" charset="0"/>
                            </a:rPr>
                            <m:t>4</m:t>
                          </m:r>
                        </m:e>
                      </m:d>
                    </m:oMath>
                  </m:oMathPara>
                </a14:m>
                <a:endParaRPr lang="zh-CN" altLang="en-US" sz="2800" dirty="0">
                  <a:solidFill>
                    <a:srgbClr val="F6973B"/>
                  </a:solidFill>
                </a:endParaRPr>
              </a:p>
            </p:txBody>
          </p:sp>
        </mc:Choice>
        <mc:Fallback xmlns="">
          <p:sp>
            <p:nvSpPr>
              <p:cNvPr id="40" name="原点">
                <a:extLst>
                  <a:ext uri="{FF2B5EF4-FFF2-40B4-BE49-F238E27FC236}">
                    <a16:creationId xmlns:a16="http://schemas.microsoft.com/office/drawing/2014/main" id="{E9957359-5F08-FFF5-7AE5-0CB5E95B8840}"/>
                  </a:ext>
                </a:extLst>
              </p:cNvPr>
              <p:cNvSpPr txBox="1">
                <a:spLocks noRot="1" noChangeAspect="1" noMove="1" noResize="1" noEditPoints="1" noAdjustHandles="1" noChangeArrowheads="1" noChangeShapeType="1" noTextEdit="1"/>
              </p:cNvSpPr>
              <p:nvPr/>
            </p:nvSpPr>
            <p:spPr>
              <a:xfrm>
                <a:off x="10813528" y="2950478"/>
                <a:ext cx="545352" cy="524695"/>
              </a:xfrm>
              <a:prstGeom prst="rect">
                <a:avLst/>
              </a:prstGeom>
              <a:blipFill>
                <a:blip r:embed="rId15"/>
                <a:stretch>
                  <a:fillRect r="-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47085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课外拓展及预习要求</a:t>
            </a:r>
          </a:p>
        </p:txBody>
      </p:sp>
      <p:sp>
        <p:nvSpPr>
          <p:cNvPr id="6" name="说明1">
            <a:extLst>
              <a:ext uri="{FF2B5EF4-FFF2-40B4-BE49-F238E27FC236}">
                <a16:creationId xmlns:a16="http://schemas.microsoft.com/office/drawing/2014/main" id="{EAEF012D-62CA-5326-65BE-0E9657263C8A}"/>
              </a:ext>
            </a:extLst>
          </p:cNvPr>
          <p:cNvSpPr txBox="1"/>
          <p:nvPr/>
        </p:nvSpPr>
        <p:spPr>
          <a:xfrm>
            <a:off x="3935413" y="3114649"/>
            <a:ext cx="7774374" cy="3108543"/>
          </a:xfrm>
          <a:prstGeom prst="rect">
            <a:avLst/>
          </a:prstGeom>
          <a:noFill/>
        </p:spPr>
        <p:txBody>
          <a:bodyPr wrap="square">
            <a:spAutoFit/>
          </a:bodyPr>
          <a:lstStyle/>
          <a:p>
            <a:r>
              <a:rPr lang="en-US" altLang="zh-CN" sz="2800" dirty="0"/>
              <a:t>[1]</a:t>
            </a:r>
            <a:r>
              <a:rPr lang="zh-CN" altLang="en-US" sz="2800" dirty="0"/>
              <a:t> </a:t>
            </a:r>
            <a:r>
              <a:rPr lang="en" altLang="zh-CN" sz="2800" dirty="0">
                <a:solidFill>
                  <a:srgbClr val="E44860"/>
                </a:solidFill>
              </a:rPr>
              <a:t>Bode, H</a:t>
            </a:r>
            <a:r>
              <a:rPr lang="en-US" altLang="zh-CN" sz="2800" dirty="0" err="1">
                <a:solidFill>
                  <a:srgbClr val="E44860"/>
                </a:solidFill>
              </a:rPr>
              <a:t>endrik</a:t>
            </a:r>
            <a:r>
              <a:rPr lang="en-US" altLang="zh-CN" sz="2800" dirty="0"/>
              <a:t>.</a:t>
            </a:r>
            <a:r>
              <a:rPr lang="zh-CN" altLang="en-US" sz="2800" dirty="0"/>
              <a:t> </a:t>
            </a:r>
            <a:r>
              <a:rPr lang="en-US" altLang="zh-CN" sz="2800" dirty="0"/>
              <a:t>(1977).</a:t>
            </a:r>
            <a:r>
              <a:rPr lang="en" altLang="zh-CN" sz="2800" dirty="0"/>
              <a:t> Obituary statement: Harry Nyquist</a:t>
            </a:r>
            <a:r>
              <a:rPr lang="en-US" altLang="zh-CN" sz="2800" dirty="0"/>
              <a:t>.</a:t>
            </a:r>
            <a:r>
              <a:rPr lang="en" altLang="zh-CN" sz="2800" dirty="0"/>
              <a:t> IEEE Transactions on Automatic Control, </a:t>
            </a:r>
            <a:r>
              <a:rPr lang="en-US" altLang="zh-CN" sz="2800" dirty="0"/>
              <a:t>22(6)</a:t>
            </a:r>
            <a:r>
              <a:rPr lang="en" altLang="zh-CN" sz="2800" dirty="0"/>
              <a:t>, 897-898</a:t>
            </a:r>
          </a:p>
          <a:p>
            <a:r>
              <a:rPr lang="en-US" altLang="zh-CN" sz="2800" dirty="0"/>
              <a:t>[2]</a:t>
            </a:r>
            <a:r>
              <a:rPr lang="zh-CN" altLang="en-US" sz="2800" dirty="0"/>
              <a:t> </a:t>
            </a:r>
            <a:r>
              <a:rPr lang="en" altLang="zh-CN" sz="2800" dirty="0"/>
              <a:t>Fan, L., &amp; Miao, Z. (2020). Admittance-based stability analysis: Bode plots, </a:t>
            </a:r>
            <a:r>
              <a:rPr lang="en" altLang="zh-CN" sz="2800" dirty="0" err="1"/>
              <a:t>nyquist</a:t>
            </a:r>
            <a:r>
              <a:rPr lang="en" altLang="zh-CN" sz="2800" dirty="0"/>
              <a:t> diagrams or eigenvalue analysis?. IEEE Transactions on Power Systems, 35(4), 3312-3315.</a:t>
            </a:r>
            <a:endParaRPr lang="zh-CN" altLang="en-US" sz="2800" dirty="0"/>
          </a:p>
        </p:txBody>
      </p:sp>
      <p:sp>
        <p:nvSpPr>
          <p:cNvPr id="3" name="说明4">
            <a:extLst>
              <a:ext uri="{FF2B5EF4-FFF2-40B4-BE49-F238E27FC236}">
                <a16:creationId xmlns:a16="http://schemas.microsoft.com/office/drawing/2014/main" id="{6A9078A1-B8A5-3E58-79B2-6A6A74BEE34F}"/>
              </a:ext>
            </a:extLst>
          </p:cNvPr>
          <p:cNvSpPr txBox="1"/>
          <p:nvPr/>
        </p:nvSpPr>
        <p:spPr>
          <a:xfrm>
            <a:off x="3761290" y="1196752"/>
            <a:ext cx="8208912" cy="1815882"/>
          </a:xfrm>
          <a:prstGeom prst="rect">
            <a:avLst/>
          </a:prstGeom>
          <a:noFill/>
        </p:spPr>
        <p:txBody>
          <a:bodyPr wrap="square">
            <a:spAutoFit/>
          </a:bodyPr>
          <a:lstStyle/>
          <a:p>
            <a:r>
              <a:rPr lang="zh-CN" altLang="en-US" sz="2800" dirty="0"/>
              <a:t>幅角原理</a:t>
            </a:r>
            <a:r>
              <a:rPr lang="en-US" altLang="zh-CN" sz="2800" dirty="0"/>
              <a:t> </a:t>
            </a:r>
            <a:r>
              <a:rPr lang="en" altLang="zh-CN" sz="2800" dirty="0"/>
              <a:t>https://</a:t>
            </a:r>
            <a:r>
              <a:rPr lang="en" altLang="zh-CN" sz="2800" dirty="0" err="1"/>
              <a:t>www.bilibili.com</a:t>
            </a:r>
            <a:r>
              <a:rPr lang="en" altLang="zh-CN" sz="2800" dirty="0"/>
              <a:t>/video/BV16a4y1i7sL/?</a:t>
            </a:r>
            <a:r>
              <a:rPr lang="en" altLang="zh-CN" sz="2800" dirty="0" err="1"/>
              <a:t>share_source</a:t>
            </a:r>
            <a:r>
              <a:rPr lang="en" altLang="zh-CN" sz="2800" dirty="0"/>
              <a:t>=</a:t>
            </a:r>
            <a:r>
              <a:rPr lang="en" altLang="zh-CN" sz="2800" dirty="0" err="1"/>
              <a:t>copy_web&amp;vd_source</a:t>
            </a:r>
            <a:r>
              <a:rPr lang="en" altLang="zh-CN" sz="2800" dirty="0"/>
              <a:t>=c410b0a47f3637d56c742c24f7a605b5</a:t>
            </a:r>
            <a:endParaRPr lang="zh-CN" altLang="en-US" sz="2800" dirty="0"/>
          </a:p>
        </p:txBody>
      </p:sp>
      <p:pic>
        <p:nvPicPr>
          <p:cNvPr id="1026" name="Picture 2">
            <a:extLst>
              <a:ext uri="{FF2B5EF4-FFF2-40B4-BE49-F238E27FC236}">
                <a16:creationId xmlns:a16="http://schemas.microsoft.com/office/drawing/2014/main" id="{67C55BA8-9CE9-1215-2B55-F31BBF3823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646" y="3500570"/>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descr="文本&#10;&#10;低可信度描述已自动生成">
            <a:extLst>
              <a:ext uri="{FF2B5EF4-FFF2-40B4-BE49-F238E27FC236}">
                <a16:creationId xmlns:a16="http://schemas.microsoft.com/office/drawing/2014/main" id="{953B55BE-1262-4111-FBEF-29F4C2A6A0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574" y="1224057"/>
            <a:ext cx="3227448" cy="1816670"/>
          </a:xfrm>
          <a:prstGeom prst="rect">
            <a:avLst/>
          </a:prstGeom>
        </p:spPr>
      </p:pic>
    </p:spTree>
    <p:extLst>
      <p:ext uri="{BB962C8B-B14F-4D97-AF65-F5344CB8AC3E}">
        <p14:creationId xmlns:p14="http://schemas.microsoft.com/office/powerpoint/2010/main" val="3825084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课外拓展及预习要求</a:t>
            </a:r>
          </a:p>
        </p:txBody>
      </p:sp>
      <p:pic>
        <p:nvPicPr>
          <p:cNvPr id="12" name="图形 11" descr="翻开的书、台灯、书、钢笔和铅笔">
            <a:extLst>
              <a:ext uri="{FF2B5EF4-FFF2-40B4-BE49-F238E27FC236}">
                <a16:creationId xmlns:a16="http://schemas.microsoft.com/office/drawing/2014/main" id="{E4D2B8AC-B004-AD54-F56D-CBCCEF2469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3148226"/>
            <a:ext cx="4148932" cy="4148932"/>
          </a:xfrm>
          <a:prstGeom prst="rect">
            <a:avLst/>
          </a:prstGeom>
        </p:spPr>
      </p:pic>
      <p:grpSp>
        <p:nvGrpSpPr>
          <p:cNvPr id="14" name="组合 13">
            <a:extLst>
              <a:ext uri="{FF2B5EF4-FFF2-40B4-BE49-F238E27FC236}">
                <a16:creationId xmlns:a16="http://schemas.microsoft.com/office/drawing/2014/main" id="{A898460F-B659-9221-12A1-BDB9965F118D}"/>
              </a:ext>
            </a:extLst>
          </p:cNvPr>
          <p:cNvGrpSpPr/>
          <p:nvPr/>
        </p:nvGrpSpPr>
        <p:grpSpPr>
          <a:xfrm>
            <a:off x="994874" y="993120"/>
            <a:ext cx="10404633" cy="2952764"/>
            <a:chOff x="994874" y="993120"/>
            <a:chExt cx="10404633" cy="2952764"/>
          </a:xfrm>
        </p:grpSpPr>
        <p:sp>
          <p:nvSpPr>
            <p:cNvPr id="3" name="说明4">
              <a:extLst>
                <a:ext uri="{FF2B5EF4-FFF2-40B4-BE49-F238E27FC236}">
                  <a16:creationId xmlns:a16="http://schemas.microsoft.com/office/drawing/2014/main" id="{6A9078A1-B8A5-3E58-79B2-6A6A74BEE34F}"/>
                </a:ext>
              </a:extLst>
            </p:cNvPr>
            <p:cNvSpPr txBox="1"/>
            <p:nvPr/>
          </p:nvSpPr>
          <p:spPr>
            <a:xfrm>
              <a:off x="3940148" y="1275502"/>
              <a:ext cx="7459359" cy="523220"/>
            </a:xfrm>
            <a:prstGeom prst="rect">
              <a:avLst/>
            </a:prstGeom>
            <a:noFill/>
          </p:spPr>
          <p:txBody>
            <a:bodyPr wrap="square">
              <a:spAutoFit/>
            </a:bodyPr>
            <a:lstStyle/>
            <a:p>
              <a:r>
                <a:rPr lang="zh-CN" altLang="en-US" sz="2800" dirty="0"/>
                <a:t>控制之美，王天威著，清华大学出版社，</a:t>
              </a:r>
              <a:r>
                <a:rPr lang="en-US" altLang="zh-CN" sz="2800" dirty="0"/>
                <a:t>2022</a:t>
              </a:r>
              <a:endParaRPr lang="zh-CN" altLang="en-US" sz="2800" dirty="0"/>
            </a:p>
          </p:txBody>
        </p:sp>
        <p:pic>
          <p:nvPicPr>
            <p:cNvPr id="13" name="图片 12" descr="图片包含 文本&#10;&#10;描述已自动生成">
              <a:extLst>
                <a:ext uri="{FF2B5EF4-FFF2-40B4-BE49-F238E27FC236}">
                  <a16:creationId xmlns:a16="http://schemas.microsoft.com/office/drawing/2014/main" id="{8FD22F2E-5A35-F8FB-3E4E-6F97DF4C3B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874" y="993120"/>
              <a:ext cx="2148003" cy="2952764"/>
            </a:xfrm>
            <a:prstGeom prst="rect">
              <a:avLst/>
            </a:prstGeom>
          </p:spPr>
        </p:pic>
      </p:grpSp>
      <p:grpSp>
        <p:nvGrpSpPr>
          <p:cNvPr id="5" name="组合 4">
            <a:extLst>
              <a:ext uri="{FF2B5EF4-FFF2-40B4-BE49-F238E27FC236}">
                <a16:creationId xmlns:a16="http://schemas.microsoft.com/office/drawing/2014/main" id="{7EAE0A6D-EDCF-576C-D5EA-A937A8A649EB}"/>
              </a:ext>
            </a:extLst>
          </p:cNvPr>
          <p:cNvGrpSpPr/>
          <p:nvPr/>
        </p:nvGrpSpPr>
        <p:grpSpPr>
          <a:xfrm>
            <a:off x="4654550" y="3681329"/>
            <a:ext cx="7190928" cy="2755900"/>
            <a:chOff x="4654550" y="3681329"/>
            <a:chExt cx="7190928" cy="2755900"/>
          </a:xfrm>
        </p:grpSpPr>
        <p:sp>
          <p:nvSpPr>
            <p:cNvPr id="9" name="说明1">
              <a:extLst>
                <a:ext uri="{FF2B5EF4-FFF2-40B4-BE49-F238E27FC236}">
                  <a16:creationId xmlns:a16="http://schemas.microsoft.com/office/drawing/2014/main" id="{75AF8125-108A-60BC-B6E2-2AAF0040A830}"/>
                </a:ext>
              </a:extLst>
            </p:cNvPr>
            <p:cNvSpPr txBox="1"/>
            <p:nvPr/>
          </p:nvSpPr>
          <p:spPr>
            <a:xfrm>
              <a:off x="4654550" y="4955833"/>
              <a:ext cx="3526714" cy="954107"/>
            </a:xfrm>
            <a:prstGeom prst="rect">
              <a:avLst/>
            </a:prstGeom>
            <a:noFill/>
          </p:spPr>
          <p:txBody>
            <a:bodyPr wrap="square">
              <a:spAutoFit/>
            </a:bodyPr>
            <a:lstStyle/>
            <a:p>
              <a:pPr marL="457200" indent="-457200">
                <a:buFont typeface="Arial" panose="020B0604020202020204" pitchFamily="34" charset="0"/>
                <a:buChar char="•"/>
              </a:pPr>
              <a:r>
                <a:rPr lang="zh-CN" altLang="en-US" sz="2800" dirty="0"/>
                <a:t>在线视频</a:t>
              </a:r>
              <a:r>
                <a:rPr lang="en-US" altLang="zh-CN" sz="2800" dirty="0"/>
                <a:t>108</a:t>
              </a:r>
              <a:r>
                <a:rPr lang="zh-CN" altLang="en-US" sz="2800" dirty="0"/>
                <a:t>，</a:t>
              </a:r>
              <a:r>
                <a:rPr lang="en-US" altLang="zh-CN" sz="2800" dirty="0"/>
                <a:t>109</a:t>
              </a:r>
            </a:p>
            <a:p>
              <a:pPr marL="457200" indent="-457200">
                <a:buFont typeface="Arial" panose="020B0604020202020204" pitchFamily="34" charset="0"/>
                <a:buChar char="•"/>
              </a:pPr>
              <a:r>
                <a:rPr lang="zh-CN" altLang="en-US" sz="2800" dirty="0"/>
                <a:t>参与在线讨论</a:t>
              </a:r>
            </a:p>
          </p:txBody>
        </p:sp>
        <p:pic>
          <p:nvPicPr>
            <p:cNvPr id="4" name="图片 3" descr="手机屏幕截图&#10;&#10;描述已自动生成">
              <a:extLst>
                <a:ext uri="{FF2B5EF4-FFF2-40B4-BE49-F238E27FC236}">
                  <a16:creationId xmlns:a16="http://schemas.microsoft.com/office/drawing/2014/main" id="{3466EC6D-703A-8970-26FE-D06458893A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43478" y="3681329"/>
              <a:ext cx="3302000" cy="2755900"/>
            </a:xfrm>
            <a:prstGeom prst="rect">
              <a:avLst/>
            </a:prstGeom>
          </p:spPr>
        </p:pic>
      </p:grpSp>
    </p:spTree>
    <p:extLst>
      <p:ext uri="{BB962C8B-B14F-4D97-AF65-F5344CB8AC3E}">
        <p14:creationId xmlns:p14="http://schemas.microsoft.com/office/powerpoint/2010/main" val="360308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a:extLst>
              <a:ext uri="{FF2B5EF4-FFF2-40B4-BE49-F238E27FC236}">
                <a16:creationId xmlns:a16="http://schemas.microsoft.com/office/drawing/2014/main" id="{A6FE66DB-1AB0-C7CA-D208-21EB02C2064D}"/>
              </a:ext>
            </a:extLst>
          </p:cNvPr>
          <p:cNvSpPr/>
          <p:nvPr/>
        </p:nvSpPr>
        <p:spPr bwMode="auto">
          <a:xfrm>
            <a:off x="2062560" y="4077072"/>
            <a:ext cx="2304256"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zh-CN" altLang="en-US" sz="3200" b="1" dirty="0">
                <a:solidFill>
                  <a:schemeClr val="bg1"/>
                </a:solidFill>
                <a:latin typeface="Stencil" panose="040409050D0802020404" pitchFamily="82" charset="0"/>
              </a:rPr>
              <a:t>感谢聆听！</a:t>
            </a:r>
          </a:p>
        </p:txBody>
      </p:sp>
      <p:cxnSp>
        <p:nvCxnSpPr>
          <p:cNvPr id="112" name="实轴根轨迹2" hidden="1">
            <a:extLst>
              <a:ext uri="{FF2B5EF4-FFF2-40B4-BE49-F238E27FC236}">
                <a16:creationId xmlns:a16="http://schemas.microsoft.com/office/drawing/2014/main" id="{E3BFF0B5-75EB-88CB-D2B8-45B1CB7B3820}"/>
              </a:ext>
            </a:extLst>
          </p:cNvPr>
          <p:cNvCxnSpPr>
            <a:cxnSpLocks/>
          </p:cNvCxnSpPr>
          <p:nvPr/>
        </p:nvCxnSpPr>
        <p:spPr>
          <a:xfrm flipH="1" flipV="1">
            <a:off x="6781576" y="3495280"/>
            <a:ext cx="3108553" cy="6820"/>
          </a:xfrm>
          <a:prstGeom prst="straightConnector1">
            <a:avLst/>
          </a:prstGeom>
          <a:ln w="38100">
            <a:solidFill>
              <a:srgbClr val="E44860"/>
            </a:solidFill>
            <a:tailEnd type="none"/>
          </a:ln>
        </p:spPr>
        <p:style>
          <a:lnRef idx="1">
            <a:schemeClr val="accent1"/>
          </a:lnRef>
          <a:fillRef idx="0">
            <a:schemeClr val="accent1"/>
          </a:fillRef>
          <a:effectRef idx="0">
            <a:schemeClr val="accent1"/>
          </a:effectRef>
          <a:fontRef idx="minor">
            <a:schemeClr val="tx1"/>
          </a:fontRef>
        </p:style>
      </p:cxnSp>
      <p:cxnSp>
        <p:nvCxnSpPr>
          <p:cNvPr id="113" name="实轴根轨迹1" hidden="1">
            <a:extLst>
              <a:ext uri="{FF2B5EF4-FFF2-40B4-BE49-F238E27FC236}">
                <a16:creationId xmlns:a16="http://schemas.microsoft.com/office/drawing/2014/main" id="{D3BFAEBF-E730-5646-6B89-280B20B81EF2}"/>
              </a:ext>
            </a:extLst>
          </p:cNvPr>
          <p:cNvCxnSpPr>
            <a:cxnSpLocks/>
          </p:cNvCxnSpPr>
          <p:nvPr/>
        </p:nvCxnSpPr>
        <p:spPr>
          <a:xfrm flipH="1">
            <a:off x="10351817" y="3501653"/>
            <a:ext cx="456895" cy="0"/>
          </a:xfrm>
          <a:prstGeom prst="straightConnector1">
            <a:avLst/>
          </a:prstGeom>
          <a:ln w="38100">
            <a:solidFill>
              <a:srgbClr val="E44860"/>
            </a:solidFill>
            <a:tailEnd type="none"/>
          </a:ln>
        </p:spPr>
        <p:style>
          <a:lnRef idx="1">
            <a:schemeClr val="accent1"/>
          </a:lnRef>
          <a:fillRef idx="0">
            <a:schemeClr val="accent1"/>
          </a:fillRef>
          <a:effectRef idx="0">
            <a:schemeClr val="accent1"/>
          </a:effectRef>
          <a:fontRef idx="minor">
            <a:schemeClr val="tx1"/>
          </a:fontRef>
        </p:style>
      </p:cxnSp>
      <p:sp>
        <p:nvSpPr>
          <p:cNvPr id="15" name="节段20">
            <a:extLst>
              <a:ext uri="{FF2B5EF4-FFF2-40B4-BE49-F238E27FC236}">
                <a16:creationId xmlns:a16="http://schemas.microsoft.com/office/drawing/2014/main" id="{CC40C26A-181F-F538-8058-BA8890BCC631}"/>
              </a:ext>
            </a:extLst>
          </p:cNvPr>
          <p:cNvSpPr/>
          <p:nvPr/>
        </p:nvSpPr>
        <p:spPr bwMode="auto">
          <a:xfrm>
            <a:off x="562387" y="1281349"/>
            <a:ext cx="5551200"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3200" b="1" dirty="0">
                <a:solidFill>
                  <a:schemeClr val="bg1"/>
                </a:solidFill>
                <a:latin typeface="Stencil" panose="040409050D0802020404" pitchFamily="82" charset="0"/>
              </a:rPr>
              <a:t>19.</a:t>
            </a:r>
            <a:r>
              <a:rPr lang="zh-CN" altLang="en-US" sz="3200" b="1" dirty="0">
                <a:solidFill>
                  <a:schemeClr val="bg1"/>
                </a:solidFill>
                <a:latin typeface="Stencil" panose="040409050D0802020404" pitchFamily="82" charset="0"/>
              </a:rPr>
              <a:t> 稳定判据：频域的启示</a:t>
            </a:r>
          </a:p>
        </p:txBody>
      </p:sp>
      <p:sp>
        <p:nvSpPr>
          <p:cNvPr id="17" name="说明4">
            <a:extLst>
              <a:ext uri="{FF2B5EF4-FFF2-40B4-BE49-F238E27FC236}">
                <a16:creationId xmlns:a16="http://schemas.microsoft.com/office/drawing/2014/main" id="{FF9092E9-A68F-6B74-6B3C-534889219293}"/>
              </a:ext>
            </a:extLst>
          </p:cNvPr>
          <p:cNvSpPr txBox="1"/>
          <p:nvPr/>
        </p:nvSpPr>
        <p:spPr>
          <a:xfrm>
            <a:off x="7470800" y="4869160"/>
            <a:ext cx="3817095" cy="1815882"/>
          </a:xfrm>
          <a:prstGeom prst="rect">
            <a:avLst/>
          </a:prstGeom>
          <a:noFill/>
        </p:spPr>
        <p:txBody>
          <a:bodyPr wrap="square">
            <a:spAutoFit/>
          </a:bodyPr>
          <a:lstStyle/>
          <a:p>
            <a:pPr algn="ctr"/>
            <a:r>
              <a:rPr lang="en-US" altLang="zh-CN" sz="2800" dirty="0"/>
              <a:t>Harry Nyquist</a:t>
            </a:r>
          </a:p>
          <a:p>
            <a:pPr algn="ctr"/>
            <a:r>
              <a:rPr lang="en-US" altLang="zh-CN" sz="2800" dirty="0"/>
              <a:t>1889-1976</a:t>
            </a:r>
          </a:p>
          <a:p>
            <a:pPr algn="ctr"/>
            <a:r>
              <a:rPr lang="en" altLang="zh-CN" sz="2800" dirty="0"/>
              <a:t>A Founding Father Of Digital Communications</a:t>
            </a:r>
            <a:endParaRPr lang="zh-CN" altLang="en-US" sz="2800" dirty="0"/>
          </a:p>
        </p:txBody>
      </p:sp>
      <p:pic>
        <p:nvPicPr>
          <p:cNvPr id="2" name="Picture 2">
            <a:extLst>
              <a:ext uri="{FF2B5EF4-FFF2-40B4-BE49-F238E27FC236}">
                <a16:creationId xmlns:a16="http://schemas.microsoft.com/office/drawing/2014/main" id="{C4400C70-53B1-764D-AD24-26D12F048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3598" y="914058"/>
            <a:ext cx="3111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4177"/>
      </p:ext>
    </p:extLst>
  </p:cSld>
  <p:clrMapOvr>
    <a:masterClrMapping/>
  </p:clrMapOvr>
  <p:transition spd="slow">
    <p:strips dir="ru"/>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信息化教学设计"/>
</p:tagLst>
</file>

<file path=ppt/theme/theme1.xml><?xml version="1.0" encoding="utf-8"?>
<a:theme xmlns:a="http://schemas.openxmlformats.org/drawingml/2006/main" name="Office 主题​​">
  <a:themeElements>
    <a:clrScheme name="自定义 222">
      <a:dk1>
        <a:srgbClr val="000000"/>
      </a:dk1>
      <a:lt1>
        <a:srgbClr val="FFFFFF"/>
      </a:lt1>
      <a:dk2>
        <a:srgbClr val="768395"/>
      </a:dk2>
      <a:lt2>
        <a:srgbClr val="F0F0F0"/>
      </a:lt2>
      <a:accent1>
        <a:srgbClr val="2980B9"/>
      </a:accent1>
      <a:accent2>
        <a:srgbClr val="159F84"/>
      </a:accent2>
      <a:accent3>
        <a:srgbClr val="9BBB59"/>
      </a:accent3>
      <a:accent4>
        <a:srgbClr val="F29B11"/>
      </a:accent4>
      <a:accent5>
        <a:srgbClr val="BF382A"/>
      </a:accent5>
      <a:accent6>
        <a:srgbClr val="A7459D"/>
      </a:accent6>
      <a:hlink>
        <a:srgbClr val="2980B9"/>
      </a:hlink>
      <a:folHlink>
        <a:srgbClr val="BFBFBF"/>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淘宝店：章瑾图文</Template>
  <TotalTime>25130</TotalTime>
  <Words>3109</Words>
  <Application>Microsoft Macintosh PowerPoint</Application>
  <PresentationFormat>自定义</PresentationFormat>
  <Paragraphs>597</Paragraphs>
  <Slides>38</Slides>
  <Notes>37</Notes>
  <HiddenSlides>2</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38</vt:i4>
      </vt:variant>
    </vt:vector>
  </HeadingPairs>
  <TitlesOfParts>
    <vt:vector size="49" baseType="lpstr">
      <vt:lpstr>等线</vt:lpstr>
      <vt:lpstr>汉仪菱心体简</vt:lpstr>
      <vt:lpstr>Microsoft YaHei</vt:lpstr>
      <vt:lpstr>Microsoft YaHei</vt:lpstr>
      <vt:lpstr>Arial</vt:lpstr>
      <vt:lpstr>Calibri</vt:lpstr>
      <vt:lpstr>Cambria Math</vt:lpstr>
      <vt:lpstr>Gill Sans Ultra Bold</vt:lpstr>
      <vt:lpstr>Stencil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章瑾图文</dc:creator>
  <cp:keywords/>
  <dc:description/>
  <cp:lastModifiedBy>Yong-Wei Zhang</cp:lastModifiedBy>
  <cp:revision>634</cp:revision>
  <dcterms:created xsi:type="dcterms:W3CDTF">2012-09-21T08:06:35Z</dcterms:created>
  <dcterms:modified xsi:type="dcterms:W3CDTF">2025-04-28T00:56:47Z</dcterms:modified>
  <cp:category/>
</cp:coreProperties>
</file>