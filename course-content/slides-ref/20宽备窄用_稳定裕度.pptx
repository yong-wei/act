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53" r:id="rId2"/>
    <p:sldId id="522" r:id="rId3"/>
    <p:sldId id="523" r:id="rId4"/>
    <p:sldId id="568" r:id="rId5"/>
    <p:sldId id="569" r:id="rId6"/>
    <p:sldId id="529" r:id="rId7"/>
    <p:sldId id="550" r:id="rId8"/>
    <p:sldId id="551" r:id="rId9"/>
    <p:sldId id="552" r:id="rId10"/>
    <p:sldId id="553" r:id="rId11"/>
    <p:sldId id="554" r:id="rId12"/>
    <p:sldId id="555" r:id="rId13"/>
    <p:sldId id="559" r:id="rId14"/>
    <p:sldId id="557" r:id="rId15"/>
    <p:sldId id="560" r:id="rId16"/>
    <p:sldId id="561" r:id="rId17"/>
    <p:sldId id="562" r:id="rId18"/>
    <p:sldId id="563" r:id="rId19"/>
    <p:sldId id="564" r:id="rId20"/>
    <p:sldId id="570" r:id="rId21"/>
    <p:sldId id="565" r:id="rId22"/>
    <p:sldId id="566" r:id="rId23"/>
    <p:sldId id="556" r:id="rId24"/>
    <p:sldId id="567" r:id="rId25"/>
    <p:sldId id="558" r:id="rId26"/>
  </p:sldIdLst>
  <p:sldSz cx="12190413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5EF9F2-8EA0-DF4B-B42A-9E3BA9F18F4C}">
          <p14:sldIdLst>
            <p14:sldId id="353"/>
            <p14:sldId id="522"/>
            <p14:sldId id="523"/>
            <p14:sldId id="568"/>
            <p14:sldId id="569"/>
            <p14:sldId id="529"/>
            <p14:sldId id="550"/>
            <p14:sldId id="551"/>
            <p14:sldId id="552"/>
            <p14:sldId id="553"/>
            <p14:sldId id="554"/>
            <p14:sldId id="555"/>
            <p14:sldId id="559"/>
            <p14:sldId id="557"/>
            <p14:sldId id="560"/>
            <p14:sldId id="561"/>
            <p14:sldId id="562"/>
            <p14:sldId id="563"/>
            <p14:sldId id="564"/>
            <p14:sldId id="570"/>
            <p14:sldId id="565"/>
            <p14:sldId id="566"/>
            <p14:sldId id="556"/>
            <p14:sldId id="567"/>
            <p14:sldId id="5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80B9"/>
    <a:srgbClr val="E44860"/>
    <a:srgbClr val="159F84"/>
    <a:srgbClr val="F29B11"/>
    <a:srgbClr val="768395"/>
    <a:srgbClr val="1C1C1C"/>
    <a:srgbClr val="9BBB5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 autoAdjust="0"/>
    <p:restoredTop sz="92324" autoAdjust="0"/>
  </p:normalViewPr>
  <p:slideViewPr>
    <p:cSldViewPr>
      <p:cViewPr varScale="1">
        <p:scale>
          <a:sx n="109" d="100"/>
          <a:sy n="109" d="100"/>
        </p:scale>
        <p:origin x="584" y="184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2023/5/29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2023/5/29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2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02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56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974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9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495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277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08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36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002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622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241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735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0863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782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7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7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87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675118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12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9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610.png"/><Relationship Id="rId9" Type="http://schemas.openxmlformats.org/officeDocument/2006/relationships/image" Target="../media/image810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710.png"/><Relationship Id="rId3" Type="http://schemas.openxmlformats.org/officeDocument/2006/relationships/image" Target="../media/image5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46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4" Type="http://schemas.openxmlformats.org/officeDocument/2006/relationships/image" Target="../media/image610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12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46.png"/><Relationship Id="rId15" Type="http://schemas.openxmlformats.org/officeDocument/2006/relationships/image" Target="../media/image49.png"/><Relationship Id="rId10" Type="http://schemas.openxmlformats.org/officeDocument/2006/relationships/image" Target="../media/image45.png"/><Relationship Id="rId4" Type="http://schemas.openxmlformats.org/officeDocument/2006/relationships/image" Target="../media/image50.png"/><Relationship Id="rId9" Type="http://schemas.openxmlformats.org/officeDocument/2006/relationships/image" Target="../media/image44.png"/><Relationship Id="rId1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55.png"/><Relationship Id="rId18" Type="http://schemas.openxmlformats.org/officeDocument/2006/relationships/image" Target="../media/image45.png"/><Relationship Id="rId26" Type="http://schemas.openxmlformats.org/officeDocument/2006/relationships/image" Target="../media/image63.png"/><Relationship Id="rId3" Type="http://schemas.openxmlformats.org/officeDocument/2006/relationships/image" Target="../media/image42.png"/><Relationship Id="rId21" Type="http://schemas.openxmlformats.org/officeDocument/2006/relationships/image" Target="../media/image47.png"/><Relationship Id="rId7" Type="http://schemas.openxmlformats.org/officeDocument/2006/relationships/image" Target="../media/image12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8.png"/><Relationship Id="rId20" Type="http://schemas.openxmlformats.org/officeDocument/2006/relationships/image" Target="../media/image51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53.png"/><Relationship Id="rId24" Type="http://schemas.openxmlformats.org/officeDocument/2006/relationships/image" Target="../media/image61.png"/><Relationship Id="rId15" Type="http://schemas.openxmlformats.org/officeDocument/2006/relationships/image" Target="../media/image57.png"/><Relationship Id="rId23" Type="http://schemas.openxmlformats.org/officeDocument/2006/relationships/image" Target="../media/image60.png"/><Relationship Id="rId28" Type="http://schemas.openxmlformats.org/officeDocument/2006/relationships/image" Target="../media/image28.png"/><Relationship Id="rId10" Type="http://schemas.openxmlformats.org/officeDocument/2006/relationships/image" Target="../media/image910.png"/><Relationship Id="rId19" Type="http://schemas.openxmlformats.org/officeDocument/2006/relationships/image" Target="../media/image46.png"/><Relationship Id="rId31" Type="http://schemas.openxmlformats.org/officeDocument/2006/relationships/image" Target="../media/image66.png"/><Relationship Id="rId4" Type="http://schemas.openxmlformats.org/officeDocument/2006/relationships/image" Target="../media/image50.png"/><Relationship Id="rId9" Type="http://schemas.openxmlformats.org/officeDocument/2006/relationships/image" Target="../media/image44.png"/><Relationship Id="rId14" Type="http://schemas.openxmlformats.org/officeDocument/2006/relationships/image" Target="../media/image56.png"/><Relationship Id="rId22" Type="http://schemas.openxmlformats.org/officeDocument/2006/relationships/image" Target="../media/image52.png"/><Relationship Id="rId27" Type="http://schemas.openxmlformats.org/officeDocument/2006/relationships/image" Target="../media/image64.png"/><Relationship Id="rId30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55.png"/><Relationship Id="rId18" Type="http://schemas.openxmlformats.org/officeDocument/2006/relationships/image" Target="../media/image46.png"/><Relationship Id="rId26" Type="http://schemas.openxmlformats.org/officeDocument/2006/relationships/image" Target="../media/image29.png"/><Relationship Id="rId3" Type="http://schemas.openxmlformats.org/officeDocument/2006/relationships/image" Target="../media/image42.png"/><Relationship Id="rId21" Type="http://schemas.openxmlformats.org/officeDocument/2006/relationships/image" Target="../media/image52.png"/><Relationship Id="rId7" Type="http://schemas.openxmlformats.org/officeDocument/2006/relationships/image" Target="../media/image12.png"/><Relationship Id="rId12" Type="http://schemas.openxmlformats.org/officeDocument/2006/relationships/image" Target="../media/image54.png"/><Relationship Id="rId17" Type="http://schemas.openxmlformats.org/officeDocument/2006/relationships/image" Target="../media/image45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9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53.png"/><Relationship Id="rId24" Type="http://schemas.openxmlformats.org/officeDocument/2006/relationships/image" Target="../media/image62.png"/><Relationship Id="rId15" Type="http://schemas.openxmlformats.org/officeDocument/2006/relationships/image" Target="../media/image57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10" Type="http://schemas.openxmlformats.org/officeDocument/2006/relationships/image" Target="../media/image910.png"/><Relationship Id="rId19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44.png"/><Relationship Id="rId14" Type="http://schemas.openxmlformats.org/officeDocument/2006/relationships/image" Target="../media/image56.png"/><Relationship Id="rId22" Type="http://schemas.openxmlformats.org/officeDocument/2006/relationships/image" Target="../media/image67.png"/><Relationship Id="rId27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46.png"/><Relationship Id="rId15" Type="http://schemas.openxmlformats.org/officeDocument/2006/relationships/image" Target="../media/image68.png"/><Relationship Id="rId10" Type="http://schemas.openxmlformats.org/officeDocument/2006/relationships/image" Target="../media/image45.png"/><Relationship Id="rId4" Type="http://schemas.openxmlformats.org/officeDocument/2006/relationships/image" Target="../media/image610.png"/><Relationship Id="rId9" Type="http://schemas.openxmlformats.org/officeDocument/2006/relationships/image" Target="../media/image44.png"/><Relationship Id="rId1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70.png"/><Relationship Id="rId3" Type="http://schemas.openxmlformats.org/officeDocument/2006/relationships/image" Target="../media/image42.png"/><Relationship Id="rId7" Type="http://schemas.openxmlformats.org/officeDocument/2006/relationships/image" Target="../media/image1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46.png"/><Relationship Id="rId15" Type="http://schemas.openxmlformats.org/officeDocument/2006/relationships/image" Target="../media/image68.png"/><Relationship Id="rId10" Type="http://schemas.openxmlformats.org/officeDocument/2006/relationships/image" Target="../media/image45.png"/><Relationship Id="rId4" Type="http://schemas.openxmlformats.org/officeDocument/2006/relationships/image" Target="../media/image610.png"/><Relationship Id="rId9" Type="http://schemas.openxmlformats.org/officeDocument/2006/relationships/image" Target="../media/image44.png"/><Relationship Id="rId14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72.png"/><Relationship Id="rId26" Type="http://schemas.openxmlformats.org/officeDocument/2006/relationships/image" Target="../media/image46.png"/><Relationship Id="rId3" Type="http://schemas.openxmlformats.org/officeDocument/2006/relationships/image" Target="../media/image910.png"/><Relationship Id="rId21" Type="http://schemas.openxmlformats.org/officeDocument/2006/relationships/image" Target="../media/image61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29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44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43.png"/><Relationship Id="rId28" Type="http://schemas.openxmlformats.org/officeDocument/2006/relationships/image" Target="../media/image71.png"/><Relationship Id="rId10" Type="http://schemas.openxmlformats.org/officeDocument/2006/relationships/image" Target="../media/image59.png"/><Relationship Id="rId19" Type="http://schemas.openxmlformats.org/officeDocument/2006/relationships/image" Target="../media/image73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12.png"/><Relationship Id="rId27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72.png"/><Relationship Id="rId26" Type="http://schemas.openxmlformats.org/officeDocument/2006/relationships/image" Target="../media/image46.png"/><Relationship Id="rId3" Type="http://schemas.openxmlformats.org/officeDocument/2006/relationships/image" Target="../media/image910.png"/><Relationship Id="rId21" Type="http://schemas.openxmlformats.org/officeDocument/2006/relationships/image" Target="../media/image610.png"/><Relationship Id="rId7" Type="http://schemas.openxmlformats.org/officeDocument/2006/relationships/image" Target="../media/image56.png"/><Relationship Id="rId12" Type="http://schemas.openxmlformats.org/officeDocument/2006/relationships/image" Target="../media/image74.png"/><Relationship Id="rId17" Type="http://schemas.openxmlformats.org/officeDocument/2006/relationships/image" Target="../media/image76.png"/><Relationship Id="rId25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24" Type="http://schemas.openxmlformats.org/officeDocument/2006/relationships/image" Target="../media/image44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23" Type="http://schemas.openxmlformats.org/officeDocument/2006/relationships/image" Target="../media/image43.png"/><Relationship Id="rId28" Type="http://schemas.openxmlformats.org/officeDocument/2006/relationships/image" Target="../media/image71.png"/><Relationship Id="rId10" Type="http://schemas.openxmlformats.org/officeDocument/2006/relationships/image" Target="../media/image59.png"/><Relationship Id="rId19" Type="http://schemas.openxmlformats.org/officeDocument/2006/relationships/image" Target="../media/image73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12.png"/><Relationship Id="rId27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" Type="http://schemas.openxmlformats.org/officeDocument/2006/relationships/image" Target="../media/image77.png"/><Relationship Id="rId21" Type="http://schemas.openxmlformats.org/officeDocument/2006/relationships/image" Target="../media/image90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81.png"/><Relationship Id="rId5" Type="http://schemas.openxmlformats.org/officeDocument/2006/relationships/image" Target="../media/image50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19" Type="http://schemas.openxmlformats.org/officeDocument/2006/relationships/image" Target="../media/image88.png"/><Relationship Id="rId4" Type="http://schemas.openxmlformats.org/officeDocument/2006/relationships/image" Target="../media/image78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82.png"/><Relationship Id="rId18" Type="http://schemas.openxmlformats.org/officeDocument/2006/relationships/image" Target="../media/image93.png"/><Relationship Id="rId3" Type="http://schemas.openxmlformats.org/officeDocument/2006/relationships/image" Target="../media/image77.png"/><Relationship Id="rId21" Type="http://schemas.openxmlformats.org/officeDocument/2006/relationships/image" Target="../media/image96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81.png"/><Relationship Id="rId5" Type="http://schemas.openxmlformats.org/officeDocument/2006/relationships/image" Target="../media/image50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19" Type="http://schemas.openxmlformats.org/officeDocument/2006/relationships/image" Target="../media/image94.png"/><Relationship Id="rId4" Type="http://schemas.openxmlformats.org/officeDocument/2006/relationships/image" Target="../media/image78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Relationship Id="rId22" Type="http://schemas.openxmlformats.org/officeDocument/2006/relationships/image" Target="../media/image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82.png"/><Relationship Id="rId18" Type="http://schemas.openxmlformats.org/officeDocument/2006/relationships/image" Target="../media/image100.png"/><Relationship Id="rId3" Type="http://schemas.openxmlformats.org/officeDocument/2006/relationships/image" Target="../media/image77.png"/><Relationship Id="rId21" Type="http://schemas.openxmlformats.org/officeDocument/2006/relationships/image" Target="../media/image103.png"/><Relationship Id="rId7" Type="http://schemas.openxmlformats.org/officeDocument/2006/relationships/image" Target="../media/image12.png"/><Relationship Id="rId12" Type="http://schemas.openxmlformats.org/officeDocument/2006/relationships/image" Target="../media/image27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81.png"/><Relationship Id="rId5" Type="http://schemas.openxmlformats.org/officeDocument/2006/relationships/image" Target="../media/image50.png"/><Relationship Id="rId15" Type="http://schemas.openxmlformats.org/officeDocument/2006/relationships/image" Target="../media/image84.png"/><Relationship Id="rId10" Type="http://schemas.openxmlformats.org/officeDocument/2006/relationships/image" Target="../media/image80.png"/><Relationship Id="rId19" Type="http://schemas.openxmlformats.org/officeDocument/2006/relationships/image" Target="../media/image101.png"/><Relationship Id="rId4" Type="http://schemas.openxmlformats.org/officeDocument/2006/relationships/image" Target="../media/image78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61.png"/><Relationship Id="rId26" Type="http://schemas.openxmlformats.org/officeDocument/2006/relationships/image" Target="../media/image124.png"/><Relationship Id="rId3" Type="http://schemas.openxmlformats.org/officeDocument/2006/relationships/image" Target="../media/image104.png"/><Relationship Id="rId21" Type="http://schemas.openxmlformats.org/officeDocument/2006/relationships/image" Target="../media/image120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16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2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1.png"/><Relationship Id="rId10" Type="http://schemas.openxmlformats.org/officeDocument/2006/relationships/image" Target="../media/image110.png"/><Relationship Id="rId19" Type="http://schemas.openxmlformats.org/officeDocument/2006/relationships/image" Target="../media/image118.png"/><Relationship Id="rId4" Type="http://schemas.openxmlformats.org/officeDocument/2006/relationships/image" Target="../media/image8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28.emf"/><Relationship Id="rId4" Type="http://schemas.openxmlformats.org/officeDocument/2006/relationships/image" Target="../media/image12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FD571-840D-952F-75A6-6D63BF5E31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24B88B-80B8-D71F-7454-C8FDC76DECD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756419B-1BFE-45B5-7355-4F956B22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78FF045-E97D-A976-BA2B-CEEAE742FD38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180CA4F3-EF2C-194F-1224-E2B41B07BB65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EC13B3E8-ABA7-DAF8-54B0-8859A1598509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27B8CC-4ADF-893C-3D08-A6B4E256D8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9F6DF85-3C14-4AE4-CE1F-9061569B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能解释稳定裕度的物理含义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能计算幅值裕度和相角裕度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能使用伯德图近似估计稳定裕度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能使用计算机辅助验证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8118526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6746" y="4486278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8" name="节段20">
            <a:extLst>
              <a:ext uri="{FF2B5EF4-FFF2-40B4-BE49-F238E27FC236}">
                <a16:creationId xmlns:a16="http://schemas.microsoft.com/office/drawing/2014/main" id="{512DBACE-FB71-DF1D-FAF4-E8E348567407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11" name="图片 10" descr="拿着标牌的青年商务人士">
            <a:extLst>
              <a:ext uri="{FF2B5EF4-FFF2-40B4-BE49-F238E27FC236}">
                <a16:creationId xmlns:a16="http://schemas.microsoft.com/office/drawing/2014/main" id="{8F4791D3-2E60-2B61-5543-C589E88E4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98" y="2271873"/>
            <a:ext cx="2592288" cy="4026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请分析这个</a:t>
            </a:r>
            <a:endParaRPr kumimoji="1" lang="en-US" altLang="zh-CN" sz="2800" dirty="0"/>
          </a:p>
          <a:p>
            <a:pPr algn="ctr"/>
            <a:r>
              <a:rPr kumimoji="1" lang="zh-CN" altLang="en-US" sz="2800" dirty="0"/>
              <a:t>系统的稳定性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607896" y="1386855"/>
            <a:ext cx="1728192" cy="578882"/>
          </a:xfrm>
          <a:prstGeom prst="wedgeRoundRectCallout">
            <a:avLst>
              <a:gd name="adj1" fmla="val 40114"/>
              <a:gd name="adj2" fmla="val 82283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没问题！</a:t>
            </a:r>
          </a:p>
        </p:txBody>
      </p:sp>
      <p:sp>
        <p:nvSpPr>
          <p:cNvPr id="15" name="说明4">
            <a:extLst>
              <a:ext uri="{FF2B5EF4-FFF2-40B4-BE49-F238E27FC236}">
                <a16:creationId xmlns:a16="http://schemas.microsoft.com/office/drawing/2014/main" id="{F7DA6526-FD02-836B-BA8F-8D25ADC8E647}"/>
              </a:ext>
            </a:extLst>
          </p:cNvPr>
          <p:cNvSpPr txBox="1"/>
          <p:nvPr/>
        </p:nvSpPr>
        <p:spPr>
          <a:xfrm>
            <a:off x="7559861" y="3084947"/>
            <a:ext cx="2015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2980B9"/>
                </a:solidFill>
              </a:rPr>
              <a:t>劳斯判据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 dirty="0">
                <a:solidFill>
                  <a:srgbClr val="2980B9"/>
                </a:solidFill>
              </a:rPr>
              <a:t>奈奎斯特判据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 dirty="0">
                <a:solidFill>
                  <a:srgbClr val="2980B9"/>
                </a:solidFill>
              </a:rPr>
              <a:t>对数判据</a:t>
            </a:r>
          </a:p>
        </p:txBody>
      </p:sp>
    </p:spTree>
    <p:extLst>
      <p:ext uri="{BB962C8B-B14F-4D97-AF65-F5344CB8AC3E}">
        <p14:creationId xmlns:p14="http://schemas.microsoft.com/office/powerpoint/2010/main" val="332392489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9" name="图片 8" descr="手托下巴的年轻商务人士">
            <a:extLst>
              <a:ext uri="{FF2B5EF4-FFF2-40B4-BE49-F238E27FC236}">
                <a16:creationId xmlns:a16="http://schemas.microsoft.com/office/drawing/2014/main" id="{80E6D990-6091-E291-2D05-5D3640876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454" y="2379766"/>
            <a:ext cx="1212997" cy="3918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那这个系统有多稳定？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823137" y="1419682"/>
            <a:ext cx="1008634" cy="578882"/>
          </a:xfrm>
          <a:prstGeom prst="wedgeRoundRectCallout">
            <a:avLst>
              <a:gd name="adj1" fmla="val 27523"/>
              <a:gd name="adj2" fmla="val 88865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9810538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Stability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Margin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BE4D5B61-AF50-0153-C92B-4DA639B595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6252710"/>
                  </p:ext>
                </p:extLst>
              </p:nvPr>
            </p:nvGraphicFramePr>
            <p:xfrm>
              <a:off x="2062758" y="2204864"/>
              <a:ext cx="8126943" cy="1554480"/>
            </p:xfrm>
            <a:graphic>
              <a:graphicData uri="http://schemas.openxmlformats.org/drawingml/2006/table">
                <a:tbl>
                  <a:tblPr firstRow="1" bandRow="1">
                    <a:tableStyleId>{17292A2E-F333-43FB-9621-5CBBE7FDCDCB}</a:tableStyleId>
                  </a:tblPr>
                  <a:tblGrid>
                    <a:gridCol w="2708981">
                      <a:extLst>
                        <a:ext uri="{9D8B030D-6E8A-4147-A177-3AD203B41FA5}">
                          <a16:colId xmlns:a16="http://schemas.microsoft.com/office/drawing/2014/main" val="3623094050"/>
                        </a:ext>
                      </a:extLst>
                    </a:gridCol>
                    <a:gridCol w="2403587">
                      <a:extLst>
                        <a:ext uri="{9D8B030D-6E8A-4147-A177-3AD203B41FA5}">
                          <a16:colId xmlns:a16="http://schemas.microsoft.com/office/drawing/2014/main" val="1138126033"/>
                        </a:ext>
                      </a:extLst>
                    </a:gridCol>
                    <a:gridCol w="3014375">
                      <a:extLst>
                        <a:ext uri="{9D8B030D-6E8A-4147-A177-3AD203B41FA5}">
                          <a16:colId xmlns:a16="http://schemas.microsoft.com/office/drawing/2014/main" val="54820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讨论域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稳定边界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稳定指标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752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时域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虚轴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阻尼比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oMath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89435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频率域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(−1,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0)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800" dirty="0"/>
                            <a:t>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(−1,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0)</m:t>
                              </m:r>
                            </m:oMath>
                          </a14:m>
                          <a:r>
                            <a:rPr lang="zh-CN" altLang="en-US" sz="2800" dirty="0"/>
                            <a:t>的距离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0446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BE4D5B61-AF50-0153-C92B-4DA639B595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6252710"/>
                  </p:ext>
                </p:extLst>
              </p:nvPr>
            </p:nvGraphicFramePr>
            <p:xfrm>
              <a:off x="2062758" y="2204864"/>
              <a:ext cx="8126943" cy="1554480"/>
            </p:xfrm>
            <a:graphic>
              <a:graphicData uri="http://schemas.openxmlformats.org/drawingml/2006/table">
                <a:tbl>
                  <a:tblPr firstRow="1" bandRow="1">
                    <a:tableStyleId>{17292A2E-F333-43FB-9621-5CBBE7FDCDCB}</a:tableStyleId>
                  </a:tblPr>
                  <a:tblGrid>
                    <a:gridCol w="2708981">
                      <a:extLst>
                        <a:ext uri="{9D8B030D-6E8A-4147-A177-3AD203B41FA5}">
                          <a16:colId xmlns:a16="http://schemas.microsoft.com/office/drawing/2014/main" val="3623094050"/>
                        </a:ext>
                      </a:extLst>
                    </a:gridCol>
                    <a:gridCol w="2403587">
                      <a:extLst>
                        <a:ext uri="{9D8B030D-6E8A-4147-A177-3AD203B41FA5}">
                          <a16:colId xmlns:a16="http://schemas.microsoft.com/office/drawing/2014/main" val="1138126033"/>
                        </a:ext>
                      </a:extLst>
                    </a:gridCol>
                    <a:gridCol w="3014375">
                      <a:extLst>
                        <a:ext uri="{9D8B030D-6E8A-4147-A177-3AD203B41FA5}">
                          <a16:colId xmlns:a16="http://schemas.microsoft.com/office/drawing/2014/main" val="548205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讨论域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稳定边界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稳定指标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7522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67" t="-111905" r="-200000" b="-1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800" dirty="0"/>
                            <a:t>虚轴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69748" t="-111905" r="-420" b="-1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89435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467" t="-217073" r="-200000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13757" t="-217073" r="-126455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69748" t="-217073" r="-420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044656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D906C4DB-42CA-7FCF-949A-01DB095C1FF7}"/>
              </a:ext>
            </a:extLst>
          </p:cNvPr>
          <p:cNvGrpSpPr/>
          <p:nvPr/>
        </p:nvGrpSpPr>
        <p:grpSpPr>
          <a:xfrm>
            <a:off x="7310083" y="4018411"/>
            <a:ext cx="2597263" cy="1117247"/>
            <a:chOff x="7310083" y="4018411"/>
            <a:chExt cx="2597263" cy="1117247"/>
          </a:xfrm>
        </p:grpSpPr>
        <p:sp>
          <p:nvSpPr>
            <p:cNvPr id="32" name="燕尾形 31">
              <a:extLst>
                <a:ext uri="{FF2B5EF4-FFF2-40B4-BE49-F238E27FC236}">
                  <a16:creationId xmlns:a16="http://schemas.microsoft.com/office/drawing/2014/main" id="{07FB5B4E-6D71-746E-8C70-F21C0B40D641}"/>
                </a:ext>
              </a:extLst>
            </p:cNvPr>
            <p:cNvSpPr/>
            <p:nvPr/>
          </p:nvSpPr>
          <p:spPr>
            <a:xfrm rot="5400000">
              <a:off x="8464699" y="3963840"/>
              <a:ext cx="288032" cy="397173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重要1">
              <a:extLst>
                <a:ext uri="{FF2B5EF4-FFF2-40B4-BE49-F238E27FC236}">
                  <a16:creationId xmlns:a16="http://schemas.microsoft.com/office/drawing/2014/main" id="{F9044386-9D12-49B6-8F84-DC3F310FEF02}"/>
                </a:ext>
              </a:extLst>
            </p:cNvPr>
            <p:cNvSpPr txBox="1"/>
            <p:nvPr/>
          </p:nvSpPr>
          <p:spPr>
            <a:xfrm>
              <a:off x="7310083" y="4536535"/>
              <a:ext cx="2597263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800" dirty="0">
                  <a:solidFill>
                    <a:schemeClr val="bg1"/>
                  </a:solidFill>
                </a:rPr>
                <a:t>稳定裕度</a:t>
              </a:r>
            </a:p>
          </p:txBody>
        </p:sp>
      </p:grpSp>
      <p:sp>
        <p:nvSpPr>
          <p:cNvPr id="35" name="说明2">
            <a:extLst>
              <a:ext uri="{FF2B5EF4-FFF2-40B4-BE49-F238E27FC236}">
                <a16:creationId xmlns:a16="http://schemas.microsoft.com/office/drawing/2014/main" id="{F0710B0E-033C-CBE9-CD0C-032B1852DE5B}"/>
              </a:ext>
            </a:extLst>
          </p:cNvPr>
          <p:cNvSpPr txBox="1"/>
          <p:nvPr/>
        </p:nvSpPr>
        <p:spPr>
          <a:xfrm>
            <a:off x="7263453" y="5365750"/>
            <a:ext cx="2690522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accent1"/>
                </a:solidFill>
              </a:rPr>
              <a:t>(</a:t>
            </a:r>
            <a:r>
              <a:rPr kumimoji="1" lang="zh-CN" altLang="en-US" sz="2800" dirty="0">
                <a:solidFill>
                  <a:schemeClr val="accent1"/>
                </a:solidFill>
              </a:rPr>
              <a:t>频域性能指标</a:t>
            </a:r>
            <a:r>
              <a:rPr kumimoji="1" lang="en-US" altLang="zh-CN" sz="2800" dirty="0">
                <a:solidFill>
                  <a:schemeClr val="accent1"/>
                </a:solidFill>
              </a:rPr>
              <a:t>)</a:t>
            </a:r>
            <a:endParaRPr kumimoji="1" lang="zh-CN" alt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9599636" y="1685426"/>
            <a:ext cx="1176313" cy="16709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7061" h="2066714">
                <a:moveTo>
                  <a:pt x="0" y="0"/>
                </a:moveTo>
                <a:cubicBezTo>
                  <a:pt x="67557" y="898230"/>
                  <a:pt x="548661" y="2917918"/>
                  <a:pt x="867061" y="167138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9472804" y="1339989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804" y="1339989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8975011" y="229629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011" y="2296295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8237011" y="26055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255" r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坐标轴2">
            <a:extLst>
              <a:ext uri="{FF2B5EF4-FFF2-40B4-BE49-F238E27FC236}">
                <a16:creationId xmlns:a16="http://schemas.microsoft.com/office/drawing/2014/main" id="{C1C75705-B4BA-3FAC-3B45-1E94AA06DCE7}"/>
              </a:ext>
            </a:extLst>
          </p:cNvPr>
          <p:cNvGrpSpPr/>
          <p:nvPr/>
        </p:nvGrpSpPr>
        <p:grpSpPr>
          <a:xfrm>
            <a:off x="7127120" y="3365079"/>
            <a:ext cx="5023507" cy="3231633"/>
            <a:chOff x="7127120" y="3365079"/>
            <a:chExt cx="5023507" cy="3231633"/>
          </a:xfrm>
        </p:grpSpPr>
        <p:grpSp>
          <p:nvGrpSpPr>
            <p:cNvPr id="64" name="坐标轴">
              <a:extLst>
                <a:ext uri="{FF2B5EF4-FFF2-40B4-BE49-F238E27FC236}">
                  <a16:creationId xmlns:a16="http://schemas.microsoft.com/office/drawing/2014/main" id="{857598FC-ED6A-1874-7FB0-EA238ADF6AAE}"/>
                </a:ext>
              </a:extLst>
            </p:cNvPr>
            <p:cNvGrpSpPr/>
            <p:nvPr/>
          </p:nvGrpSpPr>
          <p:grpSpPr>
            <a:xfrm>
              <a:off x="7762323" y="3365079"/>
              <a:ext cx="4388304" cy="3231633"/>
              <a:chOff x="7059016" y="2929714"/>
              <a:chExt cx="4388304" cy="3231633"/>
            </a:xfrm>
          </p:grpSpPr>
          <p:cxnSp>
            <p:nvCxnSpPr>
              <p:cNvPr id="65" name="实轴">
                <a:extLst>
                  <a:ext uri="{FF2B5EF4-FFF2-40B4-BE49-F238E27FC236}">
                    <a16:creationId xmlns:a16="http://schemas.microsoft.com/office/drawing/2014/main" id="{1D152970-D949-43AB-9499-4DE84E319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虚轴">
                <a:extLst>
                  <a:ext uri="{FF2B5EF4-FFF2-40B4-BE49-F238E27FC236}">
                    <a16:creationId xmlns:a16="http://schemas.microsoft.com/office/drawing/2014/main" id="{0FAA4D59-90C5-47EB-DB44-21621CE6C9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255" r="-148936" b="-186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273" r="-2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13"/>
                  <a:stretch>
                    <a:fillRect r="-84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14"/>
                  <a:stretch>
                    <a:fillRect r="-1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15"/>
                  <a:stretch>
                    <a:fillRect r="-1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虚线3">
              <a:extLst>
                <a:ext uri="{FF2B5EF4-FFF2-40B4-BE49-F238E27FC236}">
                  <a16:creationId xmlns:a16="http://schemas.microsoft.com/office/drawing/2014/main" id="{156AD9F6-491A-D264-A256-9D7D42310D8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虚线2">
              <a:extLst>
                <a:ext uri="{FF2B5EF4-FFF2-40B4-BE49-F238E27FC236}">
                  <a16:creationId xmlns:a16="http://schemas.microsoft.com/office/drawing/2014/main" id="{C25B28D5-3723-077B-2EB1-67863A7965E9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虚线1">
              <a:extLst>
                <a:ext uri="{FF2B5EF4-FFF2-40B4-BE49-F238E27FC236}">
                  <a16:creationId xmlns:a16="http://schemas.microsoft.com/office/drawing/2014/main" id="{9E84E2FD-3D4B-3526-D1CC-97CAE4CED7F4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转折频率组合1">
            <a:extLst>
              <a:ext uri="{FF2B5EF4-FFF2-40B4-BE49-F238E27FC236}">
                <a16:creationId xmlns:a16="http://schemas.microsoft.com/office/drawing/2014/main" id="{C8E12792-ECFF-5E52-B99B-FCDF2374DAC9}"/>
              </a:ext>
            </a:extLst>
          </p:cNvPr>
          <p:cNvGrpSpPr/>
          <p:nvPr/>
        </p:nvGrpSpPr>
        <p:grpSpPr>
          <a:xfrm>
            <a:off x="8856806" y="4368800"/>
            <a:ext cx="1090074" cy="2460797"/>
            <a:chOff x="8856806" y="4368800"/>
            <a:chExt cx="1090074" cy="24607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/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blipFill>
                  <a:blip r:embed="rId1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转折频率虚线1">
              <a:extLst>
                <a:ext uri="{FF2B5EF4-FFF2-40B4-BE49-F238E27FC236}">
                  <a16:creationId xmlns:a16="http://schemas.microsoft.com/office/drawing/2014/main" id="{35DC8A43-0E8B-B461-C991-748C13840DD1}"/>
                </a:ext>
              </a:extLst>
            </p:cNvPr>
            <p:cNvCxnSpPr>
              <a:cxnSpLocks/>
              <a:stCxn id="86" idx="1"/>
            </p:cNvCxnSpPr>
            <p:nvPr/>
          </p:nvCxnSpPr>
          <p:spPr>
            <a:xfrm>
              <a:off x="9334499" y="4368800"/>
              <a:ext cx="0" cy="194623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转折频率组合2">
            <a:extLst>
              <a:ext uri="{FF2B5EF4-FFF2-40B4-BE49-F238E27FC236}">
                <a16:creationId xmlns:a16="http://schemas.microsoft.com/office/drawing/2014/main" id="{7658C12B-ADFA-61B5-C86D-7B8A22582BC3}"/>
              </a:ext>
            </a:extLst>
          </p:cNvPr>
          <p:cNvGrpSpPr/>
          <p:nvPr/>
        </p:nvGrpSpPr>
        <p:grpSpPr>
          <a:xfrm>
            <a:off x="10243142" y="5454650"/>
            <a:ext cx="1090074" cy="1370991"/>
            <a:chOff x="10243142" y="5454650"/>
            <a:chExt cx="1090074" cy="13709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7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转折频率虚线2">
              <a:extLst>
                <a:ext uri="{FF2B5EF4-FFF2-40B4-BE49-F238E27FC236}">
                  <a16:creationId xmlns:a16="http://schemas.microsoft.com/office/drawing/2014/main" id="{B9F8ECC0-4197-8A89-8352-4832E96A85D6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 flipH="1">
              <a:off x="10769104" y="5454650"/>
              <a:ext cx="6847" cy="85407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9613080" y="834104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9729842" y="255393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10019553" y="193324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10772866" y="284185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2866" y="2841859"/>
                <a:ext cx="80122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8668019" y="148986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019" y="1489863"/>
                <a:ext cx="80122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9834617" y="1998785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10404539" y="1603376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9961693" y="1900177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1693" y="1900177"/>
                <a:ext cx="421699" cy="523220"/>
              </a:xfrm>
              <a:prstGeom prst="rect">
                <a:avLst/>
              </a:prstGeom>
              <a:blipFill>
                <a:blip r:embed="rId20"/>
                <a:stretch>
                  <a:fillRect l="-2941"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10080929" y="829321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10080929" y="1122574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10271306" y="371800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306" y="371800"/>
                <a:ext cx="421699" cy="703013"/>
              </a:xfrm>
              <a:prstGeom prst="rect">
                <a:avLst/>
              </a:prstGeom>
              <a:blipFill>
                <a:blip r:embed="rId2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8468616" y="2856444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616" y="2856444"/>
                <a:ext cx="801225" cy="523220"/>
              </a:xfrm>
              <a:prstGeom prst="rect">
                <a:avLst/>
              </a:prstGeom>
              <a:blipFill>
                <a:blip r:embed="rId22"/>
                <a:stretch>
                  <a:fillRect l="-3077" r="-46154" b="-19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8288120" y="3932621"/>
            <a:ext cx="3481363" cy="28270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115" h="3496696">
                <a:moveTo>
                  <a:pt x="0" y="3496696"/>
                </a:moveTo>
                <a:lnTo>
                  <a:pt x="771287" y="2957193"/>
                </a:lnTo>
                <a:cubicBezTo>
                  <a:pt x="1009049" y="2707573"/>
                  <a:pt x="1535424" y="1980010"/>
                  <a:pt x="1833782" y="1614121"/>
                </a:cubicBezTo>
                <a:lnTo>
                  <a:pt x="2566115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相频">
            <a:extLst>
              <a:ext uri="{FF2B5EF4-FFF2-40B4-BE49-F238E27FC236}">
                <a16:creationId xmlns:a16="http://schemas.microsoft.com/office/drawing/2014/main" id="{4547C94B-B599-D3E0-60B7-E2B004E4C82A}"/>
              </a:ext>
            </a:extLst>
          </p:cNvPr>
          <p:cNvSpPr/>
          <p:nvPr/>
        </p:nvSpPr>
        <p:spPr>
          <a:xfrm flipV="1">
            <a:off x="8286908" y="4890877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1601794" y="13423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/>
              <p:nvPr/>
            </p:nvSpPr>
            <p:spPr>
              <a:xfrm>
                <a:off x="8623355" y="370045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355" y="3700452"/>
                <a:ext cx="801224" cy="524695"/>
              </a:xfrm>
              <a:prstGeom prst="rect">
                <a:avLst/>
              </a:prstGeom>
              <a:blipFill>
                <a:blip r:embed="rId23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/>
              <p:nvPr/>
            </p:nvSpPr>
            <p:spPr>
              <a:xfrm>
                <a:off x="10314359" y="4756934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4359" y="4756934"/>
                <a:ext cx="801224" cy="524695"/>
              </a:xfrm>
              <a:prstGeom prst="rect">
                <a:avLst/>
              </a:prstGeom>
              <a:blipFill>
                <a:blip r:embed="rId24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/>
              <p:nvPr/>
            </p:nvSpPr>
            <p:spPr>
              <a:xfrm>
                <a:off x="11014436" y="5498384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4436" y="5498384"/>
                <a:ext cx="801224" cy="524695"/>
              </a:xfrm>
              <a:prstGeom prst="rect">
                <a:avLst/>
              </a:prstGeom>
              <a:blipFill>
                <a:blip r:embed="rId25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wc交点2">
            <a:extLst>
              <a:ext uri="{FF2B5EF4-FFF2-40B4-BE49-F238E27FC236}">
                <a16:creationId xmlns:a16="http://schemas.microsoft.com/office/drawing/2014/main" id="{CD5A7C1C-75BC-E581-9D57-57C28042967A}"/>
              </a:ext>
            </a:extLst>
          </p:cNvPr>
          <p:cNvSpPr/>
          <p:nvPr/>
        </p:nvSpPr>
        <p:spPr>
          <a:xfrm>
            <a:off x="8728120" y="409157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wg交点2">
            <a:extLst>
              <a:ext uri="{FF2B5EF4-FFF2-40B4-BE49-F238E27FC236}">
                <a16:creationId xmlns:a16="http://schemas.microsoft.com/office/drawing/2014/main" id="{A2D09D30-F2C2-2A6D-D44C-3E6A39D6BFEF}"/>
              </a:ext>
            </a:extLst>
          </p:cNvPr>
          <p:cNvSpPr/>
          <p:nvPr/>
        </p:nvSpPr>
        <p:spPr>
          <a:xfrm>
            <a:off x="10105326" y="551258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截止频率辅助线">
            <a:extLst>
              <a:ext uri="{FF2B5EF4-FFF2-40B4-BE49-F238E27FC236}">
                <a16:creationId xmlns:a16="http://schemas.microsoft.com/office/drawing/2014/main" id="{E6F96B76-B503-F912-309A-7F85788C2FC4}"/>
              </a:ext>
            </a:extLst>
          </p:cNvPr>
          <p:cNvCxnSpPr>
            <a:cxnSpLocks/>
            <a:stCxn id="93" idx="4"/>
            <a:endCxn id="101" idx="0"/>
          </p:cNvCxnSpPr>
          <p:nvPr/>
        </p:nvCxnSpPr>
        <p:spPr>
          <a:xfrm>
            <a:off x="8789496" y="4214322"/>
            <a:ext cx="0" cy="66555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/>
              <p:nvPr/>
            </p:nvSpPr>
            <p:spPr>
              <a:xfrm>
                <a:off x="8157889" y="403285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889" y="4032858"/>
                <a:ext cx="8012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/>
              <p:nvPr/>
            </p:nvSpPr>
            <p:spPr>
              <a:xfrm>
                <a:off x="8771278" y="4958998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1278" y="4958998"/>
                <a:ext cx="421699" cy="523220"/>
              </a:xfrm>
              <a:prstGeom prst="rect">
                <a:avLst/>
              </a:prstGeom>
              <a:blipFill>
                <a:blip r:embed="rId2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873416" y="5572394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416" y="5572394"/>
                <a:ext cx="545352" cy="558230"/>
              </a:xfrm>
              <a:prstGeom prst="rect">
                <a:avLst/>
              </a:prstGeom>
              <a:blipFill>
                <a:blip r:embed="rId28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穿越频率辅助线">
            <a:extLst>
              <a:ext uri="{FF2B5EF4-FFF2-40B4-BE49-F238E27FC236}">
                <a16:creationId xmlns:a16="http://schemas.microsoft.com/office/drawing/2014/main" id="{41F28842-4ACF-A947-A88C-BDE200C2D39B}"/>
              </a:ext>
            </a:extLst>
          </p:cNvPr>
          <p:cNvCxnSpPr>
            <a:cxnSpLocks/>
            <a:stCxn id="102" idx="4"/>
            <a:endCxn id="94" idx="0"/>
          </p:cNvCxnSpPr>
          <p:nvPr/>
        </p:nvCxnSpPr>
        <p:spPr>
          <a:xfrm>
            <a:off x="10163992" y="5051430"/>
            <a:ext cx="2710" cy="46115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/>
              <p:nvPr/>
            </p:nvSpPr>
            <p:spPr>
              <a:xfrm>
                <a:off x="10151367" y="4238687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367" y="4238687"/>
                <a:ext cx="917477" cy="523220"/>
              </a:xfrm>
              <a:prstGeom prst="rect">
                <a:avLst/>
              </a:prstGeom>
              <a:blipFill>
                <a:blip r:embed="rId29"/>
                <a:stretch>
                  <a:fillRect l="-4110" r="-3150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幅相交点">
            <a:extLst>
              <a:ext uri="{FF2B5EF4-FFF2-40B4-BE49-F238E27FC236}">
                <a16:creationId xmlns:a16="http://schemas.microsoft.com/office/drawing/2014/main" id="{A7E144DB-1616-0BB1-4808-E71614D24C25}"/>
              </a:ext>
            </a:extLst>
          </p:cNvPr>
          <p:cNvSpPr/>
          <p:nvPr/>
        </p:nvSpPr>
        <p:spPr>
          <a:xfrm>
            <a:off x="8728120" y="4879873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幅频交点">
            <a:extLst>
              <a:ext uri="{FF2B5EF4-FFF2-40B4-BE49-F238E27FC236}">
                <a16:creationId xmlns:a16="http://schemas.microsoft.com/office/drawing/2014/main" id="{52057664-0BB5-0BE7-230A-2E2123E9BD5C}"/>
              </a:ext>
            </a:extLst>
          </p:cNvPr>
          <p:cNvSpPr/>
          <p:nvPr/>
        </p:nvSpPr>
        <p:spPr>
          <a:xfrm>
            <a:off x="10102616" y="4928678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3" name="相角裕度双箭头">
            <a:extLst>
              <a:ext uri="{FF2B5EF4-FFF2-40B4-BE49-F238E27FC236}">
                <a16:creationId xmlns:a16="http://schemas.microsoft.com/office/drawing/2014/main" id="{290295E3-18DD-C67B-EB52-4A99DDAB1A59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8789496" y="5002625"/>
            <a:ext cx="0" cy="569769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幅值裕度双箭头2">
            <a:extLst>
              <a:ext uri="{FF2B5EF4-FFF2-40B4-BE49-F238E27FC236}">
                <a16:creationId xmlns:a16="http://schemas.microsoft.com/office/drawing/2014/main" id="{32CE3BB7-4F24-756F-90EB-5414254F30BD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10163992" y="4147797"/>
            <a:ext cx="0" cy="780881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相角穿越频率">
                <a:extLst>
                  <a:ext uri="{FF2B5EF4-FFF2-40B4-BE49-F238E27FC236}">
                    <a16:creationId xmlns:a16="http://schemas.microsoft.com/office/drawing/2014/main" id="{6FBCEB77-541B-21D3-7D6F-16E8BF905A47}"/>
                  </a:ext>
                </a:extLst>
              </p:cNvPr>
              <p:cNvSpPr txBox="1"/>
              <p:nvPr/>
            </p:nvSpPr>
            <p:spPr>
              <a:xfrm>
                <a:off x="2595815" y="2615310"/>
                <a:ext cx="3659812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=−180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相角穿越频率">
                <a:extLst>
                  <a:ext uri="{FF2B5EF4-FFF2-40B4-BE49-F238E27FC236}">
                    <a16:creationId xmlns:a16="http://schemas.microsoft.com/office/drawing/2014/main" id="{6FBCEB77-541B-21D3-7D6F-16E8BF905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815" y="2615310"/>
                <a:ext cx="3659812" cy="589072"/>
              </a:xfrm>
              <a:prstGeom prst="rect">
                <a:avLst/>
              </a:prstGeom>
              <a:blipFill>
                <a:blip r:embed="rId3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/>
              <p:nvPr/>
            </p:nvSpPr>
            <p:spPr>
              <a:xfrm>
                <a:off x="2768657" y="844648"/>
                <a:ext cx="268448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kumimoji="1"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截止频率公式">
                <a:extLst>
                  <a:ext uri="{FF2B5EF4-FFF2-40B4-BE49-F238E27FC236}">
                    <a16:creationId xmlns:a16="http://schemas.microsoft.com/office/drawing/2014/main" id="{BA9D9906-491B-B102-5B9E-16BEBDE0C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657" y="844648"/>
                <a:ext cx="2684482" cy="954107"/>
              </a:xfrm>
              <a:prstGeom prst="rect">
                <a:avLst/>
              </a:prstGeom>
              <a:blipFill>
                <a:blip r:embed="rId31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相角裕度公式">
                <a:extLst>
                  <a:ext uri="{FF2B5EF4-FFF2-40B4-BE49-F238E27FC236}">
                    <a16:creationId xmlns:a16="http://schemas.microsoft.com/office/drawing/2014/main" id="{BD2E5100-8A3F-0F36-873D-E241250535F7}"/>
                  </a:ext>
                </a:extLst>
              </p:cNvPr>
              <p:cNvSpPr txBox="1"/>
              <p:nvPr/>
            </p:nvSpPr>
            <p:spPr>
              <a:xfrm>
                <a:off x="2816166" y="1860144"/>
                <a:ext cx="35208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=180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°+∠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相角裕度公式">
                <a:extLst>
                  <a:ext uri="{FF2B5EF4-FFF2-40B4-BE49-F238E27FC236}">
                    <a16:creationId xmlns:a16="http://schemas.microsoft.com/office/drawing/2014/main" id="{BD2E5100-8A3F-0F36-873D-E24125053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166" y="1860144"/>
                <a:ext cx="3520808" cy="523220"/>
              </a:xfrm>
              <a:prstGeom prst="rect">
                <a:avLst/>
              </a:prstGeom>
              <a:blipFill>
                <a:blip r:embed="rId3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幅值裕度公式2">
                <a:extLst>
                  <a:ext uri="{FF2B5EF4-FFF2-40B4-BE49-F238E27FC236}">
                    <a16:creationId xmlns:a16="http://schemas.microsoft.com/office/drawing/2014/main" id="{B543DAD9-B759-D405-4DF6-7306DC8B5D76}"/>
                  </a:ext>
                </a:extLst>
              </p:cNvPr>
              <p:cNvSpPr txBox="1"/>
              <p:nvPr/>
            </p:nvSpPr>
            <p:spPr>
              <a:xfrm>
                <a:off x="2887603" y="3974831"/>
                <a:ext cx="3659812" cy="800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dB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kumimoji="1"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f>
                          <m:f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Microsoft YaHei" panose="020B0503020204020204" pitchFamily="34" charset="-122"/>
                                      </a:rPr>
                                      <m:t>𝑗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sz="2800" i="1" smtClean="0">
                                            <a:solidFill>
                                              <a:srgbClr val="E448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sz="2800" i="1">
                                            <a:solidFill>
                                              <a:srgbClr val="E448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sz="2800" i="1">
                                            <a:solidFill>
                                              <a:srgbClr val="E4486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den>
                        </m:f>
                      </m:e>
                    </m:func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7" name="幅值裕度公式2">
                <a:extLst>
                  <a:ext uri="{FF2B5EF4-FFF2-40B4-BE49-F238E27FC236}">
                    <a16:creationId xmlns:a16="http://schemas.microsoft.com/office/drawing/2014/main" id="{B543DAD9-B759-D405-4DF6-7306DC8B5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603" y="3974831"/>
                <a:ext cx="3659812" cy="800476"/>
              </a:xfrm>
              <a:prstGeom prst="rect">
                <a:avLst/>
              </a:prstGeom>
              <a:blipFill>
                <a:blip r:embed="rId33"/>
                <a:stretch>
                  <a:fillRect l="-1038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幅值裕度公式1">
                <a:extLst>
                  <a:ext uri="{FF2B5EF4-FFF2-40B4-BE49-F238E27FC236}">
                    <a16:creationId xmlns:a16="http://schemas.microsoft.com/office/drawing/2014/main" id="{3893CAFE-9307-BE86-67F9-7A05496B77F3}"/>
                  </a:ext>
                </a:extLst>
              </p:cNvPr>
              <p:cNvSpPr txBox="1"/>
              <p:nvPr/>
            </p:nvSpPr>
            <p:spPr>
              <a:xfrm>
                <a:off x="2920572" y="3273911"/>
                <a:ext cx="3659812" cy="800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solidFill>
                                          <a:srgbClr val="E448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solidFill>
                                          <a:srgbClr val="E448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i="1">
                                        <a:solidFill>
                                          <a:srgbClr val="E448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1" name="幅值裕度公式1">
                <a:extLst>
                  <a:ext uri="{FF2B5EF4-FFF2-40B4-BE49-F238E27FC236}">
                    <a16:creationId xmlns:a16="http://schemas.microsoft.com/office/drawing/2014/main" id="{3893CAFE-9307-BE86-67F9-7A05496B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572" y="3273911"/>
                <a:ext cx="3659812" cy="800476"/>
              </a:xfrm>
              <a:prstGeom prst="rect">
                <a:avLst/>
              </a:prstGeom>
              <a:blipFill>
                <a:blip r:embed="rId34"/>
                <a:stretch>
                  <a:fillRect l="-692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重要1">
                <a:extLst>
                  <a:ext uri="{FF2B5EF4-FFF2-40B4-BE49-F238E27FC236}">
                    <a16:creationId xmlns:a16="http://schemas.microsoft.com/office/drawing/2014/main" id="{82E9E586-9227-8D81-C96B-3E40E245BE44}"/>
                  </a:ext>
                </a:extLst>
              </p:cNvPr>
              <p:cNvSpPr txBox="1"/>
              <p:nvPr/>
            </p:nvSpPr>
            <p:spPr>
              <a:xfrm>
                <a:off x="329979" y="1811607"/>
                <a:ext cx="2447876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相角裕度</a:t>
                </a:r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重要1">
                <a:extLst>
                  <a:ext uri="{FF2B5EF4-FFF2-40B4-BE49-F238E27FC236}">
                    <a16:creationId xmlns:a16="http://schemas.microsoft.com/office/drawing/2014/main" id="{82E9E586-9227-8D81-C96B-3E40E245B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79" y="1811607"/>
                <a:ext cx="2447876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重要2">
                <a:extLst>
                  <a:ext uri="{FF2B5EF4-FFF2-40B4-BE49-F238E27FC236}">
                    <a16:creationId xmlns:a16="http://schemas.microsoft.com/office/drawing/2014/main" id="{4513D27E-D669-BD7C-BB2E-98C37B6DBB8A}"/>
                  </a:ext>
                </a:extLst>
              </p:cNvPr>
              <p:cNvSpPr txBox="1"/>
              <p:nvPr/>
            </p:nvSpPr>
            <p:spPr>
              <a:xfrm>
                <a:off x="334961" y="3690284"/>
                <a:ext cx="2447877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幅值裕度</a:t>
                </a:r>
                <a14:m>
                  <m:oMath xmlns:m="http://schemas.openxmlformats.org/officeDocument/2006/math">
                    <m:r>
                      <a:rPr kumimoji="1" lang="en-US" altLang="zh-CN" sz="32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重要2">
                <a:extLst>
                  <a:ext uri="{FF2B5EF4-FFF2-40B4-BE49-F238E27FC236}">
                    <a16:creationId xmlns:a16="http://schemas.microsoft.com/office/drawing/2014/main" id="{4513D27E-D669-BD7C-BB2E-98C37B6D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1" y="3690284"/>
                <a:ext cx="2447877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说明1">
            <a:extLst>
              <a:ext uri="{FF2B5EF4-FFF2-40B4-BE49-F238E27FC236}">
                <a16:creationId xmlns:a16="http://schemas.microsoft.com/office/drawing/2014/main" id="{26261C40-B559-8370-8420-2446F81DD126}"/>
              </a:ext>
            </a:extLst>
          </p:cNvPr>
          <p:cNvSpPr txBox="1"/>
          <p:nvPr/>
        </p:nvSpPr>
        <p:spPr>
          <a:xfrm>
            <a:off x="345132" y="5523146"/>
            <a:ext cx="3130942" cy="1055608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/>
                </a:solidFill>
              </a:rPr>
              <a:t>系统在</a:t>
            </a:r>
            <a:r>
              <a:rPr kumimoji="1" lang="zh-CN" altLang="en-US" sz="2800" dirty="0">
                <a:solidFill>
                  <a:srgbClr val="159F84"/>
                </a:solidFill>
              </a:rPr>
              <a:t>相角</a:t>
            </a:r>
            <a:r>
              <a:rPr kumimoji="1" lang="zh-CN" altLang="en-US" sz="2800" dirty="0">
                <a:solidFill>
                  <a:schemeClr val="accent1"/>
                </a:solidFill>
              </a:rPr>
              <a:t>、</a:t>
            </a:r>
            <a:r>
              <a:rPr kumimoji="1" lang="zh-CN" altLang="en-US" sz="2800" dirty="0">
                <a:solidFill>
                  <a:srgbClr val="159F84"/>
                </a:solidFill>
              </a:rPr>
              <a:t>幅值</a:t>
            </a:r>
            <a:r>
              <a:rPr kumimoji="1" lang="zh-CN" altLang="en-US" sz="2800" dirty="0">
                <a:solidFill>
                  <a:schemeClr val="accent1"/>
                </a:solidFill>
              </a:rPr>
              <a:t>方面的稳定储备量</a:t>
            </a:r>
            <a:endParaRPr kumimoji="1" lang="zh-CN" altLang="en-US" sz="2800" dirty="0">
              <a:solidFill>
                <a:srgbClr val="159F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说明2">
                <a:extLst>
                  <a:ext uri="{FF2B5EF4-FFF2-40B4-BE49-F238E27FC236}">
                    <a16:creationId xmlns:a16="http://schemas.microsoft.com/office/drawing/2014/main" id="{56BAAA20-BC56-1AA9-5A1E-24E0A7868D0D}"/>
                  </a:ext>
                </a:extLst>
              </p:cNvPr>
              <p:cNvSpPr txBox="1"/>
              <p:nvPr/>
            </p:nvSpPr>
            <p:spPr>
              <a:xfrm>
                <a:off x="3705826" y="5516874"/>
                <a:ext cx="2473585" cy="1055608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一般要求</a:t>
                </a:r>
                <a:endParaRPr kumimoji="1" lang="en-US" altLang="zh-CN" sz="2800" dirty="0">
                  <a:solidFill>
                    <a:schemeClr val="accen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zh-CN" altLang="en-US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&gt;40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°,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kumimoji="1" lang="zh-CN" altLang="en-US" sz="2800" dirty="0">
                    <a:solidFill>
                      <a:srgbClr val="159F8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3" name="说明2">
                <a:extLst>
                  <a:ext uri="{FF2B5EF4-FFF2-40B4-BE49-F238E27FC236}">
                    <a16:creationId xmlns:a16="http://schemas.microsoft.com/office/drawing/2014/main" id="{56BAAA20-BC56-1AA9-5A1E-24E0A7868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826" y="5516874"/>
                <a:ext cx="2473585" cy="1055608"/>
              </a:xfrm>
              <a:prstGeom prst="flowChartAlternateProcess">
                <a:avLst/>
              </a:prstGeom>
              <a:blipFill>
                <a:blip r:embed="rId37"/>
                <a:stretch>
                  <a:fillRect l="-2525" t="-116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小标题1">
                <a:extLst>
                  <a:ext uri="{FF2B5EF4-FFF2-40B4-BE49-F238E27FC236}">
                    <a16:creationId xmlns:a16="http://schemas.microsoft.com/office/drawing/2014/main" id="{ADC23408-5D06-3F66-22F1-CA321942FF1C}"/>
                  </a:ext>
                </a:extLst>
              </p:cNvPr>
              <p:cNvSpPr/>
              <p:nvPr/>
            </p:nvSpPr>
            <p:spPr bwMode="auto">
              <a:xfrm>
                <a:off x="334963" y="1005076"/>
                <a:ext cx="2447875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截止频率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2" name="小标题1">
                <a:extLst>
                  <a:ext uri="{FF2B5EF4-FFF2-40B4-BE49-F238E27FC236}">
                    <a16:creationId xmlns:a16="http://schemas.microsoft.com/office/drawing/2014/main" id="{ADC23408-5D06-3F66-22F1-CA321942F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3" y="1005076"/>
                <a:ext cx="2447875" cy="576000"/>
              </a:xfrm>
              <a:prstGeom prst="roundRect">
                <a:avLst/>
              </a:prstGeom>
              <a:blipFill>
                <a:blip r:embed="rId38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小标题2">
                <a:extLst>
                  <a:ext uri="{FF2B5EF4-FFF2-40B4-BE49-F238E27FC236}">
                    <a16:creationId xmlns:a16="http://schemas.microsoft.com/office/drawing/2014/main" id="{3C55DB88-4DB9-9B27-F8FA-C8AAD80186D9}"/>
                  </a:ext>
                </a:extLst>
              </p:cNvPr>
              <p:cNvSpPr/>
              <p:nvPr/>
            </p:nvSpPr>
            <p:spPr bwMode="auto">
              <a:xfrm>
                <a:off x="334961" y="2619503"/>
                <a:ext cx="2442894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:r>
                  <a:rPr lang="zh-CN" altLang="en-US" sz="3200" b="1" dirty="0">
                    <a:solidFill>
                      <a:schemeClr val="bg1"/>
                    </a:solidFill>
                    <a:latin typeface="+mn-ea"/>
                  </a:rPr>
                  <a:t>穿越频率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kumimoji="1" lang="en-US" altLang="zh-CN" sz="32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𝒈</m:t>
                        </m:r>
                      </m:sub>
                    </m:sSub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4" name="小标题2">
                <a:extLst>
                  <a:ext uri="{FF2B5EF4-FFF2-40B4-BE49-F238E27FC236}">
                    <a16:creationId xmlns:a16="http://schemas.microsoft.com/office/drawing/2014/main" id="{3C55DB88-4DB9-9B27-F8FA-C8AAD80186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961" y="2619503"/>
                <a:ext cx="2442894" cy="576000"/>
              </a:xfrm>
              <a:prstGeom prst="roundRect">
                <a:avLst/>
              </a:prstGeom>
              <a:blipFill>
                <a:blip r:embed="rId39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小标题3">
                <a:extLst>
                  <a:ext uri="{FF2B5EF4-FFF2-40B4-BE49-F238E27FC236}">
                    <a16:creationId xmlns:a16="http://schemas.microsoft.com/office/drawing/2014/main" id="{A7609737-19DB-BBDD-97F8-15E34D9C84BA}"/>
                  </a:ext>
                </a:extLst>
              </p:cNvPr>
              <p:cNvSpPr/>
              <p:nvPr/>
            </p:nvSpPr>
            <p:spPr bwMode="auto">
              <a:xfrm>
                <a:off x="6145213" y="340329"/>
                <a:ext cx="2592886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  <a:latin typeface="+mn-ea"/>
                  </a:rPr>
                  <a:t>几何意义</a:t>
                </a:r>
              </a:p>
            </p:txBody>
          </p:sp>
        </mc:Choice>
        <mc:Fallback xmlns="">
          <p:sp>
            <p:nvSpPr>
              <p:cNvPr id="42" name="小标题3">
                <a:extLst>
                  <a:ext uri="{FF2B5EF4-FFF2-40B4-BE49-F238E27FC236}">
                    <a16:creationId xmlns:a16="http://schemas.microsoft.com/office/drawing/2014/main" id="{A7609737-19DB-BBDD-97F8-15E34D9C84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5213" y="340329"/>
                <a:ext cx="2592886" cy="576000"/>
              </a:xfrm>
              <a:prstGeom prst="roundRect">
                <a:avLst/>
              </a:prstGeom>
              <a:blipFill>
                <a:blip r:embed="rId40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小标题4">
                <a:extLst>
                  <a:ext uri="{FF2B5EF4-FFF2-40B4-BE49-F238E27FC236}">
                    <a16:creationId xmlns:a16="http://schemas.microsoft.com/office/drawing/2014/main" id="{3B71321E-61B8-D7D9-817F-5B48497E8593}"/>
                  </a:ext>
                </a:extLst>
              </p:cNvPr>
              <p:cNvSpPr/>
              <p:nvPr/>
            </p:nvSpPr>
            <p:spPr bwMode="auto">
              <a:xfrm>
                <a:off x="345132" y="4750248"/>
                <a:ext cx="2592886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1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en-US" sz="3200" dirty="0">
                    <a:solidFill>
                      <a:schemeClr val="bg1"/>
                    </a:solidFill>
                    <a:latin typeface="+mn-ea"/>
                  </a:rPr>
                  <a:t>物理意义</a:t>
                </a:r>
              </a:p>
            </p:txBody>
          </p:sp>
        </mc:Choice>
        <mc:Fallback xmlns="">
          <p:sp>
            <p:nvSpPr>
              <p:cNvPr id="111" name="小标题4">
                <a:extLst>
                  <a:ext uri="{FF2B5EF4-FFF2-40B4-BE49-F238E27FC236}">
                    <a16:creationId xmlns:a16="http://schemas.microsoft.com/office/drawing/2014/main" id="{3B71321E-61B8-D7D9-817F-5B48497E85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32" y="4750248"/>
                <a:ext cx="2592886" cy="576000"/>
              </a:xfrm>
              <a:prstGeom prst="roundRect">
                <a:avLst/>
              </a:prstGeom>
              <a:blipFill>
                <a:blip r:embed="rId41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973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500"/>
                            </p:stCondLst>
                            <p:childTnLst>
                              <p:par>
                                <p:cTn id="1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 tmFilter="0, 0; .2, .5; .8, .5; 1, 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4" dur="250" autoRev="1" fill="hold"/>
                                        <p:tgtEl>
                                          <p:spTgt spid="1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1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500"/>
                            </p:stCondLst>
                            <p:childTnLst>
                              <p:par>
                                <p:cTn id="2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"/>
                            </p:stCondLst>
                            <p:childTnLst>
                              <p:par>
                                <p:cTn id="2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7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5" grpId="0" animBg="1"/>
      <p:bldP spid="44" grpId="0"/>
      <p:bldP spid="46" grpId="0"/>
      <p:bldP spid="3" grpId="0" animBg="1"/>
      <p:bldP spid="47" grpId="0" animBg="1"/>
      <p:bldP spid="47" grpId="1" animBg="1"/>
      <p:bldP spid="59" grpId="0" animBg="1"/>
      <p:bldP spid="59" grpId="1" animBg="1"/>
      <p:bldP spid="63" grpId="0"/>
      <p:bldP spid="54" grpId="0"/>
      <p:bldP spid="7" grpId="0" animBg="1"/>
      <p:bldP spid="43" grpId="0"/>
      <p:bldP spid="52" grpId="0"/>
      <p:bldP spid="55" grpId="0"/>
      <p:bldP spid="86" grpId="0" animBg="1"/>
      <p:bldP spid="87" grpId="0" animBg="1"/>
      <p:bldP spid="88" grpId="0"/>
      <p:bldP spid="89" grpId="0"/>
      <p:bldP spid="90" grpId="0"/>
      <p:bldP spid="93" grpId="0" animBg="1"/>
      <p:bldP spid="93" grpId="1" animBg="1"/>
      <p:bldP spid="94" grpId="0" animBg="1"/>
      <p:bldP spid="94" grpId="1" animBg="1"/>
      <p:bldP spid="96" grpId="0"/>
      <p:bldP spid="97" grpId="0"/>
      <p:bldP spid="98" grpId="0"/>
      <p:bldP spid="100" grpId="0"/>
      <p:bldP spid="101" grpId="0" animBg="1"/>
      <p:bldP spid="101" grpId="1" animBg="1"/>
      <p:bldP spid="102" grpId="0" animBg="1"/>
      <p:bldP spid="102" grpId="1" animBg="1"/>
      <p:bldP spid="68" grpId="0"/>
      <p:bldP spid="69" grpId="0"/>
      <p:bldP spid="31" grpId="0"/>
      <p:bldP spid="37" grpId="0"/>
      <p:bldP spid="41" grpId="0"/>
      <p:bldP spid="71" grpId="0" animBg="1"/>
      <p:bldP spid="36" grpId="0" animBg="1"/>
      <p:bldP spid="112" grpId="0" animBg="1"/>
      <p:bldP spid="113" grpId="0" animBg="1"/>
      <p:bldP spid="32" grpId="0" animBg="1"/>
      <p:bldP spid="34" grpId="0" animBg="1"/>
      <p:bldP spid="42" grpId="0" animBg="1"/>
      <p:bldP spid="1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2958598" y="4327050"/>
            <a:ext cx="1176313" cy="16709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7061" h="2066714">
                <a:moveTo>
                  <a:pt x="0" y="0"/>
                </a:moveTo>
                <a:cubicBezTo>
                  <a:pt x="67557" y="898230"/>
                  <a:pt x="548661" y="2917918"/>
                  <a:pt x="867061" y="167138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088804" y="519555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378515" y="45748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193579" y="4640409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320655" y="4541801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655" y="4541801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439891" y="3470945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439891" y="3764198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l="-294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1827578" y="549806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578" y="5498068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762" r="-49206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幅值裕度相同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9" y="1014160"/>
                <a:ext cx="5296938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幅值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9" y="1014160"/>
                <a:ext cx="5296938" cy="578882"/>
              </a:xfrm>
              <a:prstGeom prst="flowChartAlternateProcess">
                <a:avLst/>
              </a:prstGeom>
              <a:blipFill>
                <a:blip r:embed="rId15"/>
                <a:stretch>
                  <a:fillRect l="-1667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相角裕度可不同！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5" name="说明3">
            <a:extLst>
              <a:ext uri="{FF2B5EF4-FFF2-40B4-BE49-F238E27FC236}">
                <a16:creationId xmlns:a16="http://schemas.microsoft.com/office/drawing/2014/main" id="{5620A3C4-6CF4-91E8-BA8A-5EFA0A91AC95}"/>
              </a:ext>
            </a:extLst>
          </p:cNvPr>
          <p:cNvSpPr txBox="1"/>
          <p:nvPr/>
        </p:nvSpPr>
        <p:spPr>
          <a:xfrm>
            <a:off x="4641448" y="1781011"/>
            <a:ext cx="5303785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159F84"/>
                </a:solidFill>
              </a:rPr>
              <a:t>幅相特性</a:t>
            </a:r>
            <a:r>
              <a:rPr kumimoji="1" lang="zh-CN" altLang="en-US" sz="2800" dirty="0">
                <a:solidFill>
                  <a:schemeClr val="accent1"/>
                </a:solidFill>
              </a:rPr>
              <a:t>穿过单位圆时</a:t>
            </a:r>
            <a:r>
              <a:rPr kumimoji="1" lang="zh-CN" altLang="en-US" sz="2800" dirty="0">
                <a:solidFill>
                  <a:srgbClr val="E44860"/>
                </a:solidFill>
              </a:rPr>
              <a:t>相角</a:t>
            </a:r>
            <a:r>
              <a:rPr kumimoji="1" lang="zh-CN" altLang="en-US" sz="2800" dirty="0">
                <a:solidFill>
                  <a:schemeClr val="accent1"/>
                </a:solidFill>
              </a:rPr>
              <a:t>不同</a:t>
            </a:r>
            <a:endParaRPr kumimoji="1" lang="zh-CN" altLang="en-US" sz="2800" dirty="0">
              <a:solidFill>
                <a:srgbClr val="2980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28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4" grpId="0"/>
      <p:bldP spid="46" grpId="0"/>
      <p:bldP spid="3" grpId="0" animBg="1"/>
      <p:bldP spid="47" grpId="0" animBg="1"/>
      <p:bldP spid="59" grpId="0" animBg="1"/>
      <p:bldP spid="63" grpId="0"/>
      <p:bldP spid="54" grpId="0"/>
      <p:bldP spid="7" grpId="0" animBg="1"/>
      <p:bldP spid="43" grpId="0"/>
      <p:bldP spid="52" grpId="0"/>
      <p:bldP spid="55" grpId="0"/>
      <p:bldP spid="76" grpId="0" animBg="1"/>
      <p:bldP spid="77" grpId="0" animBg="1"/>
      <p:bldP spid="78" grpId="0" animBg="1"/>
      <p:bldP spid="104" grpId="0" animBg="1"/>
      <p:bldP spid="1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3225298" y="4233200"/>
            <a:ext cx="909613" cy="18473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670476"/>
              <a:gd name="connsiteY0" fmla="*/ 0 h 2156069"/>
              <a:gd name="connsiteX1" fmla="*/ 670476 w 670476"/>
              <a:gd name="connsiteY1" fmla="*/ 1773487 h 2156069"/>
              <a:gd name="connsiteX0" fmla="*/ 0 w 670476"/>
              <a:gd name="connsiteY0" fmla="*/ 0 h 2284900"/>
              <a:gd name="connsiteX1" fmla="*/ 670476 w 670476"/>
              <a:gd name="connsiteY1" fmla="*/ 1773487 h 228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0476" h="2284900">
                <a:moveTo>
                  <a:pt x="0" y="0"/>
                </a:moveTo>
                <a:cubicBezTo>
                  <a:pt x="16070" y="1817174"/>
                  <a:pt x="352076" y="3020023"/>
                  <a:pt x="670476" y="1773487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209272" y="536702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378515" y="45748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314047" y="4639003"/>
            <a:ext cx="825920" cy="7459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62185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439891" y="3470945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439891" y="3764198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l="-294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688" r="-4687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幅值裕度相同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9" y="1014160"/>
                <a:ext cx="5296938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幅值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9" y="1014160"/>
                <a:ext cx="5296938" cy="578882"/>
              </a:xfrm>
              <a:prstGeom prst="flowChartAlternateProcess">
                <a:avLst/>
              </a:prstGeom>
              <a:blipFill>
                <a:blip r:embed="rId15"/>
                <a:stretch>
                  <a:fillRect l="-1667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相角裕度可不同！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5" name="说明3">
            <a:extLst>
              <a:ext uri="{FF2B5EF4-FFF2-40B4-BE49-F238E27FC236}">
                <a16:creationId xmlns:a16="http://schemas.microsoft.com/office/drawing/2014/main" id="{5620A3C4-6CF4-91E8-BA8A-5EFA0A91AC95}"/>
              </a:ext>
            </a:extLst>
          </p:cNvPr>
          <p:cNvSpPr txBox="1"/>
          <p:nvPr/>
        </p:nvSpPr>
        <p:spPr>
          <a:xfrm>
            <a:off x="4641448" y="1781011"/>
            <a:ext cx="5303785" cy="578882"/>
          </a:xfrm>
          <a:prstGeom prst="flowChartAlternateProcess">
            <a:avLst/>
          </a:prstGeom>
          <a:noFill/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159F84"/>
                </a:solidFill>
              </a:rPr>
              <a:t>幅相特性</a:t>
            </a:r>
            <a:r>
              <a:rPr kumimoji="1" lang="zh-CN" altLang="en-US" sz="2800" dirty="0">
                <a:solidFill>
                  <a:schemeClr val="accent1"/>
                </a:solidFill>
              </a:rPr>
              <a:t>穿过单位圆时</a:t>
            </a:r>
            <a:r>
              <a:rPr kumimoji="1" lang="zh-CN" altLang="en-US" sz="2800" dirty="0">
                <a:solidFill>
                  <a:srgbClr val="E44860"/>
                </a:solidFill>
              </a:rPr>
              <a:t>相角</a:t>
            </a:r>
            <a:r>
              <a:rPr kumimoji="1" lang="zh-CN" altLang="en-US" sz="2800" dirty="0">
                <a:solidFill>
                  <a:schemeClr val="accent1"/>
                </a:solidFill>
              </a:rPr>
              <a:t>不同</a:t>
            </a:r>
            <a:endParaRPr kumimoji="1" lang="zh-CN" altLang="en-US" sz="2800" dirty="0">
              <a:solidFill>
                <a:srgbClr val="2980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960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3225298" y="4233200"/>
            <a:ext cx="909613" cy="18473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670476"/>
              <a:gd name="connsiteY0" fmla="*/ 0 h 2156069"/>
              <a:gd name="connsiteX1" fmla="*/ 670476 w 670476"/>
              <a:gd name="connsiteY1" fmla="*/ 1773487 h 2156069"/>
              <a:gd name="connsiteX0" fmla="*/ 0 w 670476"/>
              <a:gd name="connsiteY0" fmla="*/ 0 h 2284900"/>
              <a:gd name="connsiteX1" fmla="*/ 670476 w 670476"/>
              <a:gd name="connsiteY1" fmla="*/ 1773487 h 228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0476" h="2284900">
                <a:moveTo>
                  <a:pt x="0" y="0"/>
                </a:moveTo>
                <a:cubicBezTo>
                  <a:pt x="16070" y="1817174"/>
                  <a:pt x="352076" y="3020023"/>
                  <a:pt x="670476" y="1773487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坐标轴2">
            <a:extLst>
              <a:ext uri="{FF2B5EF4-FFF2-40B4-BE49-F238E27FC236}">
                <a16:creationId xmlns:a16="http://schemas.microsoft.com/office/drawing/2014/main" id="{C1C75705-B4BA-3FAC-3B45-1E94AA06DCE7}"/>
              </a:ext>
            </a:extLst>
          </p:cNvPr>
          <p:cNvGrpSpPr/>
          <p:nvPr/>
        </p:nvGrpSpPr>
        <p:grpSpPr>
          <a:xfrm>
            <a:off x="6289134" y="2650505"/>
            <a:ext cx="5023507" cy="3231633"/>
            <a:chOff x="7127120" y="3365079"/>
            <a:chExt cx="5023507" cy="3231633"/>
          </a:xfrm>
        </p:grpSpPr>
        <p:grpSp>
          <p:nvGrpSpPr>
            <p:cNvPr id="64" name="坐标轴">
              <a:extLst>
                <a:ext uri="{FF2B5EF4-FFF2-40B4-BE49-F238E27FC236}">
                  <a16:creationId xmlns:a16="http://schemas.microsoft.com/office/drawing/2014/main" id="{857598FC-ED6A-1874-7FB0-EA238ADF6AAE}"/>
                </a:ext>
              </a:extLst>
            </p:cNvPr>
            <p:cNvGrpSpPr/>
            <p:nvPr/>
          </p:nvGrpSpPr>
          <p:grpSpPr>
            <a:xfrm>
              <a:off x="7762323" y="3365079"/>
              <a:ext cx="4388304" cy="3231633"/>
              <a:chOff x="7059016" y="2929714"/>
              <a:chExt cx="4388304" cy="3231633"/>
            </a:xfrm>
          </p:grpSpPr>
          <p:cxnSp>
            <p:nvCxnSpPr>
              <p:cNvPr id="65" name="实轴">
                <a:extLst>
                  <a:ext uri="{FF2B5EF4-FFF2-40B4-BE49-F238E27FC236}">
                    <a16:creationId xmlns:a16="http://schemas.microsoft.com/office/drawing/2014/main" id="{1D152970-D949-43AB-9499-4DE84E319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虚轴">
                <a:extLst>
                  <a:ext uri="{FF2B5EF4-FFF2-40B4-BE49-F238E27FC236}">
                    <a16:creationId xmlns:a16="http://schemas.microsoft.com/office/drawing/2014/main" id="{0FAA4D59-90C5-47EB-DB44-21621CE6C9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255" r="-148936" b="-186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651" r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13"/>
                  <a:stretch>
                    <a:fillRect r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14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15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虚线3">
              <a:extLst>
                <a:ext uri="{FF2B5EF4-FFF2-40B4-BE49-F238E27FC236}">
                  <a16:creationId xmlns:a16="http://schemas.microsoft.com/office/drawing/2014/main" id="{156AD9F6-491A-D264-A256-9D7D42310D8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虚线2">
              <a:extLst>
                <a:ext uri="{FF2B5EF4-FFF2-40B4-BE49-F238E27FC236}">
                  <a16:creationId xmlns:a16="http://schemas.microsoft.com/office/drawing/2014/main" id="{C25B28D5-3723-077B-2EB1-67863A7965E9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虚线1">
              <a:extLst>
                <a:ext uri="{FF2B5EF4-FFF2-40B4-BE49-F238E27FC236}">
                  <a16:creationId xmlns:a16="http://schemas.microsoft.com/office/drawing/2014/main" id="{9E84E2FD-3D4B-3526-D1CC-97CAE4CED7F4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转折频率组合1">
            <a:extLst>
              <a:ext uri="{FF2B5EF4-FFF2-40B4-BE49-F238E27FC236}">
                <a16:creationId xmlns:a16="http://schemas.microsoft.com/office/drawing/2014/main" id="{C8E12792-ECFF-5E52-B99B-FCDF2374DAC9}"/>
              </a:ext>
            </a:extLst>
          </p:cNvPr>
          <p:cNvGrpSpPr/>
          <p:nvPr/>
        </p:nvGrpSpPr>
        <p:grpSpPr>
          <a:xfrm>
            <a:off x="8018820" y="3667321"/>
            <a:ext cx="1090074" cy="2447702"/>
            <a:chOff x="8856806" y="4381895"/>
            <a:chExt cx="1090074" cy="2447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/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blipFill>
                  <a:blip r:embed="rId1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转折频率虚线1">
              <a:extLst>
                <a:ext uri="{FF2B5EF4-FFF2-40B4-BE49-F238E27FC236}">
                  <a16:creationId xmlns:a16="http://schemas.microsoft.com/office/drawing/2014/main" id="{35DC8A43-0E8B-B461-C991-748C13840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1521" y="4381895"/>
              <a:ext cx="213" cy="1939806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转折频率组合2">
            <a:extLst>
              <a:ext uri="{FF2B5EF4-FFF2-40B4-BE49-F238E27FC236}">
                <a16:creationId xmlns:a16="http://schemas.microsoft.com/office/drawing/2014/main" id="{7658C12B-ADFA-61B5-C86D-7B8A22582BC3}"/>
              </a:ext>
            </a:extLst>
          </p:cNvPr>
          <p:cNvGrpSpPr/>
          <p:nvPr/>
        </p:nvGrpSpPr>
        <p:grpSpPr>
          <a:xfrm>
            <a:off x="9405156" y="4737728"/>
            <a:ext cx="1090074" cy="1373339"/>
            <a:chOff x="10243142" y="5452302"/>
            <a:chExt cx="1090074" cy="1373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7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转折频率虚线2">
              <a:extLst>
                <a:ext uri="{FF2B5EF4-FFF2-40B4-BE49-F238E27FC236}">
                  <a16:creationId xmlns:a16="http://schemas.microsoft.com/office/drawing/2014/main" id="{B9F8ECC0-4197-8A89-8352-4832E96A8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73" y="5452302"/>
              <a:ext cx="6847" cy="85407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209272" y="536702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378515" y="45748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314047" y="4639003"/>
            <a:ext cx="825920" cy="7459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62185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blipFill>
                <a:blip r:embed="rId20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439891" y="3470945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439891" y="3764198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blipFill>
                <a:blip r:embed="rId21"/>
                <a:stretch>
                  <a:fillRect l="-294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blipFill>
                <a:blip r:embed="rId22"/>
                <a:stretch>
                  <a:fillRect l="-4688" r="-4687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7450134" y="3218047"/>
            <a:ext cx="3481363" cy="28270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115" h="3496696">
                <a:moveTo>
                  <a:pt x="0" y="3496696"/>
                </a:moveTo>
                <a:lnTo>
                  <a:pt x="771287" y="2957193"/>
                </a:lnTo>
                <a:cubicBezTo>
                  <a:pt x="1009049" y="2707573"/>
                  <a:pt x="1535424" y="1980010"/>
                  <a:pt x="1833782" y="1614121"/>
                </a:cubicBezTo>
                <a:lnTo>
                  <a:pt x="2566115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相频">
            <a:extLst>
              <a:ext uri="{FF2B5EF4-FFF2-40B4-BE49-F238E27FC236}">
                <a16:creationId xmlns:a16="http://schemas.microsoft.com/office/drawing/2014/main" id="{4547C94B-B599-D3E0-60B7-E2B004E4C82A}"/>
              </a:ext>
            </a:extLst>
          </p:cNvPr>
          <p:cNvSpPr/>
          <p:nvPr/>
        </p:nvSpPr>
        <p:spPr>
          <a:xfrm flipV="1">
            <a:off x="7448922" y="4176303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1601794" y="13423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/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blipFill>
                <a:blip r:embed="rId2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/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blipFill>
                <a:blip r:embed="rId2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/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blipFill>
                <a:blip r:embed="rId25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wc交点2">
            <a:extLst>
              <a:ext uri="{FF2B5EF4-FFF2-40B4-BE49-F238E27FC236}">
                <a16:creationId xmlns:a16="http://schemas.microsoft.com/office/drawing/2014/main" id="{CD5A7C1C-75BC-E581-9D57-57C28042967A}"/>
              </a:ext>
            </a:extLst>
          </p:cNvPr>
          <p:cNvSpPr/>
          <p:nvPr/>
        </p:nvSpPr>
        <p:spPr>
          <a:xfrm>
            <a:off x="7890134" y="337699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wg交点2">
            <a:extLst>
              <a:ext uri="{FF2B5EF4-FFF2-40B4-BE49-F238E27FC236}">
                <a16:creationId xmlns:a16="http://schemas.microsoft.com/office/drawing/2014/main" id="{A2D09D30-F2C2-2A6D-D44C-3E6A39D6BFEF}"/>
              </a:ext>
            </a:extLst>
          </p:cNvPr>
          <p:cNvSpPr/>
          <p:nvPr/>
        </p:nvSpPr>
        <p:spPr>
          <a:xfrm>
            <a:off x="9267340" y="479800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截止频率辅助线">
            <a:extLst>
              <a:ext uri="{FF2B5EF4-FFF2-40B4-BE49-F238E27FC236}">
                <a16:creationId xmlns:a16="http://schemas.microsoft.com/office/drawing/2014/main" id="{E6F96B76-B503-F912-309A-7F85788C2FC4}"/>
              </a:ext>
            </a:extLst>
          </p:cNvPr>
          <p:cNvCxnSpPr>
            <a:cxnSpLocks/>
            <a:stCxn id="93" idx="4"/>
            <a:endCxn id="101" idx="0"/>
          </p:cNvCxnSpPr>
          <p:nvPr/>
        </p:nvCxnSpPr>
        <p:spPr>
          <a:xfrm>
            <a:off x="7951510" y="3499748"/>
            <a:ext cx="0" cy="66555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/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/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blipFill>
                <a:blip r:embed="rId2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blipFill>
                <a:blip r:embed="rId28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穿越频率辅助线">
            <a:extLst>
              <a:ext uri="{FF2B5EF4-FFF2-40B4-BE49-F238E27FC236}">
                <a16:creationId xmlns:a16="http://schemas.microsoft.com/office/drawing/2014/main" id="{41F28842-4ACF-A947-A88C-BDE200C2D39B}"/>
              </a:ext>
            </a:extLst>
          </p:cNvPr>
          <p:cNvCxnSpPr>
            <a:cxnSpLocks/>
            <a:stCxn id="102" idx="4"/>
            <a:endCxn id="94" idx="0"/>
          </p:cNvCxnSpPr>
          <p:nvPr/>
        </p:nvCxnSpPr>
        <p:spPr>
          <a:xfrm>
            <a:off x="9326006" y="4336856"/>
            <a:ext cx="2710" cy="46115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/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blipFill>
                <a:blip r:embed="rId29"/>
                <a:stretch>
                  <a:fillRect l="-4110" r="-3150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幅相交点">
            <a:extLst>
              <a:ext uri="{FF2B5EF4-FFF2-40B4-BE49-F238E27FC236}">
                <a16:creationId xmlns:a16="http://schemas.microsoft.com/office/drawing/2014/main" id="{A7E144DB-1616-0BB1-4808-E71614D24C25}"/>
              </a:ext>
            </a:extLst>
          </p:cNvPr>
          <p:cNvSpPr/>
          <p:nvPr/>
        </p:nvSpPr>
        <p:spPr>
          <a:xfrm>
            <a:off x="7890134" y="4165299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幅频交点">
            <a:extLst>
              <a:ext uri="{FF2B5EF4-FFF2-40B4-BE49-F238E27FC236}">
                <a16:creationId xmlns:a16="http://schemas.microsoft.com/office/drawing/2014/main" id="{52057664-0BB5-0BE7-230A-2E2123E9BD5C}"/>
              </a:ext>
            </a:extLst>
          </p:cNvPr>
          <p:cNvSpPr/>
          <p:nvPr/>
        </p:nvSpPr>
        <p:spPr>
          <a:xfrm>
            <a:off x="9264630" y="4214104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3" name="相角裕度双箭头">
            <a:extLst>
              <a:ext uri="{FF2B5EF4-FFF2-40B4-BE49-F238E27FC236}">
                <a16:creationId xmlns:a16="http://schemas.microsoft.com/office/drawing/2014/main" id="{290295E3-18DD-C67B-EB52-4A99DDAB1A59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7951510" y="4288051"/>
            <a:ext cx="0" cy="569769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幅值裕度双箭头2">
            <a:extLst>
              <a:ext uri="{FF2B5EF4-FFF2-40B4-BE49-F238E27FC236}">
                <a16:creationId xmlns:a16="http://schemas.microsoft.com/office/drawing/2014/main" id="{32CE3BB7-4F24-756F-90EB-5414254F30BD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9326006" y="3433223"/>
            <a:ext cx="0" cy="780881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幅值裕度相同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距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线一样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blipFill>
                <a:blip r:embed="rId30"/>
                <a:stretch>
                  <a:fillRect l="-1226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相角裕度可不同！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穿过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线时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距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不同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blipFill>
                <a:blip r:embed="rId31"/>
                <a:stretch>
                  <a:fillRect l="-1224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535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/>
      <p:bldP spid="89" grpId="0"/>
      <p:bldP spid="90" grpId="0"/>
      <p:bldP spid="93" grpId="0" animBg="1"/>
      <p:bldP spid="94" grpId="0" animBg="1"/>
      <p:bldP spid="96" grpId="0"/>
      <p:bldP spid="97" grpId="0"/>
      <p:bldP spid="98" grpId="0"/>
      <p:bldP spid="100" grpId="0"/>
      <p:bldP spid="101" grpId="0" animBg="1"/>
      <p:bldP spid="102" grpId="0" animBg="1"/>
      <p:bldP spid="76" grpId="0" animBg="1"/>
      <p:bldP spid="77" grpId="0" animBg="1"/>
      <p:bldP spid="78" grpId="0" animBg="1"/>
      <p:bldP spid="104" grpId="0" animBg="1"/>
      <p:bldP spid="1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3225298" y="4233200"/>
            <a:ext cx="909613" cy="18473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670476"/>
              <a:gd name="connsiteY0" fmla="*/ 0 h 2156069"/>
              <a:gd name="connsiteX1" fmla="*/ 670476 w 670476"/>
              <a:gd name="connsiteY1" fmla="*/ 1773487 h 2156069"/>
              <a:gd name="connsiteX0" fmla="*/ 0 w 670476"/>
              <a:gd name="connsiteY0" fmla="*/ 0 h 2284900"/>
              <a:gd name="connsiteX1" fmla="*/ 670476 w 670476"/>
              <a:gd name="connsiteY1" fmla="*/ 1773487 h 228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0476" h="2284900">
                <a:moveTo>
                  <a:pt x="0" y="0"/>
                </a:moveTo>
                <a:cubicBezTo>
                  <a:pt x="16070" y="1817174"/>
                  <a:pt x="352076" y="3020023"/>
                  <a:pt x="670476" y="1773487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688" y="5045728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坐标轴2">
            <a:extLst>
              <a:ext uri="{FF2B5EF4-FFF2-40B4-BE49-F238E27FC236}">
                <a16:creationId xmlns:a16="http://schemas.microsoft.com/office/drawing/2014/main" id="{C1C75705-B4BA-3FAC-3B45-1E94AA06DCE7}"/>
              </a:ext>
            </a:extLst>
          </p:cNvPr>
          <p:cNvGrpSpPr/>
          <p:nvPr/>
        </p:nvGrpSpPr>
        <p:grpSpPr>
          <a:xfrm>
            <a:off x="6289134" y="2650505"/>
            <a:ext cx="5023507" cy="3231633"/>
            <a:chOff x="7127120" y="3365079"/>
            <a:chExt cx="5023507" cy="3231633"/>
          </a:xfrm>
        </p:grpSpPr>
        <p:grpSp>
          <p:nvGrpSpPr>
            <p:cNvPr id="64" name="坐标轴">
              <a:extLst>
                <a:ext uri="{FF2B5EF4-FFF2-40B4-BE49-F238E27FC236}">
                  <a16:creationId xmlns:a16="http://schemas.microsoft.com/office/drawing/2014/main" id="{857598FC-ED6A-1874-7FB0-EA238ADF6AAE}"/>
                </a:ext>
              </a:extLst>
            </p:cNvPr>
            <p:cNvGrpSpPr/>
            <p:nvPr/>
          </p:nvGrpSpPr>
          <p:grpSpPr>
            <a:xfrm>
              <a:off x="7762323" y="3365079"/>
              <a:ext cx="4388304" cy="3231633"/>
              <a:chOff x="7059016" y="2929714"/>
              <a:chExt cx="4388304" cy="3231633"/>
            </a:xfrm>
          </p:grpSpPr>
          <p:cxnSp>
            <p:nvCxnSpPr>
              <p:cNvPr id="65" name="实轴">
                <a:extLst>
                  <a:ext uri="{FF2B5EF4-FFF2-40B4-BE49-F238E27FC236}">
                    <a16:creationId xmlns:a16="http://schemas.microsoft.com/office/drawing/2014/main" id="{1D152970-D949-43AB-9499-4DE84E319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虚轴">
                <a:extLst>
                  <a:ext uri="{FF2B5EF4-FFF2-40B4-BE49-F238E27FC236}">
                    <a16:creationId xmlns:a16="http://schemas.microsoft.com/office/drawing/2014/main" id="{0FAA4D59-90C5-47EB-DB44-21621CE6C9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255" r="-148936" b="-186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4651" r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13"/>
                  <a:stretch>
                    <a:fillRect r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14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15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虚线3">
              <a:extLst>
                <a:ext uri="{FF2B5EF4-FFF2-40B4-BE49-F238E27FC236}">
                  <a16:creationId xmlns:a16="http://schemas.microsoft.com/office/drawing/2014/main" id="{156AD9F6-491A-D264-A256-9D7D42310D8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虚线2">
              <a:extLst>
                <a:ext uri="{FF2B5EF4-FFF2-40B4-BE49-F238E27FC236}">
                  <a16:creationId xmlns:a16="http://schemas.microsoft.com/office/drawing/2014/main" id="{C25B28D5-3723-077B-2EB1-67863A7965E9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虚线1">
              <a:extLst>
                <a:ext uri="{FF2B5EF4-FFF2-40B4-BE49-F238E27FC236}">
                  <a16:creationId xmlns:a16="http://schemas.microsoft.com/office/drawing/2014/main" id="{9E84E2FD-3D4B-3526-D1CC-97CAE4CED7F4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转折频率组合2">
            <a:extLst>
              <a:ext uri="{FF2B5EF4-FFF2-40B4-BE49-F238E27FC236}">
                <a16:creationId xmlns:a16="http://schemas.microsoft.com/office/drawing/2014/main" id="{7658C12B-ADFA-61B5-C86D-7B8A22582BC3}"/>
              </a:ext>
            </a:extLst>
          </p:cNvPr>
          <p:cNvGrpSpPr/>
          <p:nvPr/>
        </p:nvGrpSpPr>
        <p:grpSpPr>
          <a:xfrm>
            <a:off x="9405156" y="4737728"/>
            <a:ext cx="1090074" cy="1373339"/>
            <a:chOff x="10243142" y="5452302"/>
            <a:chExt cx="1090074" cy="1373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6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转折频率虚线2">
              <a:extLst>
                <a:ext uri="{FF2B5EF4-FFF2-40B4-BE49-F238E27FC236}">
                  <a16:creationId xmlns:a16="http://schemas.microsoft.com/office/drawing/2014/main" id="{B9F8ECC0-4197-8A89-8352-4832E96A8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73" y="5452302"/>
              <a:ext cx="6847" cy="85407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209272" y="5367020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378515" y="45748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314047" y="4639003"/>
            <a:ext cx="825920" cy="74599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62185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440" y="4611741"/>
                <a:ext cx="421699" cy="523220"/>
              </a:xfrm>
              <a:prstGeom prst="rect">
                <a:avLst/>
              </a:prstGeom>
              <a:blipFill>
                <a:blip r:embed="rId1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439891" y="3470945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439891" y="3764198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blipFill>
                <a:blip r:embed="rId20"/>
                <a:stretch>
                  <a:fillRect l="-294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284" y="5596892"/>
                <a:ext cx="801225" cy="523220"/>
              </a:xfrm>
              <a:prstGeom prst="rect">
                <a:avLst/>
              </a:prstGeom>
              <a:blipFill>
                <a:blip r:embed="rId21"/>
                <a:stretch>
                  <a:fillRect l="-4688" r="-46875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7424733" y="2875147"/>
            <a:ext cx="3506764" cy="31699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  <a:gd name="connsiteX0" fmla="*/ 0 w 2552073"/>
              <a:gd name="connsiteY0" fmla="*/ 4109325 h 4109325"/>
              <a:gd name="connsiteX1" fmla="*/ 757245 w 2552073"/>
              <a:gd name="connsiteY1" fmla="*/ 2957193 h 4109325"/>
              <a:gd name="connsiteX2" fmla="*/ 1819740 w 2552073"/>
              <a:gd name="connsiteY2" fmla="*/ 1614121 h 4109325"/>
              <a:gd name="connsiteX3" fmla="*/ 2552073 w 2552073"/>
              <a:gd name="connsiteY3" fmla="*/ 0 h 4109325"/>
              <a:gd name="connsiteX0" fmla="*/ 0 w 2589518"/>
              <a:gd name="connsiteY0" fmla="*/ 4085762 h 4085762"/>
              <a:gd name="connsiteX1" fmla="*/ 794690 w 2589518"/>
              <a:gd name="connsiteY1" fmla="*/ 2957193 h 4085762"/>
              <a:gd name="connsiteX2" fmla="*/ 1857185 w 2589518"/>
              <a:gd name="connsiteY2" fmla="*/ 1614121 h 4085762"/>
              <a:gd name="connsiteX3" fmla="*/ 2589518 w 2589518"/>
              <a:gd name="connsiteY3" fmla="*/ 0 h 4085762"/>
              <a:gd name="connsiteX0" fmla="*/ 0 w 2580157"/>
              <a:gd name="connsiteY0" fmla="*/ 3999366 h 3999366"/>
              <a:gd name="connsiteX1" fmla="*/ 785329 w 2580157"/>
              <a:gd name="connsiteY1" fmla="*/ 2957193 h 3999366"/>
              <a:gd name="connsiteX2" fmla="*/ 1847824 w 2580157"/>
              <a:gd name="connsiteY2" fmla="*/ 1614121 h 3999366"/>
              <a:gd name="connsiteX3" fmla="*/ 2580157 w 2580157"/>
              <a:gd name="connsiteY3" fmla="*/ 0 h 3999366"/>
              <a:gd name="connsiteX0" fmla="*/ 0 w 2584838"/>
              <a:gd name="connsiteY0" fmla="*/ 3920824 h 3920824"/>
              <a:gd name="connsiteX1" fmla="*/ 790010 w 2584838"/>
              <a:gd name="connsiteY1" fmla="*/ 2957193 h 3920824"/>
              <a:gd name="connsiteX2" fmla="*/ 1852505 w 2584838"/>
              <a:gd name="connsiteY2" fmla="*/ 1614121 h 3920824"/>
              <a:gd name="connsiteX3" fmla="*/ 2584838 w 2584838"/>
              <a:gd name="connsiteY3" fmla="*/ 0 h 3920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4838" h="3920824">
                <a:moveTo>
                  <a:pt x="0" y="3920824"/>
                </a:moveTo>
                <a:lnTo>
                  <a:pt x="790010" y="2957193"/>
                </a:lnTo>
                <a:cubicBezTo>
                  <a:pt x="1027772" y="2707573"/>
                  <a:pt x="1554147" y="1980010"/>
                  <a:pt x="1852505" y="1614121"/>
                </a:cubicBezTo>
                <a:lnTo>
                  <a:pt x="2584838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相频">
            <a:extLst>
              <a:ext uri="{FF2B5EF4-FFF2-40B4-BE49-F238E27FC236}">
                <a16:creationId xmlns:a16="http://schemas.microsoft.com/office/drawing/2014/main" id="{4547C94B-B599-D3E0-60B7-E2B004E4C82A}"/>
              </a:ext>
            </a:extLst>
          </p:cNvPr>
          <p:cNvSpPr/>
          <p:nvPr/>
        </p:nvSpPr>
        <p:spPr>
          <a:xfrm flipV="1">
            <a:off x="7448922" y="4176303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1601794" y="13423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/>
              <p:nvPr/>
            </p:nvSpPr>
            <p:spPr>
              <a:xfrm>
                <a:off x="8244317" y="2980065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317" y="2980065"/>
                <a:ext cx="801224" cy="524695"/>
              </a:xfrm>
              <a:prstGeom prst="rect">
                <a:avLst/>
              </a:prstGeom>
              <a:blipFill>
                <a:blip r:embed="rId22"/>
                <a:stretch>
                  <a:fillRect r="-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/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blipFill>
                <a:blip r:embed="rId23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/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blipFill>
                <a:blip r:embed="rId24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wc交点2">
            <a:extLst>
              <a:ext uri="{FF2B5EF4-FFF2-40B4-BE49-F238E27FC236}">
                <a16:creationId xmlns:a16="http://schemas.microsoft.com/office/drawing/2014/main" id="{CD5A7C1C-75BC-E581-9D57-57C28042967A}"/>
              </a:ext>
            </a:extLst>
          </p:cNvPr>
          <p:cNvSpPr/>
          <p:nvPr/>
        </p:nvSpPr>
        <p:spPr>
          <a:xfrm>
            <a:off x="8138035" y="337570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wg交点2">
            <a:extLst>
              <a:ext uri="{FF2B5EF4-FFF2-40B4-BE49-F238E27FC236}">
                <a16:creationId xmlns:a16="http://schemas.microsoft.com/office/drawing/2014/main" id="{A2D09D30-F2C2-2A6D-D44C-3E6A39D6BFEF}"/>
              </a:ext>
            </a:extLst>
          </p:cNvPr>
          <p:cNvSpPr/>
          <p:nvPr/>
        </p:nvSpPr>
        <p:spPr>
          <a:xfrm>
            <a:off x="9267340" y="479800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截止频率辅助线">
            <a:extLst>
              <a:ext uri="{FF2B5EF4-FFF2-40B4-BE49-F238E27FC236}">
                <a16:creationId xmlns:a16="http://schemas.microsoft.com/office/drawing/2014/main" id="{E6F96B76-B503-F912-309A-7F85788C2FC4}"/>
              </a:ext>
            </a:extLst>
          </p:cNvPr>
          <p:cNvCxnSpPr>
            <a:cxnSpLocks/>
            <a:stCxn id="93" idx="4"/>
            <a:endCxn id="101" idx="0"/>
          </p:cNvCxnSpPr>
          <p:nvPr/>
        </p:nvCxnSpPr>
        <p:spPr>
          <a:xfrm>
            <a:off x="8199411" y="3498456"/>
            <a:ext cx="0" cy="715648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/>
              <p:nvPr/>
            </p:nvSpPr>
            <p:spPr>
              <a:xfrm>
                <a:off x="7515295" y="3329974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295" y="3329974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/>
              <p:nvPr/>
            </p:nvSpPr>
            <p:spPr>
              <a:xfrm>
                <a:off x="7810853" y="4268999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853" y="4268999"/>
                <a:ext cx="421699" cy="523220"/>
              </a:xfrm>
              <a:prstGeom prst="rect">
                <a:avLst/>
              </a:prstGeom>
              <a:blipFill>
                <a:blip r:embed="rId1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blipFill>
                <a:blip r:embed="rId25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穿越频率辅助线">
            <a:extLst>
              <a:ext uri="{FF2B5EF4-FFF2-40B4-BE49-F238E27FC236}">
                <a16:creationId xmlns:a16="http://schemas.microsoft.com/office/drawing/2014/main" id="{41F28842-4ACF-A947-A88C-BDE200C2D39B}"/>
              </a:ext>
            </a:extLst>
          </p:cNvPr>
          <p:cNvCxnSpPr>
            <a:cxnSpLocks/>
            <a:stCxn id="102" idx="4"/>
            <a:endCxn id="94" idx="0"/>
          </p:cNvCxnSpPr>
          <p:nvPr/>
        </p:nvCxnSpPr>
        <p:spPr>
          <a:xfrm>
            <a:off x="9326006" y="4336856"/>
            <a:ext cx="2710" cy="46115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/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blipFill>
                <a:blip r:embed="rId26"/>
                <a:stretch>
                  <a:fillRect l="-4110" r="-3150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幅相交点">
            <a:extLst>
              <a:ext uri="{FF2B5EF4-FFF2-40B4-BE49-F238E27FC236}">
                <a16:creationId xmlns:a16="http://schemas.microsoft.com/office/drawing/2014/main" id="{A7E144DB-1616-0BB1-4808-E71614D24C25}"/>
              </a:ext>
            </a:extLst>
          </p:cNvPr>
          <p:cNvSpPr/>
          <p:nvPr/>
        </p:nvSpPr>
        <p:spPr>
          <a:xfrm>
            <a:off x="8138035" y="4214104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幅频交点">
            <a:extLst>
              <a:ext uri="{FF2B5EF4-FFF2-40B4-BE49-F238E27FC236}">
                <a16:creationId xmlns:a16="http://schemas.microsoft.com/office/drawing/2014/main" id="{52057664-0BB5-0BE7-230A-2E2123E9BD5C}"/>
              </a:ext>
            </a:extLst>
          </p:cNvPr>
          <p:cNvSpPr/>
          <p:nvPr/>
        </p:nvSpPr>
        <p:spPr>
          <a:xfrm>
            <a:off x="9264630" y="4214104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3" name="相角裕度双箭头">
            <a:extLst>
              <a:ext uri="{FF2B5EF4-FFF2-40B4-BE49-F238E27FC236}">
                <a16:creationId xmlns:a16="http://schemas.microsoft.com/office/drawing/2014/main" id="{290295E3-18DD-C67B-EB52-4A99DDAB1A59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8199411" y="4336856"/>
            <a:ext cx="0" cy="520964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幅值裕度双箭头2">
            <a:extLst>
              <a:ext uri="{FF2B5EF4-FFF2-40B4-BE49-F238E27FC236}">
                <a16:creationId xmlns:a16="http://schemas.microsoft.com/office/drawing/2014/main" id="{32CE3BB7-4F24-756F-90EB-5414254F30BD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9326006" y="3433223"/>
            <a:ext cx="0" cy="780881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幅值裕度相同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距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线一样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blipFill>
                <a:blip r:embed="rId27"/>
                <a:stretch>
                  <a:fillRect l="-1226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相角裕度可不同！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穿过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线时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距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不同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blipFill>
                <a:blip r:embed="rId28"/>
                <a:stretch>
                  <a:fillRect l="-1224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449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2958598" y="4327050"/>
            <a:ext cx="1176313" cy="1670902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7061" h="2066714">
                <a:moveTo>
                  <a:pt x="0" y="0"/>
                </a:moveTo>
                <a:cubicBezTo>
                  <a:pt x="67557" y="898230"/>
                  <a:pt x="548661" y="2917918"/>
                  <a:pt x="867061" y="1671382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088804" y="519555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378515" y="45748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193579" y="4640409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320655" y="4541801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655" y="4541801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439891" y="3470945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439891" y="3764198"/>
            <a:ext cx="706787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8" y="3013424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l="-294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1827578" y="5498068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578" y="5498068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762" r="-49206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相角裕度相同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9" y="1014160"/>
                <a:ext cx="5296938" cy="581649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zh-CN" altLang="en-US" sz="2800" b="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单位圆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相角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9" y="1014160"/>
                <a:ext cx="5296938" cy="581649"/>
              </a:xfrm>
              <a:prstGeom prst="flowChartAlternateProcess">
                <a:avLst/>
              </a:prstGeom>
              <a:blipFill>
                <a:blip r:embed="rId15"/>
                <a:stretch>
                  <a:fillRect l="-1667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幅值裕度可不同！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8" y="1781011"/>
                <a:ext cx="5303785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不同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8" y="1781011"/>
                <a:ext cx="5303785" cy="578882"/>
              </a:xfrm>
              <a:prstGeom prst="flowChartAlternateProcess">
                <a:avLst/>
              </a:prstGeom>
              <a:blipFill>
                <a:blip r:embed="rId16"/>
                <a:stretch>
                  <a:fillRect l="-1667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329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4" grpId="0"/>
      <p:bldP spid="46" grpId="0"/>
      <p:bldP spid="3" grpId="0" animBg="1"/>
      <p:bldP spid="47" grpId="0" animBg="1"/>
      <p:bldP spid="59" grpId="0" animBg="1"/>
      <p:bldP spid="63" grpId="0"/>
      <p:bldP spid="54" grpId="0"/>
      <p:bldP spid="7" grpId="0" animBg="1"/>
      <p:bldP spid="43" grpId="0"/>
      <p:bldP spid="52" grpId="0"/>
      <p:bldP spid="55" grpId="0"/>
      <p:bldP spid="76" grpId="0" animBg="1"/>
      <p:bldP spid="77" grpId="0" animBg="1"/>
      <p:bldP spid="78" grpId="0" animBg="1"/>
      <p:bldP spid="104" grpId="0" animBg="1"/>
      <p:bldP spid="1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sp>
        <p:nvSpPr>
          <p:cNvPr id="35" name="幅相">
            <a:extLst>
              <a:ext uri="{FF2B5EF4-FFF2-40B4-BE49-F238E27FC236}">
                <a16:creationId xmlns:a16="http://schemas.microsoft.com/office/drawing/2014/main" id="{6D9CB9E4-827A-67BE-4B81-4879FE516102}"/>
              </a:ext>
            </a:extLst>
          </p:cNvPr>
          <p:cNvSpPr/>
          <p:nvPr/>
        </p:nvSpPr>
        <p:spPr>
          <a:xfrm flipV="1">
            <a:off x="2749048" y="4496842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wg1">
                <a:extLst>
                  <a:ext uri="{FF2B5EF4-FFF2-40B4-BE49-F238E27FC236}">
                    <a16:creationId xmlns:a16="http://schemas.microsoft.com/office/drawing/2014/main" id="{64987B26-286C-35B6-5336-A898FC26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3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/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wc1">
                <a:extLst>
                  <a:ext uri="{FF2B5EF4-FFF2-40B4-BE49-F238E27FC236}">
                    <a16:creationId xmlns:a16="http://schemas.microsoft.com/office/drawing/2014/main" id="{96F2B485-9392-97DA-A917-91C41F32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坐标轴">
            <a:extLst>
              <a:ext uri="{FF2B5EF4-FFF2-40B4-BE49-F238E27FC236}">
                <a16:creationId xmlns:a16="http://schemas.microsoft.com/office/drawing/2014/main" id="{78BF8EAD-BC16-C0E2-8C49-DBDB1A570865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28" name="实轴">
              <a:extLst>
                <a:ext uri="{FF2B5EF4-FFF2-40B4-BE49-F238E27FC236}">
                  <a16:creationId xmlns:a16="http://schemas.microsoft.com/office/drawing/2014/main" id="{0B3FFAE2-5E10-D833-BE14-F71AEA2F8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虚轴">
              <a:extLst>
                <a:ext uri="{FF2B5EF4-FFF2-40B4-BE49-F238E27FC236}">
                  <a16:creationId xmlns:a16="http://schemas.microsoft.com/office/drawing/2014/main" id="{2D56FA3E-C5BF-E59D-04A5-04623EA2FE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Im">
                  <a:extLst>
                    <a:ext uri="{FF2B5EF4-FFF2-40B4-BE49-F238E27FC236}">
                      <a16:creationId xmlns:a16="http://schemas.microsoft.com/office/drawing/2014/main" id="{B15195EC-160D-2BB3-C29E-0FE76F5C6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3" name="原点">
                  <a:extLst>
                    <a:ext uri="{FF2B5EF4-FFF2-40B4-BE49-F238E27FC236}">
                      <a16:creationId xmlns:a16="http://schemas.microsoft.com/office/drawing/2014/main" id="{13603334-87A6-3819-C090-B07D72172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单位圆">
            <a:extLst>
              <a:ext uri="{FF2B5EF4-FFF2-40B4-BE49-F238E27FC236}">
                <a16:creationId xmlns:a16="http://schemas.microsoft.com/office/drawing/2014/main" id="{4C7D0196-0B0A-B654-5587-D8C5FCE5406D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wc交点1">
            <a:extLst>
              <a:ext uri="{FF2B5EF4-FFF2-40B4-BE49-F238E27FC236}">
                <a16:creationId xmlns:a16="http://schemas.microsoft.com/office/drawing/2014/main" id="{021153ED-39E0-1AF1-1592-952781E959C2}"/>
              </a:ext>
            </a:extLst>
          </p:cNvPr>
          <p:cNvSpPr/>
          <p:nvPr/>
        </p:nvSpPr>
        <p:spPr>
          <a:xfrm>
            <a:off x="3088804" y="519555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wg交点1">
            <a:extLst>
              <a:ext uri="{FF2B5EF4-FFF2-40B4-BE49-F238E27FC236}">
                <a16:creationId xmlns:a16="http://schemas.microsoft.com/office/drawing/2014/main" id="{83D9EB89-C8AD-58AD-40C3-4FE43B41DD7A}"/>
              </a:ext>
            </a:extLst>
          </p:cNvPr>
          <p:cNvSpPr/>
          <p:nvPr/>
        </p:nvSpPr>
        <p:spPr>
          <a:xfrm>
            <a:off x="3605801" y="4579033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label2">
                <a:extLst>
                  <a:ext uri="{FF2B5EF4-FFF2-40B4-BE49-F238E27FC236}">
                    <a16:creationId xmlns:a16="http://schemas.microsoft.com/office/drawing/2014/main" id="{5EFF7C26-62BD-82A6-17CA-51A8F0110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label1">
                <a:extLst>
                  <a:ext uri="{FF2B5EF4-FFF2-40B4-BE49-F238E27FC236}">
                    <a16:creationId xmlns:a16="http://schemas.microsoft.com/office/drawing/2014/main" id="{01657A85-DADB-9A6F-F81D-A46278A52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相角裕度辅助线">
            <a:extLst>
              <a:ext uri="{FF2B5EF4-FFF2-40B4-BE49-F238E27FC236}">
                <a16:creationId xmlns:a16="http://schemas.microsoft.com/office/drawing/2014/main" id="{57E8971E-52FF-2DA4-8342-8373D0B940FB}"/>
              </a:ext>
            </a:extLst>
          </p:cNvPr>
          <p:cNvCxnSpPr>
            <a:cxnSpLocks/>
            <a:endCxn id="47" idx="7"/>
          </p:cNvCxnSpPr>
          <p:nvPr/>
        </p:nvCxnSpPr>
        <p:spPr>
          <a:xfrm flipH="1">
            <a:off x="3193579" y="4640409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量角弧">
            <a:extLst>
              <a:ext uri="{FF2B5EF4-FFF2-40B4-BE49-F238E27FC236}">
                <a16:creationId xmlns:a16="http://schemas.microsoft.com/office/drawing/2014/main" id="{8FBC9C88-90FC-7D27-1276-26560AB68299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/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gamma1">
                <a:extLst>
                  <a:ext uri="{FF2B5EF4-FFF2-40B4-BE49-F238E27FC236}">
                    <a16:creationId xmlns:a16="http://schemas.microsoft.com/office/drawing/2014/main" id="{D99923AA-FAFE-99D7-5B52-F24A1CD17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幅值裕度辅助线">
            <a:extLst>
              <a:ext uri="{FF2B5EF4-FFF2-40B4-BE49-F238E27FC236}">
                <a16:creationId xmlns:a16="http://schemas.microsoft.com/office/drawing/2014/main" id="{FA4F9487-08F7-2CFE-7D06-7B6A23B7DAD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667177" y="3475113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幅值裕度双箭头1">
            <a:extLst>
              <a:ext uri="{FF2B5EF4-FFF2-40B4-BE49-F238E27FC236}">
                <a16:creationId xmlns:a16="http://schemas.microsoft.com/office/drawing/2014/main" id="{AAA4CBD9-0039-9A8A-EC32-98992B4BD1A6}"/>
              </a:ext>
            </a:extLst>
          </p:cNvPr>
          <p:cNvCxnSpPr>
            <a:cxnSpLocks/>
          </p:cNvCxnSpPr>
          <p:nvPr/>
        </p:nvCxnSpPr>
        <p:spPr>
          <a:xfrm>
            <a:off x="3653526" y="3764198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/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52" name="1/h">
                <a:extLst>
                  <a:ext uri="{FF2B5EF4-FFF2-40B4-BE49-F238E27FC236}">
                    <a16:creationId xmlns:a16="http://schemas.microsoft.com/office/drawing/2014/main" id="{A237DD65-88BC-20C4-1F1E-605DAAE14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/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5" name="Gjw">
                <a:extLst>
                  <a:ext uri="{FF2B5EF4-FFF2-40B4-BE49-F238E27FC236}">
                    <a16:creationId xmlns:a16="http://schemas.microsoft.com/office/drawing/2014/main" id="{50C6AAFC-8296-BC83-4323-4242FA64C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688" r="-4843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相角裕度相同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9" y="1014160"/>
                <a:ext cx="5296938" cy="581649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zh-CN" altLang="en-US" sz="2800" b="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单位圆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相角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一样</a:t>
                </a: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9" y="1014160"/>
                <a:ext cx="5296938" cy="581649"/>
              </a:xfrm>
              <a:prstGeom prst="flowChartAlternateProcess">
                <a:avLst/>
              </a:prstGeom>
              <a:blipFill>
                <a:blip r:embed="rId15"/>
                <a:stretch>
                  <a:fillRect l="-1667" t="-4082" b="-20408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幅值裕度可不同！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8" y="1781011"/>
                <a:ext cx="5303785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幅相特性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kumimoji="1" lang="en-US" altLang="zh-CN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幅值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不同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8" y="1781011"/>
                <a:ext cx="5303785" cy="578882"/>
              </a:xfrm>
              <a:prstGeom prst="flowChartAlternateProcess">
                <a:avLst/>
              </a:prstGeom>
              <a:blipFill>
                <a:blip r:embed="rId16"/>
                <a:stretch>
                  <a:fillRect l="-1667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725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grpSp>
        <p:nvGrpSpPr>
          <p:cNvPr id="22" name="坐标轴2">
            <a:extLst>
              <a:ext uri="{FF2B5EF4-FFF2-40B4-BE49-F238E27FC236}">
                <a16:creationId xmlns:a16="http://schemas.microsoft.com/office/drawing/2014/main" id="{C1C75705-B4BA-3FAC-3B45-1E94AA06DCE7}"/>
              </a:ext>
            </a:extLst>
          </p:cNvPr>
          <p:cNvGrpSpPr/>
          <p:nvPr/>
        </p:nvGrpSpPr>
        <p:grpSpPr>
          <a:xfrm>
            <a:off x="6289134" y="2650505"/>
            <a:ext cx="5023507" cy="3231633"/>
            <a:chOff x="7127120" y="3365079"/>
            <a:chExt cx="5023507" cy="3231633"/>
          </a:xfrm>
        </p:grpSpPr>
        <p:grpSp>
          <p:nvGrpSpPr>
            <p:cNvPr id="64" name="坐标轴">
              <a:extLst>
                <a:ext uri="{FF2B5EF4-FFF2-40B4-BE49-F238E27FC236}">
                  <a16:creationId xmlns:a16="http://schemas.microsoft.com/office/drawing/2014/main" id="{857598FC-ED6A-1874-7FB0-EA238ADF6AAE}"/>
                </a:ext>
              </a:extLst>
            </p:cNvPr>
            <p:cNvGrpSpPr/>
            <p:nvPr/>
          </p:nvGrpSpPr>
          <p:grpSpPr>
            <a:xfrm>
              <a:off x="7762323" y="3365079"/>
              <a:ext cx="4388304" cy="3231633"/>
              <a:chOff x="7059016" y="2929714"/>
              <a:chExt cx="4388304" cy="3231633"/>
            </a:xfrm>
          </p:grpSpPr>
          <p:cxnSp>
            <p:nvCxnSpPr>
              <p:cNvPr id="65" name="实轴">
                <a:extLst>
                  <a:ext uri="{FF2B5EF4-FFF2-40B4-BE49-F238E27FC236}">
                    <a16:creationId xmlns:a16="http://schemas.microsoft.com/office/drawing/2014/main" id="{1D152970-D949-43AB-9499-4DE84E319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虚轴">
                <a:extLst>
                  <a:ext uri="{FF2B5EF4-FFF2-40B4-BE49-F238E27FC236}">
                    <a16:creationId xmlns:a16="http://schemas.microsoft.com/office/drawing/2014/main" id="{0FAA4D59-90C5-47EB-DB44-21621CE6C9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255" r="-148936" b="-186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651" r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7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8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虚线3">
              <a:extLst>
                <a:ext uri="{FF2B5EF4-FFF2-40B4-BE49-F238E27FC236}">
                  <a16:creationId xmlns:a16="http://schemas.microsoft.com/office/drawing/2014/main" id="{156AD9F6-491A-D264-A256-9D7D42310D8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虚线2">
              <a:extLst>
                <a:ext uri="{FF2B5EF4-FFF2-40B4-BE49-F238E27FC236}">
                  <a16:creationId xmlns:a16="http://schemas.microsoft.com/office/drawing/2014/main" id="{C25B28D5-3723-077B-2EB1-67863A7965E9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虚线1">
              <a:extLst>
                <a:ext uri="{FF2B5EF4-FFF2-40B4-BE49-F238E27FC236}">
                  <a16:creationId xmlns:a16="http://schemas.microsoft.com/office/drawing/2014/main" id="{9E84E2FD-3D4B-3526-D1CC-97CAE4CED7F4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转折频率组合1">
            <a:extLst>
              <a:ext uri="{FF2B5EF4-FFF2-40B4-BE49-F238E27FC236}">
                <a16:creationId xmlns:a16="http://schemas.microsoft.com/office/drawing/2014/main" id="{C8E12792-ECFF-5E52-B99B-FCDF2374DAC9}"/>
              </a:ext>
            </a:extLst>
          </p:cNvPr>
          <p:cNvGrpSpPr/>
          <p:nvPr/>
        </p:nvGrpSpPr>
        <p:grpSpPr>
          <a:xfrm>
            <a:off x="8018820" y="3667321"/>
            <a:ext cx="1090074" cy="2447702"/>
            <a:chOff x="8856806" y="4381895"/>
            <a:chExt cx="1090074" cy="2447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/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blipFill>
                  <a:blip r:embed="rId9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转折频率虚线1">
              <a:extLst>
                <a:ext uri="{FF2B5EF4-FFF2-40B4-BE49-F238E27FC236}">
                  <a16:creationId xmlns:a16="http://schemas.microsoft.com/office/drawing/2014/main" id="{35DC8A43-0E8B-B461-C991-748C13840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1521" y="4381895"/>
              <a:ext cx="213" cy="1939806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转折频率组合2">
            <a:extLst>
              <a:ext uri="{FF2B5EF4-FFF2-40B4-BE49-F238E27FC236}">
                <a16:creationId xmlns:a16="http://schemas.microsoft.com/office/drawing/2014/main" id="{7658C12B-ADFA-61B5-C86D-7B8A22582BC3}"/>
              </a:ext>
            </a:extLst>
          </p:cNvPr>
          <p:cNvGrpSpPr/>
          <p:nvPr/>
        </p:nvGrpSpPr>
        <p:grpSpPr>
          <a:xfrm>
            <a:off x="9405156" y="4737728"/>
            <a:ext cx="1090074" cy="1373339"/>
            <a:chOff x="10243142" y="5452302"/>
            <a:chExt cx="1090074" cy="1373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0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转折频率虚线2">
              <a:extLst>
                <a:ext uri="{FF2B5EF4-FFF2-40B4-BE49-F238E27FC236}">
                  <a16:creationId xmlns:a16="http://schemas.microsoft.com/office/drawing/2014/main" id="{B9F8ECC0-4197-8A89-8352-4832E96A8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73" y="5452302"/>
              <a:ext cx="6847" cy="85407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7450134" y="3218047"/>
            <a:ext cx="3481363" cy="28270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115" h="3496696">
                <a:moveTo>
                  <a:pt x="0" y="3496696"/>
                </a:moveTo>
                <a:lnTo>
                  <a:pt x="771287" y="2957193"/>
                </a:lnTo>
                <a:cubicBezTo>
                  <a:pt x="1009049" y="2707573"/>
                  <a:pt x="1535424" y="1980010"/>
                  <a:pt x="1833782" y="1614121"/>
                </a:cubicBezTo>
                <a:lnTo>
                  <a:pt x="2566115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相频">
            <a:extLst>
              <a:ext uri="{FF2B5EF4-FFF2-40B4-BE49-F238E27FC236}">
                <a16:creationId xmlns:a16="http://schemas.microsoft.com/office/drawing/2014/main" id="{4547C94B-B599-D3E0-60B7-E2B004E4C82A}"/>
              </a:ext>
            </a:extLst>
          </p:cNvPr>
          <p:cNvSpPr/>
          <p:nvPr/>
        </p:nvSpPr>
        <p:spPr>
          <a:xfrm flipV="1">
            <a:off x="7448922" y="4176303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1601794" y="13423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/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/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373" y="4042360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/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blipFill>
                <a:blip r:embed="rId13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wc交点2">
            <a:extLst>
              <a:ext uri="{FF2B5EF4-FFF2-40B4-BE49-F238E27FC236}">
                <a16:creationId xmlns:a16="http://schemas.microsoft.com/office/drawing/2014/main" id="{CD5A7C1C-75BC-E581-9D57-57C28042967A}"/>
              </a:ext>
            </a:extLst>
          </p:cNvPr>
          <p:cNvSpPr/>
          <p:nvPr/>
        </p:nvSpPr>
        <p:spPr>
          <a:xfrm>
            <a:off x="7890134" y="337699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wg交点2">
            <a:extLst>
              <a:ext uri="{FF2B5EF4-FFF2-40B4-BE49-F238E27FC236}">
                <a16:creationId xmlns:a16="http://schemas.microsoft.com/office/drawing/2014/main" id="{A2D09D30-F2C2-2A6D-D44C-3E6A39D6BFEF}"/>
              </a:ext>
            </a:extLst>
          </p:cNvPr>
          <p:cNvSpPr/>
          <p:nvPr/>
        </p:nvSpPr>
        <p:spPr>
          <a:xfrm>
            <a:off x="9267340" y="479800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截止频率辅助线">
            <a:extLst>
              <a:ext uri="{FF2B5EF4-FFF2-40B4-BE49-F238E27FC236}">
                <a16:creationId xmlns:a16="http://schemas.microsoft.com/office/drawing/2014/main" id="{E6F96B76-B503-F912-309A-7F85788C2FC4}"/>
              </a:ext>
            </a:extLst>
          </p:cNvPr>
          <p:cNvCxnSpPr>
            <a:cxnSpLocks/>
            <a:stCxn id="93" idx="4"/>
            <a:endCxn id="101" idx="0"/>
          </p:cNvCxnSpPr>
          <p:nvPr/>
        </p:nvCxnSpPr>
        <p:spPr>
          <a:xfrm>
            <a:off x="7951510" y="3499748"/>
            <a:ext cx="0" cy="66555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/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/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430" y="4857820"/>
                <a:ext cx="545352" cy="558230"/>
              </a:xfrm>
              <a:prstGeom prst="rect">
                <a:avLst/>
              </a:prstGeom>
              <a:blipFill>
                <a:blip r:embed="rId16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穿越频率辅助线">
            <a:extLst>
              <a:ext uri="{FF2B5EF4-FFF2-40B4-BE49-F238E27FC236}">
                <a16:creationId xmlns:a16="http://schemas.microsoft.com/office/drawing/2014/main" id="{41F28842-4ACF-A947-A88C-BDE200C2D39B}"/>
              </a:ext>
            </a:extLst>
          </p:cNvPr>
          <p:cNvCxnSpPr>
            <a:cxnSpLocks/>
            <a:stCxn id="102" idx="4"/>
            <a:endCxn id="94" idx="0"/>
          </p:cNvCxnSpPr>
          <p:nvPr/>
        </p:nvCxnSpPr>
        <p:spPr>
          <a:xfrm>
            <a:off x="9326006" y="4336856"/>
            <a:ext cx="2710" cy="46115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/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381" y="3524113"/>
                <a:ext cx="917477" cy="523220"/>
              </a:xfrm>
              <a:prstGeom prst="rect">
                <a:avLst/>
              </a:prstGeom>
              <a:blipFill>
                <a:blip r:embed="rId17"/>
                <a:stretch>
                  <a:fillRect l="-4110" r="-3150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幅相交点">
            <a:extLst>
              <a:ext uri="{FF2B5EF4-FFF2-40B4-BE49-F238E27FC236}">
                <a16:creationId xmlns:a16="http://schemas.microsoft.com/office/drawing/2014/main" id="{A7E144DB-1616-0BB1-4808-E71614D24C25}"/>
              </a:ext>
            </a:extLst>
          </p:cNvPr>
          <p:cNvSpPr/>
          <p:nvPr/>
        </p:nvSpPr>
        <p:spPr>
          <a:xfrm>
            <a:off x="7890134" y="4165299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幅频交点">
            <a:extLst>
              <a:ext uri="{FF2B5EF4-FFF2-40B4-BE49-F238E27FC236}">
                <a16:creationId xmlns:a16="http://schemas.microsoft.com/office/drawing/2014/main" id="{52057664-0BB5-0BE7-230A-2E2123E9BD5C}"/>
              </a:ext>
            </a:extLst>
          </p:cNvPr>
          <p:cNvSpPr/>
          <p:nvPr/>
        </p:nvSpPr>
        <p:spPr>
          <a:xfrm>
            <a:off x="9264630" y="4214104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3" name="相角裕度双箭头">
            <a:extLst>
              <a:ext uri="{FF2B5EF4-FFF2-40B4-BE49-F238E27FC236}">
                <a16:creationId xmlns:a16="http://schemas.microsoft.com/office/drawing/2014/main" id="{290295E3-18DD-C67B-EB52-4A99DDAB1A59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7951510" y="4288051"/>
            <a:ext cx="0" cy="569769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幅值裕度双箭头2">
            <a:extLst>
              <a:ext uri="{FF2B5EF4-FFF2-40B4-BE49-F238E27FC236}">
                <a16:creationId xmlns:a16="http://schemas.microsoft.com/office/drawing/2014/main" id="{32CE3BB7-4F24-756F-90EB-5414254F30BD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9326006" y="3433223"/>
            <a:ext cx="0" cy="780881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相角裕度相同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穿过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线时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距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一样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blipFill>
                <a:blip r:embed="rId18"/>
                <a:stretch>
                  <a:fillRect l="-1226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幅值裕度可不同！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距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线不同</a:t>
                </a: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blipFill>
                <a:blip r:embed="rId19"/>
                <a:stretch>
                  <a:fillRect l="-1224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幅相">
            <a:extLst>
              <a:ext uri="{FF2B5EF4-FFF2-40B4-BE49-F238E27FC236}">
                <a16:creationId xmlns:a16="http://schemas.microsoft.com/office/drawing/2014/main" id="{5E1D5977-8E25-2682-458F-A213EF7F0003}"/>
              </a:ext>
            </a:extLst>
          </p:cNvPr>
          <p:cNvSpPr/>
          <p:nvPr/>
        </p:nvSpPr>
        <p:spPr>
          <a:xfrm flipV="1">
            <a:off x="2749048" y="4496842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20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/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坐标轴">
            <a:extLst>
              <a:ext uri="{FF2B5EF4-FFF2-40B4-BE49-F238E27FC236}">
                <a16:creationId xmlns:a16="http://schemas.microsoft.com/office/drawing/2014/main" id="{74C5BAA7-6DAB-C678-11B3-70FB19B7238E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71" name="实轴">
              <a:extLst>
                <a:ext uri="{FF2B5EF4-FFF2-40B4-BE49-F238E27FC236}">
                  <a16:creationId xmlns:a16="http://schemas.microsoft.com/office/drawing/2014/main" id="{BC6C94C8-DEEB-CD3D-8299-5B36D3C37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虚轴">
              <a:extLst>
                <a:ext uri="{FF2B5EF4-FFF2-40B4-BE49-F238E27FC236}">
                  <a16:creationId xmlns:a16="http://schemas.microsoft.com/office/drawing/2014/main" id="{2295CFC3-95C8-BCC4-320E-BD55DE2AE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">
                  <a:extLst>
                    <a:ext uri="{FF2B5EF4-FFF2-40B4-BE49-F238E27FC236}">
                      <a16:creationId xmlns:a16="http://schemas.microsoft.com/office/drawing/2014/main" id="{894187EA-E62A-2F0B-E86B-398C4B561897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单位圆">
            <a:extLst>
              <a:ext uri="{FF2B5EF4-FFF2-40B4-BE49-F238E27FC236}">
                <a16:creationId xmlns:a16="http://schemas.microsoft.com/office/drawing/2014/main" id="{918D0337-8E8B-6518-442B-50D03C2BA311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wc交点1">
            <a:extLst>
              <a:ext uri="{FF2B5EF4-FFF2-40B4-BE49-F238E27FC236}">
                <a16:creationId xmlns:a16="http://schemas.microsoft.com/office/drawing/2014/main" id="{A12B8B28-FD62-CA23-EE26-B893262CDB15}"/>
              </a:ext>
            </a:extLst>
          </p:cNvPr>
          <p:cNvSpPr/>
          <p:nvPr/>
        </p:nvSpPr>
        <p:spPr>
          <a:xfrm>
            <a:off x="3088804" y="519555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wg交点1">
            <a:extLst>
              <a:ext uri="{FF2B5EF4-FFF2-40B4-BE49-F238E27FC236}">
                <a16:creationId xmlns:a16="http://schemas.microsoft.com/office/drawing/2014/main" id="{02F4F995-6408-2A59-38A3-71EF2EEFCC19}"/>
              </a:ext>
            </a:extLst>
          </p:cNvPr>
          <p:cNvSpPr/>
          <p:nvPr/>
        </p:nvSpPr>
        <p:spPr>
          <a:xfrm>
            <a:off x="3605801" y="4579033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相角裕度辅助线">
            <a:extLst>
              <a:ext uri="{FF2B5EF4-FFF2-40B4-BE49-F238E27FC236}">
                <a16:creationId xmlns:a16="http://schemas.microsoft.com/office/drawing/2014/main" id="{B945BF75-B07C-9E25-4A61-776954E76577}"/>
              </a:ext>
            </a:extLst>
          </p:cNvPr>
          <p:cNvCxnSpPr>
            <a:cxnSpLocks/>
            <a:endCxn id="110" idx="7"/>
          </p:cNvCxnSpPr>
          <p:nvPr/>
        </p:nvCxnSpPr>
        <p:spPr>
          <a:xfrm flipH="1">
            <a:off x="3193579" y="4640409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量角弧">
            <a:extLst>
              <a:ext uri="{FF2B5EF4-FFF2-40B4-BE49-F238E27FC236}">
                <a16:creationId xmlns:a16="http://schemas.microsoft.com/office/drawing/2014/main" id="{C7CC5274-D17D-A462-4004-71CFA9049B35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/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幅值裕度辅助线">
            <a:extLst>
              <a:ext uri="{FF2B5EF4-FFF2-40B4-BE49-F238E27FC236}">
                <a16:creationId xmlns:a16="http://schemas.microsoft.com/office/drawing/2014/main" id="{761B1700-E283-D911-5916-43CE3A8AB227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3667177" y="3475113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幅值裕度双箭头1">
            <a:extLst>
              <a:ext uri="{FF2B5EF4-FFF2-40B4-BE49-F238E27FC236}">
                <a16:creationId xmlns:a16="http://schemas.microsoft.com/office/drawing/2014/main" id="{283EB00F-AB98-9B70-8E54-CF8D866EE500}"/>
              </a:ext>
            </a:extLst>
          </p:cNvPr>
          <p:cNvCxnSpPr>
            <a:cxnSpLocks/>
          </p:cNvCxnSpPr>
          <p:nvPr/>
        </p:nvCxnSpPr>
        <p:spPr>
          <a:xfrm>
            <a:off x="3653526" y="3764198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/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blipFill>
                <a:blip r:embed="rId27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/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blipFill>
                <a:blip r:embed="rId28"/>
                <a:stretch>
                  <a:fillRect l="-4688" r="-4843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225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/>
      <p:bldP spid="89" grpId="0"/>
      <p:bldP spid="90" grpId="0"/>
      <p:bldP spid="93" grpId="0" animBg="1"/>
      <p:bldP spid="94" grpId="0" animBg="1"/>
      <p:bldP spid="96" grpId="0"/>
      <p:bldP spid="97" grpId="0"/>
      <p:bldP spid="98" grpId="0"/>
      <p:bldP spid="100" grpId="0"/>
      <p:bldP spid="101" grpId="0" animBg="1"/>
      <p:bldP spid="102" grpId="0" animBg="1"/>
      <p:bldP spid="76" grpId="0" animBg="1"/>
      <p:bldP spid="77" grpId="0" animBg="1"/>
      <p:bldP spid="78" grpId="0" animBg="1"/>
      <p:bldP spid="104" grpId="0" animBg="1"/>
      <p:bldP spid="10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稳定裕度的定义</a:t>
            </a:r>
          </a:p>
        </p:txBody>
      </p:sp>
      <p:grpSp>
        <p:nvGrpSpPr>
          <p:cNvPr id="22" name="坐标轴2">
            <a:extLst>
              <a:ext uri="{FF2B5EF4-FFF2-40B4-BE49-F238E27FC236}">
                <a16:creationId xmlns:a16="http://schemas.microsoft.com/office/drawing/2014/main" id="{C1C75705-B4BA-3FAC-3B45-1E94AA06DCE7}"/>
              </a:ext>
            </a:extLst>
          </p:cNvPr>
          <p:cNvGrpSpPr/>
          <p:nvPr/>
        </p:nvGrpSpPr>
        <p:grpSpPr>
          <a:xfrm>
            <a:off x="6289134" y="2650505"/>
            <a:ext cx="5023507" cy="3231633"/>
            <a:chOff x="7127120" y="3365079"/>
            <a:chExt cx="5023507" cy="3231633"/>
          </a:xfrm>
        </p:grpSpPr>
        <p:grpSp>
          <p:nvGrpSpPr>
            <p:cNvPr id="64" name="坐标轴">
              <a:extLst>
                <a:ext uri="{FF2B5EF4-FFF2-40B4-BE49-F238E27FC236}">
                  <a16:creationId xmlns:a16="http://schemas.microsoft.com/office/drawing/2014/main" id="{857598FC-ED6A-1874-7FB0-EA238ADF6AAE}"/>
                </a:ext>
              </a:extLst>
            </p:cNvPr>
            <p:cNvGrpSpPr/>
            <p:nvPr/>
          </p:nvGrpSpPr>
          <p:grpSpPr>
            <a:xfrm>
              <a:off x="7762323" y="3365079"/>
              <a:ext cx="4388304" cy="3231633"/>
              <a:chOff x="7059016" y="2929714"/>
              <a:chExt cx="4388304" cy="3231633"/>
            </a:xfrm>
          </p:grpSpPr>
          <p:cxnSp>
            <p:nvCxnSpPr>
              <p:cNvPr id="65" name="实轴">
                <a:extLst>
                  <a:ext uri="{FF2B5EF4-FFF2-40B4-BE49-F238E27FC236}">
                    <a16:creationId xmlns:a16="http://schemas.microsoft.com/office/drawing/2014/main" id="{1D152970-D949-43AB-9499-4DE84E3195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虚轴">
                <a:extLst>
                  <a:ext uri="{FF2B5EF4-FFF2-40B4-BE49-F238E27FC236}">
                    <a16:creationId xmlns:a16="http://schemas.microsoft.com/office/drawing/2014/main" id="{0FAA4D59-90C5-47EB-DB44-21621CE6C9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4" name="Re">
                    <a:extLst>
                      <a:ext uri="{FF2B5EF4-FFF2-40B4-BE49-F238E27FC236}">
                        <a16:creationId xmlns:a16="http://schemas.microsoft.com/office/drawing/2014/main" id="{693AC27B-2E65-BD0C-4A8F-CF8D03692E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5" name="Im">
                    <a:extLst>
                      <a:ext uri="{FF2B5EF4-FFF2-40B4-BE49-F238E27FC236}">
                        <a16:creationId xmlns:a16="http://schemas.microsoft.com/office/drawing/2014/main" id="{57E5C753-54BF-8847-0E92-B2AA4014E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3788" y="2929714"/>
                    <a:ext cx="576536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255" r="-148936" b="-186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原点">
                    <a:extLst>
                      <a:ext uri="{FF2B5EF4-FFF2-40B4-BE49-F238E27FC236}">
                        <a16:creationId xmlns:a16="http://schemas.microsoft.com/office/drawing/2014/main" id="{A8824208-32CD-4896-8CBA-1B0F139E8C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651" r="-465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0" name="-90">
                  <a:extLst>
                    <a:ext uri="{FF2B5EF4-FFF2-40B4-BE49-F238E27FC236}">
                      <a16:creationId xmlns:a16="http://schemas.microsoft.com/office/drawing/2014/main" id="{57C64AEB-B2FE-06CF-2F6F-E5746E815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6"/>
                  <a:stretch>
                    <a:fillRect r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-180">
                  <a:extLst>
                    <a:ext uri="{FF2B5EF4-FFF2-40B4-BE49-F238E27FC236}">
                      <a16:creationId xmlns:a16="http://schemas.microsoft.com/office/drawing/2014/main" id="{5163C292-985F-0F72-C7D8-DC2E59C5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7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-270">
                  <a:extLst>
                    <a:ext uri="{FF2B5EF4-FFF2-40B4-BE49-F238E27FC236}">
                      <a16:creationId xmlns:a16="http://schemas.microsoft.com/office/drawing/2014/main" id="{55083D8A-1653-6FB2-CCA3-A704BB028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8"/>
                  <a:stretch>
                    <a:fillRect r="-1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虚线3">
              <a:extLst>
                <a:ext uri="{FF2B5EF4-FFF2-40B4-BE49-F238E27FC236}">
                  <a16:creationId xmlns:a16="http://schemas.microsoft.com/office/drawing/2014/main" id="{156AD9F6-491A-D264-A256-9D7D42310D87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虚线2">
              <a:extLst>
                <a:ext uri="{FF2B5EF4-FFF2-40B4-BE49-F238E27FC236}">
                  <a16:creationId xmlns:a16="http://schemas.microsoft.com/office/drawing/2014/main" id="{C25B28D5-3723-077B-2EB1-67863A7965E9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虚线1">
              <a:extLst>
                <a:ext uri="{FF2B5EF4-FFF2-40B4-BE49-F238E27FC236}">
                  <a16:creationId xmlns:a16="http://schemas.microsoft.com/office/drawing/2014/main" id="{9E84E2FD-3D4B-3526-D1CC-97CAE4CED7F4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转折频率组合1">
            <a:extLst>
              <a:ext uri="{FF2B5EF4-FFF2-40B4-BE49-F238E27FC236}">
                <a16:creationId xmlns:a16="http://schemas.microsoft.com/office/drawing/2014/main" id="{C8E12792-ECFF-5E52-B99B-FCDF2374DAC9}"/>
              </a:ext>
            </a:extLst>
          </p:cNvPr>
          <p:cNvGrpSpPr/>
          <p:nvPr/>
        </p:nvGrpSpPr>
        <p:grpSpPr>
          <a:xfrm>
            <a:off x="8018820" y="3667321"/>
            <a:ext cx="1090074" cy="2447702"/>
            <a:chOff x="8856806" y="4381895"/>
            <a:chExt cx="1090074" cy="2447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/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转折频率1">
                  <a:extLst>
                    <a:ext uri="{FF2B5EF4-FFF2-40B4-BE49-F238E27FC236}">
                      <a16:creationId xmlns:a16="http://schemas.microsoft.com/office/drawing/2014/main" id="{843B981E-05FB-D5DE-848F-E7073501C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6806" y="6306377"/>
                  <a:ext cx="1090074" cy="523220"/>
                </a:xfrm>
                <a:prstGeom prst="rect">
                  <a:avLst/>
                </a:prstGeom>
                <a:blipFill>
                  <a:blip r:embed="rId9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5" name="转折频率虚线1">
              <a:extLst>
                <a:ext uri="{FF2B5EF4-FFF2-40B4-BE49-F238E27FC236}">
                  <a16:creationId xmlns:a16="http://schemas.microsoft.com/office/drawing/2014/main" id="{35DC8A43-0E8B-B461-C991-748C13840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1521" y="4381895"/>
              <a:ext cx="213" cy="1939806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转折频率组合2">
            <a:extLst>
              <a:ext uri="{FF2B5EF4-FFF2-40B4-BE49-F238E27FC236}">
                <a16:creationId xmlns:a16="http://schemas.microsoft.com/office/drawing/2014/main" id="{7658C12B-ADFA-61B5-C86D-7B8A22582BC3}"/>
              </a:ext>
            </a:extLst>
          </p:cNvPr>
          <p:cNvGrpSpPr/>
          <p:nvPr/>
        </p:nvGrpSpPr>
        <p:grpSpPr>
          <a:xfrm>
            <a:off x="9405156" y="4737728"/>
            <a:ext cx="1090074" cy="1373339"/>
            <a:chOff x="10243142" y="5452302"/>
            <a:chExt cx="1090074" cy="13733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2" name="转折频率2">
                  <a:extLst>
                    <a:ext uri="{FF2B5EF4-FFF2-40B4-BE49-F238E27FC236}">
                      <a16:creationId xmlns:a16="http://schemas.microsoft.com/office/drawing/2014/main" id="{C8AADEFD-0157-4720-17D6-88E98E39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0"/>
                  <a:stretch>
                    <a:fillRect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转折频率虚线2">
              <a:extLst>
                <a:ext uri="{FF2B5EF4-FFF2-40B4-BE49-F238E27FC236}">
                  <a16:creationId xmlns:a16="http://schemas.microsoft.com/office/drawing/2014/main" id="{B9F8ECC0-4197-8A89-8352-4832E96A8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73" y="5452302"/>
              <a:ext cx="6847" cy="85407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幅频">
            <a:extLst>
              <a:ext uri="{FF2B5EF4-FFF2-40B4-BE49-F238E27FC236}">
                <a16:creationId xmlns:a16="http://schemas.microsoft.com/office/drawing/2014/main" id="{F7105A78-0FDF-4F23-1F1F-996341FF3EAA}"/>
              </a:ext>
            </a:extLst>
          </p:cNvPr>
          <p:cNvSpPr/>
          <p:nvPr/>
        </p:nvSpPr>
        <p:spPr>
          <a:xfrm flipV="1">
            <a:off x="7450134" y="3218047"/>
            <a:ext cx="3481363" cy="28270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115" h="3496696">
                <a:moveTo>
                  <a:pt x="0" y="3496696"/>
                </a:moveTo>
                <a:lnTo>
                  <a:pt x="771287" y="2957193"/>
                </a:lnTo>
                <a:cubicBezTo>
                  <a:pt x="1009049" y="2707573"/>
                  <a:pt x="1535424" y="1980010"/>
                  <a:pt x="1833782" y="1614121"/>
                </a:cubicBezTo>
                <a:lnTo>
                  <a:pt x="2566115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相频">
            <a:extLst>
              <a:ext uri="{FF2B5EF4-FFF2-40B4-BE49-F238E27FC236}">
                <a16:creationId xmlns:a16="http://schemas.microsoft.com/office/drawing/2014/main" id="{4547C94B-B599-D3E0-60B7-E2B004E4C82A}"/>
              </a:ext>
            </a:extLst>
          </p:cNvPr>
          <p:cNvSpPr/>
          <p:nvPr/>
        </p:nvSpPr>
        <p:spPr>
          <a:xfrm flipV="1">
            <a:off x="7448922" y="4176303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2032408" y="21277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/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" name="-20">
                <a:extLst>
                  <a:ext uri="{FF2B5EF4-FFF2-40B4-BE49-F238E27FC236}">
                    <a16:creationId xmlns:a16="http://schemas.microsoft.com/office/drawing/2014/main" id="{95AC5E06-9471-F9E0-7897-429793A1F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369" y="2985878"/>
                <a:ext cx="801224" cy="524695"/>
              </a:xfrm>
              <a:prstGeom prst="rect">
                <a:avLst/>
              </a:prstGeom>
              <a:blipFill>
                <a:blip r:embed="rId11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/>
              <p:nvPr/>
            </p:nvSpPr>
            <p:spPr>
              <a:xfrm>
                <a:off x="9702053" y="4119367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9" name="-40">
                <a:extLst>
                  <a:ext uri="{FF2B5EF4-FFF2-40B4-BE49-F238E27FC236}">
                    <a16:creationId xmlns:a16="http://schemas.microsoft.com/office/drawing/2014/main" id="{1DE4EF07-6283-5294-A074-695C22765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053" y="4119367"/>
                <a:ext cx="801224" cy="524695"/>
              </a:xfrm>
              <a:prstGeom prst="rect">
                <a:avLst/>
              </a:prstGeom>
              <a:blipFill>
                <a:blip r:embed="rId12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/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0" name="-60">
                <a:extLst>
                  <a:ext uri="{FF2B5EF4-FFF2-40B4-BE49-F238E27FC236}">
                    <a16:creationId xmlns:a16="http://schemas.microsoft.com/office/drawing/2014/main" id="{CDCAB7E0-C896-55D8-0DAC-0018E83EB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450" y="4783810"/>
                <a:ext cx="801224" cy="524695"/>
              </a:xfrm>
              <a:prstGeom prst="rect">
                <a:avLst/>
              </a:prstGeom>
              <a:blipFill>
                <a:blip r:embed="rId13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wc交点2">
            <a:extLst>
              <a:ext uri="{FF2B5EF4-FFF2-40B4-BE49-F238E27FC236}">
                <a16:creationId xmlns:a16="http://schemas.microsoft.com/office/drawing/2014/main" id="{CD5A7C1C-75BC-E581-9D57-57C28042967A}"/>
              </a:ext>
            </a:extLst>
          </p:cNvPr>
          <p:cNvSpPr/>
          <p:nvPr/>
        </p:nvSpPr>
        <p:spPr>
          <a:xfrm>
            <a:off x="7890134" y="337699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wg交点2">
            <a:extLst>
              <a:ext uri="{FF2B5EF4-FFF2-40B4-BE49-F238E27FC236}">
                <a16:creationId xmlns:a16="http://schemas.microsoft.com/office/drawing/2014/main" id="{A2D09D30-F2C2-2A6D-D44C-3E6A39D6BFEF}"/>
              </a:ext>
            </a:extLst>
          </p:cNvPr>
          <p:cNvSpPr/>
          <p:nvPr/>
        </p:nvSpPr>
        <p:spPr>
          <a:xfrm>
            <a:off x="9482242" y="4798006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5" name="截止频率辅助线">
            <a:extLst>
              <a:ext uri="{FF2B5EF4-FFF2-40B4-BE49-F238E27FC236}">
                <a16:creationId xmlns:a16="http://schemas.microsoft.com/office/drawing/2014/main" id="{E6F96B76-B503-F912-309A-7F85788C2FC4}"/>
              </a:ext>
            </a:extLst>
          </p:cNvPr>
          <p:cNvCxnSpPr>
            <a:cxnSpLocks/>
            <a:stCxn id="93" idx="4"/>
            <a:endCxn id="101" idx="0"/>
          </p:cNvCxnSpPr>
          <p:nvPr/>
        </p:nvCxnSpPr>
        <p:spPr>
          <a:xfrm>
            <a:off x="7951510" y="3499748"/>
            <a:ext cx="0" cy="665551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/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6" name="wc2">
                <a:extLst>
                  <a:ext uri="{FF2B5EF4-FFF2-40B4-BE49-F238E27FC236}">
                    <a16:creationId xmlns:a16="http://schemas.microsoft.com/office/drawing/2014/main" id="{3B64CA90-ECF8-CA3F-E0FB-03ABDE40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903" y="3318284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/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" name="gamma2">
                <a:extLst>
                  <a:ext uri="{FF2B5EF4-FFF2-40B4-BE49-F238E27FC236}">
                    <a16:creationId xmlns:a16="http://schemas.microsoft.com/office/drawing/2014/main" id="{93119BB3-73C3-4780-EB0A-1D831B24A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292" y="4244424"/>
                <a:ext cx="421699" cy="523220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/>
              <p:nvPr/>
            </p:nvSpPr>
            <p:spPr>
              <a:xfrm>
                <a:off x="9119733" y="4811945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8" name="wg2">
                <a:extLst>
                  <a:ext uri="{FF2B5EF4-FFF2-40B4-BE49-F238E27FC236}">
                    <a16:creationId xmlns:a16="http://schemas.microsoft.com/office/drawing/2014/main" id="{CAF56DD8-65E0-5B77-B715-37488925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733" y="4811945"/>
                <a:ext cx="545352" cy="558230"/>
              </a:xfrm>
              <a:prstGeom prst="rect">
                <a:avLst/>
              </a:prstGeom>
              <a:blipFill>
                <a:blip r:embed="rId16"/>
                <a:stretch>
                  <a:fillRect r="-930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穿越频率辅助线">
            <a:extLst>
              <a:ext uri="{FF2B5EF4-FFF2-40B4-BE49-F238E27FC236}">
                <a16:creationId xmlns:a16="http://schemas.microsoft.com/office/drawing/2014/main" id="{41F28842-4ACF-A947-A88C-BDE200C2D39B}"/>
              </a:ext>
            </a:extLst>
          </p:cNvPr>
          <p:cNvCxnSpPr>
            <a:cxnSpLocks/>
            <a:stCxn id="102" idx="4"/>
            <a:endCxn id="94" idx="0"/>
          </p:cNvCxnSpPr>
          <p:nvPr/>
        </p:nvCxnSpPr>
        <p:spPr>
          <a:xfrm flipH="1">
            <a:off x="9543618" y="4490119"/>
            <a:ext cx="5929" cy="307887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/>
              <p:nvPr/>
            </p:nvSpPr>
            <p:spPr>
              <a:xfrm>
                <a:off x="9580782" y="3536999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幅值裕度label">
                <a:extLst>
                  <a:ext uri="{FF2B5EF4-FFF2-40B4-BE49-F238E27FC236}">
                    <a16:creationId xmlns:a16="http://schemas.microsoft.com/office/drawing/2014/main" id="{FDE90FFE-B216-D76B-BB5F-69124354C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782" y="3536999"/>
                <a:ext cx="917477" cy="523220"/>
              </a:xfrm>
              <a:prstGeom prst="rect">
                <a:avLst/>
              </a:prstGeom>
              <a:blipFill>
                <a:blip r:embed="rId17"/>
                <a:stretch>
                  <a:fillRect l="-4110" r="-3150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幅相交点">
            <a:extLst>
              <a:ext uri="{FF2B5EF4-FFF2-40B4-BE49-F238E27FC236}">
                <a16:creationId xmlns:a16="http://schemas.microsoft.com/office/drawing/2014/main" id="{A7E144DB-1616-0BB1-4808-E71614D24C25}"/>
              </a:ext>
            </a:extLst>
          </p:cNvPr>
          <p:cNvSpPr/>
          <p:nvPr/>
        </p:nvSpPr>
        <p:spPr>
          <a:xfrm>
            <a:off x="7890134" y="4165299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幅频交点">
            <a:extLst>
              <a:ext uri="{FF2B5EF4-FFF2-40B4-BE49-F238E27FC236}">
                <a16:creationId xmlns:a16="http://schemas.microsoft.com/office/drawing/2014/main" id="{52057664-0BB5-0BE7-230A-2E2123E9BD5C}"/>
              </a:ext>
            </a:extLst>
          </p:cNvPr>
          <p:cNvSpPr/>
          <p:nvPr/>
        </p:nvSpPr>
        <p:spPr>
          <a:xfrm>
            <a:off x="9488171" y="4367367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3" name="相角裕度双箭头">
            <a:extLst>
              <a:ext uri="{FF2B5EF4-FFF2-40B4-BE49-F238E27FC236}">
                <a16:creationId xmlns:a16="http://schemas.microsoft.com/office/drawing/2014/main" id="{290295E3-18DD-C67B-EB52-4A99DDAB1A59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7951510" y="4288051"/>
            <a:ext cx="0" cy="569769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幅值裕度双箭头2">
            <a:extLst>
              <a:ext uri="{FF2B5EF4-FFF2-40B4-BE49-F238E27FC236}">
                <a16:creationId xmlns:a16="http://schemas.microsoft.com/office/drawing/2014/main" id="{32CE3BB7-4F24-756F-90EB-5414254F30BD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9549547" y="3429000"/>
            <a:ext cx="0" cy="938367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小标题1">
            <a:extLst>
              <a:ext uri="{FF2B5EF4-FFF2-40B4-BE49-F238E27FC236}">
                <a16:creationId xmlns:a16="http://schemas.microsoft.com/office/drawing/2014/main" id="{ADC23408-5D06-3F66-22F1-CA321942FF1C}"/>
              </a:ext>
            </a:extLst>
          </p:cNvPr>
          <p:cNvSpPr/>
          <p:nvPr/>
        </p:nvSpPr>
        <p:spPr bwMode="auto">
          <a:xfrm>
            <a:off x="334962" y="1005076"/>
            <a:ext cx="340739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相角裕度相同</a:t>
            </a:r>
          </a:p>
        </p:txBody>
      </p:sp>
      <p:sp>
        <p:nvSpPr>
          <p:cNvPr id="76" name="燕尾形 75">
            <a:extLst>
              <a:ext uri="{FF2B5EF4-FFF2-40B4-BE49-F238E27FC236}">
                <a16:creationId xmlns:a16="http://schemas.microsoft.com/office/drawing/2014/main" id="{0A581DF0-356E-40AB-FBD2-F2910C247E3E}"/>
              </a:ext>
            </a:extLst>
          </p:cNvPr>
          <p:cNvSpPr/>
          <p:nvPr/>
        </p:nvSpPr>
        <p:spPr>
          <a:xfrm>
            <a:off x="4055356" y="109544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/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穿过</a:t>
                </a:r>
                <a:r>
                  <a:rPr kumimoji="1" lang="en-US" altLang="zh-CN" sz="2800" dirty="0">
                    <a:solidFill>
                      <a:schemeClr val="accent1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线时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距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一样</a:t>
                </a:r>
                <a:endParaRPr kumimoji="1" lang="zh-CN" altLang="en-US" sz="2800" dirty="0">
                  <a:solidFill>
                    <a:srgbClr val="2980B9"/>
                  </a:solidFill>
                </a:endParaRPr>
              </a:p>
            </p:txBody>
          </p:sp>
        </mc:Choice>
        <mc:Fallback xmlns="">
          <p:sp>
            <p:nvSpPr>
              <p:cNvPr id="77" name="说明3">
                <a:extLst>
                  <a:ext uri="{FF2B5EF4-FFF2-40B4-BE49-F238E27FC236}">
                    <a16:creationId xmlns:a16="http://schemas.microsoft.com/office/drawing/2014/main" id="{3BE806FA-DA2B-4F96-8D98-4704BED9F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014160"/>
                <a:ext cx="7214003" cy="578882"/>
              </a:xfrm>
              <a:prstGeom prst="flowChartAlternateProcess">
                <a:avLst/>
              </a:prstGeom>
              <a:blipFill>
                <a:blip r:embed="rId18"/>
                <a:stretch>
                  <a:fillRect l="-1226" t="-6122" b="-18367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重要1">
            <a:extLst>
              <a:ext uri="{FF2B5EF4-FFF2-40B4-BE49-F238E27FC236}">
                <a16:creationId xmlns:a16="http://schemas.microsoft.com/office/drawing/2014/main" id="{1B0A4912-E275-9BDF-56CC-F98B0B520E45}"/>
              </a:ext>
            </a:extLst>
          </p:cNvPr>
          <p:cNvSpPr txBox="1"/>
          <p:nvPr/>
        </p:nvSpPr>
        <p:spPr>
          <a:xfrm>
            <a:off x="320968" y="1738587"/>
            <a:ext cx="3442530" cy="669608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幅值裕度可不同！</a:t>
            </a:r>
          </a:p>
        </p:txBody>
      </p:sp>
      <p:sp>
        <p:nvSpPr>
          <p:cNvPr id="104" name="燕尾形 103">
            <a:extLst>
              <a:ext uri="{FF2B5EF4-FFF2-40B4-BE49-F238E27FC236}">
                <a16:creationId xmlns:a16="http://schemas.microsoft.com/office/drawing/2014/main" id="{CCEFD764-4D82-74E1-6FCC-BFBAC28D5A47}"/>
              </a:ext>
            </a:extLst>
          </p:cNvPr>
          <p:cNvSpPr/>
          <p:nvPr/>
        </p:nvSpPr>
        <p:spPr>
          <a:xfrm>
            <a:off x="4046888" y="1871865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/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noFill/>
              <a:ln>
                <a:prstDash val="sysDot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zh-CN" altLang="en-US" sz="2800" dirty="0">
                    <a:solidFill>
                      <a:srgbClr val="159F84"/>
                    </a:solidFill>
                  </a:rPr>
                  <a:t>相频特性</a:t>
                </a:r>
                <a:r>
                  <a:rPr kumimoji="1" lang="zh-CN" altLang="en-US" sz="2800" dirty="0">
                    <a:solidFill>
                      <a:schemeClr val="accent1"/>
                    </a:solidFill>
                  </a:rPr>
                  <a:t>过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−180</m:t>
                    </m:r>
                    <m:r>
                      <a:rPr kumimoji="1" lang="en-US" altLang="zh-CN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2800" dirty="0">
                    <a:solidFill>
                      <a:srgbClr val="2980B9"/>
                    </a:solidFill>
                  </a:rPr>
                  <a:t>时</a:t>
                </a:r>
                <a:r>
                  <a:rPr kumimoji="1" lang="zh-CN" altLang="en-US" sz="2800" dirty="0">
                    <a:solidFill>
                      <a:srgbClr val="E44860"/>
                    </a:solidFill>
                  </a:rPr>
                  <a:t>幅频特性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距</a:t>
                </a:r>
                <a:r>
                  <a:rPr kumimoji="1" lang="en-US" altLang="zh-CN" sz="2800" dirty="0">
                    <a:solidFill>
                      <a:srgbClr val="2980B9"/>
                    </a:solidFill>
                  </a:rPr>
                  <a:t>0dB</a:t>
                </a:r>
                <a:r>
                  <a:rPr kumimoji="1" lang="zh-CN" altLang="en-US" sz="2800" dirty="0">
                    <a:solidFill>
                      <a:srgbClr val="2980B9"/>
                    </a:solidFill>
                  </a:rPr>
                  <a:t>线不同</a:t>
                </a:r>
              </a:p>
            </p:txBody>
          </p:sp>
        </mc:Choice>
        <mc:Fallback xmlns="">
          <p:sp>
            <p:nvSpPr>
              <p:cNvPr id="105" name="说明3">
                <a:extLst>
                  <a:ext uri="{FF2B5EF4-FFF2-40B4-BE49-F238E27FC236}">
                    <a16:creationId xmlns:a16="http://schemas.microsoft.com/office/drawing/2014/main" id="{5620A3C4-6CF4-91E8-BA8A-5EFA0A91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447" y="1781011"/>
                <a:ext cx="7227997" cy="578882"/>
              </a:xfrm>
              <a:prstGeom prst="flowChartAlternateProcess">
                <a:avLst/>
              </a:prstGeom>
              <a:blipFill>
                <a:blip r:embed="rId19"/>
                <a:stretch>
                  <a:fillRect l="-1224" t="-6250" b="-20833"/>
                </a:stretch>
              </a:blipFill>
              <a:ln>
                <a:prstDash val="sysDot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幅相">
            <a:extLst>
              <a:ext uri="{FF2B5EF4-FFF2-40B4-BE49-F238E27FC236}">
                <a16:creationId xmlns:a16="http://schemas.microsoft.com/office/drawing/2014/main" id="{5E1D5977-8E25-2682-458F-A213EF7F0003}"/>
              </a:ext>
            </a:extLst>
          </p:cNvPr>
          <p:cNvSpPr/>
          <p:nvPr/>
        </p:nvSpPr>
        <p:spPr>
          <a:xfrm flipV="1">
            <a:off x="2749048" y="4496842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/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766" y="3981613"/>
                <a:ext cx="545352" cy="558230"/>
              </a:xfrm>
              <a:prstGeom prst="rect">
                <a:avLst/>
              </a:prstGeom>
              <a:blipFill>
                <a:blip r:embed="rId20"/>
                <a:stretch>
                  <a:fillRect r="-6977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/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973" y="4937919"/>
                <a:ext cx="801225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坐标轴">
            <a:extLst>
              <a:ext uri="{FF2B5EF4-FFF2-40B4-BE49-F238E27FC236}">
                <a16:creationId xmlns:a16="http://schemas.microsoft.com/office/drawing/2014/main" id="{74C5BAA7-6DAB-C678-11B3-70FB19B7238E}"/>
              </a:ext>
            </a:extLst>
          </p:cNvPr>
          <p:cNvGrpSpPr/>
          <p:nvPr/>
        </p:nvGrpSpPr>
        <p:grpSpPr>
          <a:xfrm>
            <a:off x="1595973" y="2667679"/>
            <a:ext cx="3915757" cy="3247856"/>
            <a:chOff x="7535366" y="2904090"/>
            <a:chExt cx="3915757" cy="3247856"/>
          </a:xfrm>
        </p:grpSpPr>
        <p:cxnSp>
          <p:nvCxnSpPr>
            <p:cNvPr id="71" name="实轴">
              <a:extLst>
                <a:ext uri="{FF2B5EF4-FFF2-40B4-BE49-F238E27FC236}">
                  <a16:creationId xmlns:a16="http://schemas.microsoft.com/office/drawing/2014/main" id="{BC6C94C8-DEEB-CD3D-8299-5B36D3C37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虚轴">
              <a:extLst>
                <a:ext uri="{FF2B5EF4-FFF2-40B4-BE49-F238E27FC236}">
                  <a16:creationId xmlns:a16="http://schemas.microsoft.com/office/drawing/2014/main" id="{2295CFC3-95C8-BCC4-320E-BD55DE2AE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">
                  <a:extLst>
                    <a:ext uri="{FF2B5EF4-FFF2-40B4-BE49-F238E27FC236}">
                      <a16:creationId xmlns:a16="http://schemas.microsoft.com/office/drawing/2014/main" id="{894187EA-E62A-2F0B-E86B-398C4B561897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22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23"/>
                  <a:stretch>
                    <a:fillRect l="-4348" r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单位圆">
            <a:extLst>
              <a:ext uri="{FF2B5EF4-FFF2-40B4-BE49-F238E27FC236}">
                <a16:creationId xmlns:a16="http://schemas.microsoft.com/office/drawing/2014/main" id="{918D0337-8E8B-6518-442B-50D03C2BA311}"/>
              </a:ext>
            </a:extLst>
          </p:cNvPr>
          <p:cNvSpPr/>
          <p:nvPr/>
        </p:nvSpPr>
        <p:spPr>
          <a:xfrm rot="10800000">
            <a:off x="2972042" y="3475728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wc交点1">
            <a:extLst>
              <a:ext uri="{FF2B5EF4-FFF2-40B4-BE49-F238E27FC236}">
                <a16:creationId xmlns:a16="http://schemas.microsoft.com/office/drawing/2014/main" id="{A12B8B28-FD62-CA23-EE26-B893262CDB15}"/>
              </a:ext>
            </a:extLst>
          </p:cNvPr>
          <p:cNvSpPr/>
          <p:nvPr/>
        </p:nvSpPr>
        <p:spPr>
          <a:xfrm>
            <a:off x="3088804" y="5195558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wg交点1">
            <a:extLst>
              <a:ext uri="{FF2B5EF4-FFF2-40B4-BE49-F238E27FC236}">
                <a16:creationId xmlns:a16="http://schemas.microsoft.com/office/drawing/2014/main" id="{02F4F995-6408-2A59-38A3-71EF2EEFCC19}"/>
              </a:ext>
            </a:extLst>
          </p:cNvPr>
          <p:cNvSpPr/>
          <p:nvPr/>
        </p:nvSpPr>
        <p:spPr>
          <a:xfrm>
            <a:off x="3605801" y="4579033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/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828" y="5483483"/>
                <a:ext cx="801225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/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81" y="4131487"/>
                <a:ext cx="801225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相角裕度辅助线">
            <a:extLst>
              <a:ext uri="{FF2B5EF4-FFF2-40B4-BE49-F238E27FC236}">
                <a16:creationId xmlns:a16="http://schemas.microsoft.com/office/drawing/2014/main" id="{B945BF75-B07C-9E25-4A61-776954E76577}"/>
              </a:ext>
            </a:extLst>
          </p:cNvPr>
          <p:cNvCxnSpPr>
            <a:cxnSpLocks/>
            <a:endCxn id="110" idx="7"/>
          </p:cNvCxnSpPr>
          <p:nvPr/>
        </p:nvCxnSpPr>
        <p:spPr>
          <a:xfrm flipH="1">
            <a:off x="3193579" y="4640409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量角弧">
            <a:extLst>
              <a:ext uri="{FF2B5EF4-FFF2-40B4-BE49-F238E27FC236}">
                <a16:creationId xmlns:a16="http://schemas.microsoft.com/office/drawing/2014/main" id="{C7CC5274-D17D-A462-4004-71CFA9049B35}"/>
              </a:ext>
            </a:extLst>
          </p:cNvPr>
          <p:cNvSpPr/>
          <p:nvPr/>
        </p:nvSpPr>
        <p:spPr>
          <a:xfrm flipH="1">
            <a:off x="3763501" y="4245000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/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526" y="4727417"/>
                <a:ext cx="421699" cy="523220"/>
              </a:xfrm>
              <a:prstGeom prst="rect">
                <a:avLst/>
              </a:prstGeom>
              <a:blipFill>
                <a:blip r:embed="rId1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幅值裕度辅助线">
            <a:extLst>
              <a:ext uri="{FF2B5EF4-FFF2-40B4-BE49-F238E27FC236}">
                <a16:creationId xmlns:a16="http://schemas.microsoft.com/office/drawing/2014/main" id="{761B1700-E283-D911-5916-43CE3A8AB227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3667177" y="3475113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幅值裕度双箭头1">
            <a:extLst>
              <a:ext uri="{FF2B5EF4-FFF2-40B4-BE49-F238E27FC236}">
                <a16:creationId xmlns:a16="http://schemas.microsoft.com/office/drawing/2014/main" id="{283EB00F-AB98-9B70-8E54-CF8D866EE500}"/>
              </a:ext>
            </a:extLst>
          </p:cNvPr>
          <p:cNvCxnSpPr>
            <a:cxnSpLocks/>
          </p:cNvCxnSpPr>
          <p:nvPr/>
        </p:nvCxnSpPr>
        <p:spPr>
          <a:xfrm>
            <a:off x="3653526" y="3764198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/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498" y="3007803"/>
                <a:ext cx="421699" cy="703013"/>
              </a:xfrm>
              <a:prstGeom prst="rect">
                <a:avLst/>
              </a:prstGeom>
              <a:blipFill>
                <a:blip r:embed="rId27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/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73" y="5496423"/>
                <a:ext cx="801225" cy="523220"/>
              </a:xfrm>
              <a:prstGeom prst="rect">
                <a:avLst/>
              </a:prstGeom>
              <a:blipFill>
                <a:blip r:embed="rId28"/>
                <a:stretch>
                  <a:fillRect l="-4688" r="-4843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338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稳定裕度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𝜸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blipFill>
                <a:blip r:embed="rId3"/>
                <a:stretch>
                  <a:fillRect l="-238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幅相">
            <a:extLst>
              <a:ext uri="{FF2B5EF4-FFF2-40B4-BE49-F238E27FC236}">
                <a16:creationId xmlns:a16="http://schemas.microsoft.com/office/drawing/2014/main" id="{5E1D5977-8E25-2682-458F-A213EF7F0003}"/>
              </a:ext>
            </a:extLst>
          </p:cNvPr>
          <p:cNvSpPr/>
          <p:nvPr/>
        </p:nvSpPr>
        <p:spPr>
          <a:xfrm flipV="1">
            <a:off x="8589625" y="4537438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/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blipFill>
                <a:blip r:embed="rId4"/>
                <a:stretch>
                  <a:fillRect r="-930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/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坐标轴">
            <a:extLst>
              <a:ext uri="{FF2B5EF4-FFF2-40B4-BE49-F238E27FC236}">
                <a16:creationId xmlns:a16="http://schemas.microsoft.com/office/drawing/2014/main" id="{74C5BAA7-6DAB-C678-11B3-70FB19B7238E}"/>
              </a:ext>
            </a:extLst>
          </p:cNvPr>
          <p:cNvGrpSpPr/>
          <p:nvPr/>
        </p:nvGrpSpPr>
        <p:grpSpPr>
          <a:xfrm>
            <a:off x="7436550" y="2708275"/>
            <a:ext cx="3915757" cy="3247856"/>
            <a:chOff x="7535366" y="2904090"/>
            <a:chExt cx="3915757" cy="3247856"/>
          </a:xfrm>
        </p:grpSpPr>
        <p:cxnSp>
          <p:nvCxnSpPr>
            <p:cNvPr id="71" name="实轴">
              <a:extLst>
                <a:ext uri="{FF2B5EF4-FFF2-40B4-BE49-F238E27FC236}">
                  <a16:creationId xmlns:a16="http://schemas.microsoft.com/office/drawing/2014/main" id="{BC6C94C8-DEEB-CD3D-8299-5B36D3C37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虚轴">
              <a:extLst>
                <a:ext uri="{FF2B5EF4-FFF2-40B4-BE49-F238E27FC236}">
                  <a16:creationId xmlns:a16="http://schemas.microsoft.com/office/drawing/2014/main" id="{2295CFC3-95C8-BCC4-320E-BD55DE2AE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">
                  <a:extLst>
                    <a:ext uri="{FF2B5EF4-FFF2-40B4-BE49-F238E27FC236}">
                      <a16:creationId xmlns:a16="http://schemas.microsoft.com/office/drawing/2014/main" id="{894187EA-E62A-2F0B-E86B-398C4B561897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单位圆">
            <a:extLst>
              <a:ext uri="{FF2B5EF4-FFF2-40B4-BE49-F238E27FC236}">
                <a16:creationId xmlns:a16="http://schemas.microsoft.com/office/drawing/2014/main" id="{918D0337-8E8B-6518-442B-50D03C2BA311}"/>
              </a:ext>
            </a:extLst>
          </p:cNvPr>
          <p:cNvSpPr/>
          <p:nvPr/>
        </p:nvSpPr>
        <p:spPr>
          <a:xfrm rot="10800000">
            <a:off x="8812619" y="3516324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wc交点1">
            <a:extLst>
              <a:ext uri="{FF2B5EF4-FFF2-40B4-BE49-F238E27FC236}">
                <a16:creationId xmlns:a16="http://schemas.microsoft.com/office/drawing/2014/main" id="{A12B8B28-FD62-CA23-EE26-B893262CDB15}"/>
              </a:ext>
            </a:extLst>
          </p:cNvPr>
          <p:cNvSpPr/>
          <p:nvPr/>
        </p:nvSpPr>
        <p:spPr>
          <a:xfrm>
            <a:off x="8929381" y="523615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wg交点1">
            <a:extLst>
              <a:ext uri="{FF2B5EF4-FFF2-40B4-BE49-F238E27FC236}">
                <a16:creationId xmlns:a16="http://schemas.microsoft.com/office/drawing/2014/main" id="{02F4F995-6408-2A59-38A3-71EF2EEFCC19}"/>
              </a:ext>
            </a:extLst>
          </p:cNvPr>
          <p:cNvSpPr/>
          <p:nvPr/>
        </p:nvSpPr>
        <p:spPr>
          <a:xfrm>
            <a:off x="9446378" y="461962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/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/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相角裕度辅助线">
            <a:extLst>
              <a:ext uri="{FF2B5EF4-FFF2-40B4-BE49-F238E27FC236}">
                <a16:creationId xmlns:a16="http://schemas.microsoft.com/office/drawing/2014/main" id="{B945BF75-B07C-9E25-4A61-776954E76577}"/>
              </a:ext>
            </a:extLst>
          </p:cNvPr>
          <p:cNvCxnSpPr>
            <a:cxnSpLocks/>
            <a:endCxn id="110" idx="7"/>
          </p:cNvCxnSpPr>
          <p:nvPr/>
        </p:nvCxnSpPr>
        <p:spPr>
          <a:xfrm flipH="1">
            <a:off x="9034156" y="4681005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量角弧">
            <a:extLst>
              <a:ext uri="{FF2B5EF4-FFF2-40B4-BE49-F238E27FC236}">
                <a16:creationId xmlns:a16="http://schemas.microsoft.com/office/drawing/2014/main" id="{C7CC5274-D17D-A462-4004-71CFA9049B35}"/>
              </a:ext>
            </a:extLst>
          </p:cNvPr>
          <p:cNvSpPr/>
          <p:nvPr/>
        </p:nvSpPr>
        <p:spPr>
          <a:xfrm flipH="1">
            <a:off x="9604078" y="4285596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/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幅值裕度辅助线">
            <a:extLst>
              <a:ext uri="{FF2B5EF4-FFF2-40B4-BE49-F238E27FC236}">
                <a16:creationId xmlns:a16="http://schemas.microsoft.com/office/drawing/2014/main" id="{761B1700-E283-D911-5916-43CE3A8AB227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9507754" y="3515709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幅值裕度双箭头1">
            <a:extLst>
              <a:ext uri="{FF2B5EF4-FFF2-40B4-BE49-F238E27FC236}">
                <a16:creationId xmlns:a16="http://schemas.microsoft.com/office/drawing/2014/main" id="{283EB00F-AB98-9B70-8E54-CF8D866EE500}"/>
              </a:ext>
            </a:extLst>
          </p:cNvPr>
          <p:cNvCxnSpPr>
            <a:cxnSpLocks/>
          </p:cNvCxnSpPr>
          <p:nvPr/>
        </p:nvCxnSpPr>
        <p:spPr>
          <a:xfrm>
            <a:off x="9494103" y="3804794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/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/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688" r="-46875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/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blipFill>
                <a:blip r:embed="rId15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频率特性">
                <a:extLst>
                  <a:ext uri="{FF2B5EF4-FFF2-40B4-BE49-F238E27FC236}">
                    <a16:creationId xmlns:a16="http://schemas.microsoft.com/office/drawing/2014/main" id="{15299FE5-F1BD-0C93-C608-8B59DDA1C420}"/>
                  </a:ext>
                </a:extLst>
              </p:cNvPr>
              <p:cNvSpPr txBox="1"/>
              <p:nvPr/>
            </p:nvSpPr>
            <p:spPr>
              <a:xfrm>
                <a:off x="118542" y="1939131"/>
                <a:ext cx="9170535" cy="1119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=1=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ad>
                            <m:radPr>
                              <m:degHide m:val="on"/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6" name="频率特性">
                <a:extLst>
                  <a:ext uri="{FF2B5EF4-FFF2-40B4-BE49-F238E27FC236}">
                    <a16:creationId xmlns:a16="http://schemas.microsoft.com/office/drawing/2014/main" id="{15299FE5-F1BD-0C93-C608-8B59DDA1C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1939131"/>
                <a:ext cx="9170535" cy="111985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频率特性">
                <a:extLst>
                  <a:ext uri="{FF2B5EF4-FFF2-40B4-BE49-F238E27FC236}">
                    <a16:creationId xmlns:a16="http://schemas.microsoft.com/office/drawing/2014/main" id="{6619D817-A2E3-9AA8-5D38-D89411C5353A}"/>
                  </a:ext>
                </a:extLst>
              </p:cNvPr>
              <p:cNvSpPr txBox="1"/>
              <p:nvPr/>
            </p:nvSpPr>
            <p:spPr>
              <a:xfrm>
                <a:off x="334963" y="3144924"/>
                <a:ext cx="56559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⇒</m:t>
                      </m:r>
                      <m:sSubSup>
                        <m:sSubSup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+104</m:t>
                          </m:r>
                          <m:sSubSup>
                            <m:sSubSup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+400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=10000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7" name="频率特性">
                <a:extLst>
                  <a:ext uri="{FF2B5EF4-FFF2-40B4-BE49-F238E27FC236}">
                    <a16:creationId xmlns:a16="http://schemas.microsoft.com/office/drawing/2014/main" id="{6619D817-A2E3-9AA8-5D38-D89411C53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63" y="3144924"/>
                <a:ext cx="5655923" cy="523220"/>
              </a:xfrm>
              <a:prstGeom prst="rect">
                <a:avLst/>
              </a:prstGeom>
              <a:blipFill>
                <a:blip r:embed="rId17"/>
                <a:stretch>
                  <a:fillRect r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频率特性">
                <a:extLst>
                  <a:ext uri="{FF2B5EF4-FFF2-40B4-BE49-F238E27FC236}">
                    <a16:creationId xmlns:a16="http://schemas.microsoft.com/office/drawing/2014/main" id="{579026D3-84EE-DB6A-185C-67439731BC1F}"/>
                  </a:ext>
                </a:extLst>
              </p:cNvPr>
              <p:cNvSpPr txBox="1"/>
              <p:nvPr/>
            </p:nvSpPr>
            <p:spPr>
              <a:xfrm>
                <a:off x="372865" y="3749634"/>
                <a:ext cx="26911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试根得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=2.8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8" name="频率特性">
                <a:extLst>
                  <a:ext uri="{FF2B5EF4-FFF2-40B4-BE49-F238E27FC236}">
                    <a16:creationId xmlns:a16="http://schemas.microsoft.com/office/drawing/2014/main" id="{579026D3-84EE-DB6A-185C-67439731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65" y="3749634"/>
                <a:ext cx="2691140" cy="523220"/>
              </a:xfrm>
              <a:prstGeom prst="rect">
                <a:avLst/>
              </a:prstGeom>
              <a:blipFill>
                <a:blip r:embed="rId18"/>
                <a:stretch>
                  <a:fillRect l="-4695"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频率特性">
                <a:extLst>
                  <a:ext uri="{FF2B5EF4-FFF2-40B4-BE49-F238E27FC236}">
                    <a16:creationId xmlns:a16="http://schemas.microsoft.com/office/drawing/2014/main" id="{23FD9591-4E4A-1AF8-1B8E-DA4717B3CB6E}"/>
                  </a:ext>
                </a:extLst>
              </p:cNvPr>
              <p:cNvSpPr txBox="1"/>
              <p:nvPr/>
            </p:nvSpPr>
            <p:spPr>
              <a:xfrm>
                <a:off x="305094" y="4354345"/>
                <a:ext cx="61672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=180°+∠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(2.8)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9" name="频率特性">
                <a:extLst>
                  <a:ext uri="{FF2B5EF4-FFF2-40B4-BE49-F238E27FC236}">
                    <a16:creationId xmlns:a16="http://schemas.microsoft.com/office/drawing/2014/main" id="{23FD9591-4E4A-1AF8-1B8E-DA4717B3C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94" y="4354345"/>
                <a:ext cx="6167214" cy="523220"/>
              </a:xfrm>
              <a:prstGeom prst="rect">
                <a:avLst/>
              </a:prstGeom>
              <a:blipFill>
                <a:blip r:embed="rId1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/>
              <p:nvPr/>
            </p:nvSpPr>
            <p:spPr>
              <a:xfrm>
                <a:off x="654251" y="4926806"/>
                <a:ext cx="5892185" cy="59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=180°−90°−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2.8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2.8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51" y="4926806"/>
                <a:ext cx="5892185" cy="598241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频率特性">
                <a:extLst>
                  <a:ext uri="{FF2B5EF4-FFF2-40B4-BE49-F238E27FC236}">
                    <a16:creationId xmlns:a16="http://schemas.microsoft.com/office/drawing/2014/main" id="{9A672CD8-080C-A111-24D9-A03F0412C66F}"/>
                  </a:ext>
                </a:extLst>
              </p:cNvPr>
              <p:cNvSpPr txBox="1"/>
              <p:nvPr/>
            </p:nvSpPr>
            <p:spPr>
              <a:xfrm>
                <a:off x="615733" y="5528763"/>
                <a:ext cx="4896544" cy="944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=90°−54.46°−15.64°=19.9°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1" name="频率特性">
                <a:extLst>
                  <a:ext uri="{FF2B5EF4-FFF2-40B4-BE49-F238E27FC236}">
                    <a16:creationId xmlns:a16="http://schemas.microsoft.com/office/drawing/2014/main" id="{9A672CD8-080C-A111-24D9-A03F0412C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33" y="5528763"/>
                <a:ext cx="4896544" cy="94416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9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27" grpId="0"/>
      <p:bldP spid="128" grpId="0"/>
      <p:bldP spid="129" grpId="0"/>
      <p:bldP spid="130" grpId="0"/>
      <p:bldP spid="1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稳定裕度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𝜸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blipFill>
                <a:blip r:embed="rId3"/>
                <a:stretch>
                  <a:fillRect l="-238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幅相">
            <a:extLst>
              <a:ext uri="{FF2B5EF4-FFF2-40B4-BE49-F238E27FC236}">
                <a16:creationId xmlns:a16="http://schemas.microsoft.com/office/drawing/2014/main" id="{5E1D5977-8E25-2682-458F-A213EF7F0003}"/>
              </a:ext>
            </a:extLst>
          </p:cNvPr>
          <p:cNvSpPr/>
          <p:nvPr/>
        </p:nvSpPr>
        <p:spPr>
          <a:xfrm flipV="1">
            <a:off x="8589625" y="4537438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/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blipFill>
                <a:blip r:embed="rId4"/>
                <a:stretch>
                  <a:fillRect r="-930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/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坐标轴">
            <a:extLst>
              <a:ext uri="{FF2B5EF4-FFF2-40B4-BE49-F238E27FC236}">
                <a16:creationId xmlns:a16="http://schemas.microsoft.com/office/drawing/2014/main" id="{74C5BAA7-6DAB-C678-11B3-70FB19B7238E}"/>
              </a:ext>
            </a:extLst>
          </p:cNvPr>
          <p:cNvGrpSpPr/>
          <p:nvPr/>
        </p:nvGrpSpPr>
        <p:grpSpPr>
          <a:xfrm>
            <a:off x="7436550" y="2708275"/>
            <a:ext cx="3915757" cy="3247856"/>
            <a:chOff x="7535366" y="2904090"/>
            <a:chExt cx="3915757" cy="3247856"/>
          </a:xfrm>
        </p:grpSpPr>
        <p:cxnSp>
          <p:nvCxnSpPr>
            <p:cNvPr id="71" name="实轴">
              <a:extLst>
                <a:ext uri="{FF2B5EF4-FFF2-40B4-BE49-F238E27FC236}">
                  <a16:creationId xmlns:a16="http://schemas.microsoft.com/office/drawing/2014/main" id="{BC6C94C8-DEEB-CD3D-8299-5B36D3C37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虚轴">
              <a:extLst>
                <a:ext uri="{FF2B5EF4-FFF2-40B4-BE49-F238E27FC236}">
                  <a16:creationId xmlns:a16="http://schemas.microsoft.com/office/drawing/2014/main" id="{2295CFC3-95C8-BCC4-320E-BD55DE2AE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">
                  <a:extLst>
                    <a:ext uri="{FF2B5EF4-FFF2-40B4-BE49-F238E27FC236}">
                      <a16:creationId xmlns:a16="http://schemas.microsoft.com/office/drawing/2014/main" id="{894187EA-E62A-2F0B-E86B-398C4B561897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单位圆">
            <a:extLst>
              <a:ext uri="{FF2B5EF4-FFF2-40B4-BE49-F238E27FC236}">
                <a16:creationId xmlns:a16="http://schemas.microsoft.com/office/drawing/2014/main" id="{918D0337-8E8B-6518-442B-50D03C2BA311}"/>
              </a:ext>
            </a:extLst>
          </p:cNvPr>
          <p:cNvSpPr/>
          <p:nvPr/>
        </p:nvSpPr>
        <p:spPr>
          <a:xfrm rot="10800000">
            <a:off x="8812619" y="3516324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wc交点1">
            <a:extLst>
              <a:ext uri="{FF2B5EF4-FFF2-40B4-BE49-F238E27FC236}">
                <a16:creationId xmlns:a16="http://schemas.microsoft.com/office/drawing/2014/main" id="{A12B8B28-FD62-CA23-EE26-B893262CDB15}"/>
              </a:ext>
            </a:extLst>
          </p:cNvPr>
          <p:cNvSpPr/>
          <p:nvPr/>
        </p:nvSpPr>
        <p:spPr>
          <a:xfrm>
            <a:off x="8929381" y="523615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wg交点1">
            <a:extLst>
              <a:ext uri="{FF2B5EF4-FFF2-40B4-BE49-F238E27FC236}">
                <a16:creationId xmlns:a16="http://schemas.microsoft.com/office/drawing/2014/main" id="{02F4F995-6408-2A59-38A3-71EF2EEFCC19}"/>
              </a:ext>
            </a:extLst>
          </p:cNvPr>
          <p:cNvSpPr/>
          <p:nvPr/>
        </p:nvSpPr>
        <p:spPr>
          <a:xfrm>
            <a:off x="9446378" y="461962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/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/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相角裕度辅助线">
            <a:extLst>
              <a:ext uri="{FF2B5EF4-FFF2-40B4-BE49-F238E27FC236}">
                <a16:creationId xmlns:a16="http://schemas.microsoft.com/office/drawing/2014/main" id="{B945BF75-B07C-9E25-4A61-776954E76577}"/>
              </a:ext>
            </a:extLst>
          </p:cNvPr>
          <p:cNvCxnSpPr>
            <a:cxnSpLocks/>
            <a:endCxn id="110" idx="7"/>
          </p:cNvCxnSpPr>
          <p:nvPr/>
        </p:nvCxnSpPr>
        <p:spPr>
          <a:xfrm flipH="1">
            <a:off x="9034156" y="4681005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量角弧">
            <a:extLst>
              <a:ext uri="{FF2B5EF4-FFF2-40B4-BE49-F238E27FC236}">
                <a16:creationId xmlns:a16="http://schemas.microsoft.com/office/drawing/2014/main" id="{C7CC5274-D17D-A462-4004-71CFA9049B35}"/>
              </a:ext>
            </a:extLst>
          </p:cNvPr>
          <p:cNvSpPr/>
          <p:nvPr/>
        </p:nvSpPr>
        <p:spPr>
          <a:xfrm flipH="1">
            <a:off x="9604078" y="4285596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/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幅值裕度辅助线">
            <a:extLst>
              <a:ext uri="{FF2B5EF4-FFF2-40B4-BE49-F238E27FC236}">
                <a16:creationId xmlns:a16="http://schemas.microsoft.com/office/drawing/2014/main" id="{761B1700-E283-D911-5916-43CE3A8AB227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9507754" y="3515709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幅值裕度双箭头1">
            <a:extLst>
              <a:ext uri="{FF2B5EF4-FFF2-40B4-BE49-F238E27FC236}">
                <a16:creationId xmlns:a16="http://schemas.microsoft.com/office/drawing/2014/main" id="{283EB00F-AB98-9B70-8E54-CF8D866EE500}"/>
              </a:ext>
            </a:extLst>
          </p:cNvPr>
          <p:cNvCxnSpPr>
            <a:cxnSpLocks/>
          </p:cNvCxnSpPr>
          <p:nvPr/>
        </p:nvCxnSpPr>
        <p:spPr>
          <a:xfrm>
            <a:off x="9494103" y="3804794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/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/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688" r="-46875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/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blipFill>
                <a:blip r:embed="rId15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/>
              <p:nvPr/>
            </p:nvSpPr>
            <p:spPr>
              <a:xfrm>
                <a:off x="-142859" y="2033912"/>
                <a:ext cx="8490234" cy="609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=−180°=−90°−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2859" y="2033912"/>
                <a:ext cx="8490234" cy="609782"/>
              </a:xfrm>
              <a:prstGeom prst="rect">
                <a:avLst/>
              </a:prstGeom>
              <a:blipFill>
                <a:blip r:embed="rId16"/>
                <a:stretch>
                  <a:fillRect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/>
              <p:nvPr/>
            </p:nvSpPr>
            <p:spPr>
              <a:xfrm>
                <a:off x="435481" y="2708275"/>
                <a:ext cx="4864625" cy="609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81" y="2708275"/>
                <a:ext cx="4864625" cy="609782"/>
              </a:xfrm>
              <a:prstGeom prst="rect">
                <a:avLst/>
              </a:prstGeom>
              <a:blipFill>
                <a:blip r:embed="rId1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频率特性">
                <a:extLst>
                  <a:ext uri="{FF2B5EF4-FFF2-40B4-BE49-F238E27FC236}">
                    <a16:creationId xmlns:a16="http://schemas.microsoft.com/office/drawing/2014/main" id="{79A549EC-C690-D0A2-633C-8AE111AE56E3}"/>
                  </a:ext>
                </a:extLst>
              </p:cNvPr>
              <p:cNvSpPr txBox="1"/>
              <p:nvPr/>
            </p:nvSpPr>
            <p:spPr>
              <a:xfrm>
                <a:off x="6264827" y="317442"/>
                <a:ext cx="5329107" cy="679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kumimoji="1"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kumimoji="1" lang="en-US" altLang="zh-CN" sz="2800" b="0" i="1" smtClean="0">
                          <a:solidFill>
                            <a:srgbClr val="E448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kumimoji="1" lang="en-US" altLang="zh-CN" sz="2800" b="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2800" b="0" i="1" smtClean="0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num>
                                <m:den>
                                  <m:r>
                                    <a:rPr kumimoji="1" lang="en-US" altLang="zh-CN" sz="2800" i="1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rgbClr val="E448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𝛼𝛽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rgbClr val="E44860"/>
                  </a:solidFill>
                </a:endParaRPr>
              </a:p>
            </p:txBody>
          </p:sp>
        </mc:Choice>
        <mc:Fallback xmlns="">
          <p:sp>
            <p:nvSpPr>
              <p:cNvPr id="32" name="频率特性">
                <a:extLst>
                  <a:ext uri="{FF2B5EF4-FFF2-40B4-BE49-F238E27FC236}">
                    <a16:creationId xmlns:a16="http://schemas.microsoft.com/office/drawing/2014/main" id="{79A549EC-C690-D0A2-633C-8AE111AE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827" y="317442"/>
                <a:ext cx="5329107" cy="679994"/>
              </a:xfrm>
              <a:prstGeom prst="rect">
                <a:avLst/>
              </a:prstGeom>
              <a:blipFill>
                <a:blip r:embed="rId18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频率特性">
                <a:extLst>
                  <a:ext uri="{FF2B5EF4-FFF2-40B4-BE49-F238E27FC236}">
                    <a16:creationId xmlns:a16="http://schemas.microsoft.com/office/drawing/2014/main" id="{AF35B5E3-BCB3-9325-32B6-72B45BA36323}"/>
                  </a:ext>
                </a:extLst>
              </p:cNvPr>
              <p:cNvSpPr txBox="1"/>
              <p:nvPr/>
            </p:nvSpPr>
            <p:spPr>
              <a:xfrm>
                <a:off x="471413" y="3418484"/>
                <a:ext cx="2723099" cy="12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box>
                                <m:box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  <m:sup>
                                      <m:r>
                                        <a:rPr kumimoji="1" lang="en-US" altLang="zh-CN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den>
                          </m:f>
                        </m:e>
                      </m:box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频率特性">
                <a:extLst>
                  <a:ext uri="{FF2B5EF4-FFF2-40B4-BE49-F238E27FC236}">
                    <a16:creationId xmlns:a16="http://schemas.microsoft.com/office/drawing/2014/main" id="{AF35B5E3-BCB3-9325-32B6-72B45BA36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13" y="3418484"/>
                <a:ext cx="2723099" cy="1228734"/>
              </a:xfrm>
              <a:prstGeom prst="rect">
                <a:avLst/>
              </a:prstGeom>
              <a:blipFill>
                <a:blip r:embed="rId19"/>
                <a:stretch>
                  <a:fillRect b="-3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/>
              <p:nvPr/>
            </p:nvSpPr>
            <p:spPr>
              <a:xfrm>
                <a:off x="2867794" y="3412944"/>
                <a:ext cx="2723099" cy="1046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=20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=4.47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794" y="3412944"/>
                <a:ext cx="2723099" cy="1046633"/>
              </a:xfrm>
              <a:prstGeom prst="rect">
                <a:avLst/>
              </a:prstGeom>
              <a:blipFill>
                <a:blip r:embed="rId20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频率特性">
                <a:extLst>
                  <a:ext uri="{FF2B5EF4-FFF2-40B4-BE49-F238E27FC236}">
                    <a16:creationId xmlns:a16="http://schemas.microsoft.com/office/drawing/2014/main" id="{089D65AA-F05A-D6B2-2E92-732BF9687CCE}"/>
                  </a:ext>
                </a:extLst>
              </p:cNvPr>
              <p:cNvSpPr txBox="1"/>
              <p:nvPr/>
            </p:nvSpPr>
            <p:spPr>
              <a:xfrm>
                <a:off x="473433" y="4433693"/>
                <a:ext cx="5214077" cy="1164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7" name="频率特性">
                <a:extLst>
                  <a:ext uri="{FF2B5EF4-FFF2-40B4-BE49-F238E27FC236}">
                    <a16:creationId xmlns:a16="http://schemas.microsoft.com/office/drawing/2014/main" id="{089D65AA-F05A-D6B2-2E92-732BF968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33" y="4433693"/>
                <a:ext cx="5214077" cy="1164486"/>
              </a:xfrm>
              <a:prstGeom prst="rect">
                <a:avLst/>
              </a:prstGeom>
              <a:blipFill>
                <a:blip r:embed="rId21"/>
                <a:stretch>
                  <a:fillRect l="-730" b="-2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频率特性">
                <a:extLst>
                  <a:ext uri="{FF2B5EF4-FFF2-40B4-BE49-F238E27FC236}">
                    <a16:creationId xmlns:a16="http://schemas.microsoft.com/office/drawing/2014/main" id="{ED3650AC-1944-C701-969F-F8B74CD10F7B}"/>
                  </a:ext>
                </a:extLst>
              </p:cNvPr>
              <p:cNvSpPr txBox="1"/>
              <p:nvPr/>
            </p:nvSpPr>
            <p:spPr>
              <a:xfrm>
                <a:off x="550740" y="5716876"/>
                <a:ext cx="3841012" cy="686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→"/>
                          <m:vertJc m:val="bot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=4.47</m:t>
                          </m:r>
                        </m:e>
                      </m:groupCh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=2.4(7.6</m:t>
                      </m:r>
                      <m:r>
                        <a:rPr kumimoji="1"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dB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频率特性">
                <a:extLst>
                  <a:ext uri="{FF2B5EF4-FFF2-40B4-BE49-F238E27FC236}">
                    <a16:creationId xmlns:a16="http://schemas.microsoft.com/office/drawing/2014/main" id="{ED3650AC-1944-C701-969F-F8B74CD1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40" y="5716876"/>
                <a:ext cx="3841012" cy="686726"/>
              </a:xfrm>
              <a:prstGeom prst="rect">
                <a:avLst/>
              </a:prstGeom>
              <a:blipFill>
                <a:blip r:embed="rId22"/>
                <a:stretch>
                  <a:fillRect r="-330" b="-1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448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31" grpId="0"/>
      <p:bldP spid="32" grpId="0"/>
      <p:bldP spid="33" grpId="0"/>
      <p:bldP spid="34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稳定裕度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𝜸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blipFill>
                <a:blip r:embed="rId3"/>
                <a:stretch>
                  <a:fillRect l="-238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幅相">
            <a:extLst>
              <a:ext uri="{FF2B5EF4-FFF2-40B4-BE49-F238E27FC236}">
                <a16:creationId xmlns:a16="http://schemas.microsoft.com/office/drawing/2014/main" id="{5E1D5977-8E25-2682-458F-A213EF7F0003}"/>
              </a:ext>
            </a:extLst>
          </p:cNvPr>
          <p:cNvSpPr/>
          <p:nvPr/>
        </p:nvSpPr>
        <p:spPr>
          <a:xfrm flipV="1">
            <a:off x="8589625" y="4537438"/>
            <a:ext cx="1385863" cy="1494760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867061"/>
              <a:gd name="connsiteY0" fmla="*/ 0 h 1908706"/>
              <a:gd name="connsiteX1" fmla="*/ 867061 w 867061"/>
              <a:gd name="connsiteY1" fmla="*/ 1671382 h 1908706"/>
              <a:gd name="connsiteX0" fmla="*/ 0 w 867061"/>
              <a:gd name="connsiteY0" fmla="*/ 0 h 1943150"/>
              <a:gd name="connsiteX1" fmla="*/ 867061 w 867061"/>
              <a:gd name="connsiteY1" fmla="*/ 1671382 h 1943150"/>
              <a:gd name="connsiteX0" fmla="*/ 0 w 909186"/>
              <a:gd name="connsiteY0" fmla="*/ 0 h 1950004"/>
              <a:gd name="connsiteX1" fmla="*/ 909186 w 909186"/>
              <a:gd name="connsiteY1" fmla="*/ 1679236 h 1950004"/>
              <a:gd name="connsiteX0" fmla="*/ 0 w 909186"/>
              <a:gd name="connsiteY0" fmla="*/ 0 h 1947292"/>
              <a:gd name="connsiteX1" fmla="*/ 909186 w 909186"/>
              <a:gd name="connsiteY1" fmla="*/ 1679236 h 1947292"/>
              <a:gd name="connsiteX0" fmla="*/ 0 w 1021520"/>
              <a:gd name="connsiteY0" fmla="*/ 0 h 1947292"/>
              <a:gd name="connsiteX1" fmla="*/ 1021520 w 1021520"/>
              <a:gd name="connsiteY1" fmla="*/ 1679236 h 1947292"/>
              <a:gd name="connsiteX0" fmla="*/ 0 w 1021520"/>
              <a:gd name="connsiteY0" fmla="*/ 0 h 1939420"/>
              <a:gd name="connsiteX1" fmla="*/ 1021520 w 1021520"/>
              <a:gd name="connsiteY1" fmla="*/ 1679236 h 1939420"/>
              <a:gd name="connsiteX0" fmla="*/ 0 w 1021520"/>
              <a:gd name="connsiteY0" fmla="*/ 0 h 1851089"/>
              <a:gd name="connsiteX1" fmla="*/ 1021520 w 1021520"/>
              <a:gd name="connsiteY1" fmla="*/ 1679236 h 1851089"/>
              <a:gd name="connsiteX0" fmla="*/ 0 w 1021520"/>
              <a:gd name="connsiteY0" fmla="*/ 0 h 1862971"/>
              <a:gd name="connsiteX1" fmla="*/ 1021520 w 1021520"/>
              <a:gd name="connsiteY1" fmla="*/ 1679236 h 1862971"/>
              <a:gd name="connsiteX0" fmla="*/ 0 w 1049604"/>
              <a:gd name="connsiteY0" fmla="*/ 0 h 1848847"/>
              <a:gd name="connsiteX1" fmla="*/ 1049604 w 1049604"/>
              <a:gd name="connsiteY1" fmla="*/ 1663528 h 1848847"/>
              <a:gd name="connsiteX0" fmla="*/ 0 w 1021520"/>
              <a:gd name="connsiteY0" fmla="*/ 0 h 1848848"/>
              <a:gd name="connsiteX1" fmla="*/ 1021520 w 1021520"/>
              <a:gd name="connsiteY1" fmla="*/ 1663528 h 184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520" h="1848848">
                <a:moveTo>
                  <a:pt x="0" y="0"/>
                </a:moveTo>
                <a:cubicBezTo>
                  <a:pt x="329670" y="1133856"/>
                  <a:pt x="866940" y="2313143"/>
                  <a:pt x="1021520" y="1663528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/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wg1">
                <a:extLst>
                  <a:ext uri="{FF2B5EF4-FFF2-40B4-BE49-F238E27FC236}">
                    <a16:creationId xmlns:a16="http://schemas.microsoft.com/office/drawing/2014/main" id="{3D5740B5-2A79-76EB-658D-73DB0C54F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343" y="4022209"/>
                <a:ext cx="545352" cy="558230"/>
              </a:xfrm>
              <a:prstGeom prst="rect">
                <a:avLst/>
              </a:prstGeom>
              <a:blipFill>
                <a:blip r:embed="rId4"/>
                <a:stretch>
                  <a:fillRect r="-930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/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9" name="wc1">
                <a:extLst>
                  <a:ext uri="{FF2B5EF4-FFF2-40B4-BE49-F238E27FC236}">
                    <a16:creationId xmlns:a16="http://schemas.microsoft.com/office/drawing/2014/main" id="{18FB9199-0EA0-0744-7026-9A9DBD319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550" y="4978515"/>
                <a:ext cx="8012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坐标轴">
            <a:extLst>
              <a:ext uri="{FF2B5EF4-FFF2-40B4-BE49-F238E27FC236}">
                <a16:creationId xmlns:a16="http://schemas.microsoft.com/office/drawing/2014/main" id="{74C5BAA7-6DAB-C678-11B3-70FB19B7238E}"/>
              </a:ext>
            </a:extLst>
          </p:cNvPr>
          <p:cNvGrpSpPr/>
          <p:nvPr/>
        </p:nvGrpSpPr>
        <p:grpSpPr>
          <a:xfrm>
            <a:off x="7436550" y="2708275"/>
            <a:ext cx="3915757" cy="3247856"/>
            <a:chOff x="7535366" y="2904090"/>
            <a:chExt cx="3915757" cy="3247856"/>
          </a:xfrm>
        </p:grpSpPr>
        <p:cxnSp>
          <p:nvCxnSpPr>
            <p:cNvPr id="71" name="实轴">
              <a:extLst>
                <a:ext uri="{FF2B5EF4-FFF2-40B4-BE49-F238E27FC236}">
                  <a16:creationId xmlns:a16="http://schemas.microsoft.com/office/drawing/2014/main" id="{BC6C94C8-DEEB-CD3D-8299-5B36D3C37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5366" y="4877435"/>
              <a:ext cx="367240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虚轴">
              <a:extLst>
                <a:ext uri="{FF2B5EF4-FFF2-40B4-BE49-F238E27FC236}">
                  <a16:creationId xmlns:a16="http://schemas.microsoft.com/office/drawing/2014/main" id="{2295CFC3-95C8-BCC4-320E-BD55DE2AE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9360" y="3088139"/>
              <a:ext cx="6711" cy="3063807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">
                  <a:extLst>
                    <a:ext uri="{FF2B5EF4-FFF2-40B4-BE49-F238E27FC236}">
                      <a16:creationId xmlns:a16="http://schemas.microsoft.com/office/drawing/2014/main" id="{894187EA-E62A-2F0B-E86B-398C4B561897}"/>
                    </a:ext>
                  </a:extLst>
                </p:cNvPr>
                <p:cNvSpPr txBox="1"/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Re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8" name="Re">
                  <a:extLst>
                    <a:ext uri="{FF2B5EF4-FFF2-40B4-BE49-F238E27FC236}">
                      <a16:creationId xmlns:a16="http://schemas.microsoft.com/office/drawing/2014/main" id="{7D056F90-5A90-5AC2-0BB4-EC2B822399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4587" y="4396379"/>
                  <a:ext cx="57653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22" r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/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Im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Im">
                  <a:extLst>
                    <a:ext uri="{FF2B5EF4-FFF2-40B4-BE49-F238E27FC236}">
                      <a16:creationId xmlns:a16="http://schemas.microsoft.com/office/drawing/2014/main" id="{0279E4FE-7CD3-BA5F-B2E1-3BEEE8DB5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8765" y="2904090"/>
                  <a:ext cx="576536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4255" r="-85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/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7" name="原点">
                  <a:extLst>
                    <a:ext uri="{FF2B5EF4-FFF2-40B4-BE49-F238E27FC236}">
                      <a16:creationId xmlns:a16="http://schemas.microsoft.com/office/drawing/2014/main" id="{063AC11F-D045-F107-CFA4-1F898D2ED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6909" y="4909223"/>
                  <a:ext cx="545352" cy="52469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" name="单位圆">
            <a:extLst>
              <a:ext uri="{FF2B5EF4-FFF2-40B4-BE49-F238E27FC236}">
                <a16:creationId xmlns:a16="http://schemas.microsoft.com/office/drawing/2014/main" id="{918D0337-8E8B-6518-442B-50D03C2BA311}"/>
              </a:ext>
            </a:extLst>
          </p:cNvPr>
          <p:cNvSpPr/>
          <p:nvPr/>
        </p:nvSpPr>
        <p:spPr>
          <a:xfrm rot="10800000">
            <a:off x="8812619" y="3516324"/>
            <a:ext cx="2325740" cy="2325740"/>
          </a:xfrm>
          <a:prstGeom prst="arc">
            <a:avLst/>
          </a:prstGeom>
          <a:ln w="38100">
            <a:solidFill>
              <a:schemeClr val="tx2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wc交点1">
            <a:extLst>
              <a:ext uri="{FF2B5EF4-FFF2-40B4-BE49-F238E27FC236}">
                <a16:creationId xmlns:a16="http://schemas.microsoft.com/office/drawing/2014/main" id="{A12B8B28-FD62-CA23-EE26-B893262CDB15}"/>
              </a:ext>
            </a:extLst>
          </p:cNvPr>
          <p:cNvSpPr/>
          <p:nvPr/>
        </p:nvSpPr>
        <p:spPr>
          <a:xfrm>
            <a:off x="8929381" y="523615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wg交点1">
            <a:extLst>
              <a:ext uri="{FF2B5EF4-FFF2-40B4-BE49-F238E27FC236}">
                <a16:creationId xmlns:a16="http://schemas.microsoft.com/office/drawing/2014/main" id="{02F4F995-6408-2A59-38A3-71EF2EEFCC19}"/>
              </a:ext>
            </a:extLst>
          </p:cNvPr>
          <p:cNvSpPr/>
          <p:nvPr/>
        </p:nvSpPr>
        <p:spPr>
          <a:xfrm>
            <a:off x="9446378" y="461962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/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" name="label2">
                <a:extLst>
                  <a:ext uri="{FF2B5EF4-FFF2-40B4-BE49-F238E27FC236}">
                    <a16:creationId xmlns:a16="http://schemas.microsoft.com/office/drawing/2014/main" id="{5EEE8D02-A0EB-AA59-7AA9-571AABF89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405" y="5524079"/>
                <a:ext cx="8012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/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3" name="label1">
                <a:extLst>
                  <a:ext uri="{FF2B5EF4-FFF2-40B4-BE49-F238E27FC236}">
                    <a16:creationId xmlns:a16="http://schemas.microsoft.com/office/drawing/2014/main" id="{B3A7041F-1C72-96B5-0852-8381A5580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558" y="4172083"/>
                <a:ext cx="80122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相角裕度辅助线">
            <a:extLst>
              <a:ext uri="{FF2B5EF4-FFF2-40B4-BE49-F238E27FC236}">
                <a16:creationId xmlns:a16="http://schemas.microsoft.com/office/drawing/2014/main" id="{B945BF75-B07C-9E25-4A61-776954E76577}"/>
              </a:ext>
            </a:extLst>
          </p:cNvPr>
          <p:cNvCxnSpPr>
            <a:cxnSpLocks/>
            <a:endCxn id="110" idx="7"/>
          </p:cNvCxnSpPr>
          <p:nvPr/>
        </p:nvCxnSpPr>
        <p:spPr>
          <a:xfrm flipH="1">
            <a:off x="9034156" y="4681005"/>
            <a:ext cx="953099" cy="573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量角弧">
            <a:extLst>
              <a:ext uri="{FF2B5EF4-FFF2-40B4-BE49-F238E27FC236}">
                <a16:creationId xmlns:a16="http://schemas.microsoft.com/office/drawing/2014/main" id="{C7CC5274-D17D-A462-4004-71CFA9049B35}"/>
              </a:ext>
            </a:extLst>
          </p:cNvPr>
          <p:cNvSpPr/>
          <p:nvPr/>
        </p:nvSpPr>
        <p:spPr>
          <a:xfrm flipH="1">
            <a:off x="9604078" y="4285596"/>
            <a:ext cx="751890" cy="751890"/>
          </a:xfrm>
          <a:prstGeom prst="arc">
            <a:avLst>
              <a:gd name="adj1" fmla="val 267582"/>
              <a:gd name="adj2" fmla="val 2003738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/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7" name="gamma1">
                <a:extLst>
                  <a:ext uri="{FF2B5EF4-FFF2-40B4-BE49-F238E27FC236}">
                    <a16:creationId xmlns:a16="http://schemas.microsoft.com/office/drawing/2014/main" id="{0B81EBF8-8E01-799E-A545-468B7ABA8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103" y="4768013"/>
                <a:ext cx="421699" cy="523220"/>
              </a:xfrm>
              <a:prstGeom prst="rect">
                <a:avLst/>
              </a:prstGeom>
              <a:blipFill>
                <a:blip r:embed="rId12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幅值裕度辅助线">
            <a:extLst>
              <a:ext uri="{FF2B5EF4-FFF2-40B4-BE49-F238E27FC236}">
                <a16:creationId xmlns:a16="http://schemas.microsoft.com/office/drawing/2014/main" id="{761B1700-E283-D911-5916-43CE3A8AB227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9507754" y="3515709"/>
            <a:ext cx="0" cy="1103920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幅值裕度双箭头1">
            <a:extLst>
              <a:ext uri="{FF2B5EF4-FFF2-40B4-BE49-F238E27FC236}">
                <a16:creationId xmlns:a16="http://schemas.microsoft.com/office/drawing/2014/main" id="{283EB00F-AB98-9B70-8E54-CF8D866EE500}"/>
              </a:ext>
            </a:extLst>
          </p:cNvPr>
          <p:cNvCxnSpPr>
            <a:cxnSpLocks/>
          </p:cNvCxnSpPr>
          <p:nvPr/>
        </p:nvCxnSpPr>
        <p:spPr>
          <a:xfrm>
            <a:off x="9494103" y="3804794"/>
            <a:ext cx="493152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/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21" name="1/h">
                <a:extLst>
                  <a:ext uri="{FF2B5EF4-FFF2-40B4-BE49-F238E27FC236}">
                    <a16:creationId xmlns:a16="http://schemas.microsoft.com/office/drawing/2014/main" id="{D48A7748-CA37-D237-F6AF-FDB7ABF64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75" y="3048399"/>
                <a:ext cx="421699" cy="703013"/>
              </a:xfrm>
              <a:prstGeom prst="rect">
                <a:avLst/>
              </a:prstGeom>
              <a:blipFill>
                <a:blip r:embed="rId13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/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2" name="Gjw">
                <a:extLst>
                  <a:ext uri="{FF2B5EF4-FFF2-40B4-BE49-F238E27FC236}">
                    <a16:creationId xmlns:a16="http://schemas.microsoft.com/office/drawing/2014/main" id="{18536BAB-298D-61B6-191F-2C88D5086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50" y="5537019"/>
                <a:ext cx="801225" cy="523220"/>
              </a:xfrm>
              <a:prstGeom prst="rect">
                <a:avLst/>
              </a:prstGeom>
              <a:blipFill>
                <a:blip r:embed="rId14"/>
                <a:stretch>
                  <a:fillRect l="-4688" r="-46875"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/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blipFill>
                <a:blip r:embed="rId15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/>
              <p:nvPr/>
            </p:nvSpPr>
            <p:spPr>
              <a:xfrm>
                <a:off x="259751" y="1908612"/>
                <a:ext cx="10525339" cy="819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+mn-ea"/>
                  </a:rPr>
                  <a:t>或令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𝐺</m:t>
                    </m:r>
                    <m:d>
                      <m:d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𝑗</m:t>
                        </m:r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(2+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)(10+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−1200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100(20−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(4+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)(100+</m:t>
                        </m:r>
                        <m:sSup>
                          <m:s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51" y="1908612"/>
                <a:ext cx="10525339" cy="819776"/>
              </a:xfrm>
              <a:prstGeom prst="rect">
                <a:avLst/>
              </a:prstGeom>
              <a:blipFill>
                <a:blip r:embed="rId16"/>
                <a:stretch>
                  <a:fillRect l="-1205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/>
              <p:nvPr/>
            </p:nvSpPr>
            <p:spPr>
              <a:xfrm>
                <a:off x="276616" y="2769797"/>
                <a:ext cx="3727092" cy="5572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</a:rPr>
                      <m:t>Im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𝑗</m:t>
                            </m:r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16" y="2769797"/>
                <a:ext cx="3727092" cy="557204"/>
              </a:xfrm>
              <a:prstGeom prst="rect">
                <a:avLst/>
              </a:prstGeom>
              <a:blipFill>
                <a:blip r:embed="rId17"/>
                <a:stretch>
                  <a:fillRect l="-3390" t="-8696" b="-2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/>
              <p:nvPr/>
            </p:nvSpPr>
            <p:spPr>
              <a:xfrm>
                <a:off x="190550" y="3323469"/>
                <a:ext cx="3456127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e>
                      </m:ra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4.47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" y="3323469"/>
                <a:ext cx="3456127" cy="618887"/>
              </a:xfrm>
              <a:prstGeom prst="rect">
                <a:avLst/>
              </a:prstGeom>
              <a:blipFill>
                <a:blip r:embed="rId18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频率特性">
                <a:extLst>
                  <a:ext uri="{FF2B5EF4-FFF2-40B4-BE49-F238E27FC236}">
                    <a16:creationId xmlns:a16="http://schemas.microsoft.com/office/drawing/2014/main" id="{089D65AA-F05A-D6B2-2E92-732BF9687CCE}"/>
                  </a:ext>
                </a:extLst>
              </p:cNvPr>
              <p:cNvSpPr txBox="1"/>
              <p:nvPr/>
            </p:nvSpPr>
            <p:spPr>
              <a:xfrm>
                <a:off x="402237" y="3942356"/>
                <a:ext cx="4540842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代入实部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=−0.4167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7" name="频率特性">
                <a:extLst>
                  <a:ext uri="{FF2B5EF4-FFF2-40B4-BE49-F238E27FC236}">
                    <a16:creationId xmlns:a16="http://schemas.microsoft.com/office/drawing/2014/main" id="{089D65AA-F05A-D6B2-2E92-732BF968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7" y="3942356"/>
                <a:ext cx="4540842" cy="589072"/>
              </a:xfrm>
              <a:prstGeom prst="rect">
                <a:avLst/>
              </a:prstGeom>
              <a:blipFill>
                <a:blip r:embed="rId19"/>
                <a:stretch>
                  <a:fillRect l="-2786" t="-6383" b="-23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频率特性">
                <a:extLst>
                  <a:ext uri="{FF2B5EF4-FFF2-40B4-BE49-F238E27FC236}">
                    <a16:creationId xmlns:a16="http://schemas.microsoft.com/office/drawing/2014/main" id="{ED3650AC-1944-C701-969F-F8B74CD10F7B}"/>
                  </a:ext>
                </a:extLst>
              </p:cNvPr>
              <p:cNvSpPr txBox="1"/>
              <p:nvPr/>
            </p:nvSpPr>
            <p:spPr>
              <a:xfrm>
                <a:off x="259751" y="4673032"/>
                <a:ext cx="3331755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𝐺</m:t>
                          </m:r>
                          <m:d>
                            <m:d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=0.4167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8" name="频率特性">
                <a:extLst>
                  <a:ext uri="{FF2B5EF4-FFF2-40B4-BE49-F238E27FC236}">
                    <a16:creationId xmlns:a16="http://schemas.microsoft.com/office/drawing/2014/main" id="{ED3650AC-1944-C701-969F-F8B74CD1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51" y="4673032"/>
                <a:ext cx="3331755" cy="589072"/>
              </a:xfrm>
              <a:prstGeom prst="rect">
                <a:avLst/>
              </a:prstGeom>
              <a:blipFill>
                <a:blip r:embed="rId20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频率特性">
                <a:extLst>
                  <a:ext uri="{FF2B5EF4-FFF2-40B4-BE49-F238E27FC236}">
                    <a16:creationId xmlns:a16="http://schemas.microsoft.com/office/drawing/2014/main" id="{B06D222F-E036-EADD-E174-7091386EC13E}"/>
                  </a:ext>
                </a:extLst>
              </p:cNvPr>
              <p:cNvSpPr txBox="1"/>
              <p:nvPr/>
            </p:nvSpPr>
            <p:spPr>
              <a:xfrm>
                <a:off x="360465" y="5358906"/>
                <a:ext cx="4273856" cy="800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0.4167</m:t>
                        </m:r>
                      </m:den>
                    </m:f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5" name="频率特性">
                <a:extLst>
                  <a:ext uri="{FF2B5EF4-FFF2-40B4-BE49-F238E27FC236}">
                    <a16:creationId xmlns:a16="http://schemas.microsoft.com/office/drawing/2014/main" id="{B06D222F-E036-EADD-E174-7091386E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65" y="5358906"/>
                <a:ext cx="4273856" cy="800476"/>
              </a:xfrm>
              <a:prstGeom prst="rect">
                <a:avLst/>
              </a:prstGeom>
              <a:blipFill>
                <a:blip r:embed="rId21"/>
                <a:stretch>
                  <a:fillRect l="-890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37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31" grpId="0"/>
      <p:bldP spid="34" grpId="0"/>
      <p:bldP spid="37" grpId="0"/>
      <p:bldP spid="38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/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稳定裕度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𝜸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(Bode</a:t>
                </a:r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</a:t>
                </a:r>
                <a:r>
                  <a:rPr lang="en-US" altLang="zh-CN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标题">
                <a:extLst>
                  <a:ext uri="{FF2B5EF4-FFF2-40B4-BE49-F238E27FC236}">
                    <a16:creationId xmlns:a16="http://schemas.microsoft.com/office/drawing/2014/main" id="{83FE2B42-5ECC-BC4E-A248-5C517753D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blipFill>
                <a:blip r:embed="rId3"/>
                <a:stretch>
                  <a:fillRect l="-238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/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3" name="频率特性">
                <a:extLst>
                  <a:ext uri="{FF2B5EF4-FFF2-40B4-BE49-F238E27FC236}">
                    <a16:creationId xmlns:a16="http://schemas.microsoft.com/office/drawing/2014/main" id="{3C281F00-52AD-09ED-4CD3-8534A5F0F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913999"/>
                <a:ext cx="4181808" cy="1015406"/>
              </a:xfrm>
              <a:prstGeom prst="rect">
                <a:avLst/>
              </a:prstGeom>
              <a:blipFill>
                <a:blip r:embed="rId4"/>
                <a:stretch>
                  <a:fillRect b="-4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/>
              <p:nvPr/>
            </p:nvSpPr>
            <p:spPr>
              <a:xfrm>
                <a:off x="259752" y="1908612"/>
                <a:ext cx="7614756" cy="106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=1=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kumimoji="1" lang="en-US" altLang="zh-CN" sz="2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kumimoji="1" lang="en-US" altLang="zh-CN" sz="2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kumimoji="1" lang="en-US" altLang="zh-CN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e>
                              <m:sup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kumimoji="1"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kumimoji="1"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𝑐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kumimoji="1" lang="en-US" altLang="zh-CN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e>
                              <m:sup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sSubSup>
                          <m:sSubSup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130" name="频率特性">
                <a:extLst>
                  <a:ext uri="{FF2B5EF4-FFF2-40B4-BE49-F238E27FC236}">
                    <a16:creationId xmlns:a16="http://schemas.microsoft.com/office/drawing/2014/main" id="{B8EDD873-1214-5578-2F90-EC2FDD83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52" y="1908612"/>
                <a:ext cx="7614756" cy="10612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/>
              <p:nvPr/>
            </p:nvSpPr>
            <p:spPr>
              <a:xfrm>
                <a:off x="276616" y="2769797"/>
                <a:ext cx="4231884" cy="57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=3.16&gt;2.8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频率特性">
                <a:extLst>
                  <a:ext uri="{FF2B5EF4-FFF2-40B4-BE49-F238E27FC236}">
                    <a16:creationId xmlns:a16="http://schemas.microsoft.com/office/drawing/2014/main" id="{E907F546-C562-C41D-8E41-902B91FC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16" y="2769797"/>
                <a:ext cx="4231884" cy="5739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/>
              <p:nvPr/>
            </p:nvSpPr>
            <p:spPr>
              <a:xfrm>
                <a:off x="267080" y="4979157"/>
                <a:ext cx="3892408" cy="1074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kumimoji="1" lang="zh-CN" altLang="en-US" sz="2800" b="0" dirty="0">
                    <a:latin typeface="+mn-ea"/>
                  </a:rPr>
                  <a:t>是转折频率几何中心</a:t>
                </a:r>
                <a:endParaRPr kumimoji="1"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2×10</m:t>
                        </m:r>
                      </m:e>
                    </m:rad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4.47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4" name="频率特性">
                <a:extLst>
                  <a:ext uri="{FF2B5EF4-FFF2-40B4-BE49-F238E27FC236}">
                    <a16:creationId xmlns:a16="http://schemas.microsoft.com/office/drawing/2014/main" id="{76927EF3-18C0-8799-A214-12E3B8C1E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0" y="4979157"/>
                <a:ext cx="3892408" cy="1074590"/>
              </a:xfrm>
              <a:prstGeom prst="rect">
                <a:avLst/>
              </a:prstGeom>
              <a:blipFill>
                <a:blip r:embed="rId7"/>
                <a:stretch>
                  <a:fillRect l="-326" t="-7059" r="-977" b="-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频率特性">
                <a:extLst>
                  <a:ext uri="{FF2B5EF4-FFF2-40B4-BE49-F238E27FC236}">
                    <a16:creationId xmlns:a16="http://schemas.microsoft.com/office/drawing/2014/main" id="{B06D222F-E036-EADD-E174-7091386EC13E}"/>
                  </a:ext>
                </a:extLst>
              </p:cNvPr>
              <p:cNvSpPr txBox="1"/>
              <p:nvPr/>
            </p:nvSpPr>
            <p:spPr>
              <a:xfrm>
                <a:off x="285697" y="6047798"/>
                <a:ext cx="4273856" cy="7518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800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</a:rPr>
                                  <m:t>𝑗</m:t>
                                </m:r>
                                <m:r>
                                  <a:rPr kumimoji="1"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kumimoji="1"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.47</m:t>
                                </m:r>
                              </m:e>
                            </m:d>
                          </m:e>
                        </m:d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0.4167</m:t>
                        </m:r>
                      </m:den>
                    </m:f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35" name="频率特性">
                <a:extLst>
                  <a:ext uri="{FF2B5EF4-FFF2-40B4-BE49-F238E27FC236}">
                    <a16:creationId xmlns:a16="http://schemas.microsoft.com/office/drawing/2014/main" id="{B06D222F-E036-EADD-E174-7091386E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97" y="6047798"/>
                <a:ext cx="4273856" cy="751809"/>
              </a:xfrm>
              <a:prstGeom prst="rect">
                <a:avLst/>
              </a:prstGeom>
              <a:blipFill>
                <a:blip r:embed="rId8"/>
                <a:stretch>
                  <a:fillRect l="-888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坐标轴2">
            <a:extLst>
              <a:ext uri="{FF2B5EF4-FFF2-40B4-BE49-F238E27FC236}">
                <a16:creationId xmlns:a16="http://schemas.microsoft.com/office/drawing/2014/main" id="{0D73BFE4-D6C4-D587-BF28-F3C7599DD367}"/>
              </a:ext>
            </a:extLst>
          </p:cNvPr>
          <p:cNvGrpSpPr/>
          <p:nvPr/>
        </p:nvGrpSpPr>
        <p:grpSpPr>
          <a:xfrm>
            <a:off x="6976355" y="3156644"/>
            <a:ext cx="5023507" cy="3063807"/>
            <a:chOff x="7127120" y="3532905"/>
            <a:chExt cx="5023507" cy="3063807"/>
          </a:xfrm>
        </p:grpSpPr>
        <p:grpSp>
          <p:nvGrpSpPr>
            <p:cNvPr id="33" name="坐标轴">
              <a:extLst>
                <a:ext uri="{FF2B5EF4-FFF2-40B4-BE49-F238E27FC236}">
                  <a16:creationId xmlns:a16="http://schemas.microsoft.com/office/drawing/2014/main" id="{80A7A2C3-649B-14AE-0117-280EC1E70B4C}"/>
                </a:ext>
              </a:extLst>
            </p:cNvPr>
            <p:cNvGrpSpPr/>
            <p:nvPr/>
          </p:nvGrpSpPr>
          <p:grpSpPr>
            <a:xfrm>
              <a:off x="7762323" y="3532905"/>
              <a:ext cx="4388304" cy="3063807"/>
              <a:chOff x="7059016" y="3097540"/>
              <a:chExt cx="4388304" cy="3063807"/>
            </a:xfrm>
          </p:grpSpPr>
          <p:cxnSp>
            <p:nvCxnSpPr>
              <p:cNvPr id="44" name="实轴">
                <a:extLst>
                  <a:ext uri="{FF2B5EF4-FFF2-40B4-BE49-F238E27FC236}">
                    <a16:creationId xmlns:a16="http://schemas.microsoft.com/office/drawing/2014/main" id="{EB42640D-2377-64E6-5263-E96F16E936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63105" y="3714360"/>
                <a:ext cx="367240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虚轴">
                <a:extLst>
                  <a:ext uri="{FF2B5EF4-FFF2-40B4-BE49-F238E27FC236}">
                    <a16:creationId xmlns:a16="http://schemas.microsoft.com/office/drawing/2014/main" id="{D62BC468-6C56-BDB5-4603-8AF10AD80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63105" y="3097540"/>
                <a:ext cx="6711" cy="306380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">
                    <a:extLst>
                      <a:ext uri="{FF2B5EF4-FFF2-40B4-BE49-F238E27FC236}">
                        <a16:creationId xmlns:a16="http://schemas.microsoft.com/office/drawing/2014/main" id="{E188F5DC-D307-48AC-599D-BA839A4E404D}"/>
                      </a:ext>
                    </a:extLst>
                  </p:cNvPr>
                  <p:cNvSpPr txBox="1"/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l-GR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7" name="Re">
                    <a:extLst>
                      <a:ext uri="{FF2B5EF4-FFF2-40B4-BE49-F238E27FC236}">
                        <a16:creationId xmlns:a16="http://schemas.microsoft.com/office/drawing/2014/main" id="{E188F5DC-D307-48AC-599D-BA839A4E40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70784" y="3193069"/>
                    <a:ext cx="576536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Im">
                    <a:extLst>
                      <a:ext uri="{FF2B5EF4-FFF2-40B4-BE49-F238E27FC236}">
                        <a16:creationId xmlns:a16="http://schemas.microsoft.com/office/drawing/2014/main" id="{01D2D707-4F6F-4505-0412-8FC59C951E8D}"/>
                      </a:ext>
                    </a:extLst>
                  </p:cNvPr>
                  <p:cNvSpPr txBox="1"/>
                  <p:nvPr/>
                </p:nvSpPr>
                <p:spPr>
                  <a:xfrm>
                    <a:off x="8855095" y="3216727"/>
                    <a:ext cx="576536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Im">
                    <a:extLst>
                      <a:ext uri="{FF2B5EF4-FFF2-40B4-BE49-F238E27FC236}">
                        <a16:creationId xmlns:a16="http://schemas.microsoft.com/office/drawing/2014/main" id="{01D2D707-4F6F-4505-0412-8FC59C951E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5095" y="3216727"/>
                    <a:ext cx="576536" cy="52469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255" r="-148936" b="-209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原点">
                    <a:extLst>
                      <a:ext uri="{FF2B5EF4-FFF2-40B4-BE49-F238E27FC236}">
                        <a16:creationId xmlns:a16="http://schemas.microsoft.com/office/drawing/2014/main" id="{198F3211-2CFA-F9D6-4B25-1429DCC594F5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9" name="原点">
                    <a:extLst>
                      <a:ext uri="{FF2B5EF4-FFF2-40B4-BE49-F238E27FC236}">
                        <a16:creationId xmlns:a16="http://schemas.microsoft.com/office/drawing/2014/main" id="{198F3211-2CFA-F9D6-4B25-1429DCC594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9016" y="3458337"/>
                    <a:ext cx="545352" cy="52469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273" r="-2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-90">
                  <a:extLst>
                    <a:ext uri="{FF2B5EF4-FFF2-40B4-BE49-F238E27FC236}">
                      <a16:creationId xmlns:a16="http://schemas.microsoft.com/office/drawing/2014/main" id="{E8900C4A-5009-8959-9ADF-2239FD0C137D}"/>
                    </a:ext>
                  </a:extLst>
                </p:cNvPr>
                <p:cNvSpPr txBox="1"/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−90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-90">
                  <a:extLst>
                    <a:ext uri="{FF2B5EF4-FFF2-40B4-BE49-F238E27FC236}">
                      <a16:creationId xmlns:a16="http://schemas.microsoft.com/office/drawing/2014/main" id="{E8900C4A-5009-8959-9ADF-2239FD0C1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00" y="4610471"/>
                  <a:ext cx="545352" cy="524695"/>
                </a:xfrm>
                <a:prstGeom prst="rect">
                  <a:avLst/>
                </a:prstGeom>
                <a:blipFill>
                  <a:blip r:embed="rId12"/>
                  <a:stretch>
                    <a:fillRect r="-84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-180">
                  <a:extLst>
                    <a:ext uri="{FF2B5EF4-FFF2-40B4-BE49-F238E27FC236}">
                      <a16:creationId xmlns:a16="http://schemas.microsoft.com/office/drawing/2014/main" id="{221CDB60-6B60-D179-7411-3AC1ECC0CA7F}"/>
                    </a:ext>
                  </a:extLst>
                </p:cNvPr>
                <p:cNvSpPr txBox="1"/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−180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" name="-180">
                  <a:extLst>
                    <a:ext uri="{FF2B5EF4-FFF2-40B4-BE49-F238E27FC236}">
                      <a16:creationId xmlns:a16="http://schemas.microsoft.com/office/drawing/2014/main" id="{221CDB60-6B60-D179-7411-3AC1ECC0C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7120" y="5327240"/>
                  <a:ext cx="545352" cy="524695"/>
                </a:xfrm>
                <a:prstGeom prst="rect">
                  <a:avLst/>
                </a:prstGeom>
                <a:blipFill>
                  <a:blip r:embed="rId13"/>
                  <a:stretch>
                    <a:fillRect r="-1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-270">
                  <a:extLst>
                    <a:ext uri="{FF2B5EF4-FFF2-40B4-BE49-F238E27FC236}">
                      <a16:creationId xmlns:a16="http://schemas.microsoft.com/office/drawing/2014/main" id="{0B9FAB2F-ABEE-F7D3-52C4-CF6025D34171}"/>
                    </a:ext>
                  </a:extLst>
                </p:cNvPr>
                <p:cNvSpPr txBox="1"/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−270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0" name="-270">
                  <a:extLst>
                    <a:ext uri="{FF2B5EF4-FFF2-40B4-BE49-F238E27FC236}">
                      <a16:creationId xmlns:a16="http://schemas.microsoft.com/office/drawing/2014/main" id="{0B9FAB2F-ABEE-F7D3-52C4-CF6025D34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153" y="6032897"/>
                  <a:ext cx="545352" cy="524695"/>
                </a:xfrm>
                <a:prstGeom prst="rect">
                  <a:avLst/>
                </a:prstGeom>
                <a:blipFill>
                  <a:blip r:embed="rId14"/>
                  <a:stretch>
                    <a:fillRect r="-1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虚线3">
              <a:extLst>
                <a:ext uri="{FF2B5EF4-FFF2-40B4-BE49-F238E27FC236}">
                  <a16:creationId xmlns:a16="http://schemas.microsoft.com/office/drawing/2014/main" id="{FE6256B3-1148-5C9F-2554-25670EE46C60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4868863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虚线2">
              <a:extLst>
                <a:ext uri="{FF2B5EF4-FFF2-40B4-BE49-F238E27FC236}">
                  <a16:creationId xmlns:a16="http://schemas.microsoft.com/office/drawing/2014/main" id="{EAACB3FD-BBE6-F4F0-00DE-4B1DA4570F75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5575301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虚线1">
              <a:extLst>
                <a:ext uri="{FF2B5EF4-FFF2-40B4-BE49-F238E27FC236}">
                  <a16:creationId xmlns:a16="http://schemas.microsoft.com/office/drawing/2014/main" id="{5A162B5A-36EA-4F4B-7A60-669A9D37B5EC}"/>
                </a:ext>
              </a:extLst>
            </p:cNvPr>
            <p:cNvCxnSpPr>
              <a:cxnSpLocks/>
            </p:cNvCxnSpPr>
            <p:nvPr/>
          </p:nvCxnSpPr>
          <p:spPr>
            <a:xfrm>
              <a:off x="8273123" y="6308725"/>
              <a:ext cx="3636296" cy="0"/>
            </a:xfrm>
            <a:prstGeom prst="line">
              <a:avLst/>
            </a:prstGeom>
            <a:ln w="25400">
              <a:solidFill>
                <a:schemeClr val="tx2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转折频率组合1">
            <a:extLst>
              <a:ext uri="{FF2B5EF4-FFF2-40B4-BE49-F238E27FC236}">
                <a16:creationId xmlns:a16="http://schemas.microsoft.com/office/drawing/2014/main" id="{78394992-EE80-CB27-F0DB-779D4A8F48AD}"/>
              </a:ext>
            </a:extLst>
          </p:cNvPr>
          <p:cNvGrpSpPr/>
          <p:nvPr/>
        </p:nvGrpSpPr>
        <p:grpSpPr>
          <a:xfrm>
            <a:off x="8642208" y="3567379"/>
            <a:ext cx="1090074" cy="2891513"/>
            <a:chOff x="8792973" y="3943640"/>
            <a:chExt cx="1090074" cy="28915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转折频率1">
                  <a:extLst>
                    <a:ext uri="{FF2B5EF4-FFF2-40B4-BE49-F238E27FC236}">
                      <a16:creationId xmlns:a16="http://schemas.microsoft.com/office/drawing/2014/main" id="{DF420A85-5767-C6E1-A259-604937D40EB3}"/>
                    </a:ext>
                  </a:extLst>
                </p:cNvPr>
                <p:cNvSpPr txBox="1"/>
                <p:nvPr/>
              </p:nvSpPr>
              <p:spPr>
                <a:xfrm>
                  <a:off x="8792973" y="6311933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转折频率1">
                  <a:extLst>
                    <a:ext uri="{FF2B5EF4-FFF2-40B4-BE49-F238E27FC236}">
                      <a16:creationId xmlns:a16="http://schemas.microsoft.com/office/drawing/2014/main" id="{DF420A85-5767-C6E1-A259-604937D40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2973" y="6311933"/>
                  <a:ext cx="109007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转折频率虚线1">
              <a:extLst>
                <a:ext uri="{FF2B5EF4-FFF2-40B4-BE49-F238E27FC236}">
                  <a16:creationId xmlns:a16="http://schemas.microsoft.com/office/drawing/2014/main" id="{F4D5C910-8069-1EBD-6F54-D0F8A88FCFAA}"/>
                </a:ext>
              </a:extLst>
            </p:cNvPr>
            <p:cNvCxnSpPr>
              <a:cxnSpLocks/>
            </p:cNvCxnSpPr>
            <p:nvPr/>
          </p:nvCxnSpPr>
          <p:spPr>
            <a:xfrm>
              <a:off x="9349137" y="3943640"/>
              <a:ext cx="7022" cy="2368293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转折频率组合2">
            <a:extLst>
              <a:ext uri="{FF2B5EF4-FFF2-40B4-BE49-F238E27FC236}">
                <a16:creationId xmlns:a16="http://schemas.microsoft.com/office/drawing/2014/main" id="{C0A032B2-2D98-1745-10C5-9556438D6D3C}"/>
              </a:ext>
            </a:extLst>
          </p:cNvPr>
          <p:cNvGrpSpPr/>
          <p:nvPr/>
        </p:nvGrpSpPr>
        <p:grpSpPr>
          <a:xfrm>
            <a:off x="10092377" y="4684971"/>
            <a:ext cx="1090074" cy="1764409"/>
            <a:chOff x="10243142" y="5061232"/>
            <a:chExt cx="1090074" cy="17644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转折频率2">
                  <a:extLst>
                    <a:ext uri="{FF2B5EF4-FFF2-40B4-BE49-F238E27FC236}">
                      <a16:creationId xmlns:a16="http://schemas.microsoft.com/office/drawing/2014/main" id="{F66FE963-10FB-4889-CF38-817B64967717}"/>
                    </a:ext>
                  </a:extLst>
                </p:cNvPr>
                <p:cNvSpPr txBox="1"/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" name="转折频率2">
                  <a:extLst>
                    <a:ext uri="{FF2B5EF4-FFF2-40B4-BE49-F238E27FC236}">
                      <a16:creationId xmlns:a16="http://schemas.microsoft.com/office/drawing/2014/main" id="{F66FE963-10FB-4889-CF38-817B64967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3142" y="6302421"/>
                  <a:ext cx="109007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转折频率虚线2">
              <a:extLst>
                <a:ext uri="{FF2B5EF4-FFF2-40B4-BE49-F238E27FC236}">
                  <a16:creationId xmlns:a16="http://schemas.microsoft.com/office/drawing/2014/main" id="{48EBB9AF-5547-B2FB-18B9-5B3FA9A5F0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73" y="5061232"/>
              <a:ext cx="5754" cy="1245145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幅频">
            <a:extLst>
              <a:ext uri="{FF2B5EF4-FFF2-40B4-BE49-F238E27FC236}">
                <a16:creationId xmlns:a16="http://schemas.microsoft.com/office/drawing/2014/main" id="{81F05AAE-4687-7085-48B1-D147DEC115C8}"/>
              </a:ext>
            </a:extLst>
          </p:cNvPr>
          <p:cNvSpPr/>
          <p:nvPr/>
        </p:nvSpPr>
        <p:spPr>
          <a:xfrm flipV="1">
            <a:off x="8137355" y="3140968"/>
            <a:ext cx="3481363" cy="282701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629997"/>
              <a:gd name="connsiteY0" fmla="*/ 378570 h 1000909"/>
              <a:gd name="connsiteX1" fmla="*/ 1629997 w 1629997"/>
              <a:gd name="connsiteY1" fmla="*/ 0 h 1000909"/>
              <a:gd name="connsiteX0" fmla="*/ 0 w 1629997"/>
              <a:gd name="connsiteY0" fmla="*/ 378570 h 576075"/>
              <a:gd name="connsiteX1" fmla="*/ 1629997 w 1629997"/>
              <a:gd name="connsiteY1" fmla="*/ 0 h 576075"/>
              <a:gd name="connsiteX0" fmla="*/ 0 w 1756373"/>
              <a:gd name="connsiteY0" fmla="*/ 519946 h 620688"/>
              <a:gd name="connsiteX1" fmla="*/ 1756373 w 1756373"/>
              <a:gd name="connsiteY1" fmla="*/ 0 h 620688"/>
              <a:gd name="connsiteX0" fmla="*/ 0 w 1756373"/>
              <a:gd name="connsiteY0" fmla="*/ 519946 h 582777"/>
              <a:gd name="connsiteX1" fmla="*/ 1756373 w 1756373"/>
              <a:gd name="connsiteY1" fmla="*/ 0 h 582777"/>
              <a:gd name="connsiteX0" fmla="*/ 0 w 2556754"/>
              <a:gd name="connsiteY0" fmla="*/ 2884066 h 2884066"/>
              <a:gd name="connsiteX1" fmla="*/ 2556754 w 2556754"/>
              <a:gd name="connsiteY1" fmla="*/ 0 h 2884066"/>
              <a:gd name="connsiteX0" fmla="*/ 0 w 2556754"/>
              <a:gd name="connsiteY0" fmla="*/ 2884066 h 2884066"/>
              <a:gd name="connsiteX1" fmla="*/ 1421889 w 2556754"/>
              <a:gd name="connsiteY1" fmla="*/ 166910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2175464 w 2556754"/>
              <a:gd name="connsiteY1" fmla="*/ 1661246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1183179 w 2556754"/>
              <a:gd name="connsiteY1" fmla="*/ 1818330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2556754 w 2556754"/>
              <a:gd name="connsiteY2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426570 w 2556754"/>
              <a:gd name="connsiteY2" fmla="*/ 1386348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66607 w 2556754"/>
              <a:gd name="connsiteY1" fmla="*/ 219533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52504 w 2556754"/>
              <a:gd name="connsiteY2" fmla="*/ 1166430 h 2884066"/>
              <a:gd name="connsiteX3" fmla="*/ 2556754 w 2556754"/>
              <a:gd name="connsiteY3" fmla="*/ 0 h 2884066"/>
              <a:gd name="connsiteX0" fmla="*/ 0 w 2556754"/>
              <a:gd name="connsiteY0" fmla="*/ 2884066 h 2884066"/>
              <a:gd name="connsiteX1" fmla="*/ 771287 w 2556754"/>
              <a:gd name="connsiteY1" fmla="*/ 2344563 h 2884066"/>
              <a:gd name="connsiteX2" fmla="*/ 1833782 w 2556754"/>
              <a:gd name="connsiteY2" fmla="*/ 1001491 h 2884066"/>
              <a:gd name="connsiteX3" fmla="*/ 2556754 w 2556754"/>
              <a:gd name="connsiteY3" fmla="*/ 0 h 2884066"/>
              <a:gd name="connsiteX0" fmla="*/ 0 w 2556754"/>
              <a:gd name="connsiteY0" fmla="*/ 3331757 h 3331757"/>
              <a:gd name="connsiteX1" fmla="*/ 771287 w 2556754"/>
              <a:gd name="connsiteY1" fmla="*/ 2792254 h 3331757"/>
              <a:gd name="connsiteX2" fmla="*/ 1833782 w 2556754"/>
              <a:gd name="connsiteY2" fmla="*/ 1449182 h 3331757"/>
              <a:gd name="connsiteX3" fmla="*/ 2556754 w 2556754"/>
              <a:gd name="connsiteY3" fmla="*/ 0 h 3331757"/>
              <a:gd name="connsiteX0" fmla="*/ 0 w 2566115"/>
              <a:gd name="connsiteY0" fmla="*/ 3496696 h 3496696"/>
              <a:gd name="connsiteX1" fmla="*/ 771287 w 2566115"/>
              <a:gd name="connsiteY1" fmla="*/ 2957193 h 3496696"/>
              <a:gd name="connsiteX2" fmla="*/ 1833782 w 2566115"/>
              <a:gd name="connsiteY2" fmla="*/ 1614121 h 3496696"/>
              <a:gd name="connsiteX3" fmla="*/ 2566115 w 2566115"/>
              <a:gd name="connsiteY3" fmla="*/ 0 h 349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115" h="3496696">
                <a:moveTo>
                  <a:pt x="0" y="3496696"/>
                </a:moveTo>
                <a:lnTo>
                  <a:pt x="771287" y="2957193"/>
                </a:lnTo>
                <a:cubicBezTo>
                  <a:pt x="1009049" y="2707573"/>
                  <a:pt x="1535424" y="1980010"/>
                  <a:pt x="1833782" y="1614121"/>
                </a:cubicBezTo>
                <a:lnTo>
                  <a:pt x="2566115" y="0"/>
                </a:lnTo>
              </a:path>
            </a:pathLst>
          </a:custGeom>
          <a:noFill/>
          <a:ln w="38100">
            <a:solidFill>
              <a:srgbClr val="E44860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相频">
            <a:extLst>
              <a:ext uri="{FF2B5EF4-FFF2-40B4-BE49-F238E27FC236}">
                <a16:creationId xmlns:a16="http://schemas.microsoft.com/office/drawing/2014/main" id="{1C73F23D-7D8C-A052-B9D1-5A1482A7CAAF}"/>
              </a:ext>
            </a:extLst>
          </p:cNvPr>
          <p:cNvSpPr/>
          <p:nvPr/>
        </p:nvSpPr>
        <p:spPr>
          <a:xfrm flipV="1">
            <a:off x="8136143" y="4514616"/>
            <a:ext cx="3405164" cy="138556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721458"/>
              <a:gd name="connsiteY0" fmla="*/ 2172188 h 2172188"/>
              <a:gd name="connsiteX1" fmla="*/ 721458 w 721458"/>
              <a:gd name="connsiteY1" fmla="*/ 0 h 21721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0 w 886558"/>
              <a:gd name="connsiteY0" fmla="*/ 2108688 h 2108688"/>
              <a:gd name="connsiteX1" fmla="*/ 886558 w 886558"/>
              <a:gd name="connsiteY1" fmla="*/ 0 h 2108688"/>
              <a:gd name="connsiteX0" fmla="*/ 115 w 886673"/>
              <a:gd name="connsiteY0" fmla="*/ 2108688 h 2108688"/>
              <a:gd name="connsiteX1" fmla="*/ 886673 w 886673"/>
              <a:gd name="connsiteY1" fmla="*/ 0 h 2108688"/>
              <a:gd name="connsiteX0" fmla="*/ 117 w 886675"/>
              <a:gd name="connsiteY0" fmla="*/ 2108688 h 2108688"/>
              <a:gd name="connsiteX1" fmla="*/ 886675 w 886675"/>
              <a:gd name="connsiteY1" fmla="*/ 0 h 2108688"/>
              <a:gd name="connsiteX0" fmla="*/ 188597 w 188597"/>
              <a:gd name="connsiteY0" fmla="*/ 1375957 h 1375957"/>
              <a:gd name="connsiteX1" fmla="*/ 15420 w 188597"/>
              <a:gd name="connsiteY1" fmla="*/ 0 h 1375957"/>
              <a:gd name="connsiteX0" fmla="*/ 179891 w 301071"/>
              <a:gd name="connsiteY0" fmla="*/ 1375957 h 1585789"/>
              <a:gd name="connsiteX1" fmla="*/ 6714 w 301071"/>
              <a:gd name="connsiteY1" fmla="*/ 0 h 1585789"/>
              <a:gd name="connsiteX0" fmla="*/ 0 w 1219617"/>
              <a:gd name="connsiteY0" fmla="*/ 1067120 h 1383642"/>
              <a:gd name="connsiteX1" fmla="*/ 1219617 w 1219617"/>
              <a:gd name="connsiteY1" fmla="*/ 0 h 1383642"/>
              <a:gd name="connsiteX0" fmla="*/ 0 w 1219617"/>
              <a:gd name="connsiteY0" fmla="*/ 1067120 h 1144709"/>
              <a:gd name="connsiteX1" fmla="*/ 1219617 w 1219617"/>
              <a:gd name="connsiteY1" fmla="*/ 0 h 1144709"/>
              <a:gd name="connsiteX0" fmla="*/ 0 w 1219617"/>
              <a:gd name="connsiteY0" fmla="*/ 1067120 h 1106481"/>
              <a:gd name="connsiteX1" fmla="*/ 1219617 w 1219617"/>
              <a:gd name="connsiteY1" fmla="*/ 0 h 1106481"/>
              <a:gd name="connsiteX0" fmla="*/ 0 w 1219617"/>
              <a:gd name="connsiteY0" fmla="*/ 1067120 h 1067360"/>
              <a:gd name="connsiteX1" fmla="*/ 1219617 w 1219617"/>
              <a:gd name="connsiteY1" fmla="*/ 0 h 1067360"/>
              <a:gd name="connsiteX0" fmla="*/ 0 w 1219617"/>
              <a:gd name="connsiteY0" fmla="*/ 1067120 h 1067215"/>
              <a:gd name="connsiteX1" fmla="*/ 1219617 w 1219617"/>
              <a:gd name="connsiteY1" fmla="*/ 0 h 1067215"/>
              <a:gd name="connsiteX0" fmla="*/ 0 w 1219617"/>
              <a:gd name="connsiteY0" fmla="*/ 1008849 h 1008950"/>
              <a:gd name="connsiteX1" fmla="*/ 1219617 w 1219617"/>
              <a:gd name="connsiteY1" fmla="*/ 0 h 1008950"/>
              <a:gd name="connsiteX0" fmla="*/ 0 w 1219617"/>
              <a:gd name="connsiteY0" fmla="*/ 1008849 h 1008941"/>
              <a:gd name="connsiteX1" fmla="*/ 1219617 w 1219617"/>
              <a:gd name="connsiteY1" fmla="*/ 0 h 1008941"/>
              <a:gd name="connsiteX0" fmla="*/ 0 w 3104310"/>
              <a:gd name="connsiteY0" fmla="*/ 329015 h 329300"/>
              <a:gd name="connsiteX1" fmla="*/ 3104310 w 3104310"/>
              <a:gd name="connsiteY1" fmla="*/ 0 h 329300"/>
              <a:gd name="connsiteX0" fmla="*/ 0 w 3104310"/>
              <a:gd name="connsiteY0" fmla="*/ 330476 h 330724"/>
              <a:gd name="connsiteX1" fmla="*/ 3104310 w 3104310"/>
              <a:gd name="connsiteY1" fmla="*/ 1461 h 330724"/>
              <a:gd name="connsiteX0" fmla="*/ 0 w 3104310"/>
              <a:gd name="connsiteY0" fmla="*/ 330552 h 330553"/>
              <a:gd name="connsiteX1" fmla="*/ 3104310 w 3104310"/>
              <a:gd name="connsiteY1" fmla="*/ 1537 h 330553"/>
              <a:gd name="connsiteX0" fmla="*/ 0 w 3104310"/>
              <a:gd name="connsiteY0" fmla="*/ 330514 h 330518"/>
              <a:gd name="connsiteX1" fmla="*/ 3104310 w 3104310"/>
              <a:gd name="connsiteY1" fmla="*/ 1499 h 330518"/>
              <a:gd name="connsiteX0" fmla="*/ 0 w 3097047"/>
              <a:gd name="connsiteY0" fmla="*/ 747339 h 747341"/>
              <a:gd name="connsiteX1" fmla="*/ 3097047 w 3097047"/>
              <a:gd name="connsiteY1" fmla="*/ 711 h 747341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30"/>
              <a:gd name="connsiteX1" fmla="*/ 3097047 w 3097047"/>
              <a:gd name="connsiteY1" fmla="*/ 0 h 746630"/>
              <a:gd name="connsiteX0" fmla="*/ 0 w 3097047"/>
              <a:gd name="connsiteY0" fmla="*/ 746628 h 746628"/>
              <a:gd name="connsiteX1" fmla="*/ 3097047 w 3097047"/>
              <a:gd name="connsiteY1" fmla="*/ 0 h 746628"/>
              <a:gd name="connsiteX0" fmla="*/ 0 w 3097047"/>
              <a:gd name="connsiteY0" fmla="*/ 746938 h 746938"/>
              <a:gd name="connsiteX1" fmla="*/ 3097047 w 3097047"/>
              <a:gd name="connsiteY1" fmla="*/ 310 h 746938"/>
              <a:gd name="connsiteX0" fmla="*/ 0 w 3097047"/>
              <a:gd name="connsiteY0" fmla="*/ 746930 h 746932"/>
              <a:gd name="connsiteX1" fmla="*/ 3097047 w 3097047"/>
              <a:gd name="connsiteY1" fmla="*/ 302 h 746932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0 h 787857"/>
              <a:gd name="connsiteX1" fmla="*/ 3100678 w 3100678"/>
              <a:gd name="connsiteY1" fmla="*/ 787857 h 787857"/>
              <a:gd name="connsiteX0" fmla="*/ 0 w 3100678"/>
              <a:gd name="connsiteY0" fmla="*/ 64 h 787921"/>
              <a:gd name="connsiteX1" fmla="*/ 3100678 w 3100678"/>
              <a:gd name="connsiteY1" fmla="*/ 787921 h 787921"/>
              <a:gd name="connsiteX0" fmla="*/ 0 w 3100678"/>
              <a:gd name="connsiteY0" fmla="*/ 64 h 787923"/>
              <a:gd name="connsiteX1" fmla="*/ 3100678 w 3100678"/>
              <a:gd name="connsiteY1" fmla="*/ 787921 h 787923"/>
              <a:gd name="connsiteX0" fmla="*/ 0 w 3328991"/>
              <a:gd name="connsiteY0" fmla="*/ 64 h 845795"/>
              <a:gd name="connsiteX1" fmla="*/ 3100678 w 3328991"/>
              <a:gd name="connsiteY1" fmla="*/ 787921 h 845795"/>
              <a:gd name="connsiteX2" fmla="*/ 3095901 w 3328991"/>
              <a:gd name="connsiteY2" fmla="*/ 786225 h 845795"/>
              <a:gd name="connsiteX0" fmla="*/ 0 w 3346010"/>
              <a:gd name="connsiteY0" fmla="*/ 64 h 820441"/>
              <a:gd name="connsiteX1" fmla="*/ 3100678 w 3346010"/>
              <a:gd name="connsiteY1" fmla="*/ 787921 h 820441"/>
              <a:gd name="connsiteX2" fmla="*/ 3157635 w 3346010"/>
              <a:gd name="connsiteY2" fmla="*/ 611410 h 820441"/>
              <a:gd name="connsiteX0" fmla="*/ 96605 w 3254241"/>
              <a:gd name="connsiteY0" fmla="*/ 66 h 802690"/>
              <a:gd name="connsiteX1" fmla="*/ 2227701 w 3254241"/>
              <a:gd name="connsiteY1" fmla="*/ 768499 h 802690"/>
              <a:gd name="connsiteX2" fmla="*/ 3254240 w 3254241"/>
              <a:gd name="connsiteY2" fmla="*/ 611412 h 802690"/>
              <a:gd name="connsiteX0" fmla="*/ 0 w 3157636"/>
              <a:gd name="connsiteY0" fmla="*/ 78 h 802704"/>
              <a:gd name="connsiteX1" fmla="*/ 2131096 w 3157636"/>
              <a:gd name="connsiteY1" fmla="*/ 768511 h 802704"/>
              <a:gd name="connsiteX2" fmla="*/ 3157635 w 3157636"/>
              <a:gd name="connsiteY2" fmla="*/ 611424 h 802704"/>
              <a:gd name="connsiteX0" fmla="*/ 0 w 3088640"/>
              <a:gd name="connsiteY0" fmla="*/ 78 h 835624"/>
              <a:gd name="connsiteX1" fmla="*/ 2131096 w 3088640"/>
              <a:gd name="connsiteY1" fmla="*/ 768511 h 835624"/>
              <a:gd name="connsiteX2" fmla="*/ 3088639 w 3088640"/>
              <a:gd name="connsiteY2" fmla="*/ 795950 h 835624"/>
              <a:gd name="connsiteX0" fmla="*/ 0 w 3088639"/>
              <a:gd name="connsiteY0" fmla="*/ 106 h 795978"/>
              <a:gd name="connsiteX1" fmla="*/ 798375 w 3088639"/>
              <a:gd name="connsiteY1" fmla="*/ 603436 h 795978"/>
              <a:gd name="connsiteX2" fmla="*/ 3088639 w 3088639"/>
              <a:gd name="connsiteY2" fmla="*/ 795978 h 795978"/>
              <a:gd name="connsiteX0" fmla="*/ 0 w 3088639"/>
              <a:gd name="connsiteY0" fmla="*/ 100 h 795973"/>
              <a:gd name="connsiteX1" fmla="*/ 798375 w 3088639"/>
              <a:gd name="connsiteY1" fmla="*/ 603430 h 795973"/>
              <a:gd name="connsiteX2" fmla="*/ 3088639 w 3088639"/>
              <a:gd name="connsiteY2" fmla="*/ 795972 h 795973"/>
              <a:gd name="connsiteX0" fmla="*/ 0 w 3088639"/>
              <a:gd name="connsiteY0" fmla="*/ 86 h 795982"/>
              <a:gd name="connsiteX1" fmla="*/ 932736 w 3088639"/>
              <a:gd name="connsiteY1" fmla="*/ 690824 h 795982"/>
              <a:gd name="connsiteX2" fmla="*/ 3088639 w 3088639"/>
              <a:gd name="connsiteY2" fmla="*/ 795958 h 795982"/>
              <a:gd name="connsiteX0" fmla="*/ 0 w 3088639"/>
              <a:gd name="connsiteY0" fmla="*/ 0 h 795896"/>
              <a:gd name="connsiteX1" fmla="*/ 932736 w 3088639"/>
              <a:gd name="connsiteY1" fmla="*/ 690738 h 795896"/>
              <a:gd name="connsiteX2" fmla="*/ 3088639 w 3088639"/>
              <a:gd name="connsiteY2" fmla="*/ 795872 h 795896"/>
              <a:gd name="connsiteX0" fmla="*/ 0 w 3085008"/>
              <a:gd name="connsiteY0" fmla="*/ 0 h 690740"/>
              <a:gd name="connsiteX1" fmla="*/ 932736 w 3085008"/>
              <a:gd name="connsiteY1" fmla="*/ 690738 h 690740"/>
              <a:gd name="connsiteX2" fmla="*/ 3085008 w 3085008"/>
              <a:gd name="connsiteY2" fmla="*/ 9206 h 690740"/>
              <a:gd name="connsiteX0" fmla="*/ 0 w 3085008"/>
              <a:gd name="connsiteY0" fmla="*/ 0 h 593622"/>
              <a:gd name="connsiteX1" fmla="*/ 932736 w 3085008"/>
              <a:gd name="connsiteY1" fmla="*/ 593619 h 593622"/>
              <a:gd name="connsiteX2" fmla="*/ 3085008 w 3085008"/>
              <a:gd name="connsiteY2" fmla="*/ 9206 h 593622"/>
              <a:gd name="connsiteX0" fmla="*/ 0 w 3085008"/>
              <a:gd name="connsiteY0" fmla="*/ 0 h 595369"/>
              <a:gd name="connsiteX1" fmla="*/ 932736 w 3085008"/>
              <a:gd name="connsiteY1" fmla="*/ 593619 h 595369"/>
              <a:gd name="connsiteX2" fmla="*/ 3085008 w 3085008"/>
              <a:gd name="connsiteY2" fmla="*/ 9206 h 595369"/>
              <a:gd name="connsiteX0" fmla="*/ 0 w 3085008"/>
              <a:gd name="connsiteY0" fmla="*/ 0 h 595367"/>
              <a:gd name="connsiteX1" fmla="*/ 932736 w 3085008"/>
              <a:gd name="connsiteY1" fmla="*/ 593619 h 595367"/>
              <a:gd name="connsiteX2" fmla="*/ 3085008 w 3085008"/>
              <a:gd name="connsiteY2" fmla="*/ 9206 h 595367"/>
              <a:gd name="connsiteX0" fmla="*/ 0 w 3245462"/>
              <a:gd name="connsiteY0" fmla="*/ 31441 h 626809"/>
              <a:gd name="connsiteX1" fmla="*/ 932736 w 3245462"/>
              <a:gd name="connsiteY1" fmla="*/ 625060 h 626809"/>
              <a:gd name="connsiteX2" fmla="*/ 3085008 w 3245462"/>
              <a:gd name="connsiteY2" fmla="*/ 40647 h 626809"/>
              <a:gd name="connsiteX3" fmla="*/ 3088575 w 3245462"/>
              <a:gd name="connsiteY3" fmla="*/ 50186 h 626809"/>
              <a:gd name="connsiteX0" fmla="*/ 0 w 3253437"/>
              <a:gd name="connsiteY0" fmla="*/ 4355 h 599723"/>
              <a:gd name="connsiteX1" fmla="*/ 932736 w 3253437"/>
              <a:gd name="connsiteY1" fmla="*/ 597974 h 599723"/>
              <a:gd name="connsiteX2" fmla="*/ 3085008 w 3253437"/>
              <a:gd name="connsiteY2" fmla="*/ 13561 h 599723"/>
              <a:gd name="connsiteX3" fmla="*/ 3117626 w 3253437"/>
              <a:gd name="connsiteY3" fmla="*/ 363017 h 599723"/>
              <a:gd name="connsiteX0" fmla="*/ 0 w 3253437"/>
              <a:gd name="connsiteY0" fmla="*/ 4353 h 599721"/>
              <a:gd name="connsiteX1" fmla="*/ 932736 w 3253437"/>
              <a:gd name="connsiteY1" fmla="*/ 597972 h 599721"/>
              <a:gd name="connsiteX2" fmla="*/ 3085008 w 3253437"/>
              <a:gd name="connsiteY2" fmla="*/ 13559 h 599721"/>
              <a:gd name="connsiteX3" fmla="*/ 3117626 w 3253437"/>
              <a:gd name="connsiteY3" fmla="*/ 363015 h 599721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95368"/>
              <a:gd name="connsiteX1" fmla="*/ 932736 w 3085008"/>
              <a:gd name="connsiteY1" fmla="*/ 593619 h 595368"/>
              <a:gd name="connsiteX2" fmla="*/ 3085008 w 3085008"/>
              <a:gd name="connsiteY2" fmla="*/ 9206 h 595368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7285"/>
              <a:gd name="connsiteX1" fmla="*/ 772955 w 3085008"/>
              <a:gd name="connsiteY1" fmla="*/ 535347 h 537285"/>
              <a:gd name="connsiteX2" fmla="*/ 3085008 w 3085008"/>
              <a:gd name="connsiteY2" fmla="*/ 9206 h 537285"/>
              <a:gd name="connsiteX0" fmla="*/ 0 w 3085008"/>
              <a:gd name="connsiteY0" fmla="*/ 0 h 535350"/>
              <a:gd name="connsiteX1" fmla="*/ 772955 w 3085008"/>
              <a:gd name="connsiteY1" fmla="*/ 535347 h 535350"/>
              <a:gd name="connsiteX2" fmla="*/ 3085008 w 3085008"/>
              <a:gd name="connsiteY2" fmla="*/ 9206 h 535350"/>
              <a:gd name="connsiteX0" fmla="*/ 1207605 w 2346186"/>
              <a:gd name="connsiteY0" fmla="*/ 0 h 972386"/>
              <a:gd name="connsiteX1" fmla="*/ 34133 w 2346186"/>
              <a:gd name="connsiteY1" fmla="*/ 972383 h 972386"/>
              <a:gd name="connsiteX2" fmla="*/ 2346186 w 2346186"/>
              <a:gd name="connsiteY2" fmla="*/ 446242 h 972386"/>
              <a:gd name="connsiteX0" fmla="*/ 41748 w 1180329"/>
              <a:gd name="connsiteY0" fmla="*/ 0 h 545080"/>
              <a:gd name="connsiteX1" fmla="*/ 230049 w 1180329"/>
              <a:gd name="connsiteY1" fmla="*/ 545059 h 545080"/>
              <a:gd name="connsiteX2" fmla="*/ 1180329 w 1180329"/>
              <a:gd name="connsiteY2" fmla="*/ 446242 h 545080"/>
              <a:gd name="connsiteX0" fmla="*/ 232937 w 1070112"/>
              <a:gd name="connsiteY0" fmla="*/ 0 h 1077954"/>
              <a:gd name="connsiteX1" fmla="*/ 421238 w 1070112"/>
              <a:gd name="connsiteY1" fmla="*/ 545059 h 1077954"/>
              <a:gd name="connsiteX2" fmla="*/ 1070112 w 1070112"/>
              <a:gd name="connsiteY2" fmla="*/ 1077516 h 1077954"/>
              <a:gd name="connsiteX0" fmla="*/ 0 w 837175"/>
              <a:gd name="connsiteY0" fmla="*/ 0 h 1077517"/>
              <a:gd name="connsiteX1" fmla="*/ 188301 w 837175"/>
              <a:gd name="connsiteY1" fmla="*/ 545059 h 1077517"/>
              <a:gd name="connsiteX2" fmla="*/ 837175 w 837175"/>
              <a:gd name="connsiteY2" fmla="*/ 1077516 h 1077517"/>
              <a:gd name="connsiteX0" fmla="*/ 0 w 837175"/>
              <a:gd name="connsiteY0" fmla="*/ 0 h 1077515"/>
              <a:gd name="connsiteX1" fmla="*/ 188301 w 837175"/>
              <a:gd name="connsiteY1" fmla="*/ 545059 h 1077515"/>
              <a:gd name="connsiteX2" fmla="*/ 837175 w 837175"/>
              <a:gd name="connsiteY2" fmla="*/ 1077516 h 1077515"/>
              <a:gd name="connsiteX0" fmla="*/ 0 w 782704"/>
              <a:gd name="connsiteY0" fmla="*/ 0 h 1145500"/>
              <a:gd name="connsiteX1" fmla="*/ 133830 w 782704"/>
              <a:gd name="connsiteY1" fmla="*/ 613042 h 1145500"/>
              <a:gd name="connsiteX2" fmla="*/ 782704 w 782704"/>
              <a:gd name="connsiteY2" fmla="*/ 1145499 h 1145500"/>
              <a:gd name="connsiteX0" fmla="*/ 31539 w 814243"/>
              <a:gd name="connsiteY0" fmla="*/ 0 h 1145498"/>
              <a:gd name="connsiteX1" fmla="*/ 165369 w 814243"/>
              <a:gd name="connsiteY1" fmla="*/ 613042 h 1145498"/>
              <a:gd name="connsiteX2" fmla="*/ 814243 w 814243"/>
              <a:gd name="connsiteY2" fmla="*/ 1145499 h 1145498"/>
              <a:gd name="connsiteX0" fmla="*/ 31539 w 389370"/>
              <a:gd name="connsiteY0" fmla="*/ 0 h 1232907"/>
              <a:gd name="connsiteX1" fmla="*/ 165369 w 389370"/>
              <a:gd name="connsiteY1" fmla="*/ 613042 h 1232907"/>
              <a:gd name="connsiteX2" fmla="*/ 389370 w 389370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381765"/>
              <a:gd name="connsiteY0" fmla="*/ 0 h 1232907"/>
              <a:gd name="connsiteX1" fmla="*/ 157764 w 381765"/>
              <a:gd name="connsiteY1" fmla="*/ 613042 h 1232907"/>
              <a:gd name="connsiteX2" fmla="*/ 381765 w 381765"/>
              <a:gd name="connsiteY2" fmla="*/ 1232907 h 1232907"/>
              <a:gd name="connsiteX0" fmla="*/ 23934 w 157764"/>
              <a:gd name="connsiteY0" fmla="*/ 0 h 613042"/>
              <a:gd name="connsiteX1" fmla="*/ 157764 w 157764"/>
              <a:gd name="connsiteY1" fmla="*/ 613042 h 613042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46403"/>
              <a:gd name="connsiteY0" fmla="*/ 0 h 1108350"/>
              <a:gd name="connsiteX1" fmla="*/ 246403 w 246403"/>
              <a:gd name="connsiteY1" fmla="*/ 1108350 h 1108350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268191"/>
              <a:gd name="connsiteY0" fmla="*/ 0 h 1224893"/>
              <a:gd name="connsiteX1" fmla="*/ 268191 w 268191"/>
              <a:gd name="connsiteY1" fmla="*/ 1224893 h 1224893"/>
              <a:gd name="connsiteX0" fmla="*/ 0 w 300874"/>
              <a:gd name="connsiteY0" fmla="*/ 0 h 1700777"/>
              <a:gd name="connsiteX1" fmla="*/ 300874 w 300874"/>
              <a:gd name="connsiteY1" fmla="*/ 1700777 h 170077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19031"/>
              <a:gd name="connsiteY0" fmla="*/ 0 h 1749337"/>
              <a:gd name="connsiteX1" fmla="*/ 319031 w 319031"/>
              <a:gd name="connsiteY1" fmla="*/ 1749337 h 1749337"/>
              <a:gd name="connsiteX0" fmla="*/ 0 w 366239"/>
              <a:gd name="connsiteY0" fmla="*/ 0 h 1875592"/>
              <a:gd name="connsiteX1" fmla="*/ 366239 w 366239"/>
              <a:gd name="connsiteY1" fmla="*/ 1875592 h 1875592"/>
              <a:gd name="connsiteX0" fmla="*/ 0 w 408364"/>
              <a:gd name="connsiteY0" fmla="*/ 0 h 1679236"/>
              <a:gd name="connsiteX1" fmla="*/ 408364 w 408364"/>
              <a:gd name="connsiteY1" fmla="*/ 1679236 h 1679236"/>
              <a:gd name="connsiteX0" fmla="*/ 0 w 408364"/>
              <a:gd name="connsiteY0" fmla="*/ 0 h 1776726"/>
              <a:gd name="connsiteX1" fmla="*/ 408364 w 408364"/>
              <a:gd name="connsiteY1" fmla="*/ 1679236 h 1776726"/>
              <a:gd name="connsiteX0" fmla="*/ 0 w 459850"/>
              <a:gd name="connsiteY0" fmla="*/ 0 h 1681277"/>
              <a:gd name="connsiteX1" fmla="*/ 459850 w 459850"/>
              <a:gd name="connsiteY1" fmla="*/ 1577131 h 1681277"/>
              <a:gd name="connsiteX0" fmla="*/ 0 w 459850"/>
              <a:gd name="connsiteY0" fmla="*/ 0 h 1917866"/>
              <a:gd name="connsiteX1" fmla="*/ 459850 w 459850"/>
              <a:gd name="connsiteY1" fmla="*/ 1577131 h 1917866"/>
              <a:gd name="connsiteX0" fmla="*/ 0 w 773449"/>
              <a:gd name="connsiteY0" fmla="*/ 0 h 1590845"/>
              <a:gd name="connsiteX1" fmla="*/ 773449 w 773449"/>
              <a:gd name="connsiteY1" fmla="*/ 1192274 h 1590845"/>
              <a:gd name="connsiteX0" fmla="*/ 0 w 773449"/>
              <a:gd name="connsiteY0" fmla="*/ 0 h 1582461"/>
              <a:gd name="connsiteX1" fmla="*/ 773449 w 773449"/>
              <a:gd name="connsiteY1" fmla="*/ 1192274 h 1582461"/>
              <a:gd name="connsiteX0" fmla="*/ 0 w 810894"/>
              <a:gd name="connsiteY0" fmla="*/ 0 h 1802302"/>
              <a:gd name="connsiteX1" fmla="*/ 810894 w 810894"/>
              <a:gd name="connsiteY1" fmla="*/ 1451463 h 1802302"/>
              <a:gd name="connsiteX0" fmla="*/ 0 w 1166618"/>
              <a:gd name="connsiteY0" fmla="*/ 0 h 2176080"/>
              <a:gd name="connsiteX1" fmla="*/ 1166618 w 1166618"/>
              <a:gd name="connsiteY1" fmla="*/ 1875591 h 2176080"/>
              <a:gd name="connsiteX0" fmla="*/ 0 w 1166618"/>
              <a:gd name="connsiteY0" fmla="*/ 0 h 2368755"/>
              <a:gd name="connsiteX1" fmla="*/ 1166618 w 1166618"/>
              <a:gd name="connsiteY1" fmla="*/ 1875591 h 2368755"/>
              <a:gd name="connsiteX0" fmla="*/ 0 w 1016839"/>
              <a:gd name="connsiteY0" fmla="*/ 0 h 2736089"/>
              <a:gd name="connsiteX1" fmla="*/ 1016839 w 1016839"/>
              <a:gd name="connsiteY1" fmla="*/ 2291865 h 2736089"/>
              <a:gd name="connsiteX0" fmla="*/ 0 w 998117"/>
              <a:gd name="connsiteY0" fmla="*/ 0 h 2540793"/>
              <a:gd name="connsiteX1" fmla="*/ 998117 w 998117"/>
              <a:gd name="connsiteY1" fmla="*/ 2071947 h 2540793"/>
              <a:gd name="connsiteX0" fmla="*/ 0 w 932589"/>
              <a:gd name="connsiteY0" fmla="*/ 0 h 2375590"/>
              <a:gd name="connsiteX1" fmla="*/ 932589 w 932589"/>
              <a:gd name="connsiteY1" fmla="*/ 1883446 h 2375590"/>
              <a:gd name="connsiteX0" fmla="*/ 0 w 932589"/>
              <a:gd name="connsiteY0" fmla="*/ 0 h 2253150"/>
              <a:gd name="connsiteX1" fmla="*/ 932589 w 932589"/>
              <a:gd name="connsiteY1" fmla="*/ 1883446 h 2253150"/>
              <a:gd name="connsiteX0" fmla="*/ 0 w 890464"/>
              <a:gd name="connsiteY0" fmla="*/ 0 h 2046209"/>
              <a:gd name="connsiteX1" fmla="*/ 890464 w 890464"/>
              <a:gd name="connsiteY1" fmla="*/ 1647819 h 2046209"/>
              <a:gd name="connsiteX0" fmla="*/ 0 w 867061"/>
              <a:gd name="connsiteY0" fmla="*/ 0 h 2066714"/>
              <a:gd name="connsiteX1" fmla="*/ 867061 w 867061"/>
              <a:gd name="connsiteY1" fmla="*/ 1671382 h 2066714"/>
              <a:gd name="connsiteX0" fmla="*/ 0 w 1793818"/>
              <a:gd name="connsiteY0" fmla="*/ 0 h 1218122"/>
              <a:gd name="connsiteX1" fmla="*/ 1793818 w 1793818"/>
              <a:gd name="connsiteY1" fmla="*/ 626771 h 1218122"/>
              <a:gd name="connsiteX0" fmla="*/ 0 w 2509948"/>
              <a:gd name="connsiteY0" fmla="*/ 1713788 h 2003431"/>
              <a:gd name="connsiteX1" fmla="*/ 2509948 w 2509948"/>
              <a:gd name="connsiteY1" fmla="*/ 0 h 2003431"/>
              <a:gd name="connsiteX0" fmla="*/ 0 w 2509948"/>
              <a:gd name="connsiteY0" fmla="*/ 1713788 h 1902539"/>
              <a:gd name="connsiteX1" fmla="*/ 2509948 w 2509948"/>
              <a:gd name="connsiteY1" fmla="*/ 0 h 1902539"/>
              <a:gd name="connsiteX0" fmla="*/ 0 w 2509948"/>
              <a:gd name="connsiteY0" fmla="*/ 1713788 h 1713788"/>
              <a:gd name="connsiteX1" fmla="*/ 2509948 w 2509948"/>
              <a:gd name="connsiteY1" fmla="*/ 0 h 1713788"/>
              <a:gd name="connsiteX0" fmla="*/ 0 w 2509948"/>
              <a:gd name="connsiteY0" fmla="*/ 1713788 h 1713788"/>
              <a:gd name="connsiteX1" fmla="*/ 2509948 w 2509948"/>
              <a:gd name="connsiteY1" fmla="*/ 0 h 171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948" h="1713788">
                <a:moveTo>
                  <a:pt x="0" y="1713788"/>
                </a:moveTo>
                <a:cubicBezTo>
                  <a:pt x="1284510" y="1700928"/>
                  <a:pt x="2032408" y="21277"/>
                  <a:pt x="2509948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-20">
                <a:extLst>
                  <a:ext uri="{FF2B5EF4-FFF2-40B4-BE49-F238E27FC236}">
                    <a16:creationId xmlns:a16="http://schemas.microsoft.com/office/drawing/2014/main" id="{D6EB9B97-5298-089A-361A-01BE27E0BA2C}"/>
                  </a:ext>
                </a:extLst>
              </p:cNvPr>
              <p:cNvSpPr txBox="1"/>
              <p:nvPr/>
            </p:nvSpPr>
            <p:spPr>
              <a:xfrm>
                <a:off x="8638731" y="2948600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8" name="-20">
                <a:extLst>
                  <a:ext uri="{FF2B5EF4-FFF2-40B4-BE49-F238E27FC236}">
                    <a16:creationId xmlns:a16="http://schemas.microsoft.com/office/drawing/2014/main" id="{D6EB9B97-5298-089A-361A-01BE27E0B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731" y="2948600"/>
                <a:ext cx="801224" cy="524695"/>
              </a:xfrm>
              <a:prstGeom prst="rect">
                <a:avLst/>
              </a:prstGeom>
              <a:blipFill>
                <a:blip r:embed="rId17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-40">
                <a:extLst>
                  <a:ext uri="{FF2B5EF4-FFF2-40B4-BE49-F238E27FC236}">
                    <a16:creationId xmlns:a16="http://schemas.microsoft.com/office/drawing/2014/main" id="{05594FB2-7BA2-8064-40BC-4759E7940670}"/>
                  </a:ext>
                </a:extLst>
              </p:cNvPr>
              <p:cNvSpPr txBox="1"/>
              <p:nvPr/>
            </p:nvSpPr>
            <p:spPr>
              <a:xfrm>
                <a:off x="10504265" y="4296622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−40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-40">
                <a:extLst>
                  <a:ext uri="{FF2B5EF4-FFF2-40B4-BE49-F238E27FC236}">
                    <a16:creationId xmlns:a16="http://schemas.microsoft.com/office/drawing/2014/main" id="{05594FB2-7BA2-8064-40BC-4759E7940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265" y="4296622"/>
                <a:ext cx="801224" cy="524695"/>
              </a:xfrm>
              <a:prstGeom prst="rect">
                <a:avLst/>
              </a:prstGeom>
              <a:blipFill>
                <a:blip r:embed="rId18"/>
                <a:stretch>
                  <a:fillRect r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-60">
                <a:extLst>
                  <a:ext uri="{FF2B5EF4-FFF2-40B4-BE49-F238E27FC236}">
                    <a16:creationId xmlns:a16="http://schemas.microsoft.com/office/drawing/2014/main" id="{40FBCF4D-E1DA-6EF1-8B72-91AF963B5A64}"/>
                  </a:ext>
                </a:extLst>
              </p:cNvPr>
              <p:cNvSpPr txBox="1"/>
              <p:nvPr/>
            </p:nvSpPr>
            <p:spPr>
              <a:xfrm>
                <a:off x="10922529" y="4805388"/>
                <a:ext cx="801224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−60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" name="-60">
                <a:extLst>
                  <a:ext uri="{FF2B5EF4-FFF2-40B4-BE49-F238E27FC236}">
                    <a16:creationId xmlns:a16="http://schemas.microsoft.com/office/drawing/2014/main" id="{40FBCF4D-E1DA-6EF1-8B72-91AF963B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529" y="4805388"/>
                <a:ext cx="801224" cy="524695"/>
              </a:xfrm>
              <a:prstGeom prst="rect">
                <a:avLst/>
              </a:prstGeom>
              <a:blipFill>
                <a:blip r:embed="rId19"/>
                <a:stretch>
                  <a:fillRect r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wc交点2">
            <a:extLst>
              <a:ext uri="{FF2B5EF4-FFF2-40B4-BE49-F238E27FC236}">
                <a16:creationId xmlns:a16="http://schemas.microsoft.com/office/drawing/2014/main" id="{BEA45665-34B4-0EDC-2066-28C520FD04DA}"/>
              </a:ext>
            </a:extLst>
          </p:cNvPr>
          <p:cNvSpPr/>
          <p:nvPr/>
        </p:nvSpPr>
        <p:spPr>
          <a:xfrm>
            <a:off x="9378621" y="3724704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wg交点2">
            <a:extLst>
              <a:ext uri="{FF2B5EF4-FFF2-40B4-BE49-F238E27FC236}">
                <a16:creationId xmlns:a16="http://schemas.microsoft.com/office/drawing/2014/main" id="{AD055455-6CBF-8C48-6B91-6EBE77F6F341}"/>
              </a:ext>
            </a:extLst>
          </p:cNvPr>
          <p:cNvSpPr/>
          <p:nvPr/>
        </p:nvSpPr>
        <p:spPr>
          <a:xfrm>
            <a:off x="10169463" y="513631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3" name="截止频率辅助线">
            <a:extLst>
              <a:ext uri="{FF2B5EF4-FFF2-40B4-BE49-F238E27FC236}">
                <a16:creationId xmlns:a16="http://schemas.microsoft.com/office/drawing/2014/main" id="{BA163BEA-76D7-FD73-33E6-B2656BB29178}"/>
              </a:ext>
            </a:extLst>
          </p:cNvPr>
          <p:cNvCxnSpPr>
            <a:cxnSpLocks/>
            <a:stCxn id="61" idx="4"/>
            <a:endCxn id="76" idx="0"/>
          </p:cNvCxnSpPr>
          <p:nvPr/>
        </p:nvCxnSpPr>
        <p:spPr>
          <a:xfrm flipH="1">
            <a:off x="9439501" y="3847456"/>
            <a:ext cx="496" cy="886620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wc2">
                <a:extLst>
                  <a:ext uri="{FF2B5EF4-FFF2-40B4-BE49-F238E27FC236}">
                    <a16:creationId xmlns:a16="http://schemas.microsoft.com/office/drawing/2014/main" id="{617C3018-FA3E-DC5F-B92B-3509E20E7EF0}"/>
                  </a:ext>
                </a:extLst>
              </p:cNvPr>
              <p:cNvSpPr txBox="1"/>
              <p:nvPr/>
            </p:nvSpPr>
            <p:spPr>
              <a:xfrm>
                <a:off x="9258233" y="3803557"/>
                <a:ext cx="801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" name="wc2">
                <a:extLst>
                  <a:ext uri="{FF2B5EF4-FFF2-40B4-BE49-F238E27FC236}">
                    <a16:creationId xmlns:a16="http://schemas.microsoft.com/office/drawing/2014/main" id="{617C3018-FA3E-DC5F-B92B-3509E20E7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233" y="3803557"/>
                <a:ext cx="801225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gamma2">
                <a:extLst>
                  <a:ext uri="{FF2B5EF4-FFF2-40B4-BE49-F238E27FC236}">
                    <a16:creationId xmlns:a16="http://schemas.microsoft.com/office/drawing/2014/main" id="{23EF9403-48AB-F954-9DE2-64E1C112C8F5}"/>
                  </a:ext>
                </a:extLst>
              </p:cNvPr>
              <p:cNvSpPr txBox="1"/>
              <p:nvPr/>
            </p:nvSpPr>
            <p:spPr>
              <a:xfrm>
                <a:off x="9408617" y="4717547"/>
                <a:ext cx="4216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" name="gamma2">
                <a:extLst>
                  <a:ext uri="{FF2B5EF4-FFF2-40B4-BE49-F238E27FC236}">
                    <a16:creationId xmlns:a16="http://schemas.microsoft.com/office/drawing/2014/main" id="{23EF9403-48AB-F954-9DE2-64E1C112C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617" y="4717547"/>
                <a:ext cx="421699" cy="523220"/>
              </a:xfrm>
              <a:prstGeom prst="rect">
                <a:avLst/>
              </a:prstGeom>
              <a:blipFill>
                <a:blip r:embed="rId21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wg2">
                <a:extLst>
                  <a:ext uri="{FF2B5EF4-FFF2-40B4-BE49-F238E27FC236}">
                    <a16:creationId xmlns:a16="http://schemas.microsoft.com/office/drawing/2014/main" id="{65E79505-C444-CE05-C161-61154557F7C4}"/>
                  </a:ext>
                </a:extLst>
              </p:cNvPr>
              <p:cNvSpPr txBox="1"/>
              <p:nvPr/>
            </p:nvSpPr>
            <p:spPr>
              <a:xfrm>
                <a:off x="9806954" y="5150258"/>
                <a:ext cx="545352" cy="558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" name="wg2">
                <a:extLst>
                  <a:ext uri="{FF2B5EF4-FFF2-40B4-BE49-F238E27FC236}">
                    <a16:creationId xmlns:a16="http://schemas.microsoft.com/office/drawing/2014/main" id="{65E79505-C444-CE05-C161-61154557F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954" y="5150258"/>
                <a:ext cx="545352" cy="558230"/>
              </a:xfrm>
              <a:prstGeom prst="rect">
                <a:avLst/>
              </a:prstGeom>
              <a:blipFill>
                <a:blip r:embed="rId22"/>
                <a:stretch>
                  <a:fillRect r="-6818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穿越频率辅助线">
            <a:extLst>
              <a:ext uri="{FF2B5EF4-FFF2-40B4-BE49-F238E27FC236}">
                <a16:creationId xmlns:a16="http://schemas.microsoft.com/office/drawing/2014/main" id="{79EC832D-0DBE-B3F4-95E9-39E4A23EEA92}"/>
              </a:ext>
            </a:extLst>
          </p:cNvPr>
          <p:cNvCxnSpPr>
            <a:cxnSpLocks/>
            <a:stCxn id="77" idx="4"/>
            <a:endCxn id="62" idx="0"/>
          </p:cNvCxnSpPr>
          <p:nvPr/>
        </p:nvCxnSpPr>
        <p:spPr>
          <a:xfrm flipH="1">
            <a:off x="10230839" y="4435116"/>
            <a:ext cx="6296" cy="701203"/>
          </a:xfrm>
          <a:prstGeom prst="line">
            <a:avLst/>
          </a:prstGeom>
          <a:ln w="254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幅值裕度label">
                <a:extLst>
                  <a:ext uri="{FF2B5EF4-FFF2-40B4-BE49-F238E27FC236}">
                    <a16:creationId xmlns:a16="http://schemas.microsoft.com/office/drawing/2014/main" id="{940B12BD-87E1-0A24-F314-5076CEE31B5B}"/>
                  </a:ext>
                </a:extLst>
              </p:cNvPr>
              <p:cNvSpPr txBox="1"/>
              <p:nvPr/>
            </p:nvSpPr>
            <p:spPr>
              <a:xfrm>
                <a:off x="10268003" y="3875312"/>
                <a:ext cx="91747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5" name="幅值裕度label">
                <a:extLst>
                  <a:ext uri="{FF2B5EF4-FFF2-40B4-BE49-F238E27FC236}">
                    <a16:creationId xmlns:a16="http://schemas.microsoft.com/office/drawing/2014/main" id="{940B12BD-87E1-0A24-F314-5076CEE31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8003" y="3875312"/>
                <a:ext cx="917477" cy="523220"/>
              </a:xfrm>
              <a:prstGeom prst="rect">
                <a:avLst/>
              </a:prstGeom>
              <a:blipFill>
                <a:blip r:embed="rId23"/>
                <a:stretch>
                  <a:fillRect l="-4110" r="-3150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幅相交点">
            <a:extLst>
              <a:ext uri="{FF2B5EF4-FFF2-40B4-BE49-F238E27FC236}">
                <a16:creationId xmlns:a16="http://schemas.microsoft.com/office/drawing/2014/main" id="{5470F24C-964B-6945-D07B-C5D0422A88FC}"/>
              </a:ext>
            </a:extLst>
          </p:cNvPr>
          <p:cNvSpPr/>
          <p:nvPr/>
        </p:nvSpPr>
        <p:spPr>
          <a:xfrm>
            <a:off x="9378125" y="4734076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幅频交点">
            <a:extLst>
              <a:ext uri="{FF2B5EF4-FFF2-40B4-BE49-F238E27FC236}">
                <a16:creationId xmlns:a16="http://schemas.microsoft.com/office/drawing/2014/main" id="{C8225055-DF5E-7C9B-1574-C3A6914DF556}"/>
              </a:ext>
            </a:extLst>
          </p:cNvPr>
          <p:cNvSpPr/>
          <p:nvPr/>
        </p:nvSpPr>
        <p:spPr>
          <a:xfrm>
            <a:off x="10175759" y="4312364"/>
            <a:ext cx="122752" cy="1227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相角裕度双箭头">
            <a:extLst>
              <a:ext uri="{FF2B5EF4-FFF2-40B4-BE49-F238E27FC236}">
                <a16:creationId xmlns:a16="http://schemas.microsoft.com/office/drawing/2014/main" id="{F5518055-CBB9-3951-9255-71446968AD19}"/>
              </a:ext>
            </a:extLst>
          </p:cNvPr>
          <p:cNvCxnSpPr>
            <a:cxnSpLocks/>
            <a:stCxn id="76" idx="4"/>
          </p:cNvCxnSpPr>
          <p:nvPr/>
        </p:nvCxnSpPr>
        <p:spPr>
          <a:xfrm>
            <a:off x="9439501" y="4856828"/>
            <a:ext cx="0" cy="342212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幅值裕度双箭头2">
            <a:extLst>
              <a:ext uri="{FF2B5EF4-FFF2-40B4-BE49-F238E27FC236}">
                <a16:creationId xmlns:a16="http://schemas.microsoft.com/office/drawing/2014/main" id="{A7345E2F-E7BD-3AB9-089E-246EA8D36007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10237135" y="3773464"/>
            <a:ext cx="0" cy="53890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频率特性">
                <a:extLst>
                  <a:ext uri="{FF2B5EF4-FFF2-40B4-BE49-F238E27FC236}">
                    <a16:creationId xmlns:a16="http://schemas.microsoft.com/office/drawing/2014/main" id="{CDBD8516-85D9-A23F-79BA-49C535F3E1E6}"/>
                  </a:ext>
                </a:extLst>
              </p:cNvPr>
              <p:cNvSpPr txBox="1"/>
              <p:nvPr/>
            </p:nvSpPr>
            <p:spPr>
              <a:xfrm>
                <a:off x="276616" y="3353623"/>
                <a:ext cx="61672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=180°+∠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𝑗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(3.16)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0" name="频率特性">
                <a:extLst>
                  <a:ext uri="{FF2B5EF4-FFF2-40B4-BE49-F238E27FC236}">
                    <a16:creationId xmlns:a16="http://schemas.microsoft.com/office/drawing/2014/main" id="{CDBD8516-85D9-A23F-79BA-49C535F3E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16" y="3353623"/>
                <a:ext cx="6167214" cy="523220"/>
              </a:xfrm>
              <a:prstGeom prst="rect">
                <a:avLst/>
              </a:prstGeom>
              <a:blipFill>
                <a:blip r:embed="rId24"/>
                <a:stretch>
                  <a:fillRect r="-82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频率特性">
                <a:extLst>
                  <a:ext uri="{FF2B5EF4-FFF2-40B4-BE49-F238E27FC236}">
                    <a16:creationId xmlns:a16="http://schemas.microsoft.com/office/drawing/2014/main" id="{34CB30D2-6B23-38EF-4672-4A51A1D0EBB8}"/>
                  </a:ext>
                </a:extLst>
              </p:cNvPr>
              <p:cNvSpPr txBox="1"/>
              <p:nvPr/>
            </p:nvSpPr>
            <p:spPr>
              <a:xfrm>
                <a:off x="581806" y="3855779"/>
                <a:ext cx="6167214" cy="59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=180°−90°−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3.16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box>
                            <m:box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3.16</m:t>
                                  </m:r>
                                </m:num>
                                <m:den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box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" name="频率特性">
                <a:extLst>
                  <a:ext uri="{FF2B5EF4-FFF2-40B4-BE49-F238E27FC236}">
                    <a16:creationId xmlns:a16="http://schemas.microsoft.com/office/drawing/2014/main" id="{34CB30D2-6B23-38EF-4672-4A51A1D0E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06" y="3855779"/>
                <a:ext cx="6167214" cy="598241"/>
              </a:xfrm>
              <a:prstGeom prst="rect">
                <a:avLst/>
              </a:prstGeom>
              <a:blipFill>
                <a:blip r:embed="rId2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频率特性">
                <a:extLst>
                  <a:ext uri="{FF2B5EF4-FFF2-40B4-BE49-F238E27FC236}">
                    <a16:creationId xmlns:a16="http://schemas.microsoft.com/office/drawing/2014/main" id="{EC535E12-8F97-E01A-4288-604A6DEE5081}"/>
                  </a:ext>
                </a:extLst>
              </p:cNvPr>
              <p:cNvSpPr txBox="1"/>
              <p:nvPr/>
            </p:nvSpPr>
            <p:spPr>
              <a:xfrm>
                <a:off x="615154" y="4447789"/>
                <a:ext cx="64390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=90°−57.67°−17.54°=14.8°&lt;18.5°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频率特性">
                <a:extLst>
                  <a:ext uri="{FF2B5EF4-FFF2-40B4-BE49-F238E27FC236}">
                    <a16:creationId xmlns:a16="http://schemas.microsoft.com/office/drawing/2014/main" id="{EC535E12-8F97-E01A-4288-604A6DEE5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54" y="4447789"/>
                <a:ext cx="6439056" cy="523220"/>
              </a:xfrm>
              <a:prstGeom prst="rect">
                <a:avLst/>
              </a:prstGeom>
              <a:blipFill>
                <a:blip r:embed="rId26"/>
                <a:stretch>
                  <a:fillRect r="-5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862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31" grpId="0"/>
      <p:bldP spid="34" grpId="0"/>
      <p:bldP spid="35" grpId="0"/>
      <p:bldP spid="80" grpId="0"/>
      <p:bldP spid="81" grpId="0"/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8D06264A-B6EC-4395-4FB0-7EA89B61839F}"/>
              </a:ext>
            </a:extLst>
          </p:cNvPr>
          <p:cNvGrpSpPr/>
          <p:nvPr/>
        </p:nvGrpSpPr>
        <p:grpSpPr>
          <a:xfrm>
            <a:off x="235858" y="891531"/>
            <a:ext cx="8811676" cy="1455404"/>
            <a:chOff x="2515563" y="3741795"/>
            <a:chExt cx="8811676" cy="145540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D90BED49-4753-5CA8-627B-5882D3E76E90}"/>
                </a:ext>
              </a:extLst>
            </p:cNvPr>
            <p:cNvSpPr txBox="1"/>
            <p:nvPr/>
          </p:nvSpPr>
          <p:spPr>
            <a:xfrm>
              <a:off x="2515563" y="4101629"/>
              <a:ext cx="8811676" cy="109557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400" dirty="0">
                  <a:latin typeface="Menlo" panose="020B0609030804020204" pitchFamily="49" charset="0"/>
                </a:rPr>
                <a:t>G = </a:t>
              </a:r>
              <a:r>
                <a:rPr lang="en" altLang="zh-CN" sz="2400" dirty="0" err="1">
                  <a:latin typeface="Menlo" panose="020B0609030804020204" pitchFamily="49" charset="0"/>
                </a:rPr>
                <a:t>zpk</a:t>
              </a:r>
              <a:r>
                <a:rPr lang="en" altLang="zh-CN" sz="2400" dirty="0">
                  <a:latin typeface="Menlo" panose="020B0609030804020204" pitchFamily="49" charset="0"/>
                </a:rPr>
                <a:t>([],[0,-2,-10],100); 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零极点形式开环传函</a:t>
              </a:r>
              <a:endParaRPr lang="zh-CN" altLang="en-US" sz="2400" dirty="0">
                <a:latin typeface="Menlo" panose="020B0609030804020204" pitchFamily="49" charset="0"/>
              </a:endParaRPr>
            </a:p>
            <a:p>
              <a:r>
                <a:rPr lang="en" altLang="zh-CN" sz="2400" dirty="0">
                  <a:latin typeface="Menlo" panose="020B0609030804020204" pitchFamily="49" charset="0"/>
                </a:rPr>
                <a:t>margin(G) 		</a:t>
              </a:r>
              <a:r>
                <a:rPr lang="en" altLang="zh-CN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4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绘制伯德图同时标识稳定裕度</a:t>
              </a:r>
              <a:endParaRPr lang="zh-CN" altLang="en-US" sz="2400" dirty="0">
                <a:latin typeface="Menlo" panose="020B0609030804020204" pitchFamily="49" charset="0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DB835766-3C9D-C9F3-6B7A-BCDF0AF836D7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">
                <a:extLst>
                  <a:ext uri="{FF2B5EF4-FFF2-40B4-BE49-F238E27FC236}">
                    <a16:creationId xmlns:a16="http://schemas.microsoft.com/office/drawing/2014/main" id="{1EC86311-FDF2-5CF8-3D46-E07B75F5569C}"/>
                  </a:ext>
                </a:extLst>
              </p:cNvPr>
              <p:cNvSpPr txBox="1"/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稳定裕度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𝜸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𝒉</m:t>
                    </m:r>
                  </m:oMath>
                </a14:m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的计算</a:t>
                </a:r>
              </a:p>
            </p:txBody>
          </p:sp>
        </mc:Choice>
        <mc:Fallback xmlns="">
          <p:sp>
            <p:nvSpPr>
              <p:cNvPr id="5" name="标题">
                <a:extLst>
                  <a:ext uri="{FF2B5EF4-FFF2-40B4-BE49-F238E27FC236}">
                    <a16:creationId xmlns:a16="http://schemas.microsoft.com/office/drawing/2014/main" id="{1EC86311-FDF2-5CF8-3D46-E07B75F55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96"/>
                <a:ext cx="5321917" cy="523220"/>
              </a:xfrm>
              <a:prstGeom prst="rect">
                <a:avLst/>
              </a:prstGeom>
              <a:blipFill>
                <a:blip r:embed="rId2"/>
                <a:stretch>
                  <a:fillRect l="-2381" t="-1190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6F017B02-F2BE-6357-E7F4-934A78375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523" y="2520032"/>
            <a:ext cx="5697854" cy="42733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6CDF06-A31F-3BA5-5B63-E858FA601552}"/>
                  </a:ext>
                </a:extLst>
              </p:cNvPr>
              <p:cNvSpPr txBox="1"/>
              <p:nvPr/>
            </p:nvSpPr>
            <p:spPr>
              <a:xfrm>
                <a:off x="1079644" y="3140968"/>
                <a:ext cx="2652275" cy="1850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=2.8</m:t>
                      </m:r>
                    </m:oMath>
                  </m:oMathPara>
                </a14:m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=19.9°</m:t>
                      </m:r>
                    </m:oMath>
                  </m:oMathPara>
                </a14:m>
                <a:endParaRPr kumimoji="1" lang="en-US" altLang="zh-CN" sz="2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=4.47</m:t>
                      </m:r>
                    </m:oMath>
                  </m:oMathPara>
                </a14:m>
                <a:endParaRPr kumimoji="1" lang="en-US" altLang="zh-CN" sz="2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=2.4(7.6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dB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A6CDF06-A31F-3BA5-5B63-E858FA601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644" y="3140968"/>
                <a:ext cx="2652275" cy="1850891"/>
              </a:xfrm>
              <a:prstGeom prst="rect">
                <a:avLst/>
              </a:prstGeom>
              <a:blipFill>
                <a:blip r:embed="rId4"/>
                <a:stretch>
                  <a:fillRect r="-1429" b="-5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77714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646" cy="725177"/>
            <a:chOff x="4943078" y="1700704"/>
            <a:chExt cx="2937646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906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稳定裕度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646" cy="725177"/>
            <a:chOff x="4943078" y="1700704"/>
            <a:chExt cx="293764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24630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相角裕度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49820" cy="725177"/>
            <a:chOff x="4943078" y="1700704"/>
            <a:chExt cx="2949820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43303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单位圆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937647" cy="725177"/>
            <a:chOff x="4943078" y="1700704"/>
            <a:chExt cx="2937647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90" y="1736097"/>
              <a:ext cx="246303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幅值裕度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574926" y="1053704"/>
            <a:ext cx="799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系统在幅值和相角方面的稳定储备量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截止频率处相角与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−180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800" dirty="0"/>
                  <a:t>的距离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blipFill>
                <a:blip r:embed="rId3"/>
                <a:stretch>
                  <a:fillRect l="-152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574927" y="2703727"/>
            <a:ext cx="720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穿越频率处幅值与</a:t>
            </a:r>
            <a:r>
              <a:rPr lang="en-US" altLang="zh-CN" sz="2800" dirty="0"/>
              <a:t>1</a:t>
            </a:r>
            <a:r>
              <a:rPr lang="zh-CN" altLang="en-US" sz="2800" dirty="0"/>
              <a:t>（或者</a:t>
            </a:r>
            <a:r>
              <a:rPr lang="en-US" altLang="zh-CN" sz="2800" dirty="0"/>
              <a:t>0dB</a:t>
            </a:r>
            <a:r>
              <a:rPr lang="zh-CN" altLang="en-US" sz="2800" dirty="0"/>
              <a:t>）的距离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574927" y="3550762"/>
            <a:ext cx="4330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极坐标中的稳定边界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资源分配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552030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宽备窄用</a:t>
            </a:r>
          </a:p>
        </p:txBody>
      </p:sp>
    </p:spTree>
    <p:extLst>
      <p:ext uri="{BB962C8B-B14F-4D97-AF65-F5344CB8AC3E}">
        <p14:creationId xmlns:p14="http://schemas.microsoft.com/office/powerpoint/2010/main" val="33220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533842" y="1124744"/>
            <a:ext cx="6929516" cy="1001329"/>
            <a:chOff x="5348307" y="5538470"/>
            <a:chExt cx="6929516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">
                  <a:extLst>
                    <a:ext uri="{FF2B5EF4-FFF2-40B4-BE49-F238E27FC236}">
                      <a16:creationId xmlns:a16="http://schemas.microsoft.com/office/drawing/2014/main" id="{B40EDE9D-B618-037F-57F9-2304DF45231C}"/>
                    </a:ext>
                  </a:extLst>
                </p:cNvPr>
                <p:cNvSpPr txBox="1"/>
                <p:nvPr/>
              </p:nvSpPr>
              <p:spPr>
                <a:xfrm>
                  <a:off x="6320700" y="5585692"/>
                  <a:ext cx="5957123" cy="9541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试分析频率相位滞后</a:t>
                  </a:r>
                  <a14:m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180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kumimoji="1" lang="zh-CN" altLang="en-US" sz="2800" dirty="0">
                      <a:latin typeface="Microsoft YaHei" panose="020B0503020204020204" pitchFamily="34" charset="-122"/>
                      <a:ea typeface="Microsoft YaHei" panose="020B0503020204020204" pitchFamily="34" charset="-122"/>
                    </a:rPr>
                    <a:t>（即反相，穿越频率）时对应的物理现象。</a:t>
                  </a:r>
                  <a:endParaRPr kumimoji="1" lang="en-US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" name="文本">
                  <a:extLst>
                    <a:ext uri="{FF2B5EF4-FFF2-40B4-BE49-F238E27FC236}">
                      <a16:creationId xmlns:a16="http://schemas.microsoft.com/office/drawing/2014/main" id="{B40EDE9D-B618-037F-57F9-2304DF452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0700" y="5585692"/>
                  <a:ext cx="5957123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2128" t="-6579" r="-851" b="-17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问题">
            <a:extLst>
              <a:ext uri="{FF2B5EF4-FFF2-40B4-BE49-F238E27FC236}">
                <a16:creationId xmlns:a16="http://schemas.microsoft.com/office/drawing/2014/main" id="{E54937E8-EE65-7FA5-E7B4-2B80EDC8F1E8}"/>
              </a:ext>
            </a:extLst>
          </p:cNvPr>
          <p:cNvGrpSpPr/>
          <p:nvPr/>
        </p:nvGrpSpPr>
        <p:grpSpPr>
          <a:xfrm>
            <a:off x="503282" y="4135429"/>
            <a:ext cx="6672218" cy="1001329"/>
            <a:chOff x="5348307" y="5538470"/>
            <a:chExt cx="6672218" cy="1001329"/>
          </a:xfrm>
        </p:grpSpPr>
        <p:sp>
          <p:nvSpPr>
            <p:cNvPr id="9" name="问号">
              <a:extLst>
                <a:ext uri="{FF2B5EF4-FFF2-40B4-BE49-F238E27FC236}">
                  <a16:creationId xmlns:a16="http://schemas.microsoft.com/office/drawing/2014/main" id="{FDE4D285-9FE9-7BCC-6212-856941511F4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1" name="文本">
              <a:extLst>
                <a:ext uri="{FF2B5EF4-FFF2-40B4-BE49-F238E27FC236}">
                  <a16:creationId xmlns:a16="http://schemas.microsoft.com/office/drawing/2014/main" id="{6D6E60A8-3E1B-7C93-643E-F85D4B21387A}"/>
                </a:ext>
              </a:extLst>
            </p:cNvPr>
            <p:cNvSpPr txBox="1"/>
            <p:nvPr/>
          </p:nvSpPr>
          <p:spPr>
            <a:xfrm>
              <a:off x="6320700" y="5585692"/>
              <a:ext cx="569982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试分析幅值等于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时（截止频率），相位反相对应的物理现象。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C7A79C8B-C457-E92A-6DB7-A94757413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489" y="3515226"/>
            <a:ext cx="4324085" cy="3243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81824B-EA73-12B6-5C71-CF4464636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488" y="242931"/>
            <a:ext cx="4324085" cy="324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Papadopoulos, E. G., &amp; Rey, D. A. (1996, April). A new measure of </a:t>
            </a:r>
            <a:r>
              <a:rPr lang="en" altLang="zh-CN" sz="2800" dirty="0" err="1"/>
              <a:t>tipover</a:t>
            </a:r>
            <a:r>
              <a:rPr lang="en" altLang="zh-CN" sz="2800" dirty="0"/>
              <a:t> stability margin for mobile manipulators. In Proceedings of IEEE International Conference on Robotics and Automation (Vol. 4, pp. 3111-3116). IEEE.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Bharati, A. K., &amp; </a:t>
            </a:r>
            <a:r>
              <a:rPr lang="en" altLang="zh-CN" sz="2800" dirty="0" err="1"/>
              <a:t>Ajjarapu</a:t>
            </a:r>
            <a:r>
              <a:rPr lang="en" altLang="zh-CN" sz="2800" dirty="0"/>
              <a:t>, V. (2019). Investigation of relevant distribution system representation with DG for voltage stability margin assessment. IEEE Transactions on Power Systems, 35(3), 2072-2081.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BC46F0-0E02-D0E6-5ECB-A8EF2B6510A7}"/>
              </a:ext>
            </a:extLst>
          </p:cNvPr>
          <p:cNvGrpSpPr/>
          <p:nvPr/>
        </p:nvGrpSpPr>
        <p:grpSpPr>
          <a:xfrm>
            <a:off x="707965" y="1268413"/>
            <a:ext cx="11436360" cy="3906384"/>
            <a:chOff x="707965" y="1268413"/>
            <a:chExt cx="11436360" cy="390638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35413" y="1268413"/>
              <a:ext cx="8208912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稳定裕度：</a:t>
              </a:r>
              <a:r>
                <a:rPr lang="en" altLang="zh-CN" sz="2800" dirty="0"/>
                <a:t> 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/video/BV1ua4y1L7Vs?share_source=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文本&#10;&#10;描述已自动生成">
              <a:extLst>
                <a:ext uri="{FF2B5EF4-FFF2-40B4-BE49-F238E27FC236}">
                  <a16:creationId xmlns:a16="http://schemas.microsoft.com/office/drawing/2014/main" id="{5B2AD95D-5AE8-5C9C-4127-02558791E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965" y="1275502"/>
              <a:ext cx="2857500" cy="1676400"/>
            </a:xfrm>
            <a:prstGeom prst="rect">
              <a:avLst/>
            </a:prstGeom>
          </p:spPr>
        </p:pic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E350F073-FEF2-1215-8666-C26C2D654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9465" y="3460297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508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AE0A6D-EDCF-576C-D5EA-A937A8A649EB}"/>
              </a:ext>
            </a:extLst>
          </p:cNvPr>
          <p:cNvGrpSpPr/>
          <p:nvPr/>
        </p:nvGrpSpPr>
        <p:grpSpPr>
          <a:xfrm>
            <a:off x="4654550" y="3681329"/>
            <a:ext cx="7190928" cy="2755900"/>
            <a:chOff x="4654550" y="3681329"/>
            <a:chExt cx="7190928" cy="27559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108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109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3466EC6D-703A-8970-26FE-D06458893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3478" y="3681329"/>
              <a:ext cx="3302000" cy="275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0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节段20">
            <a:extLst>
              <a:ext uri="{FF2B5EF4-FFF2-40B4-BE49-F238E27FC236}">
                <a16:creationId xmlns:a16="http://schemas.microsoft.com/office/drawing/2014/main" id="{CC40C26A-181F-F538-8058-BA8890BCC631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1026" name="Picture 2" descr="Dance Dancing GIF by Luis Ricardo">
            <a:extLst>
              <a:ext uri="{FF2B5EF4-FFF2-40B4-BE49-F238E27FC236}">
                <a16:creationId xmlns:a16="http://schemas.microsoft.com/office/drawing/2014/main" id="{FB37B69B-DB2E-7D74-9E34-FBF4D037D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270" y="980728"/>
            <a:ext cx="4282423" cy="424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说明4">
            <a:extLst>
              <a:ext uri="{FF2B5EF4-FFF2-40B4-BE49-F238E27FC236}">
                <a16:creationId xmlns:a16="http://schemas.microsoft.com/office/drawing/2014/main" id="{FF9092E9-A68F-6B74-6B3C-534889219293}"/>
              </a:ext>
            </a:extLst>
          </p:cNvPr>
          <p:cNvSpPr txBox="1"/>
          <p:nvPr/>
        </p:nvSpPr>
        <p:spPr>
          <a:xfrm>
            <a:off x="7300077" y="5585898"/>
            <a:ext cx="3024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“Stability Margin”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26704177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19573</TotalTime>
  <Words>1759</Words>
  <Application>Microsoft Macintosh PowerPoint</Application>
  <PresentationFormat>自定义</PresentationFormat>
  <Paragraphs>429</Paragraphs>
  <Slides>25</Slides>
  <Notes>23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592</cp:revision>
  <dcterms:created xsi:type="dcterms:W3CDTF">2012-09-21T08:06:35Z</dcterms:created>
  <dcterms:modified xsi:type="dcterms:W3CDTF">2023-05-29T04:28:39Z</dcterms:modified>
  <cp:category/>
</cp:coreProperties>
</file>