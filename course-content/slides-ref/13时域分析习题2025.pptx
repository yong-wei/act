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53" r:id="rId2"/>
    <p:sldId id="488" r:id="rId3"/>
    <p:sldId id="534" r:id="rId4"/>
    <p:sldId id="536" r:id="rId5"/>
    <p:sldId id="535" r:id="rId6"/>
    <p:sldId id="526" r:id="rId7"/>
    <p:sldId id="537" r:id="rId8"/>
    <p:sldId id="538" r:id="rId9"/>
    <p:sldId id="539" r:id="rId10"/>
    <p:sldId id="540" r:id="rId11"/>
    <p:sldId id="525" r:id="rId12"/>
    <p:sldId id="541" r:id="rId13"/>
    <p:sldId id="542" r:id="rId14"/>
    <p:sldId id="544" r:id="rId15"/>
    <p:sldId id="543" r:id="rId16"/>
  </p:sldIdLst>
  <p:sldSz cx="12190413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CEEA"/>
    <a:srgbClr val="E44860"/>
    <a:srgbClr val="159F84"/>
    <a:srgbClr val="F29B11"/>
    <a:srgbClr val="00B0F0"/>
    <a:srgbClr val="FFC000"/>
    <a:srgbClr val="9BBB59"/>
    <a:srgbClr val="768395"/>
    <a:srgbClr val="1C1C1C"/>
    <a:srgbClr val="298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3475" autoAdjust="0"/>
  </p:normalViewPr>
  <p:slideViewPr>
    <p:cSldViewPr>
      <p:cViewPr varScale="1">
        <p:scale>
          <a:sx n="96" d="100"/>
          <a:sy n="96" d="100"/>
        </p:scale>
        <p:origin x="1200" y="464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2025/3/26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7F444-B6F0-1AEE-AE79-8795A9CC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4E5E5E-228F-693B-5330-F4A04FE5D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BE6AE3-26CE-0192-AB6C-E5BCCCF3B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54F82-3F25-66EE-EC8D-237ECA60D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728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FC75-D619-9391-323D-5F93C438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3418D8-3505-2ADC-67A3-B57654351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0E009B-B346-B8BA-B470-E51D853A7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88477B-13ED-0DED-CCDA-0F71F7365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990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D517E-9D4D-7935-C804-5C2DE4F3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DF09C4-B71F-D4B3-106D-0DBCE288A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16DFD4-4706-6F16-C84A-B73E8153C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7B647B-0F87-06AD-D053-E04535344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583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C070-9081-D29E-2D23-36CA506A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138BEF-D253-74E5-7322-3E728D55E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E5E38B-3824-6810-635C-1FB1DD75A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B31694-D36D-112E-87D0-28657F886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92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A5D12-33D0-41AD-6F14-58C48EEC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121E21-7588-0D6D-3DCB-47E75381D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DC2255-C003-5D18-5F5A-4A21B3FEC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4A767-D254-FBAD-8126-624A283F6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709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FA99-F7D7-BB31-D108-45CD14D1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A9D67F-C762-233F-E2C4-33B440079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8DAAA6-02D8-DC9E-03BE-8DAD7A51B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4D9CA-5219-C593-2488-0103CE79D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908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6AFCE-25C8-5D27-4732-45B14223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DA215A-6D96-E244-5C81-D6C8669E9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7251AA-2D7A-7AAF-0BFA-C4E0194FC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D934C0-8C53-FFCB-B801-B867DEE29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627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9DFB-246B-E24A-147C-50EFA566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64E166-9C63-0053-B1C2-D17744D5D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033479-174E-D1A2-7237-5CE8FAB98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5435BF-FF14-F97D-F1F0-D1C98594C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2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9362-8961-0A0B-E108-DE18AFE3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8F5398-511B-F051-2CC8-1C16F44F3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79FA39-4CFA-0403-09B3-AF9CDC1B9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BC05EF-C1DA-F68D-D1D7-A05877E33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16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91B6A-E1D8-7140-FEFF-298BED0A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07AC25-6DB0-0E75-6805-5363CD9AB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152496-3531-8FF0-98BB-EF6E6DFCE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5A2F1-AA7B-10A9-8371-4D26ABC61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820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8F2B-E6B8-F4B5-93A6-1DF2D530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8FBE05-2F24-A59A-C827-ECAC680F0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C48998-3974-2F84-FBAE-2AD13DE49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41466-7FE6-50DD-FD6F-8D19CD980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685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B43E-BC35-3684-85BA-D9C01E5D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F7F0C3-D0EF-D59D-F46D-15F45057E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91391B-3747-7905-D172-BF850CE17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C6993D-F5DE-EB35-FC74-71BFCB1B1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001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565F8-BAC4-06D2-388B-80D7C6792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95A36A-D7C3-C919-3942-58F185E14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430199-C40C-1A27-98B2-79E525703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3F8491-AD70-A5A4-FFC4-E71DCD4B5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33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绿条地图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基本情况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设计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效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教学成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05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1618718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3" r:id="rId2"/>
    <p:sldLayoutId id="2147483659" r:id="rId3"/>
    <p:sldLayoutId id="2147483667" r:id="rId4"/>
    <p:sldLayoutId id="2147483668" r:id="rId5"/>
    <p:sldLayoutId id="2147483671" r:id="rId6"/>
    <p:sldLayoutId id="2147483669" r:id="rId7"/>
    <p:sldLayoutId id="2147483670" r:id="rId8"/>
    <p:sldLayoutId id="2147483672" r:id="rId9"/>
    <p:sldLayoutId id="2147483673" r:id="rId1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7A72020-F212-7A4F-9886-409A4930D7B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B67B0DA-556A-0B89-6384-3FFC1D7F4C6D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29F12436-5FDB-A05F-74CE-A6E67966B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93D0DB62-DA3B-26C7-4CF1-126A7C384299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ABEB3BDD-5767-C862-7180-BEE323DFC8ED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AC8A9ADA-7042-7A8C-27C9-EE7B11A6D6FD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8BF7BF1A-4852-74BB-2974-C4A9C80F33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B0019ED-199B-2F82-139A-9D04905AE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动态性能指标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DBF9F435-6C42-E13A-387E-45E388921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180" y="980728"/>
                <a:ext cx="11338051" cy="19464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304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设单位反馈系统的开环传递函数为</a:t>
                </a:r>
              </a:p>
              <a:p>
                <a:pPr marL="0" marR="0" lvl="0" indent="304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 (正文 CS 字体)"/>
                        </a:rPr>
                        <m:t>𝐺</m:t>
                      </m:r>
                      <m:r>
                        <a:rPr kumimoji="0" lang="en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 (正文 CS 字体)"/>
                        </a:rPr>
                        <m:t>(</m:t>
                      </m:r>
                      <m:r>
                        <a:rPr kumimoji="0" lang="en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 (正文 CS 字体)"/>
                        </a:rPr>
                        <m:t>𝑠</m:t>
                      </m:r>
                      <m:r>
                        <a:rPr kumimoji="0" lang="en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 (正文 CS 字体)"/>
                        </a:rPr>
                        <m:t>)=</m:t>
                      </m:r>
                      <m:f>
                        <m:fPr>
                          <m:ctrlPr>
                            <a:rPr kumimoji="0" lang="en" altLang="zh-CN" sz="24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kumimoji="0" lang="en" altLang="zh-CN" sz="24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 (正文 CS 字体)"/>
                            </a:rPr>
                            <m:t>0.4</m:t>
                          </m:r>
                          <m:r>
                            <a:rPr kumimoji="0" lang="en" altLang="zh-CN" sz="24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 (正文 CS 字体)"/>
                            </a:rPr>
                            <m:t>𝑠</m:t>
                          </m:r>
                          <m:r>
                            <a:rPr kumimoji="0" lang="en" altLang="zh-CN" sz="24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 (正文 CS 字体)"/>
                            </a:rPr>
                            <m:t>+1</m:t>
                          </m:r>
                        </m:num>
                        <m:den>
                          <m:r>
                            <a:rPr kumimoji="0" lang="en" altLang="zh-CN" sz="24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 (正文 CS 字体)"/>
                            </a:rPr>
                            <m:t>𝑠</m:t>
                          </m:r>
                          <m:d>
                            <m:dPr>
                              <m:ctrlPr>
                                <a:rPr kumimoji="0" lang="en" altLang="zh-CN" sz="24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kumimoji="0" lang="en" altLang="zh-CN" sz="24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kumimoji="0" lang="en" altLang="zh-CN" sz="24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+0.6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0" lang="e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 (正文 CS 字体)"/>
                </a:endParaRPr>
              </a:p>
              <a:p>
                <a:pPr marL="0" marR="0" lvl="0" indent="304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试求系统在单位阶跃输入下的动态性能。</a:t>
                </a:r>
              </a:p>
              <a:p>
                <a:pPr marL="0" marR="0" lvl="0" indent="304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使用</a:t>
                </a:r>
                <a:r>
                  <a:rPr kumimoji="0" lang="e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MATLAB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验证计算结果。（使用</a:t>
                </a:r>
                <a:r>
                  <a:rPr kumimoji="0" lang="en" altLang="zh-CN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stepinfo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函数）</a:t>
                </a:r>
              </a:p>
            </p:txBody>
          </p:sp>
        </mc:Choice>
        <mc:Fallback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DBF9F435-6C42-E13A-387E-45E388921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180" y="980728"/>
                <a:ext cx="11338051" cy="1946430"/>
              </a:xfrm>
              <a:prstGeom prst="rect">
                <a:avLst/>
              </a:prstGeom>
              <a:blipFill>
                <a:blip r:embed="rId3"/>
                <a:stretch>
                  <a:fillRect t="-2597" b="-71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7CE84B1-07AC-8478-666B-3CA25DA0E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973" y="3111824"/>
                <a:ext cx="10496913" cy="3602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304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3111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解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 由开环传递函数可得系统的闭环传递函数为</a:t>
                </a:r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indent="304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𝛷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𝐺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1+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𝐺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0.4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+1</m:t>
                          </m:r>
                        </m:den>
                      </m:f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0.4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+2.5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pPr marL="0" marR="0" lvl="0" indent="304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400" i="1" kern="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𝛷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𝑠</m:t>
                        </m:r>
                      </m:e>
                    </m:d>
                  </m:oMath>
                </a14:m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的形式可以看出，该系统是比例-微分控制二阶系统，其标准形式为</a:t>
                </a:r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indent="304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𝛷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𝑧</m:t>
                          </m:r>
                        </m:den>
                      </m:f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⋅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𝑧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+2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  <a:p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由</a:t>
                </a:r>
                <a:b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0.4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+1</m:t>
                          </m:r>
                        </m:den>
                      </m:f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𝑧</m:t>
                          </m:r>
                        </m:den>
                      </m:f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⋅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𝑧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+2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𝜁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7CE84B1-07AC-8478-666B-3CA25DA0E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973" y="3111824"/>
                <a:ext cx="10496913" cy="3602974"/>
              </a:xfrm>
              <a:prstGeom prst="rect">
                <a:avLst/>
              </a:prstGeom>
              <a:blipFill>
                <a:blip r:embed="rId4"/>
                <a:stretch>
                  <a:fillRect t="-702" b="-210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3395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9635-A4F4-FF42-C7B9-6B699358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5B5B23AE-3625-7309-AC35-9A4CBDFFE30F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动态性能指标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F075994-ED4F-94D2-5E62-1EDB28B42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72" y="549227"/>
                <a:ext cx="8259953" cy="5994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304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3111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marL="0" marR="0" lvl="0" indent="304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𝑧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=2.5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=1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𝜁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𝑑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=0.5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。由于</a:t>
                </a:r>
              </a:p>
              <a:p>
                <a:pPr indent="304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effectLst/>
                          <a:latin typeface="+mn-ea"/>
                          <a:cs typeface="Times New Roman (正文 CS 字体)"/>
                        </a:rPr>
                        <m:t>𝑟</m:t>
                      </m:r>
                      <m:r>
                        <m:rPr>
                          <m:aln/>
                        </m:rP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𝑧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𝑧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=1.007</m:t>
                      </m:r>
                    </m:oMath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𝜓</m:t>
                      </m:r>
                      <m:r>
                        <m:rPr>
                          <m:aln/>
                        </m:rP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400">
                          <a:effectLst/>
                          <a:latin typeface="+mn-ea"/>
                          <a:cs typeface="Times New Roman (正文 CS 字体)"/>
                        </a:rPr>
                        <m:t>π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+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1−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𝑧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𝜁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+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1−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rad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𝜁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400">
                          <a:effectLst/>
                          <a:latin typeface="+mn-ea"/>
                          <a:cs typeface="Times New Roman (正文 CS 字体)"/>
                        </a:rPr>
                        <m:t>π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+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0.75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2.5−0.5</m:t>
                              </m:r>
                            </m:den>
                          </m:f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+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0.75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0.5</m:t>
                              </m:r>
                            </m:den>
                          </m:f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=−1.686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𝑑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1−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effectLst/>
                                              <a:latin typeface="+mn-ea"/>
                                              <a:cs typeface="Times New Roman (正文 CS 字体)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rad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𝜁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0.75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0.5</m:t>
                              </m:r>
                            </m:den>
                          </m:f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=1.047</m:t>
                      </m:r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算得该系统的动态性能指标为</a:t>
                </a: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F075994-ED4F-94D2-5E62-1EDB28B42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72" y="549227"/>
                <a:ext cx="8259953" cy="5994846"/>
              </a:xfrm>
              <a:prstGeom prst="rect">
                <a:avLst/>
              </a:prstGeom>
              <a:blipFill>
                <a:blip r:embed="rId3"/>
                <a:stretch>
                  <a:fillRect b="-19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5207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BD8E-4460-1ACD-0B55-50008A3B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38AB112E-FB1F-53DF-C1A1-3BF8F8D5FCA4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动态性能指标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16782951-B89E-9F98-D0CC-68A00D7D6F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1170570"/>
                  </p:ext>
                </p:extLst>
              </p:nvPr>
            </p:nvGraphicFramePr>
            <p:xfrm>
              <a:off x="1000519" y="1844824"/>
              <a:ext cx="10189373" cy="36355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316781">
                      <a:extLst>
                        <a:ext uri="{9D8B030D-6E8A-4147-A177-3AD203B41FA5}">
                          <a16:colId xmlns:a16="http://schemas.microsoft.com/office/drawing/2014/main" val="579750628"/>
                        </a:ext>
                      </a:extLst>
                    </a:gridCol>
                    <a:gridCol w="7872592">
                      <a:extLst>
                        <a:ext uri="{9D8B030D-6E8A-4147-A177-3AD203B41FA5}">
                          <a16:colId xmlns:a16="http://schemas.microsoft.com/office/drawing/2014/main" val="275052586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:r>
                            <a:rPr lang="zh-CN" sz="2400" kern="100">
                              <a:effectLst/>
                            </a:rPr>
                            <a:t>峰值时间</a:t>
                          </a:r>
                          <a:endParaRPr lang="zh-CN" sz="24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00">
                                        <a:effectLst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kern="100">
                                        <a:effectLst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2400" kern="1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r>
                                      <a:rPr lang="en-US" sz="2400" kern="100">
                                        <a:effectLst/>
                                      </a:rPr>
                                      <m:t>𝜓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ad>
                                      <m:radPr>
                                        <m:degHide m:val="on"/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1−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sz="2400" kern="100">
                                                <a:effectLst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𝜁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𝑑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den>
                                </m:f>
                                <m:r>
                                  <a:rPr lang="en-US" sz="2400" kern="100">
                                    <a:effectLst/>
                                  </a:rPr>
                                  <m:t>=3.156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kern="100">
                                    <a:effectLst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zh-CN" sz="24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05015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:r>
                            <a:rPr lang="zh-CN" sz="2400" kern="100">
                              <a:effectLst/>
                            </a:rPr>
                            <a:t>超调量</a:t>
                          </a:r>
                          <a:endParaRPr lang="zh-CN" sz="24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kern="100">
                                    <a:effectLst/>
                                  </a:rPr>
                                  <m:t>𝜎</m:t>
                                </m:r>
                                <m:r>
                                  <a:rPr lang="en-US" sz="2400" kern="100">
                                    <a:effectLst/>
                                  </a:rPr>
                                  <m:t>%=</m:t>
                                </m:r>
                                <m:r>
                                  <a:rPr lang="en-US" sz="2400" kern="100">
                                    <a:effectLst/>
                                  </a:rPr>
                                  <m:t>𝑟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kern="100">
                                        <a:effectLst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  <m:sup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sSup>
                                  <m:sSup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kern="100">
                                    <a:effectLst/>
                                  </a:rPr>
                                  <m:t>×100%=18.0%</m:t>
                                </m:r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305037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:r>
                            <a:rPr lang="zh-CN" sz="2400" kern="100">
                              <a:effectLst/>
                            </a:rPr>
                            <a:t>调节时间</a:t>
                          </a:r>
                          <a:endParaRPr lang="zh-CN" sz="24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00">
                                        <a:effectLst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kern="100">
                                        <a:effectLst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m:rPr>
                                    <m:aln/>
                                  </m:rPr>
                                  <a:rPr lang="en-US" sz="2400" kern="1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kern="100">
                                        <a:effectLst/>
                                      </a:rPr>
                                      <m:t>4+</m:t>
                                    </m:r>
                                    <m:f>
                                      <m:f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zh-CN" sz="2400" kern="100">
                                                <a:effectLst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−2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𝑑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𝑧</m:t>
                                            </m:r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𝑧</m:t>
                                        </m:r>
                                      </m:e>
                                    </m:func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zh-CN" sz="2400" kern="100">
                                                <a:effectLst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1−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𝑑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m:rPr>
                                    <m:aln/>
                                  </m:rPr>
                                  <a:rPr lang="en-US" sz="2400" kern="1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kern="100">
                                        <a:effectLst/>
                                      </a:rPr>
                                      <m:t>4+</m:t>
                                    </m:r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𝑟</m:t>
                                        </m:r>
                                      </m:e>
                                    </m:fun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400" kern="100">
                                    <a:effectLst/>
                                  </a:rPr>
                                  <m:t>=8.01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kern="100">
                                    <a:effectLst/>
                                  </a:rPr>
                                  <m:t>s</m:t>
                                </m:r>
                                <m:r>
                                  <a:rPr lang="en-US" sz="2400" kern="100">
                                    <a:effectLst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</a:rPr>
                                      <m:t>Δ</m:t>
                                    </m:r>
                                    <m:r>
                                      <a:rPr lang="en-US" sz="2400" kern="100">
                                        <a:effectLst/>
                                      </a:rPr>
                                      <m:t>=0.02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019140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16782951-B89E-9F98-D0CC-68A00D7D6F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1170570"/>
                  </p:ext>
                </p:extLst>
              </p:nvPr>
            </p:nvGraphicFramePr>
            <p:xfrm>
              <a:off x="1000519" y="1844824"/>
              <a:ext cx="10189373" cy="36355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316781">
                      <a:extLst>
                        <a:ext uri="{9D8B030D-6E8A-4147-A177-3AD203B41FA5}">
                          <a16:colId xmlns:a16="http://schemas.microsoft.com/office/drawing/2014/main" val="579750628"/>
                        </a:ext>
                      </a:extLst>
                    </a:gridCol>
                    <a:gridCol w="7872592">
                      <a:extLst>
                        <a:ext uri="{9D8B030D-6E8A-4147-A177-3AD203B41FA5}">
                          <a16:colId xmlns:a16="http://schemas.microsoft.com/office/drawing/2014/main" val="2750525861"/>
                        </a:ext>
                      </a:extLst>
                    </a:gridCol>
                  </a:tblGrid>
                  <a:tr h="1149477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:r>
                            <a:rPr lang="zh-CN" sz="2400" kern="100">
                              <a:effectLst/>
                            </a:rPr>
                            <a:t>峰值时间</a:t>
                          </a:r>
                          <a:endParaRPr lang="zh-CN" sz="24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469" t="-3297" r="-322" b="-2274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501532"/>
                      </a:ext>
                    </a:extLst>
                  </a:tr>
                  <a:tr h="744284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:r>
                            <a:rPr lang="zh-CN" sz="2400" kern="100">
                              <a:effectLst/>
                            </a:rPr>
                            <a:t>超调量</a:t>
                          </a:r>
                          <a:endParaRPr lang="zh-CN" sz="24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469" t="-159322" r="-322" b="-25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0503773"/>
                      </a:ext>
                    </a:extLst>
                  </a:tr>
                  <a:tr h="1741742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:r>
                            <a:rPr lang="zh-CN" sz="2400" kern="100">
                              <a:effectLst/>
                            </a:rPr>
                            <a:t>调节时间</a:t>
                          </a:r>
                          <a:endParaRPr lang="zh-CN" sz="24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469" t="-111679" r="-322" b="-80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9140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81057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C371-E393-B400-DF6E-D88A7FB8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BA87E87A-F83E-7410-520D-E2DBD29E5AF7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动态性能指标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DDA4AD5-F0C3-7A81-B8CD-B25A0D741F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005038"/>
                  </p:ext>
                </p:extLst>
              </p:nvPr>
            </p:nvGraphicFramePr>
            <p:xfrm>
              <a:off x="4150990" y="3068960"/>
              <a:ext cx="7872592" cy="36355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872592">
                      <a:extLst>
                        <a:ext uri="{9D8B030D-6E8A-4147-A177-3AD203B41FA5}">
                          <a16:colId xmlns:a16="http://schemas.microsoft.com/office/drawing/2014/main" val="275052586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00">
                                        <a:effectLst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kern="100">
                                        <a:effectLst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2400" kern="1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r>
                                      <a:rPr lang="en-US" sz="2400" kern="100">
                                        <a:effectLst/>
                                      </a:rPr>
                                      <m:t>𝜓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ad>
                                      <m:radPr>
                                        <m:degHide m:val="on"/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1−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sz="2400" kern="100">
                                                <a:effectLst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𝜁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𝑑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den>
                                </m:f>
                                <m:r>
                                  <a:rPr lang="en-US" sz="2400" kern="100">
                                    <a:effectLst/>
                                  </a:rPr>
                                  <m:t>=3.156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kern="100">
                                    <a:effectLst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zh-CN" sz="24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05015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kern="100">
                                    <a:effectLst/>
                                  </a:rPr>
                                  <m:t>𝜎</m:t>
                                </m:r>
                                <m:r>
                                  <a:rPr lang="en-US" sz="2400" kern="100">
                                    <a:effectLst/>
                                  </a:rPr>
                                  <m:t>%=</m:t>
                                </m:r>
                                <m:r>
                                  <a:rPr lang="en-US" sz="2400" kern="100">
                                    <a:effectLst/>
                                  </a:rPr>
                                  <m:t>𝑟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kern="100">
                                        <a:effectLst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  <m:sup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sSup>
                                  <m:sSup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kern="100">
                                    <a:effectLst/>
                                  </a:rPr>
                                  <m:t>×100%=18.0%</m:t>
                                </m:r>
                              </m:oMath>
                            </m:oMathPara>
                          </a14:m>
                          <a:endParaRPr lang="zh-CN" sz="24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305037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00">
                                        <a:effectLst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kern="100">
                                        <a:effectLst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m:rPr>
                                    <m:aln/>
                                  </m:rPr>
                                  <a:rPr lang="en-US" sz="2400" kern="1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kern="100">
                                        <a:effectLst/>
                                      </a:rPr>
                                      <m:t>4+</m:t>
                                    </m:r>
                                    <m:f>
                                      <m:f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zh-CN" sz="2400" kern="100">
                                                <a:effectLst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−2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𝑑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𝑧</m:t>
                                            </m:r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𝑧</m:t>
                                        </m:r>
                                      </m:e>
                                    </m:func>
                                    <m:r>
                                      <a:rPr lang="en-US" sz="2400" kern="100">
                                        <a:effectLst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zh-CN" sz="2400" kern="100">
                                                <a:effectLst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kern="100">
                                                <a:effectLst/>
                                              </a:rPr>
                                              <m:t>1−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sz="2400" kern="100">
                                                    <a:effectLst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𝑑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400" kern="100">
                                                    <a:effectLst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  <m:oMath xmlns:m="http://schemas.openxmlformats.org/officeDocument/2006/math">
                                <m:r>
                                  <m:rPr>
                                    <m:aln/>
                                  </m:rPr>
                                  <a:rPr lang="en-US" sz="2400" kern="1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kern="100">
                                        <a:effectLst/>
                                      </a:rPr>
                                      <m:t>4+</m:t>
                                    </m:r>
                                    <m:func>
                                      <m:func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kern="100">
                                            <a:effectLst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𝑟</m:t>
                                        </m:r>
                                      </m:e>
                                    </m:fun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𝜁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2400" kern="1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kern="100">
                                            <a:effectLst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400" kern="100">
                                    <a:effectLst/>
                                  </a:rPr>
                                  <m:t>=8.01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kern="100">
                                    <a:effectLst/>
                                  </a:rPr>
                                  <m:t>s</m:t>
                                </m:r>
                                <m:r>
                                  <a:rPr lang="en-US" sz="2400" kern="100">
                                    <a:effectLst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zh-CN" sz="2400" kern="1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</a:rPr>
                                      <m:t>Δ</m:t>
                                    </m:r>
                                    <m:r>
                                      <a:rPr lang="en-US" sz="2400" kern="100">
                                        <a:effectLst/>
                                      </a:rPr>
                                      <m:t>=0.02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 (正文 CS 字体)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019140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DDA4AD5-F0C3-7A81-B8CD-B25A0D741F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005038"/>
                  </p:ext>
                </p:extLst>
              </p:nvPr>
            </p:nvGraphicFramePr>
            <p:xfrm>
              <a:off x="4150990" y="3068960"/>
              <a:ext cx="7872592" cy="36355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872592">
                      <a:extLst>
                        <a:ext uri="{9D8B030D-6E8A-4147-A177-3AD203B41FA5}">
                          <a16:colId xmlns:a16="http://schemas.microsoft.com/office/drawing/2014/main" val="2750525861"/>
                        </a:ext>
                      </a:extLst>
                    </a:gridCol>
                  </a:tblGrid>
                  <a:tr h="114947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1" t="-3297" r="-322" b="-2274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501532"/>
                      </a:ext>
                    </a:extLst>
                  </a:tr>
                  <a:tr h="7442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1" t="-159322" r="-322" b="-25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0503773"/>
                      </a:ext>
                    </a:extLst>
                  </a:tr>
                  <a:tr h="1741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1" t="-111679" r="-322" b="-80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9140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1">
            <a:extLst>
              <a:ext uri="{FF2B5EF4-FFF2-40B4-BE49-F238E27FC236}">
                <a16:creationId xmlns:a16="http://schemas.microsoft.com/office/drawing/2014/main" id="{9B188272-3CD6-29E2-44F9-158779F63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7482" y="980728"/>
            <a:ext cx="410445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代码及输出结果如下：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宋体" panose="02010600030101010101" pitchFamily="2" charset="-122"/>
              </a:rPr>
              <a:t>Phi = tf([0.4,1],[1,1,1]);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宋体" panose="02010600030101010101" pitchFamily="2" charset="-122"/>
              </a:rPr>
              <a:t>stepinfo(Phi)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    RiseTime: 1.4615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TransientTime: 7.7418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SettlingTime: 7.7418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 SettlingMin: 0.9289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 SettlingMax: 1.1799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   Overshoot: 17.9894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  Undershoot: 0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        Peak: 1.1799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 (正文 CS 字体)"/>
              </a:rPr>
              <a:t>         PeakTime: 3.1315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94604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EDA6-5EC4-60A1-1EE4-8A166EBD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A01E9BF-8AB5-0692-BEF4-0F7B520E0E51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二阶系统临界阻尼</a:t>
            </a:r>
          </a:p>
        </p:txBody>
      </p:sp>
      <p:pic>
        <p:nvPicPr>
          <p:cNvPr id="5121" name="图片 1">
            <a:extLst>
              <a:ext uri="{FF2B5EF4-FFF2-40B4-BE49-F238E27FC236}">
                <a16:creationId xmlns:a16="http://schemas.microsoft.com/office/drawing/2014/main" id="{8314C2CB-348C-40A7-E627-98A317AD9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46" y="2018163"/>
            <a:ext cx="5328592" cy="173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53C4C7-26D2-E065-D28C-88BBF01466B9}"/>
                  </a:ext>
                </a:extLst>
              </p:cNvPr>
              <p:cNvSpPr txBox="1"/>
              <p:nvPr/>
            </p:nvSpPr>
            <p:spPr>
              <a:xfrm>
                <a:off x="487321" y="1021521"/>
                <a:ext cx="1101722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设下图是简化的飞行控制系统的结构图，试选择参数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和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，使系统的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effectLst/>
                            <a:latin typeface="+mn-ea"/>
                            <a:cs typeface="Times New Roman (正文 CS 字体)"/>
                          </a:rPr>
                          <m:t>ω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=6,</m:t>
                    </m:r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+mn-ea"/>
                        <a:cs typeface="Times New Roman (正文 CS 字体)"/>
                      </a:rPr>
                      <m:t>ζ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=1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53C4C7-26D2-E065-D28C-88BBF0146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1" y="1021521"/>
                <a:ext cx="11017224" cy="830997"/>
              </a:xfrm>
              <a:prstGeom prst="rect">
                <a:avLst/>
              </a:prstGeom>
              <a:blipFill>
                <a:blip r:embed="rId4"/>
                <a:stretch>
                  <a:fillRect l="-115" t="-606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D46FB69-C746-66E8-D34D-79B1B2B3B71C}"/>
              </a:ext>
            </a:extLst>
          </p:cNvPr>
          <p:cNvSpPr txBox="1"/>
          <p:nvPr/>
        </p:nvSpPr>
        <p:spPr>
          <a:xfrm>
            <a:off x="478583" y="3918212"/>
            <a:ext cx="113052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10515">
              <a:buNone/>
            </a:pPr>
            <a:r>
              <a:rPr lang="zh-CN" altLang="zh-CN" sz="2400" b="1" dirty="0">
                <a:effectLst/>
                <a:latin typeface="+mn-ea"/>
                <a:cs typeface="Times New Roman (正文 CS 字体)"/>
              </a:rPr>
              <a:t>解</a:t>
            </a:r>
            <a:r>
              <a:rPr lang="zh-CN" altLang="zh-CN" sz="2400" dirty="0">
                <a:effectLst/>
                <a:latin typeface="+mn-ea"/>
                <a:cs typeface="Times New Roman (正文 CS 字体)"/>
              </a:rPr>
              <a:t> 求出上图所示系统的闭环传递函数，并将其与二阶系统的传递函数的标准形式相比较，便可得所求参数。</a:t>
            </a:r>
          </a:p>
          <a:p>
            <a:pPr indent="304800"/>
            <a:r>
              <a:rPr lang="zh-CN" altLang="zh-CN" sz="2400" dirty="0">
                <a:effectLst/>
                <a:latin typeface="+mn-ea"/>
                <a:cs typeface="Times New Roman (正文 CS 字体)"/>
              </a:rPr>
              <a:t>通过简化结构图，可得系统的开环和闭环传递函数为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4AEA8F-01B6-865C-29A4-0116A7CDA3BB}"/>
                  </a:ext>
                </a:extLst>
              </p:cNvPr>
              <p:cNvSpPr txBox="1"/>
              <p:nvPr/>
            </p:nvSpPr>
            <p:spPr>
              <a:xfrm>
                <a:off x="-302989" y="5503920"/>
                <a:ext cx="6096000" cy="85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25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+0.8+25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4AEA8F-01B6-865C-29A4-0116A7CDA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989" y="5503920"/>
                <a:ext cx="6096000" cy="856068"/>
              </a:xfrm>
              <a:prstGeom prst="rect">
                <a:avLst/>
              </a:prstGeom>
              <a:blipFill>
                <a:blip r:embed="rId5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9417293-358B-82CE-4FD7-EA82F4719CA7}"/>
                  </a:ext>
                </a:extLst>
              </p:cNvPr>
              <p:cNvSpPr txBox="1"/>
              <p:nvPr/>
            </p:nvSpPr>
            <p:spPr>
              <a:xfrm>
                <a:off x="5256145" y="5503920"/>
                <a:ext cx="6248400" cy="85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25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0.8+25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+25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9417293-358B-82CE-4FD7-EA82F4719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145" y="5503920"/>
                <a:ext cx="6248400" cy="856068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0637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79AE-78F9-232F-A84B-D55714BA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4B691FB6-B69C-3F66-DCED-C3D0114369C0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二阶系统临界阻尼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70D924-0416-0DCD-1966-8343FD3A9046}"/>
              </a:ext>
            </a:extLst>
          </p:cNvPr>
          <p:cNvSpPr txBox="1"/>
          <p:nvPr/>
        </p:nvSpPr>
        <p:spPr>
          <a:xfrm>
            <a:off x="614452" y="112474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zh-CN" sz="2400" dirty="0">
                <a:effectLst/>
                <a:latin typeface="+mn-ea"/>
                <a:cs typeface="Times New Roman (正文 CS 字体)"/>
              </a:rPr>
              <a:t>二阶系统的传递函数的标准形式为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BA2AB01-6537-26FB-7E7B-0511ADF76CA4}"/>
                  </a:ext>
                </a:extLst>
              </p:cNvPr>
              <p:cNvSpPr txBox="1"/>
              <p:nvPr/>
            </p:nvSpPr>
            <p:spPr>
              <a:xfrm>
                <a:off x="2566814" y="1511047"/>
                <a:ext cx="6096000" cy="90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+mn-ea"/>
                        </a:rPr>
                        <m:t>𝛷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latin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+mn-ea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sz="2400" i="0">
                                  <a:latin typeface="+mn-ea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+mn-ea"/>
                            </a:rPr>
                            <m:t>ζ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+mn-ea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+mn-ea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sz="2400" i="0">
                                  <a:latin typeface="+mn-ea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BA2AB01-6537-26FB-7E7B-0511ADF76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1511047"/>
                <a:ext cx="6096000" cy="909160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D1B86B2-D3F0-D3D5-F656-C792D135C8CB}"/>
              </a:ext>
            </a:extLst>
          </p:cNvPr>
          <p:cNvSpPr txBox="1"/>
          <p:nvPr/>
        </p:nvSpPr>
        <p:spPr>
          <a:xfrm>
            <a:off x="982638" y="25577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比较可得</a:t>
            </a:r>
            <a:r>
              <a:rPr lang="zh-CN" altLang="zh-CN" sz="2400" dirty="0">
                <a:effectLst/>
                <a:latin typeface="+mn-ea"/>
              </a:rPr>
              <a:t> </a:t>
            </a:r>
            <a:endParaRPr lang="zh-CN" altLang="en-US" sz="2400" dirty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E237AB0-9A45-9B5F-2EF3-1CFD132DFD29}"/>
                  </a:ext>
                </a:extLst>
              </p:cNvPr>
              <p:cNvSpPr txBox="1"/>
              <p:nvPr/>
            </p:nvSpPr>
            <p:spPr>
              <a:xfrm>
                <a:off x="2782838" y="3306001"/>
                <a:ext cx="6096000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latin typeface="+mn-ea"/>
                        </a:rPr>
                        <m:t>25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+mn-ea"/>
                            </a:rPr>
                            <m:t>K</m:t>
                          </m:r>
                        </m:e>
                        <m:sub>
                          <m:r>
                            <a:rPr lang="zh-CN" altLang="en-US" sz="2400" i="0">
                              <a:latin typeface="+mn-ea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latin typeface="+mn-ea"/>
                        </a:rPr>
                        <m:t> = </m:t>
                      </m:r>
                      <m:sSubSup>
                        <m:sSub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+mn-ea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+mn-ea"/>
                            </a:rPr>
                            <m:t>n</m:t>
                          </m:r>
                        </m:sub>
                        <m:sup>
                          <m:r>
                            <a:rPr lang="zh-CN" altLang="en-US" sz="2400" i="0">
                              <a:latin typeface="+mn-ea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E237AB0-9A45-9B5F-2EF3-1CFD132DF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838" y="3306001"/>
                <a:ext cx="6096000" cy="470000"/>
              </a:xfrm>
              <a:prstGeom prst="rect">
                <a:avLst/>
              </a:prstGeom>
              <a:blipFill>
                <a:blip r:embed="rId4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B04ED6-5C8D-8CCC-8943-292E9FB18C36}"/>
                  </a:ext>
                </a:extLst>
              </p:cNvPr>
              <p:cNvSpPr txBox="1"/>
              <p:nvPr/>
            </p:nvSpPr>
            <p:spPr>
              <a:xfrm>
                <a:off x="2782838" y="3759831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latin typeface="+mn-ea"/>
                        </a:rPr>
                        <m:t>0.8</m:t>
                      </m:r>
                      <m:r>
                        <a:rPr lang="zh-CN" altLang="en-US" sz="2400" i="0">
                          <a:latin typeface="+mn-ea"/>
                        </a:rPr>
                        <m:t>+25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+mn-ea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0">
                              <a:latin typeface="+mn-ea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+mn-ea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+mn-ea"/>
                            </a:rPr>
                            <m:t>t</m:t>
                          </m:r>
                        </m:sub>
                      </m:sSub>
                      <m:r>
                        <a:rPr lang="zh-CN" altLang="en-US" sz="2400" i="0">
                          <a:latin typeface="+mn-ea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+mn-ea"/>
                        </a:rPr>
                        <m:t>ζ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+mn-ea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400" i="1">
                              <a:latin typeface="+mn-ea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B04ED6-5C8D-8CCC-8943-292E9FB18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838" y="3759831"/>
                <a:ext cx="6096000" cy="461665"/>
              </a:xfrm>
              <a:prstGeom prst="rect">
                <a:avLst/>
              </a:prstGeom>
              <a:blipFill>
                <a:blip r:embed="rId5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2F82BB3-7400-B0F5-6125-F174BA26D8FB}"/>
              </a:ext>
            </a:extLst>
          </p:cNvPr>
          <p:cNvSpPr txBox="1"/>
          <p:nvPr/>
        </p:nvSpPr>
        <p:spPr>
          <a:xfrm>
            <a:off x="920081" y="422149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zh-CN" sz="2400" dirty="0">
                <a:effectLst/>
                <a:latin typeface="+mn-ea"/>
                <a:cs typeface="Times New Roman (正文 CS 字体)"/>
              </a:rPr>
              <a:t>解之得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11325C6-88FD-71F2-7043-007E86C4B319}"/>
                  </a:ext>
                </a:extLst>
              </p:cNvPr>
              <p:cNvSpPr txBox="1"/>
              <p:nvPr/>
            </p:nvSpPr>
            <p:spPr>
              <a:xfrm>
                <a:off x="2782838" y="5093582"/>
                <a:ext cx="6096000" cy="506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+mn-ea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0">
                              <a:latin typeface="+mn-ea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latin typeface="+mn-ea"/>
                        </a:rPr>
                        <m:t>=1.44, 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+mn-ea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1">
                              <a:latin typeface="+mn-ea"/>
                            </a:rPr>
                            <m:t>𝑡</m:t>
                          </m:r>
                        </m:sub>
                      </m:sSub>
                      <m:r>
                        <a:rPr lang="zh-CN" altLang="en-US" sz="2400" i="0">
                          <a:latin typeface="+mn-ea"/>
                        </a:rPr>
                        <m:t>=0.31</m:t>
                      </m:r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11325C6-88FD-71F2-7043-007E86C4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838" y="5093582"/>
                <a:ext cx="6096000" cy="506742"/>
              </a:xfrm>
              <a:prstGeom prst="rect">
                <a:avLst/>
              </a:prstGeom>
              <a:blipFill>
                <a:blip r:embed="rId6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3418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98BB-1DA0-F836-2202-2D13792BC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2E31D9D9-A07B-CB2A-D564-E00CE5A6C3B3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稳态误差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076322-26AB-CC00-4FBE-12A50E7A20C8}"/>
              </a:ext>
            </a:extLst>
          </p:cNvPr>
          <p:cNvSpPr txBox="1"/>
          <p:nvPr/>
        </p:nvSpPr>
        <p:spPr>
          <a:xfrm>
            <a:off x="262558" y="10562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zh-CN" sz="2400" dirty="0">
                <a:effectLst/>
                <a:latin typeface="+mn-ea"/>
                <a:cs typeface="Times New Roman (正文 CS 字体)"/>
              </a:rPr>
              <a:t>设闭环传递函数的一般形式为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BD6B32-F528-E422-9FEB-8501D7CE1AE9}"/>
                  </a:ext>
                </a:extLst>
              </p:cNvPr>
              <p:cNvSpPr txBox="1"/>
              <p:nvPr/>
            </p:nvSpPr>
            <p:spPr>
              <a:xfrm>
                <a:off x="537210" y="1728524"/>
                <a:ext cx="9867175" cy="905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+mn-ea"/>
                        </a:rPr>
                        <m:t>𝛷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latin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+mn-ea"/>
                            </a:rPr>
                            <m:t>𝐺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i="0">
                              <a:latin typeface="+mn-ea"/>
                            </a:rPr>
                            <m:t>1+</m:t>
                          </m:r>
                          <m:r>
                            <a:rPr lang="zh-CN" altLang="en-US" sz="2400" i="1">
                              <a:latin typeface="+mn-ea"/>
                            </a:rPr>
                            <m:t>𝐺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1">
                              <a:latin typeface="+mn-ea"/>
                            </a:rPr>
                            <m:t>𝐻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zh-CN" altLang="en-US" sz="2400" i="0">
                          <a:latin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𝑚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𝑚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𝑚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𝑚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BD6B32-F528-E422-9FEB-8501D7CE1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" y="1728524"/>
                <a:ext cx="9867175" cy="905056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340322E-11E7-407B-B22F-6020C4E0DA68}"/>
                  </a:ext>
                </a:extLst>
              </p:cNvPr>
              <p:cNvSpPr txBox="1"/>
              <p:nvPr/>
            </p:nvSpPr>
            <p:spPr>
              <a:xfrm>
                <a:off x="406574" y="2844210"/>
                <a:ext cx="11089232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误差定义取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𝑒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(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𝑡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)=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𝑟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(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𝑡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)−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𝑐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(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𝑡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)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。试证：</a:t>
                </a: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（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1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）系统在阶跃信号输入下，稳态误差为零的充分条件是：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=1,2,</m:t>
                        </m:r>
                        <m:r>
                          <a:rPr lang="zh-CN" altLang="zh-CN" sz="2400">
                            <a:effectLst/>
                            <a:latin typeface="+mn-ea"/>
                            <a:cs typeface="Times New Roman (正文 CS 字体)"/>
                          </a:rPr>
                          <m:t>…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,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；</a:t>
                </a: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（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2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）系统在斜坡信号输入下，稳态误差为零的充分条件是：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=2,3,</m:t>
                        </m:r>
                        <m:r>
                          <a:rPr lang="zh-CN" altLang="zh-CN" sz="2400">
                            <a:effectLst/>
                            <a:latin typeface="+mn-ea"/>
                            <a:cs typeface="Times New Roman (正文 CS 字体)"/>
                          </a:rPr>
                          <m:t>…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,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340322E-11E7-407B-B22F-6020C4E0D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2844210"/>
                <a:ext cx="11089232" cy="1938992"/>
              </a:xfrm>
              <a:prstGeom prst="rect">
                <a:avLst/>
              </a:prstGeom>
              <a:blipFill>
                <a:blip r:embed="rId4"/>
                <a:stretch>
                  <a:fillRect l="-114" t="-3268" b="-6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6531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33366-E38B-500B-4337-7D681356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ECF09D00-B419-3725-EB40-56F6337E7E87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稳态误差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696298-A870-D51C-7F44-C464B84740A1}"/>
              </a:ext>
            </a:extLst>
          </p:cNvPr>
          <p:cNvSpPr txBox="1"/>
          <p:nvPr/>
        </p:nvSpPr>
        <p:spPr>
          <a:xfrm>
            <a:off x="118542" y="927968"/>
            <a:ext cx="1152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10515">
              <a:buNone/>
            </a:pPr>
            <a:r>
              <a:rPr lang="zh-CN" altLang="zh-CN" sz="2400" b="1" dirty="0">
                <a:effectLst/>
                <a:latin typeface="+mn-ea"/>
                <a:cs typeface="Times New Roman (正文 CS 字体)"/>
              </a:rPr>
              <a:t>证明</a:t>
            </a:r>
            <a:r>
              <a:rPr lang="zh-CN" altLang="zh-CN" sz="2400" dirty="0">
                <a:effectLst/>
                <a:latin typeface="+mn-ea"/>
                <a:cs typeface="Times New Roman (正文 CS 字体)"/>
              </a:rPr>
              <a:t> 本题主要运用终值定理求证。</a:t>
            </a:r>
          </a:p>
          <a:p>
            <a:pPr indent="304800"/>
            <a:r>
              <a:rPr lang="zh-CN" altLang="zh-CN" sz="2400" dirty="0">
                <a:effectLst/>
                <a:latin typeface="+mn-ea"/>
                <a:cs typeface="Times New Roman (正文 CS 字体)"/>
              </a:rPr>
              <a:t>系统的误差传递函数为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10D0908-7B6E-F4A6-46F3-35CD6B1182AB}"/>
                  </a:ext>
                </a:extLst>
              </p:cNvPr>
              <p:cNvSpPr txBox="1"/>
              <p:nvPr/>
            </p:nvSpPr>
            <p:spPr>
              <a:xfrm>
                <a:off x="0" y="1787726"/>
                <a:ext cx="11377264" cy="2033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𝛷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𝐸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𝑅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𝑅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−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𝑅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=1−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𝛷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>
                              <a:effectLst/>
                              <a:latin typeface="+mn-ea"/>
                              <a:cs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>
                              <a:effectLst/>
                              <a:latin typeface="+mn-ea"/>
                              <a:cs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>
                              <a:effectLst/>
                              <a:latin typeface="+mn-ea"/>
                              <a:cs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(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𝑚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 &lt; 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𝑛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)</m:t>
                      </m:r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10D0908-7B6E-F4A6-46F3-35CD6B118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7726"/>
                <a:ext cx="11377264" cy="2033762"/>
              </a:xfrm>
              <a:prstGeom prst="rect">
                <a:avLst/>
              </a:prstGeom>
              <a:blipFill>
                <a:blip r:embed="rId3"/>
                <a:stretch>
                  <a:fillRect r="-5915" b="-4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C4A65D-855D-5688-76EA-DCB6AFF99A85}"/>
                  </a:ext>
                </a:extLst>
              </p:cNvPr>
              <p:cNvSpPr txBox="1"/>
              <p:nvPr/>
            </p:nvSpPr>
            <p:spPr>
              <a:xfrm>
                <a:off x="118542" y="3809176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（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1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）当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=1,2,</m:t>
                        </m:r>
                        <m:r>
                          <a:rPr lang="zh-CN" altLang="zh-CN" sz="2400">
                            <a:effectLst/>
                            <a:latin typeface="+mn-ea"/>
                            <a:cs typeface="Times New Roman (正文 CS 字体)"/>
                          </a:rPr>
                          <m:t>…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,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时，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C4A65D-855D-5688-76EA-DCB6AFF99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809176"/>
                <a:ext cx="6096000" cy="461665"/>
              </a:xfrm>
              <a:prstGeom prst="rect">
                <a:avLst/>
              </a:prstGeom>
              <a:blipFill>
                <a:blip r:embed="rId4"/>
                <a:stretch>
                  <a:fillRect t="-10811" r="-6445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8BA1EE9-4028-38C5-8828-3B39DB27E117}"/>
                  </a:ext>
                </a:extLst>
              </p:cNvPr>
              <p:cNvSpPr txBox="1"/>
              <p:nvPr/>
            </p:nvSpPr>
            <p:spPr>
              <a:xfrm>
                <a:off x="180020" y="4285152"/>
                <a:ext cx="11017224" cy="905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+mn-ea"/>
                            </a:rPr>
                            <m:t>𝛷</m:t>
                          </m:r>
                        </m:e>
                        <m:sub>
                          <m:r>
                            <a:rPr lang="zh-CN" altLang="en-US" sz="2400" i="1">
                              <a:latin typeface="+mn-ea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latin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+mn-ea"/>
                                </a:rPr>
                                <m:t>𝑛</m:t>
                              </m:r>
                              <m:r>
                                <a:rPr lang="zh-CN" altLang="en-US" sz="2400" i="0">
                                  <a:latin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sz="2400" i="0">
                              <a:latin typeface="+mn-ea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  <m:r>
                            <a:rPr lang="zh-CN" altLang="en-US" sz="2400" i="0">
                              <a:latin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+mn-ea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sz="2400" i="0">
                          <a:latin typeface="+mn-ea"/>
                        </a:rPr>
                        <m:t>,  </m:t>
                      </m:r>
                      <m:r>
                        <a:rPr lang="zh-CN" altLang="en-US" sz="2400" i="1">
                          <a:latin typeface="+mn-ea"/>
                        </a:rPr>
                        <m:t>𝑅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latin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+mn-ea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latin typeface="+mn-ea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latin typeface="+mn-ea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8BA1EE9-4028-38C5-8828-3B39DB27E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20" y="4285152"/>
                <a:ext cx="11017224" cy="905056"/>
              </a:xfrm>
              <a:prstGeom prst="rect">
                <a:avLst/>
              </a:prstGeom>
              <a:blipFill>
                <a:blip r:embed="rId5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1CF364-E19D-EADC-2426-668D4F239762}"/>
                  </a:ext>
                </a:extLst>
              </p:cNvPr>
              <p:cNvSpPr txBox="1"/>
              <p:nvPr/>
            </p:nvSpPr>
            <p:spPr>
              <a:xfrm>
                <a:off x="262558" y="5108172"/>
                <a:ext cx="11233248" cy="1643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由终值定理可得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𝑠𝑠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∞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𝑒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r>
                                <a:rPr lang="en-US" altLang="zh-CN" sz="2400">
                                  <a:effectLst/>
                                  <a:latin typeface="+mn-ea"/>
                                  <a:cs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r>
                                <a:rPr lang="en-US" altLang="zh-CN" sz="2400">
                                  <a:effectLst/>
                                  <a:latin typeface="+mn-ea"/>
                                  <a:cs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=0</m:t>
                      </m:r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因而充分条件得证。</a:t>
                </a: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1CF364-E19D-EADC-2426-668D4F239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58" y="5108172"/>
                <a:ext cx="11233248" cy="1643720"/>
              </a:xfrm>
              <a:prstGeom prst="rect">
                <a:avLst/>
              </a:prstGeom>
              <a:blipFill>
                <a:blip r:embed="rId6"/>
                <a:stretch>
                  <a:fillRect t="-3077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8057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1E54A-9378-FE60-214B-8643C72C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57060FB4-1B1B-0C17-9448-56A6C1404E6A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稳态误差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3CF916C-F204-DE73-4E9D-E02AADE852A2}"/>
                  </a:ext>
                </a:extLst>
              </p:cNvPr>
              <p:cNvSpPr txBox="1"/>
              <p:nvPr/>
            </p:nvSpPr>
            <p:spPr>
              <a:xfrm>
                <a:off x="766614" y="1196752"/>
                <a:ext cx="9937104" cy="282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（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2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）当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𝑖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=2,3,</m:t>
                        </m:r>
                        <m:r>
                          <a:rPr lang="zh-CN" altLang="zh-CN" sz="2400">
                            <a:effectLst/>
                            <a:latin typeface="+mn-ea"/>
                            <a:cs typeface="Times New Roman (正文 CS 字体)"/>
                          </a:rPr>
                          <m:t>…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,</m:t>
                        </m:r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时，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𝛷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>
                              <a:effectLst/>
                              <a:latin typeface="+mn-ea"/>
                              <a:cs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r>
                            <a:rPr lang="en-US" altLang="zh-CN" sz="2400">
                              <a:effectLst/>
                              <a:latin typeface="+mn-ea"/>
                              <a:cs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,</m:t>
                      </m:r>
                      <m:r>
                        <a:rPr lang="en-US" altLang="zh-CN" sz="2400">
                          <a:effectLst/>
                          <a:latin typeface="+mn-ea"/>
                          <a:cs typeface="Times New Roman (正文 CS 字体)"/>
                        </a:rPr>
                        <m:t> 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由终值定理可得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𝑠𝑠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∞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𝑒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r>
                                <a:rPr lang="en-US" altLang="zh-CN" sz="2400">
                                  <a:effectLst/>
                                  <a:latin typeface="+mn-ea"/>
                                  <a:cs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r>
                                <a:rPr lang="en-US" altLang="zh-CN" sz="2400">
                                  <a:effectLst/>
                                  <a:latin typeface="+mn-ea"/>
                                  <a:cs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=0</m:t>
                      </m:r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因而充分条件得证。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3CF916C-F204-DE73-4E9D-E02AADE8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1196752"/>
                <a:ext cx="9937104" cy="2825774"/>
              </a:xfrm>
              <a:prstGeom prst="rect">
                <a:avLst/>
              </a:prstGeom>
              <a:blipFill>
                <a:blip r:embed="rId3"/>
                <a:stretch>
                  <a:fillRect t="-1794" b="-4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69021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9A09-4444-3DE1-461F-4F1945401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A3ED9A9-EC5E-2C8D-6B41-38F947FD4E8B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机器人控制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D55E2A6-F518-28A5-2641-37BE653ADAFB}"/>
                  </a:ext>
                </a:extLst>
              </p:cNvPr>
              <p:cNvSpPr txBox="1"/>
              <p:nvPr/>
            </p:nvSpPr>
            <p:spPr>
              <a:xfrm>
                <a:off x="406574" y="1038064"/>
                <a:ext cx="11169386" cy="300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机器人应反馈原理来控制每个关节的方向。由于负载的改变以及机械臂伸展位置的变化，负载对机器人会产生不同的影响。例如，机械爪抓持负载后，就可能使机器人产生偏差。已知机器人关节指向控制系统如</a:t>
                </a:r>
                <a:r>
                  <a:rPr lang="zh-CN" altLang="en-US" sz="2400" dirty="0">
                    <a:effectLst/>
                    <a:latin typeface="+mn-ea"/>
                    <a:cs typeface="Times New Roman (正文 CS 字体)"/>
                  </a:rPr>
                  <a:t>下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图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所示，其中负载扰动为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1/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𝑠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。要求：</a:t>
                </a: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（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1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𝑅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(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𝑠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) = 0</m:t>
                    </m:r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时，确定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𝑁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den>
                    </m:f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𝐶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(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𝑠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)</m:t>
                    </m:r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的影响，指出减少此种影响的方法；</a:t>
                </a: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（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2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𝑁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=0,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𝑅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时，计算系统在输出端定义的稳态误差，指出减少此种稳态误差的方法。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D55E2A6-F518-28A5-2641-37BE653AD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1038064"/>
                <a:ext cx="11169386" cy="3006208"/>
              </a:xfrm>
              <a:prstGeom prst="rect">
                <a:avLst/>
              </a:prstGeom>
              <a:blipFill>
                <a:blip r:embed="rId3"/>
                <a:stretch>
                  <a:fillRect l="-909" t="-1681" r="-3523" b="-3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3E26EB9-DD76-ECB4-52E5-56ABF1C2D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346" y="4044272"/>
            <a:ext cx="6089719" cy="234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768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236C-2868-A943-6E55-43BDF95A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B698AE3E-78FB-88F7-00E1-6970AAC329A6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机器人控制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66668C6-0615-1E5F-813B-61B3611FF1A2}"/>
                  </a:ext>
                </a:extLst>
              </p:cNvPr>
              <p:cNvSpPr txBox="1"/>
              <p:nvPr/>
            </p:nvSpPr>
            <p:spPr>
              <a:xfrm>
                <a:off x="703170" y="1268760"/>
                <a:ext cx="10784072" cy="4578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10515">
                  <a:buNone/>
                </a:pPr>
                <a:r>
                  <a:rPr lang="zh-CN" altLang="zh-CN" sz="2400" b="1" dirty="0">
                    <a:effectLst/>
                    <a:latin typeface="+mn-ea"/>
                    <a:cs typeface="Times New Roman (正文 CS 字体)"/>
                  </a:rPr>
                  <a:t>解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 本题研究系统参数选择与系统稳态误差的关系。由于只有在系统稳定的前提下，系统稳态误差的计算才有意义，因此首先需要进行稳定性分析，以确定系统参数选取的容许范围。</a:t>
                </a: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（</a:t>
                </a: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1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）稳定性分析。令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𝑇𝑠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则闭环传递函数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𝛷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𝐻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/>
                            <m:t>𝑇</m:t>
                          </m:r>
                          <m:sSup>
                            <m:sSupPr>
                              <m:ctrlPr>
                                <a:rPr lang="zh-CN" altLang="en-US" sz="2400" i="1"/>
                              </m:ctrlPr>
                            </m:sSupPr>
                            <m:e>
                              <m:r>
                                <a:rPr lang="en-US" altLang="zh-CN" sz="2400" i="1"/>
                                <m:t>𝑠</m:t>
                              </m:r>
                            </m:e>
                            <m:sup>
                              <m:r>
                                <a:rPr lang="en-US" altLang="zh-CN" sz="2400" i="1"/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闭环特征方程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𝐷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 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𝑇</m:t>
                      </m:r>
                      <m:sSup>
                        <m:sSup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+ 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 + 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𝑠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 + </m:t>
                      </m:r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 0</m:t>
                      </m:r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显然，只要参数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 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 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, 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𝑇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均为正数，则闭环系统一定渐近稳定。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66668C6-0615-1E5F-813B-61B3611FF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70" y="1268760"/>
                <a:ext cx="10784072" cy="4578048"/>
              </a:xfrm>
              <a:prstGeom prst="rect">
                <a:avLst/>
              </a:prstGeom>
              <a:blipFill>
                <a:blip r:embed="rId3"/>
                <a:stretch>
                  <a:fillRect l="-824" t="-829" b="-2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2296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F3A0-A8FC-3117-35A1-67F28E7D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73FF7EA3-8B2B-C960-A2CE-36430B3A9700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机器人控制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11D3DDA-5E54-28F0-38FA-7378006789B6}"/>
                  </a:ext>
                </a:extLst>
              </p:cNvPr>
              <p:cNvSpPr txBox="1"/>
              <p:nvPr/>
            </p:nvSpPr>
            <p:spPr>
              <a:xfrm>
                <a:off x="614452" y="1238817"/>
                <a:ext cx="10729192" cy="4380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(2)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𝑅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=0,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𝑁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时，系统的稳态误差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cs typeface="Times New Roman (正文 CS 字体)"/>
                          </a:rPr>
                          <m:t>ss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>
                            <a:effectLst/>
                            <a:latin typeface="+mn-ea"/>
                            <a:cs typeface="Times New Roman (正文 CS 字体)"/>
                          </a:rPr>
                          <m:t>∞</m:t>
                        </m:r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𝑁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den>
                    </m:f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作用下，闭环系统的输出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=−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𝐻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𝑁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=−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 (正文 CS 字体)"/>
                                </a:rPr>
                                <m:t>𝑇𝑠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+1) 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在系统输出端的误差信号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=−</m:t>
                      </m:r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于是，扰动作用下的稳态误差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  <a:cs typeface="Times New Roman (正文 CS 字体)"/>
                            </a:rPr>
                            <m:t>ssn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∞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Times New Roman (正文 CS 字体)"/>
                                    </a:rPr>
                                    <m:t>𝑇𝑠</m:t>
                                  </m:r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显然，增大前置放大器增益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和关节角位移反馈系数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，可以减小阶跃货物扰动对输出关节角位移的影响。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11D3DDA-5E54-28F0-38FA-73780067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1238817"/>
                <a:ext cx="10729192" cy="4380366"/>
              </a:xfrm>
              <a:prstGeom prst="rect">
                <a:avLst/>
              </a:prstGeom>
              <a:blipFill>
                <a:blip r:embed="rId3"/>
                <a:stretch>
                  <a:fillRect l="-946" r="-3664" b="-2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1297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82EB5-0D5F-B981-C780-238B97DE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E156B048-2F9D-7B4D-472A-DE1D3B2B57A3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机器人控制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0439D58-1EEF-D95E-EA4E-34B3FCF9BC81}"/>
                  </a:ext>
                </a:extLst>
              </p:cNvPr>
              <p:cNvSpPr txBox="1"/>
              <p:nvPr/>
            </p:nvSpPr>
            <p:spPr>
              <a:xfrm>
                <a:off x="614452" y="1196752"/>
                <a:ext cx="11221904" cy="4184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(3)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𝑁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=0,</m:t>
                    </m:r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𝑅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时，系统的稳态误差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cs typeface="Times New Roman (正文 CS 字体)"/>
                          </a:rPr>
                          <m:t>ss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>
                            <a:effectLst/>
                            <a:latin typeface="+mn-ea"/>
                            <a:cs typeface="Times New Roman (正文 CS 字体)"/>
                          </a:rPr>
                          <m:t>∞</m:t>
                        </m:r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。在预期关节角输入作用下，系统的实际关节角输出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𝐶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𝐻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位于系统输入端的误差信号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−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𝐻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𝐶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effectLst/>
                                          <a:latin typeface="+mn-ea"/>
                                          <a:cs typeface="Times New Roman (正文 CS 字体)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effectLst/>
                                      <a:latin typeface="+mn-ea"/>
                                      <a:cs typeface="Times New Roman (正文 CS 字体)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根据拉氏变换的终值定理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cs typeface="Times New Roman (正文 CS 字体)"/>
                            </a:rPr>
                            <m:t>𝑠𝑠𝑟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∞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𝑠𝐸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𝑟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=0</m:t>
                      </m:r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表明在无负载扰动时，预期阶跃关节角输入不会在系统输入端产生稳态误差。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0439D58-1EEF-D95E-EA4E-34B3FCF9B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1196752"/>
                <a:ext cx="11221904" cy="4184864"/>
              </a:xfrm>
              <a:prstGeom prst="rect">
                <a:avLst/>
              </a:prstGeom>
              <a:blipFill>
                <a:blip r:embed="rId3"/>
                <a:stretch>
                  <a:fillRect l="-904" r="-339" b="-2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4838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EB36-2C3E-CE2D-09FB-52AB0A59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DE927039-2551-A0FD-D425-F4E9F99B4FB3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机器人控制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3358B31-A38E-E9BC-CF14-95AD2C57E67B}"/>
                  </a:ext>
                </a:extLst>
              </p:cNvPr>
              <p:cNvSpPr txBox="1"/>
              <p:nvPr/>
            </p:nvSpPr>
            <p:spPr>
              <a:xfrm>
                <a:off x="614452" y="1484784"/>
                <a:ext cx="11169386" cy="2859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位于系统输出端的误差信号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−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𝛷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1−</m:t>
                          </m:r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𝛷</m:t>
                          </m:r>
                          <m:d>
                            <m:d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>
                  <a:buNone/>
                </a:pP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𝑅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altLang="zh-CN" sz="2400" dirty="0">
                    <a:effectLst/>
                    <a:latin typeface="+mn-ea"/>
                    <a:cs typeface="Times New Roman (正文 CS 字体)"/>
                  </a:rPr>
                  <a:t> </a:t>
                </a:r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时，稳态误差</a:t>
                </a:r>
              </a:p>
              <a:p>
                <a:pPr indent="3048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  <a:cs typeface="Times New Roman (正文 CS 字体)"/>
                            </a:rPr>
                            <m:t>ssr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effectLst/>
                              <a:latin typeface="+mn-ea"/>
                              <a:cs typeface="Times New Roman (正文 CS 字体)"/>
                            </a:rPr>
                            <m:t>∞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𝑠</m:t>
                              </m:r>
                              <m:r>
                                <a:rPr lang="zh-CN" altLang="zh-CN" sz="2400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→</m:t>
                              </m:r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𝑟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=1−</m:t>
                      </m:r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𝛷</m:t>
                      </m:r>
                      <m:d>
                        <m:d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0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+mn-ea"/>
                          <a:cs typeface="Times New Roman (正文 CS 字体)"/>
                        </a:rPr>
                        <m:t>=1−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effectLst/>
                              <a:latin typeface="+mn-ea"/>
                              <a:cs typeface="Times New Roman (正文 CS 字体)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1">
                                  <a:effectLst/>
                                  <a:latin typeface="+mn-ea"/>
                                  <a:cs typeface="Times New Roman (正文 CS 字体)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400" dirty="0">
                  <a:effectLst/>
                  <a:latin typeface="+mn-ea"/>
                  <a:cs typeface="Times New Roman (正文 CS 字体)"/>
                </a:endParaRPr>
              </a:p>
              <a:p>
                <a:pPr indent="304800"/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计算表明，在无负载扰动情况下，预期阶跃关节角输入会在系统输出端产生稳态误差。若取反馈系数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=1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，则可使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+mn-ea"/>
                            <a:cs typeface="Times New Roman (正文 CS 字体)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s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effectLst/>
                            <a:latin typeface="+mn-ea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400">
                            <a:effectLst/>
                            <a:latin typeface="+mn-ea"/>
                            <a:cs typeface="Times New Roman (正文 CS 字体)"/>
                          </a:rPr>
                          <m:t>∞</m:t>
                        </m:r>
                      </m:e>
                    </m:d>
                    <m:r>
                      <a:rPr lang="en-US" altLang="zh-CN" sz="2400" i="1">
                        <a:effectLst/>
                        <a:latin typeface="+mn-ea"/>
                        <a:cs typeface="Times New Roman (正文 CS 字体)"/>
                      </a:rPr>
                      <m:t>=0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  <a:cs typeface="Times New Roman (正文 CS 字体)"/>
                  </a:rPr>
                  <a:t>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3358B31-A38E-E9BC-CF14-95AD2C57E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1484784"/>
                <a:ext cx="11169386" cy="2859309"/>
              </a:xfrm>
              <a:prstGeom prst="rect">
                <a:avLst/>
              </a:prstGeom>
              <a:blipFill>
                <a:blip r:embed="rId3"/>
                <a:stretch>
                  <a:fillRect l="-909" t="-2212" r="-795" b="-3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44652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23687</TotalTime>
  <Words>1217</Words>
  <Application>Microsoft Macintosh PowerPoint</Application>
  <PresentationFormat>自定义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汉仪菱心体简</vt:lpstr>
      <vt:lpstr>微软雅黑</vt:lpstr>
      <vt:lpstr>Arial</vt:lpstr>
      <vt:lpstr>Calibri</vt:lpstr>
      <vt:lpstr>Cambria Math</vt:lpstr>
      <vt:lpstr>Gill Sans Ultra Bold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582</cp:revision>
  <dcterms:created xsi:type="dcterms:W3CDTF">2012-09-21T08:06:35Z</dcterms:created>
  <dcterms:modified xsi:type="dcterms:W3CDTF">2025-03-26T06:08:38Z</dcterms:modified>
  <cp:category/>
</cp:coreProperties>
</file>