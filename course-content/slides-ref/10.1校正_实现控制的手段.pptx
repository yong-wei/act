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53" r:id="rId2"/>
    <p:sldId id="510" r:id="rId3"/>
    <p:sldId id="511" r:id="rId4"/>
    <p:sldId id="488" r:id="rId5"/>
    <p:sldId id="489" r:id="rId6"/>
    <p:sldId id="521" r:id="rId7"/>
    <p:sldId id="520" r:id="rId8"/>
    <p:sldId id="486" r:id="rId9"/>
    <p:sldId id="522" r:id="rId10"/>
    <p:sldId id="523" r:id="rId11"/>
    <p:sldId id="524" r:id="rId12"/>
    <p:sldId id="485" r:id="rId13"/>
    <p:sldId id="475" r:id="rId14"/>
    <p:sldId id="460" r:id="rId15"/>
    <p:sldId id="487" r:id="rId16"/>
    <p:sldId id="512" r:id="rId17"/>
    <p:sldId id="513" r:id="rId18"/>
    <p:sldId id="517" r:id="rId19"/>
    <p:sldId id="518" r:id="rId20"/>
    <p:sldId id="519" r:id="rId21"/>
  </p:sldIdLst>
  <p:sldSz cx="12190413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706" userDrawn="1">
          <p15:clr>
            <a:srgbClr val="A4A3A4"/>
          </p15:clr>
        </p15:guide>
        <p15:guide id="3" pos="4747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8" userDrawn="1">
          <p15:clr>
            <a:srgbClr val="A4A3A4"/>
          </p15:clr>
        </p15:guide>
        <p15:guide id="6" pos="3386" userDrawn="1">
          <p15:clr>
            <a:srgbClr val="A4A3A4"/>
          </p15:clr>
        </p15:guide>
        <p15:guide id="7" pos="7015" userDrawn="1">
          <p15:clr>
            <a:srgbClr val="A4A3A4"/>
          </p15:clr>
        </p15:guide>
        <p15:guide id="8" pos="4293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5200" userDrawn="1">
          <p15:clr>
            <a:srgbClr val="A4A3A4"/>
          </p15:clr>
        </p15:guide>
        <p15:guide id="11" pos="5654" userDrawn="1">
          <p15:clr>
            <a:srgbClr val="A4A3A4"/>
          </p15:clr>
        </p15:guide>
        <p15:guide id="12" pos="6107" userDrawn="1">
          <p15:clr>
            <a:srgbClr val="A4A3A4"/>
          </p15:clr>
        </p15:guide>
        <p15:guide id="13" pos="6561" userDrawn="1">
          <p15:clr>
            <a:srgbClr val="A4A3A4"/>
          </p15:clr>
        </p15:guide>
        <p15:guide id="14" orient="horz" pos="2614" userDrawn="1">
          <p15:clr>
            <a:srgbClr val="A4A3A4"/>
          </p15:clr>
        </p15:guide>
        <p15:guide id="15" orient="horz" pos="3067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3974" userDrawn="1">
          <p15:clr>
            <a:srgbClr val="A4A3A4"/>
          </p15:clr>
        </p15:guide>
        <p15:guide id="18" orient="horz" pos="1253" userDrawn="1">
          <p15:clr>
            <a:srgbClr val="A4A3A4"/>
          </p15:clr>
        </p15:guide>
        <p15:guide id="19" orient="horz" pos="799" userDrawn="1">
          <p15:clr>
            <a:srgbClr val="A4A3A4"/>
          </p15:clr>
        </p15:guide>
        <p15:guide id="20" orient="horz" pos="346" userDrawn="1">
          <p15:clr>
            <a:srgbClr val="A4A3A4"/>
          </p15:clr>
        </p15:guide>
        <p15:guide id="21" pos="2932" userDrawn="1">
          <p15:clr>
            <a:srgbClr val="A4A3A4"/>
          </p15:clr>
        </p15:guide>
        <p15:guide id="22" pos="2479" userDrawn="1">
          <p15:clr>
            <a:srgbClr val="A4A3A4"/>
          </p15:clr>
        </p15:guide>
        <p15:guide id="23" pos="2025" userDrawn="1">
          <p15:clr>
            <a:srgbClr val="A4A3A4"/>
          </p15:clr>
        </p15:guide>
        <p15:guide id="24" pos="1572" userDrawn="1">
          <p15:clr>
            <a:srgbClr val="A4A3A4"/>
          </p15:clr>
        </p15:guide>
        <p15:guide id="25" pos="1118" userDrawn="1">
          <p15:clr>
            <a:srgbClr val="A4A3A4"/>
          </p15:clr>
        </p15:guide>
        <p15:guide id="26" pos="6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CEEA"/>
    <a:srgbClr val="E44860"/>
    <a:srgbClr val="159F84"/>
    <a:srgbClr val="F29B11"/>
    <a:srgbClr val="00B0F0"/>
    <a:srgbClr val="FFC000"/>
    <a:srgbClr val="9BBB59"/>
    <a:srgbClr val="768395"/>
    <a:srgbClr val="1C1C1C"/>
    <a:srgbClr val="2980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6" autoAdjust="0"/>
    <p:restoredTop sz="93475" autoAdjust="0"/>
  </p:normalViewPr>
  <p:slideViewPr>
    <p:cSldViewPr>
      <p:cViewPr varScale="1">
        <p:scale>
          <a:sx n="96" d="100"/>
          <a:sy n="96" d="100"/>
        </p:scale>
        <p:origin x="1280" y="464"/>
      </p:cViewPr>
      <p:guideLst>
        <p:guide orient="horz" pos="2160"/>
        <p:guide orient="horz" pos="1706"/>
        <p:guide pos="4747"/>
        <p:guide pos="211"/>
        <p:guide pos="7468"/>
        <p:guide pos="3386"/>
        <p:guide pos="7015"/>
        <p:guide pos="4293"/>
        <p:guide pos="3840"/>
        <p:guide pos="5200"/>
        <p:guide pos="5654"/>
        <p:guide pos="6107"/>
        <p:guide pos="6561"/>
        <p:guide orient="horz" pos="2614"/>
        <p:guide orient="horz" pos="3067"/>
        <p:guide orient="horz" pos="3521"/>
        <p:guide orient="horz" pos="3974"/>
        <p:guide orient="horz" pos="1253"/>
        <p:guide orient="horz" pos="799"/>
        <p:guide orient="horz" pos="346"/>
        <p:guide pos="2932"/>
        <p:guide pos="2479"/>
        <p:guide pos="2025"/>
        <p:guide pos="1572"/>
        <p:guide pos="1118"/>
        <p:guide pos="6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2025/3/23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2025/3/23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03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055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738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442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553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56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717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4513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&lt;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254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034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0552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2374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983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3164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335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930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301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绿条地图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基本情况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创新设计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创新效果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教学成果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05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1618718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3" r:id="rId2"/>
    <p:sldLayoutId id="2147483659" r:id="rId3"/>
    <p:sldLayoutId id="2147483667" r:id="rId4"/>
    <p:sldLayoutId id="2147483668" r:id="rId5"/>
    <p:sldLayoutId id="2147483671" r:id="rId6"/>
    <p:sldLayoutId id="2147483669" r:id="rId7"/>
    <p:sldLayoutId id="2147483670" r:id="rId8"/>
    <p:sldLayoutId id="2147483672" r:id="rId9"/>
    <p:sldLayoutId id="2147483673" r:id="rId1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NULL"/><Relationship Id="rId11" Type="http://schemas.openxmlformats.org/officeDocument/2006/relationships/image" Target="../media/image8.png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../media/image13.png"/><Relationship Id="rId10" Type="http://schemas.openxmlformats.org/officeDocument/2006/relationships/image" Target="NULL"/><Relationship Id="rId4" Type="http://schemas.openxmlformats.org/officeDocument/2006/relationships/image" Target="../media/image12.png"/><Relationship Id="rId9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35.png"/><Relationship Id="rId7" Type="http://schemas.openxmlformats.org/officeDocument/2006/relationships/image" Target="NUL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36.pn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自动控制原理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7A72020-F212-7A4F-9886-409A4930D7B8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2B67B0DA-556A-0B89-6384-3FFC1D7F4C6D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29F12436-5FDB-A05F-74CE-A6E67966B7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93D0DB62-DA3B-26C7-4CF1-126A7C384299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ABEB3BDD-5767-C862-7180-BEE323DFC8ED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AC8A9ADA-7042-7A8C-27C9-EE7B11A6D6FD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8BF7BF1A-4852-74BB-2974-C4A9C80F33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DB0019ED-199B-2F82-139A-9D04905AE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节段3">
            <a:extLst>
              <a:ext uri="{FF2B5EF4-FFF2-40B4-BE49-F238E27FC236}">
                <a16:creationId xmlns:a16="http://schemas.microsoft.com/office/drawing/2014/main" id="{2ED134D8-4396-5957-E553-8ABF4E57D6EF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5" name="节段4">
            <a:extLst>
              <a:ext uri="{FF2B5EF4-FFF2-40B4-BE49-F238E27FC236}">
                <a16:creationId xmlns:a16="http://schemas.microsoft.com/office/drawing/2014/main" id="{4C7CB016-BBEE-BDEA-03F5-5613FC7FAF97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6" name="节段5">
            <a:extLst>
              <a:ext uri="{FF2B5EF4-FFF2-40B4-BE49-F238E27FC236}">
                <a16:creationId xmlns:a16="http://schemas.microsoft.com/office/drawing/2014/main" id="{9B528F5E-5B56-04D6-8D5E-5117B2A82704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7" name="节段6">
            <a:extLst>
              <a:ext uri="{FF2B5EF4-FFF2-40B4-BE49-F238E27FC236}">
                <a16:creationId xmlns:a16="http://schemas.microsoft.com/office/drawing/2014/main" id="{90E00070-848F-4C0E-5B96-BFE9A9C47D9C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8" name="节段7">
            <a:extLst>
              <a:ext uri="{FF2B5EF4-FFF2-40B4-BE49-F238E27FC236}">
                <a16:creationId xmlns:a16="http://schemas.microsoft.com/office/drawing/2014/main" id="{B1007742-24A6-63C8-03B7-1F283F0F1CF9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9" name="节段8">
            <a:extLst>
              <a:ext uri="{FF2B5EF4-FFF2-40B4-BE49-F238E27FC236}">
                <a16:creationId xmlns:a16="http://schemas.microsoft.com/office/drawing/2014/main" id="{B78CDD92-DB86-441A-13AD-955229A45886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10" name="节段9">
            <a:extLst>
              <a:ext uri="{FF2B5EF4-FFF2-40B4-BE49-F238E27FC236}">
                <a16:creationId xmlns:a16="http://schemas.microsoft.com/office/drawing/2014/main" id="{0F46DBF7-59DB-8E9C-851E-C9935EA9B4C8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11" name="节段10">
            <a:extLst>
              <a:ext uri="{FF2B5EF4-FFF2-40B4-BE49-F238E27FC236}">
                <a16:creationId xmlns:a16="http://schemas.microsoft.com/office/drawing/2014/main" id="{557367C6-4C24-FCB2-4C28-DA0D4AAC94D9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节段17">
            <a:extLst>
              <a:ext uri="{FF2B5EF4-FFF2-40B4-BE49-F238E27FC236}">
                <a16:creationId xmlns:a16="http://schemas.microsoft.com/office/drawing/2014/main" id="{748F2B10-28CE-7E8E-B3EB-7DEB9DFA88A3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  <p:sp>
        <p:nvSpPr>
          <p:cNvPr id="24" name="节段18">
            <a:extLst>
              <a:ext uri="{FF2B5EF4-FFF2-40B4-BE49-F238E27FC236}">
                <a16:creationId xmlns:a16="http://schemas.microsoft.com/office/drawing/2014/main" id="{3FB0EDDA-D0B7-9400-8A9B-9BC792A8F5CA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77" y="1592972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步骤1">
            <a:extLst>
              <a:ext uri="{FF2B5EF4-FFF2-40B4-BE49-F238E27FC236}">
                <a16:creationId xmlns:a16="http://schemas.microsoft.com/office/drawing/2014/main" id="{2334E117-E373-0616-6D0E-DD1101F1368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DCCBC4C8-E173-BC5A-8A28-F389626E647F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了解比例微分控制的原理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32BA269-03F5-04FE-0B57-13EFF01505B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步骤2">
            <a:extLst>
              <a:ext uri="{FF2B5EF4-FFF2-40B4-BE49-F238E27FC236}">
                <a16:creationId xmlns:a16="http://schemas.microsoft.com/office/drawing/2014/main" id="{25C68FF5-996A-6B65-D290-8429DAC47274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12" name="标题">
              <a:extLst>
                <a:ext uri="{FF2B5EF4-FFF2-40B4-BE49-F238E27FC236}">
                  <a16:creationId xmlns:a16="http://schemas.microsoft.com/office/drawing/2014/main" id="{173CCDD5-9C46-591E-DB05-E8BCD41337D0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了解输出反馈控制的原理</a:t>
              </a:r>
            </a:p>
          </p:txBody>
        </p:sp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4512248E-BA27-4F3B-BB37-D47B514523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4" name="步骤3">
            <a:extLst>
              <a:ext uri="{FF2B5EF4-FFF2-40B4-BE49-F238E27FC236}">
                <a16:creationId xmlns:a16="http://schemas.microsoft.com/office/drawing/2014/main" id="{B96B03B9-B2AB-DA88-5522-8E71F1F384AA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EB9E02EF-7D2B-02DA-3C74-5B28CE440FEB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能够辨析两类控制器效果的差异</a:t>
              </a:r>
            </a:p>
          </p:txBody>
        </p:sp>
        <p:sp>
          <p:nvSpPr>
            <p:cNvPr id="16" name="序号">
              <a:extLst>
                <a:ext uri="{FF2B5EF4-FFF2-40B4-BE49-F238E27FC236}">
                  <a16:creationId xmlns:a16="http://schemas.microsoft.com/office/drawing/2014/main" id="{E749324C-E86E-7EF5-6347-DDC3A73466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7" name="步骤4">
            <a:extLst>
              <a:ext uri="{FF2B5EF4-FFF2-40B4-BE49-F238E27FC236}">
                <a16:creationId xmlns:a16="http://schemas.microsoft.com/office/drawing/2014/main" id="{74A91B15-9FD5-97BB-0766-BB3812A25282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18" name="标题">
              <a:extLst>
                <a:ext uri="{FF2B5EF4-FFF2-40B4-BE49-F238E27FC236}">
                  <a16:creationId xmlns:a16="http://schemas.microsoft.com/office/drawing/2014/main" id="{8DEA9CB0-0441-88E1-21D6-8155790CAB78}"/>
                </a:ext>
              </a:extLst>
            </p:cNvPr>
            <p:cNvSpPr/>
            <p:nvPr/>
          </p:nvSpPr>
          <p:spPr bwMode="auto">
            <a:xfrm>
              <a:off x="5459860" y="1807902"/>
              <a:ext cx="5603502" cy="51077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能够运用计算机辅助验证校正效果</a:t>
              </a:r>
            </a:p>
          </p:txBody>
        </p:sp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8221103E-E915-9992-911C-50C0B81E40C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6" name="学习目标">
            <a:extLst>
              <a:ext uri="{FF2B5EF4-FFF2-40B4-BE49-F238E27FC236}">
                <a16:creationId xmlns:a16="http://schemas.microsoft.com/office/drawing/2014/main" id="{75F2FD80-C54D-CDC7-7E54-494CB4F6BFF0}"/>
              </a:ext>
            </a:extLst>
          </p:cNvPr>
          <p:cNvSpPr/>
          <p:nvPr/>
        </p:nvSpPr>
        <p:spPr bwMode="auto">
          <a:xfrm>
            <a:off x="8257290" y="127932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2" name="燕尾形 1">
            <a:extLst>
              <a:ext uri="{FF2B5EF4-FFF2-40B4-BE49-F238E27FC236}">
                <a16:creationId xmlns:a16="http://schemas.microsoft.com/office/drawing/2014/main" id="{870C4953-2275-A95B-BFD3-F6796FC19636}"/>
              </a:ext>
            </a:extLst>
          </p:cNvPr>
          <p:cNvSpPr/>
          <p:nvPr/>
        </p:nvSpPr>
        <p:spPr>
          <a:xfrm>
            <a:off x="7097877" y="1350973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3" name="章节">
            <a:extLst>
              <a:ext uri="{FF2B5EF4-FFF2-40B4-BE49-F238E27FC236}">
                <a16:creationId xmlns:a16="http://schemas.microsoft.com/office/drawing/2014/main" id="{6816B119-56A5-89AC-69AF-B75726CA0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106813"/>
              </p:ext>
            </p:extLst>
          </p:nvPr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7A050445-FC6D-0973-47D8-556F335924C5}"/>
              </a:ext>
            </a:extLst>
          </p:cNvPr>
          <p:cNvSpPr/>
          <p:nvPr/>
        </p:nvSpPr>
        <p:spPr>
          <a:xfrm>
            <a:off x="4069200" y="-11987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重点">
            <a:extLst>
              <a:ext uri="{FF2B5EF4-FFF2-40B4-BE49-F238E27FC236}">
                <a16:creationId xmlns:a16="http://schemas.microsoft.com/office/drawing/2014/main" id="{E7AF913B-94CD-0D9E-9D1E-15E41E75B3A9}"/>
              </a:ext>
            </a:extLst>
          </p:cNvPr>
          <p:cNvSpPr/>
          <p:nvPr/>
        </p:nvSpPr>
        <p:spPr bwMode="auto">
          <a:xfrm>
            <a:off x="5731824" y="5463087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30" name="难点">
            <a:extLst>
              <a:ext uri="{FF2B5EF4-FFF2-40B4-BE49-F238E27FC236}">
                <a16:creationId xmlns:a16="http://schemas.microsoft.com/office/drawing/2014/main" id="{76867F75-98E0-71CE-4432-9B760E5E57B4}"/>
              </a:ext>
            </a:extLst>
          </p:cNvPr>
          <p:cNvSpPr/>
          <p:nvPr/>
        </p:nvSpPr>
        <p:spPr bwMode="auto">
          <a:xfrm>
            <a:off x="5735166" y="4480845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2" name="节段10">
            <a:extLst>
              <a:ext uri="{FF2B5EF4-FFF2-40B4-BE49-F238E27FC236}">
                <a16:creationId xmlns:a16="http://schemas.microsoft.com/office/drawing/2014/main" id="{0C3F0A37-EF04-7DE5-232B-106245237D96}"/>
              </a:ext>
            </a:extLst>
          </p:cNvPr>
          <p:cNvSpPr/>
          <p:nvPr/>
        </p:nvSpPr>
        <p:spPr bwMode="auto">
          <a:xfrm>
            <a:off x="693606" y="1281397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  <p:bldP spid="25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线性系统时域矫正</a:t>
            </a:r>
          </a:p>
        </p:txBody>
      </p:sp>
      <p:sp>
        <p:nvSpPr>
          <p:cNvPr id="91" name="小标题1">
            <a:extLst>
              <a:ext uri="{FF2B5EF4-FFF2-40B4-BE49-F238E27FC236}">
                <a16:creationId xmlns:a16="http://schemas.microsoft.com/office/drawing/2014/main" id="{1D5DE0D7-FED9-5BDE-B48A-2FB64F6DE9FF}"/>
              </a:ext>
            </a:extLst>
          </p:cNvPr>
          <p:cNvSpPr/>
          <p:nvPr/>
        </p:nvSpPr>
        <p:spPr bwMode="auto">
          <a:xfrm>
            <a:off x="147343" y="998118"/>
            <a:ext cx="1900223" cy="52322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校正</a:t>
            </a:r>
          </a:p>
        </p:txBody>
      </p:sp>
      <p:sp>
        <p:nvSpPr>
          <p:cNvPr id="15" name="说明1">
            <a:extLst>
              <a:ext uri="{FF2B5EF4-FFF2-40B4-BE49-F238E27FC236}">
                <a16:creationId xmlns:a16="http://schemas.microsoft.com/office/drawing/2014/main" id="{0E4DDF63-04D6-B62D-85D7-32D15FE70F20}"/>
              </a:ext>
            </a:extLst>
          </p:cNvPr>
          <p:cNvSpPr txBox="1"/>
          <p:nvPr/>
        </p:nvSpPr>
        <p:spPr>
          <a:xfrm>
            <a:off x="2350790" y="955466"/>
            <a:ext cx="96956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采用适当方式，在系统中加入一些参数和结构可调整的装置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校正装置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，用以改变系统结构，进一步提高系统的性能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稳、快、准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57DFF7E-2594-9EAE-0928-B17730136BAC}"/>
              </a:ext>
            </a:extLst>
          </p:cNvPr>
          <p:cNvGrpSpPr/>
          <p:nvPr/>
        </p:nvGrpSpPr>
        <p:grpSpPr>
          <a:xfrm>
            <a:off x="2234789" y="2300438"/>
            <a:ext cx="3894395" cy="2064724"/>
            <a:chOff x="2234789" y="2300438"/>
            <a:chExt cx="3894395" cy="2064724"/>
          </a:xfrm>
        </p:grpSpPr>
        <p:cxnSp>
          <p:nvCxnSpPr>
            <p:cNvPr id="67" name="信号12">
              <a:extLst>
                <a:ext uri="{FF2B5EF4-FFF2-40B4-BE49-F238E27FC236}">
                  <a16:creationId xmlns:a16="http://schemas.microsoft.com/office/drawing/2014/main" id="{12883025-1A70-C190-C711-80871A003281}"/>
                </a:ext>
              </a:extLst>
            </p:cNvPr>
            <p:cNvCxnSpPr>
              <a:cxnSpLocks/>
              <a:stCxn id="18" idx="0"/>
              <a:endCxn id="37" idx="1"/>
            </p:cNvCxnSpPr>
            <p:nvPr/>
          </p:nvCxnSpPr>
          <p:spPr>
            <a:xfrm rot="5400000" flipH="1" flipV="1">
              <a:off x="2071112" y="3445726"/>
              <a:ext cx="1083113" cy="75575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信号13">
              <a:extLst>
                <a:ext uri="{FF2B5EF4-FFF2-40B4-BE49-F238E27FC236}">
                  <a16:creationId xmlns:a16="http://schemas.microsoft.com/office/drawing/2014/main" id="{06D19045-14EA-80BA-7A33-DD7DE411A80E}"/>
                </a:ext>
              </a:extLst>
            </p:cNvPr>
            <p:cNvSpPr/>
            <p:nvPr/>
          </p:nvSpPr>
          <p:spPr>
            <a:xfrm>
              <a:off x="4790748" y="3285089"/>
              <a:ext cx="1338436" cy="974288"/>
            </a:xfrm>
            <a:custGeom>
              <a:avLst/>
              <a:gdLst>
                <a:gd name="connsiteX0" fmla="*/ 0 w 1027044"/>
                <a:gd name="connsiteY0" fmla="*/ 0 h 881270"/>
                <a:gd name="connsiteX1" fmla="*/ 424070 w 1027044"/>
                <a:gd name="connsiteY1" fmla="*/ 0 h 881270"/>
                <a:gd name="connsiteX2" fmla="*/ 1027044 w 1027044"/>
                <a:gd name="connsiteY2" fmla="*/ 881270 h 88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27044" h="881270">
                  <a:moveTo>
                    <a:pt x="0" y="0"/>
                  </a:moveTo>
                  <a:lnTo>
                    <a:pt x="424070" y="0"/>
                  </a:lnTo>
                  <a:lnTo>
                    <a:pt x="1027044" y="881270"/>
                  </a:lnTo>
                </a:path>
              </a:pathLst>
            </a:custGeom>
            <a:noFill/>
            <a:ln w="38100">
              <a:solidFill>
                <a:schemeClr val="accent1">
                  <a:shade val="95000"/>
                  <a:satMod val="10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3" name="标签7">
              <a:extLst>
                <a:ext uri="{FF2B5EF4-FFF2-40B4-BE49-F238E27FC236}">
                  <a16:creationId xmlns:a16="http://schemas.microsoft.com/office/drawing/2014/main" id="{9725258F-FEB6-655F-C8BF-55DE7D61F392}"/>
                </a:ext>
              </a:extLst>
            </p:cNvPr>
            <p:cNvSpPr txBox="1"/>
            <p:nvPr/>
          </p:nvSpPr>
          <p:spPr>
            <a:xfrm>
              <a:off x="2943658" y="2300438"/>
              <a:ext cx="197741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按输入补偿</a:t>
              </a:r>
            </a:p>
          </p:txBody>
        </p:sp>
        <p:sp>
          <p:nvSpPr>
            <p:cNvPr id="37" name="前馈校正1">
              <a:extLst>
                <a:ext uri="{FF2B5EF4-FFF2-40B4-BE49-F238E27FC236}">
                  <a16:creationId xmlns:a16="http://schemas.microsoft.com/office/drawing/2014/main" id="{47E40F56-9380-FDE8-44A2-7A97A443A2CA}"/>
                </a:ext>
              </a:extLst>
            </p:cNvPr>
            <p:cNvSpPr/>
            <p:nvPr/>
          </p:nvSpPr>
          <p:spPr>
            <a:xfrm>
              <a:off x="2990548" y="2850048"/>
              <a:ext cx="1800200" cy="864000"/>
            </a:xfrm>
            <a:prstGeom prst="rect">
              <a:avLst/>
            </a:prstGeom>
            <a:solidFill>
              <a:srgbClr val="F29B11">
                <a:alpha val="49892"/>
              </a:srgbClr>
            </a:solidFill>
            <a:ln w="25400">
              <a:solidFill>
                <a:srgbClr val="F29B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800" dirty="0">
                  <a:solidFill>
                    <a:schemeClr val="tx1"/>
                  </a:solidFill>
                </a:rPr>
                <a:t>前馈校正</a:t>
              </a:r>
              <a:endParaRPr kumimoji="1" lang="en-US" altLang="zh-CN" sz="28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zh-CN" altLang="en-US" sz="2800" dirty="0">
                  <a:solidFill>
                    <a:schemeClr val="tx1"/>
                  </a:solidFill>
                </a:rPr>
                <a:t>元件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39A95EB-3C0D-35FE-FDC8-4044F9BB7258}"/>
              </a:ext>
            </a:extLst>
          </p:cNvPr>
          <p:cNvGrpSpPr/>
          <p:nvPr/>
        </p:nvGrpSpPr>
        <p:grpSpPr>
          <a:xfrm>
            <a:off x="6292408" y="2312389"/>
            <a:ext cx="4636481" cy="1932914"/>
            <a:chOff x="6292408" y="2312389"/>
            <a:chExt cx="4636481" cy="1932914"/>
          </a:xfrm>
        </p:grpSpPr>
        <p:sp>
          <p:nvSpPr>
            <p:cNvPr id="83" name="信号14">
              <a:extLst>
                <a:ext uri="{FF2B5EF4-FFF2-40B4-BE49-F238E27FC236}">
                  <a16:creationId xmlns:a16="http://schemas.microsoft.com/office/drawing/2014/main" id="{3E382685-4FD0-28F0-3902-8CDBF77CAF61}"/>
                </a:ext>
              </a:extLst>
            </p:cNvPr>
            <p:cNvSpPr/>
            <p:nvPr/>
          </p:nvSpPr>
          <p:spPr>
            <a:xfrm flipH="1">
              <a:off x="6292408" y="3307870"/>
              <a:ext cx="1041166" cy="937433"/>
            </a:xfrm>
            <a:custGeom>
              <a:avLst/>
              <a:gdLst>
                <a:gd name="connsiteX0" fmla="*/ 0 w 1027044"/>
                <a:gd name="connsiteY0" fmla="*/ 0 h 881270"/>
                <a:gd name="connsiteX1" fmla="*/ 424070 w 1027044"/>
                <a:gd name="connsiteY1" fmla="*/ 0 h 881270"/>
                <a:gd name="connsiteX2" fmla="*/ 1027044 w 1027044"/>
                <a:gd name="connsiteY2" fmla="*/ 881270 h 88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27044" h="881270">
                  <a:moveTo>
                    <a:pt x="0" y="0"/>
                  </a:moveTo>
                  <a:lnTo>
                    <a:pt x="424070" y="0"/>
                  </a:lnTo>
                  <a:lnTo>
                    <a:pt x="1027044" y="881270"/>
                  </a:lnTo>
                </a:path>
              </a:pathLst>
            </a:custGeom>
            <a:noFill/>
            <a:ln w="38100">
              <a:solidFill>
                <a:schemeClr val="accent1">
                  <a:shade val="95000"/>
                  <a:satMod val="10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84" name="信号15">
              <a:extLst>
                <a:ext uri="{FF2B5EF4-FFF2-40B4-BE49-F238E27FC236}">
                  <a16:creationId xmlns:a16="http://schemas.microsoft.com/office/drawing/2014/main" id="{8BA3C528-70EF-3C94-BFB6-7765622F1A5A}"/>
                </a:ext>
              </a:extLst>
            </p:cNvPr>
            <p:cNvCxnSpPr>
              <a:cxnSpLocks/>
              <a:stCxn id="27" idx="1"/>
              <a:endCxn id="38" idx="3"/>
            </p:cNvCxnSpPr>
            <p:nvPr/>
          </p:nvCxnSpPr>
          <p:spPr>
            <a:xfrm flipH="1" flipV="1">
              <a:off x="9119542" y="3285089"/>
              <a:ext cx="873243" cy="688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信号16">
              <a:extLst>
                <a:ext uri="{FF2B5EF4-FFF2-40B4-BE49-F238E27FC236}">
                  <a16:creationId xmlns:a16="http://schemas.microsoft.com/office/drawing/2014/main" id="{D6F7A6A1-6867-5744-603B-7E1F9F58A05A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9983639" y="2564961"/>
              <a:ext cx="56" cy="13704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标签8">
              <a:extLst>
                <a:ext uri="{FF2B5EF4-FFF2-40B4-BE49-F238E27FC236}">
                  <a16:creationId xmlns:a16="http://schemas.microsoft.com/office/drawing/2014/main" id="{63729657-3CC1-4C34-2E78-27FDCDF1243B}"/>
                </a:ext>
              </a:extLst>
            </p:cNvPr>
            <p:cNvSpPr txBox="1"/>
            <p:nvPr/>
          </p:nvSpPr>
          <p:spPr>
            <a:xfrm>
              <a:off x="7200213" y="2312389"/>
              <a:ext cx="197741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按干扰补偿</a:t>
              </a:r>
            </a:p>
          </p:txBody>
        </p:sp>
        <p:sp>
          <p:nvSpPr>
            <p:cNvPr id="27" name="标签9">
              <a:extLst>
                <a:ext uri="{FF2B5EF4-FFF2-40B4-BE49-F238E27FC236}">
                  <a16:creationId xmlns:a16="http://schemas.microsoft.com/office/drawing/2014/main" id="{7EA6BE62-30B8-645D-7B75-B17075DFFA9A}"/>
                </a:ext>
              </a:extLst>
            </p:cNvPr>
            <p:cNvSpPr txBox="1"/>
            <p:nvPr/>
          </p:nvSpPr>
          <p:spPr>
            <a:xfrm>
              <a:off x="9992785" y="3030368"/>
              <a:ext cx="9361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干扰</a:t>
              </a:r>
            </a:p>
          </p:txBody>
        </p:sp>
        <p:sp>
          <p:nvSpPr>
            <p:cNvPr id="38" name="前馈校正2">
              <a:extLst>
                <a:ext uri="{FF2B5EF4-FFF2-40B4-BE49-F238E27FC236}">
                  <a16:creationId xmlns:a16="http://schemas.microsoft.com/office/drawing/2014/main" id="{F2A0A796-5C6A-6B56-B18C-7491652609A1}"/>
                </a:ext>
              </a:extLst>
            </p:cNvPr>
            <p:cNvSpPr/>
            <p:nvPr/>
          </p:nvSpPr>
          <p:spPr>
            <a:xfrm>
              <a:off x="7319342" y="2853089"/>
              <a:ext cx="1800200" cy="864000"/>
            </a:xfrm>
            <a:prstGeom prst="rect">
              <a:avLst/>
            </a:prstGeom>
            <a:solidFill>
              <a:srgbClr val="F29B11">
                <a:alpha val="49892"/>
              </a:srgbClr>
            </a:solidFill>
            <a:ln w="25400">
              <a:solidFill>
                <a:srgbClr val="F29B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800" dirty="0">
                  <a:solidFill>
                    <a:schemeClr val="tx1"/>
                  </a:solidFill>
                </a:rPr>
                <a:t>前馈校正</a:t>
              </a:r>
              <a:endParaRPr kumimoji="1" lang="en-US" altLang="zh-CN" sz="28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zh-CN" altLang="en-US" sz="2800" dirty="0">
                  <a:solidFill>
                    <a:schemeClr val="tx1"/>
                  </a:solidFill>
                </a:rPr>
                <a:t>元件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C207AFC-04D5-5447-72E2-A85F90F5B911}"/>
              </a:ext>
            </a:extLst>
          </p:cNvPr>
          <p:cNvGrpSpPr/>
          <p:nvPr/>
        </p:nvGrpSpPr>
        <p:grpSpPr>
          <a:xfrm>
            <a:off x="406574" y="3831061"/>
            <a:ext cx="11521280" cy="2622275"/>
            <a:chOff x="406574" y="3831061"/>
            <a:chExt cx="11521280" cy="2622275"/>
          </a:xfrm>
        </p:grpSpPr>
        <p:cxnSp>
          <p:nvCxnSpPr>
            <p:cNvPr id="64" name="信号1">
              <a:extLst>
                <a:ext uri="{FF2B5EF4-FFF2-40B4-BE49-F238E27FC236}">
                  <a16:creationId xmlns:a16="http://schemas.microsoft.com/office/drawing/2014/main" id="{48362B4B-75E8-F0D9-6A06-390D120BA4B7}"/>
                </a:ext>
              </a:extLst>
            </p:cNvPr>
            <p:cNvCxnSpPr>
              <a:cxnSpLocks/>
              <a:stCxn id="40" idx="3"/>
              <a:endCxn id="55" idx="2"/>
            </p:cNvCxnSpPr>
            <p:nvPr/>
          </p:nvCxnSpPr>
          <p:spPr>
            <a:xfrm>
              <a:off x="1414573" y="4367394"/>
              <a:ext cx="1224249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信号2">
              <a:extLst>
                <a:ext uri="{FF2B5EF4-FFF2-40B4-BE49-F238E27FC236}">
                  <a16:creationId xmlns:a16="http://schemas.microsoft.com/office/drawing/2014/main" id="{ACFD800E-FADE-AC0F-D7C7-322648FF5663}"/>
                </a:ext>
              </a:extLst>
            </p:cNvPr>
            <p:cNvCxnSpPr>
              <a:cxnSpLocks/>
              <a:stCxn id="55" idx="6"/>
              <a:endCxn id="39" idx="1"/>
            </p:cNvCxnSpPr>
            <p:nvPr/>
          </p:nvCxnSpPr>
          <p:spPr>
            <a:xfrm>
              <a:off x="2926822" y="4367394"/>
              <a:ext cx="936136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信号3">
              <a:extLst>
                <a:ext uri="{FF2B5EF4-FFF2-40B4-BE49-F238E27FC236}">
                  <a16:creationId xmlns:a16="http://schemas.microsoft.com/office/drawing/2014/main" id="{B8FA226B-0CB2-F873-2448-1238920679E6}"/>
                </a:ext>
              </a:extLst>
            </p:cNvPr>
            <p:cNvCxnSpPr>
              <a:cxnSpLocks/>
              <a:stCxn id="39" idx="3"/>
              <a:endCxn id="21" idx="2"/>
            </p:cNvCxnSpPr>
            <p:nvPr/>
          </p:nvCxnSpPr>
          <p:spPr>
            <a:xfrm>
              <a:off x="5663158" y="4367394"/>
              <a:ext cx="43208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信号8">
              <a:extLst>
                <a:ext uri="{FF2B5EF4-FFF2-40B4-BE49-F238E27FC236}">
                  <a16:creationId xmlns:a16="http://schemas.microsoft.com/office/drawing/2014/main" id="{3EE907B3-79BC-6C25-8587-C95E4AAD9021}"/>
                </a:ext>
              </a:extLst>
            </p:cNvPr>
            <p:cNvCxnSpPr>
              <a:cxnSpLocks/>
              <a:stCxn id="20" idx="2"/>
              <a:endCxn id="36" idx="3"/>
            </p:cNvCxnSpPr>
            <p:nvPr/>
          </p:nvCxnSpPr>
          <p:spPr>
            <a:xfrm rot="5400000">
              <a:off x="7981688" y="2960956"/>
              <a:ext cx="1838216" cy="4642546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信号9">
              <a:extLst>
                <a:ext uri="{FF2B5EF4-FFF2-40B4-BE49-F238E27FC236}">
                  <a16:creationId xmlns:a16="http://schemas.microsoft.com/office/drawing/2014/main" id="{454CAAB7-0F79-5635-6019-26EAAADD1422}"/>
                </a:ext>
              </a:extLst>
            </p:cNvPr>
            <p:cNvCxnSpPr>
              <a:cxnSpLocks/>
              <a:stCxn id="36" idx="1"/>
              <a:endCxn id="55" idx="4"/>
            </p:cNvCxnSpPr>
            <p:nvPr/>
          </p:nvCxnSpPr>
          <p:spPr>
            <a:xfrm rot="10800000">
              <a:off x="2782822" y="4511395"/>
              <a:ext cx="2138252" cy="1689943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标签1">
              <a:extLst>
                <a:ext uri="{FF2B5EF4-FFF2-40B4-BE49-F238E27FC236}">
                  <a16:creationId xmlns:a16="http://schemas.microsoft.com/office/drawing/2014/main" id="{7770D9A2-5255-B08E-A6A4-DD5D2165941A}"/>
                </a:ext>
              </a:extLst>
            </p:cNvPr>
            <p:cNvSpPr txBox="1"/>
            <p:nvPr/>
          </p:nvSpPr>
          <p:spPr>
            <a:xfrm>
              <a:off x="1396172" y="3831061"/>
              <a:ext cx="9361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输入</a:t>
              </a:r>
            </a:p>
          </p:txBody>
        </p:sp>
        <p:sp>
          <p:nvSpPr>
            <p:cNvPr id="18" name="标签2">
              <a:extLst>
                <a:ext uri="{FF2B5EF4-FFF2-40B4-BE49-F238E27FC236}">
                  <a16:creationId xmlns:a16="http://schemas.microsoft.com/office/drawing/2014/main" id="{CD457E28-36E9-5EE2-213E-FD42DC625B66}"/>
                </a:ext>
              </a:extLst>
            </p:cNvPr>
            <p:cNvSpPr txBox="1"/>
            <p:nvPr/>
          </p:nvSpPr>
          <p:spPr>
            <a:xfrm>
              <a:off x="1766737" y="4365161"/>
              <a:ext cx="93610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比较元件</a:t>
              </a:r>
            </a:p>
          </p:txBody>
        </p:sp>
        <p:sp>
          <p:nvSpPr>
            <p:cNvPr id="74" name="标签3">
              <a:extLst>
                <a:ext uri="{FF2B5EF4-FFF2-40B4-BE49-F238E27FC236}">
                  <a16:creationId xmlns:a16="http://schemas.microsoft.com/office/drawing/2014/main" id="{CC225303-D9D8-1EAD-5B3B-D278172E790E}"/>
                </a:ext>
              </a:extLst>
            </p:cNvPr>
            <p:cNvSpPr txBox="1"/>
            <p:nvPr/>
          </p:nvSpPr>
          <p:spPr>
            <a:xfrm>
              <a:off x="2892819" y="3838738"/>
              <a:ext cx="9361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偏差</a:t>
              </a:r>
            </a:p>
          </p:txBody>
        </p:sp>
        <p:sp>
          <p:nvSpPr>
            <p:cNvPr id="89" name="标签5">
              <a:extLst>
                <a:ext uri="{FF2B5EF4-FFF2-40B4-BE49-F238E27FC236}">
                  <a16:creationId xmlns:a16="http://schemas.microsoft.com/office/drawing/2014/main" id="{7C432A47-07DC-7337-87C6-1A05D8B35417}"/>
                </a:ext>
              </a:extLst>
            </p:cNvPr>
            <p:cNvSpPr txBox="1"/>
            <p:nvPr/>
          </p:nvSpPr>
          <p:spPr>
            <a:xfrm>
              <a:off x="2772105" y="5678116"/>
              <a:ext cx="128024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主反馈</a:t>
              </a:r>
            </a:p>
          </p:txBody>
        </p:sp>
        <p:sp>
          <p:nvSpPr>
            <p:cNvPr id="55" name="sum1">
              <a:extLst>
                <a:ext uri="{FF2B5EF4-FFF2-40B4-BE49-F238E27FC236}">
                  <a16:creationId xmlns:a16="http://schemas.microsoft.com/office/drawing/2014/main" id="{A01DBBC0-D7F7-E78C-6143-3408042B1DE8}"/>
                </a:ext>
              </a:extLst>
            </p:cNvPr>
            <p:cNvSpPr/>
            <p:nvPr/>
          </p:nvSpPr>
          <p:spPr>
            <a:xfrm>
              <a:off x="2638822" y="4223394"/>
              <a:ext cx="288000" cy="288000"/>
            </a:xfrm>
            <a:prstGeom prst="ellipse">
              <a:avLst/>
            </a:prstGeom>
            <a:solidFill>
              <a:srgbClr val="159F84">
                <a:alpha val="50000"/>
              </a:srgbClr>
            </a:solidFill>
            <a:ln w="25400">
              <a:solidFill>
                <a:srgbClr val="159F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21" name="sum2">
              <a:extLst>
                <a:ext uri="{FF2B5EF4-FFF2-40B4-BE49-F238E27FC236}">
                  <a16:creationId xmlns:a16="http://schemas.microsoft.com/office/drawing/2014/main" id="{B6885059-992F-BA68-B446-39961DB4CEE7}"/>
                </a:ext>
              </a:extLst>
            </p:cNvPr>
            <p:cNvSpPr/>
            <p:nvPr/>
          </p:nvSpPr>
          <p:spPr>
            <a:xfrm>
              <a:off x="6095238" y="4223394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负号1">
                  <a:extLst>
                    <a:ext uri="{FF2B5EF4-FFF2-40B4-BE49-F238E27FC236}">
                      <a16:creationId xmlns:a16="http://schemas.microsoft.com/office/drawing/2014/main" id="{6820839B-ABF0-DE09-1842-BE45BAAA5890}"/>
                    </a:ext>
                  </a:extLst>
                </p:cNvPr>
                <p:cNvSpPr txBox="1"/>
                <p:nvPr/>
              </p:nvSpPr>
              <p:spPr>
                <a:xfrm>
                  <a:off x="2908051" y="4425304"/>
                  <a:ext cx="5948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2" name="负号1">
                  <a:extLst>
                    <a:ext uri="{FF2B5EF4-FFF2-40B4-BE49-F238E27FC236}">
                      <a16:creationId xmlns:a16="http://schemas.microsoft.com/office/drawing/2014/main" id="{6820839B-ABF0-DE09-1842-BE45BAAA5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8051" y="4425304"/>
                  <a:ext cx="594882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放大元件">
              <a:extLst>
                <a:ext uri="{FF2B5EF4-FFF2-40B4-BE49-F238E27FC236}">
                  <a16:creationId xmlns:a16="http://schemas.microsoft.com/office/drawing/2014/main" id="{5CA6443E-859D-9EB7-6A17-000404EBD32A}"/>
                </a:ext>
              </a:extLst>
            </p:cNvPr>
            <p:cNvSpPr/>
            <p:nvPr/>
          </p:nvSpPr>
          <p:spPr>
            <a:xfrm>
              <a:off x="6743391" y="3935394"/>
              <a:ext cx="1007999" cy="864000"/>
            </a:xfrm>
            <a:prstGeom prst="rect">
              <a:avLst/>
            </a:prstGeom>
            <a:solidFill>
              <a:srgbClr val="159F84">
                <a:alpha val="50000"/>
              </a:srgbClr>
            </a:solidFill>
            <a:ln w="25400">
              <a:solidFill>
                <a:srgbClr val="159F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800" dirty="0">
                  <a:solidFill>
                    <a:schemeClr val="tx1"/>
                  </a:solidFill>
                </a:rPr>
                <a:t>放大元件</a:t>
              </a:r>
            </a:p>
          </p:txBody>
        </p:sp>
        <p:cxnSp>
          <p:nvCxnSpPr>
            <p:cNvPr id="24" name="信号4">
              <a:extLst>
                <a:ext uri="{FF2B5EF4-FFF2-40B4-BE49-F238E27FC236}">
                  <a16:creationId xmlns:a16="http://schemas.microsoft.com/office/drawing/2014/main" id="{B4153806-8F4A-078D-E844-DF623BADB46A}"/>
                </a:ext>
              </a:extLst>
            </p:cNvPr>
            <p:cNvCxnSpPr>
              <a:cxnSpLocks/>
              <a:stCxn id="21" idx="6"/>
              <a:endCxn id="16" idx="1"/>
            </p:cNvCxnSpPr>
            <p:nvPr/>
          </p:nvCxnSpPr>
          <p:spPr>
            <a:xfrm>
              <a:off x="6383238" y="4367394"/>
              <a:ext cx="36015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信号5">
              <a:extLst>
                <a:ext uri="{FF2B5EF4-FFF2-40B4-BE49-F238E27FC236}">
                  <a16:creationId xmlns:a16="http://schemas.microsoft.com/office/drawing/2014/main" id="{B1D7FB00-355D-4381-1ABE-F33B6931A6FC}"/>
                </a:ext>
              </a:extLst>
            </p:cNvPr>
            <p:cNvCxnSpPr>
              <a:cxnSpLocks/>
              <a:stCxn id="16" idx="3"/>
              <a:endCxn id="33" idx="1"/>
            </p:cNvCxnSpPr>
            <p:nvPr/>
          </p:nvCxnSpPr>
          <p:spPr>
            <a:xfrm>
              <a:off x="7751390" y="4367394"/>
              <a:ext cx="36015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信号6">
              <a:extLst>
                <a:ext uri="{FF2B5EF4-FFF2-40B4-BE49-F238E27FC236}">
                  <a16:creationId xmlns:a16="http://schemas.microsoft.com/office/drawing/2014/main" id="{405B15AE-4ACB-DADB-0786-F0F7B0881CC8}"/>
                </a:ext>
              </a:extLst>
            </p:cNvPr>
            <p:cNvCxnSpPr>
              <a:cxnSpLocks/>
              <a:stCxn id="33" idx="3"/>
              <a:endCxn id="32" idx="1"/>
            </p:cNvCxnSpPr>
            <p:nvPr/>
          </p:nvCxnSpPr>
          <p:spPr>
            <a:xfrm>
              <a:off x="9119542" y="4367394"/>
              <a:ext cx="36015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信号7">
              <a:extLst>
                <a:ext uri="{FF2B5EF4-FFF2-40B4-BE49-F238E27FC236}">
                  <a16:creationId xmlns:a16="http://schemas.microsoft.com/office/drawing/2014/main" id="{606D426C-5022-831F-076B-1C16BED8498D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>
              <a:off x="10487694" y="4367394"/>
              <a:ext cx="144016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标签4">
              <a:extLst>
                <a:ext uri="{FF2B5EF4-FFF2-40B4-BE49-F238E27FC236}">
                  <a16:creationId xmlns:a16="http://schemas.microsoft.com/office/drawing/2014/main" id="{C884BDC1-CF4A-DAB6-D6E1-E4473C5B3BFF}"/>
                </a:ext>
              </a:extLst>
            </p:cNvPr>
            <p:cNvSpPr txBox="1"/>
            <p:nvPr/>
          </p:nvSpPr>
          <p:spPr>
            <a:xfrm>
              <a:off x="10754017" y="3839901"/>
              <a:ext cx="9361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输出</a:t>
              </a:r>
            </a:p>
          </p:txBody>
        </p:sp>
        <p:sp>
          <p:nvSpPr>
            <p:cNvPr id="32" name="被控对象">
              <a:extLst>
                <a:ext uri="{FF2B5EF4-FFF2-40B4-BE49-F238E27FC236}">
                  <a16:creationId xmlns:a16="http://schemas.microsoft.com/office/drawing/2014/main" id="{42BFA99F-C038-EBEF-6929-429D9584454D}"/>
                </a:ext>
              </a:extLst>
            </p:cNvPr>
            <p:cNvSpPr/>
            <p:nvPr/>
          </p:nvSpPr>
          <p:spPr>
            <a:xfrm>
              <a:off x="9479695" y="3935394"/>
              <a:ext cx="1007999" cy="864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800" dirty="0">
                  <a:solidFill>
                    <a:schemeClr val="tx1"/>
                  </a:solidFill>
                </a:rPr>
                <a:t>被控对象</a:t>
              </a:r>
            </a:p>
          </p:txBody>
        </p:sp>
        <p:sp>
          <p:nvSpPr>
            <p:cNvPr id="33" name="执行元件">
              <a:extLst>
                <a:ext uri="{FF2B5EF4-FFF2-40B4-BE49-F238E27FC236}">
                  <a16:creationId xmlns:a16="http://schemas.microsoft.com/office/drawing/2014/main" id="{14F5DF41-1300-02BE-A431-30BB36EDBF90}"/>
                </a:ext>
              </a:extLst>
            </p:cNvPr>
            <p:cNvSpPr/>
            <p:nvPr/>
          </p:nvSpPr>
          <p:spPr>
            <a:xfrm>
              <a:off x="8111543" y="3935394"/>
              <a:ext cx="1007999" cy="864000"/>
            </a:xfrm>
            <a:prstGeom prst="rect">
              <a:avLst/>
            </a:prstGeom>
            <a:solidFill>
              <a:schemeClr val="accent2">
                <a:alpha val="50331"/>
              </a:schemeClr>
            </a:solidFill>
            <a:ln w="25400">
              <a:solidFill>
                <a:srgbClr val="159F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800" dirty="0">
                  <a:solidFill>
                    <a:schemeClr val="tx1"/>
                  </a:solidFill>
                </a:rPr>
                <a:t>执行元件</a:t>
              </a:r>
            </a:p>
          </p:txBody>
        </p:sp>
        <p:sp>
          <p:nvSpPr>
            <p:cNvPr id="36" name="测量元件">
              <a:extLst>
                <a:ext uri="{FF2B5EF4-FFF2-40B4-BE49-F238E27FC236}">
                  <a16:creationId xmlns:a16="http://schemas.microsoft.com/office/drawing/2014/main" id="{B52ADDB7-6FA5-6E9C-B78E-D03383FABE37}"/>
                </a:ext>
              </a:extLst>
            </p:cNvPr>
            <p:cNvSpPr/>
            <p:nvPr/>
          </p:nvSpPr>
          <p:spPr>
            <a:xfrm>
              <a:off x="4921074" y="5949337"/>
              <a:ext cx="1658449" cy="503999"/>
            </a:xfrm>
            <a:prstGeom prst="rect">
              <a:avLst/>
            </a:prstGeom>
            <a:solidFill>
              <a:srgbClr val="159F84">
                <a:alpha val="50000"/>
              </a:srgbClr>
            </a:solidFill>
            <a:ln w="25400">
              <a:solidFill>
                <a:srgbClr val="159F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800" dirty="0">
                  <a:solidFill>
                    <a:schemeClr val="tx1"/>
                  </a:solidFill>
                </a:rPr>
                <a:t>测量元件</a:t>
              </a:r>
            </a:p>
          </p:txBody>
        </p:sp>
        <p:sp>
          <p:nvSpPr>
            <p:cNvPr id="39" name="串联校正">
              <a:extLst>
                <a:ext uri="{FF2B5EF4-FFF2-40B4-BE49-F238E27FC236}">
                  <a16:creationId xmlns:a16="http://schemas.microsoft.com/office/drawing/2014/main" id="{FAE2A3E8-CC2D-FA7A-BB2B-97843FF7EEAC}"/>
                </a:ext>
              </a:extLst>
            </p:cNvPr>
            <p:cNvSpPr/>
            <p:nvPr/>
          </p:nvSpPr>
          <p:spPr>
            <a:xfrm>
              <a:off x="3862958" y="3935394"/>
              <a:ext cx="1800200" cy="864000"/>
            </a:xfrm>
            <a:prstGeom prst="rect">
              <a:avLst/>
            </a:prstGeom>
            <a:solidFill>
              <a:srgbClr val="F29B11">
                <a:alpha val="49892"/>
              </a:srgbClr>
            </a:solidFill>
            <a:ln w="25400">
              <a:solidFill>
                <a:srgbClr val="F29B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800" dirty="0">
                  <a:solidFill>
                    <a:schemeClr val="tx1"/>
                  </a:solidFill>
                </a:rPr>
                <a:t>串联校正</a:t>
              </a:r>
              <a:endParaRPr kumimoji="1" lang="en-US" altLang="zh-CN" sz="28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zh-CN" altLang="en-US" sz="2800" dirty="0">
                  <a:solidFill>
                    <a:schemeClr val="tx1"/>
                  </a:solidFill>
                </a:rPr>
                <a:t>元件</a:t>
              </a:r>
            </a:p>
          </p:txBody>
        </p:sp>
        <p:sp>
          <p:nvSpPr>
            <p:cNvPr id="40" name="给定元件">
              <a:extLst>
                <a:ext uri="{FF2B5EF4-FFF2-40B4-BE49-F238E27FC236}">
                  <a16:creationId xmlns:a16="http://schemas.microsoft.com/office/drawing/2014/main" id="{FA9E4848-9340-7678-03FB-720CF0AED09E}"/>
                </a:ext>
              </a:extLst>
            </p:cNvPr>
            <p:cNvSpPr/>
            <p:nvPr/>
          </p:nvSpPr>
          <p:spPr>
            <a:xfrm>
              <a:off x="406574" y="3935394"/>
              <a:ext cx="1007999" cy="864000"/>
            </a:xfrm>
            <a:prstGeom prst="rect">
              <a:avLst/>
            </a:prstGeom>
            <a:solidFill>
              <a:srgbClr val="159F84">
                <a:alpha val="50000"/>
              </a:srgbClr>
            </a:solidFill>
            <a:ln w="25400">
              <a:solidFill>
                <a:srgbClr val="159F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800" dirty="0">
                  <a:solidFill>
                    <a:schemeClr val="tx1"/>
                  </a:solidFill>
                </a:rPr>
                <a:t>给定元件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04B419A1-8A12-74BD-9EF3-9A62027C2AEA}"/>
              </a:ext>
            </a:extLst>
          </p:cNvPr>
          <p:cNvGrpSpPr/>
          <p:nvPr/>
        </p:nvGrpSpPr>
        <p:grpSpPr>
          <a:xfrm>
            <a:off x="5847657" y="4363122"/>
            <a:ext cx="5374412" cy="1586119"/>
            <a:chOff x="5847657" y="4363122"/>
            <a:chExt cx="5374412" cy="1586119"/>
          </a:xfrm>
        </p:grpSpPr>
        <p:cxnSp>
          <p:nvCxnSpPr>
            <p:cNvPr id="23" name="信号10">
              <a:extLst>
                <a:ext uri="{FF2B5EF4-FFF2-40B4-BE49-F238E27FC236}">
                  <a16:creationId xmlns:a16="http://schemas.microsoft.com/office/drawing/2014/main" id="{D887C379-2746-E1E9-4701-7087DF88FDDA}"/>
                </a:ext>
              </a:extLst>
            </p:cNvPr>
            <p:cNvCxnSpPr>
              <a:cxnSpLocks/>
              <a:stCxn id="20" idx="2"/>
              <a:endCxn id="35" idx="3"/>
            </p:cNvCxnSpPr>
            <p:nvPr/>
          </p:nvCxnSpPr>
          <p:spPr>
            <a:xfrm rot="5400000">
              <a:off x="10025794" y="4320966"/>
              <a:ext cx="1154120" cy="1238431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信号11">
              <a:extLst>
                <a:ext uri="{FF2B5EF4-FFF2-40B4-BE49-F238E27FC236}">
                  <a16:creationId xmlns:a16="http://schemas.microsoft.com/office/drawing/2014/main" id="{D3ADB860-0179-1D2B-DC35-5B4B05A53923}"/>
                </a:ext>
              </a:extLst>
            </p:cNvPr>
            <p:cNvCxnSpPr>
              <a:cxnSpLocks/>
              <a:stCxn id="35" idx="1"/>
              <a:endCxn id="21" idx="4"/>
            </p:cNvCxnSpPr>
            <p:nvPr/>
          </p:nvCxnSpPr>
          <p:spPr>
            <a:xfrm rot="10800000">
              <a:off x="6239238" y="4511395"/>
              <a:ext cx="1944200" cy="1005847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标签6">
              <a:extLst>
                <a:ext uri="{FF2B5EF4-FFF2-40B4-BE49-F238E27FC236}">
                  <a16:creationId xmlns:a16="http://schemas.microsoft.com/office/drawing/2014/main" id="{0DFE420E-120C-EE7E-FCCD-FEE8C407752D}"/>
                </a:ext>
              </a:extLst>
            </p:cNvPr>
            <p:cNvSpPr txBox="1"/>
            <p:nvPr/>
          </p:nvSpPr>
          <p:spPr>
            <a:xfrm>
              <a:off x="6342590" y="4948689"/>
              <a:ext cx="195350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局部反馈</a:t>
              </a:r>
            </a:p>
          </p:txBody>
        </p:sp>
        <p:sp>
          <p:nvSpPr>
            <p:cNvPr id="35" name="反馈元件">
              <a:extLst>
                <a:ext uri="{FF2B5EF4-FFF2-40B4-BE49-F238E27FC236}">
                  <a16:creationId xmlns:a16="http://schemas.microsoft.com/office/drawing/2014/main" id="{09F2EEF9-DDF3-587D-529A-F490D02F4A77}"/>
                </a:ext>
              </a:extLst>
            </p:cNvPr>
            <p:cNvSpPr/>
            <p:nvPr/>
          </p:nvSpPr>
          <p:spPr>
            <a:xfrm>
              <a:off x="8183438" y="5085241"/>
              <a:ext cx="1800200" cy="864000"/>
            </a:xfrm>
            <a:prstGeom prst="rect">
              <a:avLst/>
            </a:prstGeom>
            <a:solidFill>
              <a:srgbClr val="F29B11">
                <a:alpha val="49892"/>
              </a:srgbClr>
            </a:solidFill>
            <a:ln w="25400">
              <a:solidFill>
                <a:srgbClr val="F29B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800" dirty="0">
                  <a:solidFill>
                    <a:schemeClr val="tx1"/>
                  </a:solidFill>
                </a:rPr>
                <a:t>反馈校正</a:t>
              </a:r>
              <a:endParaRPr kumimoji="1" lang="en-US" altLang="zh-CN" sz="28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zh-CN" altLang="en-US" sz="2800" dirty="0">
                  <a:solidFill>
                    <a:schemeClr val="tx1"/>
                  </a:solidFill>
                </a:rPr>
                <a:t>元件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负号2">
                  <a:extLst>
                    <a:ext uri="{FF2B5EF4-FFF2-40B4-BE49-F238E27FC236}">
                      <a16:creationId xmlns:a16="http://schemas.microsoft.com/office/drawing/2014/main" id="{8E73F89F-EE84-5732-00AA-DF61A728D948}"/>
                    </a:ext>
                  </a:extLst>
                </p:cNvPr>
                <p:cNvSpPr txBox="1"/>
                <p:nvPr/>
              </p:nvSpPr>
              <p:spPr>
                <a:xfrm>
                  <a:off x="5847657" y="4390383"/>
                  <a:ext cx="5948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6" name="负号2">
                  <a:extLst>
                    <a:ext uri="{FF2B5EF4-FFF2-40B4-BE49-F238E27FC236}">
                      <a16:creationId xmlns:a16="http://schemas.microsoft.com/office/drawing/2014/main" id="{8E73F89F-EE84-5732-00AA-DF61A728D9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7657" y="4390383"/>
                  <a:ext cx="594882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5" name="小标题2">
            <a:extLst>
              <a:ext uri="{FF2B5EF4-FFF2-40B4-BE49-F238E27FC236}">
                <a16:creationId xmlns:a16="http://schemas.microsoft.com/office/drawing/2014/main" id="{F355C209-C822-4401-7989-D3AB8F44A753}"/>
              </a:ext>
            </a:extLst>
          </p:cNvPr>
          <p:cNvSpPr/>
          <p:nvPr/>
        </p:nvSpPr>
        <p:spPr bwMode="auto">
          <a:xfrm>
            <a:off x="147343" y="1625671"/>
            <a:ext cx="1900223" cy="52322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串联校正</a:t>
            </a:r>
          </a:p>
        </p:txBody>
      </p:sp>
      <p:sp>
        <p:nvSpPr>
          <p:cNvPr id="106" name="小标题3">
            <a:extLst>
              <a:ext uri="{FF2B5EF4-FFF2-40B4-BE49-F238E27FC236}">
                <a16:creationId xmlns:a16="http://schemas.microsoft.com/office/drawing/2014/main" id="{B604C026-674F-B80A-C675-9B579DEF3EA4}"/>
              </a:ext>
            </a:extLst>
          </p:cNvPr>
          <p:cNvSpPr/>
          <p:nvPr/>
        </p:nvSpPr>
        <p:spPr bwMode="auto">
          <a:xfrm>
            <a:off x="147343" y="2253224"/>
            <a:ext cx="1900223" cy="52322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反馈校正</a:t>
            </a:r>
          </a:p>
        </p:txBody>
      </p:sp>
      <p:sp>
        <p:nvSpPr>
          <p:cNvPr id="107" name="小标题4">
            <a:extLst>
              <a:ext uri="{FF2B5EF4-FFF2-40B4-BE49-F238E27FC236}">
                <a16:creationId xmlns:a16="http://schemas.microsoft.com/office/drawing/2014/main" id="{47B62B24-07B6-F35B-3301-251867D14B66}"/>
              </a:ext>
            </a:extLst>
          </p:cNvPr>
          <p:cNvSpPr/>
          <p:nvPr/>
        </p:nvSpPr>
        <p:spPr bwMode="auto">
          <a:xfrm>
            <a:off x="147343" y="2880777"/>
            <a:ext cx="1900223" cy="52322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复合校正</a:t>
            </a:r>
          </a:p>
        </p:txBody>
      </p:sp>
    </p:spTree>
    <p:extLst>
      <p:ext uri="{BB962C8B-B14F-4D97-AF65-F5344CB8AC3E}">
        <p14:creationId xmlns:p14="http://schemas.microsoft.com/office/powerpoint/2010/main" val="14973395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5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5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91" grpId="0" animBg="1"/>
      <p:bldP spid="15" grpId="0"/>
      <p:bldP spid="105" grpId="0" animBg="1"/>
      <p:bldP spid="106" grpId="0" animBg="1"/>
      <p:bldP spid="10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串联校正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49A015F-525A-4C77-25DD-534814C82C81}"/>
              </a:ext>
            </a:extLst>
          </p:cNvPr>
          <p:cNvSpPr txBox="1"/>
          <p:nvPr/>
        </p:nvSpPr>
        <p:spPr>
          <a:xfrm>
            <a:off x="118542" y="1034445"/>
            <a:ext cx="5616624" cy="599123"/>
          </a:xfrm>
          <a:prstGeom prst="roundRect">
            <a:avLst>
              <a:gd name="adj" fmla="val 226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比例微分控制改善二阶系统性能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E4AEBD70-2AB6-C286-996F-0FB30ABDA3F5}"/>
              </a:ext>
            </a:extLst>
          </p:cNvPr>
          <p:cNvSpPr txBox="1"/>
          <p:nvPr/>
        </p:nvSpPr>
        <p:spPr>
          <a:xfrm>
            <a:off x="1193357" y="5374133"/>
            <a:ext cx="9998733" cy="1092518"/>
          </a:xfrm>
          <a:prstGeom prst="roundRect">
            <a:avLst>
              <a:gd name="adj" fmla="val 226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结论</a:t>
            </a:r>
            <a:r>
              <a:rPr kumimoji="1" lang="en-US" altLang="zh-CN" sz="2800" dirty="0">
                <a:solidFill>
                  <a:schemeClr val="bg1"/>
                </a:solidFill>
              </a:rPr>
              <a:t>:</a:t>
            </a:r>
            <a:r>
              <a:rPr kumimoji="1" lang="zh-CN" altLang="en-US" sz="2800" dirty="0">
                <a:solidFill>
                  <a:schemeClr val="bg1"/>
                </a:solidFill>
              </a:rPr>
              <a:t>引入了比例</a:t>
            </a:r>
            <a:r>
              <a:rPr kumimoji="1" lang="en-US" altLang="zh-CN" sz="2800" dirty="0">
                <a:solidFill>
                  <a:schemeClr val="bg1"/>
                </a:solidFill>
              </a:rPr>
              <a:t>-</a:t>
            </a:r>
            <a:r>
              <a:rPr kumimoji="1" lang="zh-CN" altLang="en-US" sz="2800" dirty="0">
                <a:solidFill>
                  <a:schemeClr val="bg1"/>
                </a:solidFill>
              </a:rPr>
              <a:t>微分控制，增大了系统的等效阻尼比，系统的超调减小</a:t>
            </a:r>
            <a:r>
              <a:rPr kumimoji="1" lang="en-US" altLang="zh-CN" sz="2800" dirty="0">
                <a:solidFill>
                  <a:schemeClr val="bg1"/>
                </a:solidFill>
              </a:rPr>
              <a:t>;</a:t>
            </a:r>
            <a:r>
              <a:rPr kumimoji="1" lang="zh-CN" altLang="en-US" sz="2800" dirty="0">
                <a:solidFill>
                  <a:schemeClr val="bg1"/>
                </a:solidFill>
              </a:rPr>
              <a:t>自然振荡角频率不变，</a:t>
            </a:r>
            <a:r>
              <a:rPr kumimoji="1" lang="zh-CN" altLang="en-US" sz="2800" dirty="0">
                <a:solidFill>
                  <a:srgbClr val="E44860"/>
                </a:solidFill>
              </a:rPr>
              <a:t>增加零点</a:t>
            </a:r>
            <a:r>
              <a:rPr kumimoji="1" lang="zh-CN" altLang="en-US" sz="2800" dirty="0">
                <a:solidFill>
                  <a:schemeClr val="bg1"/>
                </a:solidFill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公式1">
                <a:extLst>
                  <a:ext uri="{FF2B5EF4-FFF2-40B4-BE49-F238E27FC236}">
                    <a16:creationId xmlns:a16="http://schemas.microsoft.com/office/drawing/2014/main" id="{CEB8A061-23BE-A9AC-FE8B-C39F0FC7A1A3}"/>
                  </a:ext>
                </a:extLst>
              </p:cNvPr>
              <p:cNvSpPr txBox="1"/>
              <p:nvPr/>
            </p:nvSpPr>
            <p:spPr>
              <a:xfrm>
                <a:off x="2905866" y="1879231"/>
                <a:ext cx="6573716" cy="9528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l-GR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𝛷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75" name="公式1">
                <a:extLst>
                  <a:ext uri="{FF2B5EF4-FFF2-40B4-BE49-F238E27FC236}">
                    <a16:creationId xmlns:a16="http://schemas.microsoft.com/office/drawing/2014/main" id="{CEB8A061-23BE-A9AC-FE8B-C39F0FC7A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866" y="1879231"/>
                <a:ext cx="6573716" cy="952825"/>
              </a:xfrm>
              <a:prstGeom prst="rect">
                <a:avLst/>
              </a:prstGeom>
              <a:blipFill>
                <a:blip r:embed="rId3"/>
                <a:stretch>
                  <a:fillRect l="-1927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组合 19">
            <a:extLst>
              <a:ext uri="{FF2B5EF4-FFF2-40B4-BE49-F238E27FC236}">
                <a16:creationId xmlns:a16="http://schemas.microsoft.com/office/drawing/2014/main" id="{83E1C25D-8E76-6F5D-E870-841A7F6CCFB7}"/>
              </a:ext>
            </a:extLst>
          </p:cNvPr>
          <p:cNvGrpSpPr/>
          <p:nvPr/>
        </p:nvGrpSpPr>
        <p:grpSpPr>
          <a:xfrm>
            <a:off x="5951190" y="246395"/>
            <a:ext cx="5950374" cy="1410493"/>
            <a:chOff x="6235915" y="423690"/>
            <a:chExt cx="5950374" cy="14104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56C05BF0-1BED-4426-80EB-9A719F9DEC1C}"/>
                    </a:ext>
                  </a:extLst>
                </p:cNvPr>
                <p:cNvSpPr/>
                <p:nvPr/>
              </p:nvSpPr>
              <p:spPr>
                <a:xfrm>
                  <a:off x="9494536" y="586910"/>
                  <a:ext cx="1614136" cy="72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56C05BF0-1BED-4426-80EB-9A719F9DEC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4536" y="586910"/>
                  <a:ext cx="1614136" cy="720000"/>
                </a:xfrm>
                <a:prstGeom prst="rect">
                  <a:avLst/>
                </a:prstGeom>
                <a:blipFill>
                  <a:blip r:embed="rId4"/>
                  <a:stretch>
                    <a:fillRect b="-11864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1直线箭头连接符3">
              <a:extLst>
                <a:ext uri="{FF2B5EF4-FFF2-40B4-BE49-F238E27FC236}">
                  <a16:creationId xmlns:a16="http://schemas.microsoft.com/office/drawing/2014/main" id="{D6C94C93-B13E-A05F-2458-F3A66548FF96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>
              <a:off x="6426328" y="946910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3AE8E295-7444-6399-BE41-97601F7D053E}"/>
                    </a:ext>
                  </a:extLst>
                </p:cNvPr>
                <p:cNvSpPr txBox="1"/>
                <p:nvPr/>
              </p:nvSpPr>
              <p:spPr>
                <a:xfrm>
                  <a:off x="6235915" y="425644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3AE8E295-7444-6399-BE41-97601F7D05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5915" y="425644"/>
                  <a:ext cx="936104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1直线箭头连接符3">
              <a:extLst>
                <a:ext uri="{FF2B5EF4-FFF2-40B4-BE49-F238E27FC236}">
                  <a16:creationId xmlns:a16="http://schemas.microsoft.com/office/drawing/2014/main" id="{1669CA12-25C1-240A-6FD1-A38B5D85ADB5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>
              <a:off x="11108672" y="946910"/>
              <a:ext cx="1077617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35FEAADC-FC07-B1C7-CB06-F4C7A53478BE}"/>
                    </a:ext>
                  </a:extLst>
                </p:cNvPr>
                <p:cNvSpPr txBox="1"/>
                <p:nvPr/>
              </p:nvSpPr>
              <p:spPr>
                <a:xfrm>
                  <a:off x="11108672" y="427797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35FEAADC-FC07-B1C7-CB06-F4C7A53478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8672" y="427797"/>
                  <a:ext cx="936104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EEAA2D63-E1D8-390B-E227-BD16EAB812F4}"/>
                </a:ext>
              </a:extLst>
            </p:cNvPr>
            <p:cNvSpPr/>
            <p:nvPr/>
          </p:nvSpPr>
          <p:spPr>
            <a:xfrm>
              <a:off x="7024769" y="802910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1Ui">
                  <a:extLst>
                    <a:ext uri="{FF2B5EF4-FFF2-40B4-BE49-F238E27FC236}">
                      <a16:creationId xmlns:a16="http://schemas.microsoft.com/office/drawing/2014/main" id="{475D9CDB-412A-B932-5D7E-8BB424F8F681}"/>
                    </a:ext>
                  </a:extLst>
                </p:cNvPr>
                <p:cNvSpPr txBox="1"/>
                <p:nvPr/>
              </p:nvSpPr>
              <p:spPr>
                <a:xfrm>
                  <a:off x="6758350" y="906459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1" name="1Ui">
                  <a:extLst>
                    <a:ext uri="{FF2B5EF4-FFF2-40B4-BE49-F238E27FC236}">
                      <a16:creationId xmlns:a16="http://schemas.microsoft.com/office/drawing/2014/main" id="{475D9CDB-412A-B932-5D7E-8BB424F8F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8350" y="906459"/>
                  <a:ext cx="244144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40000" r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4肘形连接符">
              <a:extLst>
                <a:ext uri="{FF2B5EF4-FFF2-40B4-BE49-F238E27FC236}">
                  <a16:creationId xmlns:a16="http://schemas.microsoft.com/office/drawing/2014/main" id="{9F85FB1E-7A3F-CDAF-FB5A-CB343947850F}"/>
                </a:ext>
              </a:extLst>
            </p:cNvPr>
            <p:cNvCxnSpPr>
              <a:cxnSpLocks/>
              <a:stCxn id="48" idx="2"/>
              <a:endCxn id="49" idx="4"/>
            </p:cNvCxnSpPr>
            <p:nvPr/>
          </p:nvCxnSpPr>
          <p:spPr>
            <a:xfrm rot="5400000">
              <a:off x="9302801" y="-1183014"/>
              <a:ext cx="139893" cy="4407955"/>
            </a:xfrm>
            <a:prstGeom prst="bentConnector3">
              <a:avLst>
                <a:gd name="adj1" fmla="val 70864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1直线箭头连接符3">
              <a:extLst>
                <a:ext uri="{FF2B5EF4-FFF2-40B4-BE49-F238E27FC236}">
                  <a16:creationId xmlns:a16="http://schemas.microsoft.com/office/drawing/2014/main" id="{95F7DA10-D3D2-5A46-B317-80869CDE382C}"/>
                </a:ext>
              </a:extLst>
            </p:cNvPr>
            <p:cNvCxnSpPr>
              <a:cxnSpLocks/>
              <a:stCxn id="49" idx="6"/>
              <a:endCxn id="21" idx="1"/>
            </p:cNvCxnSpPr>
            <p:nvPr/>
          </p:nvCxnSpPr>
          <p:spPr>
            <a:xfrm>
              <a:off x="7312769" y="946910"/>
              <a:ext cx="843775" cy="2054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99C592B3-C500-E065-6658-E80B8DA2C2FF}"/>
                    </a:ext>
                  </a:extLst>
                </p:cNvPr>
                <p:cNvSpPr/>
                <p:nvPr/>
              </p:nvSpPr>
              <p:spPr>
                <a:xfrm>
                  <a:off x="7976424" y="1330184"/>
                  <a:ext cx="900000" cy="50399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99C592B3-C500-E065-6658-E80B8DA2C2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6424" y="1330184"/>
                  <a:ext cx="900000" cy="503999"/>
                </a:xfrm>
                <a:prstGeom prst="rect">
                  <a:avLst/>
                </a:prstGeom>
                <a:blipFill>
                  <a:blip r:embed="rId8"/>
                  <a:stretch>
                    <a:fillRect b="-2326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BCAE8739-A05D-6770-4712-AD1E67367275}"/>
                    </a:ext>
                  </a:extLst>
                </p:cNvPr>
                <p:cNvSpPr txBox="1"/>
                <p:nvPr/>
              </p:nvSpPr>
              <p:spPr>
                <a:xfrm>
                  <a:off x="7257975" y="423690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BCAE8739-A05D-6770-4712-AD1E673672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7975" y="423690"/>
                  <a:ext cx="936104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36C854E1-447F-7CB8-A4B3-F9CFE7B65C40}"/>
                    </a:ext>
                  </a:extLst>
                </p:cNvPr>
                <p:cNvSpPr/>
                <p:nvPr/>
              </p:nvSpPr>
              <p:spPr>
                <a:xfrm>
                  <a:off x="8156544" y="696964"/>
                  <a:ext cx="400317" cy="50399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36C854E1-447F-7CB8-A4B3-F9CFE7B65C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6544" y="696964"/>
                  <a:ext cx="400317" cy="503999"/>
                </a:xfrm>
                <a:prstGeom prst="rect">
                  <a:avLst/>
                </a:prstGeom>
                <a:blipFill>
                  <a:blip r:embed="rId10"/>
                  <a:stretch>
                    <a:fillRect l="-2857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28459EA7-BC52-BB29-8307-E4EE11AB64DC}"/>
                </a:ext>
              </a:extLst>
            </p:cNvPr>
            <p:cNvSpPr/>
            <p:nvPr/>
          </p:nvSpPr>
          <p:spPr>
            <a:xfrm>
              <a:off x="8864442" y="803633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27" name="1直线箭头连接符3">
              <a:extLst>
                <a:ext uri="{FF2B5EF4-FFF2-40B4-BE49-F238E27FC236}">
                  <a16:creationId xmlns:a16="http://schemas.microsoft.com/office/drawing/2014/main" id="{0E976CEE-C196-7576-EDDE-EBB02FB5ECC6}"/>
                </a:ext>
              </a:extLst>
            </p:cNvPr>
            <p:cNvCxnSpPr>
              <a:cxnSpLocks/>
              <a:stCxn id="25" idx="6"/>
              <a:endCxn id="41" idx="1"/>
            </p:cNvCxnSpPr>
            <p:nvPr/>
          </p:nvCxnSpPr>
          <p:spPr>
            <a:xfrm flipV="1">
              <a:off x="9152442" y="946910"/>
              <a:ext cx="342094" cy="72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1直线箭头连接符3">
              <a:extLst>
                <a:ext uri="{FF2B5EF4-FFF2-40B4-BE49-F238E27FC236}">
                  <a16:creationId xmlns:a16="http://schemas.microsoft.com/office/drawing/2014/main" id="{53D9341D-2839-0952-B740-6BBC92223676}"/>
                </a:ext>
              </a:extLst>
            </p:cNvPr>
            <p:cNvCxnSpPr>
              <a:cxnSpLocks/>
              <a:stCxn id="21" idx="3"/>
              <a:endCxn id="25" idx="2"/>
            </p:cNvCxnSpPr>
            <p:nvPr/>
          </p:nvCxnSpPr>
          <p:spPr>
            <a:xfrm flipV="1">
              <a:off x="8556861" y="947633"/>
              <a:ext cx="307581" cy="133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4肘形连接符">
              <a:extLst>
                <a:ext uri="{FF2B5EF4-FFF2-40B4-BE49-F238E27FC236}">
                  <a16:creationId xmlns:a16="http://schemas.microsoft.com/office/drawing/2014/main" id="{4A8CE267-5F3E-53FD-D88F-2CF9D52BF328}"/>
                </a:ext>
              </a:extLst>
            </p:cNvPr>
            <p:cNvCxnSpPr>
              <a:cxnSpLocks/>
              <a:stCxn id="66" idx="2"/>
              <a:endCxn id="60" idx="1"/>
            </p:cNvCxnSpPr>
            <p:nvPr/>
          </p:nvCxnSpPr>
          <p:spPr>
            <a:xfrm rot="16200000" flipH="1">
              <a:off x="7533588" y="1139348"/>
              <a:ext cx="635274" cy="250397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4肘形连接符">
              <a:extLst>
                <a:ext uri="{FF2B5EF4-FFF2-40B4-BE49-F238E27FC236}">
                  <a16:creationId xmlns:a16="http://schemas.microsoft.com/office/drawing/2014/main" id="{E5E753EA-C872-FD69-23C8-99E33F25F447}"/>
                </a:ext>
              </a:extLst>
            </p:cNvPr>
            <p:cNvCxnSpPr>
              <a:cxnSpLocks/>
              <a:stCxn id="60" idx="3"/>
              <a:endCxn id="25" idx="4"/>
            </p:cNvCxnSpPr>
            <p:nvPr/>
          </p:nvCxnSpPr>
          <p:spPr>
            <a:xfrm flipV="1">
              <a:off x="8876424" y="1091633"/>
              <a:ext cx="132018" cy="490551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1Ui">
                  <a:extLst>
                    <a:ext uri="{FF2B5EF4-FFF2-40B4-BE49-F238E27FC236}">
                      <a16:creationId xmlns:a16="http://schemas.microsoft.com/office/drawing/2014/main" id="{7DB097F0-99CC-B038-D2FD-70503602A759}"/>
                    </a:ext>
                  </a:extLst>
                </p:cNvPr>
                <p:cNvSpPr txBox="1"/>
                <p:nvPr/>
              </p:nvSpPr>
              <p:spPr>
                <a:xfrm>
                  <a:off x="8699506" y="883070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0" name="1Ui">
                  <a:extLst>
                    <a:ext uri="{FF2B5EF4-FFF2-40B4-BE49-F238E27FC236}">
                      <a16:creationId xmlns:a16="http://schemas.microsoft.com/office/drawing/2014/main" id="{7DB097F0-99CC-B038-D2FD-70503602A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9506" y="883070"/>
                  <a:ext cx="244144" cy="523220"/>
                </a:xfrm>
                <a:prstGeom prst="rect">
                  <a:avLst/>
                </a:prstGeom>
                <a:blipFill>
                  <a:blip r:embed="rId11"/>
                  <a:stretch>
                    <a:fillRect l="-65000" r="-3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F8E09E2C-4696-38E0-7E3B-7EAA0B3DF071}"/>
              </a:ext>
            </a:extLst>
          </p:cNvPr>
          <p:cNvSpPr txBox="1"/>
          <p:nvPr/>
        </p:nvSpPr>
        <p:spPr>
          <a:xfrm>
            <a:off x="321984" y="2938248"/>
            <a:ext cx="4846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特征方程中，一次项系数为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8BEEB6A2-70B8-1587-17F0-A2AC9CDD05E5}"/>
                  </a:ext>
                </a:extLst>
              </p:cNvPr>
              <p:cNvSpPr txBox="1"/>
              <p:nvPr/>
            </p:nvSpPr>
            <p:spPr>
              <a:xfrm>
                <a:off x="2648968" y="3435272"/>
                <a:ext cx="7583710" cy="1717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8BEEB6A2-70B8-1587-17F0-A2AC9CDD0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968" y="3435272"/>
                <a:ext cx="7583710" cy="1717521"/>
              </a:xfrm>
              <a:prstGeom prst="rect">
                <a:avLst/>
              </a:prstGeom>
              <a:blipFill>
                <a:blip r:embed="rId12"/>
                <a:stretch>
                  <a:fillRect b="-36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8556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70" grpId="0" animBg="1"/>
      <p:bldP spid="74" grpId="0" animBg="1"/>
      <p:bldP spid="75" grpId="0"/>
      <p:bldP spid="50" grpId="0"/>
      <p:bldP spid="5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串联校正</a:t>
            </a:r>
          </a:p>
        </p:txBody>
      </p:sp>
      <p:grpSp>
        <p:nvGrpSpPr>
          <p:cNvPr id="28" name="代码框">
            <a:extLst>
              <a:ext uri="{FF2B5EF4-FFF2-40B4-BE49-F238E27FC236}">
                <a16:creationId xmlns:a16="http://schemas.microsoft.com/office/drawing/2014/main" id="{418B0756-A419-E6DB-7CB5-D4BF81BA83C9}"/>
              </a:ext>
            </a:extLst>
          </p:cNvPr>
          <p:cNvGrpSpPr/>
          <p:nvPr/>
        </p:nvGrpSpPr>
        <p:grpSpPr>
          <a:xfrm>
            <a:off x="235858" y="891531"/>
            <a:ext cx="9279424" cy="5872830"/>
            <a:chOff x="2515563" y="3741795"/>
            <a:chExt cx="9279424" cy="5872830"/>
          </a:xfrm>
        </p:grpSpPr>
        <p:sp>
          <p:nvSpPr>
            <p:cNvPr id="29" name="代码">
              <a:extLst>
                <a:ext uri="{FF2B5EF4-FFF2-40B4-BE49-F238E27FC236}">
                  <a16:creationId xmlns:a16="http://schemas.microsoft.com/office/drawing/2014/main" id="{916EF970-D979-3C2A-8B46-8AB1C348939F}"/>
                </a:ext>
              </a:extLst>
            </p:cNvPr>
            <p:cNvSpPr txBox="1"/>
            <p:nvPr/>
          </p:nvSpPr>
          <p:spPr>
            <a:xfrm>
              <a:off x="2515563" y="4101629"/>
              <a:ext cx="9279424" cy="5512996"/>
            </a:xfrm>
            <a:prstGeom prst="roundRect">
              <a:avLst>
                <a:gd name="adj" fmla="val 4505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0" rtlCol="0">
              <a:spAutoFit/>
            </a:bodyPr>
            <a:lstStyle/>
            <a:p>
              <a:r>
                <a:rPr lang="en" altLang="zh-CN" dirty="0">
                  <a:latin typeface="Menlo" panose="020B0609030804020204" pitchFamily="49" charset="0"/>
                </a:rPr>
                <a:t>T = 10; 		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仿真时间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en" altLang="zh-CN" dirty="0">
                  <a:latin typeface="Menlo" panose="020B0609030804020204" pitchFamily="49" charset="0"/>
                </a:rPr>
                <a:t>L = 5; 		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Td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数量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en" altLang="zh-CN" dirty="0">
                  <a:latin typeface="Menlo" panose="020B0609030804020204" pitchFamily="49" charset="0"/>
                </a:rPr>
                <a:t>omega = 1; 		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自然振荡频率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en" altLang="zh-CN" dirty="0">
                  <a:latin typeface="Menlo" panose="020B0609030804020204" pitchFamily="49" charset="0"/>
                </a:rPr>
                <a:t>zeta = 0.3; 		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阻尼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en" altLang="zh-CN" dirty="0">
                  <a:latin typeface="Menlo" panose="020B0609030804020204" pitchFamily="49" charset="0"/>
                </a:rPr>
                <a:t>Td = </a:t>
              </a:r>
              <a:r>
                <a:rPr lang="en" altLang="zh-CN" dirty="0" err="1">
                  <a:latin typeface="Menlo" panose="020B0609030804020204" pitchFamily="49" charset="0"/>
                </a:rPr>
                <a:t>linspace</a:t>
              </a:r>
              <a:r>
                <a:rPr lang="en" altLang="zh-CN" dirty="0">
                  <a:latin typeface="Menlo" panose="020B0609030804020204" pitchFamily="49" charset="0"/>
                </a:rPr>
                <a:t>(0,1.4,L); 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等间隔取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Td</a:t>
              </a:r>
              <a:endParaRPr lang="en" altLang="zh-CN" dirty="0">
                <a:latin typeface="Menlo" panose="020B0609030804020204" pitchFamily="49" charset="0"/>
              </a:endParaRPr>
            </a:p>
            <a:p>
              <a:r>
                <a:rPr lang="en" altLang="zh-CN" dirty="0">
                  <a:latin typeface="Menlo" panose="020B0609030804020204" pitchFamily="49" charset="0"/>
                </a:rPr>
                <a:t>figure 		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开启图窗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en" altLang="zh-CN" dirty="0">
                  <a:latin typeface="Menlo" panose="020B0609030804020204" pitchFamily="49" charset="0"/>
                </a:rPr>
                <a:t>hold </a:t>
              </a:r>
              <a:r>
                <a:rPr lang="en" altLang="zh-CN" dirty="0">
                  <a:solidFill>
                    <a:srgbClr val="AA04F9"/>
                  </a:solidFill>
                  <a:latin typeface="Menlo" panose="020B0609030804020204" pitchFamily="49" charset="0"/>
                </a:rPr>
                <a:t>on 		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保持图窗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en" altLang="zh-CN" dirty="0" err="1">
                  <a:latin typeface="Menlo" panose="020B0609030804020204" pitchFamily="49" charset="0"/>
                </a:rPr>
                <a:t>lgd</a:t>
              </a:r>
              <a:r>
                <a:rPr lang="en" altLang="zh-CN" dirty="0">
                  <a:latin typeface="Menlo" panose="020B0609030804020204" pitchFamily="49" charset="0"/>
                </a:rPr>
                <a:t> = cell(1,L); 	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存储图例变量初始化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en" altLang="zh-CN" dirty="0">
                  <a:solidFill>
                    <a:srgbClr val="0E00FF"/>
                  </a:solidFill>
                  <a:latin typeface="Menlo" panose="020B0609030804020204" pitchFamily="49" charset="0"/>
                </a:rPr>
                <a:t>for </a:t>
              </a:r>
              <a:r>
                <a:rPr lang="en" altLang="zh-CN" dirty="0">
                  <a:latin typeface="Menlo" panose="020B0609030804020204" pitchFamily="49" charset="0"/>
                </a:rPr>
                <a:t>ii = 1:L 		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在所有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Td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中循环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zh-CN" altLang="en-US" dirty="0">
                  <a:latin typeface="Menlo" panose="020B0609030804020204" pitchFamily="49" charset="0"/>
                </a:rPr>
                <a:t>    </a:t>
              </a:r>
              <a:r>
                <a:rPr lang="en" altLang="zh-CN" dirty="0">
                  <a:latin typeface="Menlo" panose="020B0609030804020204" pitchFamily="49" charset="0"/>
                </a:rPr>
                <a:t>num = [omega^2*Td(ii),omega^2]; 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分子多项式系数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zh-CN" altLang="en-US" dirty="0">
                  <a:latin typeface="Menlo" panose="020B0609030804020204" pitchFamily="49" charset="0"/>
                </a:rPr>
                <a:t>    </a:t>
              </a:r>
              <a:r>
                <a:rPr lang="en" altLang="zh-CN" dirty="0">
                  <a:latin typeface="Menlo" panose="020B0609030804020204" pitchFamily="49" charset="0"/>
                </a:rPr>
                <a:t>den = [1,2*zeta*</a:t>
              </a:r>
              <a:r>
                <a:rPr lang="en" altLang="zh-CN" dirty="0" err="1">
                  <a:latin typeface="Menlo" panose="020B0609030804020204" pitchFamily="49" charset="0"/>
                </a:rPr>
                <a:t>omega+Td</a:t>
              </a:r>
              <a:r>
                <a:rPr lang="en" altLang="zh-CN" dirty="0">
                  <a:latin typeface="Menlo" panose="020B0609030804020204" pitchFamily="49" charset="0"/>
                </a:rPr>
                <a:t>(ii)*omega^2,omega^2]; 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分母多项式系数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zh-CN" altLang="en-US" dirty="0">
                  <a:latin typeface="Menlo" panose="020B0609030804020204" pitchFamily="49" charset="0"/>
                </a:rPr>
                <a:t>    </a:t>
              </a:r>
              <a:r>
                <a:rPr lang="en" altLang="zh-CN" dirty="0">
                  <a:latin typeface="Menlo" panose="020B0609030804020204" pitchFamily="49" charset="0"/>
                </a:rPr>
                <a:t>G = </a:t>
              </a:r>
              <a:r>
                <a:rPr lang="en" altLang="zh-CN" dirty="0" err="1">
                  <a:latin typeface="Menlo" panose="020B0609030804020204" pitchFamily="49" charset="0"/>
                </a:rPr>
                <a:t>tf</a:t>
              </a:r>
              <a:r>
                <a:rPr lang="en" altLang="zh-CN" dirty="0">
                  <a:latin typeface="Menlo" panose="020B0609030804020204" pitchFamily="49" charset="0"/>
                </a:rPr>
                <a:t>(num, den); 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建立传函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zh-CN" altLang="en-US" dirty="0">
                  <a:latin typeface="Menlo" panose="020B0609030804020204" pitchFamily="49" charset="0"/>
                </a:rPr>
                <a:t>    </a:t>
              </a:r>
              <a:r>
                <a:rPr lang="en-US" altLang="zh-CN" dirty="0">
                  <a:latin typeface="Menlo" panose="020B0609030804020204" pitchFamily="49" charset="0"/>
                </a:rPr>
                <a:t>[</a:t>
              </a:r>
              <a:r>
                <a:rPr lang="en" altLang="zh-CN" dirty="0" err="1">
                  <a:latin typeface="Menlo" panose="020B0609030804020204" pitchFamily="49" charset="0"/>
                </a:rPr>
                <a:t>y,t</a:t>
              </a:r>
              <a:r>
                <a:rPr lang="en" altLang="zh-CN" dirty="0">
                  <a:latin typeface="Menlo" panose="020B0609030804020204" pitchFamily="49" charset="0"/>
                </a:rPr>
                <a:t>] = step(G,T); 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仿真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zh-CN" altLang="en-US" dirty="0">
                  <a:latin typeface="Menlo" panose="020B0609030804020204" pitchFamily="49" charset="0"/>
                </a:rPr>
                <a:t>    </a:t>
              </a:r>
              <a:r>
                <a:rPr lang="en" altLang="zh-CN" dirty="0">
                  <a:latin typeface="Menlo" panose="020B0609030804020204" pitchFamily="49" charset="0"/>
                </a:rPr>
                <a:t>plot(t,y,</a:t>
              </a:r>
              <a:r>
                <a:rPr lang="en" altLang="zh-CN" dirty="0">
                  <a:solidFill>
                    <a:srgbClr val="AA04F9"/>
                  </a:solidFill>
                  <a:latin typeface="Menlo" panose="020B0609030804020204" pitchFamily="49" charset="0"/>
                </a:rPr>
                <a:t>'LineWidth'</a:t>
              </a:r>
              <a:r>
                <a:rPr lang="en" altLang="zh-CN" dirty="0">
                  <a:latin typeface="Menlo" panose="020B0609030804020204" pitchFamily="49" charset="0"/>
                </a:rPr>
                <a:t>,2); 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绘图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zh-CN" altLang="en-US" dirty="0">
                  <a:latin typeface="Menlo" panose="020B0609030804020204" pitchFamily="49" charset="0"/>
                </a:rPr>
                <a:t>    </a:t>
              </a:r>
              <a:r>
                <a:rPr lang="en" altLang="zh-CN" dirty="0" err="1">
                  <a:latin typeface="Menlo" panose="020B0609030804020204" pitchFamily="49" charset="0"/>
                </a:rPr>
                <a:t>lgd</a:t>
              </a:r>
              <a:r>
                <a:rPr lang="en" altLang="zh-CN" dirty="0">
                  <a:latin typeface="Menlo" panose="020B0609030804020204" pitchFamily="49" charset="0"/>
                </a:rPr>
                <a:t>{ii} = [</a:t>
              </a:r>
              <a:r>
                <a:rPr lang="en" altLang="zh-CN" dirty="0">
                  <a:solidFill>
                    <a:srgbClr val="AA04F9"/>
                  </a:solidFill>
                  <a:latin typeface="Menlo" panose="020B0609030804020204" pitchFamily="49" charset="0"/>
                </a:rPr>
                <a:t>'</a:t>
              </a:r>
              <a:r>
                <a:rPr lang="en" altLang="zh-CN" dirty="0" err="1">
                  <a:solidFill>
                    <a:srgbClr val="AA04F9"/>
                  </a:solidFill>
                  <a:latin typeface="Menlo" panose="020B0609030804020204" pitchFamily="49" charset="0"/>
                </a:rPr>
                <a:t>T_d</a:t>
              </a:r>
              <a:r>
                <a:rPr lang="en" altLang="zh-CN" dirty="0">
                  <a:solidFill>
                    <a:srgbClr val="AA04F9"/>
                  </a:solidFill>
                  <a:latin typeface="Menlo" panose="020B0609030804020204" pitchFamily="49" charset="0"/>
                </a:rPr>
                <a:t>='</a:t>
              </a:r>
              <a:r>
                <a:rPr lang="en" altLang="zh-CN" dirty="0">
                  <a:latin typeface="Menlo" panose="020B0609030804020204" pitchFamily="49" charset="0"/>
                </a:rPr>
                <a:t>,num2str(Td(ii))];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添加图例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en" altLang="zh-CN" dirty="0">
                  <a:solidFill>
                    <a:srgbClr val="0E00FF"/>
                  </a:solidFill>
                  <a:latin typeface="Menlo" panose="020B0609030804020204" pitchFamily="49" charset="0"/>
                </a:rPr>
                <a:t>end</a:t>
              </a:r>
              <a:endParaRPr lang="en" altLang="zh-CN" dirty="0">
                <a:latin typeface="Menlo" panose="020B0609030804020204" pitchFamily="49" charset="0"/>
              </a:endParaRPr>
            </a:p>
            <a:p>
              <a:r>
                <a:rPr lang="en" altLang="zh-CN" dirty="0" err="1">
                  <a:latin typeface="Menlo" panose="020B0609030804020204" pitchFamily="49" charset="0"/>
                </a:rPr>
                <a:t>xlabel</a:t>
              </a:r>
              <a:r>
                <a:rPr lang="en" altLang="zh-CN" dirty="0">
                  <a:latin typeface="Menlo" panose="020B0609030804020204" pitchFamily="49" charset="0"/>
                </a:rPr>
                <a:t>(</a:t>
              </a:r>
              <a:r>
                <a:rPr lang="en" altLang="zh-CN" dirty="0">
                  <a:solidFill>
                    <a:srgbClr val="AA04F9"/>
                  </a:solidFill>
                  <a:latin typeface="Menlo" panose="020B0609030804020204" pitchFamily="49" charset="0"/>
                </a:rPr>
                <a:t>'Time (seconds)'</a:t>
              </a:r>
              <a:r>
                <a:rPr lang="en" altLang="zh-CN" dirty="0">
                  <a:latin typeface="Menlo" panose="020B0609030804020204" pitchFamily="49" charset="0"/>
                </a:rPr>
                <a:t>)</a:t>
              </a:r>
            </a:p>
            <a:p>
              <a:r>
                <a:rPr lang="en" altLang="zh-CN" dirty="0" err="1">
                  <a:latin typeface="Menlo" panose="020B0609030804020204" pitchFamily="49" charset="0"/>
                </a:rPr>
                <a:t>ylabel</a:t>
              </a:r>
              <a:r>
                <a:rPr lang="en" altLang="zh-CN" dirty="0">
                  <a:latin typeface="Menlo" panose="020B0609030804020204" pitchFamily="49" charset="0"/>
                </a:rPr>
                <a:t>(</a:t>
              </a:r>
              <a:r>
                <a:rPr lang="en" altLang="zh-CN" dirty="0">
                  <a:solidFill>
                    <a:srgbClr val="AA04F9"/>
                  </a:solidFill>
                  <a:latin typeface="Menlo" panose="020B0609030804020204" pitchFamily="49" charset="0"/>
                </a:rPr>
                <a:t>'Amplitude'</a:t>
              </a:r>
              <a:r>
                <a:rPr lang="en" altLang="zh-CN" dirty="0">
                  <a:latin typeface="Menlo" panose="020B0609030804020204" pitchFamily="49" charset="0"/>
                </a:rPr>
                <a:t>)</a:t>
              </a:r>
            </a:p>
            <a:p>
              <a:r>
                <a:rPr lang="en" altLang="zh-CN" dirty="0">
                  <a:latin typeface="Menlo" panose="020B0609030804020204" pitchFamily="49" charset="0"/>
                </a:rPr>
                <a:t>legend(</a:t>
              </a:r>
              <a:r>
                <a:rPr lang="en" altLang="zh-CN" dirty="0" err="1">
                  <a:latin typeface="Menlo" panose="020B0609030804020204" pitchFamily="49" charset="0"/>
                </a:rPr>
                <a:t>lgd</a:t>
              </a:r>
              <a:r>
                <a:rPr lang="en" altLang="zh-CN" dirty="0">
                  <a:latin typeface="Menlo" panose="020B0609030804020204" pitchFamily="49" charset="0"/>
                </a:rPr>
                <a:t>,</a:t>
              </a:r>
              <a:r>
                <a:rPr lang="en" altLang="zh-CN" dirty="0">
                  <a:solidFill>
                    <a:srgbClr val="AA04F9"/>
                  </a:solidFill>
                  <a:latin typeface="Menlo" panose="020B0609030804020204" pitchFamily="49" charset="0"/>
                </a:rPr>
                <a:t>"</a:t>
              </a:r>
              <a:r>
                <a:rPr lang="en" altLang="zh-CN" dirty="0" err="1">
                  <a:solidFill>
                    <a:srgbClr val="AA04F9"/>
                  </a:solidFill>
                  <a:latin typeface="Menlo" panose="020B0609030804020204" pitchFamily="49" charset="0"/>
                </a:rPr>
                <a:t>Location"</a:t>
              </a:r>
              <a:r>
                <a:rPr lang="en" altLang="zh-CN" dirty="0" err="1">
                  <a:latin typeface="Menlo" panose="020B0609030804020204" pitchFamily="49" charset="0"/>
                </a:rPr>
                <a:t>,</a:t>
              </a:r>
              <a:r>
                <a:rPr lang="en" altLang="zh-CN" dirty="0" err="1">
                  <a:solidFill>
                    <a:srgbClr val="AA04F9"/>
                  </a:solidFill>
                  <a:latin typeface="Menlo" panose="020B0609030804020204" pitchFamily="49" charset="0"/>
                </a:rPr>
                <a:t>"southeast</a:t>
              </a:r>
              <a:r>
                <a:rPr lang="en" altLang="zh-CN" dirty="0">
                  <a:solidFill>
                    <a:srgbClr val="AA04F9"/>
                  </a:solidFill>
                  <a:latin typeface="Menlo" panose="020B0609030804020204" pitchFamily="49" charset="0"/>
                </a:rPr>
                <a:t>"</a:t>
              </a:r>
              <a:r>
                <a:rPr lang="en" altLang="zh-CN" dirty="0">
                  <a:latin typeface="Menlo" panose="020B0609030804020204" pitchFamily="49" charset="0"/>
                </a:rPr>
                <a:t>)</a:t>
              </a:r>
            </a:p>
          </p:txBody>
        </p:sp>
        <p:sp>
          <p:nvSpPr>
            <p:cNvPr id="30" name="标题">
              <a:extLst>
                <a:ext uri="{FF2B5EF4-FFF2-40B4-BE49-F238E27FC236}">
                  <a16:creationId xmlns:a16="http://schemas.microsoft.com/office/drawing/2014/main" id="{81357204-EDAA-1BFF-A4DD-BAF13F61739D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2493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串联校正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48E887-F096-6805-FDD1-3C27BC64F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668" y="1124744"/>
            <a:ext cx="7112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391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输出微分反馈例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49A015F-525A-4C77-25DD-534814C82C81}"/>
              </a:ext>
            </a:extLst>
          </p:cNvPr>
          <p:cNvSpPr txBox="1"/>
          <p:nvPr/>
        </p:nvSpPr>
        <p:spPr>
          <a:xfrm>
            <a:off x="118542" y="1034445"/>
            <a:ext cx="5616624" cy="599123"/>
          </a:xfrm>
          <a:prstGeom prst="roundRect">
            <a:avLst>
              <a:gd name="adj" fmla="val 226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输出微分反馈改善二阶系统性能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E4AEBD70-2AB6-C286-996F-0FB30ABDA3F5}"/>
                  </a:ext>
                </a:extLst>
              </p:cNvPr>
              <p:cNvSpPr txBox="1"/>
              <p:nvPr/>
            </p:nvSpPr>
            <p:spPr>
              <a:xfrm>
                <a:off x="1193357" y="5374133"/>
                <a:ext cx="9998733" cy="599123"/>
              </a:xfrm>
              <a:prstGeom prst="roundRect">
                <a:avLst>
                  <a:gd name="adj" fmla="val 22661"/>
                </a:avLst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bg1"/>
                    </a:solidFill>
                  </a:rPr>
                  <a:t>结论：测速反馈使阻尼比增加；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l-GR" altLang="zh-CN" sz="28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" altLang="zh-CN" sz="2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kumimoji="1" lang="en" altLang="zh-CN" sz="28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schemeClr val="bg1"/>
                    </a:solidFill>
                  </a:rPr>
                  <a:t>不变；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不增加零点</a:t>
                </a:r>
                <a:r>
                  <a:rPr kumimoji="1" lang="zh-CN" altLang="en-US" sz="2800" dirty="0">
                    <a:solidFill>
                      <a:schemeClr val="bg1"/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E4AEBD70-2AB6-C286-996F-0FB30ABDA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357" y="5374133"/>
                <a:ext cx="9998733" cy="599123"/>
              </a:xfrm>
              <a:prstGeom prst="roundRect">
                <a:avLst>
                  <a:gd name="adj" fmla="val 22661"/>
                </a:avLst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公式1">
                <a:extLst>
                  <a:ext uri="{FF2B5EF4-FFF2-40B4-BE49-F238E27FC236}">
                    <a16:creationId xmlns:a16="http://schemas.microsoft.com/office/drawing/2014/main" id="{CEB8A061-23BE-A9AC-FE8B-C39F0FC7A1A3}"/>
                  </a:ext>
                </a:extLst>
              </p:cNvPr>
              <p:cNvSpPr txBox="1"/>
              <p:nvPr/>
            </p:nvSpPr>
            <p:spPr>
              <a:xfrm>
                <a:off x="2905866" y="1879231"/>
                <a:ext cx="6573716" cy="9528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l-GR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𝛷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75" name="公式1">
                <a:extLst>
                  <a:ext uri="{FF2B5EF4-FFF2-40B4-BE49-F238E27FC236}">
                    <a16:creationId xmlns:a16="http://schemas.microsoft.com/office/drawing/2014/main" id="{CEB8A061-23BE-A9AC-FE8B-C39F0FC7A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866" y="1879231"/>
                <a:ext cx="6573716" cy="952825"/>
              </a:xfrm>
              <a:prstGeom prst="rect">
                <a:avLst/>
              </a:prstGeom>
              <a:blipFill>
                <a:blip r:embed="rId4"/>
                <a:stretch>
                  <a:fillRect l="-1927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组合 19">
            <a:extLst>
              <a:ext uri="{FF2B5EF4-FFF2-40B4-BE49-F238E27FC236}">
                <a16:creationId xmlns:a16="http://schemas.microsoft.com/office/drawing/2014/main" id="{83E1C25D-8E76-6F5D-E870-841A7F6CCFB7}"/>
              </a:ext>
            </a:extLst>
          </p:cNvPr>
          <p:cNvGrpSpPr/>
          <p:nvPr/>
        </p:nvGrpSpPr>
        <p:grpSpPr>
          <a:xfrm>
            <a:off x="6752462" y="248349"/>
            <a:ext cx="5149102" cy="1452459"/>
            <a:chOff x="7037187" y="425644"/>
            <a:chExt cx="5149102" cy="14524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56C05BF0-1BED-4426-80EB-9A719F9DEC1C}"/>
                    </a:ext>
                  </a:extLst>
                </p:cNvPr>
                <p:cNvSpPr/>
                <p:nvPr/>
              </p:nvSpPr>
              <p:spPr>
                <a:xfrm>
                  <a:off x="9494536" y="586910"/>
                  <a:ext cx="1614136" cy="72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56C05BF0-1BED-4426-80EB-9A719F9DEC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4536" y="586910"/>
                  <a:ext cx="1614136" cy="720000"/>
                </a:xfrm>
                <a:prstGeom prst="rect">
                  <a:avLst/>
                </a:prstGeom>
                <a:blipFill>
                  <a:blip r:embed="rId5"/>
                  <a:stretch>
                    <a:fillRect b="-11864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1直线箭头连接符3">
              <a:extLst>
                <a:ext uri="{FF2B5EF4-FFF2-40B4-BE49-F238E27FC236}">
                  <a16:creationId xmlns:a16="http://schemas.microsoft.com/office/drawing/2014/main" id="{D6C94C93-B13E-A05F-2458-F3A66548FF96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>
              <a:off x="7221650" y="946910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3AE8E295-7444-6399-BE41-97601F7D053E}"/>
                    </a:ext>
                  </a:extLst>
                </p:cNvPr>
                <p:cNvSpPr txBox="1"/>
                <p:nvPr/>
              </p:nvSpPr>
              <p:spPr>
                <a:xfrm>
                  <a:off x="7037187" y="425644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3AE8E295-7444-6399-BE41-97601F7D05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7187" y="425644"/>
                  <a:ext cx="936104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1直线箭头连接符3">
              <a:extLst>
                <a:ext uri="{FF2B5EF4-FFF2-40B4-BE49-F238E27FC236}">
                  <a16:creationId xmlns:a16="http://schemas.microsoft.com/office/drawing/2014/main" id="{1669CA12-25C1-240A-6FD1-A38B5D85ADB5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>
              <a:off x="11108672" y="946910"/>
              <a:ext cx="1077617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35FEAADC-FC07-B1C7-CB06-F4C7A53478BE}"/>
                    </a:ext>
                  </a:extLst>
                </p:cNvPr>
                <p:cNvSpPr txBox="1"/>
                <p:nvPr/>
              </p:nvSpPr>
              <p:spPr>
                <a:xfrm>
                  <a:off x="11108672" y="427797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35FEAADC-FC07-B1C7-CB06-F4C7A53478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8672" y="427797"/>
                  <a:ext cx="936104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EEAA2D63-E1D8-390B-E227-BD16EAB812F4}"/>
                </a:ext>
              </a:extLst>
            </p:cNvPr>
            <p:cNvSpPr/>
            <p:nvPr/>
          </p:nvSpPr>
          <p:spPr>
            <a:xfrm>
              <a:off x="7820091" y="802910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1Ui">
                  <a:extLst>
                    <a:ext uri="{FF2B5EF4-FFF2-40B4-BE49-F238E27FC236}">
                      <a16:creationId xmlns:a16="http://schemas.microsoft.com/office/drawing/2014/main" id="{475D9CDB-412A-B932-5D7E-8BB424F8F681}"/>
                    </a:ext>
                  </a:extLst>
                </p:cNvPr>
                <p:cNvSpPr txBox="1"/>
                <p:nvPr/>
              </p:nvSpPr>
              <p:spPr>
                <a:xfrm>
                  <a:off x="7579801" y="884545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1" name="1Ui">
                  <a:extLst>
                    <a:ext uri="{FF2B5EF4-FFF2-40B4-BE49-F238E27FC236}">
                      <a16:creationId xmlns:a16="http://schemas.microsoft.com/office/drawing/2014/main" id="{475D9CDB-412A-B932-5D7E-8BB424F8F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9801" y="884545"/>
                  <a:ext cx="244144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45000" r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4肘形连接符">
              <a:extLst>
                <a:ext uri="{FF2B5EF4-FFF2-40B4-BE49-F238E27FC236}">
                  <a16:creationId xmlns:a16="http://schemas.microsoft.com/office/drawing/2014/main" id="{9F85FB1E-7A3F-CDAF-FB5A-CB343947850F}"/>
                </a:ext>
              </a:extLst>
            </p:cNvPr>
            <p:cNvCxnSpPr>
              <a:cxnSpLocks/>
              <a:stCxn id="48" idx="2"/>
              <a:endCxn id="49" idx="4"/>
            </p:cNvCxnSpPr>
            <p:nvPr/>
          </p:nvCxnSpPr>
          <p:spPr>
            <a:xfrm rot="5400000">
              <a:off x="9700462" y="-785353"/>
              <a:ext cx="139893" cy="3612633"/>
            </a:xfrm>
            <a:prstGeom prst="bentConnector3">
              <a:avLst>
                <a:gd name="adj1" fmla="val 756011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99C592B3-C500-E065-6658-E80B8DA2C2FF}"/>
                    </a:ext>
                  </a:extLst>
                </p:cNvPr>
                <p:cNvSpPr/>
                <p:nvPr/>
              </p:nvSpPr>
              <p:spPr>
                <a:xfrm>
                  <a:off x="9800411" y="1374104"/>
                  <a:ext cx="900000" cy="50399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99C592B3-C500-E065-6658-E80B8DA2C2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0411" y="1374104"/>
                  <a:ext cx="900000" cy="503999"/>
                </a:xfrm>
                <a:prstGeom prst="rect">
                  <a:avLst/>
                </a:prstGeom>
                <a:blipFill>
                  <a:blip r:embed="rId9"/>
                  <a:stretch>
                    <a:fillRect b="-2381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BCAE8739-A05D-6770-4712-AD1E67367275}"/>
                    </a:ext>
                  </a:extLst>
                </p:cNvPr>
                <p:cNvSpPr txBox="1"/>
                <p:nvPr/>
              </p:nvSpPr>
              <p:spPr>
                <a:xfrm>
                  <a:off x="8045291" y="425644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BCAE8739-A05D-6770-4712-AD1E673672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5291" y="425644"/>
                  <a:ext cx="936104" cy="523220"/>
                </a:xfrm>
                <a:prstGeom prst="rect">
                  <a:avLst/>
                </a:prstGeom>
                <a:blipFill>
                  <a:blip r:embed="rId10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28459EA7-BC52-BB29-8307-E4EE11AB64DC}"/>
                </a:ext>
              </a:extLst>
            </p:cNvPr>
            <p:cNvSpPr/>
            <p:nvPr/>
          </p:nvSpPr>
          <p:spPr>
            <a:xfrm>
              <a:off x="8864442" y="803633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27" name="1直线箭头连接符3">
              <a:extLst>
                <a:ext uri="{FF2B5EF4-FFF2-40B4-BE49-F238E27FC236}">
                  <a16:creationId xmlns:a16="http://schemas.microsoft.com/office/drawing/2014/main" id="{0E976CEE-C196-7576-EDDE-EBB02FB5ECC6}"/>
                </a:ext>
              </a:extLst>
            </p:cNvPr>
            <p:cNvCxnSpPr>
              <a:cxnSpLocks/>
              <a:stCxn id="25" idx="6"/>
              <a:endCxn id="41" idx="1"/>
            </p:cNvCxnSpPr>
            <p:nvPr/>
          </p:nvCxnSpPr>
          <p:spPr>
            <a:xfrm flipV="1">
              <a:off x="9152442" y="946910"/>
              <a:ext cx="342094" cy="72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1直线箭头连接符3">
              <a:extLst>
                <a:ext uri="{FF2B5EF4-FFF2-40B4-BE49-F238E27FC236}">
                  <a16:creationId xmlns:a16="http://schemas.microsoft.com/office/drawing/2014/main" id="{53D9341D-2839-0952-B740-6BBC92223676}"/>
                </a:ext>
              </a:extLst>
            </p:cNvPr>
            <p:cNvCxnSpPr>
              <a:cxnSpLocks/>
              <a:stCxn id="49" idx="6"/>
              <a:endCxn id="25" idx="2"/>
            </p:cNvCxnSpPr>
            <p:nvPr/>
          </p:nvCxnSpPr>
          <p:spPr>
            <a:xfrm>
              <a:off x="8108091" y="946910"/>
              <a:ext cx="756351" cy="72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4肘形连接符">
              <a:extLst>
                <a:ext uri="{FF2B5EF4-FFF2-40B4-BE49-F238E27FC236}">
                  <a16:creationId xmlns:a16="http://schemas.microsoft.com/office/drawing/2014/main" id="{4A8CE267-5F3E-53FD-D88F-2CF9D52BF328}"/>
                </a:ext>
              </a:extLst>
            </p:cNvPr>
            <p:cNvCxnSpPr>
              <a:cxnSpLocks/>
              <a:stCxn id="48" idx="2"/>
              <a:endCxn id="60" idx="3"/>
            </p:cNvCxnSpPr>
            <p:nvPr/>
          </p:nvCxnSpPr>
          <p:spPr>
            <a:xfrm rot="5400000">
              <a:off x="10801025" y="850404"/>
              <a:ext cx="675087" cy="876313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4肘形连接符">
              <a:extLst>
                <a:ext uri="{FF2B5EF4-FFF2-40B4-BE49-F238E27FC236}">
                  <a16:creationId xmlns:a16="http://schemas.microsoft.com/office/drawing/2014/main" id="{E5E753EA-C872-FD69-23C8-99E33F25F447}"/>
                </a:ext>
              </a:extLst>
            </p:cNvPr>
            <p:cNvCxnSpPr>
              <a:cxnSpLocks/>
              <a:stCxn id="60" idx="1"/>
              <a:endCxn id="25" idx="4"/>
            </p:cNvCxnSpPr>
            <p:nvPr/>
          </p:nvCxnSpPr>
          <p:spPr>
            <a:xfrm rot="10800000">
              <a:off x="9008443" y="1091634"/>
              <a:ext cx="791969" cy="534471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1Ui">
                  <a:extLst>
                    <a:ext uri="{FF2B5EF4-FFF2-40B4-BE49-F238E27FC236}">
                      <a16:creationId xmlns:a16="http://schemas.microsoft.com/office/drawing/2014/main" id="{7DB097F0-99CC-B038-D2FD-70503602A759}"/>
                    </a:ext>
                  </a:extLst>
                </p:cNvPr>
                <p:cNvSpPr txBox="1"/>
                <p:nvPr/>
              </p:nvSpPr>
              <p:spPr>
                <a:xfrm>
                  <a:off x="8699506" y="883070"/>
                  <a:ext cx="244144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0" name="1Ui">
                  <a:extLst>
                    <a:ext uri="{FF2B5EF4-FFF2-40B4-BE49-F238E27FC236}">
                      <a16:creationId xmlns:a16="http://schemas.microsoft.com/office/drawing/2014/main" id="{7DB097F0-99CC-B038-D2FD-70503602A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9506" y="883070"/>
                  <a:ext cx="244144" cy="524695"/>
                </a:xfrm>
                <a:prstGeom prst="rect">
                  <a:avLst/>
                </a:prstGeom>
                <a:blipFill>
                  <a:blip r:embed="rId11"/>
                  <a:stretch>
                    <a:fillRect l="-45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F8E09E2C-4696-38E0-7E3B-7EAA0B3DF071}"/>
              </a:ext>
            </a:extLst>
          </p:cNvPr>
          <p:cNvSpPr txBox="1"/>
          <p:nvPr/>
        </p:nvSpPr>
        <p:spPr>
          <a:xfrm>
            <a:off x="321984" y="2938248"/>
            <a:ext cx="4846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特征方程中，一次项系数为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8BEEB6A2-70B8-1587-17F0-A2AC9CDD05E5}"/>
                  </a:ext>
                </a:extLst>
              </p:cNvPr>
              <p:cNvSpPr txBox="1"/>
              <p:nvPr/>
            </p:nvSpPr>
            <p:spPr>
              <a:xfrm>
                <a:off x="2648968" y="3435272"/>
                <a:ext cx="7583710" cy="1717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8BEEB6A2-70B8-1587-17F0-A2AC9CDD0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968" y="3435272"/>
                <a:ext cx="7583710" cy="1717521"/>
              </a:xfrm>
              <a:prstGeom prst="rect">
                <a:avLst/>
              </a:prstGeom>
              <a:blipFill>
                <a:blip r:embed="rId12"/>
                <a:stretch>
                  <a:fillRect b="-36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6150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70" grpId="0" animBg="1"/>
      <p:bldP spid="74" grpId="0" animBg="1"/>
      <p:bldP spid="75" grpId="0"/>
      <p:bldP spid="50" grpId="0"/>
      <p:bldP spid="5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代码框">
            <a:extLst>
              <a:ext uri="{FF2B5EF4-FFF2-40B4-BE49-F238E27FC236}">
                <a16:creationId xmlns:a16="http://schemas.microsoft.com/office/drawing/2014/main" id="{418B0756-A419-E6DB-7CB5-D4BF81BA83C9}"/>
              </a:ext>
            </a:extLst>
          </p:cNvPr>
          <p:cNvGrpSpPr/>
          <p:nvPr/>
        </p:nvGrpSpPr>
        <p:grpSpPr>
          <a:xfrm>
            <a:off x="235858" y="891531"/>
            <a:ext cx="9279424" cy="5835776"/>
            <a:chOff x="2515563" y="3741795"/>
            <a:chExt cx="9279424" cy="5835776"/>
          </a:xfrm>
        </p:grpSpPr>
        <p:sp>
          <p:nvSpPr>
            <p:cNvPr id="29" name="代码">
              <a:extLst>
                <a:ext uri="{FF2B5EF4-FFF2-40B4-BE49-F238E27FC236}">
                  <a16:creationId xmlns:a16="http://schemas.microsoft.com/office/drawing/2014/main" id="{916EF970-D979-3C2A-8B46-8AB1C348939F}"/>
                </a:ext>
              </a:extLst>
            </p:cNvPr>
            <p:cNvSpPr txBox="1"/>
            <p:nvPr/>
          </p:nvSpPr>
          <p:spPr>
            <a:xfrm>
              <a:off x="2515563" y="4101629"/>
              <a:ext cx="9279424" cy="5475942"/>
            </a:xfrm>
            <a:prstGeom prst="roundRect">
              <a:avLst>
                <a:gd name="adj" fmla="val 4505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0" rtlCol="0">
              <a:spAutoFit/>
            </a:bodyPr>
            <a:lstStyle/>
            <a:p>
              <a:r>
                <a:rPr lang="en" altLang="zh-CN" dirty="0">
                  <a:latin typeface="Menlo" panose="020B0609030804020204" pitchFamily="49" charset="0"/>
                </a:rPr>
                <a:t>T = 10; 		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仿真时间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en" altLang="zh-CN" dirty="0">
                  <a:latin typeface="Menlo" panose="020B0609030804020204" pitchFamily="49" charset="0"/>
                </a:rPr>
                <a:t>L = 5; 		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Td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数量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en" altLang="zh-CN" dirty="0">
                  <a:latin typeface="Menlo" panose="020B0609030804020204" pitchFamily="49" charset="0"/>
                </a:rPr>
                <a:t>omega = 1; 		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自然振荡频率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en" altLang="zh-CN" dirty="0">
                  <a:latin typeface="Menlo" panose="020B0609030804020204" pitchFamily="49" charset="0"/>
                </a:rPr>
                <a:t>zeta = 0.3; 		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阻尼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en" altLang="zh-CN" dirty="0">
                  <a:latin typeface="Menlo" panose="020B0609030804020204" pitchFamily="49" charset="0"/>
                </a:rPr>
                <a:t>Kt = </a:t>
              </a:r>
              <a:r>
                <a:rPr lang="en" altLang="zh-CN" dirty="0" err="1">
                  <a:latin typeface="Menlo" panose="020B0609030804020204" pitchFamily="49" charset="0"/>
                </a:rPr>
                <a:t>linspace</a:t>
              </a:r>
              <a:r>
                <a:rPr lang="en" altLang="zh-CN" dirty="0">
                  <a:latin typeface="Menlo" panose="020B0609030804020204" pitchFamily="49" charset="0"/>
                </a:rPr>
                <a:t>(0,1.4,L); 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等间隔取</a:t>
              </a:r>
              <a:r>
                <a:rPr lang="en-US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Kt</a:t>
              </a:r>
              <a:endParaRPr lang="en" altLang="zh-CN" dirty="0">
                <a:latin typeface="Menlo" panose="020B0609030804020204" pitchFamily="49" charset="0"/>
              </a:endParaRPr>
            </a:p>
            <a:p>
              <a:r>
                <a:rPr lang="en" altLang="zh-CN" dirty="0">
                  <a:latin typeface="Menlo" panose="020B0609030804020204" pitchFamily="49" charset="0"/>
                </a:rPr>
                <a:t>figure 		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开启图窗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en" altLang="zh-CN" dirty="0">
                  <a:latin typeface="Menlo" panose="020B0609030804020204" pitchFamily="49" charset="0"/>
                </a:rPr>
                <a:t>hold </a:t>
              </a:r>
              <a:r>
                <a:rPr lang="en" altLang="zh-CN" dirty="0">
                  <a:solidFill>
                    <a:srgbClr val="AA04F9"/>
                  </a:solidFill>
                  <a:latin typeface="Menlo" panose="020B0609030804020204" pitchFamily="49" charset="0"/>
                </a:rPr>
                <a:t>on 		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保持图窗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en" altLang="zh-CN" dirty="0" err="1">
                  <a:latin typeface="Menlo" panose="020B0609030804020204" pitchFamily="49" charset="0"/>
                </a:rPr>
                <a:t>lgd</a:t>
              </a:r>
              <a:r>
                <a:rPr lang="en" altLang="zh-CN" dirty="0">
                  <a:latin typeface="Menlo" panose="020B0609030804020204" pitchFamily="49" charset="0"/>
                </a:rPr>
                <a:t> = cell(1,L); 	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存储图例变量初始化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en" altLang="zh-CN" dirty="0">
                  <a:solidFill>
                    <a:srgbClr val="0E00FF"/>
                  </a:solidFill>
                  <a:latin typeface="Menlo" panose="020B0609030804020204" pitchFamily="49" charset="0"/>
                </a:rPr>
                <a:t>for </a:t>
              </a:r>
              <a:r>
                <a:rPr lang="en" altLang="zh-CN" dirty="0">
                  <a:latin typeface="Menlo" panose="020B0609030804020204" pitchFamily="49" charset="0"/>
                </a:rPr>
                <a:t>ii = 1:L 		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在所有</a:t>
              </a:r>
              <a:r>
                <a:rPr lang="en-US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Kt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中循环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zh-CN" altLang="en-US" dirty="0">
                  <a:latin typeface="Menlo" panose="020B0609030804020204" pitchFamily="49" charset="0"/>
                </a:rPr>
                <a:t>    </a:t>
              </a:r>
              <a:r>
                <a:rPr lang="en" altLang="zh-CN" dirty="0">
                  <a:latin typeface="Menlo" panose="020B0609030804020204" pitchFamily="49" charset="0"/>
                </a:rPr>
                <a:t>num = omega^2; 	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分子多项式系数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zh-CN" altLang="en-US" dirty="0">
                  <a:latin typeface="Menlo" panose="020B0609030804020204" pitchFamily="49" charset="0"/>
                </a:rPr>
                <a:t>    </a:t>
              </a:r>
              <a:r>
                <a:rPr lang="en" altLang="zh-CN" dirty="0">
                  <a:latin typeface="Menlo" panose="020B0609030804020204" pitchFamily="49" charset="0"/>
                </a:rPr>
                <a:t>den = [1,2*zeta*</a:t>
              </a:r>
              <a:r>
                <a:rPr lang="en" altLang="zh-CN" dirty="0" err="1">
                  <a:latin typeface="Menlo" panose="020B0609030804020204" pitchFamily="49" charset="0"/>
                </a:rPr>
                <a:t>omega+Kt</a:t>
              </a:r>
              <a:r>
                <a:rPr lang="en" altLang="zh-CN" dirty="0">
                  <a:latin typeface="Menlo" panose="020B0609030804020204" pitchFamily="49" charset="0"/>
                </a:rPr>
                <a:t>(ii)*omega^2,omega^2]; 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分母多项式系数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zh-CN" altLang="en-US" dirty="0">
                  <a:latin typeface="Menlo" panose="020B0609030804020204" pitchFamily="49" charset="0"/>
                </a:rPr>
                <a:t>    </a:t>
              </a:r>
              <a:r>
                <a:rPr lang="en" altLang="zh-CN" dirty="0">
                  <a:latin typeface="Menlo" panose="020B0609030804020204" pitchFamily="49" charset="0"/>
                </a:rPr>
                <a:t>G = </a:t>
              </a:r>
              <a:r>
                <a:rPr lang="en" altLang="zh-CN" dirty="0" err="1">
                  <a:latin typeface="Menlo" panose="020B0609030804020204" pitchFamily="49" charset="0"/>
                </a:rPr>
                <a:t>tf</a:t>
              </a:r>
              <a:r>
                <a:rPr lang="en" altLang="zh-CN" dirty="0">
                  <a:latin typeface="Menlo" panose="020B0609030804020204" pitchFamily="49" charset="0"/>
                </a:rPr>
                <a:t>(num, den); 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建立传函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zh-CN" altLang="en-US" dirty="0">
                  <a:latin typeface="Menlo" panose="020B0609030804020204" pitchFamily="49" charset="0"/>
                </a:rPr>
                <a:t>    </a:t>
              </a:r>
              <a:r>
                <a:rPr lang="en-US" altLang="zh-CN" dirty="0">
                  <a:latin typeface="Menlo" panose="020B0609030804020204" pitchFamily="49" charset="0"/>
                </a:rPr>
                <a:t>[</a:t>
              </a:r>
              <a:r>
                <a:rPr lang="en" altLang="zh-CN" dirty="0" err="1">
                  <a:latin typeface="Menlo" panose="020B0609030804020204" pitchFamily="49" charset="0"/>
                </a:rPr>
                <a:t>y,t</a:t>
              </a:r>
              <a:r>
                <a:rPr lang="en" altLang="zh-CN" dirty="0">
                  <a:latin typeface="Menlo" panose="020B0609030804020204" pitchFamily="49" charset="0"/>
                </a:rPr>
                <a:t>] = step(G,T); 	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仿真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zh-CN" altLang="en-US" dirty="0">
                  <a:latin typeface="Menlo" panose="020B0609030804020204" pitchFamily="49" charset="0"/>
                </a:rPr>
                <a:t>    </a:t>
              </a:r>
              <a:r>
                <a:rPr lang="en" altLang="zh-CN" dirty="0">
                  <a:latin typeface="Menlo" panose="020B0609030804020204" pitchFamily="49" charset="0"/>
                </a:rPr>
                <a:t>plot(t,y,</a:t>
              </a:r>
              <a:r>
                <a:rPr lang="en" altLang="zh-CN" dirty="0">
                  <a:solidFill>
                    <a:srgbClr val="AA04F9"/>
                  </a:solidFill>
                  <a:latin typeface="Menlo" panose="020B0609030804020204" pitchFamily="49" charset="0"/>
                </a:rPr>
                <a:t>'LineWidth'</a:t>
              </a:r>
              <a:r>
                <a:rPr lang="en" altLang="zh-CN" dirty="0">
                  <a:latin typeface="Menlo" panose="020B0609030804020204" pitchFamily="49" charset="0"/>
                </a:rPr>
                <a:t>,2); 	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绘图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zh-CN" altLang="en-US" dirty="0">
                  <a:latin typeface="Menlo" panose="020B0609030804020204" pitchFamily="49" charset="0"/>
                </a:rPr>
                <a:t>    </a:t>
              </a:r>
              <a:r>
                <a:rPr lang="en" altLang="zh-CN" dirty="0" err="1">
                  <a:latin typeface="Menlo" panose="020B0609030804020204" pitchFamily="49" charset="0"/>
                </a:rPr>
                <a:t>lgd</a:t>
              </a:r>
              <a:r>
                <a:rPr lang="en" altLang="zh-CN" dirty="0">
                  <a:latin typeface="Menlo" panose="020B0609030804020204" pitchFamily="49" charset="0"/>
                </a:rPr>
                <a:t>{ii} = [</a:t>
              </a:r>
              <a:r>
                <a:rPr lang="en" altLang="zh-CN" dirty="0">
                  <a:solidFill>
                    <a:srgbClr val="AA04F9"/>
                  </a:solidFill>
                  <a:latin typeface="Menlo" panose="020B0609030804020204" pitchFamily="49" charset="0"/>
                </a:rPr>
                <a:t>'</a:t>
              </a:r>
              <a:r>
                <a:rPr lang="en" altLang="zh-CN" dirty="0" err="1">
                  <a:solidFill>
                    <a:srgbClr val="AA04F9"/>
                  </a:solidFill>
                  <a:latin typeface="Menlo" panose="020B0609030804020204" pitchFamily="49" charset="0"/>
                </a:rPr>
                <a:t>K_t</a:t>
              </a:r>
              <a:r>
                <a:rPr lang="en" altLang="zh-CN" dirty="0">
                  <a:solidFill>
                    <a:srgbClr val="AA04F9"/>
                  </a:solidFill>
                  <a:latin typeface="Menlo" panose="020B0609030804020204" pitchFamily="49" charset="0"/>
                </a:rPr>
                <a:t>='</a:t>
              </a:r>
              <a:r>
                <a:rPr lang="en" altLang="zh-CN" dirty="0">
                  <a:latin typeface="Menlo" panose="020B0609030804020204" pitchFamily="49" charset="0"/>
                </a:rPr>
                <a:t>,num2str(Td(ii))];	</a:t>
              </a:r>
              <a:r>
                <a:rPr lang="en" altLang="zh-CN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dirty="0">
                  <a:solidFill>
                    <a:srgbClr val="028009"/>
                  </a:solidFill>
                  <a:latin typeface="Menlo" panose="020B0609030804020204" pitchFamily="49" charset="0"/>
                </a:rPr>
                <a:t>添加图例</a:t>
              </a:r>
              <a:endParaRPr lang="zh-CN" altLang="en-US" dirty="0">
                <a:latin typeface="Menlo" panose="020B0609030804020204" pitchFamily="49" charset="0"/>
              </a:endParaRPr>
            </a:p>
            <a:p>
              <a:r>
                <a:rPr lang="en" altLang="zh-CN" dirty="0">
                  <a:solidFill>
                    <a:srgbClr val="0E00FF"/>
                  </a:solidFill>
                  <a:latin typeface="Menlo" panose="020B0609030804020204" pitchFamily="49" charset="0"/>
                </a:rPr>
                <a:t>end</a:t>
              </a:r>
              <a:endParaRPr lang="en" altLang="zh-CN" dirty="0">
                <a:latin typeface="Menlo" panose="020B0609030804020204" pitchFamily="49" charset="0"/>
              </a:endParaRPr>
            </a:p>
            <a:p>
              <a:r>
                <a:rPr lang="en" altLang="zh-CN" dirty="0" err="1">
                  <a:latin typeface="Menlo" panose="020B0609030804020204" pitchFamily="49" charset="0"/>
                </a:rPr>
                <a:t>xlabel</a:t>
              </a:r>
              <a:r>
                <a:rPr lang="en" altLang="zh-CN" dirty="0">
                  <a:latin typeface="Menlo" panose="020B0609030804020204" pitchFamily="49" charset="0"/>
                </a:rPr>
                <a:t>(</a:t>
              </a:r>
              <a:r>
                <a:rPr lang="en" altLang="zh-CN" dirty="0">
                  <a:solidFill>
                    <a:srgbClr val="AA04F9"/>
                  </a:solidFill>
                  <a:latin typeface="Menlo" panose="020B0609030804020204" pitchFamily="49" charset="0"/>
                </a:rPr>
                <a:t>'Time (seconds)'</a:t>
              </a:r>
              <a:r>
                <a:rPr lang="en" altLang="zh-CN" dirty="0">
                  <a:latin typeface="Menlo" panose="020B0609030804020204" pitchFamily="49" charset="0"/>
                </a:rPr>
                <a:t>)</a:t>
              </a:r>
            </a:p>
            <a:p>
              <a:r>
                <a:rPr lang="en" altLang="zh-CN" dirty="0" err="1">
                  <a:latin typeface="Menlo" panose="020B0609030804020204" pitchFamily="49" charset="0"/>
                </a:rPr>
                <a:t>ylabel</a:t>
              </a:r>
              <a:r>
                <a:rPr lang="en" altLang="zh-CN" dirty="0">
                  <a:latin typeface="Menlo" panose="020B0609030804020204" pitchFamily="49" charset="0"/>
                </a:rPr>
                <a:t>(</a:t>
              </a:r>
              <a:r>
                <a:rPr lang="en" altLang="zh-CN" dirty="0">
                  <a:solidFill>
                    <a:srgbClr val="AA04F9"/>
                  </a:solidFill>
                  <a:latin typeface="Menlo" panose="020B0609030804020204" pitchFamily="49" charset="0"/>
                </a:rPr>
                <a:t>'Amplitude'</a:t>
              </a:r>
              <a:r>
                <a:rPr lang="en" altLang="zh-CN" dirty="0">
                  <a:latin typeface="Menlo" panose="020B0609030804020204" pitchFamily="49" charset="0"/>
                </a:rPr>
                <a:t>)</a:t>
              </a:r>
            </a:p>
            <a:p>
              <a:r>
                <a:rPr lang="en" altLang="zh-CN" dirty="0">
                  <a:latin typeface="Menlo" panose="020B0609030804020204" pitchFamily="49" charset="0"/>
                </a:rPr>
                <a:t>legend(</a:t>
              </a:r>
              <a:r>
                <a:rPr lang="en" altLang="zh-CN" dirty="0" err="1">
                  <a:latin typeface="Menlo" panose="020B0609030804020204" pitchFamily="49" charset="0"/>
                </a:rPr>
                <a:t>lgd</a:t>
              </a:r>
              <a:r>
                <a:rPr lang="en" altLang="zh-CN" dirty="0">
                  <a:latin typeface="Menlo" panose="020B0609030804020204" pitchFamily="49" charset="0"/>
                </a:rPr>
                <a:t>,</a:t>
              </a:r>
              <a:r>
                <a:rPr lang="en" altLang="zh-CN" dirty="0">
                  <a:solidFill>
                    <a:srgbClr val="AA04F9"/>
                  </a:solidFill>
                  <a:latin typeface="Menlo" panose="020B0609030804020204" pitchFamily="49" charset="0"/>
                </a:rPr>
                <a:t>"</a:t>
              </a:r>
              <a:r>
                <a:rPr lang="en" altLang="zh-CN" dirty="0" err="1">
                  <a:solidFill>
                    <a:srgbClr val="AA04F9"/>
                  </a:solidFill>
                  <a:latin typeface="Menlo" panose="020B0609030804020204" pitchFamily="49" charset="0"/>
                </a:rPr>
                <a:t>Location"</a:t>
              </a:r>
              <a:r>
                <a:rPr lang="en" altLang="zh-CN" dirty="0" err="1">
                  <a:latin typeface="Menlo" panose="020B0609030804020204" pitchFamily="49" charset="0"/>
                </a:rPr>
                <a:t>,</a:t>
              </a:r>
              <a:r>
                <a:rPr lang="en" altLang="zh-CN" dirty="0" err="1">
                  <a:solidFill>
                    <a:srgbClr val="AA04F9"/>
                  </a:solidFill>
                  <a:latin typeface="Menlo" panose="020B0609030804020204" pitchFamily="49" charset="0"/>
                </a:rPr>
                <a:t>"southeast</a:t>
              </a:r>
              <a:r>
                <a:rPr lang="en" altLang="zh-CN" dirty="0">
                  <a:solidFill>
                    <a:srgbClr val="AA04F9"/>
                  </a:solidFill>
                  <a:latin typeface="Menlo" panose="020B0609030804020204" pitchFamily="49" charset="0"/>
                </a:rPr>
                <a:t>"</a:t>
              </a:r>
              <a:r>
                <a:rPr lang="en" altLang="zh-CN" dirty="0">
                  <a:latin typeface="Menlo" panose="020B0609030804020204" pitchFamily="49" charset="0"/>
                </a:rPr>
                <a:t>)</a:t>
              </a:r>
            </a:p>
          </p:txBody>
        </p:sp>
        <p:sp>
          <p:nvSpPr>
            <p:cNvPr id="30" name="标题">
              <a:extLst>
                <a:ext uri="{FF2B5EF4-FFF2-40B4-BE49-F238E27FC236}">
                  <a16:creationId xmlns:a16="http://schemas.microsoft.com/office/drawing/2014/main" id="{81357204-EDAA-1BFF-A4DD-BAF13F61739D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  <p:sp>
        <p:nvSpPr>
          <p:cNvPr id="6" name="TextBox 3">
            <a:extLst>
              <a:ext uri="{FF2B5EF4-FFF2-40B4-BE49-F238E27FC236}">
                <a16:creationId xmlns:a16="http://schemas.microsoft.com/office/drawing/2014/main" id="{C49382B3-610A-6C9E-9688-062455544AA5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输出微分反馈例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2756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图片 1">
            <a:extLst>
              <a:ext uri="{FF2B5EF4-FFF2-40B4-BE49-F238E27FC236}">
                <a16:creationId xmlns:a16="http://schemas.microsoft.com/office/drawing/2014/main" id="{0A615EE7-8EFD-06E6-299A-9A8D4BBC2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688" y="986930"/>
            <a:ext cx="6151893" cy="461392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0B1E5D2-F0C9-0540-4C85-7ED6641CFE85}"/>
              </a:ext>
            </a:extLst>
          </p:cNvPr>
          <p:cNvSpPr txBox="1"/>
          <p:nvPr/>
        </p:nvSpPr>
        <p:spPr>
          <a:xfrm>
            <a:off x="4367014" y="5795298"/>
            <a:ext cx="3703072" cy="599123"/>
          </a:xfrm>
          <a:prstGeom prst="roundRect">
            <a:avLst>
              <a:gd name="adj" fmla="val 226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测速反馈不增加零点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D0D71BC-8609-2F8F-1909-40CC11F46DC9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输出微分反馈例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3686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校正效果对比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48E887-F096-6805-FDD1-3C27BC64F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121" y="940073"/>
            <a:ext cx="6151894" cy="4613920"/>
          </a:xfrm>
          <a:prstGeom prst="rect">
            <a:avLst/>
          </a:prstGeom>
        </p:spPr>
      </p:pic>
      <p:pic>
        <p:nvPicPr>
          <p:cNvPr id="2" name="!!图片 1">
            <a:extLst>
              <a:ext uri="{FF2B5EF4-FFF2-40B4-BE49-F238E27FC236}">
                <a16:creationId xmlns:a16="http://schemas.microsoft.com/office/drawing/2014/main" id="{0A615EE7-8EFD-06E6-299A-9A8D4BBC2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41" y="940073"/>
            <a:ext cx="6151893" cy="461392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0B1E5D2-F0C9-0540-4C85-7ED6641CFE85}"/>
              </a:ext>
            </a:extLst>
          </p:cNvPr>
          <p:cNvSpPr txBox="1"/>
          <p:nvPr/>
        </p:nvSpPr>
        <p:spPr>
          <a:xfrm>
            <a:off x="1270670" y="5731904"/>
            <a:ext cx="3703072" cy="599123"/>
          </a:xfrm>
          <a:prstGeom prst="roundRect">
            <a:avLst>
              <a:gd name="adj" fmla="val 226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测速反馈不增加零点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059913-B4A7-330B-8D99-1F6C18D16B12}"/>
              </a:ext>
            </a:extLst>
          </p:cNvPr>
          <p:cNvSpPr txBox="1"/>
          <p:nvPr/>
        </p:nvSpPr>
        <p:spPr>
          <a:xfrm>
            <a:off x="7535863" y="5731904"/>
            <a:ext cx="3283698" cy="599123"/>
          </a:xfrm>
          <a:prstGeom prst="roundRect">
            <a:avLst>
              <a:gd name="adj" fmla="val 226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比例微分增加零点</a:t>
            </a:r>
          </a:p>
        </p:txBody>
      </p:sp>
    </p:spTree>
    <p:extLst>
      <p:ext uri="{BB962C8B-B14F-4D97-AF65-F5344CB8AC3E}">
        <p14:creationId xmlns:p14="http://schemas.microsoft.com/office/powerpoint/2010/main" val="3734971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反馈校正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49A015F-525A-4C77-25DD-534814C82C81}"/>
              </a:ext>
            </a:extLst>
          </p:cNvPr>
          <p:cNvSpPr txBox="1"/>
          <p:nvPr/>
        </p:nvSpPr>
        <p:spPr>
          <a:xfrm>
            <a:off x="118542" y="1034445"/>
            <a:ext cx="5616624" cy="599123"/>
          </a:xfrm>
          <a:prstGeom prst="roundRect">
            <a:avLst>
              <a:gd name="adj" fmla="val 226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输出微分反馈改善二阶系统性能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F8E09E2C-4696-38E0-7E3B-7EAA0B3DF071}"/>
                  </a:ext>
                </a:extLst>
              </p:cNvPr>
              <p:cNvSpPr txBox="1"/>
              <p:nvPr/>
            </p:nvSpPr>
            <p:spPr>
              <a:xfrm>
                <a:off x="314364" y="4023278"/>
                <a:ext cx="522498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=0</m:t>
                    </m:r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时系统的性能？</a:t>
                </a:r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sub>
                    </m:sSub>
                    <m:r>
                      <a:rPr kumimoji="1"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kumimoji="1" lang="zh-CN" altLang="en-US" sz="280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𝜎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%</m:t>
                    </m:r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变化趋势？</a:t>
                </a:r>
                <a:r>
                  <a:rPr lang="en-US" altLang="zh-CN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=0.707</m:t>
                    </m:r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𝜎</m:t>
                    </m:r>
                    <m:r>
                      <a:rPr kumimoji="1" lang="en-US" altLang="zh-CN" sz="28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%</m:t>
                    </m:r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sub>
                    </m:sSub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？</a:t>
                </a:r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sub>
                    </m:sSub>
                    <m:r>
                      <a:rPr kumimoji="1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𝑟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𝑡</m:t>
                    </m:r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𝑒</m:t>
                        </m:r>
                      </m:e>
                      <m:sub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𝑠𝑠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变化趋势？</a:t>
                </a:r>
                <a:r>
                  <a:rPr lang="en-US" altLang="zh-CN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=0.707</m:t>
                    </m:r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时，</a:t>
                </a:r>
                <a:r>
                  <a:rPr kumimoji="1" lang="en-US" altLang="zh-CN" sz="2800" dirty="0"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𝑒</m:t>
                        </m:r>
                      </m:e>
                      <m:sub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𝑠𝑠</m:t>
                        </m:r>
                      </m:sub>
                    </m:sSub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？</a:t>
                </a: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F8E09E2C-4696-38E0-7E3B-7EAA0B3DF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64" y="4023278"/>
                <a:ext cx="5224980" cy="2246769"/>
              </a:xfrm>
              <a:prstGeom prst="rect">
                <a:avLst/>
              </a:prstGeom>
              <a:blipFill>
                <a:blip r:embed="rId3"/>
                <a:stretch>
                  <a:fillRect l="-1695" t="-2809" r="-242" b="-67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组合 21">
            <a:extLst>
              <a:ext uri="{FF2B5EF4-FFF2-40B4-BE49-F238E27FC236}">
                <a16:creationId xmlns:a16="http://schemas.microsoft.com/office/drawing/2014/main" id="{B3EF7B37-D779-67F3-1C84-4D2EF2C6B52D}"/>
              </a:ext>
            </a:extLst>
          </p:cNvPr>
          <p:cNvGrpSpPr/>
          <p:nvPr/>
        </p:nvGrpSpPr>
        <p:grpSpPr>
          <a:xfrm>
            <a:off x="217542" y="2061557"/>
            <a:ext cx="5877664" cy="1450306"/>
            <a:chOff x="6023900" y="250502"/>
            <a:chExt cx="5877664" cy="1450306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35B8C693-4C43-D4C1-723A-FA6A5EB63882}"/>
                </a:ext>
              </a:extLst>
            </p:cNvPr>
            <p:cNvGrpSpPr/>
            <p:nvPr/>
          </p:nvGrpSpPr>
          <p:grpSpPr>
            <a:xfrm>
              <a:off x="6023900" y="250502"/>
              <a:ext cx="5877664" cy="1450306"/>
              <a:chOff x="6023900" y="250502"/>
              <a:chExt cx="5877664" cy="1450306"/>
            </a:xfrm>
          </p:grpSpPr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83E1C25D-8E76-6F5D-E870-841A7F6CCFB7}"/>
                  </a:ext>
                </a:extLst>
              </p:cNvPr>
              <p:cNvGrpSpPr/>
              <p:nvPr/>
            </p:nvGrpSpPr>
            <p:grpSpPr>
              <a:xfrm>
                <a:off x="6023900" y="250502"/>
                <a:ext cx="5877664" cy="1450306"/>
                <a:chOff x="6308625" y="427797"/>
                <a:chExt cx="5877664" cy="145030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矩形 40">
                      <a:extLst>
                        <a:ext uri="{FF2B5EF4-FFF2-40B4-BE49-F238E27FC236}">
                          <a16:creationId xmlns:a16="http://schemas.microsoft.com/office/drawing/2014/main" id="{56C05BF0-1BED-4426-80EB-9A719F9DEC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94536" y="586910"/>
                      <a:ext cx="1614136" cy="720000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25400"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tIns="0"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oMath>
                      </a14:m>
                      <a:r>
                        <a:rPr kumimoji="1" lang="zh-CN" altLang="en-US" sz="28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41" name="矩形 40">
                      <a:extLst>
                        <a:ext uri="{FF2B5EF4-FFF2-40B4-BE49-F238E27FC236}">
                          <a16:creationId xmlns:a16="http://schemas.microsoft.com/office/drawing/2014/main" id="{56C05BF0-1BED-4426-80EB-9A719F9DEC1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94536" y="586910"/>
                      <a:ext cx="1614136" cy="72000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 w="25400">
                      <a:solidFill>
                        <a:srgbClr val="0070C0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3" name="1直线箭头连接符3">
                  <a:extLst>
                    <a:ext uri="{FF2B5EF4-FFF2-40B4-BE49-F238E27FC236}">
                      <a16:creationId xmlns:a16="http://schemas.microsoft.com/office/drawing/2014/main" id="{D6C94C93-B13E-A05F-2458-F3A66548FF96}"/>
                    </a:ext>
                  </a:extLst>
                </p:cNvPr>
                <p:cNvCxnSpPr>
                  <a:cxnSpLocks/>
                  <a:endCxn id="49" idx="2"/>
                </p:cNvCxnSpPr>
                <p:nvPr/>
              </p:nvCxnSpPr>
              <p:spPr>
                <a:xfrm>
                  <a:off x="6501602" y="946910"/>
                  <a:ext cx="598441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文本框 45">
                      <a:extLst>
                        <a:ext uri="{FF2B5EF4-FFF2-40B4-BE49-F238E27FC236}">
                          <a16:creationId xmlns:a16="http://schemas.microsoft.com/office/drawing/2014/main" id="{3AE8E295-7444-6399-BE41-97601F7D053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08625" y="427797"/>
                      <a:ext cx="93610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altLang="zh-CN" sz="2800" b="0" i="1" smtClean="0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oMath>
                        </m:oMathPara>
                      </a14:m>
                      <a:endParaRPr lang="zh-CN" altLang="en-US" sz="2800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6" name="文本框 45">
                      <a:extLst>
                        <a:ext uri="{FF2B5EF4-FFF2-40B4-BE49-F238E27FC236}">
                          <a16:creationId xmlns:a16="http://schemas.microsoft.com/office/drawing/2014/main" id="{3AE8E295-7444-6399-BE41-97601F7D053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08625" y="427797"/>
                      <a:ext cx="936104" cy="52322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135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7" name="1直线箭头连接符3">
                  <a:extLst>
                    <a:ext uri="{FF2B5EF4-FFF2-40B4-BE49-F238E27FC236}">
                      <a16:creationId xmlns:a16="http://schemas.microsoft.com/office/drawing/2014/main" id="{1669CA12-25C1-240A-6FD1-A38B5D85ADB5}"/>
                    </a:ext>
                  </a:extLst>
                </p:cNvPr>
                <p:cNvCxnSpPr>
                  <a:cxnSpLocks/>
                  <a:stCxn id="41" idx="3"/>
                </p:cNvCxnSpPr>
                <p:nvPr/>
              </p:nvCxnSpPr>
              <p:spPr>
                <a:xfrm>
                  <a:off x="11108672" y="946910"/>
                  <a:ext cx="1077617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文本框 47">
                      <a:extLst>
                        <a:ext uri="{FF2B5EF4-FFF2-40B4-BE49-F238E27FC236}">
                          <a16:creationId xmlns:a16="http://schemas.microsoft.com/office/drawing/2014/main" id="{35FEAADC-FC07-B1C7-CB06-F4C7A53478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108672" y="427797"/>
                      <a:ext cx="93610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en-US" altLang="zh-CN" sz="2800" b="0" i="1" smtClean="0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oMath>
                        </m:oMathPara>
                      </a14:m>
                      <a:endParaRPr lang="zh-CN" altLang="en-US" sz="2800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8" name="文本框 47">
                      <a:extLst>
                        <a:ext uri="{FF2B5EF4-FFF2-40B4-BE49-F238E27FC236}">
                          <a16:creationId xmlns:a16="http://schemas.microsoft.com/office/drawing/2014/main" id="{35FEAADC-FC07-B1C7-CB06-F4C7A53478B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108672" y="427797"/>
                      <a:ext cx="936104" cy="52322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EEAA2D63-E1D8-390B-E227-BD16EAB812F4}"/>
                    </a:ext>
                  </a:extLst>
                </p:cNvPr>
                <p:cNvSpPr/>
                <p:nvPr/>
              </p:nvSpPr>
              <p:spPr>
                <a:xfrm>
                  <a:off x="7100043" y="802910"/>
                  <a:ext cx="288000" cy="288000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28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" name="1Ui">
                      <a:extLst>
                        <a:ext uri="{FF2B5EF4-FFF2-40B4-BE49-F238E27FC236}">
                          <a16:creationId xmlns:a16="http://schemas.microsoft.com/office/drawing/2014/main" id="{475D9CDB-412A-B932-5D7E-8BB424F8F68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23023" y="883807"/>
                      <a:ext cx="24414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51" name="1Ui">
                      <a:extLst>
                        <a:ext uri="{FF2B5EF4-FFF2-40B4-BE49-F238E27FC236}">
                          <a16:creationId xmlns:a16="http://schemas.microsoft.com/office/drawing/2014/main" id="{475D9CDB-412A-B932-5D7E-8BB424F8F68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23023" y="883807"/>
                      <a:ext cx="244144" cy="52322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38095" r="-952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4" name="4肘形连接符">
                  <a:extLst>
                    <a:ext uri="{FF2B5EF4-FFF2-40B4-BE49-F238E27FC236}">
                      <a16:creationId xmlns:a16="http://schemas.microsoft.com/office/drawing/2014/main" id="{9F85FB1E-7A3F-CDAF-FB5A-CB343947850F}"/>
                    </a:ext>
                  </a:extLst>
                </p:cNvPr>
                <p:cNvCxnSpPr>
                  <a:cxnSpLocks/>
                  <a:stCxn id="48" idx="2"/>
                  <a:endCxn id="49" idx="4"/>
                </p:cNvCxnSpPr>
                <p:nvPr/>
              </p:nvCxnSpPr>
              <p:spPr>
                <a:xfrm rot="5400000">
                  <a:off x="9340438" y="-1145377"/>
                  <a:ext cx="139893" cy="4332681"/>
                </a:xfrm>
                <a:prstGeom prst="bentConnector3">
                  <a:avLst>
                    <a:gd name="adj1" fmla="val 746538"/>
                  </a:avLst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" name="矩形 59">
                      <a:extLst>
                        <a:ext uri="{FF2B5EF4-FFF2-40B4-BE49-F238E27FC236}">
                          <a16:creationId xmlns:a16="http://schemas.microsoft.com/office/drawing/2014/main" id="{99C592B3-C500-E065-6658-E80B8DA2C2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00411" y="1374104"/>
                      <a:ext cx="900000" cy="503999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25400"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3600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kumimoji="1" lang="zh-CN" alt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0" name="矩形 59">
                      <a:extLst>
                        <a:ext uri="{FF2B5EF4-FFF2-40B4-BE49-F238E27FC236}">
                          <a16:creationId xmlns:a16="http://schemas.microsoft.com/office/drawing/2014/main" id="{99C592B3-C500-E065-6658-E80B8DA2C2F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00411" y="1374104"/>
                      <a:ext cx="900000" cy="503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 w="25400">
                      <a:solidFill>
                        <a:srgbClr val="0070C0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文本框 65">
                      <a:extLst>
                        <a:ext uri="{FF2B5EF4-FFF2-40B4-BE49-F238E27FC236}">
                          <a16:creationId xmlns:a16="http://schemas.microsoft.com/office/drawing/2014/main" id="{BCAE8739-A05D-6770-4712-AD1E6736727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76333" y="429244"/>
                      <a:ext cx="93610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zh-CN" sz="2800" b="0" i="1" smtClean="0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oMath>
                        </m:oMathPara>
                      </a14:m>
                      <a:endParaRPr lang="zh-CN" altLang="en-US" sz="2800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6" name="文本框 65">
                      <a:extLst>
                        <a:ext uri="{FF2B5EF4-FFF2-40B4-BE49-F238E27FC236}">
                          <a16:creationId xmlns:a16="http://schemas.microsoft.com/office/drawing/2014/main" id="{BCAE8739-A05D-6770-4712-AD1E6736727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76333" y="429244"/>
                      <a:ext cx="936104" cy="52322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1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28459EA7-BC52-BB29-8307-E4EE11AB64DC}"/>
                    </a:ext>
                  </a:extLst>
                </p:cNvPr>
                <p:cNvSpPr/>
                <p:nvPr/>
              </p:nvSpPr>
              <p:spPr>
                <a:xfrm>
                  <a:off x="8972251" y="803633"/>
                  <a:ext cx="288000" cy="288000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2800"/>
                </a:p>
              </p:txBody>
            </p:sp>
            <p:cxnSp>
              <p:nvCxnSpPr>
                <p:cNvPr id="27" name="1直线箭头连接符3">
                  <a:extLst>
                    <a:ext uri="{FF2B5EF4-FFF2-40B4-BE49-F238E27FC236}">
                      <a16:creationId xmlns:a16="http://schemas.microsoft.com/office/drawing/2014/main" id="{0E976CEE-C196-7576-EDDE-EBB02FB5ECC6}"/>
                    </a:ext>
                  </a:extLst>
                </p:cNvPr>
                <p:cNvCxnSpPr>
                  <a:cxnSpLocks/>
                  <a:stCxn id="25" idx="6"/>
                  <a:endCxn id="41" idx="1"/>
                </p:cNvCxnSpPr>
                <p:nvPr/>
              </p:nvCxnSpPr>
              <p:spPr>
                <a:xfrm flipV="1">
                  <a:off x="9260251" y="946910"/>
                  <a:ext cx="234285" cy="723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1直线箭头连接符3">
                  <a:extLst>
                    <a:ext uri="{FF2B5EF4-FFF2-40B4-BE49-F238E27FC236}">
                      <a16:creationId xmlns:a16="http://schemas.microsoft.com/office/drawing/2014/main" id="{53D9341D-2839-0952-B740-6BBC92223676}"/>
                    </a:ext>
                  </a:extLst>
                </p:cNvPr>
                <p:cNvCxnSpPr>
                  <a:cxnSpLocks/>
                  <a:stCxn id="49" idx="6"/>
                  <a:endCxn id="35" idx="1"/>
                </p:cNvCxnSpPr>
                <p:nvPr/>
              </p:nvCxnSpPr>
              <p:spPr>
                <a:xfrm>
                  <a:off x="7388043" y="946910"/>
                  <a:ext cx="768501" cy="2054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4肘形连接符">
                  <a:extLst>
                    <a:ext uri="{FF2B5EF4-FFF2-40B4-BE49-F238E27FC236}">
                      <a16:creationId xmlns:a16="http://schemas.microsoft.com/office/drawing/2014/main" id="{4A8CE267-5F3E-53FD-D88F-2CF9D52BF328}"/>
                    </a:ext>
                  </a:extLst>
                </p:cNvPr>
                <p:cNvCxnSpPr>
                  <a:cxnSpLocks/>
                  <a:stCxn id="48" idx="2"/>
                  <a:endCxn id="60" idx="3"/>
                </p:cNvCxnSpPr>
                <p:nvPr/>
              </p:nvCxnSpPr>
              <p:spPr>
                <a:xfrm rot="5400000">
                  <a:off x="10801025" y="850404"/>
                  <a:ext cx="675087" cy="876313"/>
                </a:xfrm>
                <a:prstGeom prst="bentConnector2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4肘形连接符">
                  <a:extLst>
                    <a:ext uri="{FF2B5EF4-FFF2-40B4-BE49-F238E27FC236}">
                      <a16:creationId xmlns:a16="http://schemas.microsoft.com/office/drawing/2014/main" id="{E5E753EA-C872-FD69-23C8-99E33F25F447}"/>
                    </a:ext>
                  </a:extLst>
                </p:cNvPr>
                <p:cNvCxnSpPr>
                  <a:cxnSpLocks/>
                  <a:stCxn id="60" idx="1"/>
                  <a:endCxn id="25" idx="4"/>
                </p:cNvCxnSpPr>
                <p:nvPr/>
              </p:nvCxnSpPr>
              <p:spPr>
                <a:xfrm rot="10800000">
                  <a:off x="9116251" y="1091634"/>
                  <a:ext cx="684160" cy="534471"/>
                </a:xfrm>
                <a:prstGeom prst="bentConnector2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1Ui">
                      <a:extLst>
                        <a:ext uri="{FF2B5EF4-FFF2-40B4-BE49-F238E27FC236}">
                          <a16:creationId xmlns:a16="http://schemas.microsoft.com/office/drawing/2014/main" id="{7DB097F0-99CC-B038-D2FD-70503602A75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95000" y="883807"/>
                      <a:ext cx="244144" cy="5246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40" name="1Ui">
                      <a:extLst>
                        <a:ext uri="{FF2B5EF4-FFF2-40B4-BE49-F238E27FC236}">
                          <a16:creationId xmlns:a16="http://schemas.microsoft.com/office/drawing/2014/main" id="{7DB097F0-99CC-B038-D2FD-70503602A75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95000" y="883807"/>
                      <a:ext cx="244144" cy="52469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45000" r="-1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矩形 34">
                    <a:extLst>
                      <a:ext uri="{FF2B5EF4-FFF2-40B4-BE49-F238E27FC236}">
                        <a16:creationId xmlns:a16="http://schemas.microsoft.com/office/drawing/2014/main" id="{61A68298-ABDB-61A3-89B7-2EB93CAF61E0}"/>
                      </a:ext>
                    </a:extLst>
                  </p:cNvPr>
                  <p:cNvSpPr/>
                  <p:nvPr/>
                </p:nvSpPr>
                <p:spPr>
                  <a:xfrm>
                    <a:off x="7871819" y="519669"/>
                    <a:ext cx="515341" cy="503999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3600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oMath>
                      </m:oMathPara>
                    </a14:m>
                    <a:endParaRPr kumimoji="1" lang="zh-CN" alt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矩形 34">
                    <a:extLst>
                      <a:ext uri="{FF2B5EF4-FFF2-40B4-BE49-F238E27FC236}">
                        <a16:creationId xmlns:a16="http://schemas.microsoft.com/office/drawing/2014/main" id="{61A68298-ABDB-61A3-89B7-2EB93CAF61E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71819" y="519669"/>
                    <a:ext cx="515341" cy="503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1364" r="-6818"/>
                    </a:stretch>
                  </a:blipFill>
                  <a:ln w="254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8" name="1直线箭头连接符3">
              <a:extLst>
                <a:ext uri="{FF2B5EF4-FFF2-40B4-BE49-F238E27FC236}">
                  <a16:creationId xmlns:a16="http://schemas.microsoft.com/office/drawing/2014/main" id="{E57CCB2D-04DE-77E6-CDCD-F71BB25ECB18}"/>
                </a:ext>
              </a:extLst>
            </p:cNvPr>
            <p:cNvCxnSpPr>
              <a:cxnSpLocks/>
              <a:stCxn id="35" idx="3"/>
              <a:endCxn id="25" idx="2"/>
            </p:cNvCxnSpPr>
            <p:nvPr/>
          </p:nvCxnSpPr>
          <p:spPr>
            <a:xfrm flipV="1">
              <a:off x="8387160" y="770338"/>
              <a:ext cx="300366" cy="133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70F1FCC1-5577-4B17-52DA-C7098E9A5962}"/>
                  </a:ext>
                </a:extLst>
              </p:cNvPr>
              <p:cNvSpPr txBox="1"/>
              <p:nvPr/>
            </p:nvSpPr>
            <p:spPr>
              <a:xfrm>
                <a:off x="5867213" y="476672"/>
                <a:ext cx="6868419" cy="56053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=0</m:t>
                    </m:r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时</a:t>
                </a:r>
                <a:r>
                  <a:rPr kumimoji="1" lang="zh-CN" altLang="en-US" sz="2800" dirty="0">
                    <a:solidFill>
                      <a:srgbClr val="E448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系统不稳定！</a:t>
                </a:r>
                <a:endParaRPr kumimoji="1" lang="en-US" altLang="zh-CN" sz="2800" dirty="0">
                  <a:solidFill>
                    <a:srgbClr val="E4486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&gt;0</m:t>
                    </m:r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时，</a:t>
                </a:r>
                <a:r>
                  <a:rPr kumimoji="1" lang="en-US" altLang="zh-CN" sz="2800" dirty="0">
                    <a:ea typeface="Microsoft YaHei" panose="020B0503020204020204" pitchFamily="34" charset="-122"/>
                  </a:rPr>
                  <a:t> </a:t>
                </a:r>
                <a:br>
                  <a:rPr kumimoji="1" lang="en-US" altLang="zh-CN" sz="2800" dirty="0">
                    <a:ea typeface="Microsoft YaHei" panose="020B0503020204020204" pitchFamily="34" charset="-122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&lt;2:</m:t>
                    </m:r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sub>
                    </m:sSub>
                    <m:r>
                      <a:rPr kumimoji="1"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𝜎</m:t>
                            </m:r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%</m:t>
                            </m:r>
                            <m:r>
                              <a:rPr kumimoji="1"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type m:val="lin"/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3.5</m:t>
                                </m:r>
                              </m:num>
                              <m:den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𝜁</m:t>
                                </m:r>
                                <m:sSub>
                                  <m:sSub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800" b="0" dirty="0">
                    <a:ea typeface="Cambria Math" panose="02040503050406030204" pitchFamily="18" charset="0"/>
                  </a:rPr>
                  <a:t> </a:t>
                </a:r>
                <a:br>
                  <a:rPr lang="en-US" altLang="zh-CN" sz="2800" b="0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sub>
                    </m:sSub>
                    <m:r>
                      <a:rPr kumimoji="1"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kumimoji="1" lang="en-US" altLang="zh-CN" sz="28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2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:</m:t>
                    </m:r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sub>
                    </m:sSub>
                    <m:r>
                      <a:rPr kumimoji="1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↑⇒</m:t>
                    </m:r>
                    <m:d>
                      <m:dPr>
                        <m:begChr m:val="{"/>
                        <m:endChr m:val=""/>
                        <m:ctrlPr>
                          <a:rPr kumimoji="1"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𝜎</m:t>
                            </m:r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%</m:t>
                            </m:r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</m:e>
                        </m:eqArr>
                      </m:e>
                    </m:d>
                  </m:oMath>
                </a14:m>
                <a:br>
                  <a:rPr kumimoji="1" lang="en-US" altLang="zh-CN" sz="2800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kumimoji="1"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=0.707</m:t>
                            </m:r>
                          </m:e>
                          <m:e>
                            <m:sSub>
                              <m:sSub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=1.414</m:t>
                            </m:r>
                          </m:e>
                        </m:eqAr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"/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𝜎</m:t>
                            </m:r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%</m:t>
                            </m:r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=5%</m:t>
                            </m:r>
                          </m:e>
                          <m:e>
                            <m:sSub>
                              <m:sSub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=0.495</m:t>
                            </m:r>
                          </m:e>
                        </m:eqArr>
                      </m:e>
                    </m:d>
                  </m:oMath>
                </a14:m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100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+10</m:t>
                        </m:r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𝐾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𝑡</m:t>
                            </m:r>
                          </m:sub>
                        </m:s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</m:t>
                        </m:r>
                      </m:den>
                    </m:f>
                    <m:d>
                      <m:dPr>
                        <m:begChr m:val="{"/>
                        <m:endChr m:val=""/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eqArr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𝐾</m:t>
                            </m:r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=</m:t>
                            </m:r>
                            <m:f>
                              <m:fPr>
                                <m:type m:val="lin"/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10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𝑣</m:t>
                            </m:r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=1</m:t>
                            </m:r>
                          </m:e>
                        </m:eqArr>
                      </m:e>
                    </m:d>
                  </m:oMath>
                </a14:m>
                <a:br>
                  <a:rPr kumimoji="1" lang="en-US" altLang="zh-CN" sz="2800" b="0" i="1" dirty="0">
                    <a:latin typeface="Cambria Math" panose="02040503050406030204" pitchFamily="18" charset="0"/>
                    <a:ea typeface="Microsoft YaHei" panose="020B0503020204020204" pitchFamily="34" charset="-122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sub>
                    </m:sSub>
                    <m:r>
                      <a:rPr kumimoji="1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↑⇒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𝑠𝑠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/10</m:t>
                    </m:r>
                    <m:r>
                      <a:rPr kumimoji="1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70F1FCC1-5577-4B17-52DA-C7098E9A5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213" y="476672"/>
                <a:ext cx="6868419" cy="5605381"/>
              </a:xfrm>
              <a:prstGeom prst="rect">
                <a:avLst/>
              </a:prstGeom>
              <a:blipFill>
                <a:blip r:embed="rId11"/>
                <a:stretch>
                  <a:fillRect l="-9963" t="-23025" b="-404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6920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70" grpId="0" animBg="1"/>
      <p:bldP spid="50" grpId="0"/>
      <p:bldP spid="5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给定输入补偿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805ACCA-ED9C-106F-588A-512C5B605A3D}"/>
              </a:ext>
            </a:extLst>
          </p:cNvPr>
          <p:cNvGrpSpPr/>
          <p:nvPr/>
        </p:nvGrpSpPr>
        <p:grpSpPr>
          <a:xfrm>
            <a:off x="2926854" y="1124744"/>
            <a:ext cx="6155258" cy="1429333"/>
            <a:chOff x="3084513" y="868101"/>
            <a:chExt cx="6155258" cy="14293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A0E3D240-C052-D936-8BE8-F8800183026B}"/>
                    </a:ext>
                  </a:extLst>
                </p:cNvPr>
                <p:cNvSpPr/>
                <p:nvPr/>
              </p:nvSpPr>
              <p:spPr>
                <a:xfrm>
                  <a:off x="7109361" y="1542034"/>
                  <a:ext cx="1080000" cy="50399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A0E3D240-C052-D936-8BE8-F880018302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9361" y="1542034"/>
                  <a:ext cx="1080000" cy="503999"/>
                </a:xfrm>
                <a:prstGeom prst="rect">
                  <a:avLst/>
                </a:prstGeom>
                <a:blipFill>
                  <a:blip r:embed="rId3"/>
                  <a:stretch>
                    <a:fillRect r="-3409" b="-13953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1直线箭头连接符3">
              <a:extLst>
                <a:ext uri="{FF2B5EF4-FFF2-40B4-BE49-F238E27FC236}">
                  <a16:creationId xmlns:a16="http://schemas.microsoft.com/office/drawing/2014/main" id="{738E9589-49C5-714D-BA9F-AEC129081094}"/>
                </a:ext>
              </a:extLst>
            </p:cNvPr>
            <p:cNvCxnSpPr>
              <a:cxnSpLocks/>
              <a:endCxn id="56" idx="2"/>
            </p:cNvCxnSpPr>
            <p:nvPr/>
          </p:nvCxnSpPr>
          <p:spPr>
            <a:xfrm>
              <a:off x="3621323" y="1791980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4656005-46F5-1CB7-5B4D-734AD7872959}"/>
                    </a:ext>
                  </a:extLst>
                </p:cNvPr>
                <p:cNvSpPr txBox="1"/>
                <p:nvPr/>
              </p:nvSpPr>
              <p:spPr>
                <a:xfrm>
                  <a:off x="3084513" y="1280424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4656005-46F5-1CB7-5B4D-734AD78729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4513" y="1280424"/>
                  <a:ext cx="936104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1直线箭头连接符3">
              <a:extLst>
                <a:ext uri="{FF2B5EF4-FFF2-40B4-BE49-F238E27FC236}">
                  <a16:creationId xmlns:a16="http://schemas.microsoft.com/office/drawing/2014/main" id="{872A158C-4B97-009F-0F60-3831499F0F9A}"/>
                </a:ext>
              </a:extLst>
            </p:cNvPr>
            <p:cNvCxnSpPr>
              <a:cxnSpLocks/>
              <a:stCxn id="49" idx="3"/>
            </p:cNvCxnSpPr>
            <p:nvPr/>
          </p:nvCxnSpPr>
          <p:spPr>
            <a:xfrm>
              <a:off x="8189361" y="1794034"/>
              <a:ext cx="1002189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BAE9C77A-3FD7-540B-08AB-FC99BF78EAB9}"/>
                    </a:ext>
                  </a:extLst>
                </p:cNvPr>
                <p:cNvSpPr txBox="1"/>
                <p:nvPr/>
              </p:nvSpPr>
              <p:spPr>
                <a:xfrm>
                  <a:off x="8303667" y="1272867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BAE9C77A-3FD7-540B-08AB-FC99BF78EA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3667" y="1272867"/>
                  <a:ext cx="936104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44E69041-D1BF-6A69-92F9-6B66E69C43AE}"/>
                </a:ext>
              </a:extLst>
            </p:cNvPr>
            <p:cNvSpPr/>
            <p:nvPr/>
          </p:nvSpPr>
          <p:spPr>
            <a:xfrm>
              <a:off x="4219764" y="1647980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1Ui">
                  <a:extLst>
                    <a:ext uri="{FF2B5EF4-FFF2-40B4-BE49-F238E27FC236}">
                      <a16:creationId xmlns:a16="http://schemas.microsoft.com/office/drawing/2014/main" id="{BB766BAE-AF07-04A8-8E04-F86C344DF442}"/>
                    </a:ext>
                  </a:extLst>
                </p:cNvPr>
                <p:cNvSpPr txBox="1"/>
                <p:nvPr/>
              </p:nvSpPr>
              <p:spPr>
                <a:xfrm>
                  <a:off x="3914148" y="1774214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7" name="1Ui">
                  <a:extLst>
                    <a:ext uri="{FF2B5EF4-FFF2-40B4-BE49-F238E27FC236}">
                      <a16:creationId xmlns:a16="http://schemas.microsoft.com/office/drawing/2014/main" id="{BB766BAE-AF07-04A8-8E04-F86C344DF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4148" y="1774214"/>
                  <a:ext cx="244144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40000" r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4肘形连接符">
              <a:extLst>
                <a:ext uri="{FF2B5EF4-FFF2-40B4-BE49-F238E27FC236}">
                  <a16:creationId xmlns:a16="http://schemas.microsoft.com/office/drawing/2014/main" id="{76F86FBF-BBE0-1623-8DB2-90E0ECD9FADC}"/>
                </a:ext>
              </a:extLst>
            </p:cNvPr>
            <p:cNvCxnSpPr>
              <a:cxnSpLocks/>
              <a:stCxn id="54" idx="2"/>
              <a:endCxn id="56" idx="4"/>
            </p:cNvCxnSpPr>
            <p:nvPr/>
          </p:nvCxnSpPr>
          <p:spPr>
            <a:xfrm rot="5400000">
              <a:off x="6497796" y="-337944"/>
              <a:ext cx="139893" cy="4407955"/>
            </a:xfrm>
            <a:prstGeom prst="bentConnector3">
              <a:avLst>
                <a:gd name="adj1" fmla="val 329984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1直线箭头连接符3">
              <a:extLst>
                <a:ext uri="{FF2B5EF4-FFF2-40B4-BE49-F238E27FC236}">
                  <a16:creationId xmlns:a16="http://schemas.microsoft.com/office/drawing/2014/main" id="{65D51F33-4763-FD46-A2C9-3B006EC6D099}"/>
                </a:ext>
              </a:extLst>
            </p:cNvPr>
            <p:cNvCxnSpPr>
              <a:cxnSpLocks/>
              <a:stCxn id="56" idx="6"/>
            </p:cNvCxnSpPr>
            <p:nvPr/>
          </p:nvCxnSpPr>
          <p:spPr>
            <a:xfrm>
              <a:off x="4507764" y="1791980"/>
              <a:ext cx="843775" cy="2054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矩形 61">
                  <a:extLst>
                    <a:ext uri="{FF2B5EF4-FFF2-40B4-BE49-F238E27FC236}">
                      <a16:creationId xmlns:a16="http://schemas.microsoft.com/office/drawing/2014/main" id="{E45BE2ED-8C22-2271-0977-B74531C41E58}"/>
                    </a:ext>
                  </a:extLst>
                </p:cNvPr>
                <p:cNvSpPr/>
                <p:nvPr/>
              </p:nvSpPr>
              <p:spPr>
                <a:xfrm>
                  <a:off x="5305140" y="868101"/>
                  <a:ext cx="1080000" cy="50399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矩形 61">
                  <a:extLst>
                    <a:ext uri="{FF2B5EF4-FFF2-40B4-BE49-F238E27FC236}">
                      <a16:creationId xmlns:a16="http://schemas.microsoft.com/office/drawing/2014/main" id="{E45BE2ED-8C22-2271-0977-B74531C41E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5140" y="868101"/>
                  <a:ext cx="1080000" cy="503999"/>
                </a:xfrm>
                <a:prstGeom prst="rect">
                  <a:avLst/>
                </a:prstGeom>
                <a:blipFill>
                  <a:blip r:embed="rId7"/>
                  <a:stretch>
                    <a:fillRect r="-1136" b="-16279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04686C6F-A3A8-E280-FA54-657C4BBF53B2}"/>
                    </a:ext>
                  </a:extLst>
                </p:cNvPr>
                <p:cNvSpPr txBox="1"/>
                <p:nvPr/>
              </p:nvSpPr>
              <p:spPr>
                <a:xfrm>
                  <a:off x="4397294" y="1283337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04686C6F-A3A8-E280-FA54-657C4BBF5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7294" y="1283337"/>
                  <a:ext cx="936104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E8C0B74D-BE7E-9D12-4B3A-073C58FBA609}"/>
                </a:ext>
              </a:extLst>
            </p:cNvPr>
            <p:cNvSpPr/>
            <p:nvPr/>
          </p:nvSpPr>
          <p:spPr>
            <a:xfrm>
              <a:off x="6599294" y="1648703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69" name="1直线箭头连接符3">
              <a:extLst>
                <a:ext uri="{FF2B5EF4-FFF2-40B4-BE49-F238E27FC236}">
                  <a16:creationId xmlns:a16="http://schemas.microsoft.com/office/drawing/2014/main" id="{E6F71C1F-B153-E32D-6D03-B7F314840D19}"/>
                </a:ext>
              </a:extLst>
            </p:cNvPr>
            <p:cNvCxnSpPr>
              <a:cxnSpLocks/>
              <a:stCxn id="68" idx="6"/>
              <a:endCxn id="49" idx="1"/>
            </p:cNvCxnSpPr>
            <p:nvPr/>
          </p:nvCxnSpPr>
          <p:spPr>
            <a:xfrm>
              <a:off x="6887294" y="1792703"/>
              <a:ext cx="222067" cy="133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1直线箭头连接符3">
              <a:extLst>
                <a:ext uri="{FF2B5EF4-FFF2-40B4-BE49-F238E27FC236}">
                  <a16:creationId xmlns:a16="http://schemas.microsoft.com/office/drawing/2014/main" id="{210699AA-38F4-8C7D-0459-5F77B2C3499E}"/>
                </a:ext>
              </a:extLst>
            </p:cNvPr>
            <p:cNvCxnSpPr>
              <a:cxnSpLocks/>
              <a:endCxn id="68" idx="2"/>
            </p:cNvCxnSpPr>
            <p:nvPr/>
          </p:nvCxnSpPr>
          <p:spPr>
            <a:xfrm flipV="1">
              <a:off x="6291713" y="1792703"/>
              <a:ext cx="307581" cy="133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4肘形连接符">
              <a:extLst>
                <a:ext uri="{FF2B5EF4-FFF2-40B4-BE49-F238E27FC236}">
                  <a16:creationId xmlns:a16="http://schemas.microsoft.com/office/drawing/2014/main" id="{C900C9FB-CAF3-1B1D-61ED-756DB92F0048}"/>
                </a:ext>
              </a:extLst>
            </p:cNvPr>
            <p:cNvCxnSpPr>
              <a:cxnSpLocks/>
              <a:stCxn id="57" idx="0"/>
              <a:endCxn id="62" idx="1"/>
            </p:cNvCxnSpPr>
            <p:nvPr/>
          </p:nvCxnSpPr>
          <p:spPr>
            <a:xfrm rot="5400000" flipH="1" flipV="1">
              <a:off x="4343624" y="812698"/>
              <a:ext cx="654113" cy="1268920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4肘形连接符">
              <a:extLst>
                <a:ext uri="{FF2B5EF4-FFF2-40B4-BE49-F238E27FC236}">
                  <a16:creationId xmlns:a16="http://schemas.microsoft.com/office/drawing/2014/main" id="{13A8C2DD-BCCB-2D13-B50A-108C36389C33}"/>
                </a:ext>
              </a:extLst>
            </p:cNvPr>
            <p:cNvCxnSpPr>
              <a:cxnSpLocks/>
              <a:stCxn id="62" idx="3"/>
              <a:endCxn id="68" idx="0"/>
            </p:cNvCxnSpPr>
            <p:nvPr/>
          </p:nvCxnSpPr>
          <p:spPr>
            <a:xfrm>
              <a:off x="6385140" y="1120101"/>
              <a:ext cx="358154" cy="528602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矩形 77">
                  <a:extLst>
                    <a:ext uri="{FF2B5EF4-FFF2-40B4-BE49-F238E27FC236}">
                      <a16:creationId xmlns:a16="http://schemas.microsoft.com/office/drawing/2014/main" id="{0DB812EA-6702-A74E-BD65-6754AA0FA5E7}"/>
                    </a:ext>
                  </a:extLst>
                </p:cNvPr>
                <p:cNvSpPr/>
                <p:nvPr/>
              </p:nvSpPr>
              <p:spPr>
                <a:xfrm>
                  <a:off x="5307041" y="1530370"/>
                  <a:ext cx="1080000" cy="50399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8" name="矩形 77">
                  <a:extLst>
                    <a:ext uri="{FF2B5EF4-FFF2-40B4-BE49-F238E27FC236}">
                      <a16:creationId xmlns:a16="http://schemas.microsoft.com/office/drawing/2014/main" id="{0DB812EA-6702-A74E-BD65-6754AA0FA5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7041" y="1530370"/>
                  <a:ext cx="1080000" cy="503999"/>
                </a:xfrm>
                <a:prstGeom prst="rect">
                  <a:avLst/>
                </a:prstGeom>
                <a:blipFill>
                  <a:blip r:embed="rId9"/>
                  <a:stretch>
                    <a:fillRect t="-13953" r="-14773" b="-23256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公式1">
                <a:extLst>
                  <a:ext uri="{FF2B5EF4-FFF2-40B4-BE49-F238E27FC236}">
                    <a16:creationId xmlns:a16="http://schemas.microsoft.com/office/drawing/2014/main" id="{520B232B-9C84-390C-FF89-C19B5A1AE901}"/>
                  </a:ext>
                </a:extLst>
              </p:cNvPr>
              <p:cNvSpPr txBox="1"/>
              <p:nvPr/>
            </p:nvSpPr>
            <p:spPr>
              <a:xfrm>
                <a:off x="2808348" y="2751298"/>
                <a:ext cx="6573716" cy="9066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l-GR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𝛷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80" name="公式1">
                <a:extLst>
                  <a:ext uri="{FF2B5EF4-FFF2-40B4-BE49-F238E27FC236}">
                    <a16:creationId xmlns:a16="http://schemas.microsoft.com/office/drawing/2014/main" id="{520B232B-9C84-390C-FF89-C19B5A1AE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348" y="2751298"/>
                <a:ext cx="6573716" cy="906658"/>
              </a:xfrm>
              <a:prstGeom prst="rect">
                <a:avLst/>
              </a:prstGeom>
              <a:blipFill>
                <a:blip r:embed="rId10"/>
                <a:stretch>
                  <a:fillRect l="-1931" t="-2778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1DFFF343-54EB-1545-E8E2-B345FFBC6A2B}"/>
                  </a:ext>
                </a:extLst>
              </p:cNvPr>
              <p:cNvSpPr txBox="1"/>
              <p:nvPr/>
            </p:nvSpPr>
            <p:spPr>
              <a:xfrm>
                <a:off x="261938" y="3975250"/>
                <a:ext cx="11664950" cy="2482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如果选取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𝐺</m:t>
                        </m:r>
                      </m:e>
                      <m:sub>
                        <m:r>
                          <a:rPr kumimoji="1" lang="en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kumimoji="1" lang="en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𝐺</m:t>
                        </m:r>
                      </m:e>
                      <m:sub>
                        <m:r>
                          <a:rPr kumimoji="1" lang="en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kumimoji="1" lang="en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</m:t>
                    </m:r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𝐺</m:t>
                        </m:r>
                      </m:e>
                      <m:sub>
                        <m:r>
                          <a:rPr kumimoji="1" lang="en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𝑐</m:t>
                        </m:r>
                      </m:sub>
                    </m:sSub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𝑠</m:t>
                    </m:r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 =</m:t>
                    </m:r>
                    <m:f>
                      <m:f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" altLang="zh-CN" sz="2800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kumimoji="1" lang="zh-CN" altLang="e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则</a:t>
                </a:r>
                <a14:m>
                  <m:oMath xmlns:m="http://schemas.openxmlformats.org/officeDocument/2006/math">
                    <m:r>
                      <a:rPr kumimoji="1" lang="el-GR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𝛷</m:t>
                    </m:r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𝑠</m:t>
                    </m:r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 = 1</m:t>
                    </m:r>
                  </m:oMath>
                </a14:m>
                <a:r>
                  <a:rPr kumimoji="1" lang="zh-CN" altLang="e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𝐶</m:t>
                    </m:r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𝑠</m:t>
                    </m:r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 = </m:t>
                    </m:r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𝑅</m:t>
                    </m:r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𝑠</m:t>
                    </m:r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kumimoji="1" lang="zh-CN" altLang="e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。</a:t>
                </a:r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单位负反馈系统的输出信号完全再现输入信号。称为按给定作用的完全不变性</a:t>
                </a:r>
                <a:r>
                  <a: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(</a:t>
                </a:r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全补偿</a:t>
                </a:r>
                <a:r>
                  <a: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)</a:t>
                </a:r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条件。但这需要由一些微分环节来实现，容易产生噪声干扰。实际应用的前馈控制并不追求全补偿，一般情况下使系统提高一阶或二阶无差度足矣。</a:t>
                </a:r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1DFFF343-54EB-1545-E8E2-B345FFBC6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38" y="3975250"/>
                <a:ext cx="11664950" cy="2482154"/>
              </a:xfrm>
              <a:prstGeom prst="rect">
                <a:avLst/>
              </a:prstGeom>
              <a:blipFill>
                <a:blip r:embed="rId11"/>
                <a:stretch>
                  <a:fillRect l="-1087" r="-2283" b="-6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608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80" grpId="0"/>
      <p:bldP spid="8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前馈补偿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249A015F-525A-4C77-25DD-534814C82C81}"/>
                  </a:ext>
                </a:extLst>
              </p:cNvPr>
              <p:cNvSpPr txBox="1"/>
              <p:nvPr/>
            </p:nvSpPr>
            <p:spPr>
              <a:xfrm>
                <a:off x="118542" y="1034445"/>
                <a:ext cx="6023062" cy="2079308"/>
              </a:xfrm>
              <a:prstGeom prst="roundRect">
                <a:avLst>
                  <a:gd name="adj" fmla="val 22661"/>
                </a:avLst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bg1"/>
                    </a:solidFill>
                  </a:rPr>
                  <a:t>前馈补偿装置是一阶微分环节。试 选择合适的微分系数 </a:t>
                </a:r>
                <a14:m>
                  <m:oMath xmlns:m="http://schemas.openxmlformats.org/officeDocument/2006/math">
                    <m:r>
                      <a:rPr kumimoji="1" lang="el-GR" altLang="zh-C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kumimoji="1" lang="el-GR" altLang="zh-CN" sz="2800" dirty="0">
                    <a:solidFill>
                      <a:schemeClr val="bg1"/>
                    </a:solidFill>
                  </a:rPr>
                  <a:t> </a:t>
                </a:r>
                <a:r>
                  <a:rPr kumimoji="1" lang="zh-CN" altLang="en-US" sz="2800" dirty="0">
                    <a:solidFill>
                      <a:schemeClr val="bg1"/>
                    </a:solidFill>
                  </a:rPr>
                  <a:t>提高系统的 一阶无差度，并讨论 </a:t>
                </a:r>
                <a14:m>
                  <m:oMath xmlns:m="http://schemas.openxmlformats.org/officeDocument/2006/math">
                    <m:r>
                      <a:rPr kumimoji="1" lang="el-GR" altLang="zh-C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kumimoji="1" lang="el-GR" altLang="zh-CN" sz="2800" dirty="0">
                    <a:solidFill>
                      <a:schemeClr val="bg1"/>
                    </a:solidFill>
                  </a:rPr>
                  <a:t> </a:t>
                </a:r>
                <a:r>
                  <a:rPr kumimoji="1" lang="zh-CN" altLang="en-US" sz="2800" dirty="0">
                    <a:solidFill>
                      <a:schemeClr val="bg1"/>
                    </a:solidFill>
                  </a:rPr>
                  <a:t>取值不同时 系统的误差状况。</a:t>
                </a:r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249A015F-525A-4C77-25DD-534814C82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1034445"/>
                <a:ext cx="6023062" cy="2079308"/>
              </a:xfrm>
              <a:prstGeom prst="roundRect">
                <a:avLst>
                  <a:gd name="adj" fmla="val 22661"/>
                </a:avLst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F8E09E2C-4696-38E0-7E3B-7EAA0B3DF071}"/>
                  </a:ext>
                </a:extLst>
              </p:cNvPr>
              <p:cNvSpPr txBox="1"/>
              <p:nvPr/>
            </p:nvSpPr>
            <p:spPr>
              <a:xfrm>
                <a:off x="263525" y="3135300"/>
                <a:ext cx="5615657" cy="20858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解</a:t>
                </a:r>
                <a:r>
                  <a: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:</a:t>
                </a:r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设置前馈控制前的系统具有一阶无差度，斜坡输入时响应是有差的，稳态误差为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𝑒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𝑠𝑠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𝐴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𝐾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𝐾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，施加前馈控制后稳态误差为</a:t>
                </a: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F8E09E2C-4696-38E0-7E3B-7EAA0B3DF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25" y="3135300"/>
                <a:ext cx="5615657" cy="2085827"/>
              </a:xfrm>
              <a:prstGeom prst="rect">
                <a:avLst/>
              </a:prstGeom>
              <a:blipFill>
                <a:blip r:embed="rId4"/>
                <a:stretch>
                  <a:fillRect l="-2257" t="-3030" r="-6772" b="-6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8BEEB6A2-70B8-1587-17F0-A2AC9CDD05E5}"/>
                  </a:ext>
                </a:extLst>
              </p:cNvPr>
              <p:cNvSpPr txBox="1"/>
              <p:nvPr/>
            </p:nvSpPr>
            <p:spPr>
              <a:xfrm>
                <a:off x="5735166" y="3364508"/>
                <a:ext cx="6326083" cy="17749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𝑠𝐸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𝛷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func>
                      <m:box>
                        <m:box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box>
                                <m:box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l-GR" altLang="zh-CN" sz="2800" i="1" dirty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sSub>
                                        <m:sSubPr>
                                          <m:ctrlPr>
                                            <a:rPr kumimoji="1" lang="en-US" altLang="zh-CN" sz="28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2800" i="1" dirty="0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2800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kumimoji="1" lang="en-US" altLang="zh-CN" sz="28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2800" i="1" dirty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2800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den>
                                  </m:f>
                                </m:e>
                              </m:box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box>
                                <m:box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+1)(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+1)</m:t>
                                      </m:r>
                                    </m:den>
                                  </m:f>
                                </m:e>
                              </m:box>
                            </m:den>
                          </m:f>
                        </m:e>
                      </m:box>
                      <m:box>
                        <m:box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r>
                            <m:rPr>
                              <m:brk m:alnAt="63"/>
                            </m:r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box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kumimoji="1" lang="el-GR" altLang="zh-CN" sz="2800" i="1" dirty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8BEEB6A2-70B8-1587-17F0-A2AC9CDD0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166" y="3364508"/>
                <a:ext cx="6326083" cy="1774973"/>
              </a:xfrm>
              <a:prstGeom prst="rect">
                <a:avLst/>
              </a:prstGeom>
              <a:blipFill>
                <a:blip r:embed="rId5"/>
                <a:stretch>
                  <a:fillRect b="-35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44655D9-C549-68E6-3F59-C661E2C9BAFD}"/>
                  </a:ext>
                </a:extLst>
              </p:cNvPr>
              <p:cNvSpPr txBox="1"/>
              <p:nvPr/>
            </p:nvSpPr>
            <p:spPr>
              <a:xfrm>
                <a:off x="236614" y="5303748"/>
                <a:ext cx="1166495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l-GR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𝜏</m:t>
                    </m:r>
                    <m:r>
                      <a:rPr kumimoji="1" lang="el-GR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=1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/</m:t>
                    </m:r>
                    <m:sSub>
                      <m:sSub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e>
                      <m:sub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kumimoji="1" lang="el-GR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</m:oMath>
                </a14:m>
                <a:r>
                  <a:rPr kumimoji="1" lang="zh-CN" altLang="el-GR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𝑒</m:t>
                        </m:r>
                      </m:e>
                      <m:sub>
                        <m:r>
                          <a:rPr kumimoji="1" lang="en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𝑠𝑠</m:t>
                        </m:r>
                      </m:sub>
                    </m:sSub>
                    <m:r>
                      <a:rPr kumimoji="1" lang="en" altLang="zh-CN" sz="2800" i="1" dirty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=0</m:t>
                    </m:r>
                  </m:oMath>
                </a14:m>
                <a:r>
                  <a:rPr kumimoji="1" lang="zh-CN" altLang="e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系统的无差度提高了一阶； </a:t>
                </a:r>
                <a14:m>
                  <m:oMath xmlns:m="http://schemas.openxmlformats.org/officeDocument/2006/math">
                    <m:r>
                      <a:rPr kumimoji="1" lang="en-US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0 &lt; </m:t>
                    </m:r>
                    <m:r>
                      <a:rPr kumimoji="1" lang="el-GR" altLang="zh-CN" sz="2800" i="1" dirty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𝜏</m:t>
                    </m:r>
                    <m:r>
                      <a:rPr kumimoji="1" lang="el-GR" altLang="zh-CN" sz="2800" i="1" dirty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&lt; 1 </m:t>
                    </m:r>
                  </m:oMath>
                </a14:m>
                <a:r>
                  <a:rPr kumimoji="1" lang="zh-CN" altLang="el-GR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补偿的结果减小了稳态误差；</a:t>
                </a:r>
                <a14:m>
                  <m:oMath xmlns:m="http://schemas.openxmlformats.org/officeDocument/2006/math">
                    <m:r>
                      <a:rPr kumimoji="1" lang="el-GR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𝜏</m:t>
                    </m:r>
                    <m:r>
                      <a:rPr kumimoji="1" lang="el-GR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&gt; 1 </m:t>
                    </m:r>
                  </m:oMath>
                </a14:m>
                <a:r>
                  <a:rPr kumimoji="1" lang="zh-CN" altLang="el-GR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𝑒</m:t>
                        </m:r>
                      </m:e>
                      <m:sub>
                        <m:r>
                          <a:rPr kumimoji="1" lang="en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𝑠𝑠</m:t>
                        </m:r>
                      </m:sub>
                    </m:sSub>
                  </m:oMath>
                </a14:m>
                <a:r>
                  <a:rPr kumimoji="1" lang="en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为负，输出量大于期望的理论值；</a:t>
                </a:r>
                <a14:m>
                  <m:oMath xmlns:m="http://schemas.openxmlformats.org/officeDocument/2006/math">
                    <m:r>
                      <a:rPr kumimoji="1" lang="el-GR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𝜏</m:t>
                    </m:r>
                    <m:r>
                      <a:rPr kumimoji="1" lang="el-GR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&gt;2 </m:t>
                    </m:r>
                  </m:oMath>
                </a14:m>
                <a:r>
                  <a:rPr kumimoji="1" lang="zh-CN" altLang="el-GR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𝑒</m:t>
                        </m:r>
                      </m:e>
                      <m:sub>
                        <m:r>
                          <a:rPr kumimoji="1" lang="en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𝑠𝑠</m:t>
                        </m:r>
                      </m:sub>
                    </m:sSub>
                  </m:oMath>
                </a14:m>
                <a:r>
                  <a:rPr kumimoji="1" lang="en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的绝对值大于原有误差。可见，选好参数是重要的。</a:t>
                </a: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44655D9-C549-68E6-3F59-C661E2C9B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14" y="5303748"/>
                <a:ext cx="11664950" cy="1384995"/>
              </a:xfrm>
              <a:prstGeom prst="rect">
                <a:avLst/>
              </a:prstGeom>
              <a:blipFill>
                <a:blip r:embed="rId6"/>
                <a:stretch>
                  <a:fillRect l="-1088" t="-4545" r="-4135" b="-1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组合 28">
            <a:extLst>
              <a:ext uri="{FF2B5EF4-FFF2-40B4-BE49-F238E27FC236}">
                <a16:creationId xmlns:a16="http://schemas.microsoft.com/office/drawing/2014/main" id="{8B072B41-D6B3-B239-D784-04CEFFC0201D}"/>
              </a:ext>
            </a:extLst>
          </p:cNvPr>
          <p:cNvGrpSpPr/>
          <p:nvPr/>
        </p:nvGrpSpPr>
        <p:grpSpPr>
          <a:xfrm>
            <a:off x="5951190" y="153576"/>
            <a:ext cx="6150599" cy="1524406"/>
            <a:chOff x="3084513" y="889182"/>
            <a:chExt cx="6150599" cy="15244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/>
                <p:nvPr/>
              </p:nvSpPr>
              <p:spPr>
                <a:xfrm>
                  <a:off x="7109361" y="1530369"/>
                  <a:ext cx="1231736" cy="72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9361" y="1530369"/>
                  <a:ext cx="1231736" cy="720000"/>
                </a:xfrm>
                <a:prstGeom prst="rect">
                  <a:avLst/>
                </a:prstGeom>
                <a:blipFill>
                  <a:blip r:embed="rId7"/>
                  <a:stretch>
                    <a:fillRect r="-3000" b="-5000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1直线箭头连接符3">
              <a:extLst>
                <a:ext uri="{FF2B5EF4-FFF2-40B4-BE49-F238E27FC236}">
                  <a16:creationId xmlns:a16="http://schemas.microsoft.com/office/drawing/2014/main" id="{CC66B74A-F5CE-97C8-DD71-8D02FF803B6B}"/>
                </a:ext>
              </a:extLst>
            </p:cNvPr>
            <p:cNvCxnSpPr>
              <a:cxnSpLocks/>
              <a:endCxn id="38" idx="2"/>
            </p:cNvCxnSpPr>
            <p:nvPr/>
          </p:nvCxnSpPr>
          <p:spPr>
            <a:xfrm>
              <a:off x="3611663" y="1899544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/>
                <p:nvPr/>
              </p:nvSpPr>
              <p:spPr>
                <a:xfrm>
                  <a:off x="3084513" y="1280424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4513" y="1280424"/>
                  <a:ext cx="936104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1直线箭头连接符3">
              <a:extLst>
                <a:ext uri="{FF2B5EF4-FFF2-40B4-BE49-F238E27FC236}">
                  <a16:creationId xmlns:a16="http://schemas.microsoft.com/office/drawing/2014/main" id="{ACC51C41-A068-DBA4-CB12-1F0A758D1EF1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 flipV="1">
              <a:off x="8341097" y="1890368"/>
              <a:ext cx="853475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/>
                <p:nvPr/>
              </p:nvSpPr>
              <p:spPr>
                <a:xfrm>
                  <a:off x="8299008" y="1376324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9008" y="1376324"/>
                  <a:ext cx="936104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7EEB6B78-5320-6BEC-74EB-A2A61E6443BC}"/>
                </a:ext>
              </a:extLst>
            </p:cNvPr>
            <p:cNvSpPr/>
            <p:nvPr/>
          </p:nvSpPr>
          <p:spPr>
            <a:xfrm>
              <a:off x="4210104" y="1755544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1Ui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/>
                <p:nvPr/>
              </p:nvSpPr>
              <p:spPr>
                <a:xfrm>
                  <a:off x="3913179" y="1890368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1Ui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3179" y="1890368"/>
                  <a:ext cx="244144" cy="523220"/>
                </a:xfrm>
                <a:prstGeom prst="rect">
                  <a:avLst/>
                </a:prstGeom>
                <a:blipFill>
                  <a:blip r:embed="rId10"/>
                  <a:stretch>
                    <a:fillRect l="-40000" r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4肘形连接符">
              <a:extLst>
                <a:ext uri="{FF2B5EF4-FFF2-40B4-BE49-F238E27FC236}">
                  <a16:creationId xmlns:a16="http://schemas.microsoft.com/office/drawing/2014/main" id="{C0F42A36-5398-8988-F435-4A794147478D}"/>
                </a:ext>
              </a:extLst>
            </p:cNvPr>
            <p:cNvCxnSpPr>
              <a:cxnSpLocks/>
              <a:stCxn id="36" idx="2"/>
              <a:endCxn id="38" idx="4"/>
            </p:cNvCxnSpPr>
            <p:nvPr/>
          </p:nvCxnSpPr>
          <p:spPr>
            <a:xfrm rot="5400000">
              <a:off x="6488582" y="-234934"/>
              <a:ext cx="144000" cy="4412956"/>
            </a:xfrm>
            <a:prstGeom prst="bentConnector3">
              <a:avLst>
                <a:gd name="adj1" fmla="val 37781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1直线箭头连接符3">
              <a:extLst>
                <a:ext uri="{FF2B5EF4-FFF2-40B4-BE49-F238E27FC236}">
                  <a16:creationId xmlns:a16="http://schemas.microsoft.com/office/drawing/2014/main" id="{9D3130FF-320C-CBF3-4685-A1D208B26CA5}"/>
                </a:ext>
              </a:extLst>
            </p:cNvPr>
            <p:cNvCxnSpPr>
              <a:cxnSpLocks/>
              <a:stCxn id="38" idx="6"/>
              <a:endCxn id="63" idx="1"/>
            </p:cNvCxnSpPr>
            <p:nvPr/>
          </p:nvCxnSpPr>
          <p:spPr>
            <a:xfrm flipV="1">
              <a:off x="4498104" y="1890369"/>
              <a:ext cx="808937" cy="917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1B0EFD8F-B1E5-0390-BD36-19CA9A9E25EA}"/>
                    </a:ext>
                  </a:extLst>
                </p:cNvPr>
                <p:cNvSpPr/>
                <p:nvPr/>
              </p:nvSpPr>
              <p:spPr>
                <a:xfrm>
                  <a:off x="5487041" y="889182"/>
                  <a:ext cx="720000" cy="50399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l-GR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𝜏</m:t>
                        </m:r>
                        <m:r>
                          <a:rPr kumimoji="1"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1B0EFD8F-B1E5-0390-BD36-19CA9A9E25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7041" y="889182"/>
                  <a:ext cx="720000" cy="503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/>
                <p:nvPr/>
              </p:nvSpPr>
              <p:spPr>
                <a:xfrm>
                  <a:off x="4397294" y="1283337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7294" y="1283337"/>
                  <a:ext cx="936104" cy="523220"/>
                </a:xfrm>
                <a:prstGeom prst="rect">
                  <a:avLst/>
                </a:prstGeom>
                <a:blipFill>
                  <a:blip r:embed="rId12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3A44B7B9-5F59-85A3-947C-0C09930CCA60}"/>
                </a:ext>
              </a:extLst>
            </p:cNvPr>
            <p:cNvSpPr/>
            <p:nvPr/>
          </p:nvSpPr>
          <p:spPr>
            <a:xfrm>
              <a:off x="6604201" y="1746369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58" name="1直线箭头连接符3">
              <a:extLst>
                <a:ext uri="{FF2B5EF4-FFF2-40B4-BE49-F238E27FC236}">
                  <a16:creationId xmlns:a16="http://schemas.microsoft.com/office/drawing/2014/main" id="{55D8D92B-AA47-FDE5-B4F0-74E30E1B1970}"/>
                </a:ext>
              </a:extLst>
            </p:cNvPr>
            <p:cNvCxnSpPr>
              <a:cxnSpLocks/>
              <a:stCxn id="56" idx="6"/>
              <a:endCxn id="30" idx="1"/>
            </p:cNvCxnSpPr>
            <p:nvPr/>
          </p:nvCxnSpPr>
          <p:spPr>
            <a:xfrm>
              <a:off x="6892201" y="1890369"/>
              <a:ext cx="21716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1直线箭头连接符3">
              <a:extLst>
                <a:ext uri="{FF2B5EF4-FFF2-40B4-BE49-F238E27FC236}">
                  <a16:creationId xmlns:a16="http://schemas.microsoft.com/office/drawing/2014/main" id="{B2D73AC9-8800-EE07-7F2E-459E0E784BA8}"/>
                </a:ext>
              </a:extLst>
            </p:cNvPr>
            <p:cNvCxnSpPr>
              <a:cxnSpLocks/>
              <a:stCxn id="63" idx="3"/>
              <a:endCxn id="56" idx="2"/>
            </p:cNvCxnSpPr>
            <p:nvPr/>
          </p:nvCxnSpPr>
          <p:spPr>
            <a:xfrm>
              <a:off x="6387041" y="1890369"/>
              <a:ext cx="21716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4肘形连接符">
              <a:extLst>
                <a:ext uri="{FF2B5EF4-FFF2-40B4-BE49-F238E27FC236}">
                  <a16:creationId xmlns:a16="http://schemas.microsoft.com/office/drawing/2014/main" id="{46AA5D45-8742-B837-C1A6-47D7025A7B52}"/>
                </a:ext>
              </a:extLst>
            </p:cNvPr>
            <p:cNvCxnSpPr>
              <a:cxnSpLocks/>
              <a:stCxn id="39" idx="0"/>
              <a:endCxn id="53" idx="1"/>
            </p:cNvCxnSpPr>
            <p:nvPr/>
          </p:nvCxnSpPr>
          <p:spPr>
            <a:xfrm rot="5400000" flipH="1" flipV="1">
              <a:off x="4386553" y="789880"/>
              <a:ext cx="749186" cy="1451790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4肘形连接符">
              <a:extLst>
                <a:ext uri="{FF2B5EF4-FFF2-40B4-BE49-F238E27FC236}">
                  <a16:creationId xmlns:a16="http://schemas.microsoft.com/office/drawing/2014/main" id="{AB74B1E8-6C8F-ED9C-E084-3446E7B27961}"/>
                </a:ext>
              </a:extLst>
            </p:cNvPr>
            <p:cNvCxnSpPr>
              <a:cxnSpLocks/>
              <a:stCxn id="53" idx="3"/>
              <a:endCxn id="56" idx="0"/>
            </p:cNvCxnSpPr>
            <p:nvPr/>
          </p:nvCxnSpPr>
          <p:spPr>
            <a:xfrm>
              <a:off x="6207041" y="1141182"/>
              <a:ext cx="541160" cy="605187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E2ED6F17-3B56-D041-329C-661D90EC1524}"/>
                    </a:ext>
                  </a:extLst>
                </p:cNvPr>
                <p:cNvSpPr/>
                <p:nvPr/>
              </p:nvSpPr>
              <p:spPr>
                <a:xfrm>
                  <a:off x="5307041" y="1530369"/>
                  <a:ext cx="1080000" cy="72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E2ED6F17-3B56-D041-329C-661D90EC15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7041" y="1530369"/>
                  <a:ext cx="1080000" cy="7200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94685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70" grpId="0" animBg="1"/>
      <p:bldP spid="50" grpId="0"/>
      <p:bldP spid="52" grpId="0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按扰动补偿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249A015F-525A-4C77-25DD-534814C82C81}"/>
                  </a:ext>
                </a:extLst>
              </p:cNvPr>
              <p:cNvSpPr txBox="1"/>
              <p:nvPr/>
            </p:nvSpPr>
            <p:spPr>
              <a:xfrm>
                <a:off x="118542" y="1034445"/>
                <a:ext cx="6023062" cy="1092518"/>
              </a:xfrm>
              <a:prstGeom prst="roundRect">
                <a:avLst>
                  <a:gd name="adj" fmla="val 22661"/>
                </a:avLst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bg1"/>
                    </a:solidFill>
                  </a:rPr>
                  <a:t>系统结构图如图所示，已知</a:t>
                </a:r>
              </a:p>
              <a:p>
                <a14:m>
                  <m:oMath xmlns:m="http://schemas.openxmlformats.org/officeDocument/2006/math">
                    <m:r>
                      <a:rPr kumimoji="1" lang="en" altLang="zh-C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kumimoji="1" lang="en" altLang="zh-C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" altLang="zh-C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" altLang="zh-C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kumimoji="1" lang="en" altLang="zh-C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" altLang="zh-C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" altLang="zh-C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" altLang="zh-C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kumimoji="1" lang="en" altLang="zh-C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zh-CN" altLang="en" sz="2800" dirty="0">
                    <a:solidFill>
                      <a:schemeClr val="bg1"/>
                    </a:solidFill>
                  </a:rPr>
                  <a:t>，</a:t>
                </a:r>
                <a:r>
                  <a:rPr kumimoji="1" lang="zh-CN" altLang="en-US" sz="2800" dirty="0">
                    <a:solidFill>
                      <a:schemeClr val="bg1"/>
                    </a:solidFill>
                  </a:rPr>
                  <a:t>求系统的稳态误差。</a:t>
                </a:r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249A015F-525A-4C77-25DD-534814C82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1034445"/>
                <a:ext cx="6023062" cy="1092518"/>
              </a:xfrm>
              <a:prstGeom prst="roundRect">
                <a:avLst>
                  <a:gd name="adj" fmla="val 22661"/>
                </a:avLst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44655D9-C549-68E6-3F59-C661E2C9BAFD}"/>
                  </a:ext>
                </a:extLst>
              </p:cNvPr>
              <p:cNvSpPr txBox="1"/>
              <p:nvPr/>
            </p:nvSpPr>
            <p:spPr>
              <a:xfrm>
                <a:off x="406574" y="2223203"/>
                <a:ext cx="11520314" cy="4457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l-GR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𝛷</m:t>
                        </m:r>
                      </m:e>
                      <m:sub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𝑇𝑠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+1)</m:t>
                            </m:r>
                          </m:den>
                        </m:f>
                      </m:den>
                    </m:f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𝑇𝑠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𝑇𝑠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kumimoji="1" lang="zh-CN" altLang="en-US" sz="2800" b="0" dirty="0">
                    <a:latin typeface="Microsoft YaHei" panose="020B0503020204020204" pitchFamily="34" charset="-122"/>
                    <a:ea typeface="Cambria Math" panose="02040503050406030204" pitchFamily="18" charset="0"/>
                  </a:rPr>
                  <a:t> </a:t>
                </a:r>
                <a:br>
                  <a:rPr kumimoji="1" lang="en-US" altLang="zh-CN" sz="2800" b="0" dirty="0">
                    <a:latin typeface="Microsoft YaHei" panose="020B0503020204020204" pitchFamily="34" charset="-122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sSup>
                      <m:sSup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kumimoji="1" lang="zh-CN" altLang="en-US" sz="2800" b="0" dirty="0">
                    <a:latin typeface="Microsoft YaHei" panose="020B0503020204020204" pitchFamily="34" charset="-122"/>
                    <a:ea typeface="Cambria Math" panose="02040503050406030204" pitchFamily="18" charset="0"/>
                  </a:rPr>
                  <a:t> </a:t>
                </a:r>
                <a:br>
                  <a:rPr kumimoji="1" lang="en-US" altLang="zh-CN" sz="2800" b="0" dirty="0">
                    <a:latin typeface="Microsoft YaHei" panose="020B0503020204020204" pitchFamily="34" charset="-122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𝑠𝑠𝑟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l-GR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𝛷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𝑇𝑠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𝑇𝑠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  <m:f>
                          <m:fPr>
                            <m:ctrlP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kumimoji="1" lang="zh-CN" altLang="en-US" sz="2800" b="0" dirty="0">
                    <a:latin typeface="Microsoft YaHei" panose="020B0503020204020204" pitchFamily="34" charset="-122"/>
                    <a:ea typeface="Cambria Math" panose="02040503050406030204" pitchFamily="18" charset="0"/>
                  </a:rPr>
                  <a:t> </a:t>
                </a:r>
                <a:br>
                  <a:rPr kumimoji="1" lang="en-US" altLang="zh-CN" sz="2800" b="0" dirty="0">
                    <a:latin typeface="Microsoft YaHei" panose="020B0503020204020204" pitchFamily="34" charset="-122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l-GR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𝛷</m:t>
                        </m:r>
                      </m:e>
                      <m:sub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num>
                      <m:den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𝑇𝑠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+1)</m:t>
                            </m:r>
                          </m:den>
                        </m:f>
                      </m:den>
                    </m:f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𝑇𝑠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+1)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𝑇𝑠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den>
                    </m:f>
                  </m:oMath>
                </a14:m>
                <a:r>
                  <a:rPr kumimoji="1" lang="zh-CN" altLang="en-US" sz="2800" b="0" dirty="0">
                    <a:latin typeface="Microsoft YaHei" panose="020B0503020204020204" pitchFamily="34" charset="-122"/>
                    <a:ea typeface="Cambria Math" panose="02040503050406030204" pitchFamily="18" charset="0"/>
                  </a:rPr>
                  <a:t> </a:t>
                </a:r>
                <a:endParaRPr kumimoji="1" lang="en-US" altLang="zh-CN" sz="2800" b="0" dirty="0">
                  <a:latin typeface="Microsoft YaHei" panose="020B0503020204020204" pitchFamily="34" charset="-122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kumimoji="1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l-GR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𝛷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kumimoji="1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𝑇𝑠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+1)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d>
                                  <m:d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𝑇𝑠</m:t>
                                    </m:r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d>
                          </m:den>
                        </m:f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kumimoji="1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kumimoji="1" lang="zh-CN" altLang="en-US" sz="2800" b="0" dirty="0">
                    <a:latin typeface="Microsoft YaHei" panose="020B0503020204020204" pitchFamily="34" charset="-122"/>
                    <a:ea typeface="Cambria Math" panose="02040503050406030204" pitchFamily="18" charset="0"/>
                  </a:rPr>
                  <a:t> </a:t>
                </a:r>
                <a:endParaRPr kumimoji="1" lang="en-US" altLang="zh-CN" sz="2800" b="0" dirty="0">
                  <a:latin typeface="Microsoft YaHei" panose="020B0503020204020204" pitchFamily="34" charset="-122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𝑠𝑠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𝑠𝑠𝑟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𝑠𝑠𝑛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kumimoji="1" lang="zh-CN" altLang="en-US" sz="2800" b="0" dirty="0">
                    <a:latin typeface="Microsoft YaHei" panose="020B0503020204020204" pitchFamily="34" charset="-122"/>
                    <a:ea typeface="Cambria Math" panose="02040503050406030204" pitchFamily="18" charset="0"/>
                  </a:rPr>
                  <a:t> </a:t>
                </a:r>
                <a:endPara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44655D9-C549-68E6-3F59-C661E2C9B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74" y="2223203"/>
                <a:ext cx="11520314" cy="4457182"/>
              </a:xfrm>
              <a:prstGeom prst="rect">
                <a:avLst/>
              </a:prstGeom>
              <a:blipFill>
                <a:blip r:embed="rId4"/>
                <a:stretch>
                  <a:fillRect l="-3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组合 28">
            <a:extLst>
              <a:ext uri="{FF2B5EF4-FFF2-40B4-BE49-F238E27FC236}">
                <a16:creationId xmlns:a16="http://schemas.microsoft.com/office/drawing/2014/main" id="{8B072B41-D6B3-B239-D784-04CEFFC0201D}"/>
              </a:ext>
            </a:extLst>
          </p:cNvPr>
          <p:cNvGrpSpPr/>
          <p:nvPr/>
        </p:nvGrpSpPr>
        <p:grpSpPr>
          <a:xfrm>
            <a:off x="6442973" y="153575"/>
            <a:ext cx="4703051" cy="1688739"/>
            <a:chOff x="3576296" y="889181"/>
            <a:chExt cx="4703051" cy="1688739"/>
          </a:xfrm>
        </p:grpSpPr>
        <p:cxnSp>
          <p:nvCxnSpPr>
            <p:cNvPr id="32" name="1直线箭头连接符3">
              <a:extLst>
                <a:ext uri="{FF2B5EF4-FFF2-40B4-BE49-F238E27FC236}">
                  <a16:creationId xmlns:a16="http://schemas.microsoft.com/office/drawing/2014/main" id="{CC66B74A-F5CE-97C8-DD71-8D02FF803B6B}"/>
                </a:ext>
              </a:extLst>
            </p:cNvPr>
            <p:cNvCxnSpPr>
              <a:cxnSpLocks/>
              <a:endCxn id="38" idx="2"/>
            </p:cNvCxnSpPr>
            <p:nvPr/>
          </p:nvCxnSpPr>
          <p:spPr>
            <a:xfrm>
              <a:off x="3782216" y="2150940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/>
                <p:nvPr/>
              </p:nvSpPr>
              <p:spPr>
                <a:xfrm>
                  <a:off x="3576296" y="1634575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6296" y="1634575"/>
                  <a:ext cx="936104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1直线箭头连接符3">
              <a:extLst>
                <a:ext uri="{FF2B5EF4-FFF2-40B4-BE49-F238E27FC236}">
                  <a16:creationId xmlns:a16="http://schemas.microsoft.com/office/drawing/2014/main" id="{ACC51C41-A068-DBA4-CB12-1F0A758D1EF1}"/>
                </a:ext>
              </a:extLst>
            </p:cNvPr>
            <p:cNvCxnSpPr>
              <a:cxnSpLocks/>
              <a:stCxn id="56" idx="6"/>
            </p:cNvCxnSpPr>
            <p:nvPr/>
          </p:nvCxnSpPr>
          <p:spPr>
            <a:xfrm>
              <a:off x="7332953" y="2150940"/>
              <a:ext cx="864128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/>
                <p:nvPr/>
              </p:nvSpPr>
              <p:spPr>
                <a:xfrm>
                  <a:off x="7343243" y="162875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3243" y="1628758"/>
                  <a:ext cx="936104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7EEB6B78-5320-6BEC-74EB-A2A61E6443BC}"/>
                </a:ext>
              </a:extLst>
            </p:cNvPr>
            <p:cNvSpPr/>
            <p:nvPr/>
          </p:nvSpPr>
          <p:spPr>
            <a:xfrm>
              <a:off x="4380657" y="2006940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1Ui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/>
                <p:nvPr/>
              </p:nvSpPr>
              <p:spPr>
                <a:xfrm>
                  <a:off x="4122000" y="2054700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1Ui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2000" y="2054700"/>
                  <a:ext cx="244144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45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4肘形连接符">
              <a:extLst>
                <a:ext uri="{FF2B5EF4-FFF2-40B4-BE49-F238E27FC236}">
                  <a16:creationId xmlns:a16="http://schemas.microsoft.com/office/drawing/2014/main" id="{C0F42A36-5398-8988-F435-4A794147478D}"/>
                </a:ext>
              </a:extLst>
            </p:cNvPr>
            <p:cNvCxnSpPr>
              <a:cxnSpLocks/>
              <a:stCxn id="36" idx="2"/>
              <a:endCxn id="38" idx="4"/>
            </p:cNvCxnSpPr>
            <p:nvPr/>
          </p:nvCxnSpPr>
          <p:spPr>
            <a:xfrm rot="5400000">
              <a:off x="6096495" y="580140"/>
              <a:ext cx="142962" cy="3286638"/>
            </a:xfrm>
            <a:prstGeom prst="bentConnector3">
              <a:avLst>
                <a:gd name="adj1" fmla="val 39315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1直线箭头连接符3">
              <a:extLst>
                <a:ext uri="{FF2B5EF4-FFF2-40B4-BE49-F238E27FC236}">
                  <a16:creationId xmlns:a16="http://schemas.microsoft.com/office/drawing/2014/main" id="{9D3130FF-320C-CBF3-4685-A1D208B26CA5}"/>
                </a:ext>
              </a:extLst>
            </p:cNvPr>
            <p:cNvCxnSpPr>
              <a:cxnSpLocks/>
              <a:stCxn id="38" idx="6"/>
              <a:endCxn id="63" idx="1"/>
            </p:cNvCxnSpPr>
            <p:nvPr/>
          </p:nvCxnSpPr>
          <p:spPr>
            <a:xfrm>
              <a:off x="4668657" y="2150940"/>
              <a:ext cx="828995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1B0EFD8F-B1E5-0390-BD36-19CA9A9E25EA}"/>
                    </a:ext>
                  </a:extLst>
                </p:cNvPr>
                <p:cNvSpPr/>
                <p:nvPr/>
              </p:nvSpPr>
              <p:spPr>
                <a:xfrm>
                  <a:off x="5487041" y="889181"/>
                  <a:ext cx="1080000" cy="72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3600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1B0EFD8F-B1E5-0390-BD36-19CA9A9E25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7041" y="889181"/>
                  <a:ext cx="1080000" cy="720000"/>
                </a:xfrm>
                <a:prstGeom prst="rect">
                  <a:avLst/>
                </a:prstGeom>
                <a:blipFill>
                  <a:blip r:embed="rId8"/>
                  <a:stretch>
                    <a:fillRect b="-1695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/>
                <p:nvPr/>
              </p:nvSpPr>
              <p:spPr>
                <a:xfrm>
                  <a:off x="4571650" y="1626673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1650" y="1626673"/>
                  <a:ext cx="936104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3A44B7B9-5F59-85A3-947C-0C09930CCA60}"/>
                </a:ext>
              </a:extLst>
            </p:cNvPr>
            <p:cNvSpPr/>
            <p:nvPr/>
          </p:nvSpPr>
          <p:spPr>
            <a:xfrm>
              <a:off x="7044953" y="2006940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59" name="1直线箭头连接符3">
              <a:extLst>
                <a:ext uri="{FF2B5EF4-FFF2-40B4-BE49-F238E27FC236}">
                  <a16:creationId xmlns:a16="http://schemas.microsoft.com/office/drawing/2014/main" id="{B2D73AC9-8800-EE07-7F2E-459E0E784BA8}"/>
                </a:ext>
              </a:extLst>
            </p:cNvPr>
            <p:cNvCxnSpPr>
              <a:cxnSpLocks/>
              <a:stCxn id="63" idx="3"/>
              <a:endCxn id="56" idx="2"/>
            </p:cNvCxnSpPr>
            <p:nvPr/>
          </p:nvCxnSpPr>
          <p:spPr>
            <a:xfrm>
              <a:off x="6577652" y="2150940"/>
              <a:ext cx="46730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4肘形连接符">
              <a:extLst>
                <a:ext uri="{FF2B5EF4-FFF2-40B4-BE49-F238E27FC236}">
                  <a16:creationId xmlns:a16="http://schemas.microsoft.com/office/drawing/2014/main" id="{AB74B1E8-6C8F-ED9C-E084-3446E7B27961}"/>
                </a:ext>
              </a:extLst>
            </p:cNvPr>
            <p:cNvCxnSpPr>
              <a:cxnSpLocks/>
              <a:stCxn id="53" idx="3"/>
              <a:endCxn id="56" idx="0"/>
            </p:cNvCxnSpPr>
            <p:nvPr/>
          </p:nvCxnSpPr>
          <p:spPr>
            <a:xfrm>
              <a:off x="6567041" y="1249181"/>
              <a:ext cx="621912" cy="75775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E2ED6F17-3B56-D041-329C-661D90EC1524}"/>
                    </a:ext>
                  </a:extLst>
                </p:cNvPr>
                <p:cNvSpPr/>
                <p:nvPr/>
              </p:nvSpPr>
              <p:spPr>
                <a:xfrm>
                  <a:off x="5497652" y="1790940"/>
                  <a:ext cx="1080000" cy="72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E2ED6F17-3B56-D041-329C-661D90EC15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652" y="1790940"/>
                  <a:ext cx="1080000" cy="720000"/>
                </a:xfrm>
                <a:prstGeom prst="rect">
                  <a:avLst/>
                </a:prstGeom>
                <a:blipFill>
                  <a:blip r:embed="rId10"/>
                  <a:stretch>
                    <a:fillRect r="-5682" b="-6780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1直线箭头连接符3">
            <a:extLst>
              <a:ext uri="{FF2B5EF4-FFF2-40B4-BE49-F238E27FC236}">
                <a16:creationId xmlns:a16="http://schemas.microsoft.com/office/drawing/2014/main" id="{454C84BC-398A-AD50-3B11-F63B11A9FB02}"/>
              </a:ext>
            </a:extLst>
          </p:cNvPr>
          <p:cNvCxnSpPr>
            <a:cxnSpLocks/>
            <a:endCxn id="53" idx="1"/>
          </p:cNvCxnSpPr>
          <p:nvPr/>
        </p:nvCxnSpPr>
        <p:spPr>
          <a:xfrm>
            <a:off x="7325516" y="513575"/>
            <a:ext cx="1028202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6FCD5D90-5580-780F-4339-EC7B0FAEE323}"/>
                  </a:ext>
                </a:extLst>
              </p:cNvPr>
              <p:cNvSpPr txBox="1"/>
              <p:nvPr/>
            </p:nvSpPr>
            <p:spPr>
              <a:xfrm>
                <a:off x="7220781" y="-9643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6FCD5D90-5580-780F-4339-EC7B0FAEE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0781" y="-9643"/>
                <a:ext cx="936104" cy="523220"/>
              </a:xfrm>
              <a:prstGeom prst="rect">
                <a:avLst/>
              </a:prstGeom>
              <a:blipFill>
                <a:blip r:embed="rId11"/>
                <a:stretch>
                  <a:fillRect l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0FDB671D-85E4-E401-F907-9214D7B3BEA7}"/>
                  </a:ext>
                </a:extLst>
              </p:cNvPr>
              <p:cNvSpPr txBox="1"/>
              <p:nvPr/>
            </p:nvSpPr>
            <p:spPr>
              <a:xfrm>
                <a:off x="5954963" y="6042220"/>
                <a:ext cx="5587600" cy="604409"/>
              </a:xfrm>
              <a:prstGeom prst="roundRect">
                <a:avLst>
                  <a:gd name="adj" fmla="val 22661"/>
                </a:avLst>
              </a:prstGeom>
              <a:solidFill>
                <a:srgbClr val="E448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按扰动补偿可以有效提高稳态精度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0FDB671D-85E4-E401-F907-9214D7B3B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963" y="6042220"/>
                <a:ext cx="5587600" cy="604409"/>
              </a:xfrm>
              <a:prstGeom prst="roundRect">
                <a:avLst>
                  <a:gd name="adj" fmla="val 22661"/>
                </a:avLst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438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70" grpId="0" animBg="1"/>
      <p:bldP spid="28" grpId="0"/>
      <p:bldP spid="4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3658172" cy="725177"/>
            <a:chOff x="4943078" y="1700704"/>
            <a:chExt cx="3658172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502818" y="1739799"/>
              <a:ext cx="3098432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比例微分校正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3658172" cy="725177"/>
            <a:chOff x="4943078" y="1700704"/>
            <a:chExt cx="3658172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90" y="1750121"/>
              <a:ext cx="3183560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输出反馈校正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5" name="步骤4">
            <a:extLst>
              <a:ext uri="{FF2B5EF4-FFF2-40B4-BE49-F238E27FC236}">
                <a16:creationId xmlns:a16="http://schemas.microsoft.com/office/drawing/2014/main" id="{BDBAFAA3-6448-7C50-7AAD-79F36CB67C04}"/>
              </a:ext>
            </a:extLst>
          </p:cNvPr>
          <p:cNvGrpSpPr/>
          <p:nvPr/>
        </p:nvGrpSpPr>
        <p:grpSpPr>
          <a:xfrm>
            <a:off x="259126" y="3449784"/>
            <a:ext cx="3670343" cy="725177"/>
            <a:chOff x="4943078" y="1700704"/>
            <a:chExt cx="3670343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32490998-B565-963D-5F2D-0D864334F9A5}"/>
                </a:ext>
              </a:extLst>
            </p:cNvPr>
            <p:cNvSpPr/>
            <p:nvPr/>
          </p:nvSpPr>
          <p:spPr bwMode="auto">
            <a:xfrm>
              <a:off x="5459860" y="1739799"/>
              <a:ext cx="3153561" cy="64698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按扰动补偿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3B15418C-5D46-25FB-A87A-B9F63D5A2F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3658171" cy="725177"/>
            <a:chOff x="4943078" y="1700704"/>
            <a:chExt cx="3658171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89" y="1736097"/>
              <a:ext cx="3183560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前馈补偿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1" name="说明1">
            <a:extLst>
              <a:ext uri="{FF2B5EF4-FFF2-40B4-BE49-F238E27FC236}">
                <a16:creationId xmlns:a16="http://schemas.microsoft.com/office/drawing/2014/main" id="{13AD52AC-E7E6-2895-D13B-B9CCA570C548}"/>
              </a:ext>
            </a:extLst>
          </p:cNvPr>
          <p:cNvSpPr txBox="1"/>
          <p:nvPr/>
        </p:nvSpPr>
        <p:spPr>
          <a:xfrm>
            <a:off x="4222998" y="1056897"/>
            <a:ext cx="66247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增大阻尼，增加零点</a:t>
            </a:r>
          </a:p>
        </p:txBody>
      </p:sp>
      <p:sp>
        <p:nvSpPr>
          <p:cNvPr id="32" name="说明2">
            <a:extLst>
              <a:ext uri="{FF2B5EF4-FFF2-40B4-BE49-F238E27FC236}">
                <a16:creationId xmlns:a16="http://schemas.microsoft.com/office/drawing/2014/main" id="{0EDA0FB0-9D8E-9B10-C08B-BDCA8A371C06}"/>
              </a:ext>
            </a:extLst>
          </p:cNvPr>
          <p:cNvSpPr txBox="1"/>
          <p:nvPr/>
        </p:nvSpPr>
        <p:spPr>
          <a:xfrm>
            <a:off x="4222998" y="1880312"/>
            <a:ext cx="66248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增大阻尼，不增加零点</a:t>
            </a:r>
          </a:p>
        </p:txBody>
      </p:sp>
      <p:sp>
        <p:nvSpPr>
          <p:cNvPr id="33" name="说明3">
            <a:extLst>
              <a:ext uri="{FF2B5EF4-FFF2-40B4-BE49-F238E27FC236}">
                <a16:creationId xmlns:a16="http://schemas.microsoft.com/office/drawing/2014/main" id="{E8BCF822-C15C-BA20-871E-7C7CF6373C52}"/>
              </a:ext>
            </a:extLst>
          </p:cNvPr>
          <p:cNvSpPr txBox="1"/>
          <p:nvPr/>
        </p:nvSpPr>
        <p:spPr>
          <a:xfrm>
            <a:off x="4222858" y="2703727"/>
            <a:ext cx="66248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微分时间常数影响稳态误差</a:t>
            </a:r>
          </a:p>
        </p:txBody>
      </p:sp>
      <p:sp>
        <p:nvSpPr>
          <p:cNvPr id="34" name="说明4">
            <a:extLst>
              <a:ext uri="{FF2B5EF4-FFF2-40B4-BE49-F238E27FC236}">
                <a16:creationId xmlns:a16="http://schemas.microsoft.com/office/drawing/2014/main" id="{24F65A02-B530-F2F0-2530-2B36E7D9C5CA}"/>
              </a:ext>
            </a:extLst>
          </p:cNvPr>
          <p:cNvSpPr txBox="1"/>
          <p:nvPr/>
        </p:nvSpPr>
        <p:spPr>
          <a:xfrm>
            <a:off x="4222857" y="3414329"/>
            <a:ext cx="66248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可有效提高稳态精度</a:t>
            </a:r>
          </a:p>
        </p:txBody>
      </p:sp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3" y="5099056"/>
            <a:ext cx="23989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因地制宜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5303118" y="5099056"/>
            <a:ext cx="23989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殊途同归</a:t>
            </a:r>
          </a:p>
        </p:txBody>
      </p:sp>
    </p:spTree>
    <p:extLst>
      <p:ext uri="{BB962C8B-B14F-4D97-AF65-F5344CB8AC3E}">
        <p14:creationId xmlns:p14="http://schemas.microsoft.com/office/powerpoint/2010/main" val="513621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690338" y="1548606"/>
            <a:ext cx="5110600" cy="1573483"/>
            <a:chOff x="5348307" y="5538470"/>
            <a:chExt cx="5110600" cy="1573483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" name="文本">
              <a:extLst>
                <a:ext uri="{FF2B5EF4-FFF2-40B4-BE49-F238E27FC236}">
                  <a16:creationId xmlns:a16="http://schemas.microsoft.com/office/drawing/2014/main" id="{B40EDE9D-B618-037F-57F9-2304DF45231C}"/>
                </a:ext>
              </a:extLst>
            </p:cNvPr>
            <p:cNvSpPr txBox="1"/>
            <p:nvPr/>
          </p:nvSpPr>
          <p:spPr>
            <a:xfrm>
              <a:off x="6306264" y="5726958"/>
              <a:ext cx="4152643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比例微分控制添加的零点对系统的动态特性产生什么影响？（教科书</a:t>
              </a:r>
              <a:r>
                <a: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p94</a:t>
              </a:r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）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6" name="问题">
            <a:extLst>
              <a:ext uri="{FF2B5EF4-FFF2-40B4-BE49-F238E27FC236}">
                <a16:creationId xmlns:a16="http://schemas.microsoft.com/office/drawing/2014/main" id="{A0B720D9-BC69-5FCB-17E3-944714F91B50}"/>
              </a:ext>
            </a:extLst>
          </p:cNvPr>
          <p:cNvGrpSpPr/>
          <p:nvPr/>
        </p:nvGrpSpPr>
        <p:grpSpPr>
          <a:xfrm>
            <a:off x="690338" y="3281907"/>
            <a:ext cx="6194665" cy="954107"/>
            <a:chOff x="5348307" y="5538470"/>
            <a:chExt cx="6194665" cy="954107"/>
          </a:xfrm>
        </p:grpSpPr>
        <p:sp>
          <p:nvSpPr>
            <p:cNvPr id="7" name="问号">
              <a:extLst>
                <a:ext uri="{FF2B5EF4-FFF2-40B4-BE49-F238E27FC236}">
                  <a16:creationId xmlns:a16="http://schemas.microsoft.com/office/drawing/2014/main" id="{5F8C0436-D4D3-D94B-D4E1-58302854E7DA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">
                  <a:extLst>
                    <a:ext uri="{FF2B5EF4-FFF2-40B4-BE49-F238E27FC236}">
                      <a16:creationId xmlns:a16="http://schemas.microsoft.com/office/drawing/2014/main" id="{68096BCF-DEFA-1880-5BBB-61F51FEEEE7E}"/>
                    </a:ext>
                  </a:extLst>
                </p:cNvPr>
                <p:cNvSpPr txBox="1"/>
                <p:nvPr/>
              </p:nvSpPr>
              <p:spPr>
                <a:xfrm>
                  <a:off x="6307597" y="5538470"/>
                  <a:ext cx="5235375" cy="9541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选择合适的</a:t>
                  </a:r>
                  <a14:m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𝐾</m:t>
                      </m:r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𝑑</m:t>
                          </m:r>
                        </m:sub>
                      </m:sSub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使得此系统综合性能指标较好。</a:t>
                  </a:r>
                  <a:endPara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" name="文本">
                  <a:extLst>
                    <a:ext uri="{FF2B5EF4-FFF2-40B4-BE49-F238E27FC236}">
                      <a16:creationId xmlns:a16="http://schemas.microsoft.com/office/drawing/2014/main" id="{68096BCF-DEFA-1880-5BBB-61F51FEEEE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7597" y="5538470"/>
                  <a:ext cx="5235375" cy="954107"/>
                </a:xfrm>
                <a:prstGeom prst="rect">
                  <a:avLst/>
                </a:prstGeom>
                <a:blipFill>
                  <a:blip r:embed="rId3"/>
                  <a:stretch>
                    <a:fillRect l="-2427" t="-6579"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CE3EA84-1866-5BC5-928B-30C7B139FBA6}"/>
              </a:ext>
            </a:extLst>
          </p:cNvPr>
          <p:cNvGrpSpPr/>
          <p:nvPr/>
        </p:nvGrpSpPr>
        <p:grpSpPr>
          <a:xfrm>
            <a:off x="5735166" y="1508900"/>
            <a:ext cx="5950374" cy="1410493"/>
            <a:chOff x="6235915" y="423690"/>
            <a:chExt cx="5950374" cy="14104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8BB89BBB-DAD7-B564-FE7A-47E885979261}"/>
                    </a:ext>
                  </a:extLst>
                </p:cNvPr>
                <p:cNvSpPr/>
                <p:nvPr/>
              </p:nvSpPr>
              <p:spPr>
                <a:xfrm>
                  <a:off x="9494536" y="586910"/>
                  <a:ext cx="1614136" cy="72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56C05BF0-1BED-4426-80EB-9A719F9DEC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4536" y="586910"/>
                  <a:ext cx="1614136" cy="720000"/>
                </a:xfrm>
                <a:prstGeom prst="rect">
                  <a:avLst/>
                </a:prstGeom>
                <a:blipFill>
                  <a:blip r:embed="rId4"/>
                  <a:stretch>
                    <a:fillRect b="-11864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1直线箭头连接符3">
              <a:extLst>
                <a:ext uri="{FF2B5EF4-FFF2-40B4-BE49-F238E27FC236}">
                  <a16:creationId xmlns:a16="http://schemas.microsoft.com/office/drawing/2014/main" id="{ADFDED28-8BE0-C84B-84AA-216D1201E5E8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>
              <a:off x="6426328" y="946910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920E15E3-2375-8EA7-54E3-9F4964477A5D}"/>
                    </a:ext>
                  </a:extLst>
                </p:cNvPr>
                <p:cNvSpPr txBox="1"/>
                <p:nvPr/>
              </p:nvSpPr>
              <p:spPr>
                <a:xfrm>
                  <a:off x="6235915" y="425644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3AE8E295-7444-6399-BE41-97601F7D05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5915" y="425644"/>
                  <a:ext cx="936104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1直线箭头连接符3">
              <a:extLst>
                <a:ext uri="{FF2B5EF4-FFF2-40B4-BE49-F238E27FC236}">
                  <a16:creationId xmlns:a16="http://schemas.microsoft.com/office/drawing/2014/main" id="{66041928-2931-B6E2-E963-4DA9517D8A40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11108672" y="946910"/>
              <a:ext cx="1077617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CD85FB1A-388B-260D-7D1B-B3ADD55BA9FB}"/>
                    </a:ext>
                  </a:extLst>
                </p:cNvPr>
                <p:cNvSpPr txBox="1"/>
                <p:nvPr/>
              </p:nvSpPr>
              <p:spPr>
                <a:xfrm>
                  <a:off x="11108672" y="427797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35FEAADC-FC07-B1C7-CB06-F4C7A53478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8672" y="427797"/>
                  <a:ext cx="936104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18DFFA9E-0D12-8865-970B-EAD46500455E}"/>
                </a:ext>
              </a:extLst>
            </p:cNvPr>
            <p:cNvSpPr/>
            <p:nvPr/>
          </p:nvSpPr>
          <p:spPr>
            <a:xfrm>
              <a:off x="7024769" y="802910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1Ui">
                  <a:extLst>
                    <a:ext uri="{FF2B5EF4-FFF2-40B4-BE49-F238E27FC236}">
                      <a16:creationId xmlns:a16="http://schemas.microsoft.com/office/drawing/2014/main" id="{E7AA867D-1E27-B58E-9ADB-9287537F3C2B}"/>
                    </a:ext>
                  </a:extLst>
                </p:cNvPr>
                <p:cNvSpPr txBox="1"/>
                <p:nvPr/>
              </p:nvSpPr>
              <p:spPr>
                <a:xfrm>
                  <a:off x="6758350" y="906459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1" name="1Ui">
                  <a:extLst>
                    <a:ext uri="{FF2B5EF4-FFF2-40B4-BE49-F238E27FC236}">
                      <a16:creationId xmlns:a16="http://schemas.microsoft.com/office/drawing/2014/main" id="{475D9CDB-412A-B932-5D7E-8BB424F8F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8350" y="906459"/>
                  <a:ext cx="244144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40000" r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4肘形连接符">
              <a:extLst>
                <a:ext uri="{FF2B5EF4-FFF2-40B4-BE49-F238E27FC236}">
                  <a16:creationId xmlns:a16="http://schemas.microsoft.com/office/drawing/2014/main" id="{3A4F7955-7D4C-9F1A-6B59-96B804703B38}"/>
                </a:ext>
              </a:extLst>
            </p:cNvPr>
            <p:cNvCxnSpPr>
              <a:cxnSpLocks/>
              <a:stCxn id="15" idx="2"/>
              <a:endCxn id="16" idx="4"/>
            </p:cNvCxnSpPr>
            <p:nvPr/>
          </p:nvCxnSpPr>
          <p:spPr>
            <a:xfrm rot="5400000">
              <a:off x="9302801" y="-1183014"/>
              <a:ext cx="139893" cy="4407955"/>
            </a:xfrm>
            <a:prstGeom prst="bentConnector3">
              <a:avLst>
                <a:gd name="adj1" fmla="val 70864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1直线箭头连接符3">
              <a:extLst>
                <a:ext uri="{FF2B5EF4-FFF2-40B4-BE49-F238E27FC236}">
                  <a16:creationId xmlns:a16="http://schemas.microsoft.com/office/drawing/2014/main" id="{DD737A85-C433-45EC-0277-D055BD8F94EE}"/>
                </a:ext>
              </a:extLst>
            </p:cNvPr>
            <p:cNvCxnSpPr>
              <a:cxnSpLocks/>
              <a:stCxn id="16" idx="6"/>
              <a:endCxn id="22" idx="1"/>
            </p:cNvCxnSpPr>
            <p:nvPr/>
          </p:nvCxnSpPr>
          <p:spPr>
            <a:xfrm>
              <a:off x="7312769" y="946910"/>
              <a:ext cx="843775" cy="2054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F0B8DDE2-423D-0714-7037-24B5A35E54E9}"/>
                    </a:ext>
                  </a:extLst>
                </p:cNvPr>
                <p:cNvSpPr/>
                <p:nvPr/>
              </p:nvSpPr>
              <p:spPr>
                <a:xfrm>
                  <a:off x="7976424" y="1330184"/>
                  <a:ext cx="900000" cy="50399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99C592B3-C500-E065-6658-E80B8DA2C2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6424" y="1330184"/>
                  <a:ext cx="900000" cy="503999"/>
                </a:xfrm>
                <a:prstGeom prst="rect">
                  <a:avLst/>
                </a:prstGeom>
                <a:blipFill>
                  <a:blip r:embed="rId8"/>
                  <a:stretch>
                    <a:fillRect b="-2326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C31B573-14B0-7170-375B-D1E0CA1E9C8E}"/>
                    </a:ext>
                  </a:extLst>
                </p:cNvPr>
                <p:cNvSpPr txBox="1"/>
                <p:nvPr/>
              </p:nvSpPr>
              <p:spPr>
                <a:xfrm>
                  <a:off x="7257975" y="423690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BCAE8739-A05D-6770-4712-AD1E673672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7975" y="423690"/>
                  <a:ext cx="936104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57EE69F8-B60D-5374-2481-0846740E6A7E}"/>
                    </a:ext>
                  </a:extLst>
                </p:cNvPr>
                <p:cNvSpPr/>
                <p:nvPr/>
              </p:nvSpPr>
              <p:spPr>
                <a:xfrm>
                  <a:off x="8156544" y="696964"/>
                  <a:ext cx="400317" cy="50399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57EE69F8-B60D-5374-2481-0846740E6A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6544" y="696964"/>
                  <a:ext cx="400317" cy="503999"/>
                </a:xfrm>
                <a:prstGeom prst="rect">
                  <a:avLst/>
                </a:prstGeom>
                <a:blipFill>
                  <a:blip r:embed="rId10"/>
                  <a:stretch>
                    <a:fillRect l="-11429" r="-2857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F30BE159-1FAE-5E51-6DD9-2F1792DB6B1A}"/>
                </a:ext>
              </a:extLst>
            </p:cNvPr>
            <p:cNvSpPr/>
            <p:nvPr/>
          </p:nvSpPr>
          <p:spPr>
            <a:xfrm>
              <a:off x="8864442" y="803633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24" name="1直线箭头连接符3">
              <a:extLst>
                <a:ext uri="{FF2B5EF4-FFF2-40B4-BE49-F238E27FC236}">
                  <a16:creationId xmlns:a16="http://schemas.microsoft.com/office/drawing/2014/main" id="{0985D216-9672-70B1-BFFE-F41B41871C95}"/>
                </a:ext>
              </a:extLst>
            </p:cNvPr>
            <p:cNvCxnSpPr>
              <a:cxnSpLocks/>
              <a:stCxn id="23" idx="6"/>
              <a:endCxn id="11" idx="1"/>
            </p:cNvCxnSpPr>
            <p:nvPr/>
          </p:nvCxnSpPr>
          <p:spPr>
            <a:xfrm flipV="1">
              <a:off x="9152442" y="946910"/>
              <a:ext cx="342094" cy="72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1直线箭头连接符3">
              <a:extLst>
                <a:ext uri="{FF2B5EF4-FFF2-40B4-BE49-F238E27FC236}">
                  <a16:creationId xmlns:a16="http://schemas.microsoft.com/office/drawing/2014/main" id="{6C42ED4C-059B-95B7-5468-C3CA433F0D23}"/>
                </a:ext>
              </a:extLst>
            </p:cNvPr>
            <p:cNvCxnSpPr>
              <a:cxnSpLocks/>
              <a:stCxn id="22" idx="3"/>
              <a:endCxn id="23" idx="2"/>
            </p:cNvCxnSpPr>
            <p:nvPr/>
          </p:nvCxnSpPr>
          <p:spPr>
            <a:xfrm flipV="1">
              <a:off x="8556861" y="947633"/>
              <a:ext cx="307581" cy="133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4肘形连接符">
              <a:extLst>
                <a:ext uri="{FF2B5EF4-FFF2-40B4-BE49-F238E27FC236}">
                  <a16:creationId xmlns:a16="http://schemas.microsoft.com/office/drawing/2014/main" id="{A4818240-844A-2A5B-FA62-45080B05E7E6}"/>
                </a:ext>
              </a:extLst>
            </p:cNvPr>
            <p:cNvCxnSpPr>
              <a:cxnSpLocks/>
              <a:stCxn id="21" idx="2"/>
              <a:endCxn id="20" idx="1"/>
            </p:cNvCxnSpPr>
            <p:nvPr/>
          </p:nvCxnSpPr>
          <p:spPr>
            <a:xfrm rot="16200000" flipH="1">
              <a:off x="7533588" y="1139348"/>
              <a:ext cx="635274" cy="250397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4肘形连接符">
              <a:extLst>
                <a:ext uri="{FF2B5EF4-FFF2-40B4-BE49-F238E27FC236}">
                  <a16:creationId xmlns:a16="http://schemas.microsoft.com/office/drawing/2014/main" id="{05FC6DE9-80C6-92E9-853B-2A8296132046}"/>
                </a:ext>
              </a:extLst>
            </p:cNvPr>
            <p:cNvCxnSpPr>
              <a:cxnSpLocks/>
              <a:stCxn id="20" idx="3"/>
              <a:endCxn id="23" idx="4"/>
            </p:cNvCxnSpPr>
            <p:nvPr/>
          </p:nvCxnSpPr>
          <p:spPr>
            <a:xfrm flipV="1">
              <a:off x="8876424" y="1091633"/>
              <a:ext cx="132018" cy="490551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1Ui">
                  <a:extLst>
                    <a:ext uri="{FF2B5EF4-FFF2-40B4-BE49-F238E27FC236}">
                      <a16:creationId xmlns:a16="http://schemas.microsoft.com/office/drawing/2014/main" id="{5E5AA452-DD49-6618-39E0-4517ECC38C24}"/>
                    </a:ext>
                  </a:extLst>
                </p:cNvPr>
                <p:cNvSpPr txBox="1"/>
                <p:nvPr/>
              </p:nvSpPr>
              <p:spPr>
                <a:xfrm>
                  <a:off x="8699506" y="883070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0" name="1Ui">
                  <a:extLst>
                    <a:ext uri="{FF2B5EF4-FFF2-40B4-BE49-F238E27FC236}">
                      <a16:creationId xmlns:a16="http://schemas.microsoft.com/office/drawing/2014/main" id="{7DB097F0-99CC-B038-D2FD-70503602A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9506" y="883070"/>
                  <a:ext cx="244144" cy="523220"/>
                </a:xfrm>
                <a:prstGeom prst="rect">
                  <a:avLst/>
                </a:prstGeom>
                <a:blipFill>
                  <a:blip r:embed="rId11"/>
                  <a:stretch>
                    <a:fillRect l="-65000" r="-3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26800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3935413" y="2749986"/>
            <a:ext cx="77743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dirty="0"/>
              <a:t>Mosconi, D., Silva, M. M., &amp; Siqueira, A. A. G. (2021). Optimal tuning of a proportional controller for DC motor position control via Fibonacci Search Method. Journal of Mechatronics Engineering, 4(1), 12-21.</a:t>
            </a:r>
            <a:endParaRPr lang="zh-CN" altLang="en-US" sz="28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426D03C-BBE9-8DAC-0521-98526A9F9A6A}"/>
              </a:ext>
            </a:extLst>
          </p:cNvPr>
          <p:cNvGrpSpPr/>
          <p:nvPr/>
        </p:nvGrpSpPr>
        <p:grpSpPr>
          <a:xfrm>
            <a:off x="811877" y="1275502"/>
            <a:ext cx="10587630" cy="3573116"/>
            <a:chOff x="811877" y="1275502"/>
            <a:chExt cx="10587630" cy="3573116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zh-CN" sz="2800" dirty="0"/>
                <a:t>DR_CAN</a:t>
              </a:r>
              <a:r>
                <a:rPr lang="zh-CN" altLang="en-US" sz="2800" dirty="0"/>
                <a:t>比例控制器</a:t>
              </a:r>
              <a:r>
                <a:rPr lang="en-US" altLang="zh-CN" sz="2800" dirty="0"/>
                <a:t>_</a:t>
              </a:r>
              <a:r>
                <a:rPr lang="zh-CN" altLang="en-US" sz="2800" dirty="0"/>
                <a:t>燃烧卡路里：</a:t>
              </a:r>
              <a:r>
                <a:rPr lang="en" altLang="zh-CN" sz="2800" dirty="0"/>
                <a:t>https://</a:t>
              </a:r>
              <a:r>
                <a:rPr lang="en" altLang="zh-CN" sz="2800" dirty="0" err="1"/>
                <a:t>www.bilibili.com</a:t>
              </a:r>
              <a:r>
                <a:rPr lang="en" altLang="zh-CN" sz="2800" dirty="0"/>
                <a:t>/video/BV16441117hJ?share_source=</a:t>
              </a:r>
              <a:r>
                <a:rPr lang="en" altLang="zh-CN" sz="2800" dirty="0" err="1"/>
                <a:t>copy_web</a:t>
              </a:r>
              <a:endParaRPr lang="zh-CN" altLang="en-US" sz="2800" dirty="0"/>
            </a:p>
          </p:txBody>
        </p:sp>
        <p:pic>
          <p:nvPicPr>
            <p:cNvPr id="5" name="图片 4" descr="图示&#10;&#10;低可信度描述已自动生成">
              <a:extLst>
                <a:ext uri="{FF2B5EF4-FFF2-40B4-BE49-F238E27FC236}">
                  <a16:creationId xmlns:a16="http://schemas.microsoft.com/office/drawing/2014/main" id="{595B131C-724C-D992-A34F-4C83FFAE1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1877" y="1411489"/>
              <a:ext cx="2082800" cy="1409700"/>
            </a:xfrm>
            <a:prstGeom prst="rect">
              <a:avLst/>
            </a:prstGeom>
          </p:spPr>
        </p:pic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0780C245-9F2B-3E6C-3CC7-2574CCF4C2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6027" y="3134118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8703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控制之美，王天威著，清华大学出版社，</a:t>
              </a:r>
              <a:r>
                <a:rPr lang="en-US" altLang="zh-CN" sz="2800" dirty="0"/>
                <a:t>2022</a:t>
              </a:r>
              <a:endParaRPr lang="zh-CN" altLang="en-US" sz="2800" dirty="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37591D0-8AEE-34B0-C96E-803AC09ABDA9}"/>
              </a:ext>
            </a:extLst>
          </p:cNvPr>
          <p:cNvGrpSpPr/>
          <p:nvPr/>
        </p:nvGrpSpPr>
        <p:grpSpPr>
          <a:xfrm>
            <a:off x="4654550" y="4409892"/>
            <a:ext cx="6183313" cy="1625600"/>
            <a:chOff x="4654550" y="4409892"/>
            <a:chExt cx="6183313" cy="16256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654550" y="4955833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在线视频</a:t>
              </a:r>
              <a:r>
                <a:rPr lang="en-US" altLang="zh-CN" sz="2800" dirty="0"/>
                <a:t>057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参与在线讨论</a:t>
              </a:r>
            </a:p>
          </p:txBody>
        </p:sp>
        <p:pic>
          <p:nvPicPr>
            <p:cNvPr id="4" name="图片 3" descr="文本&#10;&#10;描述已自动生成">
              <a:extLst>
                <a:ext uri="{FF2B5EF4-FFF2-40B4-BE49-F238E27FC236}">
                  <a16:creationId xmlns:a16="http://schemas.microsoft.com/office/drawing/2014/main" id="{1C9A6513-50E1-5639-5B2F-84542CA1B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51863" y="4409892"/>
              <a:ext cx="2286000" cy="1625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103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A6FE66DB-1AB0-C7CA-D208-21EB02C2064D}"/>
              </a:ext>
            </a:extLst>
          </p:cNvPr>
          <p:cNvSpPr/>
          <p:nvPr/>
        </p:nvSpPr>
        <p:spPr bwMode="auto">
          <a:xfrm>
            <a:off x="2062560" y="4077072"/>
            <a:ext cx="23042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感谢聆听！</a:t>
            </a:r>
          </a:p>
        </p:txBody>
      </p:sp>
      <p:pic>
        <p:nvPicPr>
          <p:cNvPr id="1026" name="Picture 2" descr="playstation evolution GIF">
            <a:extLst>
              <a:ext uri="{FF2B5EF4-FFF2-40B4-BE49-F238E27FC236}">
                <a16:creationId xmlns:a16="http://schemas.microsoft.com/office/drawing/2014/main" id="{A38AEB7E-0774-3B31-A4C8-3C955CBDA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435" y="2050264"/>
            <a:ext cx="4876579" cy="318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说明1">
            <a:extLst>
              <a:ext uri="{FF2B5EF4-FFF2-40B4-BE49-F238E27FC236}">
                <a16:creationId xmlns:a16="http://schemas.microsoft.com/office/drawing/2014/main" id="{699FF084-A4A1-B768-366C-4324F3819F65}"/>
              </a:ext>
            </a:extLst>
          </p:cNvPr>
          <p:cNvSpPr txBox="1"/>
          <p:nvPr/>
        </p:nvSpPr>
        <p:spPr>
          <a:xfrm>
            <a:off x="7082248" y="5517232"/>
            <a:ext cx="37869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My favorite controllers</a:t>
            </a:r>
            <a:endParaRPr lang="zh-CN" altLang="en-US" sz="2800" dirty="0"/>
          </a:p>
        </p:txBody>
      </p:sp>
      <p:sp>
        <p:nvSpPr>
          <p:cNvPr id="7" name="节段10">
            <a:extLst>
              <a:ext uri="{FF2B5EF4-FFF2-40B4-BE49-F238E27FC236}">
                <a16:creationId xmlns:a16="http://schemas.microsoft.com/office/drawing/2014/main" id="{7EF857BA-F2EA-2705-0CBE-AE1B76AEEBDC}"/>
              </a:ext>
            </a:extLst>
          </p:cNvPr>
          <p:cNvSpPr/>
          <p:nvPr/>
        </p:nvSpPr>
        <p:spPr bwMode="auto">
          <a:xfrm>
            <a:off x="693606" y="1281397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</p:spTree>
    <p:extLst>
      <p:ext uri="{BB962C8B-B14F-4D97-AF65-F5344CB8AC3E}">
        <p14:creationId xmlns:p14="http://schemas.microsoft.com/office/powerpoint/2010/main" val="2700024933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22872</TotalTime>
  <Words>1811</Words>
  <Application>Microsoft Macintosh PowerPoint</Application>
  <PresentationFormat>自定义</PresentationFormat>
  <Paragraphs>260</Paragraphs>
  <Slides>20</Slides>
  <Notes>19</Notes>
  <HiddenSlides>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等线</vt:lpstr>
      <vt:lpstr>汉仪菱心体简</vt:lpstr>
      <vt:lpstr>Microsoft YaHei</vt:lpstr>
      <vt:lpstr>Microsoft YaHei</vt:lpstr>
      <vt:lpstr>Arial</vt:lpstr>
      <vt:lpstr>Calibri</vt:lpstr>
      <vt:lpstr>Cambria Math</vt:lpstr>
      <vt:lpstr>Gill Sans Ultra Bold</vt:lpstr>
      <vt:lpstr>Menlo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571</cp:revision>
  <dcterms:created xsi:type="dcterms:W3CDTF">2012-09-21T08:06:35Z</dcterms:created>
  <dcterms:modified xsi:type="dcterms:W3CDTF">2025-03-23T08:56:05Z</dcterms:modified>
  <cp:category/>
</cp:coreProperties>
</file>