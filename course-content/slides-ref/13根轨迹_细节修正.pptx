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53" r:id="rId2"/>
    <p:sldId id="510" r:id="rId3"/>
    <p:sldId id="511" r:id="rId4"/>
    <p:sldId id="520" r:id="rId5"/>
    <p:sldId id="521" r:id="rId6"/>
    <p:sldId id="503" r:id="rId7"/>
    <p:sldId id="475" r:id="rId8"/>
    <p:sldId id="504" r:id="rId9"/>
    <p:sldId id="522" r:id="rId10"/>
    <p:sldId id="505" r:id="rId11"/>
    <p:sldId id="506" r:id="rId12"/>
    <p:sldId id="523" r:id="rId13"/>
    <p:sldId id="491" r:id="rId14"/>
    <p:sldId id="507" r:id="rId15"/>
    <p:sldId id="508" r:id="rId16"/>
    <p:sldId id="512" r:id="rId17"/>
    <p:sldId id="513" r:id="rId18"/>
    <p:sldId id="517" r:id="rId19"/>
    <p:sldId id="518" r:id="rId20"/>
    <p:sldId id="519" r:id="rId21"/>
  </p:sldIdLst>
  <p:sldSz cx="12190413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7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3840">
          <p15:clr>
            <a:srgbClr val="A4A3A4"/>
          </p15:clr>
        </p15:guide>
        <p15:guide id="4" pos="165">
          <p15:clr>
            <a:srgbClr val="A4A3A4"/>
          </p15:clr>
        </p15:guide>
        <p15:guide id="5" pos="6788" userDrawn="1">
          <p15:clr>
            <a:srgbClr val="A4A3A4"/>
          </p15:clr>
        </p15:guide>
        <p15:guide id="6" pos="3613" userDrawn="1">
          <p15:clr>
            <a:srgbClr val="A4A3A4"/>
          </p15:clr>
        </p15:guide>
        <p15:guide id="7" pos="5881" userDrawn="1">
          <p15:clr>
            <a:srgbClr val="A4A3A4"/>
          </p15:clr>
        </p15:guide>
        <p15:guide id="8" orient="horz" pos="2614" userDrawn="1">
          <p15:clr>
            <a:srgbClr val="A4A3A4"/>
          </p15:clr>
        </p15:guide>
        <p15:guide id="9" pos="6334" userDrawn="1">
          <p15:clr>
            <a:srgbClr val="A4A3A4"/>
          </p15:clr>
        </p15:guide>
        <p15:guide id="11" orient="horz" pos="1706" userDrawn="1">
          <p15:clr>
            <a:srgbClr val="A4A3A4"/>
          </p15:clr>
        </p15:guide>
        <p15:guide id="13" pos="5427" userDrawn="1">
          <p15:clr>
            <a:srgbClr val="A4A3A4"/>
          </p15:clr>
        </p15:guide>
        <p15:guide id="14" pos="4973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4065" userDrawn="1">
          <p15:clr>
            <a:srgbClr val="A4A3A4"/>
          </p15:clr>
        </p15:guide>
        <p15:guide id="18" orient="horz" pos="3974" userDrawn="1">
          <p15:clr>
            <a:srgbClr val="A4A3A4"/>
          </p15:clr>
        </p15:guide>
        <p15:guide id="19" orient="horz" pos="346" userDrawn="1">
          <p15:clr>
            <a:srgbClr val="A4A3A4"/>
          </p15:clr>
        </p15:guide>
        <p15:guide id="20" pos="4520" userDrawn="1">
          <p15:clr>
            <a:srgbClr val="A4A3A4"/>
          </p15:clr>
        </p15:guide>
        <p15:guide id="21" pos="4066" userDrawn="1">
          <p15:clr>
            <a:srgbClr val="A4A3A4"/>
          </p15:clr>
        </p15:guide>
        <p15:guide id="22" pos="72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9F84"/>
    <a:srgbClr val="E44860"/>
    <a:srgbClr val="F29B11"/>
    <a:srgbClr val="768395"/>
    <a:srgbClr val="1C1C1C"/>
    <a:srgbClr val="9BBB59"/>
    <a:srgbClr val="2980B9"/>
    <a:srgbClr val="F6973B"/>
    <a:srgbClr val="FFFFFF"/>
    <a:srgbClr val="EF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9" autoAdjust="0"/>
    <p:restoredTop sz="96197" autoAdjust="0"/>
  </p:normalViewPr>
  <p:slideViewPr>
    <p:cSldViewPr>
      <p:cViewPr varScale="1">
        <p:scale>
          <a:sx n="114" d="100"/>
          <a:sy n="114" d="100"/>
        </p:scale>
        <p:origin x="280" y="176"/>
      </p:cViewPr>
      <p:guideLst>
        <p:guide orient="horz" pos="3067"/>
        <p:guide orient="horz" pos="2160"/>
        <p:guide pos="3840"/>
        <p:guide pos="165"/>
        <p:guide pos="6788"/>
        <p:guide pos="3613"/>
        <p:guide pos="5881"/>
        <p:guide orient="horz" pos="2614"/>
        <p:guide pos="6334"/>
        <p:guide orient="horz" pos="1706"/>
        <p:guide pos="5427"/>
        <p:guide pos="4973"/>
        <p:guide orient="horz" pos="1253"/>
        <p:guide orient="horz" pos="3521"/>
        <p:guide orient="horz" pos="4065"/>
        <p:guide orient="horz" pos="3974"/>
        <p:guide orient="horz" pos="346"/>
        <p:guide pos="4520"/>
        <p:guide pos="4066"/>
        <p:guide pos="72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2024/4/24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2024/4/24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292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838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616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606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308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  <a:r>
              <a:rPr kumimoji="1" lang="en-US" altLang="zh-CN" dirty="0"/>
              <a:t>6-K^</a:t>
            </a:r>
            <a:r>
              <a:rPr kumimoji="1" lang="zh-CN" altLang="en-US" dirty="0"/>
              <a:t>*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334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  <a:r>
              <a:rPr kumimoji="1" lang="en-US" altLang="zh-CN" dirty="0"/>
              <a:t>6-K^</a:t>
            </a:r>
            <a:r>
              <a:rPr kumimoji="1" lang="zh-CN" altLang="en-US" dirty="0"/>
              <a:t>*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953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7217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  <a:r>
              <a:rPr kumimoji="1" lang="en-US" altLang="zh-CN" dirty="0"/>
              <a:t>6-K^</a:t>
            </a:r>
            <a:r>
              <a:rPr kumimoji="1" lang="zh-CN" altLang="en-US" dirty="0"/>
              <a:t>*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037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  <a:r>
              <a:rPr kumimoji="1" lang="en-US" altLang="zh-CN" dirty="0"/>
              <a:t>6-K^</a:t>
            </a:r>
            <a:r>
              <a:rPr kumimoji="1" lang="zh-CN" altLang="en-US" dirty="0"/>
              <a:t>*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1878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30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79395599"/>
      </p:ext>
    </p:extLst>
  </p:cSld>
  <p:clrMapOvr>
    <a:masterClrMapping/>
  </p:clrMapOvr>
  <p:transition spd="slow">
    <p:strips dir="r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75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microsoft.com/office/2007/relationships/hdphoto" Target="../media/hdphoto4.wdp"/><Relationship Id="rId5" Type="http://schemas.openxmlformats.org/officeDocument/2006/relationships/image" Target="../media/image8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10.png"/><Relationship Id="rId5" Type="http://schemas.openxmlformats.org/officeDocument/2006/relationships/image" Target="../media/image610.png"/><Relationship Id="rId4" Type="http://schemas.openxmlformats.org/officeDocument/2006/relationships/image" Target="../media/image5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3.png"/><Relationship Id="rId7" Type="http://schemas.openxmlformats.org/officeDocument/2006/relationships/image" Target="../media/image70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9.png"/><Relationship Id="rId11" Type="http://schemas.openxmlformats.org/officeDocument/2006/relationships/image" Target="../media/image30.png"/><Relationship Id="rId5" Type="http://schemas.openxmlformats.org/officeDocument/2006/relationships/image" Target="../media/image68.png"/><Relationship Id="rId15" Type="http://schemas.openxmlformats.org/officeDocument/2006/relationships/image" Target="../media/image74.png"/><Relationship Id="rId10" Type="http://schemas.openxmlformats.org/officeDocument/2006/relationships/image" Target="../media/image29.png"/><Relationship Id="rId4" Type="http://schemas.openxmlformats.org/officeDocument/2006/relationships/image" Target="../media/image56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310.png"/><Relationship Id="rId3" Type="http://schemas.openxmlformats.org/officeDocument/2006/relationships/image" Target="../media/image53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5" Type="http://schemas.openxmlformats.org/officeDocument/2006/relationships/image" Target="../media/image74.png"/><Relationship Id="rId10" Type="http://schemas.openxmlformats.org/officeDocument/2006/relationships/image" Target="../media/image31.png"/><Relationship Id="rId4" Type="http://schemas.openxmlformats.org/officeDocument/2006/relationships/image" Target="../media/image56.png"/><Relationship Id="rId9" Type="http://schemas.openxmlformats.org/officeDocument/2006/relationships/image" Target="../media/image28.png"/><Relationship Id="rId14" Type="http://schemas.openxmlformats.org/officeDocument/2006/relationships/image" Target="../media/image8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4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6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8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51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54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5.png"/><Relationship Id="rId3" Type="http://schemas.openxmlformats.org/officeDocument/2006/relationships/image" Target="../media/image32.png"/><Relationship Id="rId7" Type="http://schemas.openxmlformats.org/officeDocument/2006/relationships/image" Target="../media/image58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11" Type="http://schemas.openxmlformats.org/officeDocument/2006/relationships/image" Target="../media/image63.png"/><Relationship Id="rId5" Type="http://schemas.openxmlformats.org/officeDocument/2006/relationships/image" Target="../media/image33.png"/><Relationship Id="rId10" Type="http://schemas.openxmlformats.org/officeDocument/2006/relationships/image" Target="../media/image62.png"/><Relationship Id="rId4" Type="http://schemas.openxmlformats.org/officeDocument/2006/relationships/image" Target="../media/image57.png"/><Relationship Id="rId9" Type="http://schemas.openxmlformats.org/officeDocument/2006/relationships/image" Target="../media/image60.png"/><Relationship Id="rId1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67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11" Type="http://schemas.openxmlformats.org/officeDocument/2006/relationships/image" Target="../media/image76.png"/><Relationship Id="rId5" Type="http://schemas.openxmlformats.org/officeDocument/2006/relationships/image" Target="../media/image33.png"/><Relationship Id="rId10" Type="http://schemas.openxmlformats.org/officeDocument/2006/relationships/image" Target="../media/image75.png"/><Relationship Id="rId4" Type="http://schemas.openxmlformats.org/officeDocument/2006/relationships/image" Target="../media/image71.png"/><Relationship Id="rId9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5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1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 dirty="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 dirty="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224386A-C78B-30B9-B569-9F2E5C323140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D332A6E-FF25-83B6-3F8B-8BF671C5EFC8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734BA976-15F3-CB23-DA11-A751A8729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5A4D82EB-D28C-8C2F-35BA-2EC23004DF47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CC128347-5AC1-C154-2705-6490EC2B84D6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65D8EBFB-BAB1-5E35-8FDE-B2E8A74A23E3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08B0582E-B134-5193-07CD-1F0717759DC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81D331E2-A9C9-A7F8-016F-08B9539AD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17">
            <a:extLst>
              <a:ext uri="{FF2B5EF4-FFF2-40B4-BE49-F238E27FC236}">
                <a16:creationId xmlns:a16="http://schemas.microsoft.com/office/drawing/2014/main" id="{FB6DE577-8F98-54DF-36F2-51EBE91F2C35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24" name="节段18">
            <a:extLst>
              <a:ext uri="{FF2B5EF4-FFF2-40B4-BE49-F238E27FC236}">
                <a16:creationId xmlns:a16="http://schemas.microsoft.com/office/drawing/2014/main" id="{225DEB9F-9C3C-B1E6-33E6-8B3E6DD1C8BE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807903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能列举分离点，起始角和终止角公式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807903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能够计算分离点，起始角和终止角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能够计算根轨迹与虚轴的交点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能够通过计算机验证根轨迹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6096000" y="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35166" y="448084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2" name="节段13">
            <a:extLst>
              <a:ext uri="{FF2B5EF4-FFF2-40B4-BE49-F238E27FC236}">
                <a16:creationId xmlns:a16="http://schemas.microsoft.com/office/drawing/2014/main" id="{BD99E89C-FCEB-4231-0BFB-6A32F1EF97A1}"/>
              </a:ext>
            </a:extLst>
          </p:cNvPr>
          <p:cNvSpPr/>
          <p:nvPr/>
        </p:nvSpPr>
        <p:spPr bwMode="auto">
          <a:xfrm>
            <a:off x="543213" y="1269479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手绘卡通保安免抠素材">
            <a:extLst>
              <a:ext uri="{FF2B5EF4-FFF2-40B4-BE49-F238E27FC236}">
                <a16:creationId xmlns:a16="http://schemas.microsoft.com/office/drawing/2014/main" id="{A6050565-2016-EF16-133C-FB123F9A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000" b="93875" l="10000" r="90000">
                        <a14:foregroundMark x1="39375" y1="10375" x2="52250" y2="13625"/>
                        <a14:foregroundMark x1="52250" y1="13625" x2="40875" y2="7750"/>
                        <a14:foregroundMark x1="40875" y1="7750" x2="53375" y2="11250"/>
                        <a14:foregroundMark x1="53375" y1="11250" x2="46875" y2="9875"/>
                        <a14:foregroundMark x1="46875" y1="7125" x2="53250" y2="9250"/>
                        <a14:foregroundMark x1="51125" y1="24875" x2="54875" y2="25125"/>
                        <a14:foregroundMark x1="38375" y1="26375" x2="42750" y2="25375"/>
                        <a14:foregroundMark x1="49625" y1="36125" x2="54625" y2="35875"/>
                        <a14:foregroundMark x1="42750" y1="13625" x2="42000" y2="14625"/>
                        <a14:foregroundMark x1="43500" y1="13125" x2="53750" y2="13500"/>
                        <a14:foregroundMark x1="40375" y1="10125" x2="53625" y2="10875"/>
                        <a14:foregroundMark x1="50250" y1="91500" x2="53375" y2="91375"/>
                        <a14:foregroundMark x1="39125" y1="91250" x2="42250" y2="91750"/>
                        <a14:foregroundMark x1="41000" y1="93875" x2="38375" y2="93750"/>
                        <a14:foregroundMark x1="52375" y1="93000" x2="58500" y2="9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742" y="1628800"/>
            <a:ext cx="4821956" cy="482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E63468B-26F1-0DCE-13F4-4AE03D0570E9}"/>
              </a:ext>
            </a:extLst>
          </p:cNvPr>
          <p:cNvSpPr txBox="1"/>
          <p:nvPr/>
        </p:nvSpPr>
        <p:spPr>
          <a:xfrm>
            <a:off x="4304664" y="381251"/>
            <a:ext cx="1816782" cy="1055608"/>
          </a:xfrm>
          <a:prstGeom prst="wedgeRoundRectCallout">
            <a:avLst>
              <a:gd name="adj1" fmla="val -31738"/>
              <a:gd name="adj2" fmla="val 80284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你是谁？</a:t>
            </a:r>
            <a:endParaRPr kumimoji="1" lang="en-US" altLang="zh-CN" sz="2800" dirty="0"/>
          </a:p>
          <a:p>
            <a:pPr algn="ctr"/>
            <a:r>
              <a:rPr kumimoji="1" lang="zh-CN" altLang="en-US" sz="2800" dirty="0"/>
              <a:t>你从</a:t>
            </a:r>
            <a:r>
              <a:rPr kumimoji="1" lang="en-US" altLang="zh-CN" sz="2800" dirty="0"/>
              <a:t>……</a:t>
            </a:r>
            <a:endParaRPr kumimoji="1"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A27C0B-52A4-A741-42DF-BBD96113311C}"/>
              </a:ext>
            </a:extLst>
          </p:cNvPr>
          <p:cNvSpPr txBox="1"/>
          <p:nvPr/>
        </p:nvSpPr>
        <p:spPr>
          <a:xfrm>
            <a:off x="6730330" y="1099717"/>
            <a:ext cx="3634532" cy="1532334"/>
          </a:xfrm>
          <a:prstGeom prst="wedgeRoundRectCallout">
            <a:avLst>
              <a:gd name="adj1" fmla="val 1066"/>
              <a:gd name="adj2" fmla="val 87849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根轨迹以开环极点为起点，开环零点或无穷零点为终点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2BABD55-0528-AD03-2BA4-74CDD561ACA7}"/>
              </a:ext>
            </a:extLst>
          </p:cNvPr>
          <p:cNvGrpSpPr/>
          <p:nvPr/>
        </p:nvGrpSpPr>
        <p:grpSpPr>
          <a:xfrm>
            <a:off x="6815286" y="3212976"/>
            <a:ext cx="3163788" cy="3163788"/>
            <a:chOff x="6815286" y="3212976"/>
            <a:chExt cx="3163788" cy="3163788"/>
          </a:xfrm>
        </p:grpSpPr>
        <p:pic>
          <p:nvPicPr>
            <p:cNvPr id="1028" name="Picture 4" descr="手绘卡通开学背书包的男学生">
              <a:extLst>
                <a:ext uri="{FF2B5EF4-FFF2-40B4-BE49-F238E27FC236}">
                  <a16:creationId xmlns:a16="http://schemas.microsoft.com/office/drawing/2014/main" id="{42084B29-BD1F-186E-D570-1EAA10C5D0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7436" b="92436" l="10000" r="90000">
                          <a14:foregroundMark x1="40000" y1="16410" x2="38718" y2="14231"/>
                          <a14:foregroundMark x1="40256" y1="13974" x2="52949" y2="9872"/>
                          <a14:foregroundMark x1="47051" y1="10513" x2="55641" y2="10513"/>
                          <a14:foregroundMark x1="55385" y1="12308" x2="58077" y2="15897"/>
                          <a14:foregroundMark x1="50256" y1="7436" x2="53846" y2="10513"/>
                          <a14:foregroundMark x1="53846" y1="91026" x2="58718" y2="92051"/>
                          <a14:foregroundMark x1="38718" y1="92436" x2="44359" y2="92051"/>
                          <a14:foregroundMark x1="40513" y1="91026" x2="45128" y2="91282"/>
                          <a14:foregroundMark x1="40256" y1="89615" x2="38718" y2="90513"/>
                          <a14:foregroundMark x1="57821" y1="90256" x2="54872" y2="90769"/>
                          <a14:foregroundMark x1="57821" y1="90000" x2="59744" y2="91538"/>
                          <a14:foregroundMark x1="57051" y1="89359" x2="59744" y2="90769"/>
                          <a14:foregroundMark x1="57051" y1="89103" x2="59487" y2="90256"/>
                          <a14:foregroundMark x1="46538" y1="8590" x2="50513" y2="1102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5286" y="3212976"/>
              <a:ext cx="3163788" cy="3163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4715F8F-1D52-B119-02E9-224C57BC535D}"/>
                    </a:ext>
                  </a:extLst>
                </p:cNvPr>
                <p:cNvSpPr txBox="1"/>
                <p:nvPr/>
              </p:nvSpPr>
              <p:spPr>
                <a:xfrm>
                  <a:off x="7679382" y="3309398"/>
                  <a:ext cx="1596217" cy="95410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44715F8F-1D52-B119-02E9-224C57BC5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9382" y="3309398"/>
                  <a:ext cx="1596217" cy="954107"/>
                </a:xfrm>
                <a:prstGeom prst="rect">
                  <a:avLst/>
                </a:prstGeom>
                <a:blipFill>
                  <a:blip r:embed="rId7"/>
                  <a:stretch>
                    <a:fillRect l="-23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12366788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3743 0.00047 L -2.00807E-6 2.96296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手绘卡通保安免抠素材">
            <a:extLst>
              <a:ext uri="{FF2B5EF4-FFF2-40B4-BE49-F238E27FC236}">
                <a16:creationId xmlns:a16="http://schemas.microsoft.com/office/drawing/2014/main" id="{A6050565-2016-EF16-133C-FB123F9A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000" b="93875" l="10000" r="90000">
                        <a14:foregroundMark x1="39375" y1="10375" x2="52250" y2="13625"/>
                        <a14:foregroundMark x1="52250" y1="13625" x2="40875" y2="7750"/>
                        <a14:foregroundMark x1="40875" y1="7750" x2="53375" y2="11250"/>
                        <a14:foregroundMark x1="53375" y1="11250" x2="46875" y2="9875"/>
                        <a14:foregroundMark x1="46875" y1="7125" x2="53250" y2="9250"/>
                        <a14:foregroundMark x1="51125" y1="24875" x2="54875" y2="25125"/>
                        <a14:foregroundMark x1="38375" y1="26375" x2="42750" y2="25375"/>
                        <a14:foregroundMark x1="49625" y1="36125" x2="54625" y2="35875"/>
                        <a14:foregroundMark x1="42750" y1="13625" x2="42000" y2="14625"/>
                        <a14:foregroundMark x1="43500" y1="13125" x2="53750" y2="13500"/>
                        <a14:foregroundMark x1="40375" y1="10125" x2="53625" y2="10875"/>
                        <a14:foregroundMark x1="50250" y1="91500" x2="53375" y2="91375"/>
                        <a14:foregroundMark x1="39125" y1="91250" x2="42250" y2="91750"/>
                        <a14:foregroundMark x1="41000" y1="93875" x2="38375" y2="93750"/>
                        <a14:foregroundMark x1="52375" y1="93000" x2="58500" y2="9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742" y="1628800"/>
            <a:ext cx="4821956" cy="482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E63468B-26F1-0DCE-13F4-4AE03D0570E9}"/>
              </a:ext>
            </a:extLst>
          </p:cNvPr>
          <p:cNvSpPr txBox="1"/>
          <p:nvPr/>
        </p:nvSpPr>
        <p:spPr>
          <a:xfrm>
            <a:off x="4144981" y="188640"/>
            <a:ext cx="5340610" cy="1532334"/>
          </a:xfrm>
          <a:prstGeom prst="wedgeRoundRectCallout">
            <a:avLst>
              <a:gd name="adj1" fmla="val -31738"/>
              <a:gd name="adj2" fmla="val 80284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2800" dirty="0"/>
              <a:t>行啊，还会抢答了。那我问你，相遇的根轨迹怎么分离？出射角和入射角怎么算？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A27C0B-52A4-A741-42DF-BBD96113311C}"/>
              </a:ext>
            </a:extLst>
          </p:cNvPr>
          <p:cNvSpPr txBox="1"/>
          <p:nvPr/>
        </p:nvSpPr>
        <p:spPr>
          <a:xfrm>
            <a:off x="6023198" y="2514083"/>
            <a:ext cx="2673952" cy="578882"/>
          </a:xfrm>
          <a:prstGeom prst="wedgeRoundRectCallout">
            <a:avLst>
              <a:gd name="adj1" fmla="val 30543"/>
              <a:gd name="adj2" fmla="val 82228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dirty="0"/>
              <a:t>老师</a:t>
            </a:r>
            <a:r>
              <a:rPr kumimoji="1" lang="en-US" altLang="zh-CN" sz="2800" dirty="0"/>
              <a:t>……</a:t>
            </a:r>
            <a:r>
              <a:rPr kumimoji="1" lang="zh-CN" altLang="en-US" sz="2800" dirty="0"/>
              <a:t>还没讲</a:t>
            </a:r>
          </a:p>
        </p:txBody>
      </p:sp>
      <p:pic>
        <p:nvPicPr>
          <p:cNvPr id="1028" name="Picture 4" descr="手绘卡通开学背书包的男学生">
            <a:extLst>
              <a:ext uri="{FF2B5EF4-FFF2-40B4-BE49-F238E27FC236}">
                <a16:creationId xmlns:a16="http://schemas.microsoft.com/office/drawing/2014/main" id="{42084B29-BD1F-186E-D570-1EAA10C5D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436" b="92436" l="10000" r="90000">
                        <a14:foregroundMark x1="40000" y1="16410" x2="38718" y2="14231"/>
                        <a14:foregroundMark x1="40256" y1="13974" x2="52949" y2="9872"/>
                        <a14:foregroundMark x1="47051" y1="10513" x2="55641" y2="10513"/>
                        <a14:foregroundMark x1="55385" y1="12308" x2="58077" y2="15897"/>
                        <a14:foregroundMark x1="50256" y1="7436" x2="53846" y2="10513"/>
                        <a14:foregroundMark x1="53846" y1="91026" x2="58718" y2="92051"/>
                        <a14:foregroundMark x1="38718" y1="92436" x2="44359" y2="92051"/>
                        <a14:foregroundMark x1="40513" y1="91026" x2="45128" y2="91282"/>
                        <a14:foregroundMark x1="40256" y1="89615" x2="38718" y2="90513"/>
                        <a14:foregroundMark x1="57821" y1="90256" x2="54872" y2="90769"/>
                        <a14:foregroundMark x1="57821" y1="90000" x2="59744" y2="91538"/>
                        <a14:foregroundMark x1="57051" y1="89359" x2="59744" y2="90769"/>
                        <a14:foregroundMark x1="57051" y1="89103" x2="59487" y2="90256"/>
                        <a14:foregroundMark x1="46538" y1="8590" x2="50513" y2="110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286" y="3212976"/>
            <a:ext cx="3163788" cy="316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4715F8F-1D52-B119-02E9-224C57BC535D}"/>
                  </a:ext>
                </a:extLst>
              </p:cNvPr>
              <p:cNvSpPr txBox="1"/>
              <p:nvPr/>
            </p:nvSpPr>
            <p:spPr>
              <a:xfrm>
                <a:off x="7679383" y="3309398"/>
                <a:ext cx="1584176" cy="95410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4715F8F-1D52-B119-02E9-224C57BC5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383" y="3309398"/>
                <a:ext cx="1584176" cy="954107"/>
              </a:xfrm>
              <a:prstGeom prst="rect">
                <a:avLst/>
              </a:prstGeom>
              <a:blipFill>
                <a:blip r:embed="rId7"/>
                <a:stretch>
                  <a:fillRect l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298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坐标轴">
            <a:extLst>
              <a:ext uri="{FF2B5EF4-FFF2-40B4-BE49-F238E27FC236}">
                <a16:creationId xmlns:a16="http://schemas.microsoft.com/office/drawing/2014/main" id="{FB09842B-0104-1A06-6AA3-55DEB674F7A1}"/>
              </a:ext>
            </a:extLst>
          </p:cNvPr>
          <p:cNvGrpSpPr/>
          <p:nvPr/>
        </p:nvGrpSpPr>
        <p:grpSpPr>
          <a:xfrm>
            <a:off x="5250180" y="-50410"/>
            <a:ext cx="6605666" cy="6604639"/>
            <a:chOff x="5250180" y="-50410"/>
            <a:chExt cx="6605666" cy="66046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label0">
                  <a:extLst>
                    <a:ext uri="{FF2B5EF4-FFF2-40B4-BE49-F238E27FC236}">
                      <a16:creationId xmlns:a16="http://schemas.microsoft.com/office/drawing/2014/main" id="{52E8DE49-E601-C1BF-A858-50CFF27EB174}"/>
                    </a:ext>
                  </a:extLst>
                </p:cNvPr>
                <p:cNvSpPr txBox="1"/>
                <p:nvPr/>
              </p:nvSpPr>
              <p:spPr>
                <a:xfrm>
                  <a:off x="8626942" y="3457788"/>
                  <a:ext cx="40423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label0">
                  <a:extLst>
                    <a:ext uri="{FF2B5EF4-FFF2-40B4-BE49-F238E27FC236}">
                      <a16:creationId xmlns:a16="http://schemas.microsoft.com/office/drawing/2014/main" id="{52E8DE49-E601-C1BF-A858-50CFF27EB1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6942" y="3457788"/>
                  <a:ext cx="404230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6250" r="-62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labelj">
                  <a:extLst>
                    <a:ext uri="{FF2B5EF4-FFF2-40B4-BE49-F238E27FC236}">
                      <a16:creationId xmlns:a16="http://schemas.microsoft.com/office/drawing/2014/main" id="{2F56F1F5-44F7-AF26-00A4-BAA5716ADDC0}"/>
                    </a:ext>
                  </a:extLst>
                </p:cNvPr>
                <p:cNvSpPr txBox="1"/>
                <p:nvPr/>
              </p:nvSpPr>
              <p:spPr>
                <a:xfrm>
                  <a:off x="8719877" y="-50410"/>
                  <a:ext cx="348584" cy="5246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8" name="labelj">
                  <a:extLst>
                    <a:ext uri="{FF2B5EF4-FFF2-40B4-BE49-F238E27FC236}">
                      <a16:creationId xmlns:a16="http://schemas.microsoft.com/office/drawing/2014/main" id="{2F56F1F5-44F7-AF26-00A4-BAA5716AD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9877" y="-50410"/>
                  <a:ext cx="348584" cy="524696"/>
                </a:xfrm>
                <a:prstGeom prst="rect">
                  <a:avLst/>
                </a:prstGeom>
                <a:blipFill>
                  <a:blip r:embed="rId4"/>
                  <a:stretch>
                    <a:fillRect l="-13793" r="-10345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9" name="虚轴">
              <a:extLst>
                <a:ext uri="{FF2B5EF4-FFF2-40B4-BE49-F238E27FC236}">
                  <a16:creationId xmlns:a16="http://schemas.microsoft.com/office/drawing/2014/main" id="{157DB8B9-B746-3D1C-229F-B7631840FDA0}"/>
                </a:ext>
              </a:extLst>
            </p:cNvPr>
            <p:cNvGrpSpPr/>
            <p:nvPr/>
          </p:nvGrpSpPr>
          <p:grpSpPr>
            <a:xfrm>
              <a:off x="8606548" y="279144"/>
              <a:ext cx="923037" cy="6275085"/>
              <a:chOff x="8606548" y="279144"/>
              <a:chExt cx="923037" cy="627508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ylabel4">
                    <a:extLst>
                      <a:ext uri="{FF2B5EF4-FFF2-40B4-BE49-F238E27FC236}">
                        <a16:creationId xmlns:a16="http://schemas.microsoft.com/office/drawing/2014/main" id="{9F15F075-2084-75E2-7596-2918236A2BB6}"/>
                      </a:ext>
                    </a:extLst>
                  </p:cNvPr>
                  <p:cNvSpPr txBox="1"/>
                  <p:nvPr/>
                </p:nvSpPr>
                <p:spPr>
                  <a:xfrm>
                    <a:off x="8772176" y="279144"/>
                    <a:ext cx="54709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87" name="ylabel4">
                    <a:extLst>
                      <a:ext uri="{FF2B5EF4-FFF2-40B4-BE49-F238E27FC236}">
                        <a16:creationId xmlns:a16="http://schemas.microsoft.com/office/drawing/2014/main" id="{9F15F075-2084-75E2-7596-2918236A2B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72176" y="279144"/>
                    <a:ext cx="547091" cy="52469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8" name="ytick4">
                <a:extLst>
                  <a:ext uri="{FF2B5EF4-FFF2-40B4-BE49-F238E27FC236}">
                    <a16:creationId xmlns:a16="http://schemas.microsoft.com/office/drawing/2014/main" id="{057A4B01-C5AF-F950-8F90-F422854D9F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5362" y="552840"/>
                <a:ext cx="23031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ylabel3">
                    <a:extLst>
                      <a:ext uri="{FF2B5EF4-FFF2-40B4-BE49-F238E27FC236}">
                        <a16:creationId xmlns:a16="http://schemas.microsoft.com/office/drawing/2014/main" id="{63D1B2A4-0EDF-F29C-03CE-52D0AD48F96C}"/>
                      </a:ext>
                    </a:extLst>
                  </p:cNvPr>
                  <p:cNvSpPr txBox="1"/>
                  <p:nvPr/>
                </p:nvSpPr>
                <p:spPr>
                  <a:xfrm>
                    <a:off x="8763362" y="1001990"/>
                    <a:ext cx="54709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2" name="ylabel3">
                    <a:extLst>
                      <a:ext uri="{FF2B5EF4-FFF2-40B4-BE49-F238E27FC236}">
                        <a16:creationId xmlns:a16="http://schemas.microsoft.com/office/drawing/2014/main" id="{63D1B2A4-0EDF-F29C-03CE-52D0AD48F9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63362" y="1001990"/>
                    <a:ext cx="547091" cy="52469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5" name="ytick3">
                <a:extLst>
                  <a:ext uri="{FF2B5EF4-FFF2-40B4-BE49-F238E27FC236}">
                    <a16:creationId xmlns:a16="http://schemas.microsoft.com/office/drawing/2014/main" id="{80F9FCA1-E2C4-4B75-35BD-081BC785F5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06548" y="1275686"/>
                <a:ext cx="23031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ylabel2">
                    <a:extLst>
                      <a:ext uri="{FF2B5EF4-FFF2-40B4-BE49-F238E27FC236}">
                        <a16:creationId xmlns:a16="http://schemas.microsoft.com/office/drawing/2014/main" id="{9D7C0A6B-EB41-E864-C05F-98B92D5C0580}"/>
                      </a:ext>
                    </a:extLst>
                  </p:cNvPr>
                  <p:cNvSpPr txBox="1"/>
                  <p:nvPr/>
                </p:nvSpPr>
                <p:spPr>
                  <a:xfrm>
                    <a:off x="8772177" y="1717826"/>
                    <a:ext cx="54709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4" name="ylabel2">
                    <a:extLst>
                      <a:ext uri="{FF2B5EF4-FFF2-40B4-BE49-F238E27FC236}">
                        <a16:creationId xmlns:a16="http://schemas.microsoft.com/office/drawing/2014/main" id="{9D7C0A6B-EB41-E864-C05F-98B92D5C05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72177" y="1717826"/>
                    <a:ext cx="547091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1" name="ytick2">
                <a:extLst>
                  <a:ext uri="{FF2B5EF4-FFF2-40B4-BE49-F238E27FC236}">
                    <a16:creationId xmlns:a16="http://schemas.microsoft.com/office/drawing/2014/main" id="{463577E2-6CBB-70F5-1604-62C7372418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5363" y="1991521"/>
                <a:ext cx="23031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ylabel1">
                    <a:extLst>
                      <a:ext uri="{FF2B5EF4-FFF2-40B4-BE49-F238E27FC236}">
                        <a16:creationId xmlns:a16="http://schemas.microsoft.com/office/drawing/2014/main" id="{9CB1BFCC-5737-595F-A04A-49E1593A3955}"/>
                      </a:ext>
                    </a:extLst>
                  </p:cNvPr>
                  <p:cNvSpPr txBox="1"/>
                  <p:nvPr/>
                </p:nvSpPr>
                <p:spPr>
                  <a:xfrm>
                    <a:off x="8772177" y="2440109"/>
                    <a:ext cx="54709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2" name="ylabel1">
                    <a:extLst>
                      <a:ext uri="{FF2B5EF4-FFF2-40B4-BE49-F238E27FC236}">
                        <a16:creationId xmlns:a16="http://schemas.microsoft.com/office/drawing/2014/main" id="{9CB1BFCC-5737-595F-A04A-49E1593A39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72177" y="2440109"/>
                    <a:ext cx="547091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4" name="ytick1">
                <a:extLst>
                  <a:ext uri="{FF2B5EF4-FFF2-40B4-BE49-F238E27FC236}">
                    <a16:creationId xmlns:a16="http://schemas.microsoft.com/office/drawing/2014/main" id="{BD642B27-0FBD-4E61-E0F6-67076E6F2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5365" y="2708274"/>
                <a:ext cx="23031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ylabel-1">
                    <a:extLst>
                      <a:ext uri="{FF2B5EF4-FFF2-40B4-BE49-F238E27FC236}">
                        <a16:creationId xmlns:a16="http://schemas.microsoft.com/office/drawing/2014/main" id="{F2102832-36D4-C639-4E99-019C65F313EE}"/>
                      </a:ext>
                    </a:extLst>
                  </p:cNvPr>
                  <p:cNvSpPr txBox="1"/>
                  <p:nvPr/>
                </p:nvSpPr>
                <p:spPr>
                  <a:xfrm>
                    <a:off x="8857274" y="3874151"/>
                    <a:ext cx="660062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6" name="ylabel-1">
                    <a:extLst>
                      <a:ext uri="{FF2B5EF4-FFF2-40B4-BE49-F238E27FC236}">
                        <a16:creationId xmlns:a16="http://schemas.microsoft.com/office/drawing/2014/main" id="{F2102832-36D4-C639-4E99-019C65F313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57274" y="3874151"/>
                    <a:ext cx="660062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377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7" name="ytick-1">
                <a:extLst>
                  <a:ext uri="{FF2B5EF4-FFF2-40B4-BE49-F238E27FC236}">
                    <a16:creationId xmlns:a16="http://schemas.microsoft.com/office/drawing/2014/main" id="{698CB20C-B1EE-9542-3826-004E8AD7B9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33527" y="4154289"/>
                <a:ext cx="23031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ylabel-2">
                    <a:extLst>
                      <a:ext uri="{FF2B5EF4-FFF2-40B4-BE49-F238E27FC236}">
                        <a16:creationId xmlns:a16="http://schemas.microsoft.com/office/drawing/2014/main" id="{7FB83E9A-2039-8046-0AA8-71238C3BB42B}"/>
                      </a:ext>
                    </a:extLst>
                  </p:cNvPr>
                  <p:cNvSpPr txBox="1"/>
                  <p:nvPr/>
                </p:nvSpPr>
                <p:spPr>
                  <a:xfrm>
                    <a:off x="8869523" y="4597774"/>
                    <a:ext cx="660062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8" name="ylabel-2">
                    <a:extLst>
                      <a:ext uri="{FF2B5EF4-FFF2-40B4-BE49-F238E27FC236}">
                        <a16:creationId xmlns:a16="http://schemas.microsoft.com/office/drawing/2014/main" id="{7FB83E9A-2039-8046-0AA8-71238C3BB4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69523" y="4597774"/>
                    <a:ext cx="660062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377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9" name="ytick-2">
                <a:extLst>
                  <a:ext uri="{FF2B5EF4-FFF2-40B4-BE49-F238E27FC236}">
                    <a16:creationId xmlns:a16="http://schemas.microsoft.com/office/drawing/2014/main" id="{EBD3A8E0-2B71-AC34-B21A-FBAB2A23E4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45278" y="4875489"/>
                <a:ext cx="23031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ylabel-3">
                    <a:extLst>
                      <a:ext uri="{FF2B5EF4-FFF2-40B4-BE49-F238E27FC236}">
                        <a16:creationId xmlns:a16="http://schemas.microsoft.com/office/drawing/2014/main" id="{0F857AC8-99EA-632E-9834-B350FA5DACF8}"/>
                      </a:ext>
                    </a:extLst>
                  </p:cNvPr>
                  <p:cNvSpPr txBox="1"/>
                  <p:nvPr/>
                </p:nvSpPr>
                <p:spPr>
                  <a:xfrm>
                    <a:off x="8863298" y="5311872"/>
                    <a:ext cx="660062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8" name="ylabel-3">
                    <a:extLst>
                      <a:ext uri="{FF2B5EF4-FFF2-40B4-BE49-F238E27FC236}">
                        <a16:creationId xmlns:a16="http://schemas.microsoft.com/office/drawing/2014/main" id="{0F857AC8-99EA-632E-9834-B350FA5DAC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63298" y="5311872"/>
                    <a:ext cx="660062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377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9" name="ytick-3">
                <a:extLst>
                  <a:ext uri="{FF2B5EF4-FFF2-40B4-BE49-F238E27FC236}">
                    <a16:creationId xmlns:a16="http://schemas.microsoft.com/office/drawing/2014/main" id="{D9C7AF2A-3D30-43B2-C0C3-C7B16D4A46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39053" y="5589588"/>
                <a:ext cx="23031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ylabel-4">
                    <a:extLst>
                      <a:ext uri="{FF2B5EF4-FFF2-40B4-BE49-F238E27FC236}">
                        <a16:creationId xmlns:a16="http://schemas.microsoft.com/office/drawing/2014/main" id="{09BA8DA7-E1B2-2B0D-DF87-E6BF4D2EF508}"/>
                      </a:ext>
                    </a:extLst>
                  </p:cNvPr>
                  <p:cNvSpPr txBox="1"/>
                  <p:nvPr/>
                </p:nvSpPr>
                <p:spPr>
                  <a:xfrm>
                    <a:off x="8863298" y="6031009"/>
                    <a:ext cx="660062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−4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80" name="ylabel-4">
                    <a:extLst>
                      <a:ext uri="{FF2B5EF4-FFF2-40B4-BE49-F238E27FC236}">
                        <a16:creationId xmlns:a16="http://schemas.microsoft.com/office/drawing/2014/main" id="{09BA8DA7-E1B2-2B0D-DF87-E6BF4D2EF5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63298" y="6031009"/>
                    <a:ext cx="660062" cy="52322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377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6" name="ytick-4">
                <a:extLst>
                  <a:ext uri="{FF2B5EF4-FFF2-40B4-BE49-F238E27FC236}">
                    <a16:creationId xmlns:a16="http://schemas.microsoft.com/office/drawing/2014/main" id="{2C72D316-F24A-F73E-6583-CC5385A0FF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39053" y="6308725"/>
                <a:ext cx="23031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y轴">
                <a:extLst>
                  <a:ext uri="{FF2B5EF4-FFF2-40B4-BE49-F238E27FC236}">
                    <a16:creationId xmlns:a16="http://schemas.microsoft.com/office/drawing/2014/main" id="{B4F167F5-4B4A-3B66-66CF-556A7B3392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40000" y="396001"/>
                <a:ext cx="0" cy="601199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实轴">
              <a:extLst>
                <a:ext uri="{FF2B5EF4-FFF2-40B4-BE49-F238E27FC236}">
                  <a16:creationId xmlns:a16="http://schemas.microsoft.com/office/drawing/2014/main" id="{9368A46E-48ED-16F0-4817-2A1AA3903CD9}"/>
                </a:ext>
              </a:extLst>
            </p:cNvPr>
            <p:cNvGrpSpPr/>
            <p:nvPr/>
          </p:nvGrpSpPr>
          <p:grpSpPr>
            <a:xfrm>
              <a:off x="5250180" y="3211031"/>
              <a:ext cx="6605666" cy="786010"/>
              <a:chOff x="5250180" y="3211031"/>
              <a:chExt cx="6605666" cy="7860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xlabel4">
                    <a:extLst>
                      <a:ext uri="{FF2B5EF4-FFF2-40B4-BE49-F238E27FC236}">
                        <a16:creationId xmlns:a16="http://schemas.microsoft.com/office/drawing/2014/main" id="{D9A8EEA5-2C97-3B65-29BA-4CD0846623E6}"/>
                      </a:ext>
                    </a:extLst>
                  </p:cNvPr>
                  <p:cNvSpPr txBox="1"/>
                  <p:nvPr/>
                </p:nvSpPr>
                <p:spPr>
                  <a:xfrm>
                    <a:off x="11276846" y="3459356"/>
                    <a:ext cx="40424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95" name="xlabel4">
                    <a:extLst>
                      <a:ext uri="{FF2B5EF4-FFF2-40B4-BE49-F238E27FC236}">
                        <a16:creationId xmlns:a16="http://schemas.microsoft.com/office/drawing/2014/main" id="{D9A8EEA5-2C97-3B65-29BA-4CD0846623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76846" y="3459356"/>
                    <a:ext cx="404240" cy="52322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6250" r="-62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6" name="xtick4">
                <a:extLst>
                  <a:ext uri="{FF2B5EF4-FFF2-40B4-BE49-F238E27FC236}">
                    <a16:creationId xmlns:a16="http://schemas.microsoft.com/office/drawing/2014/main" id="{15C4EAC4-49F3-7EB2-5E34-2743A976D4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1394734" y="3318739"/>
                <a:ext cx="21541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xlabel3">
                    <a:extLst>
                      <a:ext uri="{FF2B5EF4-FFF2-40B4-BE49-F238E27FC236}">
                        <a16:creationId xmlns:a16="http://schemas.microsoft.com/office/drawing/2014/main" id="{EF19D48E-1EB0-35C8-243E-84499F64FE56}"/>
                      </a:ext>
                    </a:extLst>
                  </p:cNvPr>
                  <p:cNvSpPr txBox="1"/>
                  <p:nvPr/>
                </p:nvSpPr>
                <p:spPr>
                  <a:xfrm>
                    <a:off x="10561329" y="3459356"/>
                    <a:ext cx="404240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93" name="xlabel3">
                    <a:extLst>
                      <a:ext uri="{FF2B5EF4-FFF2-40B4-BE49-F238E27FC236}">
                        <a16:creationId xmlns:a16="http://schemas.microsoft.com/office/drawing/2014/main" id="{EF19D48E-1EB0-35C8-243E-84499F64FE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61329" y="3459356"/>
                    <a:ext cx="404240" cy="52469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6061" r="-303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4" name="xtick3">
                <a:extLst>
                  <a:ext uri="{FF2B5EF4-FFF2-40B4-BE49-F238E27FC236}">
                    <a16:creationId xmlns:a16="http://schemas.microsoft.com/office/drawing/2014/main" id="{CC8C16CA-4993-5774-24D4-CBF770876C6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679217" y="3318739"/>
                <a:ext cx="21541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xlabel2">
                    <a:extLst>
                      <a:ext uri="{FF2B5EF4-FFF2-40B4-BE49-F238E27FC236}">
                        <a16:creationId xmlns:a16="http://schemas.microsoft.com/office/drawing/2014/main" id="{30BBD0D3-49BB-3F2A-867A-91D2C9EAAFFE}"/>
                      </a:ext>
                    </a:extLst>
                  </p:cNvPr>
                  <p:cNvSpPr txBox="1"/>
                  <p:nvPr/>
                </p:nvSpPr>
                <p:spPr>
                  <a:xfrm>
                    <a:off x="9832139" y="3459356"/>
                    <a:ext cx="404240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91" name="xlabel2">
                    <a:extLst>
                      <a:ext uri="{FF2B5EF4-FFF2-40B4-BE49-F238E27FC236}">
                        <a16:creationId xmlns:a16="http://schemas.microsoft.com/office/drawing/2014/main" id="{30BBD0D3-49BB-3F2A-867A-91D2C9EAAF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32139" y="3459356"/>
                    <a:ext cx="404240" cy="52469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6250" r="-62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2" name="xtick2">
                <a:extLst>
                  <a:ext uri="{FF2B5EF4-FFF2-40B4-BE49-F238E27FC236}">
                    <a16:creationId xmlns:a16="http://schemas.microsoft.com/office/drawing/2014/main" id="{6293151E-435E-ACC3-E626-C2DBB00E49A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950027" y="3318739"/>
                <a:ext cx="21541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xlabel1">
                    <a:extLst>
                      <a:ext uri="{FF2B5EF4-FFF2-40B4-BE49-F238E27FC236}">
                        <a16:creationId xmlns:a16="http://schemas.microsoft.com/office/drawing/2014/main" id="{855D861B-6CA7-C31D-5167-1C9CD2AB675D}"/>
                      </a:ext>
                    </a:extLst>
                  </p:cNvPr>
                  <p:cNvSpPr txBox="1"/>
                  <p:nvPr/>
                </p:nvSpPr>
                <p:spPr>
                  <a:xfrm>
                    <a:off x="9116841" y="3459356"/>
                    <a:ext cx="404240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89" name="xlabel1">
                    <a:extLst>
                      <a:ext uri="{FF2B5EF4-FFF2-40B4-BE49-F238E27FC236}">
                        <a16:creationId xmlns:a16="http://schemas.microsoft.com/office/drawing/2014/main" id="{855D861B-6CA7-C31D-5167-1C9CD2AB67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16841" y="3459356"/>
                    <a:ext cx="404240" cy="52469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6250" r="-62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0" name="xtick1">
                <a:extLst>
                  <a:ext uri="{FF2B5EF4-FFF2-40B4-BE49-F238E27FC236}">
                    <a16:creationId xmlns:a16="http://schemas.microsoft.com/office/drawing/2014/main" id="{0B41DA4A-BC0B-1085-5578-3544DC29157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34729" y="3318739"/>
                <a:ext cx="21541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xlabel-4">
                    <a:extLst>
                      <a:ext uri="{FF2B5EF4-FFF2-40B4-BE49-F238E27FC236}">
                        <a16:creationId xmlns:a16="http://schemas.microsoft.com/office/drawing/2014/main" id="{1A2B8F6B-AE67-6B3E-25F3-3EE753A1B871}"/>
                      </a:ext>
                    </a:extLst>
                  </p:cNvPr>
                  <p:cNvSpPr txBox="1"/>
                  <p:nvPr/>
                </p:nvSpPr>
                <p:spPr>
                  <a:xfrm>
                    <a:off x="5250180" y="3459356"/>
                    <a:ext cx="527094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−4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3" name="xlabel-4">
                    <a:extLst>
                      <a:ext uri="{FF2B5EF4-FFF2-40B4-BE49-F238E27FC236}">
                        <a16:creationId xmlns:a16="http://schemas.microsoft.com/office/drawing/2014/main" id="{1A2B8F6B-AE67-6B3E-25F3-3EE753A1B8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50180" y="3459356"/>
                    <a:ext cx="527094" cy="52322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2558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xlabel-3">
                    <a:extLst>
                      <a:ext uri="{FF2B5EF4-FFF2-40B4-BE49-F238E27FC236}">
                        <a16:creationId xmlns:a16="http://schemas.microsoft.com/office/drawing/2014/main" id="{2714F925-8D4D-DD02-F301-051137790A9A}"/>
                      </a:ext>
                    </a:extLst>
                  </p:cNvPr>
                  <p:cNvSpPr txBox="1"/>
                  <p:nvPr/>
                </p:nvSpPr>
                <p:spPr>
                  <a:xfrm>
                    <a:off x="6006197" y="3459727"/>
                    <a:ext cx="39538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1" name="xlabel-3">
                    <a:extLst>
                      <a:ext uri="{FF2B5EF4-FFF2-40B4-BE49-F238E27FC236}">
                        <a16:creationId xmlns:a16="http://schemas.microsoft.com/office/drawing/2014/main" id="{2714F925-8D4D-DD02-F301-051137790A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6197" y="3459727"/>
                    <a:ext cx="395380" cy="52322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6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xlabel-2">
                    <a:extLst>
                      <a:ext uri="{FF2B5EF4-FFF2-40B4-BE49-F238E27FC236}">
                        <a16:creationId xmlns:a16="http://schemas.microsoft.com/office/drawing/2014/main" id="{E3E98410-23C9-EA5F-7F29-CF63BA37C165}"/>
                      </a:ext>
                    </a:extLst>
                  </p:cNvPr>
                  <p:cNvSpPr txBox="1"/>
                  <p:nvPr/>
                </p:nvSpPr>
                <p:spPr>
                  <a:xfrm>
                    <a:off x="6732222" y="3473821"/>
                    <a:ext cx="37425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0" name="xlabel-2">
                    <a:extLst>
                      <a:ext uri="{FF2B5EF4-FFF2-40B4-BE49-F238E27FC236}">
                        <a16:creationId xmlns:a16="http://schemas.microsoft.com/office/drawing/2014/main" id="{E3E98410-23C9-EA5F-7F29-CF63BA37C1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2222" y="3473821"/>
                    <a:ext cx="374259" cy="52322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7741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xlabel-1">
                    <a:extLst>
                      <a:ext uri="{FF2B5EF4-FFF2-40B4-BE49-F238E27FC236}">
                        <a16:creationId xmlns:a16="http://schemas.microsoft.com/office/drawing/2014/main" id="{852BBAF6-F033-FB3B-043A-6AB62E3277C9}"/>
                      </a:ext>
                    </a:extLst>
                  </p:cNvPr>
                  <p:cNvSpPr txBox="1"/>
                  <p:nvPr/>
                </p:nvSpPr>
                <p:spPr>
                  <a:xfrm>
                    <a:off x="7437126" y="3459356"/>
                    <a:ext cx="325252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9" name="xlabel-1">
                    <a:extLst>
                      <a:ext uri="{FF2B5EF4-FFF2-40B4-BE49-F238E27FC236}">
                        <a16:creationId xmlns:a16="http://schemas.microsoft.com/office/drawing/2014/main" id="{852BBAF6-F033-FB3B-043A-6AB62E3277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37126" y="3459356"/>
                    <a:ext cx="325252" cy="52322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10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7" name="xtick-4">
                <a:extLst>
                  <a:ext uri="{FF2B5EF4-FFF2-40B4-BE49-F238E27FC236}">
                    <a16:creationId xmlns:a16="http://schemas.microsoft.com/office/drawing/2014/main" id="{907B8C26-4D9E-B479-7367-A5BE7EBF3E6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628510" y="3335194"/>
                <a:ext cx="21541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xtick-3">
                <a:extLst>
                  <a:ext uri="{FF2B5EF4-FFF2-40B4-BE49-F238E27FC236}">
                    <a16:creationId xmlns:a16="http://schemas.microsoft.com/office/drawing/2014/main" id="{3E8A0E2D-51A5-FE49-1C89-84163B0C8E4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350735" y="3328093"/>
                <a:ext cx="21541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xtick-2">
                <a:extLst>
                  <a:ext uri="{FF2B5EF4-FFF2-40B4-BE49-F238E27FC236}">
                    <a16:creationId xmlns:a16="http://schemas.microsoft.com/office/drawing/2014/main" id="{179E6879-09F0-21CB-02D4-125F9F24D4D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072986" y="3328598"/>
                <a:ext cx="21541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xtick-1">
                <a:extLst>
                  <a:ext uri="{FF2B5EF4-FFF2-40B4-BE49-F238E27FC236}">
                    <a16:creationId xmlns:a16="http://schemas.microsoft.com/office/drawing/2014/main" id="{CFD2F26F-EEBF-F1AE-7A69-0AFA44E3C39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791661" y="3323838"/>
                <a:ext cx="21541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x轴">
                <a:extLst>
                  <a:ext uri="{FF2B5EF4-FFF2-40B4-BE49-F238E27FC236}">
                    <a16:creationId xmlns:a16="http://schemas.microsoft.com/office/drawing/2014/main" id="{ADDA96AE-FE12-3D03-517A-23462BCC0C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13727" y="3435800"/>
                <a:ext cx="6342119" cy="710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0" name="根轨迹4">
            <a:extLst>
              <a:ext uri="{FF2B5EF4-FFF2-40B4-BE49-F238E27FC236}">
                <a16:creationId xmlns:a16="http://schemas.microsoft.com/office/drawing/2014/main" id="{702ECCC3-C2C0-C642-13C5-6250A08BF062}"/>
              </a:ext>
            </a:extLst>
          </p:cNvPr>
          <p:cNvSpPr/>
          <p:nvPr/>
        </p:nvSpPr>
        <p:spPr>
          <a:xfrm flipH="1" flipV="1">
            <a:off x="7901209" y="3432840"/>
            <a:ext cx="2320192" cy="28198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7266 w 2320192"/>
              <a:gd name="connsiteY2" fmla="*/ 225229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7266 w 2320192"/>
              <a:gd name="connsiteY2" fmla="*/ 225229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7266 w 2320192"/>
              <a:gd name="connsiteY2" fmla="*/ 2252296 h 2819888"/>
              <a:gd name="connsiteX3" fmla="*/ 0 w 2320192"/>
              <a:gd name="connsiteY3" fmla="*/ 0 h 2819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192" h="2819888">
                <a:moveTo>
                  <a:pt x="2320192" y="2819888"/>
                </a:moveTo>
                <a:cubicBezTo>
                  <a:pt x="2105717" y="2818708"/>
                  <a:pt x="2255815" y="2821047"/>
                  <a:pt x="1955312" y="2817446"/>
                </a:cubicBezTo>
                <a:cubicBezTo>
                  <a:pt x="1950877" y="2551897"/>
                  <a:pt x="1961093" y="2519893"/>
                  <a:pt x="1957266" y="2252296"/>
                </a:cubicBezTo>
                <a:cubicBezTo>
                  <a:pt x="1077139" y="2255796"/>
                  <a:pt x="826029" y="632354"/>
                  <a:pt x="0" y="0"/>
                </a:cubicBezTo>
              </a:path>
            </a:pathLst>
          </a:custGeom>
          <a:noFill/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6" name="根轨迹3">
            <a:extLst>
              <a:ext uri="{FF2B5EF4-FFF2-40B4-BE49-F238E27FC236}">
                <a16:creationId xmlns:a16="http://schemas.microsoft.com/office/drawing/2014/main" id="{AC0FDECD-055E-46E0-52B6-D7256B700358}"/>
              </a:ext>
            </a:extLst>
          </p:cNvPr>
          <p:cNvSpPr/>
          <p:nvPr/>
        </p:nvSpPr>
        <p:spPr>
          <a:xfrm flipV="1">
            <a:off x="6322081" y="4016267"/>
            <a:ext cx="1954173" cy="2239114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0916 w 2320192"/>
              <a:gd name="connsiteY1" fmla="*/ 1749181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034442 w 2061434"/>
              <a:gd name="connsiteY0" fmla="*/ 1474665 h 2293553"/>
              <a:gd name="connsiteX1" fmla="*/ 1950916 w 2061434"/>
              <a:gd name="connsiteY1" fmla="*/ 1749181 h 2293553"/>
              <a:gd name="connsiteX2" fmla="*/ 1952869 w 2061434"/>
              <a:gd name="connsiteY2" fmla="*/ 2239108 h 2293553"/>
              <a:gd name="connsiteX3" fmla="*/ 0 w 2061434"/>
              <a:gd name="connsiteY3" fmla="*/ 0 h 2293553"/>
              <a:gd name="connsiteX0" fmla="*/ 1950916 w 1953745"/>
              <a:gd name="connsiteY0" fmla="*/ 1749181 h 2293553"/>
              <a:gd name="connsiteX1" fmla="*/ 1952869 w 1953745"/>
              <a:gd name="connsiteY1" fmla="*/ 2239108 h 2293553"/>
              <a:gd name="connsiteX2" fmla="*/ 0 w 1953745"/>
              <a:gd name="connsiteY2" fmla="*/ 0 h 2293553"/>
              <a:gd name="connsiteX0" fmla="*/ 1950916 w 1953745"/>
              <a:gd name="connsiteY0" fmla="*/ 1749181 h 2293553"/>
              <a:gd name="connsiteX1" fmla="*/ 1952869 w 1953745"/>
              <a:gd name="connsiteY1" fmla="*/ 2239108 h 2293553"/>
              <a:gd name="connsiteX2" fmla="*/ 0 w 1953745"/>
              <a:gd name="connsiteY2" fmla="*/ 0 h 2293553"/>
              <a:gd name="connsiteX0" fmla="*/ 1950916 w 1954173"/>
              <a:gd name="connsiteY0" fmla="*/ 1749181 h 2327910"/>
              <a:gd name="connsiteX1" fmla="*/ 1952869 w 1954173"/>
              <a:gd name="connsiteY1" fmla="*/ 2239108 h 2327910"/>
              <a:gd name="connsiteX2" fmla="*/ 0 w 1954173"/>
              <a:gd name="connsiteY2" fmla="*/ 0 h 2327910"/>
              <a:gd name="connsiteX0" fmla="*/ 1950916 w 1954173"/>
              <a:gd name="connsiteY0" fmla="*/ 1749181 h 2239114"/>
              <a:gd name="connsiteX1" fmla="*/ 1952869 w 1954173"/>
              <a:gd name="connsiteY1" fmla="*/ 2239108 h 2239114"/>
              <a:gd name="connsiteX2" fmla="*/ 0 w 1954173"/>
              <a:gd name="connsiteY2" fmla="*/ 0 h 2239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4173" h="2239114">
                <a:moveTo>
                  <a:pt x="1950916" y="1749181"/>
                </a:moveTo>
                <a:cubicBezTo>
                  <a:pt x="1950878" y="1976002"/>
                  <a:pt x="1956697" y="1979166"/>
                  <a:pt x="1952869" y="2239108"/>
                </a:cubicBezTo>
                <a:cubicBezTo>
                  <a:pt x="1072742" y="2242608"/>
                  <a:pt x="491921" y="887331"/>
                  <a:pt x="0" y="0"/>
                </a:cubicBezTo>
              </a:path>
            </a:pathLst>
          </a:custGeom>
          <a:noFill/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4" name="根轨迹2">
            <a:extLst>
              <a:ext uri="{FF2B5EF4-FFF2-40B4-BE49-F238E27FC236}">
                <a16:creationId xmlns:a16="http://schemas.microsoft.com/office/drawing/2014/main" id="{308F865B-660A-BAC2-6CE2-B44E3CC036FB}"/>
              </a:ext>
            </a:extLst>
          </p:cNvPr>
          <p:cNvSpPr/>
          <p:nvPr/>
        </p:nvSpPr>
        <p:spPr>
          <a:xfrm flipH="1">
            <a:off x="8267228" y="619462"/>
            <a:ext cx="1954173" cy="2239114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0916 w 2320192"/>
              <a:gd name="connsiteY1" fmla="*/ 1749181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034442 w 2061434"/>
              <a:gd name="connsiteY0" fmla="*/ 1474665 h 2293553"/>
              <a:gd name="connsiteX1" fmla="*/ 1950916 w 2061434"/>
              <a:gd name="connsiteY1" fmla="*/ 1749181 h 2293553"/>
              <a:gd name="connsiteX2" fmla="*/ 1952869 w 2061434"/>
              <a:gd name="connsiteY2" fmla="*/ 2239108 h 2293553"/>
              <a:gd name="connsiteX3" fmla="*/ 0 w 2061434"/>
              <a:gd name="connsiteY3" fmla="*/ 0 h 2293553"/>
              <a:gd name="connsiteX0" fmla="*/ 1950916 w 1953745"/>
              <a:gd name="connsiteY0" fmla="*/ 1749181 h 2293553"/>
              <a:gd name="connsiteX1" fmla="*/ 1952869 w 1953745"/>
              <a:gd name="connsiteY1" fmla="*/ 2239108 h 2293553"/>
              <a:gd name="connsiteX2" fmla="*/ 0 w 1953745"/>
              <a:gd name="connsiteY2" fmla="*/ 0 h 2293553"/>
              <a:gd name="connsiteX0" fmla="*/ 1950916 w 1953745"/>
              <a:gd name="connsiteY0" fmla="*/ 1749181 h 2293553"/>
              <a:gd name="connsiteX1" fmla="*/ 1952869 w 1953745"/>
              <a:gd name="connsiteY1" fmla="*/ 2239108 h 2293553"/>
              <a:gd name="connsiteX2" fmla="*/ 0 w 1953745"/>
              <a:gd name="connsiteY2" fmla="*/ 0 h 2293553"/>
              <a:gd name="connsiteX0" fmla="*/ 1950916 w 1954173"/>
              <a:gd name="connsiteY0" fmla="*/ 1749181 h 2327910"/>
              <a:gd name="connsiteX1" fmla="*/ 1952869 w 1954173"/>
              <a:gd name="connsiteY1" fmla="*/ 2239108 h 2327910"/>
              <a:gd name="connsiteX2" fmla="*/ 0 w 1954173"/>
              <a:gd name="connsiteY2" fmla="*/ 0 h 2327910"/>
              <a:gd name="connsiteX0" fmla="*/ 1950916 w 1954173"/>
              <a:gd name="connsiteY0" fmla="*/ 1749181 h 2239114"/>
              <a:gd name="connsiteX1" fmla="*/ 1952869 w 1954173"/>
              <a:gd name="connsiteY1" fmla="*/ 2239108 h 2239114"/>
              <a:gd name="connsiteX2" fmla="*/ 0 w 1954173"/>
              <a:gd name="connsiteY2" fmla="*/ 0 h 2239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4173" h="2239114">
                <a:moveTo>
                  <a:pt x="1950916" y="1749181"/>
                </a:moveTo>
                <a:cubicBezTo>
                  <a:pt x="1950878" y="1976002"/>
                  <a:pt x="1956697" y="1979166"/>
                  <a:pt x="1952869" y="2239108"/>
                </a:cubicBezTo>
                <a:cubicBezTo>
                  <a:pt x="1072742" y="2242608"/>
                  <a:pt x="491921" y="887331"/>
                  <a:pt x="0" y="0"/>
                </a:cubicBezTo>
              </a:path>
            </a:pathLst>
          </a:custGeom>
          <a:noFill/>
          <a:ln w="38100">
            <a:solidFill>
              <a:srgbClr val="159F84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9" name="根轨迹1">
            <a:extLst>
              <a:ext uri="{FF2B5EF4-FFF2-40B4-BE49-F238E27FC236}">
                <a16:creationId xmlns:a16="http://schemas.microsoft.com/office/drawing/2014/main" id="{7B52F985-9E48-9823-CD37-CD0874D2E9C8}"/>
              </a:ext>
            </a:extLst>
          </p:cNvPr>
          <p:cNvSpPr/>
          <p:nvPr/>
        </p:nvSpPr>
        <p:spPr>
          <a:xfrm>
            <a:off x="6311875" y="616219"/>
            <a:ext cx="2320192" cy="281988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192" h="2819888">
                <a:moveTo>
                  <a:pt x="2320192" y="2819888"/>
                </a:moveTo>
                <a:cubicBezTo>
                  <a:pt x="2105717" y="2818708"/>
                  <a:pt x="2255815" y="2821047"/>
                  <a:pt x="1955312" y="2817446"/>
                </a:cubicBezTo>
                <a:cubicBezTo>
                  <a:pt x="1950878" y="2507936"/>
                  <a:pt x="1956697" y="2546270"/>
                  <a:pt x="1952869" y="2239108"/>
                </a:cubicBezTo>
                <a:cubicBezTo>
                  <a:pt x="1072742" y="2242608"/>
                  <a:pt x="826029" y="632354"/>
                  <a:pt x="0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8" name="极点4">
            <a:extLst>
              <a:ext uri="{FF2B5EF4-FFF2-40B4-BE49-F238E27FC236}">
                <a16:creationId xmlns:a16="http://schemas.microsoft.com/office/drawing/2014/main" id="{E71FB916-254E-AE46-610D-1D12D6FAC5F8}"/>
              </a:ext>
            </a:extLst>
          </p:cNvPr>
          <p:cNvSpPr/>
          <p:nvPr/>
        </p:nvSpPr>
        <p:spPr>
          <a:xfrm>
            <a:off x="7726104" y="3255800"/>
            <a:ext cx="360000" cy="360000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46" name="极点3">
            <a:extLst>
              <a:ext uri="{FF2B5EF4-FFF2-40B4-BE49-F238E27FC236}">
                <a16:creationId xmlns:a16="http://schemas.microsoft.com/office/drawing/2014/main" id="{B8370DAA-4D18-6947-7E55-A577D76E5765}"/>
              </a:ext>
            </a:extLst>
          </p:cNvPr>
          <p:cNvSpPr/>
          <p:nvPr/>
        </p:nvSpPr>
        <p:spPr>
          <a:xfrm>
            <a:off x="8102640" y="4345478"/>
            <a:ext cx="360000" cy="360000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74" name="极点2">
            <a:extLst>
              <a:ext uri="{FF2B5EF4-FFF2-40B4-BE49-F238E27FC236}">
                <a16:creationId xmlns:a16="http://schemas.microsoft.com/office/drawing/2014/main" id="{570D5BFE-5973-CBA5-DD96-76697FECF3BC}"/>
              </a:ext>
            </a:extLst>
          </p:cNvPr>
          <p:cNvSpPr/>
          <p:nvPr/>
        </p:nvSpPr>
        <p:spPr>
          <a:xfrm>
            <a:off x="8087681" y="2173223"/>
            <a:ext cx="360000" cy="360000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47" name="极点1">
            <a:extLst>
              <a:ext uri="{FF2B5EF4-FFF2-40B4-BE49-F238E27FC236}">
                <a16:creationId xmlns:a16="http://schemas.microsoft.com/office/drawing/2014/main" id="{F990C884-C1D1-9728-B477-5393D0DC837B}"/>
              </a:ext>
            </a:extLst>
          </p:cNvPr>
          <p:cNvSpPr/>
          <p:nvPr/>
        </p:nvSpPr>
        <p:spPr>
          <a:xfrm>
            <a:off x="8464687" y="3253090"/>
            <a:ext cx="360000" cy="360000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开环传函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/>
              <p:nvPr/>
            </p:nvSpPr>
            <p:spPr>
              <a:xfrm>
                <a:off x="299244" y="1286177"/>
                <a:ext cx="5400591" cy="990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+1)(</m:t>
                          </m:r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开环传函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44" y="1286177"/>
                <a:ext cx="5400591" cy="990849"/>
              </a:xfrm>
              <a:prstGeom prst="rect">
                <a:avLst/>
              </a:prstGeom>
              <a:blipFill>
                <a:blip r:embed="rId21"/>
                <a:stretch>
                  <a:fillRect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分离点例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分离点3">
            <a:extLst>
              <a:ext uri="{FF2B5EF4-FFF2-40B4-BE49-F238E27FC236}">
                <a16:creationId xmlns:a16="http://schemas.microsoft.com/office/drawing/2014/main" id="{B42A1CCB-FF15-42A5-FC4E-1C5357C4B078}"/>
              </a:ext>
            </a:extLst>
          </p:cNvPr>
          <p:cNvSpPr/>
          <p:nvPr/>
        </p:nvSpPr>
        <p:spPr>
          <a:xfrm>
            <a:off x="8206305" y="3935665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分离点2">
            <a:extLst>
              <a:ext uri="{FF2B5EF4-FFF2-40B4-BE49-F238E27FC236}">
                <a16:creationId xmlns:a16="http://schemas.microsoft.com/office/drawing/2014/main" id="{9BBC83F6-67A1-C841-6936-7066A2B12D21}"/>
              </a:ext>
            </a:extLst>
          </p:cNvPr>
          <p:cNvSpPr/>
          <p:nvPr/>
        </p:nvSpPr>
        <p:spPr>
          <a:xfrm>
            <a:off x="8206305" y="2788267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1" name="分离点1">
            <a:extLst>
              <a:ext uri="{FF2B5EF4-FFF2-40B4-BE49-F238E27FC236}">
                <a16:creationId xmlns:a16="http://schemas.microsoft.com/office/drawing/2014/main" id="{0444A008-3027-A917-D69F-50EDC896045A}"/>
              </a:ext>
            </a:extLst>
          </p:cNvPr>
          <p:cNvSpPr/>
          <p:nvPr/>
        </p:nvSpPr>
        <p:spPr>
          <a:xfrm>
            <a:off x="8208844" y="3374831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7" name="图片 106">
            <a:extLst>
              <a:ext uri="{FF2B5EF4-FFF2-40B4-BE49-F238E27FC236}">
                <a16:creationId xmlns:a16="http://schemas.microsoft.com/office/drawing/2014/main" id="{9C6B0DE2-5B5E-2092-6BC9-6864B6A3958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040235" flipH="1">
            <a:off x="6620807" y="2870519"/>
            <a:ext cx="1633381" cy="194586"/>
          </a:xfrm>
          <a:prstGeom prst="rect">
            <a:avLst/>
          </a:prstGeom>
          <a:ln>
            <a:noFill/>
          </a:ln>
        </p:spPr>
      </p:pic>
      <p:sp>
        <p:nvSpPr>
          <p:cNvPr id="109" name="文本框 108">
            <a:extLst>
              <a:ext uri="{FF2B5EF4-FFF2-40B4-BE49-F238E27FC236}">
                <a16:creationId xmlns:a16="http://schemas.microsoft.com/office/drawing/2014/main" id="{38DC7E7C-075F-FC15-121A-5612D7FDD172}"/>
              </a:ext>
            </a:extLst>
          </p:cNvPr>
          <p:cNvSpPr txBox="1"/>
          <p:nvPr/>
        </p:nvSpPr>
        <p:spPr>
          <a:xfrm>
            <a:off x="5380578" y="2647254"/>
            <a:ext cx="1311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分离点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A36A3F14-BCA2-7EF1-1224-2BF18CCF13E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040235" flipH="1" flipV="1">
            <a:off x="6590579" y="4058815"/>
            <a:ext cx="1692266" cy="201601"/>
          </a:xfrm>
          <a:prstGeom prst="rect">
            <a:avLst/>
          </a:prstGeom>
          <a:ln>
            <a:noFill/>
          </a:ln>
        </p:spPr>
      </p:pic>
      <p:sp>
        <p:nvSpPr>
          <p:cNvPr id="111" name="文本框 110">
            <a:extLst>
              <a:ext uri="{FF2B5EF4-FFF2-40B4-BE49-F238E27FC236}">
                <a16:creationId xmlns:a16="http://schemas.microsoft.com/office/drawing/2014/main" id="{0ADB718B-0DAE-4C7F-ECF6-71BF7181DE29}"/>
              </a:ext>
            </a:extLst>
          </p:cNvPr>
          <p:cNvSpPr txBox="1"/>
          <p:nvPr/>
        </p:nvSpPr>
        <p:spPr>
          <a:xfrm>
            <a:off x="5347657" y="4095887"/>
            <a:ext cx="1311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分离点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F34D819B-CEBB-DAD9-DDA3-C8F20FAEB324}"/>
              </a:ext>
            </a:extLst>
          </p:cNvPr>
          <p:cNvSpPr txBox="1"/>
          <p:nvPr/>
        </p:nvSpPr>
        <p:spPr>
          <a:xfrm>
            <a:off x="560658" y="2987534"/>
            <a:ext cx="42172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具有</a:t>
            </a:r>
            <a:r>
              <a:rPr kumimoji="1" lang="zh-CN" altLang="en-US" sz="2800" dirty="0">
                <a:solidFill>
                  <a:srgbClr val="E448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三个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分离点，显然其中两个不在实轴上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3" name="图片 112">
            <a:extLst>
              <a:ext uri="{FF2B5EF4-FFF2-40B4-BE49-F238E27FC236}">
                <a16:creationId xmlns:a16="http://schemas.microsoft.com/office/drawing/2014/main" id="{83E44E2C-274A-5394-5AB4-01ABE7E51B2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9218438" flipH="1">
            <a:off x="8185599" y="3016549"/>
            <a:ext cx="1633381" cy="194586"/>
          </a:xfrm>
          <a:prstGeom prst="rect">
            <a:avLst/>
          </a:prstGeom>
          <a:ln>
            <a:noFill/>
          </a:ln>
        </p:spPr>
      </p:pic>
      <p:sp>
        <p:nvSpPr>
          <p:cNvPr id="114" name="文本框 113">
            <a:extLst>
              <a:ext uri="{FF2B5EF4-FFF2-40B4-BE49-F238E27FC236}">
                <a16:creationId xmlns:a16="http://schemas.microsoft.com/office/drawing/2014/main" id="{5589A5A3-9023-2F8E-ADFF-09200055A827}"/>
              </a:ext>
            </a:extLst>
          </p:cNvPr>
          <p:cNvSpPr txBox="1"/>
          <p:nvPr/>
        </p:nvSpPr>
        <p:spPr>
          <a:xfrm>
            <a:off x="9787983" y="2489199"/>
            <a:ext cx="13118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分离点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6686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>
            <a:extLst>
              <a:ext uri="{FF2B5EF4-FFF2-40B4-BE49-F238E27FC236}">
                <a16:creationId xmlns:a16="http://schemas.microsoft.com/office/drawing/2014/main" id="{742BD414-01AD-3EC2-3762-946AC7A63770}"/>
              </a:ext>
            </a:extLst>
          </p:cNvPr>
          <p:cNvSpPr txBox="1"/>
          <p:nvPr/>
        </p:nvSpPr>
        <p:spPr>
          <a:xfrm>
            <a:off x="190550" y="4149725"/>
            <a:ext cx="118813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无零点时右端为 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法则 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是必要条件，只有</a:t>
            </a:r>
            <a:r>
              <a:rPr kumimoji="1" lang="zh-CN" altLang="en-US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满足分离点方程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又</a:t>
            </a:r>
            <a:r>
              <a:rPr kumimoji="1" lang="zh-CN" altLang="en-US" sz="2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属于根轨迹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的点才是分离点；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实轴上，相邻两个开环极点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或相邻开环零点</a:t>
            </a:r>
            <a:r>
              <a: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之间的根轨迹上必有分离点；相邻开环零点和极点之间可能有分离点。</a:t>
            </a:r>
            <a:endParaRPr kumimoji="1" lang="en-US" altLang="zh-CN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根轨迹可能有不止一个分离点；分离点不一定在实轴上。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/>
              <p:nvPr/>
            </p:nvSpPr>
            <p:spPr>
              <a:xfrm>
                <a:off x="2350790" y="955619"/>
                <a:ext cx="4270646" cy="13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f>
                            <m:fPr>
                              <m:ctrl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790" y="955619"/>
                <a:ext cx="4270646" cy="1317348"/>
              </a:xfrm>
              <a:prstGeom prst="rect">
                <a:avLst/>
              </a:prstGeom>
              <a:blipFill>
                <a:blip r:embed="rId3"/>
                <a:stretch>
                  <a:fillRect l="-21662" t="-102857" b="-15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08432F3-B0EA-7ED4-CCB2-4099AA0F559F}"/>
                  </a:ext>
                </a:extLst>
              </p:cNvPr>
              <p:cNvSpPr txBox="1"/>
              <p:nvPr/>
            </p:nvSpPr>
            <p:spPr>
              <a:xfrm>
                <a:off x="2332329" y="2200112"/>
                <a:ext cx="3033616" cy="985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08432F3-B0EA-7ED4-CCB2-4099AA0F5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329" y="2200112"/>
                <a:ext cx="3033616" cy="985526"/>
              </a:xfrm>
              <a:prstGeom prst="rect">
                <a:avLst/>
              </a:prstGeom>
              <a:blipFill>
                <a:blip r:embed="rId4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FA04E8C3-8AC1-770B-81F2-52F23136F11C}"/>
              </a:ext>
            </a:extLst>
          </p:cNvPr>
          <p:cNvGrpSpPr/>
          <p:nvPr/>
        </p:nvGrpSpPr>
        <p:grpSpPr>
          <a:xfrm>
            <a:off x="6007993" y="2408713"/>
            <a:ext cx="5459118" cy="599123"/>
            <a:chOff x="6007993" y="2408713"/>
            <a:chExt cx="5459118" cy="599123"/>
          </a:xfrm>
        </p:grpSpPr>
        <p:sp>
          <p:nvSpPr>
            <p:cNvPr id="34" name="燕尾形 33">
              <a:extLst>
                <a:ext uri="{FF2B5EF4-FFF2-40B4-BE49-F238E27FC236}">
                  <a16:creationId xmlns:a16="http://schemas.microsoft.com/office/drawing/2014/main" id="{D56E8B37-0290-DDE9-B474-6095A15832A8}"/>
                </a:ext>
              </a:extLst>
            </p:cNvPr>
            <p:cNvSpPr/>
            <p:nvPr/>
          </p:nvSpPr>
          <p:spPr>
            <a:xfrm>
              <a:off x="6007993" y="2508614"/>
              <a:ext cx="359074" cy="432048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A11D6AC-3AF2-DC1B-3FEE-1C96BF6C41F8}"/>
                </a:ext>
              </a:extLst>
            </p:cNvPr>
            <p:cNvSpPr txBox="1"/>
            <p:nvPr/>
          </p:nvSpPr>
          <p:spPr>
            <a:xfrm>
              <a:off x="6499967" y="2408713"/>
              <a:ext cx="4967144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solidFill>
                    <a:schemeClr val="bg1"/>
                  </a:solidFill>
                </a:rPr>
                <a:t>分离点处相邻分支的切线夹角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小标题2">
                <a:extLst>
                  <a:ext uri="{FF2B5EF4-FFF2-40B4-BE49-F238E27FC236}">
                    <a16:creationId xmlns:a16="http://schemas.microsoft.com/office/drawing/2014/main" id="{6D83A95C-C657-4B31-E9BA-1926473F8EF2}"/>
                  </a:ext>
                </a:extLst>
              </p:cNvPr>
              <p:cNvSpPr/>
              <p:nvPr/>
            </p:nvSpPr>
            <p:spPr bwMode="auto">
              <a:xfrm>
                <a:off x="253183" y="2444634"/>
                <a:ext cx="1809576" cy="576000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zh-CN" altLang="en-US" sz="3200" b="1" dirty="0">
                    <a:solidFill>
                      <a:schemeClr val="bg1"/>
                    </a:solidFill>
                    <a:latin typeface="Stencil" panose="040409050D0802020404" pitchFamily="82" charset="0"/>
                  </a:rPr>
                  <a:t>分离角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endPara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endParaRPr>
              </a:p>
            </p:txBody>
          </p:sp>
        </mc:Choice>
        <mc:Fallback xmlns="">
          <p:sp>
            <p:nvSpPr>
              <p:cNvPr id="19" name="小标题2">
                <a:extLst>
                  <a:ext uri="{FF2B5EF4-FFF2-40B4-BE49-F238E27FC236}">
                    <a16:creationId xmlns:a16="http://schemas.microsoft.com/office/drawing/2014/main" id="{6D83A95C-C657-4B31-E9BA-1926473F8E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183" y="2444634"/>
                <a:ext cx="1809576" cy="5760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小标题1">
                <a:extLst>
                  <a:ext uri="{FF2B5EF4-FFF2-40B4-BE49-F238E27FC236}">
                    <a16:creationId xmlns:a16="http://schemas.microsoft.com/office/drawing/2014/main" id="{A59AB7D4-9022-BD1B-3BE2-9D01AB19DA25}"/>
                  </a:ext>
                </a:extLst>
              </p:cNvPr>
              <p:cNvSpPr/>
              <p:nvPr/>
            </p:nvSpPr>
            <p:spPr bwMode="auto">
              <a:xfrm>
                <a:off x="253183" y="1103874"/>
                <a:ext cx="1809576" cy="576000"/>
              </a:xfrm>
              <a:prstGeom prst="roundRect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zh-CN" altLang="en-US" sz="3200" b="1" dirty="0">
                    <a:solidFill>
                      <a:schemeClr val="bg1"/>
                    </a:solidFill>
                    <a:latin typeface="Stencil" panose="040409050D0802020404" pitchFamily="82" charset="0"/>
                  </a:rPr>
                  <a:t>分离点</a:t>
                </a:r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endPara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endParaRPr>
              </a:p>
            </p:txBody>
          </p:sp>
        </mc:Choice>
        <mc:Fallback xmlns="">
          <p:sp>
            <p:nvSpPr>
              <p:cNvPr id="17" name="小标题1">
                <a:extLst>
                  <a:ext uri="{FF2B5EF4-FFF2-40B4-BE49-F238E27FC236}">
                    <a16:creationId xmlns:a16="http://schemas.microsoft.com/office/drawing/2014/main" id="{A59AB7D4-9022-BD1B-3BE2-9D01AB19DA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183" y="1103874"/>
                <a:ext cx="1809576" cy="5760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副标题">
            <a:extLst>
              <a:ext uri="{FF2B5EF4-FFF2-40B4-BE49-F238E27FC236}">
                <a16:creationId xmlns:a16="http://schemas.microsoft.com/office/drawing/2014/main" id="{1FA167F4-2707-C0AF-5830-FE95267988D3}"/>
              </a:ext>
            </a:extLst>
          </p:cNvPr>
          <p:cNvGrpSpPr/>
          <p:nvPr/>
        </p:nvGrpSpPr>
        <p:grpSpPr>
          <a:xfrm>
            <a:off x="6096000" y="281940"/>
            <a:ext cx="4765133" cy="725177"/>
            <a:chOff x="4943078" y="1700704"/>
            <a:chExt cx="4765133" cy="725177"/>
          </a:xfrm>
        </p:grpSpPr>
        <p:sp>
          <p:nvSpPr>
            <p:cNvPr id="24" name="标题">
              <a:extLst>
                <a:ext uri="{FF2B5EF4-FFF2-40B4-BE49-F238E27FC236}">
                  <a16:creationId xmlns:a16="http://schemas.microsoft.com/office/drawing/2014/main" id="{5950F111-9238-004C-E659-30389BC160D6}"/>
                </a:ext>
              </a:extLst>
            </p:cNvPr>
            <p:cNvSpPr/>
            <p:nvPr/>
          </p:nvSpPr>
          <p:spPr bwMode="auto">
            <a:xfrm>
              <a:off x="5375126" y="1769619"/>
              <a:ext cx="4333085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分离点与分离角</a:t>
              </a:r>
            </a:p>
          </p:txBody>
        </p:sp>
        <p:sp>
          <p:nvSpPr>
            <p:cNvPr id="26" name="序号">
              <a:extLst>
                <a:ext uri="{FF2B5EF4-FFF2-40B4-BE49-F238E27FC236}">
                  <a16:creationId xmlns:a16="http://schemas.microsoft.com/office/drawing/2014/main" id="{EF35A6C4-49B5-17AF-B23C-4174AB75D66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绘制根轨迹的基本法则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5DFE900E-F101-C971-2EBE-71A24A6C7C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012396" flipH="1" flipV="1">
            <a:off x="4471473" y="3099697"/>
            <a:ext cx="1435447" cy="171006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EB56E385-2053-0596-423B-AFEF043A0FF2}"/>
              </a:ext>
            </a:extLst>
          </p:cNvPr>
          <p:cNvSpPr txBox="1"/>
          <p:nvPr/>
        </p:nvSpPr>
        <p:spPr>
          <a:xfrm>
            <a:off x="6007993" y="3105228"/>
            <a:ext cx="1381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分支数</a:t>
            </a:r>
          </a:p>
        </p:txBody>
      </p:sp>
    </p:spTree>
    <p:extLst>
      <p:ext uri="{BB962C8B-B14F-4D97-AF65-F5344CB8AC3E}">
        <p14:creationId xmlns:p14="http://schemas.microsoft.com/office/powerpoint/2010/main" val="14946084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5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uild="p"/>
      <p:bldP spid="20" grpId="0"/>
      <p:bldP spid="21" grpId="0"/>
      <p:bldP spid="19" grpId="0" animBg="1"/>
      <p:bldP spid="17" grpId="0" animBg="1"/>
      <p:bldP spid="45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坐标轴">
            <a:extLst>
              <a:ext uri="{FF2B5EF4-FFF2-40B4-BE49-F238E27FC236}">
                <a16:creationId xmlns:a16="http://schemas.microsoft.com/office/drawing/2014/main" id="{BDD79F40-73D8-29EC-CA63-EC8D6616B1F4}"/>
              </a:ext>
            </a:extLst>
          </p:cNvPr>
          <p:cNvGrpSpPr/>
          <p:nvPr/>
        </p:nvGrpSpPr>
        <p:grpSpPr>
          <a:xfrm>
            <a:off x="8595127" y="1196752"/>
            <a:ext cx="2342307" cy="4741714"/>
            <a:chOff x="8595127" y="1196752"/>
            <a:chExt cx="2342307" cy="4741714"/>
          </a:xfrm>
        </p:grpSpPr>
        <p:cxnSp>
          <p:nvCxnSpPr>
            <p:cNvPr id="43" name="实轴">
              <a:extLst>
                <a:ext uri="{FF2B5EF4-FFF2-40B4-BE49-F238E27FC236}">
                  <a16:creationId xmlns:a16="http://schemas.microsoft.com/office/drawing/2014/main" id="{ADDA96AE-FE12-3D03-517A-23462BCC0CA6}"/>
                </a:ext>
              </a:extLst>
            </p:cNvPr>
            <p:cNvCxnSpPr>
              <a:cxnSpLocks/>
            </p:cNvCxnSpPr>
            <p:nvPr/>
          </p:nvCxnSpPr>
          <p:spPr>
            <a:xfrm>
              <a:off x="8595127" y="3678072"/>
              <a:ext cx="213949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虚轴">
              <a:extLst>
                <a:ext uri="{FF2B5EF4-FFF2-40B4-BE49-F238E27FC236}">
                  <a16:creationId xmlns:a16="http://schemas.microsoft.com/office/drawing/2014/main" id="{B4F167F5-4B4A-3B66-66CF-556A7B339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75660" y="1545978"/>
              <a:ext cx="0" cy="43924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labelj">
                  <a:extLst>
                    <a:ext uri="{FF2B5EF4-FFF2-40B4-BE49-F238E27FC236}">
                      <a16:creationId xmlns:a16="http://schemas.microsoft.com/office/drawing/2014/main" id="{2F56F1F5-44F7-AF26-00A4-BAA5716ADDC0}"/>
                    </a:ext>
                  </a:extLst>
                </p:cNvPr>
                <p:cNvSpPr txBox="1"/>
                <p:nvPr/>
              </p:nvSpPr>
              <p:spPr>
                <a:xfrm>
                  <a:off x="10275660" y="1196752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8" name="labelj">
                  <a:extLst>
                    <a:ext uri="{FF2B5EF4-FFF2-40B4-BE49-F238E27FC236}">
                      <a16:creationId xmlns:a16="http://schemas.microsoft.com/office/drawing/2014/main" id="{2F56F1F5-44F7-AF26-00A4-BAA5716AD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5660" y="1196752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label0">
                  <a:extLst>
                    <a:ext uri="{FF2B5EF4-FFF2-40B4-BE49-F238E27FC236}">
                      <a16:creationId xmlns:a16="http://schemas.microsoft.com/office/drawing/2014/main" id="{52E8DE49-E601-C1BF-A858-50CFF27EB174}"/>
                    </a:ext>
                  </a:extLst>
                </p:cNvPr>
                <p:cNvSpPr txBox="1"/>
                <p:nvPr/>
              </p:nvSpPr>
              <p:spPr>
                <a:xfrm>
                  <a:off x="10213916" y="3599910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label0">
                  <a:extLst>
                    <a:ext uri="{FF2B5EF4-FFF2-40B4-BE49-F238E27FC236}">
                      <a16:creationId xmlns:a16="http://schemas.microsoft.com/office/drawing/2014/main" id="{52E8DE49-E601-C1BF-A858-50CFF27EB1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3916" y="3599910"/>
                  <a:ext cx="520701" cy="52469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tick1">
              <a:extLst>
                <a:ext uri="{FF2B5EF4-FFF2-40B4-BE49-F238E27FC236}">
                  <a16:creationId xmlns:a16="http://schemas.microsoft.com/office/drawing/2014/main" id="{BD642B27-0FBD-4E61-E0F6-67076E6F2D47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293088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tick-1">
              <a:extLst>
                <a:ext uri="{FF2B5EF4-FFF2-40B4-BE49-F238E27FC236}">
                  <a16:creationId xmlns:a16="http://schemas.microsoft.com/office/drawing/2014/main" id="{698CB20C-B1EE-9542-3826-004E8AD7B946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442526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tick-2">
              <a:extLst>
                <a:ext uri="{FF2B5EF4-FFF2-40B4-BE49-F238E27FC236}">
                  <a16:creationId xmlns:a16="http://schemas.microsoft.com/office/drawing/2014/main" id="{EBD3A8E0-2B71-AC34-B21A-FBAB2A23E40E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517245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tick2">
              <a:extLst>
                <a:ext uri="{FF2B5EF4-FFF2-40B4-BE49-F238E27FC236}">
                  <a16:creationId xmlns:a16="http://schemas.microsoft.com/office/drawing/2014/main" id="{463577E2-6CBB-70F5-1604-62C737241813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218369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label1">
                  <a:extLst>
                    <a:ext uri="{FF2B5EF4-FFF2-40B4-BE49-F238E27FC236}">
                      <a16:creationId xmlns:a16="http://schemas.microsoft.com/office/drawing/2014/main" id="{9CB1BFCC-5737-595F-A04A-49E1593A3955}"/>
                    </a:ext>
                  </a:extLst>
                </p:cNvPr>
                <p:cNvSpPr txBox="1"/>
                <p:nvPr/>
              </p:nvSpPr>
              <p:spPr>
                <a:xfrm>
                  <a:off x="10450938" y="2669272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2" name="label1">
                  <a:extLst>
                    <a:ext uri="{FF2B5EF4-FFF2-40B4-BE49-F238E27FC236}">
                      <a16:creationId xmlns:a16="http://schemas.microsoft.com/office/drawing/2014/main" id="{9CB1BFCC-5737-595F-A04A-49E1593A39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938" y="2669272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label2">
                  <a:extLst>
                    <a:ext uri="{FF2B5EF4-FFF2-40B4-BE49-F238E27FC236}">
                      <a16:creationId xmlns:a16="http://schemas.microsoft.com/office/drawing/2014/main" id="{9D7C0A6B-EB41-E864-C05F-98B92D5C0580}"/>
                    </a:ext>
                  </a:extLst>
                </p:cNvPr>
                <p:cNvSpPr txBox="1"/>
                <p:nvPr/>
              </p:nvSpPr>
              <p:spPr>
                <a:xfrm>
                  <a:off x="10456248" y="192827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4" name="label2">
                  <a:extLst>
                    <a:ext uri="{FF2B5EF4-FFF2-40B4-BE49-F238E27FC236}">
                      <a16:creationId xmlns:a16="http://schemas.microsoft.com/office/drawing/2014/main" id="{9D7C0A6B-EB41-E864-C05F-98B92D5C0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6248" y="1928278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label-1">
                  <a:extLst>
                    <a:ext uri="{FF2B5EF4-FFF2-40B4-BE49-F238E27FC236}">
                      <a16:creationId xmlns:a16="http://schemas.microsoft.com/office/drawing/2014/main" id="{F2102832-36D4-C639-4E99-019C65F313EE}"/>
                    </a:ext>
                  </a:extLst>
                </p:cNvPr>
                <p:cNvSpPr txBox="1"/>
                <p:nvPr/>
              </p:nvSpPr>
              <p:spPr>
                <a:xfrm>
                  <a:off x="10416733" y="41593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-1">
                  <a:extLst>
                    <a:ext uri="{FF2B5EF4-FFF2-40B4-BE49-F238E27FC236}">
                      <a16:creationId xmlns:a16="http://schemas.microsoft.com/office/drawing/2014/main" id="{F2102832-36D4-C639-4E99-019C65F313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733" y="4159373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label-2">
                  <a:extLst>
                    <a:ext uri="{FF2B5EF4-FFF2-40B4-BE49-F238E27FC236}">
                      <a16:creationId xmlns:a16="http://schemas.microsoft.com/office/drawing/2014/main" id="{7FB83E9A-2039-8046-0AA8-71238C3BB42B}"/>
                    </a:ext>
                  </a:extLst>
                </p:cNvPr>
                <p:cNvSpPr txBox="1"/>
                <p:nvPr/>
              </p:nvSpPr>
              <p:spPr>
                <a:xfrm>
                  <a:off x="10416733" y="489756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8" name="label-2">
                  <a:extLst>
                    <a:ext uri="{FF2B5EF4-FFF2-40B4-BE49-F238E27FC236}">
                      <a16:creationId xmlns:a16="http://schemas.microsoft.com/office/drawing/2014/main" id="{7FB83E9A-2039-8046-0AA8-71238C3BB4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733" y="4897563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渐近线">
            <a:extLst>
              <a:ext uri="{FF2B5EF4-FFF2-40B4-BE49-F238E27FC236}">
                <a16:creationId xmlns:a16="http://schemas.microsoft.com/office/drawing/2014/main" id="{A683D0EC-3F35-7D01-7745-4DDE0AD5CA2E}"/>
              </a:ext>
            </a:extLst>
          </p:cNvPr>
          <p:cNvGrpSpPr/>
          <p:nvPr/>
        </p:nvGrpSpPr>
        <p:grpSpPr>
          <a:xfrm>
            <a:off x="7670800" y="1679874"/>
            <a:ext cx="2999986" cy="3980911"/>
            <a:chOff x="7670800" y="1679874"/>
            <a:chExt cx="2999986" cy="3980911"/>
          </a:xfrm>
        </p:grpSpPr>
        <p:cxnSp>
          <p:nvCxnSpPr>
            <p:cNvPr id="72" name="渐近线3">
              <a:extLst>
                <a:ext uri="{FF2B5EF4-FFF2-40B4-BE49-F238E27FC236}">
                  <a16:creationId xmlns:a16="http://schemas.microsoft.com/office/drawing/2014/main" id="{264FE449-0CF6-1F0D-67C0-59BAE5736F01}"/>
                </a:ext>
              </a:extLst>
            </p:cNvPr>
            <p:cNvCxnSpPr>
              <a:cxnSpLocks/>
            </p:cNvCxnSpPr>
            <p:nvPr/>
          </p:nvCxnSpPr>
          <p:spPr>
            <a:xfrm>
              <a:off x="9510872" y="3670345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渐近线2">
              <a:extLst>
                <a:ext uri="{FF2B5EF4-FFF2-40B4-BE49-F238E27FC236}">
                  <a16:creationId xmlns:a16="http://schemas.microsoft.com/office/drawing/2014/main" id="{EB519B9F-D20A-C5FE-73B1-9B4E0FE76F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0872" y="1679874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渐近线1">
              <a:extLst>
                <a:ext uri="{FF2B5EF4-FFF2-40B4-BE49-F238E27FC236}">
                  <a16:creationId xmlns:a16="http://schemas.microsoft.com/office/drawing/2014/main" id="{F70145A8-9304-D24A-790B-DDA14D9E28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70800" y="3672000"/>
              <a:ext cx="1840072" cy="14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极点3">
            <a:extLst>
              <a:ext uri="{FF2B5EF4-FFF2-40B4-BE49-F238E27FC236}">
                <a16:creationId xmlns:a16="http://schemas.microsoft.com/office/drawing/2014/main" id="{B8370DAA-4D18-6947-7E55-A577D76E5765}"/>
              </a:ext>
            </a:extLst>
          </p:cNvPr>
          <p:cNvSpPr/>
          <p:nvPr/>
        </p:nvSpPr>
        <p:spPr>
          <a:xfrm>
            <a:off x="8652114" y="3524374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74" name="极点2">
            <a:extLst>
              <a:ext uri="{FF2B5EF4-FFF2-40B4-BE49-F238E27FC236}">
                <a16:creationId xmlns:a16="http://schemas.microsoft.com/office/drawing/2014/main" id="{570D5BFE-5973-CBA5-DD96-76697FECF3BC}"/>
              </a:ext>
            </a:extLst>
          </p:cNvPr>
          <p:cNvSpPr/>
          <p:nvPr/>
        </p:nvSpPr>
        <p:spPr>
          <a:xfrm>
            <a:off x="9394734" y="3524374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47" name="极点1">
            <a:extLst>
              <a:ext uri="{FF2B5EF4-FFF2-40B4-BE49-F238E27FC236}">
                <a16:creationId xmlns:a16="http://schemas.microsoft.com/office/drawing/2014/main" id="{F990C884-C1D1-9728-B477-5393D0DC837B}"/>
              </a:ext>
            </a:extLst>
          </p:cNvPr>
          <p:cNvSpPr/>
          <p:nvPr/>
        </p:nvSpPr>
        <p:spPr>
          <a:xfrm>
            <a:off x="10125093" y="3534056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17" name="根轨迹3">
            <a:extLst>
              <a:ext uri="{FF2B5EF4-FFF2-40B4-BE49-F238E27FC236}">
                <a16:creationId xmlns:a16="http://schemas.microsoft.com/office/drawing/2014/main" id="{122468A5-3A2C-7B82-6071-8D9C1A88BAD0}"/>
              </a:ext>
            </a:extLst>
          </p:cNvPr>
          <p:cNvCxnSpPr/>
          <p:nvPr/>
        </p:nvCxnSpPr>
        <p:spPr>
          <a:xfrm flipH="1">
            <a:off x="7970123" y="3678072"/>
            <a:ext cx="864096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根轨迹2">
            <a:extLst>
              <a:ext uri="{FF2B5EF4-FFF2-40B4-BE49-F238E27FC236}">
                <a16:creationId xmlns:a16="http://schemas.microsoft.com/office/drawing/2014/main" id="{EFA8894D-45ED-D569-07EA-20AE9ED206B3}"/>
              </a:ext>
            </a:extLst>
          </p:cNvPr>
          <p:cNvCxnSpPr>
            <a:cxnSpLocks/>
          </p:cNvCxnSpPr>
          <p:nvPr/>
        </p:nvCxnSpPr>
        <p:spPr>
          <a:xfrm>
            <a:off x="9551590" y="3678072"/>
            <a:ext cx="408115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根轨迹1">
            <a:extLst>
              <a:ext uri="{FF2B5EF4-FFF2-40B4-BE49-F238E27FC236}">
                <a16:creationId xmlns:a16="http://schemas.microsoft.com/office/drawing/2014/main" id="{FF83B925-EBB0-41DF-6B38-1BF91B69350F}"/>
              </a:ext>
            </a:extLst>
          </p:cNvPr>
          <p:cNvCxnSpPr>
            <a:cxnSpLocks/>
          </p:cNvCxnSpPr>
          <p:nvPr/>
        </p:nvCxnSpPr>
        <p:spPr>
          <a:xfrm flipH="1" flipV="1">
            <a:off x="9926382" y="3670399"/>
            <a:ext cx="358938" cy="3201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渐近线交点倾角">
                <a:extLst>
                  <a:ext uri="{FF2B5EF4-FFF2-40B4-BE49-F238E27FC236}">
                    <a16:creationId xmlns:a16="http://schemas.microsoft.com/office/drawing/2014/main" id="{E20762AB-E4B9-24A5-55AC-F800FF789B08}"/>
                  </a:ext>
                </a:extLst>
              </p:cNvPr>
              <p:cNvSpPr txBox="1"/>
              <p:nvPr/>
            </p:nvSpPr>
            <p:spPr>
              <a:xfrm>
                <a:off x="3876063" y="2807990"/>
                <a:ext cx="42398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−1,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=±60°,180°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5" name="渐近线交点倾角">
                <a:extLst>
                  <a:ext uri="{FF2B5EF4-FFF2-40B4-BE49-F238E27FC236}">
                    <a16:creationId xmlns:a16="http://schemas.microsoft.com/office/drawing/2014/main" id="{E20762AB-E4B9-24A5-55AC-F800FF789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063" y="2807990"/>
                <a:ext cx="4239889" cy="523220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渐近线公式倾角">
                <a:extLst>
                  <a:ext uri="{FF2B5EF4-FFF2-40B4-BE49-F238E27FC236}">
                    <a16:creationId xmlns:a16="http://schemas.microsoft.com/office/drawing/2014/main" id="{F08432F3-B0EA-7ED4-CCB2-4099AA0F559F}"/>
                  </a:ext>
                </a:extLst>
              </p:cNvPr>
              <p:cNvSpPr txBox="1"/>
              <p:nvPr/>
            </p:nvSpPr>
            <p:spPr>
              <a:xfrm>
                <a:off x="-74499" y="4379024"/>
                <a:ext cx="5458975" cy="912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=±60°,180°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渐近线公式倾角">
                <a:extLst>
                  <a:ext uri="{FF2B5EF4-FFF2-40B4-BE49-F238E27FC236}">
                    <a16:creationId xmlns:a16="http://schemas.microsoft.com/office/drawing/2014/main" id="{F08432F3-B0EA-7ED4-CCB2-4099AA0F5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4499" y="4379024"/>
                <a:ext cx="5458975" cy="912942"/>
              </a:xfrm>
              <a:prstGeom prst="rect">
                <a:avLst/>
              </a:prstGeom>
              <a:blipFill>
                <a:blip r:embed="rId10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渐近线交点">
                <a:extLst>
                  <a:ext uri="{FF2B5EF4-FFF2-40B4-BE49-F238E27FC236}">
                    <a16:creationId xmlns:a16="http://schemas.microsoft.com/office/drawing/2014/main" id="{CFE8A4C4-C02E-AD53-B0C0-9A50455A8675}"/>
                  </a:ext>
                </a:extLst>
              </p:cNvPr>
              <p:cNvSpPr txBox="1"/>
              <p:nvPr/>
            </p:nvSpPr>
            <p:spPr>
              <a:xfrm>
                <a:off x="163968" y="3534056"/>
                <a:ext cx="3672408" cy="901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0−1−2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4" name="渐近线交点">
                <a:extLst>
                  <a:ext uri="{FF2B5EF4-FFF2-40B4-BE49-F238E27FC236}">
                    <a16:creationId xmlns:a16="http://schemas.microsoft.com/office/drawing/2014/main" id="{CFE8A4C4-C02E-AD53-B0C0-9A50455A8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68" y="3534056"/>
                <a:ext cx="3672408" cy="901785"/>
              </a:xfrm>
              <a:prstGeom prst="rect">
                <a:avLst/>
              </a:prstGeom>
              <a:blipFill>
                <a:blip r:embed="rId11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实轴根轨迹">
                <a:extLst>
                  <a:ext uri="{FF2B5EF4-FFF2-40B4-BE49-F238E27FC236}">
                    <a16:creationId xmlns:a16="http://schemas.microsoft.com/office/drawing/2014/main" id="{3E85C027-4014-1EC0-4348-21702EDA7BC3}"/>
                  </a:ext>
                </a:extLst>
              </p:cNvPr>
              <p:cNvSpPr txBox="1"/>
              <p:nvPr/>
            </p:nvSpPr>
            <p:spPr>
              <a:xfrm>
                <a:off x="3809651" y="1975681"/>
                <a:ext cx="31496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[−∞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]∪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[−1,0]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" name="实轴根轨迹">
                <a:extLst>
                  <a:ext uri="{FF2B5EF4-FFF2-40B4-BE49-F238E27FC236}">
                    <a16:creationId xmlns:a16="http://schemas.microsoft.com/office/drawing/2014/main" id="{3E85C027-4014-1EC0-4348-21702EDA7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651" y="1975681"/>
                <a:ext cx="3149651" cy="523220"/>
              </a:xfrm>
              <a:prstGeom prst="rect">
                <a:avLst/>
              </a:prstGeom>
              <a:blipFill>
                <a:blip r:embed="rId1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小标题3">
            <a:extLst>
              <a:ext uri="{FF2B5EF4-FFF2-40B4-BE49-F238E27FC236}">
                <a16:creationId xmlns:a16="http://schemas.microsoft.com/office/drawing/2014/main" id="{3261F758-1E58-A1BD-0E53-AA51B90DDBBC}"/>
              </a:ext>
            </a:extLst>
          </p:cNvPr>
          <p:cNvSpPr/>
          <p:nvPr/>
        </p:nvSpPr>
        <p:spPr bwMode="auto">
          <a:xfrm>
            <a:off x="261938" y="2820649"/>
            <a:ext cx="348522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渐近线</a:t>
            </a:r>
          </a:p>
        </p:txBody>
      </p:sp>
      <p:sp>
        <p:nvSpPr>
          <p:cNvPr id="81" name="小标题2">
            <a:extLst>
              <a:ext uri="{FF2B5EF4-FFF2-40B4-BE49-F238E27FC236}">
                <a16:creationId xmlns:a16="http://schemas.microsoft.com/office/drawing/2014/main" id="{0B1C36B8-28A8-8F1C-1232-20032DA219B6}"/>
              </a:ext>
            </a:extLst>
          </p:cNvPr>
          <p:cNvSpPr/>
          <p:nvPr/>
        </p:nvSpPr>
        <p:spPr bwMode="auto">
          <a:xfrm>
            <a:off x="261938" y="1975681"/>
            <a:ext cx="348522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实轴上的根轨迹</a:t>
            </a:r>
          </a:p>
        </p:txBody>
      </p:sp>
      <p:sp>
        <p:nvSpPr>
          <p:cNvPr id="85" name="小标题1">
            <a:extLst>
              <a:ext uri="{FF2B5EF4-FFF2-40B4-BE49-F238E27FC236}">
                <a16:creationId xmlns:a16="http://schemas.microsoft.com/office/drawing/2014/main" id="{9188FB87-E2C8-E530-5006-C850718ADCE1}"/>
              </a:ext>
            </a:extLst>
          </p:cNvPr>
          <p:cNvSpPr/>
          <p:nvPr/>
        </p:nvSpPr>
        <p:spPr bwMode="auto">
          <a:xfrm>
            <a:off x="253182" y="1103874"/>
            <a:ext cx="349398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起点与终点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开环传函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/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开环传函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blipFill>
                <a:blip r:embed="rId15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分离点例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0628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74" grpId="0" animBg="1"/>
      <p:bldP spid="74" grpId="1" animBg="1"/>
      <p:bldP spid="47" grpId="0" animBg="1"/>
      <p:bldP spid="35" grpId="0"/>
      <p:bldP spid="21" grpId="0"/>
      <p:bldP spid="84" grpId="0"/>
      <p:bldP spid="82" grpId="0"/>
      <p:bldP spid="83" grpId="0" animBg="1"/>
      <p:bldP spid="81" grpId="0" animBg="1"/>
      <p:bldP spid="85" grpId="0" animBg="1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坐标轴">
            <a:extLst>
              <a:ext uri="{FF2B5EF4-FFF2-40B4-BE49-F238E27FC236}">
                <a16:creationId xmlns:a16="http://schemas.microsoft.com/office/drawing/2014/main" id="{BDD79F40-73D8-29EC-CA63-EC8D6616B1F4}"/>
              </a:ext>
            </a:extLst>
          </p:cNvPr>
          <p:cNvGrpSpPr/>
          <p:nvPr/>
        </p:nvGrpSpPr>
        <p:grpSpPr>
          <a:xfrm>
            <a:off x="8595127" y="1196752"/>
            <a:ext cx="2342307" cy="4741714"/>
            <a:chOff x="8595127" y="1196752"/>
            <a:chExt cx="2342307" cy="4741714"/>
          </a:xfrm>
        </p:grpSpPr>
        <p:cxnSp>
          <p:nvCxnSpPr>
            <p:cNvPr id="43" name="实轴">
              <a:extLst>
                <a:ext uri="{FF2B5EF4-FFF2-40B4-BE49-F238E27FC236}">
                  <a16:creationId xmlns:a16="http://schemas.microsoft.com/office/drawing/2014/main" id="{ADDA96AE-FE12-3D03-517A-23462BCC0CA6}"/>
                </a:ext>
              </a:extLst>
            </p:cNvPr>
            <p:cNvCxnSpPr>
              <a:cxnSpLocks/>
            </p:cNvCxnSpPr>
            <p:nvPr/>
          </p:nvCxnSpPr>
          <p:spPr>
            <a:xfrm>
              <a:off x="8595127" y="3678072"/>
              <a:ext cx="213949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虚轴">
              <a:extLst>
                <a:ext uri="{FF2B5EF4-FFF2-40B4-BE49-F238E27FC236}">
                  <a16:creationId xmlns:a16="http://schemas.microsoft.com/office/drawing/2014/main" id="{B4F167F5-4B4A-3B66-66CF-556A7B339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75660" y="1545978"/>
              <a:ext cx="0" cy="43924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labelj">
                  <a:extLst>
                    <a:ext uri="{FF2B5EF4-FFF2-40B4-BE49-F238E27FC236}">
                      <a16:creationId xmlns:a16="http://schemas.microsoft.com/office/drawing/2014/main" id="{2F56F1F5-44F7-AF26-00A4-BAA5716ADDC0}"/>
                    </a:ext>
                  </a:extLst>
                </p:cNvPr>
                <p:cNvSpPr txBox="1"/>
                <p:nvPr/>
              </p:nvSpPr>
              <p:spPr>
                <a:xfrm>
                  <a:off x="10275660" y="1196752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8" name="labelj">
                  <a:extLst>
                    <a:ext uri="{FF2B5EF4-FFF2-40B4-BE49-F238E27FC236}">
                      <a16:creationId xmlns:a16="http://schemas.microsoft.com/office/drawing/2014/main" id="{2F56F1F5-44F7-AF26-00A4-BAA5716AD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5660" y="1196752"/>
                  <a:ext cx="520701" cy="523220"/>
                </a:xfrm>
                <a:prstGeom prst="rect">
                  <a:avLst/>
                </a:prstGeom>
                <a:blipFill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label0">
                  <a:extLst>
                    <a:ext uri="{FF2B5EF4-FFF2-40B4-BE49-F238E27FC236}">
                      <a16:creationId xmlns:a16="http://schemas.microsoft.com/office/drawing/2014/main" id="{52E8DE49-E601-C1BF-A858-50CFF27EB174}"/>
                    </a:ext>
                  </a:extLst>
                </p:cNvPr>
                <p:cNvSpPr txBox="1"/>
                <p:nvPr/>
              </p:nvSpPr>
              <p:spPr>
                <a:xfrm>
                  <a:off x="10213916" y="3599910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label0">
                  <a:extLst>
                    <a:ext uri="{FF2B5EF4-FFF2-40B4-BE49-F238E27FC236}">
                      <a16:creationId xmlns:a16="http://schemas.microsoft.com/office/drawing/2014/main" id="{52E8DE49-E601-C1BF-A858-50CFF27EB1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3916" y="3599910"/>
                  <a:ext cx="520701" cy="52469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tick1">
              <a:extLst>
                <a:ext uri="{FF2B5EF4-FFF2-40B4-BE49-F238E27FC236}">
                  <a16:creationId xmlns:a16="http://schemas.microsoft.com/office/drawing/2014/main" id="{BD642B27-0FBD-4E61-E0F6-67076E6F2D47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293088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tick-1">
              <a:extLst>
                <a:ext uri="{FF2B5EF4-FFF2-40B4-BE49-F238E27FC236}">
                  <a16:creationId xmlns:a16="http://schemas.microsoft.com/office/drawing/2014/main" id="{698CB20C-B1EE-9542-3826-004E8AD7B946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442526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tick-2">
              <a:extLst>
                <a:ext uri="{FF2B5EF4-FFF2-40B4-BE49-F238E27FC236}">
                  <a16:creationId xmlns:a16="http://schemas.microsoft.com/office/drawing/2014/main" id="{EBD3A8E0-2B71-AC34-B21A-FBAB2A23E40E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517245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tick2">
              <a:extLst>
                <a:ext uri="{FF2B5EF4-FFF2-40B4-BE49-F238E27FC236}">
                  <a16:creationId xmlns:a16="http://schemas.microsoft.com/office/drawing/2014/main" id="{463577E2-6CBB-70F5-1604-62C737241813}"/>
                </a:ext>
              </a:extLst>
            </p:cNvPr>
            <p:cNvCxnSpPr>
              <a:cxnSpLocks/>
            </p:cNvCxnSpPr>
            <p:nvPr/>
          </p:nvCxnSpPr>
          <p:spPr>
            <a:xfrm>
              <a:off x="10279852" y="2183692"/>
              <a:ext cx="1356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label1">
                  <a:extLst>
                    <a:ext uri="{FF2B5EF4-FFF2-40B4-BE49-F238E27FC236}">
                      <a16:creationId xmlns:a16="http://schemas.microsoft.com/office/drawing/2014/main" id="{9CB1BFCC-5737-595F-A04A-49E1593A3955}"/>
                    </a:ext>
                  </a:extLst>
                </p:cNvPr>
                <p:cNvSpPr txBox="1"/>
                <p:nvPr/>
              </p:nvSpPr>
              <p:spPr>
                <a:xfrm>
                  <a:off x="10450938" y="2669272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2" name="label1">
                  <a:extLst>
                    <a:ext uri="{FF2B5EF4-FFF2-40B4-BE49-F238E27FC236}">
                      <a16:creationId xmlns:a16="http://schemas.microsoft.com/office/drawing/2014/main" id="{9CB1BFCC-5737-595F-A04A-49E1593A39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0938" y="2669272"/>
                  <a:ext cx="322182" cy="524695"/>
                </a:xfrm>
                <a:prstGeom prst="rect">
                  <a:avLst/>
                </a:prstGeom>
                <a:blipFill>
                  <a:blip r:embed="rId5"/>
                  <a:stretch>
                    <a:fillRect l="-7407" r="-259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label2">
                  <a:extLst>
                    <a:ext uri="{FF2B5EF4-FFF2-40B4-BE49-F238E27FC236}">
                      <a16:creationId xmlns:a16="http://schemas.microsoft.com/office/drawing/2014/main" id="{9D7C0A6B-EB41-E864-C05F-98B92D5C0580}"/>
                    </a:ext>
                  </a:extLst>
                </p:cNvPr>
                <p:cNvSpPr txBox="1"/>
                <p:nvPr/>
              </p:nvSpPr>
              <p:spPr>
                <a:xfrm>
                  <a:off x="10456248" y="1928278"/>
                  <a:ext cx="32218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4" name="label2">
                  <a:extLst>
                    <a:ext uri="{FF2B5EF4-FFF2-40B4-BE49-F238E27FC236}">
                      <a16:creationId xmlns:a16="http://schemas.microsoft.com/office/drawing/2014/main" id="{9D7C0A6B-EB41-E864-C05F-98B92D5C0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56248" y="1928278"/>
                  <a:ext cx="322182" cy="524695"/>
                </a:xfrm>
                <a:prstGeom prst="rect">
                  <a:avLst/>
                </a:prstGeom>
                <a:blipFill>
                  <a:blip r:embed="rId6"/>
                  <a:stretch>
                    <a:fillRect l="-11538" r="-2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label-1">
                  <a:extLst>
                    <a:ext uri="{FF2B5EF4-FFF2-40B4-BE49-F238E27FC236}">
                      <a16:creationId xmlns:a16="http://schemas.microsoft.com/office/drawing/2014/main" id="{F2102832-36D4-C639-4E99-019C65F313EE}"/>
                    </a:ext>
                  </a:extLst>
                </p:cNvPr>
                <p:cNvSpPr txBox="1"/>
                <p:nvPr/>
              </p:nvSpPr>
              <p:spPr>
                <a:xfrm>
                  <a:off x="10416733" y="415937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label-1">
                  <a:extLst>
                    <a:ext uri="{FF2B5EF4-FFF2-40B4-BE49-F238E27FC236}">
                      <a16:creationId xmlns:a16="http://schemas.microsoft.com/office/drawing/2014/main" id="{F2102832-36D4-C639-4E99-019C65F313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733" y="4159373"/>
                  <a:ext cx="520701" cy="523220"/>
                </a:xfrm>
                <a:prstGeom prst="rect">
                  <a:avLst/>
                </a:prstGeom>
                <a:blipFill>
                  <a:blip r:embed="rId7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label-2">
                  <a:extLst>
                    <a:ext uri="{FF2B5EF4-FFF2-40B4-BE49-F238E27FC236}">
                      <a16:creationId xmlns:a16="http://schemas.microsoft.com/office/drawing/2014/main" id="{7FB83E9A-2039-8046-0AA8-71238C3BB42B}"/>
                    </a:ext>
                  </a:extLst>
                </p:cNvPr>
                <p:cNvSpPr txBox="1"/>
                <p:nvPr/>
              </p:nvSpPr>
              <p:spPr>
                <a:xfrm>
                  <a:off x="10416733" y="4897563"/>
                  <a:ext cx="52070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8" name="label-2">
                  <a:extLst>
                    <a:ext uri="{FF2B5EF4-FFF2-40B4-BE49-F238E27FC236}">
                      <a16:creationId xmlns:a16="http://schemas.microsoft.com/office/drawing/2014/main" id="{7FB83E9A-2039-8046-0AA8-71238C3BB4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6733" y="4897563"/>
                  <a:ext cx="520701" cy="523220"/>
                </a:xfrm>
                <a:prstGeom prst="rect">
                  <a:avLst/>
                </a:prstGeom>
                <a:blipFill>
                  <a:blip r:embed="rId8"/>
                  <a:stretch>
                    <a:fillRect r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渐近线">
            <a:extLst>
              <a:ext uri="{FF2B5EF4-FFF2-40B4-BE49-F238E27FC236}">
                <a16:creationId xmlns:a16="http://schemas.microsoft.com/office/drawing/2014/main" id="{A683D0EC-3F35-7D01-7745-4DDE0AD5CA2E}"/>
              </a:ext>
            </a:extLst>
          </p:cNvPr>
          <p:cNvGrpSpPr/>
          <p:nvPr/>
        </p:nvGrpSpPr>
        <p:grpSpPr>
          <a:xfrm>
            <a:off x="7670800" y="1679874"/>
            <a:ext cx="2999986" cy="3980911"/>
            <a:chOff x="7670800" y="1679874"/>
            <a:chExt cx="2999986" cy="3980911"/>
          </a:xfrm>
        </p:grpSpPr>
        <p:cxnSp>
          <p:nvCxnSpPr>
            <p:cNvPr id="72" name="渐近线3">
              <a:extLst>
                <a:ext uri="{FF2B5EF4-FFF2-40B4-BE49-F238E27FC236}">
                  <a16:creationId xmlns:a16="http://schemas.microsoft.com/office/drawing/2014/main" id="{264FE449-0CF6-1F0D-67C0-59BAE5736F01}"/>
                </a:ext>
              </a:extLst>
            </p:cNvPr>
            <p:cNvCxnSpPr>
              <a:cxnSpLocks/>
            </p:cNvCxnSpPr>
            <p:nvPr/>
          </p:nvCxnSpPr>
          <p:spPr>
            <a:xfrm>
              <a:off x="9510872" y="3670345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渐近线2">
              <a:extLst>
                <a:ext uri="{FF2B5EF4-FFF2-40B4-BE49-F238E27FC236}">
                  <a16:creationId xmlns:a16="http://schemas.microsoft.com/office/drawing/2014/main" id="{EB519B9F-D20A-C5FE-73B1-9B4E0FE76F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0872" y="1679874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渐近线1">
              <a:extLst>
                <a:ext uri="{FF2B5EF4-FFF2-40B4-BE49-F238E27FC236}">
                  <a16:creationId xmlns:a16="http://schemas.microsoft.com/office/drawing/2014/main" id="{F70145A8-9304-D24A-790B-DDA14D9E28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70800" y="3672000"/>
              <a:ext cx="1840072" cy="14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极点3">
            <a:extLst>
              <a:ext uri="{FF2B5EF4-FFF2-40B4-BE49-F238E27FC236}">
                <a16:creationId xmlns:a16="http://schemas.microsoft.com/office/drawing/2014/main" id="{B8370DAA-4D18-6947-7E55-A577D76E5765}"/>
              </a:ext>
            </a:extLst>
          </p:cNvPr>
          <p:cNvSpPr/>
          <p:nvPr/>
        </p:nvSpPr>
        <p:spPr>
          <a:xfrm>
            <a:off x="8652114" y="3524374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74" name="极点2">
            <a:extLst>
              <a:ext uri="{FF2B5EF4-FFF2-40B4-BE49-F238E27FC236}">
                <a16:creationId xmlns:a16="http://schemas.microsoft.com/office/drawing/2014/main" id="{570D5BFE-5973-CBA5-DD96-76697FECF3BC}"/>
              </a:ext>
            </a:extLst>
          </p:cNvPr>
          <p:cNvSpPr/>
          <p:nvPr/>
        </p:nvSpPr>
        <p:spPr>
          <a:xfrm>
            <a:off x="9394734" y="3524374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47" name="极点1">
            <a:extLst>
              <a:ext uri="{FF2B5EF4-FFF2-40B4-BE49-F238E27FC236}">
                <a16:creationId xmlns:a16="http://schemas.microsoft.com/office/drawing/2014/main" id="{F990C884-C1D1-9728-B477-5393D0DC837B}"/>
              </a:ext>
            </a:extLst>
          </p:cNvPr>
          <p:cNvSpPr/>
          <p:nvPr/>
        </p:nvSpPr>
        <p:spPr>
          <a:xfrm>
            <a:off x="10125093" y="3534056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17" name="根轨迹3">
            <a:extLst>
              <a:ext uri="{FF2B5EF4-FFF2-40B4-BE49-F238E27FC236}">
                <a16:creationId xmlns:a16="http://schemas.microsoft.com/office/drawing/2014/main" id="{122468A5-3A2C-7B82-6071-8D9C1A88BAD0}"/>
              </a:ext>
            </a:extLst>
          </p:cNvPr>
          <p:cNvCxnSpPr/>
          <p:nvPr/>
        </p:nvCxnSpPr>
        <p:spPr>
          <a:xfrm flipH="1">
            <a:off x="7970123" y="3678072"/>
            <a:ext cx="864096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根轨迹2">
            <a:extLst>
              <a:ext uri="{FF2B5EF4-FFF2-40B4-BE49-F238E27FC236}">
                <a16:creationId xmlns:a16="http://schemas.microsoft.com/office/drawing/2014/main" id="{EFA8894D-45ED-D569-07EA-20AE9ED206B3}"/>
              </a:ext>
            </a:extLst>
          </p:cNvPr>
          <p:cNvCxnSpPr>
            <a:cxnSpLocks/>
          </p:cNvCxnSpPr>
          <p:nvPr/>
        </p:nvCxnSpPr>
        <p:spPr>
          <a:xfrm>
            <a:off x="9551590" y="3678072"/>
            <a:ext cx="408115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根轨迹1">
            <a:extLst>
              <a:ext uri="{FF2B5EF4-FFF2-40B4-BE49-F238E27FC236}">
                <a16:creationId xmlns:a16="http://schemas.microsoft.com/office/drawing/2014/main" id="{FF83B925-EBB0-41DF-6B38-1BF91B69350F}"/>
              </a:ext>
            </a:extLst>
          </p:cNvPr>
          <p:cNvCxnSpPr>
            <a:cxnSpLocks/>
          </p:cNvCxnSpPr>
          <p:nvPr/>
        </p:nvCxnSpPr>
        <p:spPr>
          <a:xfrm flipH="1" flipV="1">
            <a:off x="9926382" y="3670399"/>
            <a:ext cx="358938" cy="3201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渐近线交点倾角">
                <a:extLst>
                  <a:ext uri="{FF2B5EF4-FFF2-40B4-BE49-F238E27FC236}">
                    <a16:creationId xmlns:a16="http://schemas.microsoft.com/office/drawing/2014/main" id="{E20762AB-E4B9-24A5-55AC-F800FF789B08}"/>
                  </a:ext>
                </a:extLst>
              </p:cNvPr>
              <p:cNvSpPr txBox="1"/>
              <p:nvPr/>
            </p:nvSpPr>
            <p:spPr>
              <a:xfrm>
                <a:off x="3876063" y="2807990"/>
                <a:ext cx="42398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−1,</m:t>
                      </m:r>
                      <m:sSub>
                        <m:sSub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=±60°,180°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5" name="渐近线交点倾角">
                <a:extLst>
                  <a:ext uri="{FF2B5EF4-FFF2-40B4-BE49-F238E27FC236}">
                    <a16:creationId xmlns:a16="http://schemas.microsoft.com/office/drawing/2014/main" id="{E20762AB-E4B9-24A5-55AC-F800FF789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063" y="2807990"/>
                <a:ext cx="4239889" cy="523220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实轴根轨迹">
                <a:extLst>
                  <a:ext uri="{FF2B5EF4-FFF2-40B4-BE49-F238E27FC236}">
                    <a16:creationId xmlns:a16="http://schemas.microsoft.com/office/drawing/2014/main" id="{3E85C027-4014-1EC0-4348-21702EDA7BC3}"/>
                  </a:ext>
                </a:extLst>
              </p:cNvPr>
              <p:cNvSpPr txBox="1"/>
              <p:nvPr/>
            </p:nvSpPr>
            <p:spPr>
              <a:xfrm>
                <a:off x="3809651" y="1975681"/>
                <a:ext cx="314965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[−∞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]∪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[−1,0]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" name="实轴根轨迹">
                <a:extLst>
                  <a:ext uri="{FF2B5EF4-FFF2-40B4-BE49-F238E27FC236}">
                    <a16:creationId xmlns:a16="http://schemas.microsoft.com/office/drawing/2014/main" id="{3E85C027-4014-1EC0-4348-21702EDA7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651" y="1975681"/>
                <a:ext cx="3149651" cy="523220"/>
              </a:xfrm>
              <a:prstGeom prst="rect">
                <a:avLst/>
              </a:prstGeom>
              <a:blipFill>
                <a:blip r:embed="rId10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问题">
            <a:extLst>
              <a:ext uri="{FF2B5EF4-FFF2-40B4-BE49-F238E27FC236}">
                <a16:creationId xmlns:a16="http://schemas.microsoft.com/office/drawing/2014/main" id="{648FE20D-A97D-E481-483D-813F278A1CCF}"/>
              </a:ext>
            </a:extLst>
          </p:cNvPr>
          <p:cNvGrpSpPr/>
          <p:nvPr/>
        </p:nvGrpSpPr>
        <p:grpSpPr>
          <a:xfrm>
            <a:off x="5348307" y="5538470"/>
            <a:ext cx="3519741" cy="881063"/>
            <a:chOff x="5348307" y="5538470"/>
            <a:chExt cx="3519741" cy="881063"/>
          </a:xfrm>
        </p:grpSpPr>
        <p:sp>
          <p:nvSpPr>
            <p:cNvPr id="42" name="问号">
              <a:extLst>
                <a:ext uri="{FF2B5EF4-FFF2-40B4-BE49-F238E27FC236}">
                  <a16:creationId xmlns:a16="http://schemas.microsoft.com/office/drawing/2014/main" id="{634A0BE8-57C3-DE33-27E4-B03906360915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49" name="文本">
              <a:extLst>
                <a:ext uri="{FF2B5EF4-FFF2-40B4-BE49-F238E27FC236}">
                  <a16:creationId xmlns:a16="http://schemas.microsoft.com/office/drawing/2014/main" id="{3320BD97-0742-327A-388B-9FC4609CFD47}"/>
                </a:ext>
              </a:extLst>
            </p:cNvPr>
            <p:cNvSpPr txBox="1"/>
            <p:nvPr/>
          </p:nvSpPr>
          <p:spPr>
            <a:xfrm>
              <a:off x="6306266" y="5726958"/>
              <a:ext cx="256178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与虚轴交点？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40" name="打钩">
            <a:extLst>
              <a:ext uri="{FF2B5EF4-FFF2-40B4-BE49-F238E27FC236}">
                <a16:creationId xmlns:a16="http://schemas.microsoft.com/office/drawing/2014/main" id="{A174D1F8-7C05-A97E-A006-89910D29AD18}"/>
              </a:ext>
            </a:extLst>
          </p:cNvPr>
          <p:cNvSpPr txBox="1"/>
          <p:nvPr/>
        </p:nvSpPr>
        <p:spPr>
          <a:xfrm>
            <a:off x="3214742" y="5538470"/>
            <a:ext cx="3723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kern="1200" dirty="0">
                <a:solidFill>
                  <a:srgbClr val="159F84"/>
                </a:solidFill>
                <a:effectLst/>
                <a:latin typeface="+mn-lt"/>
                <a:ea typeface="+mn-ea"/>
                <a:cs typeface="+mn-cs"/>
              </a:rPr>
              <a:t>✔️</a:t>
            </a:r>
          </a:p>
        </p:txBody>
      </p:sp>
      <p:sp>
        <p:nvSpPr>
          <p:cNvPr id="41" name="打叉">
            <a:extLst>
              <a:ext uri="{FF2B5EF4-FFF2-40B4-BE49-F238E27FC236}">
                <a16:creationId xmlns:a16="http://schemas.microsoft.com/office/drawing/2014/main" id="{EE86D1D3-9E7F-4949-5FCF-723121C2D0D0}"/>
              </a:ext>
            </a:extLst>
          </p:cNvPr>
          <p:cNvSpPr txBox="1"/>
          <p:nvPr/>
        </p:nvSpPr>
        <p:spPr>
          <a:xfrm>
            <a:off x="3190685" y="5960925"/>
            <a:ext cx="4204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E44860"/>
                </a:solidFill>
              </a:rPr>
              <a:t>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分离点">
                <a:extLst>
                  <a:ext uri="{FF2B5EF4-FFF2-40B4-BE49-F238E27FC236}">
                    <a16:creationId xmlns:a16="http://schemas.microsoft.com/office/drawing/2014/main" id="{EC3274CD-96A3-6306-EEB6-41A0CFB01B86}"/>
                  </a:ext>
                </a:extLst>
              </p:cNvPr>
              <p:cNvSpPr txBox="1"/>
              <p:nvPr/>
            </p:nvSpPr>
            <p:spPr>
              <a:xfrm>
                <a:off x="273795" y="5439627"/>
                <a:ext cx="2370221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=−0.423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=−1.577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分离点">
                <a:extLst>
                  <a:ext uri="{FF2B5EF4-FFF2-40B4-BE49-F238E27FC236}">
                    <a16:creationId xmlns:a16="http://schemas.microsoft.com/office/drawing/2014/main" id="{EC3274CD-96A3-6306-EEB6-41A0CFB01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95" y="5439627"/>
                <a:ext cx="2370221" cy="1053494"/>
              </a:xfrm>
              <a:prstGeom prst="rect">
                <a:avLst/>
              </a:prstGeom>
              <a:blipFill>
                <a:blip r:embed="rId13"/>
                <a:stretch>
                  <a:fillRect l="-54787" t="-201190" r="-16489" b="-29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分离点公式">
                <a:extLst>
                  <a:ext uri="{FF2B5EF4-FFF2-40B4-BE49-F238E27FC236}">
                    <a16:creationId xmlns:a16="http://schemas.microsoft.com/office/drawing/2014/main" id="{32BCF512-3005-191E-57EE-361DB4B9622F}"/>
                  </a:ext>
                </a:extLst>
              </p:cNvPr>
              <p:cNvSpPr txBox="1"/>
              <p:nvPr/>
            </p:nvSpPr>
            <p:spPr>
              <a:xfrm>
                <a:off x="269618" y="4420963"/>
                <a:ext cx="8676832" cy="978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−(−1)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−(−2)</m:t>
                          </m:r>
                        </m:den>
                      </m:f>
                      <m:r>
                        <m:rPr>
                          <m:aln/>
                        </m:rP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0⇒3</m:t>
                      </m:r>
                      <m:sSup>
                        <m:sSup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+6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6" name="分离点公式">
                <a:extLst>
                  <a:ext uri="{FF2B5EF4-FFF2-40B4-BE49-F238E27FC236}">
                    <a16:creationId xmlns:a16="http://schemas.microsoft.com/office/drawing/2014/main" id="{32BCF512-3005-191E-57EE-361DB4B96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18" y="4420963"/>
                <a:ext cx="8676832" cy="978217"/>
              </a:xfrm>
              <a:prstGeom prst="rect">
                <a:avLst/>
              </a:prstGeom>
              <a:blipFill>
                <a:blip r:embed="rId14"/>
                <a:stretch>
                  <a:fillRect b="-8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小标题4">
            <a:extLst>
              <a:ext uri="{FF2B5EF4-FFF2-40B4-BE49-F238E27FC236}">
                <a16:creationId xmlns:a16="http://schemas.microsoft.com/office/drawing/2014/main" id="{BC6C5BF4-C539-DB20-6A1C-171BB6CB17E6}"/>
              </a:ext>
            </a:extLst>
          </p:cNvPr>
          <p:cNvSpPr/>
          <p:nvPr/>
        </p:nvSpPr>
        <p:spPr bwMode="auto">
          <a:xfrm>
            <a:off x="252934" y="3707654"/>
            <a:ext cx="348522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分离点</a:t>
            </a:r>
          </a:p>
        </p:txBody>
      </p:sp>
      <p:sp>
        <p:nvSpPr>
          <p:cNvPr id="83" name="小标题3">
            <a:extLst>
              <a:ext uri="{FF2B5EF4-FFF2-40B4-BE49-F238E27FC236}">
                <a16:creationId xmlns:a16="http://schemas.microsoft.com/office/drawing/2014/main" id="{3261F758-1E58-A1BD-0E53-AA51B90DDBBC}"/>
              </a:ext>
            </a:extLst>
          </p:cNvPr>
          <p:cNvSpPr/>
          <p:nvPr/>
        </p:nvSpPr>
        <p:spPr bwMode="auto">
          <a:xfrm>
            <a:off x="261938" y="2820649"/>
            <a:ext cx="348522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渐近线</a:t>
            </a:r>
          </a:p>
        </p:txBody>
      </p:sp>
      <p:sp>
        <p:nvSpPr>
          <p:cNvPr id="81" name="小标题2">
            <a:extLst>
              <a:ext uri="{FF2B5EF4-FFF2-40B4-BE49-F238E27FC236}">
                <a16:creationId xmlns:a16="http://schemas.microsoft.com/office/drawing/2014/main" id="{0B1C36B8-28A8-8F1C-1232-20032DA219B6}"/>
              </a:ext>
            </a:extLst>
          </p:cNvPr>
          <p:cNvSpPr/>
          <p:nvPr/>
        </p:nvSpPr>
        <p:spPr bwMode="auto">
          <a:xfrm>
            <a:off x="261938" y="1975681"/>
            <a:ext cx="3485225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实轴上的根轨迹</a:t>
            </a:r>
          </a:p>
        </p:txBody>
      </p:sp>
      <p:sp>
        <p:nvSpPr>
          <p:cNvPr id="85" name="小标题1">
            <a:extLst>
              <a:ext uri="{FF2B5EF4-FFF2-40B4-BE49-F238E27FC236}">
                <a16:creationId xmlns:a16="http://schemas.microsoft.com/office/drawing/2014/main" id="{9188FB87-E2C8-E530-5006-C850718ADCE1}"/>
              </a:ext>
            </a:extLst>
          </p:cNvPr>
          <p:cNvSpPr/>
          <p:nvPr/>
        </p:nvSpPr>
        <p:spPr bwMode="auto">
          <a:xfrm>
            <a:off x="253182" y="1103874"/>
            <a:ext cx="3493981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起点与终点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开环传函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/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开环传函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blipFill>
                <a:blip r:embed="rId15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分离点例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152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37" grpId="0"/>
      <p:bldP spid="36" grpId="0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坐标轴">
            <a:extLst>
              <a:ext uri="{FF2B5EF4-FFF2-40B4-BE49-F238E27FC236}">
                <a16:creationId xmlns:a16="http://schemas.microsoft.com/office/drawing/2014/main" id="{B8C46105-A591-9B12-EB98-0E6BD26930BF}"/>
              </a:ext>
            </a:extLst>
          </p:cNvPr>
          <p:cNvGrpSpPr/>
          <p:nvPr/>
        </p:nvGrpSpPr>
        <p:grpSpPr>
          <a:xfrm>
            <a:off x="8276593" y="1678087"/>
            <a:ext cx="3188060" cy="4741714"/>
            <a:chOff x="8276593" y="1678087"/>
            <a:chExt cx="3188060" cy="4741714"/>
          </a:xfrm>
        </p:grpSpPr>
        <p:grpSp>
          <p:nvGrpSpPr>
            <p:cNvPr id="5" name="虚轴">
              <a:extLst>
                <a:ext uri="{FF2B5EF4-FFF2-40B4-BE49-F238E27FC236}">
                  <a16:creationId xmlns:a16="http://schemas.microsoft.com/office/drawing/2014/main" id="{28A88718-00A9-1D39-7B0D-E63F159F4311}"/>
                </a:ext>
              </a:extLst>
            </p:cNvPr>
            <p:cNvGrpSpPr/>
            <p:nvPr/>
          </p:nvGrpSpPr>
          <p:grpSpPr>
            <a:xfrm>
              <a:off x="10787944" y="1678087"/>
              <a:ext cx="676709" cy="4741714"/>
              <a:chOff x="10787944" y="1678087"/>
              <a:chExt cx="676709" cy="47417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labelj">
                    <a:extLst>
                      <a:ext uri="{FF2B5EF4-FFF2-40B4-BE49-F238E27FC236}">
                        <a16:creationId xmlns:a16="http://schemas.microsoft.com/office/drawing/2014/main" id="{2F56F1F5-44F7-AF26-00A4-BAA5716ADDC0}"/>
                      </a:ext>
                    </a:extLst>
                  </p:cNvPr>
                  <p:cNvSpPr txBox="1"/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8" name="labelj">
                    <a:extLst>
                      <a:ext uri="{FF2B5EF4-FFF2-40B4-BE49-F238E27FC236}">
                        <a16:creationId xmlns:a16="http://schemas.microsoft.com/office/drawing/2014/main" id="{2F56F1F5-44F7-AF26-00A4-BAA5716ADD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ylabel2">
                    <a:extLst>
                      <a:ext uri="{FF2B5EF4-FFF2-40B4-BE49-F238E27FC236}">
                        <a16:creationId xmlns:a16="http://schemas.microsoft.com/office/drawing/2014/main" id="{9D7C0A6B-EB41-E864-C05F-98B92D5C0580}"/>
                      </a:ext>
                    </a:extLst>
                  </p:cNvPr>
                  <p:cNvSpPr txBox="1"/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4" name="ylabel2">
                    <a:extLst>
                      <a:ext uri="{FF2B5EF4-FFF2-40B4-BE49-F238E27FC236}">
                        <a16:creationId xmlns:a16="http://schemas.microsoft.com/office/drawing/2014/main" id="{9D7C0A6B-EB41-E864-C05F-98B92D5C05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692" r="-307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1" name="ytick2">
                <a:extLst>
                  <a:ext uri="{FF2B5EF4-FFF2-40B4-BE49-F238E27FC236}">
                    <a16:creationId xmlns:a16="http://schemas.microsoft.com/office/drawing/2014/main" id="{463577E2-6CBB-70F5-1604-62C7372418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4468" y="2713985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ylabel1">
                    <a:extLst>
                      <a:ext uri="{FF2B5EF4-FFF2-40B4-BE49-F238E27FC236}">
                        <a16:creationId xmlns:a16="http://schemas.microsoft.com/office/drawing/2014/main" id="{9CB1BFCC-5737-595F-A04A-49E1593A3955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9030" y="3167390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2" name="ylabel1">
                    <a:extLst>
                      <a:ext uri="{FF2B5EF4-FFF2-40B4-BE49-F238E27FC236}">
                        <a16:creationId xmlns:a16="http://schemas.microsoft.com/office/drawing/2014/main" id="{9CB1BFCC-5737-595F-A04A-49E1593A39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9030" y="3167390"/>
                    <a:ext cx="322182" cy="52469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1538" r="-2692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4" name="ytick1">
                <a:extLst>
                  <a:ext uri="{FF2B5EF4-FFF2-40B4-BE49-F238E27FC236}">
                    <a16:creationId xmlns:a16="http://schemas.microsoft.com/office/drawing/2014/main" id="{BD642B27-0FBD-4E61-E0F6-67076E6F2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87944" y="3429000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ylabel-1">
                    <a:extLst>
                      <a:ext uri="{FF2B5EF4-FFF2-40B4-BE49-F238E27FC236}">
                        <a16:creationId xmlns:a16="http://schemas.microsoft.com/office/drawing/2014/main" id="{F2102832-36D4-C639-4E99-019C65F313EE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3952" y="4610305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6" name="ylabel-1">
                    <a:extLst>
                      <a:ext uri="{FF2B5EF4-FFF2-40B4-BE49-F238E27FC236}">
                        <a16:creationId xmlns:a16="http://schemas.microsoft.com/office/drawing/2014/main" id="{F2102832-36D4-C639-4E99-019C65F313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3952" y="4610305"/>
                    <a:ext cx="520701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7" name="ytick-1">
                <a:extLst>
                  <a:ext uri="{FF2B5EF4-FFF2-40B4-BE49-F238E27FC236}">
                    <a16:creationId xmlns:a16="http://schemas.microsoft.com/office/drawing/2014/main" id="{698CB20C-B1EE-9542-3826-004E8AD7B9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4876194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ylabel-2">
                    <a:extLst>
                      <a:ext uri="{FF2B5EF4-FFF2-40B4-BE49-F238E27FC236}">
                        <a16:creationId xmlns:a16="http://schemas.microsoft.com/office/drawing/2014/main" id="{7FB83E9A-2039-8046-0AA8-71238C3BB42B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8" name="ylabel-2">
                    <a:extLst>
                      <a:ext uri="{FF2B5EF4-FFF2-40B4-BE49-F238E27FC236}">
                        <a16:creationId xmlns:a16="http://schemas.microsoft.com/office/drawing/2014/main" id="{7FB83E9A-2039-8046-0AA8-71238C3BB4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9" name="ytick-2">
                <a:extLst>
                  <a:ext uri="{FF2B5EF4-FFF2-40B4-BE49-F238E27FC236}">
                    <a16:creationId xmlns:a16="http://schemas.microsoft.com/office/drawing/2014/main" id="{EBD3A8E0-2B71-AC34-B21A-FBAB2A23E4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5591991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y轴">
                <a:extLst>
                  <a:ext uri="{FF2B5EF4-FFF2-40B4-BE49-F238E27FC236}">
                    <a16:creationId xmlns:a16="http://schemas.microsoft.com/office/drawing/2014/main" id="{B4F167F5-4B4A-3B66-66CF-556A7B3392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92135" y="2027313"/>
                <a:ext cx="0" cy="43924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实轴">
              <a:extLst>
                <a:ext uri="{FF2B5EF4-FFF2-40B4-BE49-F238E27FC236}">
                  <a16:creationId xmlns:a16="http://schemas.microsoft.com/office/drawing/2014/main" id="{37BC8127-5B2E-EBD8-C770-7C296B5FE20E}"/>
                </a:ext>
              </a:extLst>
            </p:cNvPr>
            <p:cNvGrpSpPr/>
            <p:nvPr/>
          </p:nvGrpSpPr>
          <p:grpSpPr>
            <a:xfrm>
              <a:off x="8276593" y="4005604"/>
              <a:ext cx="2974499" cy="689037"/>
              <a:chOff x="8276593" y="4005604"/>
              <a:chExt cx="2974499" cy="68903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label0">
                    <a:extLst>
                      <a:ext uri="{FF2B5EF4-FFF2-40B4-BE49-F238E27FC236}">
                        <a16:creationId xmlns:a16="http://schemas.microsoft.com/office/drawing/2014/main" id="{52E8DE49-E601-C1BF-A858-50CFF27EB174}"/>
                      </a:ext>
                    </a:extLst>
                  </p:cNvPr>
                  <p:cNvSpPr txBox="1"/>
                  <p:nvPr/>
                </p:nvSpPr>
                <p:spPr>
                  <a:xfrm>
                    <a:off x="10730391" y="4081245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1" name="label0">
                    <a:extLst>
                      <a:ext uri="{FF2B5EF4-FFF2-40B4-BE49-F238E27FC236}">
                        <a16:creationId xmlns:a16="http://schemas.microsoft.com/office/drawing/2014/main" id="{52E8DE49-E601-C1BF-A858-50CFF27EB1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30391" y="4081245"/>
                    <a:ext cx="520701" cy="52469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xlabel-3">
                    <a:extLst>
                      <a:ext uri="{FF2B5EF4-FFF2-40B4-BE49-F238E27FC236}">
                        <a16:creationId xmlns:a16="http://schemas.microsoft.com/office/drawing/2014/main" id="{E78AFEE6-C94E-0F2F-2D91-50B360D251D2}"/>
                      </a:ext>
                    </a:extLst>
                  </p:cNvPr>
                  <p:cNvSpPr txBox="1"/>
                  <p:nvPr/>
                </p:nvSpPr>
                <p:spPr>
                  <a:xfrm>
                    <a:off x="8276593" y="4165166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8" name="xlabel-3">
                    <a:extLst>
                      <a:ext uri="{FF2B5EF4-FFF2-40B4-BE49-F238E27FC236}">
                        <a16:creationId xmlns:a16="http://schemas.microsoft.com/office/drawing/2014/main" id="{E78AFEE6-C94E-0F2F-2D91-50B360D251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6593" y="4165166"/>
                    <a:ext cx="520701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3095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6" name="xtick-3">
                <a:extLst>
                  <a:ext uri="{FF2B5EF4-FFF2-40B4-BE49-F238E27FC236}">
                    <a16:creationId xmlns:a16="http://schemas.microsoft.com/office/drawing/2014/main" id="{A233E3D0-C955-5294-91CB-0B41E548D10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547547" y="4073420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xlabel-2">
                    <a:extLst>
                      <a:ext uri="{FF2B5EF4-FFF2-40B4-BE49-F238E27FC236}">
                        <a16:creationId xmlns:a16="http://schemas.microsoft.com/office/drawing/2014/main" id="{E2DCFA7D-1488-76C2-EE35-EF05B14D0CD3}"/>
                      </a:ext>
                    </a:extLst>
                  </p:cNvPr>
                  <p:cNvSpPr txBox="1"/>
                  <p:nvPr/>
                </p:nvSpPr>
                <p:spPr>
                  <a:xfrm>
                    <a:off x="8996942" y="4171421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9" name="xlabel-2">
                    <a:extLst>
                      <a:ext uri="{FF2B5EF4-FFF2-40B4-BE49-F238E27FC236}">
                        <a16:creationId xmlns:a16="http://schemas.microsoft.com/office/drawing/2014/main" id="{E2DCFA7D-1488-76C2-EE35-EF05B14D0C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96942" y="4171421"/>
                    <a:ext cx="520701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7" name="xtick-2">
                <a:extLst>
                  <a:ext uri="{FF2B5EF4-FFF2-40B4-BE49-F238E27FC236}">
                    <a16:creationId xmlns:a16="http://schemas.microsoft.com/office/drawing/2014/main" id="{4EA835C7-A7A5-A17E-9DD2-3DEBBDAA52D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68272" y="4084906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xlabel-1">
                    <a:extLst>
                      <a:ext uri="{FF2B5EF4-FFF2-40B4-BE49-F238E27FC236}">
                        <a16:creationId xmlns:a16="http://schemas.microsoft.com/office/drawing/2014/main" id="{DF1EB158-4C5D-C070-2DF9-90CA8A9229B4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397" y="4171421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80" name="xlabel-1">
                    <a:extLst>
                      <a:ext uri="{FF2B5EF4-FFF2-40B4-BE49-F238E27FC236}">
                        <a16:creationId xmlns:a16="http://schemas.microsoft.com/office/drawing/2014/main" id="{DF1EB158-4C5D-C070-2DF9-90CA8A9229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397" y="4171421"/>
                    <a:ext cx="520701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3170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8" name="xtick-1">
                <a:extLst>
                  <a:ext uri="{FF2B5EF4-FFF2-40B4-BE49-F238E27FC236}">
                    <a16:creationId xmlns:a16="http://schemas.microsoft.com/office/drawing/2014/main" id="{90501759-2740-9D24-D31B-1834EAB4ED7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991528" y="4081909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x轴">
                <a:extLst>
                  <a:ext uri="{FF2B5EF4-FFF2-40B4-BE49-F238E27FC236}">
                    <a16:creationId xmlns:a16="http://schemas.microsoft.com/office/drawing/2014/main" id="{ADDA96AE-FE12-3D03-517A-23462BCC0C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11602" y="4159407"/>
                <a:ext cx="213949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" name="渐近线">
            <a:extLst>
              <a:ext uri="{FF2B5EF4-FFF2-40B4-BE49-F238E27FC236}">
                <a16:creationId xmlns:a16="http://schemas.microsoft.com/office/drawing/2014/main" id="{A683D0EC-3F35-7D01-7745-4DDE0AD5CA2E}"/>
              </a:ext>
            </a:extLst>
          </p:cNvPr>
          <p:cNvGrpSpPr/>
          <p:nvPr/>
        </p:nvGrpSpPr>
        <p:grpSpPr>
          <a:xfrm>
            <a:off x="8187275" y="2161209"/>
            <a:ext cx="2999986" cy="3980911"/>
            <a:chOff x="7670800" y="1679874"/>
            <a:chExt cx="2999986" cy="3980911"/>
          </a:xfrm>
        </p:grpSpPr>
        <p:cxnSp>
          <p:nvCxnSpPr>
            <p:cNvPr id="72" name="渐近线3">
              <a:extLst>
                <a:ext uri="{FF2B5EF4-FFF2-40B4-BE49-F238E27FC236}">
                  <a16:creationId xmlns:a16="http://schemas.microsoft.com/office/drawing/2014/main" id="{264FE449-0CF6-1F0D-67C0-59BAE5736F01}"/>
                </a:ext>
              </a:extLst>
            </p:cNvPr>
            <p:cNvCxnSpPr>
              <a:cxnSpLocks/>
            </p:cNvCxnSpPr>
            <p:nvPr/>
          </p:nvCxnSpPr>
          <p:spPr>
            <a:xfrm>
              <a:off x="9510872" y="3670345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渐近线2">
              <a:extLst>
                <a:ext uri="{FF2B5EF4-FFF2-40B4-BE49-F238E27FC236}">
                  <a16:creationId xmlns:a16="http://schemas.microsoft.com/office/drawing/2014/main" id="{EB519B9F-D20A-C5FE-73B1-9B4E0FE76F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0872" y="1679874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渐近线1">
              <a:extLst>
                <a:ext uri="{FF2B5EF4-FFF2-40B4-BE49-F238E27FC236}">
                  <a16:creationId xmlns:a16="http://schemas.microsoft.com/office/drawing/2014/main" id="{F70145A8-9304-D24A-790B-DDA14D9E28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70800" y="3672000"/>
              <a:ext cx="1840072" cy="14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极点3">
            <a:extLst>
              <a:ext uri="{FF2B5EF4-FFF2-40B4-BE49-F238E27FC236}">
                <a16:creationId xmlns:a16="http://schemas.microsoft.com/office/drawing/2014/main" id="{B8370DAA-4D18-6947-7E55-A577D76E5765}"/>
              </a:ext>
            </a:extLst>
          </p:cNvPr>
          <p:cNvSpPr/>
          <p:nvPr/>
        </p:nvSpPr>
        <p:spPr>
          <a:xfrm>
            <a:off x="9168589" y="4005709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74" name="极点2">
            <a:extLst>
              <a:ext uri="{FF2B5EF4-FFF2-40B4-BE49-F238E27FC236}">
                <a16:creationId xmlns:a16="http://schemas.microsoft.com/office/drawing/2014/main" id="{570D5BFE-5973-CBA5-DD96-76697FECF3BC}"/>
              </a:ext>
            </a:extLst>
          </p:cNvPr>
          <p:cNvSpPr/>
          <p:nvPr/>
        </p:nvSpPr>
        <p:spPr>
          <a:xfrm>
            <a:off x="9911209" y="4005709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47" name="极点1">
            <a:extLst>
              <a:ext uri="{FF2B5EF4-FFF2-40B4-BE49-F238E27FC236}">
                <a16:creationId xmlns:a16="http://schemas.microsoft.com/office/drawing/2014/main" id="{F990C884-C1D1-9728-B477-5393D0DC837B}"/>
              </a:ext>
            </a:extLst>
          </p:cNvPr>
          <p:cNvSpPr/>
          <p:nvPr/>
        </p:nvSpPr>
        <p:spPr>
          <a:xfrm>
            <a:off x="10641568" y="4015391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89" name="根轨迹5">
            <a:extLst>
              <a:ext uri="{FF2B5EF4-FFF2-40B4-BE49-F238E27FC236}">
                <a16:creationId xmlns:a16="http://schemas.microsoft.com/office/drawing/2014/main" id="{E12B7CA6-9BCC-086E-A247-F9F6E9BCF1C3}"/>
              </a:ext>
            </a:extLst>
          </p:cNvPr>
          <p:cNvSpPr/>
          <p:nvPr/>
        </p:nvSpPr>
        <p:spPr>
          <a:xfrm flipV="1">
            <a:off x="10437544" y="4149081"/>
            <a:ext cx="886607" cy="214043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56 w 886614"/>
              <a:gd name="connsiteY0" fmla="*/ 2140438 h 2140438"/>
              <a:gd name="connsiteX1" fmla="*/ 886614 w 886614"/>
              <a:gd name="connsiteY1" fmla="*/ 0 h 2140438"/>
              <a:gd name="connsiteX0" fmla="*/ 49 w 886607"/>
              <a:gd name="connsiteY0" fmla="*/ 2140438 h 2140438"/>
              <a:gd name="connsiteX1" fmla="*/ 886607 w 886607"/>
              <a:gd name="connsiteY1" fmla="*/ 0 h 2140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6607" h="2140438">
                <a:moveTo>
                  <a:pt x="49" y="2140438"/>
                </a:moveTo>
                <a:cubicBezTo>
                  <a:pt x="-4998" y="1733875"/>
                  <a:pt x="383654" y="1054263"/>
                  <a:pt x="886607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5" name="根轨迹4">
            <a:extLst>
              <a:ext uri="{FF2B5EF4-FFF2-40B4-BE49-F238E27FC236}">
                <a16:creationId xmlns:a16="http://schemas.microsoft.com/office/drawing/2014/main" id="{D33770EC-AFAE-0AD0-493D-DCD2F66BA132}"/>
              </a:ext>
            </a:extLst>
          </p:cNvPr>
          <p:cNvSpPr/>
          <p:nvPr/>
        </p:nvSpPr>
        <p:spPr>
          <a:xfrm>
            <a:off x="10437593" y="2024654"/>
            <a:ext cx="886558" cy="214043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6558" h="2140438">
                <a:moveTo>
                  <a:pt x="0" y="2140438"/>
                </a:moveTo>
                <a:cubicBezTo>
                  <a:pt x="7653" y="1657675"/>
                  <a:pt x="383605" y="1073313"/>
                  <a:pt x="886558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7" name="根轨迹3">
            <a:extLst>
              <a:ext uri="{FF2B5EF4-FFF2-40B4-BE49-F238E27FC236}">
                <a16:creationId xmlns:a16="http://schemas.microsoft.com/office/drawing/2014/main" id="{122468A5-3A2C-7B82-6071-8D9C1A88BAD0}"/>
              </a:ext>
            </a:extLst>
          </p:cNvPr>
          <p:cNvCxnSpPr/>
          <p:nvPr/>
        </p:nvCxnSpPr>
        <p:spPr>
          <a:xfrm flipH="1">
            <a:off x="8486598" y="4159407"/>
            <a:ext cx="864096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根轨迹2">
            <a:extLst>
              <a:ext uri="{FF2B5EF4-FFF2-40B4-BE49-F238E27FC236}">
                <a16:creationId xmlns:a16="http://schemas.microsoft.com/office/drawing/2014/main" id="{EFA8894D-45ED-D569-07EA-20AE9ED206B3}"/>
              </a:ext>
            </a:extLst>
          </p:cNvPr>
          <p:cNvCxnSpPr>
            <a:cxnSpLocks/>
          </p:cNvCxnSpPr>
          <p:nvPr/>
        </p:nvCxnSpPr>
        <p:spPr>
          <a:xfrm>
            <a:off x="10068065" y="4159407"/>
            <a:ext cx="408115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根轨迹1">
            <a:extLst>
              <a:ext uri="{FF2B5EF4-FFF2-40B4-BE49-F238E27FC236}">
                <a16:creationId xmlns:a16="http://schemas.microsoft.com/office/drawing/2014/main" id="{FF83B925-EBB0-41DF-6B38-1BF91B69350F}"/>
              </a:ext>
            </a:extLst>
          </p:cNvPr>
          <p:cNvCxnSpPr>
            <a:cxnSpLocks/>
          </p:cNvCxnSpPr>
          <p:nvPr/>
        </p:nvCxnSpPr>
        <p:spPr>
          <a:xfrm flipH="1" flipV="1">
            <a:off x="10442857" y="4151734"/>
            <a:ext cx="358938" cy="3201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虚轴交点2">
            <a:extLst>
              <a:ext uri="{FF2B5EF4-FFF2-40B4-BE49-F238E27FC236}">
                <a16:creationId xmlns:a16="http://schemas.microsoft.com/office/drawing/2014/main" id="{025E0F1B-B452-EA66-ED96-AB361E280D15}"/>
              </a:ext>
            </a:extLst>
          </p:cNvPr>
          <p:cNvSpPr/>
          <p:nvPr/>
        </p:nvSpPr>
        <p:spPr>
          <a:xfrm>
            <a:off x="10724208" y="3066429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虚轴交点1">
            <a:extLst>
              <a:ext uri="{FF2B5EF4-FFF2-40B4-BE49-F238E27FC236}">
                <a16:creationId xmlns:a16="http://schemas.microsoft.com/office/drawing/2014/main" id="{E09F011A-A0A8-A185-3CBD-C857F6707CB6}"/>
              </a:ext>
            </a:extLst>
          </p:cNvPr>
          <p:cNvSpPr/>
          <p:nvPr/>
        </p:nvSpPr>
        <p:spPr>
          <a:xfrm>
            <a:off x="10724653" y="5110651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分离点">
            <a:extLst>
              <a:ext uri="{FF2B5EF4-FFF2-40B4-BE49-F238E27FC236}">
                <a16:creationId xmlns:a16="http://schemas.microsoft.com/office/drawing/2014/main" id="{05A3E4C2-2924-D27A-FA98-F9EA9CC37D97}"/>
              </a:ext>
            </a:extLst>
          </p:cNvPr>
          <p:cNvSpPr/>
          <p:nvPr/>
        </p:nvSpPr>
        <p:spPr>
          <a:xfrm>
            <a:off x="10384020" y="409673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开环传函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/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开环传函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blipFill>
                <a:blip r:embed="rId12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特征方程">
                <a:extLst>
                  <a:ext uri="{FF2B5EF4-FFF2-40B4-BE49-F238E27FC236}">
                    <a16:creationId xmlns:a16="http://schemas.microsoft.com/office/drawing/2014/main" id="{F9B106B4-9566-0C50-F89E-02A2FA799D62}"/>
                  </a:ext>
                </a:extLst>
              </p:cNvPr>
              <p:cNvSpPr txBox="1"/>
              <p:nvPr/>
            </p:nvSpPr>
            <p:spPr>
              <a:xfrm>
                <a:off x="116843" y="1865619"/>
                <a:ext cx="81246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kumimoji="1" lang="en-US" altLang="zh-CN" sz="2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zh-CN" alt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zh-CN" alt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50" name="特征方程">
                <a:extLst>
                  <a:ext uri="{FF2B5EF4-FFF2-40B4-BE49-F238E27FC236}">
                    <a16:creationId xmlns:a16="http://schemas.microsoft.com/office/drawing/2014/main" id="{F9B106B4-9566-0C50-F89E-02A2FA799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43" y="1865619"/>
                <a:ext cx="812467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劳斯表">
                <a:extLst>
                  <a:ext uri="{FF2B5EF4-FFF2-40B4-BE49-F238E27FC236}">
                    <a16:creationId xmlns:a16="http://schemas.microsoft.com/office/drawing/2014/main" id="{9D2D498C-81E3-6007-2874-21AA71CDFA6F}"/>
                  </a:ext>
                </a:extLst>
              </p:cNvPr>
              <p:cNvSpPr txBox="1"/>
              <p:nvPr/>
            </p:nvSpPr>
            <p:spPr>
              <a:xfrm>
                <a:off x="558903" y="2504176"/>
                <a:ext cx="2561782" cy="3138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lang="en-US" altLang="zh-CN" sz="2800" b="0" i="1" smtClean="0">
                                    <a:solidFill>
                                      <a:srgbClr val="169F8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169F8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solidFill>
                                      <a:srgbClr val="169F8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zh-CN" alt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lang="en-US" altLang="zh-CN" sz="2800" b="0" i="1" smtClean="0">
                                    <a:solidFill>
                                      <a:srgbClr val="169F8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169F8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solidFill>
                                      <a:srgbClr val="169F8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zh-CN" alt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e>
                            <m:r>
                              <a:rPr lang="zh-CN" alt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lang="en-US" altLang="zh-CN" sz="2800" i="1" smtClean="0">
                                    <a:solidFill>
                                      <a:srgbClr val="169F8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solidFill>
                                      <a:srgbClr val="169F8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solidFill>
                                      <a:srgbClr val="169F8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  <m:e>
                            <m:box>
                              <m:box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6−</m:t>
                                        </m:r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p>
                                        <m:r>
                                          <a:rPr lang="zh-CN" altLang="en-US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box>
                          </m:e>
                          <m:e>
                            <m:r>
                              <a:rPr lang="zh-CN" altLang="en-US" sz="2800" b="0" i="1" smtClean="0">
                                <a:highlight>
                                  <a:srgbClr val="F6973B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sSup>
                              <m:sSupPr>
                                <m:ctrlPr>
                                  <a:rPr lang="en-US" altLang="zh-CN" sz="2800" b="0" i="1" smtClean="0">
                                    <a:solidFill>
                                      <a:srgbClr val="169F8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169F8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solidFill>
                                      <a:srgbClr val="169F84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e>
                          <m:e>
                            <m:sSup>
                              <m:sSupPr>
                                <m:ctrlPr>
                                  <a:rPr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zh-CN" alt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</m:m>
                    </m:oMath>
                  </m:oMathPara>
                </a14:m>
                <a:br>
                  <a:rPr lang="en-US" altLang="zh-CN" sz="28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endParaRPr lang="zh-CN" altLang="en-US" sz="2800" i="1" dirty="0"/>
              </a:p>
            </p:txBody>
          </p:sp>
        </mc:Choice>
        <mc:Fallback xmlns="">
          <p:sp>
            <p:nvSpPr>
              <p:cNvPr id="53" name="劳斯表">
                <a:extLst>
                  <a:ext uri="{FF2B5EF4-FFF2-40B4-BE49-F238E27FC236}">
                    <a16:creationId xmlns:a16="http://schemas.microsoft.com/office/drawing/2014/main" id="{9D2D498C-81E3-6007-2874-21AA71CDF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03" y="2504176"/>
                <a:ext cx="2561782" cy="3138488"/>
              </a:xfrm>
              <a:prstGeom prst="rect">
                <a:avLst/>
              </a:prstGeom>
              <a:blipFill>
                <a:blip r:embed="rId14"/>
                <a:stretch>
                  <a:fillRect t="-8468" r="-9901" b="-5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B33FF0CE-AF7E-8199-D0CB-BE73C553B393}"/>
                  </a:ext>
                </a:extLst>
              </p:cNvPr>
              <p:cNvSpPr txBox="1"/>
              <p:nvPr/>
            </p:nvSpPr>
            <p:spPr>
              <a:xfrm>
                <a:off x="3574519" y="3152532"/>
                <a:ext cx="2343146" cy="22887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系统稳定范围</a:t>
                </a:r>
                <a:endParaRPr lang="en-US" altLang="zh-CN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&lt;6</m:t>
                    </m:r>
                  </m:oMath>
                </a14:m>
                <a:r>
                  <a:rPr lang="zh-CN" altLang="en-US" sz="2800" i="1" dirty="0"/>
                  <a:t> </a:t>
                </a:r>
                <a:endParaRPr lang="en-US" altLang="zh-CN" sz="2800" i="1" dirty="0"/>
              </a:p>
              <a:p>
                <a:r>
                  <a:rPr lang="zh-CN" altLang="en-US" sz="2800" dirty="0"/>
                  <a:t>令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zh-CN" altLang="en-US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altLang="zh-CN" sz="2800" dirty="0"/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zh-CN" altLang="en-US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800" dirty="0"/>
                  <a:t> </a:t>
                </a:r>
                <a:endParaRPr lang="en-US" altLang="zh-CN" sz="2800" dirty="0"/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=±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𝑗</m:t>
                    </m:r>
                    <m:rad>
                      <m:radPr>
                        <m:degHide m:val="on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B33FF0CE-AF7E-8199-D0CB-BE73C553B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519" y="3152532"/>
                <a:ext cx="2343146" cy="2288703"/>
              </a:xfrm>
              <a:prstGeom prst="rect">
                <a:avLst/>
              </a:prstGeom>
              <a:blipFill>
                <a:blip r:embed="rId15"/>
                <a:stretch>
                  <a:fillRect l="-5376" t="-3867" r="-3763" b="-2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5DE75D63-AD87-8461-4138-5C726CCF6808}"/>
              </a:ext>
            </a:extLst>
          </p:cNvPr>
          <p:cNvGrpSpPr/>
          <p:nvPr/>
        </p:nvGrpSpPr>
        <p:grpSpPr>
          <a:xfrm>
            <a:off x="3613336" y="5481248"/>
            <a:ext cx="1697791" cy="1014441"/>
            <a:chOff x="3613336" y="5481248"/>
            <a:chExt cx="1697791" cy="1014441"/>
          </a:xfrm>
        </p:grpSpPr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8D32E806-5B3D-52DF-3173-48852DF505ED}"/>
                </a:ext>
              </a:extLst>
            </p:cNvPr>
            <p:cNvSpPr txBox="1"/>
            <p:nvPr/>
          </p:nvSpPr>
          <p:spPr>
            <a:xfrm>
              <a:off x="3613336" y="5896566"/>
              <a:ext cx="1697791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solidFill>
                    <a:schemeClr val="bg1"/>
                  </a:solidFill>
                </a:rPr>
                <a:t>共轭虚根</a:t>
              </a:r>
            </a:p>
          </p:txBody>
        </p:sp>
        <p:sp>
          <p:nvSpPr>
            <p:cNvPr id="69" name="燕尾形 68">
              <a:extLst>
                <a:ext uri="{FF2B5EF4-FFF2-40B4-BE49-F238E27FC236}">
                  <a16:creationId xmlns:a16="http://schemas.microsoft.com/office/drawing/2014/main" id="{4683CC16-D685-479A-A818-8350DC34466E}"/>
                </a:ext>
              </a:extLst>
            </p:cNvPr>
            <p:cNvSpPr/>
            <p:nvPr/>
          </p:nvSpPr>
          <p:spPr>
            <a:xfrm rot="5400000">
              <a:off x="4282694" y="5444761"/>
              <a:ext cx="359074" cy="432048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5" name="小标题">
            <a:extLst>
              <a:ext uri="{FF2B5EF4-FFF2-40B4-BE49-F238E27FC236}">
                <a16:creationId xmlns:a16="http://schemas.microsoft.com/office/drawing/2014/main" id="{9188FB87-E2C8-E530-5006-C850718ADCE1}"/>
              </a:ext>
            </a:extLst>
          </p:cNvPr>
          <p:cNvSpPr/>
          <p:nvPr/>
        </p:nvSpPr>
        <p:spPr bwMode="auto">
          <a:xfrm>
            <a:off x="3696274" y="1096962"/>
            <a:ext cx="2025600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劳斯判据</a:t>
            </a:r>
          </a:p>
        </p:txBody>
      </p:sp>
      <p:grpSp>
        <p:nvGrpSpPr>
          <p:cNvPr id="70" name="问题">
            <a:extLst>
              <a:ext uri="{FF2B5EF4-FFF2-40B4-BE49-F238E27FC236}">
                <a16:creationId xmlns:a16="http://schemas.microsoft.com/office/drawing/2014/main" id="{768A9A09-C099-A72E-7BCD-00AEB4AB1D0B}"/>
              </a:ext>
            </a:extLst>
          </p:cNvPr>
          <p:cNvGrpSpPr/>
          <p:nvPr/>
        </p:nvGrpSpPr>
        <p:grpSpPr>
          <a:xfrm>
            <a:off x="253183" y="917514"/>
            <a:ext cx="3519741" cy="881063"/>
            <a:chOff x="5348307" y="5538470"/>
            <a:chExt cx="3519741" cy="881063"/>
          </a:xfrm>
        </p:grpSpPr>
        <p:sp>
          <p:nvSpPr>
            <p:cNvPr id="71" name="问号">
              <a:extLst>
                <a:ext uri="{FF2B5EF4-FFF2-40B4-BE49-F238E27FC236}">
                  <a16:creationId xmlns:a16="http://schemas.microsoft.com/office/drawing/2014/main" id="{9E3D3C28-D453-8E34-D365-10935BD4153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73" name="文本">
              <a:extLst>
                <a:ext uri="{FF2B5EF4-FFF2-40B4-BE49-F238E27FC236}">
                  <a16:creationId xmlns:a16="http://schemas.microsoft.com/office/drawing/2014/main" id="{E2C68CA7-65B9-3C86-6C43-C809E7DE0B7D}"/>
                </a:ext>
              </a:extLst>
            </p:cNvPr>
            <p:cNvSpPr txBox="1"/>
            <p:nvPr/>
          </p:nvSpPr>
          <p:spPr>
            <a:xfrm>
              <a:off x="6306266" y="5726958"/>
              <a:ext cx="256178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与虚轴交点？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分离点例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2938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9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75" grpId="0" animBg="1"/>
      <p:bldP spid="90" grpId="0" animBg="1"/>
      <p:bldP spid="91" grpId="0" animBg="1"/>
      <p:bldP spid="92" grpId="0" animBg="1"/>
      <p:bldP spid="50" grpId="0"/>
      <p:bldP spid="53" grpId="0"/>
      <p:bldP spid="63" grpId="0"/>
      <p:bldP spid="85" grpId="0" animBg="1"/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坐标轴">
            <a:extLst>
              <a:ext uri="{FF2B5EF4-FFF2-40B4-BE49-F238E27FC236}">
                <a16:creationId xmlns:a16="http://schemas.microsoft.com/office/drawing/2014/main" id="{B8C46105-A591-9B12-EB98-0E6BD26930BF}"/>
              </a:ext>
            </a:extLst>
          </p:cNvPr>
          <p:cNvGrpSpPr/>
          <p:nvPr/>
        </p:nvGrpSpPr>
        <p:grpSpPr>
          <a:xfrm>
            <a:off x="8276593" y="1678087"/>
            <a:ext cx="3188060" cy="4741714"/>
            <a:chOff x="8276593" y="1678087"/>
            <a:chExt cx="3188060" cy="4741714"/>
          </a:xfrm>
        </p:grpSpPr>
        <p:grpSp>
          <p:nvGrpSpPr>
            <p:cNvPr id="5" name="虚轴">
              <a:extLst>
                <a:ext uri="{FF2B5EF4-FFF2-40B4-BE49-F238E27FC236}">
                  <a16:creationId xmlns:a16="http://schemas.microsoft.com/office/drawing/2014/main" id="{28A88718-00A9-1D39-7B0D-E63F159F4311}"/>
                </a:ext>
              </a:extLst>
            </p:cNvPr>
            <p:cNvGrpSpPr/>
            <p:nvPr/>
          </p:nvGrpSpPr>
          <p:grpSpPr>
            <a:xfrm>
              <a:off x="10787944" y="1678087"/>
              <a:ext cx="676709" cy="4741714"/>
              <a:chOff x="10787944" y="1678087"/>
              <a:chExt cx="676709" cy="47417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labelj">
                    <a:extLst>
                      <a:ext uri="{FF2B5EF4-FFF2-40B4-BE49-F238E27FC236}">
                        <a16:creationId xmlns:a16="http://schemas.microsoft.com/office/drawing/2014/main" id="{2F56F1F5-44F7-AF26-00A4-BAA5716ADDC0}"/>
                      </a:ext>
                    </a:extLst>
                  </p:cNvPr>
                  <p:cNvSpPr txBox="1"/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8" name="labelj">
                    <a:extLst>
                      <a:ext uri="{FF2B5EF4-FFF2-40B4-BE49-F238E27FC236}">
                        <a16:creationId xmlns:a16="http://schemas.microsoft.com/office/drawing/2014/main" id="{2F56F1F5-44F7-AF26-00A4-BAA5716ADD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ylabel2">
                    <a:extLst>
                      <a:ext uri="{FF2B5EF4-FFF2-40B4-BE49-F238E27FC236}">
                        <a16:creationId xmlns:a16="http://schemas.microsoft.com/office/drawing/2014/main" id="{9D7C0A6B-EB41-E864-C05F-98B92D5C0580}"/>
                      </a:ext>
                    </a:extLst>
                  </p:cNvPr>
                  <p:cNvSpPr txBox="1"/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4" name="ylabel2">
                    <a:extLst>
                      <a:ext uri="{FF2B5EF4-FFF2-40B4-BE49-F238E27FC236}">
                        <a16:creationId xmlns:a16="http://schemas.microsoft.com/office/drawing/2014/main" id="{9D7C0A6B-EB41-E864-C05F-98B92D5C05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692" r="-307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1" name="ytick2">
                <a:extLst>
                  <a:ext uri="{FF2B5EF4-FFF2-40B4-BE49-F238E27FC236}">
                    <a16:creationId xmlns:a16="http://schemas.microsoft.com/office/drawing/2014/main" id="{463577E2-6CBB-70F5-1604-62C7372418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4468" y="2713985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ylabel1">
                    <a:extLst>
                      <a:ext uri="{FF2B5EF4-FFF2-40B4-BE49-F238E27FC236}">
                        <a16:creationId xmlns:a16="http://schemas.microsoft.com/office/drawing/2014/main" id="{9CB1BFCC-5737-595F-A04A-49E1593A3955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9030" y="3167390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2" name="ylabel1">
                    <a:extLst>
                      <a:ext uri="{FF2B5EF4-FFF2-40B4-BE49-F238E27FC236}">
                        <a16:creationId xmlns:a16="http://schemas.microsoft.com/office/drawing/2014/main" id="{9CB1BFCC-5737-595F-A04A-49E1593A39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9030" y="3167390"/>
                    <a:ext cx="322182" cy="52469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1538" r="-2692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4" name="ytick1">
                <a:extLst>
                  <a:ext uri="{FF2B5EF4-FFF2-40B4-BE49-F238E27FC236}">
                    <a16:creationId xmlns:a16="http://schemas.microsoft.com/office/drawing/2014/main" id="{BD642B27-0FBD-4E61-E0F6-67076E6F2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87944" y="3429000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ylabel-1">
                    <a:extLst>
                      <a:ext uri="{FF2B5EF4-FFF2-40B4-BE49-F238E27FC236}">
                        <a16:creationId xmlns:a16="http://schemas.microsoft.com/office/drawing/2014/main" id="{F2102832-36D4-C639-4E99-019C65F313EE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3952" y="4610305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6" name="ylabel-1">
                    <a:extLst>
                      <a:ext uri="{FF2B5EF4-FFF2-40B4-BE49-F238E27FC236}">
                        <a16:creationId xmlns:a16="http://schemas.microsoft.com/office/drawing/2014/main" id="{F2102832-36D4-C639-4E99-019C65F313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3952" y="4610305"/>
                    <a:ext cx="520701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7" name="ytick-1">
                <a:extLst>
                  <a:ext uri="{FF2B5EF4-FFF2-40B4-BE49-F238E27FC236}">
                    <a16:creationId xmlns:a16="http://schemas.microsoft.com/office/drawing/2014/main" id="{698CB20C-B1EE-9542-3826-004E8AD7B9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4876194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ylabel-2">
                    <a:extLst>
                      <a:ext uri="{FF2B5EF4-FFF2-40B4-BE49-F238E27FC236}">
                        <a16:creationId xmlns:a16="http://schemas.microsoft.com/office/drawing/2014/main" id="{7FB83E9A-2039-8046-0AA8-71238C3BB42B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8" name="ylabel-2">
                    <a:extLst>
                      <a:ext uri="{FF2B5EF4-FFF2-40B4-BE49-F238E27FC236}">
                        <a16:creationId xmlns:a16="http://schemas.microsoft.com/office/drawing/2014/main" id="{7FB83E9A-2039-8046-0AA8-71238C3BB4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9" name="ytick-2">
                <a:extLst>
                  <a:ext uri="{FF2B5EF4-FFF2-40B4-BE49-F238E27FC236}">
                    <a16:creationId xmlns:a16="http://schemas.microsoft.com/office/drawing/2014/main" id="{EBD3A8E0-2B71-AC34-B21A-FBAB2A23E4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5591991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y轴">
                <a:extLst>
                  <a:ext uri="{FF2B5EF4-FFF2-40B4-BE49-F238E27FC236}">
                    <a16:creationId xmlns:a16="http://schemas.microsoft.com/office/drawing/2014/main" id="{B4F167F5-4B4A-3B66-66CF-556A7B3392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92135" y="2027313"/>
                <a:ext cx="0" cy="43924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实轴">
              <a:extLst>
                <a:ext uri="{FF2B5EF4-FFF2-40B4-BE49-F238E27FC236}">
                  <a16:creationId xmlns:a16="http://schemas.microsoft.com/office/drawing/2014/main" id="{37BC8127-5B2E-EBD8-C770-7C296B5FE20E}"/>
                </a:ext>
              </a:extLst>
            </p:cNvPr>
            <p:cNvGrpSpPr/>
            <p:nvPr/>
          </p:nvGrpSpPr>
          <p:grpSpPr>
            <a:xfrm>
              <a:off x="8276593" y="4005604"/>
              <a:ext cx="2974499" cy="689037"/>
              <a:chOff x="8276593" y="4005604"/>
              <a:chExt cx="2974499" cy="68903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label0">
                    <a:extLst>
                      <a:ext uri="{FF2B5EF4-FFF2-40B4-BE49-F238E27FC236}">
                        <a16:creationId xmlns:a16="http://schemas.microsoft.com/office/drawing/2014/main" id="{52E8DE49-E601-C1BF-A858-50CFF27EB174}"/>
                      </a:ext>
                    </a:extLst>
                  </p:cNvPr>
                  <p:cNvSpPr txBox="1"/>
                  <p:nvPr/>
                </p:nvSpPr>
                <p:spPr>
                  <a:xfrm>
                    <a:off x="10730391" y="4081245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1" name="label0">
                    <a:extLst>
                      <a:ext uri="{FF2B5EF4-FFF2-40B4-BE49-F238E27FC236}">
                        <a16:creationId xmlns:a16="http://schemas.microsoft.com/office/drawing/2014/main" id="{52E8DE49-E601-C1BF-A858-50CFF27EB1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30391" y="4081245"/>
                    <a:ext cx="520701" cy="52469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xlabel-3">
                    <a:extLst>
                      <a:ext uri="{FF2B5EF4-FFF2-40B4-BE49-F238E27FC236}">
                        <a16:creationId xmlns:a16="http://schemas.microsoft.com/office/drawing/2014/main" id="{E78AFEE6-C94E-0F2F-2D91-50B360D251D2}"/>
                      </a:ext>
                    </a:extLst>
                  </p:cNvPr>
                  <p:cNvSpPr txBox="1"/>
                  <p:nvPr/>
                </p:nvSpPr>
                <p:spPr>
                  <a:xfrm>
                    <a:off x="8276593" y="4165166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8" name="xlabel-3">
                    <a:extLst>
                      <a:ext uri="{FF2B5EF4-FFF2-40B4-BE49-F238E27FC236}">
                        <a16:creationId xmlns:a16="http://schemas.microsoft.com/office/drawing/2014/main" id="{E78AFEE6-C94E-0F2F-2D91-50B360D251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6593" y="4165166"/>
                    <a:ext cx="520701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3095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6" name="xtick-3">
                <a:extLst>
                  <a:ext uri="{FF2B5EF4-FFF2-40B4-BE49-F238E27FC236}">
                    <a16:creationId xmlns:a16="http://schemas.microsoft.com/office/drawing/2014/main" id="{A233E3D0-C955-5294-91CB-0B41E548D10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547547" y="4073420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xlabel-2">
                    <a:extLst>
                      <a:ext uri="{FF2B5EF4-FFF2-40B4-BE49-F238E27FC236}">
                        <a16:creationId xmlns:a16="http://schemas.microsoft.com/office/drawing/2014/main" id="{E2DCFA7D-1488-76C2-EE35-EF05B14D0CD3}"/>
                      </a:ext>
                    </a:extLst>
                  </p:cNvPr>
                  <p:cNvSpPr txBox="1"/>
                  <p:nvPr/>
                </p:nvSpPr>
                <p:spPr>
                  <a:xfrm>
                    <a:off x="8996942" y="4171421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9" name="xlabel-2">
                    <a:extLst>
                      <a:ext uri="{FF2B5EF4-FFF2-40B4-BE49-F238E27FC236}">
                        <a16:creationId xmlns:a16="http://schemas.microsoft.com/office/drawing/2014/main" id="{E2DCFA7D-1488-76C2-EE35-EF05B14D0C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96942" y="4171421"/>
                    <a:ext cx="520701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7" name="xtick-2">
                <a:extLst>
                  <a:ext uri="{FF2B5EF4-FFF2-40B4-BE49-F238E27FC236}">
                    <a16:creationId xmlns:a16="http://schemas.microsoft.com/office/drawing/2014/main" id="{4EA835C7-A7A5-A17E-9DD2-3DEBBDAA52D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68272" y="4084906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xlabel-1">
                    <a:extLst>
                      <a:ext uri="{FF2B5EF4-FFF2-40B4-BE49-F238E27FC236}">
                        <a16:creationId xmlns:a16="http://schemas.microsoft.com/office/drawing/2014/main" id="{DF1EB158-4C5D-C070-2DF9-90CA8A9229B4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397" y="4171421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80" name="xlabel-1">
                    <a:extLst>
                      <a:ext uri="{FF2B5EF4-FFF2-40B4-BE49-F238E27FC236}">
                        <a16:creationId xmlns:a16="http://schemas.microsoft.com/office/drawing/2014/main" id="{DF1EB158-4C5D-C070-2DF9-90CA8A9229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397" y="4171421"/>
                    <a:ext cx="520701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3170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8" name="xtick-1">
                <a:extLst>
                  <a:ext uri="{FF2B5EF4-FFF2-40B4-BE49-F238E27FC236}">
                    <a16:creationId xmlns:a16="http://schemas.microsoft.com/office/drawing/2014/main" id="{90501759-2740-9D24-D31B-1834EAB4ED7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991528" y="4081909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x轴">
                <a:extLst>
                  <a:ext uri="{FF2B5EF4-FFF2-40B4-BE49-F238E27FC236}">
                    <a16:creationId xmlns:a16="http://schemas.microsoft.com/office/drawing/2014/main" id="{ADDA96AE-FE12-3D03-517A-23462BCC0C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11602" y="4159407"/>
                <a:ext cx="213949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" name="渐近线">
            <a:extLst>
              <a:ext uri="{FF2B5EF4-FFF2-40B4-BE49-F238E27FC236}">
                <a16:creationId xmlns:a16="http://schemas.microsoft.com/office/drawing/2014/main" id="{A683D0EC-3F35-7D01-7745-4DDE0AD5CA2E}"/>
              </a:ext>
            </a:extLst>
          </p:cNvPr>
          <p:cNvGrpSpPr/>
          <p:nvPr/>
        </p:nvGrpSpPr>
        <p:grpSpPr>
          <a:xfrm>
            <a:off x="8187275" y="2161209"/>
            <a:ext cx="2999986" cy="3980911"/>
            <a:chOff x="7670800" y="1679874"/>
            <a:chExt cx="2999986" cy="3980911"/>
          </a:xfrm>
        </p:grpSpPr>
        <p:cxnSp>
          <p:nvCxnSpPr>
            <p:cNvPr id="72" name="渐近线3">
              <a:extLst>
                <a:ext uri="{FF2B5EF4-FFF2-40B4-BE49-F238E27FC236}">
                  <a16:creationId xmlns:a16="http://schemas.microsoft.com/office/drawing/2014/main" id="{264FE449-0CF6-1F0D-67C0-59BAE5736F01}"/>
                </a:ext>
              </a:extLst>
            </p:cNvPr>
            <p:cNvCxnSpPr>
              <a:cxnSpLocks/>
            </p:cNvCxnSpPr>
            <p:nvPr/>
          </p:nvCxnSpPr>
          <p:spPr>
            <a:xfrm>
              <a:off x="9510872" y="3670345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渐近线2">
              <a:extLst>
                <a:ext uri="{FF2B5EF4-FFF2-40B4-BE49-F238E27FC236}">
                  <a16:creationId xmlns:a16="http://schemas.microsoft.com/office/drawing/2014/main" id="{EB519B9F-D20A-C5FE-73B1-9B4E0FE76F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0872" y="1679874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渐近线1">
              <a:extLst>
                <a:ext uri="{FF2B5EF4-FFF2-40B4-BE49-F238E27FC236}">
                  <a16:creationId xmlns:a16="http://schemas.microsoft.com/office/drawing/2014/main" id="{F70145A8-9304-D24A-790B-DDA14D9E28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70800" y="3672000"/>
              <a:ext cx="1840072" cy="14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极点3">
            <a:extLst>
              <a:ext uri="{FF2B5EF4-FFF2-40B4-BE49-F238E27FC236}">
                <a16:creationId xmlns:a16="http://schemas.microsoft.com/office/drawing/2014/main" id="{B8370DAA-4D18-6947-7E55-A577D76E5765}"/>
              </a:ext>
            </a:extLst>
          </p:cNvPr>
          <p:cNvSpPr/>
          <p:nvPr/>
        </p:nvSpPr>
        <p:spPr>
          <a:xfrm>
            <a:off x="9168589" y="4005709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74" name="极点2">
            <a:extLst>
              <a:ext uri="{FF2B5EF4-FFF2-40B4-BE49-F238E27FC236}">
                <a16:creationId xmlns:a16="http://schemas.microsoft.com/office/drawing/2014/main" id="{570D5BFE-5973-CBA5-DD96-76697FECF3BC}"/>
              </a:ext>
            </a:extLst>
          </p:cNvPr>
          <p:cNvSpPr/>
          <p:nvPr/>
        </p:nvSpPr>
        <p:spPr>
          <a:xfrm>
            <a:off x="9911209" y="4005709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47" name="极点1">
            <a:extLst>
              <a:ext uri="{FF2B5EF4-FFF2-40B4-BE49-F238E27FC236}">
                <a16:creationId xmlns:a16="http://schemas.microsoft.com/office/drawing/2014/main" id="{F990C884-C1D1-9728-B477-5393D0DC837B}"/>
              </a:ext>
            </a:extLst>
          </p:cNvPr>
          <p:cNvSpPr/>
          <p:nvPr/>
        </p:nvSpPr>
        <p:spPr>
          <a:xfrm>
            <a:off x="10641568" y="4015391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89" name="根轨迹5">
            <a:extLst>
              <a:ext uri="{FF2B5EF4-FFF2-40B4-BE49-F238E27FC236}">
                <a16:creationId xmlns:a16="http://schemas.microsoft.com/office/drawing/2014/main" id="{E12B7CA6-9BCC-086E-A247-F9F6E9BCF1C3}"/>
              </a:ext>
            </a:extLst>
          </p:cNvPr>
          <p:cNvSpPr/>
          <p:nvPr/>
        </p:nvSpPr>
        <p:spPr>
          <a:xfrm flipV="1">
            <a:off x="10437544" y="4149081"/>
            <a:ext cx="886607" cy="214043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56 w 886614"/>
              <a:gd name="connsiteY0" fmla="*/ 2140438 h 2140438"/>
              <a:gd name="connsiteX1" fmla="*/ 886614 w 886614"/>
              <a:gd name="connsiteY1" fmla="*/ 0 h 2140438"/>
              <a:gd name="connsiteX0" fmla="*/ 49 w 886607"/>
              <a:gd name="connsiteY0" fmla="*/ 2140438 h 2140438"/>
              <a:gd name="connsiteX1" fmla="*/ 886607 w 886607"/>
              <a:gd name="connsiteY1" fmla="*/ 0 h 2140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6607" h="2140438">
                <a:moveTo>
                  <a:pt x="49" y="2140438"/>
                </a:moveTo>
                <a:cubicBezTo>
                  <a:pt x="-4998" y="1733875"/>
                  <a:pt x="383654" y="1054263"/>
                  <a:pt x="886607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5" name="根轨迹4">
            <a:extLst>
              <a:ext uri="{FF2B5EF4-FFF2-40B4-BE49-F238E27FC236}">
                <a16:creationId xmlns:a16="http://schemas.microsoft.com/office/drawing/2014/main" id="{D33770EC-AFAE-0AD0-493D-DCD2F66BA132}"/>
              </a:ext>
            </a:extLst>
          </p:cNvPr>
          <p:cNvSpPr/>
          <p:nvPr/>
        </p:nvSpPr>
        <p:spPr>
          <a:xfrm>
            <a:off x="10437593" y="2024654"/>
            <a:ext cx="886558" cy="214043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6558" h="2140438">
                <a:moveTo>
                  <a:pt x="0" y="2140438"/>
                </a:moveTo>
                <a:cubicBezTo>
                  <a:pt x="7653" y="1657675"/>
                  <a:pt x="383605" y="1073313"/>
                  <a:pt x="886558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7" name="根轨迹3">
            <a:extLst>
              <a:ext uri="{FF2B5EF4-FFF2-40B4-BE49-F238E27FC236}">
                <a16:creationId xmlns:a16="http://schemas.microsoft.com/office/drawing/2014/main" id="{122468A5-3A2C-7B82-6071-8D9C1A88BAD0}"/>
              </a:ext>
            </a:extLst>
          </p:cNvPr>
          <p:cNvCxnSpPr/>
          <p:nvPr/>
        </p:nvCxnSpPr>
        <p:spPr>
          <a:xfrm flipH="1">
            <a:off x="8486598" y="4159407"/>
            <a:ext cx="864096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根轨迹2">
            <a:extLst>
              <a:ext uri="{FF2B5EF4-FFF2-40B4-BE49-F238E27FC236}">
                <a16:creationId xmlns:a16="http://schemas.microsoft.com/office/drawing/2014/main" id="{EFA8894D-45ED-D569-07EA-20AE9ED206B3}"/>
              </a:ext>
            </a:extLst>
          </p:cNvPr>
          <p:cNvCxnSpPr>
            <a:cxnSpLocks/>
          </p:cNvCxnSpPr>
          <p:nvPr/>
        </p:nvCxnSpPr>
        <p:spPr>
          <a:xfrm>
            <a:off x="10068065" y="4159407"/>
            <a:ext cx="408115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根轨迹1">
            <a:extLst>
              <a:ext uri="{FF2B5EF4-FFF2-40B4-BE49-F238E27FC236}">
                <a16:creationId xmlns:a16="http://schemas.microsoft.com/office/drawing/2014/main" id="{FF83B925-EBB0-41DF-6B38-1BF91B69350F}"/>
              </a:ext>
            </a:extLst>
          </p:cNvPr>
          <p:cNvCxnSpPr>
            <a:cxnSpLocks/>
          </p:cNvCxnSpPr>
          <p:nvPr/>
        </p:nvCxnSpPr>
        <p:spPr>
          <a:xfrm flipH="1" flipV="1">
            <a:off x="10442857" y="4151734"/>
            <a:ext cx="358938" cy="3201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虚轴交点2">
            <a:extLst>
              <a:ext uri="{FF2B5EF4-FFF2-40B4-BE49-F238E27FC236}">
                <a16:creationId xmlns:a16="http://schemas.microsoft.com/office/drawing/2014/main" id="{025E0F1B-B452-EA66-ED96-AB361E280D15}"/>
              </a:ext>
            </a:extLst>
          </p:cNvPr>
          <p:cNvSpPr/>
          <p:nvPr/>
        </p:nvSpPr>
        <p:spPr>
          <a:xfrm>
            <a:off x="10724208" y="3066429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虚轴交点1">
            <a:extLst>
              <a:ext uri="{FF2B5EF4-FFF2-40B4-BE49-F238E27FC236}">
                <a16:creationId xmlns:a16="http://schemas.microsoft.com/office/drawing/2014/main" id="{E09F011A-A0A8-A185-3CBD-C857F6707CB6}"/>
              </a:ext>
            </a:extLst>
          </p:cNvPr>
          <p:cNvSpPr/>
          <p:nvPr/>
        </p:nvSpPr>
        <p:spPr>
          <a:xfrm>
            <a:off x="10724653" y="5110651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分离点">
            <a:extLst>
              <a:ext uri="{FF2B5EF4-FFF2-40B4-BE49-F238E27FC236}">
                <a16:creationId xmlns:a16="http://schemas.microsoft.com/office/drawing/2014/main" id="{05A3E4C2-2924-D27A-FA98-F9EA9CC37D97}"/>
              </a:ext>
            </a:extLst>
          </p:cNvPr>
          <p:cNvSpPr/>
          <p:nvPr/>
        </p:nvSpPr>
        <p:spPr>
          <a:xfrm>
            <a:off x="10384020" y="409673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开环传函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/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开环传函">
                <a:extLst>
                  <a:ext uri="{FF2B5EF4-FFF2-40B4-BE49-F238E27FC236}">
                    <a16:creationId xmlns:a16="http://schemas.microsoft.com/office/drawing/2014/main" id="{1564B7F1-5212-BC7F-1130-28A207AAA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746" y="137777"/>
                <a:ext cx="4261116" cy="990849"/>
              </a:xfrm>
              <a:prstGeom prst="rect">
                <a:avLst/>
              </a:prstGeom>
              <a:blipFill>
                <a:blip r:embed="rId12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B33FF0CE-AF7E-8199-D0CB-BE73C553B393}"/>
                  </a:ext>
                </a:extLst>
              </p:cNvPr>
              <p:cNvSpPr txBox="1"/>
              <p:nvPr/>
            </p:nvSpPr>
            <p:spPr>
              <a:xfrm>
                <a:off x="276250" y="1943589"/>
                <a:ext cx="3888838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系统临界稳定点</a:t>
                </a:r>
                <a:endParaRPr lang="en-US" altLang="zh-CN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CN" altLang="en-US" sz="2800" dirty="0"/>
                  <a:t>是根的点 </a:t>
                </a:r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B33FF0CE-AF7E-8199-D0CB-BE73C553B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50" y="1943589"/>
                <a:ext cx="3888838" cy="954107"/>
              </a:xfrm>
              <a:prstGeom prst="rect">
                <a:avLst/>
              </a:prstGeom>
              <a:blipFill>
                <a:blip r:embed="rId13"/>
                <a:stretch>
                  <a:fillRect l="-2606" t="-9211"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问题">
            <a:extLst>
              <a:ext uri="{FF2B5EF4-FFF2-40B4-BE49-F238E27FC236}">
                <a16:creationId xmlns:a16="http://schemas.microsoft.com/office/drawing/2014/main" id="{768A9A09-C099-A72E-7BCD-00AEB4AB1D0B}"/>
              </a:ext>
            </a:extLst>
          </p:cNvPr>
          <p:cNvGrpSpPr/>
          <p:nvPr/>
        </p:nvGrpSpPr>
        <p:grpSpPr>
          <a:xfrm>
            <a:off x="253183" y="917514"/>
            <a:ext cx="3519741" cy="881063"/>
            <a:chOff x="5348307" y="5538470"/>
            <a:chExt cx="3519741" cy="881063"/>
          </a:xfrm>
        </p:grpSpPr>
        <p:sp>
          <p:nvSpPr>
            <p:cNvPr id="71" name="问号">
              <a:extLst>
                <a:ext uri="{FF2B5EF4-FFF2-40B4-BE49-F238E27FC236}">
                  <a16:creationId xmlns:a16="http://schemas.microsoft.com/office/drawing/2014/main" id="{9E3D3C28-D453-8E34-D365-10935BD4153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73" name="文本">
              <a:extLst>
                <a:ext uri="{FF2B5EF4-FFF2-40B4-BE49-F238E27FC236}">
                  <a16:creationId xmlns:a16="http://schemas.microsoft.com/office/drawing/2014/main" id="{E2C68CA7-65B9-3C86-6C43-C809E7DE0B7D}"/>
                </a:ext>
              </a:extLst>
            </p:cNvPr>
            <p:cNvSpPr txBox="1"/>
            <p:nvPr/>
          </p:nvSpPr>
          <p:spPr>
            <a:xfrm>
              <a:off x="6306266" y="5726958"/>
              <a:ext cx="256178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与虚轴交点？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分离点例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" name="副标题">
            <a:extLst>
              <a:ext uri="{FF2B5EF4-FFF2-40B4-BE49-F238E27FC236}">
                <a16:creationId xmlns:a16="http://schemas.microsoft.com/office/drawing/2014/main" id="{AA0D920F-7E43-1F88-A9A0-745036E90E2B}"/>
              </a:ext>
            </a:extLst>
          </p:cNvPr>
          <p:cNvGrpSpPr/>
          <p:nvPr/>
        </p:nvGrpSpPr>
        <p:grpSpPr>
          <a:xfrm>
            <a:off x="3632074" y="1047699"/>
            <a:ext cx="3146109" cy="725177"/>
            <a:chOff x="4943078" y="1700704"/>
            <a:chExt cx="3146109" cy="725177"/>
          </a:xfrm>
        </p:grpSpPr>
        <p:sp>
          <p:nvSpPr>
            <p:cNvPr id="55" name="标题">
              <a:extLst>
                <a:ext uri="{FF2B5EF4-FFF2-40B4-BE49-F238E27FC236}">
                  <a16:creationId xmlns:a16="http://schemas.microsoft.com/office/drawing/2014/main" id="{451AF5E9-051E-D770-9E4B-A72D41669F14}"/>
                </a:ext>
              </a:extLst>
            </p:cNvPr>
            <p:cNvSpPr/>
            <p:nvPr/>
          </p:nvSpPr>
          <p:spPr bwMode="auto">
            <a:xfrm>
              <a:off x="5375126" y="1769619"/>
              <a:ext cx="2714061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与虚轴交点</a:t>
              </a:r>
            </a:p>
          </p:txBody>
        </p:sp>
        <p:sp>
          <p:nvSpPr>
            <p:cNvPr id="56" name="序号">
              <a:extLst>
                <a:ext uri="{FF2B5EF4-FFF2-40B4-BE49-F238E27FC236}">
                  <a16:creationId xmlns:a16="http://schemas.microsoft.com/office/drawing/2014/main" id="{76FB9BDF-0DE8-D7B0-8A95-26F4B40C879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05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特征方程">
                <a:extLst>
                  <a:ext uri="{FF2B5EF4-FFF2-40B4-BE49-F238E27FC236}">
                    <a16:creationId xmlns:a16="http://schemas.microsoft.com/office/drawing/2014/main" id="{28AD7B37-B0DD-62A1-3FC9-1841C2615A2B}"/>
                  </a:ext>
                </a:extLst>
              </p:cNvPr>
              <p:cNvSpPr txBox="1"/>
              <p:nvPr/>
            </p:nvSpPr>
            <p:spPr>
              <a:xfrm>
                <a:off x="155985" y="2950453"/>
                <a:ext cx="81246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kumimoji="1" lang="en-US" altLang="zh-CN" sz="28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zh-CN" alt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kumimoji="1" lang="zh-CN" alt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58" name="特征方程">
                <a:extLst>
                  <a:ext uri="{FF2B5EF4-FFF2-40B4-BE49-F238E27FC236}">
                    <a16:creationId xmlns:a16="http://schemas.microsoft.com/office/drawing/2014/main" id="{28AD7B37-B0DD-62A1-3FC9-1841C2615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85" y="2950453"/>
                <a:ext cx="8124676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特征方程">
                <a:extLst>
                  <a:ext uri="{FF2B5EF4-FFF2-40B4-BE49-F238E27FC236}">
                    <a16:creationId xmlns:a16="http://schemas.microsoft.com/office/drawing/2014/main" id="{6A49CD67-EC26-9150-9384-7314A857DF9A}"/>
                  </a:ext>
                </a:extLst>
              </p:cNvPr>
              <p:cNvSpPr txBox="1"/>
              <p:nvPr/>
            </p:nvSpPr>
            <p:spPr>
              <a:xfrm>
                <a:off x="162274" y="3641872"/>
                <a:ext cx="81246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latin typeface="+mn-ea"/>
                  </a:rPr>
                  <a:t>令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kumimoji="1" lang="zh-CN" alt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60" name="特征方程">
                <a:extLst>
                  <a:ext uri="{FF2B5EF4-FFF2-40B4-BE49-F238E27FC236}">
                    <a16:creationId xmlns:a16="http://schemas.microsoft.com/office/drawing/2014/main" id="{6A49CD67-EC26-9150-9384-7314A857D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74" y="3641872"/>
                <a:ext cx="8124676" cy="523220"/>
              </a:xfrm>
              <a:prstGeom prst="rect">
                <a:avLst/>
              </a:prstGeom>
              <a:blipFill>
                <a:blip r:embed="rId15"/>
                <a:stretch>
                  <a:fillRect l="-1560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特征方程">
                <a:extLst>
                  <a:ext uri="{FF2B5EF4-FFF2-40B4-BE49-F238E27FC236}">
                    <a16:creationId xmlns:a16="http://schemas.microsoft.com/office/drawing/2014/main" id="{11516D2C-DED6-5F87-1DBF-13B82B6E93D2}"/>
                  </a:ext>
                </a:extLst>
              </p:cNvPr>
              <p:cNvSpPr txBox="1"/>
              <p:nvPr/>
            </p:nvSpPr>
            <p:spPr>
              <a:xfrm>
                <a:off x="-225447" y="4357448"/>
                <a:ext cx="7026177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Re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kumimoji="1" lang="zh-CN" altLang="en-US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Im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eqAr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</m:e>
                      </m:d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=±</m:t>
                              </m:r>
                              <m:rad>
                                <m:radPr>
                                  <m:degHide m:val="on"/>
                                  <m:ctrlP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zh-CN" altLang="en-US" sz="28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=6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81" name="特征方程">
                <a:extLst>
                  <a:ext uri="{FF2B5EF4-FFF2-40B4-BE49-F238E27FC236}">
                    <a16:creationId xmlns:a16="http://schemas.microsoft.com/office/drawing/2014/main" id="{11516D2C-DED6-5F87-1DBF-13B82B6E9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5447" y="4357448"/>
                <a:ext cx="7026177" cy="1053494"/>
              </a:xfrm>
              <a:prstGeom prst="rect">
                <a:avLst/>
              </a:prstGeom>
              <a:blipFill>
                <a:blip r:embed="rId16"/>
                <a:stretch>
                  <a:fillRect l="-18592" t="-201190" b="-29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520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45" grpId="0"/>
      <p:bldP spid="58" grpId="0"/>
      <p:bldP spid="60" grpId="0"/>
      <p:bldP spid="8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代码框">
            <a:extLst>
              <a:ext uri="{FF2B5EF4-FFF2-40B4-BE49-F238E27FC236}">
                <a16:creationId xmlns:a16="http://schemas.microsoft.com/office/drawing/2014/main" id="{915EE17F-7321-8928-4ABC-622C0E144ABA}"/>
              </a:ext>
            </a:extLst>
          </p:cNvPr>
          <p:cNvGrpSpPr/>
          <p:nvPr/>
        </p:nvGrpSpPr>
        <p:grpSpPr>
          <a:xfrm>
            <a:off x="235857" y="891531"/>
            <a:ext cx="10251837" cy="1596374"/>
            <a:chOff x="2515562" y="3741795"/>
            <a:chExt cx="10251837" cy="1596374"/>
          </a:xfrm>
        </p:grpSpPr>
        <p:sp>
          <p:nvSpPr>
            <p:cNvPr id="3" name="代码">
              <a:extLst>
                <a:ext uri="{FF2B5EF4-FFF2-40B4-BE49-F238E27FC236}">
                  <a16:creationId xmlns:a16="http://schemas.microsoft.com/office/drawing/2014/main" id="{56D432B8-15A4-12C9-1CF2-3E6B49505A23}"/>
                </a:ext>
              </a:extLst>
            </p:cNvPr>
            <p:cNvSpPr txBox="1"/>
            <p:nvPr/>
          </p:nvSpPr>
          <p:spPr>
            <a:xfrm>
              <a:off x="2515562" y="4101629"/>
              <a:ext cx="10251837" cy="1236540"/>
            </a:xfrm>
            <a:prstGeom prst="roundRect">
              <a:avLst>
                <a:gd name="adj" fmla="val 21830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108000" rtlCol="0">
              <a:spAutoFit/>
            </a:bodyPr>
            <a:lstStyle/>
            <a:p>
              <a:r>
                <a:rPr lang="en" altLang="zh-CN" sz="2800" dirty="0">
                  <a:latin typeface="Menlo" panose="020B0609030804020204" pitchFamily="49" charset="0"/>
                </a:rPr>
                <a:t>G = </a:t>
              </a:r>
              <a:r>
                <a:rPr lang="en" altLang="zh-CN" sz="2800" dirty="0" err="1">
                  <a:latin typeface="Menlo" panose="020B0609030804020204" pitchFamily="49" charset="0"/>
                </a:rPr>
                <a:t>zpk</a:t>
              </a:r>
              <a:r>
                <a:rPr lang="en" altLang="zh-CN" sz="2800" dirty="0">
                  <a:latin typeface="Menlo" panose="020B0609030804020204" pitchFamily="49" charset="0"/>
                </a:rPr>
                <a:t>([],[0,-1,-2],1); 	</a:t>
              </a:r>
              <a:r>
                <a:rPr lang="en" altLang="zh-CN" sz="28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" sz="2800" dirty="0">
                  <a:solidFill>
                    <a:srgbClr val="028009"/>
                  </a:solidFill>
                  <a:latin typeface="Menlo" panose="020B0609030804020204" pitchFamily="49" charset="0"/>
                </a:rPr>
                <a:t>零极点</a:t>
              </a:r>
              <a:r>
                <a:rPr lang="zh-CN" altLang="en-US" sz="2800" dirty="0">
                  <a:solidFill>
                    <a:srgbClr val="028009"/>
                  </a:solidFill>
                  <a:latin typeface="Menlo" panose="020B0609030804020204" pitchFamily="49" charset="0"/>
                </a:rPr>
                <a:t>形式开环传递函数</a:t>
              </a:r>
              <a:endParaRPr lang="zh-CN" altLang="en-US" sz="2800" dirty="0">
                <a:latin typeface="Menlo" panose="020B0609030804020204" pitchFamily="49" charset="0"/>
              </a:endParaRPr>
            </a:p>
            <a:p>
              <a:r>
                <a:rPr lang="en" altLang="zh-CN" sz="2800" dirty="0" err="1">
                  <a:latin typeface="Menlo" panose="020B0609030804020204" pitchFamily="49" charset="0"/>
                </a:rPr>
                <a:t>rlocus</a:t>
              </a:r>
              <a:r>
                <a:rPr lang="en" altLang="zh-CN" sz="2800" dirty="0">
                  <a:latin typeface="Menlo" panose="020B0609030804020204" pitchFamily="49" charset="0"/>
                </a:rPr>
                <a:t>(G) 				</a:t>
              </a:r>
              <a:r>
                <a:rPr lang="en" altLang="zh-CN" sz="2800" dirty="0">
                  <a:solidFill>
                    <a:srgbClr val="028009"/>
                  </a:solidFill>
                  <a:latin typeface="Menlo" panose="020B0609030804020204" pitchFamily="49" charset="0"/>
                </a:rPr>
                <a:t>% </a:t>
              </a:r>
              <a:r>
                <a:rPr lang="zh-CN" altLang="en-US" sz="2800" dirty="0">
                  <a:solidFill>
                    <a:srgbClr val="028009"/>
                  </a:solidFill>
                  <a:latin typeface="Menlo" panose="020B0609030804020204" pitchFamily="49" charset="0"/>
                </a:rPr>
                <a:t>绘制根轨迹</a:t>
              </a:r>
              <a:endParaRPr lang="zh-CN" altLang="en-US" sz="2800" dirty="0">
                <a:latin typeface="Menlo" panose="020B0609030804020204" pitchFamily="49" charset="0"/>
              </a:endParaRPr>
            </a:p>
          </p:txBody>
        </p:sp>
        <p:sp>
          <p:nvSpPr>
            <p:cNvPr id="4" name="标题">
              <a:extLst>
                <a:ext uri="{FF2B5EF4-FFF2-40B4-BE49-F238E27FC236}">
                  <a16:creationId xmlns:a16="http://schemas.microsoft.com/office/drawing/2014/main" id="{0010D084-2A5D-8932-9B58-1C3A33C6DA77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5B0DC0E-61E5-ECB8-4654-042D1186A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01352"/>
            <a:ext cx="5472608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532296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坐标轴">
            <a:extLst>
              <a:ext uri="{FF2B5EF4-FFF2-40B4-BE49-F238E27FC236}">
                <a16:creationId xmlns:a16="http://schemas.microsoft.com/office/drawing/2014/main" id="{D583E41D-BB89-F3D7-636A-F3C7578BDCC2}"/>
              </a:ext>
            </a:extLst>
          </p:cNvPr>
          <p:cNvGrpSpPr/>
          <p:nvPr/>
        </p:nvGrpSpPr>
        <p:grpSpPr>
          <a:xfrm>
            <a:off x="8276593" y="1678087"/>
            <a:ext cx="3188060" cy="4741714"/>
            <a:chOff x="8276593" y="1678087"/>
            <a:chExt cx="3188060" cy="4741714"/>
          </a:xfrm>
        </p:grpSpPr>
        <p:grpSp>
          <p:nvGrpSpPr>
            <p:cNvPr id="56" name="虚轴">
              <a:extLst>
                <a:ext uri="{FF2B5EF4-FFF2-40B4-BE49-F238E27FC236}">
                  <a16:creationId xmlns:a16="http://schemas.microsoft.com/office/drawing/2014/main" id="{4D6DAB1F-1D97-9708-1020-035741AA17A2}"/>
                </a:ext>
              </a:extLst>
            </p:cNvPr>
            <p:cNvGrpSpPr/>
            <p:nvPr/>
          </p:nvGrpSpPr>
          <p:grpSpPr>
            <a:xfrm>
              <a:off x="10787944" y="1678087"/>
              <a:ext cx="676709" cy="4741714"/>
              <a:chOff x="10787944" y="1678087"/>
              <a:chExt cx="676709" cy="47417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labelj">
                    <a:extLst>
                      <a:ext uri="{FF2B5EF4-FFF2-40B4-BE49-F238E27FC236}">
                        <a16:creationId xmlns:a16="http://schemas.microsoft.com/office/drawing/2014/main" id="{50628AC6-67B1-04AB-76A3-4044BBB8A18B}"/>
                      </a:ext>
                    </a:extLst>
                  </p:cNvPr>
                  <p:cNvSpPr txBox="1"/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8" name="labelj">
                    <a:extLst>
                      <a:ext uri="{FF2B5EF4-FFF2-40B4-BE49-F238E27FC236}">
                        <a16:creationId xmlns:a16="http://schemas.microsoft.com/office/drawing/2014/main" id="{50628AC6-67B1-04AB-76A3-4044BBB8A1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ylabel2">
                    <a:extLst>
                      <a:ext uri="{FF2B5EF4-FFF2-40B4-BE49-F238E27FC236}">
                        <a16:creationId xmlns:a16="http://schemas.microsoft.com/office/drawing/2014/main" id="{66E358D2-C0E3-9B26-E827-419434635E8F}"/>
                      </a:ext>
                    </a:extLst>
                  </p:cNvPr>
                  <p:cNvSpPr txBox="1"/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9" name="ylabel2">
                    <a:extLst>
                      <a:ext uri="{FF2B5EF4-FFF2-40B4-BE49-F238E27FC236}">
                        <a16:creationId xmlns:a16="http://schemas.microsoft.com/office/drawing/2014/main" id="{66E358D2-C0E3-9B26-E827-419434635E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692" r="-307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0" name="ytick2">
                <a:extLst>
                  <a:ext uri="{FF2B5EF4-FFF2-40B4-BE49-F238E27FC236}">
                    <a16:creationId xmlns:a16="http://schemas.microsoft.com/office/drawing/2014/main" id="{EB881182-12FD-9999-A19D-06C6B5EA37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4468" y="2713985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ylabel1">
                    <a:extLst>
                      <a:ext uri="{FF2B5EF4-FFF2-40B4-BE49-F238E27FC236}">
                        <a16:creationId xmlns:a16="http://schemas.microsoft.com/office/drawing/2014/main" id="{2C234053-469D-5161-3E75-8E5514CB10B8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9030" y="3167390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1" name="ylabel1">
                    <a:extLst>
                      <a:ext uri="{FF2B5EF4-FFF2-40B4-BE49-F238E27FC236}">
                        <a16:creationId xmlns:a16="http://schemas.microsoft.com/office/drawing/2014/main" id="{2C234053-469D-5161-3E75-8E5514CB10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9030" y="3167390"/>
                    <a:ext cx="322182" cy="52469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1538" r="-2692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2" name="ytick1">
                <a:extLst>
                  <a:ext uri="{FF2B5EF4-FFF2-40B4-BE49-F238E27FC236}">
                    <a16:creationId xmlns:a16="http://schemas.microsoft.com/office/drawing/2014/main" id="{0A6B1E7E-FCAC-EFFD-2375-D7B5A472F8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87944" y="3429000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ylabel-1">
                    <a:extLst>
                      <a:ext uri="{FF2B5EF4-FFF2-40B4-BE49-F238E27FC236}">
                        <a16:creationId xmlns:a16="http://schemas.microsoft.com/office/drawing/2014/main" id="{C0CC90D7-836C-24E8-D880-CAD3AD37949E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3952" y="4610305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3" name="ylabel-1">
                    <a:extLst>
                      <a:ext uri="{FF2B5EF4-FFF2-40B4-BE49-F238E27FC236}">
                        <a16:creationId xmlns:a16="http://schemas.microsoft.com/office/drawing/2014/main" id="{C0CC90D7-836C-24E8-D880-CAD3AD3794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3952" y="4610305"/>
                    <a:ext cx="520701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ytick-1">
                <a:extLst>
                  <a:ext uri="{FF2B5EF4-FFF2-40B4-BE49-F238E27FC236}">
                    <a16:creationId xmlns:a16="http://schemas.microsoft.com/office/drawing/2014/main" id="{E202E735-5419-ABF3-182E-072E497BBA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4876194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ylabel-2">
                    <a:extLst>
                      <a:ext uri="{FF2B5EF4-FFF2-40B4-BE49-F238E27FC236}">
                        <a16:creationId xmlns:a16="http://schemas.microsoft.com/office/drawing/2014/main" id="{1306F93F-E3ED-E965-9C93-900B0AC699FF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90" name="ylabel-2">
                    <a:extLst>
                      <a:ext uri="{FF2B5EF4-FFF2-40B4-BE49-F238E27FC236}">
                        <a16:creationId xmlns:a16="http://schemas.microsoft.com/office/drawing/2014/main" id="{1306F93F-E3ED-E965-9C93-900B0AC699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1" name="ytick-2">
                <a:extLst>
                  <a:ext uri="{FF2B5EF4-FFF2-40B4-BE49-F238E27FC236}">
                    <a16:creationId xmlns:a16="http://schemas.microsoft.com/office/drawing/2014/main" id="{DC0510B3-C19B-B48D-365C-22AD7CB98F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5591991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y轴">
                <a:extLst>
                  <a:ext uri="{FF2B5EF4-FFF2-40B4-BE49-F238E27FC236}">
                    <a16:creationId xmlns:a16="http://schemas.microsoft.com/office/drawing/2014/main" id="{9E3292EB-D706-9CA1-3E18-32A0934404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92135" y="2027313"/>
                <a:ext cx="0" cy="43924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实轴">
              <a:extLst>
                <a:ext uri="{FF2B5EF4-FFF2-40B4-BE49-F238E27FC236}">
                  <a16:creationId xmlns:a16="http://schemas.microsoft.com/office/drawing/2014/main" id="{A055FB84-2325-8FBA-DB1A-376C022F9B74}"/>
                </a:ext>
              </a:extLst>
            </p:cNvPr>
            <p:cNvGrpSpPr/>
            <p:nvPr/>
          </p:nvGrpSpPr>
          <p:grpSpPr>
            <a:xfrm>
              <a:off x="8276593" y="4005604"/>
              <a:ext cx="2974499" cy="689037"/>
              <a:chOff x="8276593" y="4005604"/>
              <a:chExt cx="2974499" cy="68903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label0">
                    <a:extLst>
                      <a:ext uri="{FF2B5EF4-FFF2-40B4-BE49-F238E27FC236}">
                        <a16:creationId xmlns:a16="http://schemas.microsoft.com/office/drawing/2014/main" id="{347F89A5-CE25-D0CA-CBD9-9226AEC7EB1A}"/>
                      </a:ext>
                    </a:extLst>
                  </p:cNvPr>
                  <p:cNvSpPr txBox="1"/>
                  <p:nvPr/>
                </p:nvSpPr>
                <p:spPr>
                  <a:xfrm>
                    <a:off x="10730391" y="4081245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8" name="label0">
                    <a:extLst>
                      <a:ext uri="{FF2B5EF4-FFF2-40B4-BE49-F238E27FC236}">
                        <a16:creationId xmlns:a16="http://schemas.microsoft.com/office/drawing/2014/main" id="{347F89A5-CE25-D0CA-CBD9-9226AEC7EB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30391" y="4081245"/>
                    <a:ext cx="520701" cy="52469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xlabel-3">
                    <a:extLst>
                      <a:ext uri="{FF2B5EF4-FFF2-40B4-BE49-F238E27FC236}">
                        <a16:creationId xmlns:a16="http://schemas.microsoft.com/office/drawing/2014/main" id="{91230513-00C0-11BC-C045-6C702952AC71}"/>
                      </a:ext>
                    </a:extLst>
                  </p:cNvPr>
                  <p:cNvSpPr txBox="1"/>
                  <p:nvPr/>
                </p:nvSpPr>
                <p:spPr>
                  <a:xfrm>
                    <a:off x="8276593" y="4165166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9" name="xlabel-3">
                    <a:extLst>
                      <a:ext uri="{FF2B5EF4-FFF2-40B4-BE49-F238E27FC236}">
                        <a16:creationId xmlns:a16="http://schemas.microsoft.com/office/drawing/2014/main" id="{91230513-00C0-11BC-C045-6C702952AC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6593" y="4165166"/>
                    <a:ext cx="520701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3095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0" name="xtick-3">
                <a:extLst>
                  <a:ext uri="{FF2B5EF4-FFF2-40B4-BE49-F238E27FC236}">
                    <a16:creationId xmlns:a16="http://schemas.microsoft.com/office/drawing/2014/main" id="{4F235E22-0D62-2A4F-1F18-5510689A497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547547" y="4073420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xlabel-2">
                    <a:extLst>
                      <a:ext uri="{FF2B5EF4-FFF2-40B4-BE49-F238E27FC236}">
                        <a16:creationId xmlns:a16="http://schemas.microsoft.com/office/drawing/2014/main" id="{DA2E6816-86A2-4E95-D672-9DBA14F2FE88}"/>
                      </a:ext>
                    </a:extLst>
                  </p:cNvPr>
                  <p:cNvSpPr txBox="1"/>
                  <p:nvPr/>
                </p:nvSpPr>
                <p:spPr>
                  <a:xfrm>
                    <a:off x="8996942" y="4171421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1" name="xlabel-2">
                    <a:extLst>
                      <a:ext uri="{FF2B5EF4-FFF2-40B4-BE49-F238E27FC236}">
                        <a16:creationId xmlns:a16="http://schemas.microsoft.com/office/drawing/2014/main" id="{DA2E6816-86A2-4E95-D672-9DBA14F2FE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96942" y="4171421"/>
                    <a:ext cx="520701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4" name="xtick-2">
                <a:extLst>
                  <a:ext uri="{FF2B5EF4-FFF2-40B4-BE49-F238E27FC236}">
                    <a16:creationId xmlns:a16="http://schemas.microsoft.com/office/drawing/2014/main" id="{34977495-6553-E0C1-D408-B6CC6DB6517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68272" y="4084906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xlabel-1">
                    <a:extLst>
                      <a:ext uri="{FF2B5EF4-FFF2-40B4-BE49-F238E27FC236}">
                        <a16:creationId xmlns:a16="http://schemas.microsoft.com/office/drawing/2014/main" id="{1A74D328-242D-9A71-FECC-E4C11355E74A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397" y="4171421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5" name="xlabel-1">
                    <a:extLst>
                      <a:ext uri="{FF2B5EF4-FFF2-40B4-BE49-F238E27FC236}">
                        <a16:creationId xmlns:a16="http://schemas.microsoft.com/office/drawing/2014/main" id="{1A74D328-242D-9A71-FECC-E4C11355E7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397" y="4171421"/>
                    <a:ext cx="520701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3170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6" name="xtick-1">
                <a:extLst>
                  <a:ext uri="{FF2B5EF4-FFF2-40B4-BE49-F238E27FC236}">
                    <a16:creationId xmlns:a16="http://schemas.microsoft.com/office/drawing/2014/main" id="{5DCA5A7B-FCBF-3D91-2574-F12303E287F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991528" y="4081909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x轴">
                <a:extLst>
                  <a:ext uri="{FF2B5EF4-FFF2-40B4-BE49-F238E27FC236}">
                    <a16:creationId xmlns:a16="http://schemas.microsoft.com/office/drawing/2014/main" id="{9AEEC46F-ECB3-E62F-DF09-8EDF28B18E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6593" y="4159407"/>
                <a:ext cx="2974499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2" name="零点">
            <a:extLst>
              <a:ext uri="{FF2B5EF4-FFF2-40B4-BE49-F238E27FC236}">
                <a16:creationId xmlns:a16="http://schemas.microsoft.com/office/drawing/2014/main" id="{DDBB9225-0078-F4D1-5E66-6ECA0D6B5148}"/>
              </a:ext>
            </a:extLst>
          </p:cNvPr>
          <p:cNvSpPr/>
          <p:nvPr/>
        </p:nvSpPr>
        <p:spPr>
          <a:xfrm>
            <a:off x="9600246" y="4057415"/>
            <a:ext cx="216000" cy="216000"/>
          </a:xfrm>
          <a:prstGeom prst="donut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13" name="零点">
            <a:extLst>
              <a:ext uri="{FF2B5EF4-FFF2-40B4-BE49-F238E27FC236}">
                <a16:creationId xmlns:a16="http://schemas.microsoft.com/office/drawing/2014/main" id="{718ED549-5FED-64B6-FECE-8C50C8A38E8C}"/>
              </a:ext>
            </a:extLst>
          </p:cNvPr>
          <p:cNvSpPr/>
          <p:nvPr/>
        </p:nvSpPr>
        <p:spPr>
          <a:xfrm>
            <a:off x="9228088" y="3321000"/>
            <a:ext cx="216000" cy="216000"/>
          </a:xfrm>
          <a:prstGeom prst="donut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14" name="零点">
            <a:extLst>
              <a:ext uri="{FF2B5EF4-FFF2-40B4-BE49-F238E27FC236}">
                <a16:creationId xmlns:a16="http://schemas.microsoft.com/office/drawing/2014/main" id="{D3E8EAAD-8D9E-8FC4-8DA1-825AFBED3931}"/>
              </a:ext>
            </a:extLst>
          </p:cNvPr>
          <p:cNvSpPr/>
          <p:nvPr/>
        </p:nvSpPr>
        <p:spPr>
          <a:xfrm>
            <a:off x="9228088" y="4768194"/>
            <a:ext cx="216000" cy="216000"/>
          </a:xfrm>
          <a:prstGeom prst="donut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01" name="极点3">
            <a:extLst>
              <a:ext uri="{FF2B5EF4-FFF2-40B4-BE49-F238E27FC236}">
                <a16:creationId xmlns:a16="http://schemas.microsoft.com/office/drawing/2014/main" id="{CA884447-6C15-5265-DC37-24C2EA4C9E38}"/>
              </a:ext>
            </a:extLst>
          </p:cNvPr>
          <p:cNvSpPr/>
          <p:nvPr/>
        </p:nvSpPr>
        <p:spPr>
          <a:xfrm>
            <a:off x="8837991" y="4005075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102" name="极点2">
            <a:extLst>
              <a:ext uri="{FF2B5EF4-FFF2-40B4-BE49-F238E27FC236}">
                <a16:creationId xmlns:a16="http://schemas.microsoft.com/office/drawing/2014/main" id="{1D090558-F8FD-7325-D3F8-1F2D22B28AB1}"/>
              </a:ext>
            </a:extLst>
          </p:cNvPr>
          <p:cNvSpPr/>
          <p:nvPr/>
        </p:nvSpPr>
        <p:spPr>
          <a:xfrm>
            <a:off x="10284804" y="2930256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115" name="极点2">
            <a:extLst>
              <a:ext uri="{FF2B5EF4-FFF2-40B4-BE49-F238E27FC236}">
                <a16:creationId xmlns:a16="http://schemas.microsoft.com/office/drawing/2014/main" id="{DFE45FE9-D4B2-A839-D6F3-18D1FAE724F0}"/>
              </a:ext>
            </a:extLst>
          </p:cNvPr>
          <p:cNvSpPr/>
          <p:nvPr/>
        </p:nvSpPr>
        <p:spPr>
          <a:xfrm>
            <a:off x="10271435" y="5100525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103" name="极点1">
            <a:extLst>
              <a:ext uri="{FF2B5EF4-FFF2-40B4-BE49-F238E27FC236}">
                <a16:creationId xmlns:a16="http://schemas.microsoft.com/office/drawing/2014/main" id="{345230F5-3E50-B723-6954-38B574DC4227}"/>
              </a:ext>
            </a:extLst>
          </p:cNvPr>
          <p:cNvSpPr/>
          <p:nvPr/>
        </p:nvSpPr>
        <p:spPr>
          <a:xfrm>
            <a:off x="10641568" y="4015391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120" name="根轨迹3-1">
            <a:extLst>
              <a:ext uri="{FF2B5EF4-FFF2-40B4-BE49-F238E27FC236}">
                <a16:creationId xmlns:a16="http://schemas.microsoft.com/office/drawing/2014/main" id="{8FA6BE06-3434-8858-7A7A-FC92A0DCE5CA}"/>
              </a:ext>
            </a:extLst>
          </p:cNvPr>
          <p:cNvSpPr/>
          <p:nvPr/>
        </p:nvSpPr>
        <p:spPr>
          <a:xfrm>
            <a:off x="9347062" y="2599000"/>
            <a:ext cx="1081999" cy="76496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1072033 w 1072062"/>
              <a:gd name="connsiteY0" fmla="*/ 89912 h 570885"/>
              <a:gd name="connsiteX1" fmla="*/ 104391 w 1072062"/>
              <a:gd name="connsiteY1" fmla="*/ 203724 h 570885"/>
              <a:gd name="connsiteX0" fmla="*/ 967642 w 967832"/>
              <a:gd name="connsiteY0" fmla="*/ 518514 h 632326"/>
              <a:gd name="connsiteX1" fmla="*/ 0 w 967832"/>
              <a:gd name="connsiteY1" fmla="*/ 632326 h 632326"/>
              <a:gd name="connsiteX0" fmla="*/ 1018442 w 1018598"/>
              <a:gd name="connsiteY0" fmla="*/ 429665 h 708577"/>
              <a:gd name="connsiteX1" fmla="*/ 0 w 1018598"/>
              <a:gd name="connsiteY1" fmla="*/ 708577 h 708577"/>
              <a:gd name="connsiteX0" fmla="*/ 1018442 w 1018504"/>
              <a:gd name="connsiteY0" fmla="*/ 483053 h 761965"/>
              <a:gd name="connsiteX1" fmla="*/ 0 w 1018504"/>
              <a:gd name="connsiteY1" fmla="*/ 761965 h 761965"/>
              <a:gd name="connsiteX0" fmla="*/ 1081942 w 1081999"/>
              <a:gd name="connsiteY0" fmla="*/ 479699 h 764961"/>
              <a:gd name="connsiteX1" fmla="*/ 0 w 1081999"/>
              <a:gd name="connsiteY1" fmla="*/ 764961 h 764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81999" h="764961">
                <a:moveTo>
                  <a:pt x="1081942" y="479699"/>
                </a:moveTo>
                <a:cubicBezTo>
                  <a:pt x="1089595" y="-3064"/>
                  <a:pt x="328897" y="-409626"/>
                  <a:pt x="0" y="764961"/>
                </a:cubicBezTo>
              </a:path>
            </a:pathLst>
          </a:custGeom>
          <a:noFill/>
          <a:ln w="38100">
            <a:solidFill>
              <a:srgbClr val="E44860"/>
            </a:solidFill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1" name="根轨迹3-2">
            <a:extLst>
              <a:ext uri="{FF2B5EF4-FFF2-40B4-BE49-F238E27FC236}">
                <a16:creationId xmlns:a16="http://schemas.microsoft.com/office/drawing/2014/main" id="{0DB288CD-0C4E-FD60-AACA-0DC8CF321309}"/>
              </a:ext>
            </a:extLst>
          </p:cNvPr>
          <p:cNvSpPr/>
          <p:nvPr/>
        </p:nvSpPr>
        <p:spPr>
          <a:xfrm flipV="1">
            <a:off x="9334195" y="4966869"/>
            <a:ext cx="1081999" cy="764961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1072033 w 1072062"/>
              <a:gd name="connsiteY0" fmla="*/ 89912 h 570885"/>
              <a:gd name="connsiteX1" fmla="*/ 104391 w 1072062"/>
              <a:gd name="connsiteY1" fmla="*/ 203724 h 570885"/>
              <a:gd name="connsiteX0" fmla="*/ 967642 w 967832"/>
              <a:gd name="connsiteY0" fmla="*/ 518514 h 632326"/>
              <a:gd name="connsiteX1" fmla="*/ 0 w 967832"/>
              <a:gd name="connsiteY1" fmla="*/ 632326 h 632326"/>
              <a:gd name="connsiteX0" fmla="*/ 1018442 w 1018598"/>
              <a:gd name="connsiteY0" fmla="*/ 429665 h 708577"/>
              <a:gd name="connsiteX1" fmla="*/ 0 w 1018598"/>
              <a:gd name="connsiteY1" fmla="*/ 708577 h 708577"/>
              <a:gd name="connsiteX0" fmla="*/ 1018442 w 1018504"/>
              <a:gd name="connsiteY0" fmla="*/ 483053 h 761965"/>
              <a:gd name="connsiteX1" fmla="*/ 0 w 1018504"/>
              <a:gd name="connsiteY1" fmla="*/ 761965 h 761965"/>
              <a:gd name="connsiteX0" fmla="*/ 1081942 w 1081999"/>
              <a:gd name="connsiteY0" fmla="*/ 479699 h 764961"/>
              <a:gd name="connsiteX1" fmla="*/ 0 w 1081999"/>
              <a:gd name="connsiteY1" fmla="*/ 764961 h 764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81999" h="764961">
                <a:moveTo>
                  <a:pt x="1081942" y="479699"/>
                </a:moveTo>
                <a:cubicBezTo>
                  <a:pt x="1089595" y="-3064"/>
                  <a:pt x="328897" y="-409626"/>
                  <a:pt x="0" y="764961"/>
                </a:cubicBezTo>
              </a:path>
            </a:pathLst>
          </a:custGeom>
          <a:noFill/>
          <a:ln w="38100">
            <a:solidFill>
              <a:srgbClr val="E44860"/>
            </a:solidFill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2" name="根轨迹4-1">
            <a:extLst>
              <a:ext uri="{FF2B5EF4-FFF2-40B4-BE49-F238E27FC236}">
                <a16:creationId xmlns:a16="http://schemas.microsoft.com/office/drawing/2014/main" id="{9C45A500-48B0-900C-0E95-A5B4D6E371BD}"/>
              </a:ext>
            </a:extLst>
          </p:cNvPr>
          <p:cNvSpPr/>
          <p:nvPr/>
        </p:nvSpPr>
        <p:spPr>
          <a:xfrm>
            <a:off x="9391512" y="2773056"/>
            <a:ext cx="1192839" cy="590905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1072033 w 1072062"/>
              <a:gd name="connsiteY0" fmla="*/ 89912 h 570885"/>
              <a:gd name="connsiteX1" fmla="*/ 104391 w 1072062"/>
              <a:gd name="connsiteY1" fmla="*/ 203724 h 570885"/>
              <a:gd name="connsiteX0" fmla="*/ 967642 w 967832"/>
              <a:gd name="connsiteY0" fmla="*/ 518514 h 632326"/>
              <a:gd name="connsiteX1" fmla="*/ 0 w 967832"/>
              <a:gd name="connsiteY1" fmla="*/ 632326 h 632326"/>
              <a:gd name="connsiteX0" fmla="*/ 1018442 w 1018598"/>
              <a:gd name="connsiteY0" fmla="*/ 429665 h 708577"/>
              <a:gd name="connsiteX1" fmla="*/ 0 w 1018598"/>
              <a:gd name="connsiteY1" fmla="*/ 708577 h 708577"/>
              <a:gd name="connsiteX0" fmla="*/ 1018442 w 1018504"/>
              <a:gd name="connsiteY0" fmla="*/ 483053 h 761965"/>
              <a:gd name="connsiteX1" fmla="*/ 0 w 1018504"/>
              <a:gd name="connsiteY1" fmla="*/ 761965 h 761965"/>
              <a:gd name="connsiteX0" fmla="*/ 1081942 w 1081999"/>
              <a:gd name="connsiteY0" fmla="*/ 479699 h 764961"/>
              <a:gd name="connsiteX1" fmla="*/ 0 w 1081999"/>
              <a:gd name="connsiteY1" fmla="*/ 764961 h 764961"/>
              <a:gd name="connsiteX0" fmla="*/ 916842 w 916915"/>
              <a:gd name="connsiteY0" fmla="*/ 398831 h 849193"/>
              <a:gd name="connsiteX1" fmla="*/ 0 w 916915"/>
              <a:gd name="connsiteY1" fmla="*/ 849193 h 849193"/>
              <a:gd name="connsiteX0" fmla="*/ 1024792 w 1024853"/>
              <a:gd name="connsiteY0" fmla="*/ 473041 h 771003"/>
              <a:gd name="connsiteX1" fmla="*/ 0 w 1024853"/>
              <a:gd name="connsiteY1" fmla="*/ 771003 h 771003"/>
              <a:gd name="connsiteX0" fmla="*/ 1024792 w 1024901"/>
              <a:gd name="connsiteY0" fmla="*/ 290213 h 588175"/>
              <a:gd name="connsiteX1" fmla="*/ 0 w 1024901"/>
              <a:gd name="connsiteY1" fmla="*/ 588175 h 588175"/>
              <a:gd name="connsiteX0" fmla="*/ 1024792 w 1192839"/>
              <a:gd name="connsiteY0" fmla="*/ 292943 h 590905"/>
              <a:gd name="connsiteX1" fmla="*/ 0 w 1192839"/>
              <a:gd name="connsiteY1" fmla="*/ 590905 h 590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2839" h="590905">
                <a:moveTo>
                  <a:pt x="1024792" y="292943"/>
                </a:moveTo>
                <a:cubicBezTo>
                  <a:pt x="1578545" y="-196170"/>
                  <a:pt x="640047" y="-56632"/>
                  <a:pt x="0" y="590905"/>
                </a:cubicBezTo>
              </a:path>
            </a:pathLst>
          </a:custGeom>
          <a:noFill/>
          <a:ln w="38100">
            <a:solidFill>
              <a:srgbClr val="E44860"/>
            </a:solidFill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3" name="根轨迹4-2">
            <a:extLst>
              <a:ext uri="{FF2B5EF4-FFF2-40B4-BE49-F238E27FC236}">
                <a16:creationId xmlns:a16="http://schemas.microsoft.com/office/drawing/2014/main" id="{130ED759-0666-7913-C89C-60570075F2BA}"/>
              </a:ext>
            </a:extLst>
          </p:cNvPr>
          <p:cNvSpPr/>
          <p:nvPr/>
        </p:nvSpPr>
        <p:spPr>
          <a:xfrm flipV="1">
            <a:off x="9391327" y="4954854"/>
            <a:ext cx="1192839" cy="590905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1072033 w 1072062"/>
              <a:gd name="connsiteY0" fmla="*/ 89912 h 570885"/>
              <a:gd name="connsiteX1" fmla="*/ 104391 w 1072062"/>
              <a:gd name="connsiteY1" fmla="*/ 203724 h 570885"/>
              <a:gd name="connsiteX0" fmla="*/ 967642 w 967832"/>
              <a:gd name="connsiteY0" fmla="*/ 518514 h 632326"/>
              <a:gd name="connsiteX1" fmla="*/ 0 w 967832"/>
              <a:gd name="connsiteY1" fmla="*/ 632326 h 632326"/>
              <a:gd name="connsiteX0" fmla="*/ 1018442 w 1018598"/>
              <a:gd name="connsiteY0" fmla="*/ 429665 h 708577"/>
              <a:gd name="connsiteX1" fmla="*/ 0 w 1018598"/>
              <a:gd name="connsiteY1" fmla="*/ 708577 h 708577"/>
              <a:gd name="connsiteX0" fmla="*/ 1018442 w 1018504"/>
              <a:gd name="connsiteY0" fmla="*/ 483053 h 761965"/>
              <a:gd name="connsiteX1" fmla="*/ 0 w 1018504"/>
              <a:gd name="connsiteY1" fmla="*/ 761965 h 761965"/>
              <a:gd name="connsiteX0" fmla="*/ 1081942 w 1081999"/>
              <a:gd name="connsiteY0" fmla="*/ 479699 h 764961"/>
              <a:gd name="connsiteX1" fmla="*/ 0 w 1081999"/>
              <a:gd name="connsiteY1" fmla="*/ 764961 h 764961"/>
              <a:gd name="connsiteX0" fmla="*/ 916842 w 916915"/>
              <a:gd name="connsiteY0" fmla="*/ 398831 h 849193"/>
              <a:gd name="connsiteX1" fmla="*/ 0 w 916915"/>
              <a:gd name="connsiteY1" fmla="*/ 849193 h 849193"/>
              <a:gd name="connsiteX0" fmla="*/ 1024792 w 1024853"/>
              <a:gd name="connsiteY0" fmla="*/ 473041 h 771003"/>
              <a:gd name="connsiteX1" fmla="*/ 0 w 1024853"/>
              <a:gd name="connsiteY1" fmla="*/ 771003 h 771003"/>
              <a:gd name="connsiteX0" fmla="*/ 1024792 w 1024901"/>
              <a:gd name="connsiteY0" fmla="*/ 290213 h 588175"/>
              <a:gd name="connsiteX1" fmla="*/ 0 w 1024901"/>
              <a:gd name="connsiteY1" fmla="*/ 588175 h 588175"/>
              <a:gd name="connsiteX0" fmla="*/ 1024792 w 1192839"/>
              <a:gd name="connsiteY0" fmla="*/ 292943 h 590905"/>
              <a:gd name="connsiteX1" fmla="*/ 0 w 1192839"/>
              <a:gd name="connsiteY1" fmla="*/ 590905 h 590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2839" h="590905">
                <a:moveTo>
                  <a:pt x="1024792" y="292943"/>
                </a:moveTo>
                <a:cubicBezTo>
                  <a:pt x="1578545" y="-196170"/>
                  <a:pt x="640047" y="-56632"/>
                  <a:pt x="0" y="590905"/>
                </a:cubicBezTo>
              </a:path>
            </a:pathLst>
          </a:custGeom>
          <a:noFill/>
          <a:ln w="38100">
            <a:solidFill>
              <a:srgbClr val="E44860"/>
            </a:solidFill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4" name="根轨迹5-1">
            <a:extLst>
              <a:ext uri="{FF2B5EF4-FFF2-40B4-BE49-F238E27FC236}">
                <a16:creationId xmlns:a16="http://schemas.microsoft.com/office/drawing/2014/main" id="{D9224787-8248-D5AD-6E8F-77FD18253A43}"/>
              </a:ext>
            </a:extLst>
          </p:cNvPr>
          <p:cNvSpPr/>
          <p:nvPr/>
        </p:nvSpPr>
        <p:spPr>
          <a:xfrm>
            <a:off x="9429612" y="3097751"/>
            <a:ext cx="1015090" cy="60265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1072033 w 1072062"/>
              <a:gd name="connsiteY0" fmla="*/ 89912 h 570885"/>
              <a:gd name="connsiteX1" fmla="*/ 104391 w 1072062"/>
              <a:gd name="connsiteY1" fmla="*/ 203724 h 570885"/>
              <a:gd name="connsiteX0" fmla="*/ 967642 w 967832"/>
              <a:gd name="connsiteY0" fmla="*/ 518514 h 632326"/>
              <a:gd name="connsiteX1" fmla="*/ 0 w 967832"/>
              <a:gd name="connsiteY1" fmla="*/ 632326 h 632326"/>
              <a:gd name="connsiteX0" fmla="*/ 1018442 w 1018598"/>
              <a:gd name="connsiteY0" fmla="*/ 429665 h 708577"/>
              <a:gd name="connsiteX1" fmla="*/ 0 w 1018598"/>
              <a:gd name="connsiteY1" fmla="*/ 708577 h 708577"/>
              <a:gd name="connsiteX0" fmla="*/ 1018442 w 1018504"/>
              <a:gd name="connsiteY0" fmla="*/ 483053 h 761965"/>
              <a:gd name="connsiteX1" fmla="*/ 0 w 1018504"/>
              <a:gd name="connsiteY1" fmla="*/ 761965 h 761965"/>
              <a:gd name="connsiteX0" fmla="*/ 1081942 w 1081999"/>
              <a:gd name="connsiteY0" fmla="*/ 479699 h 764961"/>
              <a:gd name="connsiteX1" fmla="*/ 0 w 1081999"/>
              <a:gd name="connsiteY1" fmla="*/ 764961 h 764961"/>
              <a:gd name="connsiteX0" fmla="*/ 916842 w 916915"/>
              <a:gd name="connsiteY0" fmla="*/ 398831 h 849193"/>
              <a:gd name="connsiteX1" fmla="*/ 0 w 916915"/>
              <a:gd name="connsiteY1" fmla="*/ 849193 h 849193"/>
              <a:gd name="connsiteX0" fmla="*/ 1024792 w 1024853"/>
              <a:gd name="connsiteY0" fmla="*/ 473041 h 771003"/>
              <a:gd name="connsiteX1" fmla="*/ 0 w 1024853"/>
              <a:gd name="connsiteY1" fmla="*/ 771003 h 771003"/>
              <a:gd name="connsiteX0" fmla="*/ 1024792 w 1024901"/>
              <a:gd name="connsiteY0" fmla="*/ 290213 h 588175"/>
              <a:gd name="connsiteX1" fmla="*/ 0 w 1024901"/>
              <a:gd name="connsiteY1" fmla="*/ 588175 h 588175"/>
              <a:gd name="connsiteX0" fmla="*/ 1024792 w 1192839"/>
              <a:gd name="connsiteY0" fmla="*/ 292943 h 590905"/>
              <a:gd name="connsiteX1" fmla="*/ 0 w 1192839"/>
              <a:gd name="connsiteY1" fmla="*/ 590905 h 590905"/>
              <a:gd name="connsiteX0" fmla="*/ 1139092 w 1294752"/>
              <a:gd name="connsiteY0" fmla="*/ 307057 h 566919"/>
              <a:gd name="connsiteX1" fmla="*/ 0 w 1294752"/>
              <a:gd name="connsiteY1" fmla="*/ 566919 h 566919"/>
              <a:gd name="connsiteX0" fmla="*/ 1139092 w 1296545"/>
              <a:gd name="connsiteY0" fmla="*/ 131630 h 447907"/>
              <a:gd name="connsiteX1" fmla="*/ 0 w 1296545"/>
              <a:gd name="connsiteY1" fmla="*/ 391492 h 447907"/>
              <a:gd name="connsiteX0" fmla="*/ 980342 w 1155892"/>
              <a:gd name="connsiteY0" fmla="*/ 120784 h 552613"/>
              <a:gd name="connsiteX1" fmla="*/ 0 w 1155892"/>
              <a:gd name="connsiteY1" fmla="*/ 501296 h 552613"/>
              <a:gd name="connsiteX0" fmla="*/ 980342 w 1161021"/>
              <a:gd name="connsiteY0" fmla="*/ 0 h 559874"/>
              <a:gd name="connsiteX1" fmla="*/ 0 w 1161021"/>
              <a:gd name="connsiteY1" fmla="*/ 380512 h 559874"/>
              <a:gd name="connsiteX0" fmla="*/ 980342 w 1015090"/>
              <a:gd name="connsiteY0" fmla="*/ 0 h 602657"/>
              <a:gd name="connsiteX1" fmla="*/ 0 w 1015090"/>
              <a:gd name="connsiteY1" fmla="*/ 380512 h 602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090" h="602657">
                <a:moveTo>
                  <a:pt x="980342" y="0"/>
                </a:moveTo>
                <a:cubicBezTo>
                  <a:pt x="1153095" y="774537"/>
                  <a:pt x="659097" y="685475"/>
                  <a:pt x="0" y="380512"/>
                </a:cubicBezTo>
              </a:path>
            </a:pathLst>
          </a:custGeom>
          <a:noFill/>
          <a:ln w="38100">
            <a:solidFill>
              <a:srgbClr val="E44860"/>
            </a:solidFill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5" name="根轨迹5-2">
            <a:extLst>
              <a:ext uri="{FF2B5EF4-FFF2-40B4-BE49-F238E27FC236}">
                <a16:creationId xmlns:a16="http://schemas.microsoft.com/office/drawing/2014/main" id="{A7BA38FD-0C8B-D228-56F6-BCCB586FDEFB}"/>
              </a:ext>
            </a:extLst>
          </p:cNvPr>
          <p:cNvSpPr/>
          <p:nvPr/>
        </p:nvSpPr>
        <p:spPr>
          <a:xfrm flipV="1">
            <a:off x="9429612" y="4591987"/>
            <a:ext cx="1015090" cy="602657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1072033 w 1072062"/>
              <a:gd name="connsiteY0" fmla="*/ 89912 h 570885"/>
              <a:gd name="connsiteX1" fmla="*/ 104391 w 1072062"/>
              <a:gd name="connsiteY1" fmla="*/ 203724 h 570885"/>
              <a:gd name="connsiteX0" fmla="*/ 967642 w 967832"/>
              <a:gd name="connsiteY0" fmla="*/ 518514 h 632326"/>
              <a:gd name="connsiteX1" fmla="*/ 0 w 967832"/>
              <a:gd name="connsiteY1" fmla="*/ 632326 h 632326"/>
              <a:gd name="connsiteX0" fmla="*/ 1018442 w 1018598"/>
              <a:gd name="connsiteY0" fmla="*/ 429665 h 708577"/>
              <a:gd name="connsiteX1" fmla="*/ 0 w 1018598"/>
              <a:gd name="connsiteY1" fmla="*/ 708577 h 708577"/>
              <a:gd name="connsiteX0" fmla="*/ 1018442 w 1018504"/>
              <a:gd name="connsiteY0" fmla="*/ 483053 h 761965"/>
              <a:gd name="connsiteX1" fmla="*/ 0 w 1018504"/>
              <a:gd name="connsiteY1" fmla="*/ 761965 h 761965"/>
              <a:gd name="connsiteX0" fmla="*/ 1081942 w 1081999"/>
              <a:gd name="connsiteY0" fmla="*/ 479699 h 764961"/>
              <a:gd name="connsiteX1" fmla="*/ 0 w 1081999"/>
              <a:gd name="connsiteY1" fmla="*/ 764961 h 764961"/>
              <a:gd name="connsiteX0" fmla="*/ 916842 w 916915"/>
              <a:gd name="connsiteY0" fmla="*/ 398831 h 849193"/>
              <a:gd name="connsiteX1" fmla="*/ 0 w 916915"/>
              <a:gd name="connsiteY1" fmla="*/ 849193 h 849193"/>
              <a:gd name="connsiteX0" fmla="*/ 1024792 w 1024853"/>
              <a:gd name="connsiteY0" fmla="*/ 473041 h 771003"/>
              <a:gd name="connsiteX1" fmla="*/ 0 w 1024853"/>
              <a:gd name="connsiteY1" fmla="*/ 771003 h 771003"/>
              <a:gd name="connsiteX0" fmla="*/ 1024792 w 1024901"/>
              <a:gd name="connsiteY0" fmla="*/ 290213 h 588175"/>
              <a:gd name="connsiteX1" fmla="*/ 0 w 1024901"/>
              <a:gd name="connsiteY1" fmla="*/ 588175 h 588175"/>
              <a:gd name="connsiteX0" fmla="*/ 1024792 w 1192839"/>
              <a:gd name="connsiteY0" fmla="*/ 292943 h 590905"/>
              <a:gd name="connsiteX1" fmla="*/ 0 w 1192839"/>
              <a:gd name="connsiteY1" fmla="*/ 590905 h 590905"/>
              <a:gd name="connsiteX0" fmla="*/ 1139092 w 1294752"/>
              <a:gd name="connsiteY0" fmla="*/ 307057 h 566919"/>
              <a:gd name="connsiteX1" fmla="*/ 0 w 1294752"/>
              <a:gd name="connsiteY1" fmla="*/ 566919 h 566919"/>
              <a:gd name="connsiteX0" fmla="*/ 1139092 w 1296545"/>
              <a:gd name="connsiteY0" fmla="*/ 131630 h 447907"/>
              <a:gd name="connsiteX1" fmla="*/ 0 w 1296545"/>
              <a:gd name="connsiteY1" fmla="*/ 391492 h 447907"/>
              <a:gd name="connsiteX0" fmla="*/ 980342 w 1155892"/>
              <a:gd name="connsiteY0" fmla="*/ 120784 h 552613"/>
              <a:gd name="connsiteX1" fmla="*/ 0 w 1155892"/>
              <a:gd name="connsiteY1" fmla="*/ 501296 h 552613"/>
              <a:gd name="connsiteX0" fmla="*/ 980342 w 1161021"/>
              <a:gd name="connsiteY0" fmla="*/ 0 h 559874"/>
              <a:gd name="connsiteX1" fmla="*/ 0 w 1161021"/>
              <a:gd name="connsiteY1" fmla="*/ 380512 h 559874"/>
              <a:gd name="connsiteX0" fmla="*/ 980342 w 1015090"/>
              <a:gd name="connsiteY0" fmla="*/ 0 h 602657"/>
              <a:gd name="connsiteX1" fmla="*/ 0 w 1015090"/>
              <a:gd name="connsiteY1" fmla="*/ 380512 h 602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5090" h="602657">
                <a:moveTo>
                  <a:pt x="980342" y="0"/>
                </a:moveTo>
                <a:cubicBezTo>
                  <a:pt x="1153095" y="774537"/>
                  <a:pt x="659097" y="685475"/>
                  <a:pt x="0" y="380512"/>
                </a:cubicBezTo>
              </a:path>
            </a:pathLst>
          </a:custGeom>
          <a:noFill/>
          <a:ln w="38100">
            <a:solidFill>
              <a:srgbClr val="E44860"/>
            </a:solidFill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06" name="根轨迹2">
            <a:extLst>
              <a:ext uri="{FF2B5EF4-FFF2-40B4-BE49-F238E27FC236}">
                <a16:creationId xmlns:a16="http://schemas.microsoft.com/office/drawing/2014/main" id="{DDAD594A-F1B6-3E17-DB65-765909D2A88D}"/>
              </a:ext>
            </a:extLst>
          </p:cNvPr>
          <p:cNvCxnSpPr/>
          <p:nvPr/>
        </p:nvCxnSpPr>
        <p:spPr>
          <a:xfrm flipH="1">
            <a:off x="8104895" y="4159407"/>
            <a:ext cx="864096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根轨迹1">
            <a:extLst>
              <a:ext uri="{FF2B5EF4-FFF2-40B4-BE49-F238E27FC236}">
                <a16:creationId xmlns:a16="http://schemas.microsoft.com/office/drawing/2014/main" id="{0163F26C-1613-FF5E-F32D-3668BEAB1CA5}"/>
              </a:ext>
            </a:extLst>
          </p:cNvPr>
          <p:cNvCxnSpPr>
            <a:cxnSpLocks/>
            <a:endCxn id="112" idx="6"/>
          </p:cNvCxnSpPr>
          <p:nvPr/>
        </p:nvCxnSpPr>
        <p:spPr>
          <a:xfrm flipH="1">
            <a:off x="9816246" y="4165415"/>
            <a:ext cx="972000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433952D-2595-01FF-9195-262B2B12107C}"/>
              </a:ext>
            </a:extLst>
          </p:cNvPr>
          <p:cNvSpPr txBox="1"/>
          <p:nvPr/>
        </p:nvSpPr>
        <p:spPr>
          <a:xfrm>
            <a:off x="235460" y="2100625"/>
            <a:ext cx="41458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effectLst/>
                <a:latin typeface="+mn-ea"/>
              </a:rPr>
              <a:t>两支复共轭极点出发的根轨迹终止于共轭零点。</a:t>
            </a:r>
          </a:p>
        </p:txBody>
      </p:sp>
      <p:grpSp>
        <p:nvGrpSpPr>
          <p:cNvPr id="117" name="问题">
            <a:extLst>
              <a:ext uri="{FF2B5EF4-FFF2-40B4-BE49-F238E27FC236}">
                <a16:creationId xmlns:a16="http://schemas.microsoft.com/office/drawing/2014/main" id="{58BBBF08-0534-5F8E-A8F1-7AFC2F9CD62F}"/>
              </a:ext>
            </a:extLst>
          </p:cNvPr>
          <p:cNvGrpSpPr/>
          <p:nvPr/>
        </p:nvGrpSpPr>
        <p:grpSpPr>
          <a:xfrm>
            <a:off x="4277170" y="2116043"/>
            <a:ext cx="2280914" cy="881063"/>
            <a:chOff x="5348307" y="5538470"/>
            <a:chExt cx="2280914" cy="881063"/>
          </a:xfrm>
        </p:grpSpPr>
        <p:sp>
          <p:nvSpPr>
            <p:cNvPr id="118" name="问号">
              <a:extLst>
                <a:ext uri="{FF2B5EF4-FFF2-40B4-BE49-F238E27FC236}">
                  <a16:creationId xmlns:a16="http://schemas.microsoft.com/office/drawing/2014/main" id="{E1D8F6D1-7A19-8B43-2203-2FA0CB918E79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119" name="文本">
              <a:extLst>
                <a:ext uri="{FF2B5EF4-FFF2-40B4-BE49-F238E27FC236}">
                  <a16:creationId xmlns:a16="http://schemas.microsoft.com/office/drawing/2014/main" id="{02CB8B03-D150-0038-339B-C1451619A845}"/>
                </a:ext>
              </a:extLst>
            </p:cNvPr>
            <p:cNvSpPr txBox="1"/>
            <p:nvPr/>
          </p:nvSpPr>
          <p:spPr>
            <a:xfrm>
              <a:off x="6337338" y="5726561"/>
              <a:ext cx="129188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走势？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5A5FEC1-49DF-83F2-75AC-8C75A481A523}"/>
              </a:ext>
            </a:extLst>
          </p:cNvPr>
          <p:cNvSpPr txBox="1"/>
          <p:nvPr/>
        </p:nvSpPr>
        <p:spPr>
          <a:xfrm>
            <a:off x="365175" y="3231528"/>
            <a:ext cx="2777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effectLst/>
                <a:latin typeface="+mn-ea"/>
              </a:rPr>
              <a:t>根据相角条件：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相角条件">
                <a:extLst>
                  <a:ext uri="{FF2B5EF4-FFF2-40B4-BE49-F238E27FC236}">
                    <a16:creationId xmlns:a16="http://schemas.microsoft.com/office/drawing/2014/main" id="{DEA180CE-4380-7916-D7C4-8B96AC5890EA}"/>
                  </a:ext>
                </a:extLst>
              </p:cNvPr>
              <p:cNvSpPr txBox="1"/>
              <p:nvPr/>
            </p:nvSpPr>
            <p:spPr>
              <a:xfrm>
                <a:off x="231048" y="3835322"/>
                <a:ext cx="7195132" cy="13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=(2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7" name="相角条件">
                <a:extLst>
                  <a:ext uri="{FF2B5EF4-FFF2-40B4-BE49-F238E27FC236}">
                    <a16:creationId xmlns:a16="http://schemas.microsoft.com/office/drawing/2014/main" id="{DEA180CE-4380-7916-D7C4-8B96AC589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48" y="3835322"/>
                <a:ext cx="7195132" cy="1317348"/>
              </a:xfrm>
              <a:prstGeom prst="rect">
                <a:avLst/>
              </a:prstGeom>
              <a:blipFill>
                <a:blip r:embed="rId12"/>
                <a:stretch>
                  <a:fillRect l="-12698" t="-101905" b="-15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17B2EB3E-E3EE-EAFD-2DD7-732DB9AB6E4B}"/>
              </a:ext>
            </a:extLst>
          </p:cNvPr>
          <p:cNvGrpSpPr/>
          <p:nvPr/>
        </p:nvGrpSpPr>
        <p:grpSpPr>
          <a:xfrm>
            <a:off x="421929" y="5233244"/>
            <a:ext cx="5826207" cy="599123"/>
            <a:chOff x="421929" y="5233244"/>
            <a:chExt cx="5826207" cy="599123"/>
          </a:xfrm>
        </p:grpSpPr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EC35EED4-BF7A-0DDD-E9AF-A9D448DE9495}"/>
                </a:ext>
              </a:extLst>
            </p:cNvPr>
            <p:cNvSpPr txBox="1"/>
            <p:nvPr/>
          </p:nvSpPr>
          <p:spPr>
            <a:xfrm>
              <a:off x="421929" y="5233244"/>
              <a:ext cx="2133469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solidFill>
                    <a:schemeClr val="bg1"/>
                  </a:solidFill>
                </a:rPr>
                <a:t>定义出射角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出射角">
                  <a:extLst>
                    <a:ext uri="{FF2B5EF4-FFF2-40B4-BE49-F238E27FC236}">
                      <a16:creationId xmlns:a16="http://schemas.microsoft.com/office/drawing/2014/main" id="{6E09B785-5B27-6791-B0E9-D52D6CAEA0A3}"/>
                    </a:ext>
                  </a:extLst>
                </p:cNvPr>
                <p:cNvSpPr txBox="1"/>
                <p:nvPr/>
              </p:nvSpPr>
              <p:spPr>
                <a:xfrm>
                  <a:off x="3282208" y="5275933"/>
                  <a:ext cx="2965928" cy="556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𝑝𝑘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∠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0" name="出射角">
                  <a:extLst>
                    <a:ext uri="{FF2B5EF4-FFF2-40B4-BE49-F238E27FC236}">
                      <a16:creationId xmlns:a16="http://schemas.microsoft.com/office/drawing/2014/main" id="{6E09B785-5B27-6791-B0E9-D52D6CAEA0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2208" y="5275933"/>
                  <a:ext cx="2965928" cy="556434"/>
                </a:xfrm>
                <a:prstGeom prst="rect">
                  <a:avLst/>
                </a:prstGeom>
                <a:blipFill>
                  <a:blip r:embed="rId1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燕尾形 131">
              <a:extLst>
                <a:ext uri="{FF2B5EF4-FFF2-40B4-BE49-F238E27FC236}">
                  <a16:creationId xmlns:a16="http://schemas.microsoft.com/office/drawing/2014/main" id="{BC848430-24D4-95E6-8AD8-E62C40CC8A54}"/>
                </a:ext>
              </a:extLst>
            </p:cNvPr>
            <p:cNvSpPr/>
            <p:nvPr/>
          </p:nvSpPr>
          <p:spPr>
            <a:xfrm>
              <a:off x="2959398" y="5381021"/>
              <a:ext cx="359074" cy="432048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B3F1DD4-0E84-F2E5-F368-6B5026E740C3}"/>
              </a:ext>
            </a:extLst>
          </p:cNvPr>
          <p:cNvGrpSpPr/>
          <p:nvPr/>
        </p:nvGrpSpPr>
        <p:grpSpPr>
          <a:xfrm>
            <a:off x="421929" y="6009163"/>
            <a:ext cx="5793204" cy="599123"/>
            <a:chOff x="421929" y="6009163"/>
            <a:chExt cx="5793204" cy="599123"/>
          </a:xfrm>
        </p:grpSpPr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5CDF7CAB-7D28-B4F2-77EF-E48EA2D66282}"/>
                </a:ext>
              </a:extLst>
            </p:cNvPr>
            <p:cNvSpPr txBox="1"/>
            <p:nvPr/>
          </p:nvSpPr>
          <p:spPr>
            <a:xfrm>
              <a:off x="421929" y="6009163"/>
              <a:ext cx="2133469" cy="599123"/>
            </a:xfrm>
            <a:prstGeom prst="roundRect">
              <a:avLst>
                <a:gd name="adj" fmla="val 22661"/>
              </a:avLst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2800" dirty="0">
                  <a:solidFill>
                    <a:schemeClr val="bg1"/>
                  </a:solidFill>
                </a:rPr>
                <a:t>定义入射角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入射角">
                  <a:extLst>
                    <a:ext uri="{FF2B5EF4-FFF2-40B4-BE49-F238E27FC236}">
                      <a16:creationId xmlns:a16="http://schemas.microsoft.com/office/drawing/2014/main" id="{C420A9AD-2392-3E0E-8DD3-EE26C5C0180E}"/>
                    </a:ext>
                  </a:extLst>
                </p:cNvPr>
                <p:cNvSpPr txBox="1"/>
                <p:nvPr/>
              </p:nvSpPr>
              <p:spPr>
                <a:xfrm>
                  <a:off x="3249205" y="6030507"/>
                  <a:ext cx="296592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𝑧𝑘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∠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1" name="入射角">
                  <a:extLst>
                    <a:ext uri="{FF2B5EF4-FFF2-40B4-BE49-F238E27FC236}">
                      <a16:creationId xmlns:a16="http://schemas.microsoft.com/office/drawing/2014/main" id="{C420A9AD-2392-3E0E-8DD3-EE26C5C018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9205" y="6030507"/>
                  <a:ext cx="2965928" cy="523220"/>
                </a:xfrm>
                <a:prstGeom prst="rect">
                  <a:avLst/>
                </a:prstGeom>
                <a:blipFill>
                  <a:blip r:embed="rId14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燕尾形 132">
              <a:extLst>
                <a:ext uri="{FF2B5EF4-FFF2-40B4-BE49-F238E27FC236}">
                  <a16:creationId xmlns:a16="http://schemas.microsoft.com/office/drawing/2014/main" id="{F61CF5AC-89D5-79DC-5D75-5F1287DF7650}"/>
                </a:ext>
              </a:extLst>
            </p:cNvPr>
            <p:cNvSpPr/>
            <p:nvPr/>
          </p:nvSpPr>
          <p:spPr>
            <a:xfrm>
              <a:off x="2960127" y="6092700"/>
              <a:ext cx="359074" cy="432048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开环传函">
                <a:extLst>
                  <a:ext uri="{FF2B5EF4-FFF2-40B4-BE49-F238E27FC236}">
                    <a16:creationId xmlns:a16="http://schemas.microsoft.com/office/drawing/2014/main" id="{638E4257-8C97-9A12-AC79-C4846A4C18DB}"/>
                  </a:ext>
                </a:extLst>
              </p:cNvPr>
              <p:cNvSpPr txBox="1"/>
              <p:nvPr/>
            </p:nvSpPr>
            <p:spPr>
              <a:xfrm>
                <a:off x="1846734" y="998289"/>
                <a:ext cx="8869628" cy="9908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kumimoji="1" lang="zh-CN" altLang="en-US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+1.5)(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+2+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+2−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+2.5)(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+0.5+1.5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)(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+0.5−1.5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" name="开环传函">
                <a:extLst>
                  <a:ext uri="{FF2B5EF4-FFF2-40B4-BE49-F238E27FC236}">
                    <a16:creationId xmlns:a16="http://schemas.microsoft.com/office/drawing/2014/main" id="{638E4257-8C97-9A12-AC79-C4846A4C1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734" y="998289"/>
                <a:ext cx="8869628" cy="990849"/>
              </a:xfrm>
              <a:prstGeom prst="rect">
                <a:avLst/>
              </a:prstGeom>
              <a:blipFill>
                <a:blip r:embed="rId15"/>
                <a:stretch>
                  <a:fillRect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绘制根轨迹的基本法则</a:t>
            </a:r>
          </a:p>
        </p:txBody>
      </p:sp>
    </p:spTree>
    <p:extLst>
      <p:ext uri="{BB962C8B-B14F-4D97-AF65-F5344CB8AC3E}">
        <p14:creationId xmlns:p14="http://schemas.microsoft.com/office/powerpoint/2010/main" val="611511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16" grpId="0"/>
      <p:bldP spid="126" grpId="0"/>
      <p:bldP spid="127" grpId="0"/>
      <p:bldP spid="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B33FF0CE-AF7E-8199-D0CB-BE73C553B393}"/>
                  </a:ext>
                </a:extLst>
              </p:cNvPr>
              <p:cNvSpPr txBox="1"/>
              <p:nvPr/>
            </p:nvSpPr>
            <p:spPr>
              <a:xfrm>
                <a:off x="190550" y="1914240"/>
                <a:ext cx="5904656" cy="987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始于开环极点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en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的根轨迹，在起点处的切线与水平线的正方向夹角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l-GR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𝜃</m:t>
                        </m:r>
                      </m:e>
                      <m:sub>
                        <m:r>
                          <a:rPr kumimoji="1" lang="en" altLang="zh-CN" sz="28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𝑝𝑘</m:t>
                        </m:r>
                      </m:sub>
                    </m:sSub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B33FF0CE-AF7E-8199-D0CB-BE73C553B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50" y="1914240"/>
                <a:ext cx="5904656" cy="987322"/>
              </a:xfrm>
              <a:prstGeom prst="rect">
                <a:avLst/>
              </a:prstGeom>
              <a:blipFill>
                <a:blip r:embed="rId3"/>
                <a:stretch>
                  <a:fillRect l="-2141" t="-6329" b="-126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分离点例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" name="副标题">
            <a:extLst>
              <a:ext uri="{FF2B5EF4-FFF2-40B4-BE49-F238E27FC236}">
                <a16:creationId xmlns:a16="http://schemas.microsoft.com/office/drawing/2014/main" id="{AA0D920F-7E43-1F88-A9A0-745036E90E2B}"/>
              </a:ext>
            </a:extLst>
          </p:cNvPr>
          <p:cNvGrpSpPr/>
          <p:nvPr/>
        </p:nvGrpSpPr>
        <p:grpSpPr>
          <a:xfrm>
            <a:off x="6096000" y="242564"/>
            <a:ext cx="3975300" cy="725177"/>
            <a:chOff x="4943078" y="1700704"/>
            <a:chExt cx="3975300" cy="725177"/>
          </a:xfrm>
        </p:grpSpPr>
        <p:sp>
          <p:nvSpPr>
            <p:cNvPr id="55" name="标题">
              <a:extLst>
                <a:ext uri="{FF2B5EF4-FFF2-40B4-BE49-F238E27FC236}">
                  <a16:creationId xmlns:a16="http://schemas.microsoft.com/office/drawing/2014/main" id="{451AF5E9-051E-D770-9E4B-A72D41669F14}"/>
                </a:ext>
              </a:extLst>
            </p:cNvPr>
            <p:cNvSpPr/>
            <p:nvPr/>
          </p:nvSpPr>
          <p:spPr bwMode="auto">
            <a:xfrm>
              <a:off x="5375126" y="1769619"/>
              <a:ext cx="3543252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起始角与终止角</a:t>
              </a:r>
            </a:p>
          </p:txBody>
        </p:sp>
        <p:sp>
          <p:nvSpPr>
            <p:cNvPr id="56" name="序号">
              <a:extLst>
                <a:ext uri="{FF2B5EF4-FFF2-40B4-BE49-F238E27FC236}">
                  <a16:creationId xmlns:a16="http://schemas.microsoft.com/office/drawing/2014/main" id="{76FB9BDF-0DE8-D7B0-8A95-26F4B40C879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07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特征方程">
                <a:extLst>
                  <a:ext uri="{FF2B5EF4-FFF2-40B4-BE49-F238E27FC236}">
                    <a16:creationId xmlns:a16="http://schemas.microsoft.com/office/drawing/2014/main" id="{28AD7B37-B0DD-62A1-3FC9-1841C2615A2B}"/>
                  </a:ext>
                </a:extLst>
              </p:cNvPr>
              <p:cNvSpPr txBox="1"/>
              <p:nvPr/>
            </p:nvSpPr>
            <p:spPr>
              <a:xfrm>
                <a:off x="-43116" y="2945220"/>
                <a:ext cx="8124676" cy="13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l-GR" altLang="zh-CN" sz="2800" i="1" dirty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𝜃</m:t>
                          </m:r>
                        </m:e>
                        <m:sub>
                          <m:r>
                            <a:rPr kumimoji="1" lang="en" altLang="zh-CN" sz="2800" i="1" dirty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𝑝𝑘</m:t>
                          </m:r>
                        </m:sub>
                      </m:sSub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=180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°+</m:t>
                      </m:r>
                      <m:nary>
                        <m:naryPr>
                          <m:chr m:val="∑"/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58" name="特征方程">
                <a:extLst>
                  <a:ext uri="{FF2B5EF4-FFF2-40B4-BE49-F238E27FC236}">
                    <a16:creationId xmlns:a16="http://schemas.microsoft.com/office/drawing/2014/main" id="{28AD7B37-B0DD-62A1-3FC9-1841C2615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116" y="2945220"/>
                <a:ext cx="8124676" cy="1317348"/>
              </a:xfrm>
              <a:prstGeom prst="rect">
                <a:avLst/>
              </a:prstGeom>
              <a:blipFill>
                <a:blip r:embed="rId4"/>
                <a:stretch>
                  <a:fillRect t="-101905" b="-15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本框 49">
            <a:extLst>
              <a:ext uri="{FF2B5EF4-FFF2-40B4-BE49-F238E27FC236}">
                <a16:creationId xmlns:a16="http://schemas.microsoft.com/office/drawing/2014/main" id="{EC9FC1DF-4B77-D1F7-5D1A-26EC80430529}"/>
              </a:ext>
            </a:extLst>
          </p:cNvPr>
          <p:cNvSpPr txBox="1"/>
          <p:nvPr/>
        </p:nvSpPr>
        <p:spPr>
          <a:xfrm>
            <a:off x="276251" y="1042366"/>
            <a:ext cx="1354460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起始角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D69AB78-DA1C-15EB-3C40-A8E033496C7B}"/>
              </a:ext>
            </a:extLst>
          </p:cNvPr>
          <p:cNvGrpSpPr/>
          <p:nvPr/>
        </p:nvGrpSpPr>
        <p:grpSpPr>
          <a:xfrm>
            <a:off x="8399462" y="1678087"/>
            <a:ext cx="2913374" cy="4741714"/>
            <a:chOff x="8399462" y="1678087"/>
            <a:chExt cx="2913374" cy="4741714"/>
          </a:xfrm>
        </p:grpSpPr>
        <p:grpSp>
          <p:nvGrpSpPr>
            <p:cNvPr id="7" name="坐标轴">
              <a:extLst>
                <a:ext uri="{FF2B5EF4-FFF2-40B4-BE49-F238E27FC236}">
                  <a16:creationId xmlns:a16="http://schemas.microsoft.com/office/drawing/2014/main" id="{B8C46105-A591-9B12-EB98-0E6BD26930BF}"/>
                </a:ext>
              </a:extLst>
            </p:cNvPr>
            <p:cNvGrpSpPr/>
            <p:nvPr/>
          </p:nvGrpSpPr>
          <p:grpSpPr>
            <a:xfrm>
              <a:off x="8399462" y="1678087"/>
              <a:ext cx="2913374" cy="4741714"/>
              <a:chOff x="8399462" y="1678087"/>
              <a:chExt cx="2913374" cy="4741714"/>
            </a:xfrm>
          </p:grpSpPr>
          <p:grpSp>
            <p:nvGrpSpPr>
              <p:cNvPr id="5" name="虚轴">
                <a:extLst>
                  <a:ext uri="{FF2B5EF4-FFF2-40B4-BE49-F238E27FC236}">
                    <a16:creationId xmlns:a16="http://schemas.microsoft.com/office/drawing/2014/main" id="{28A88718-00A9-1D39-7B0D-E63F159F4311}"/>
                  </a:ext>
                </a:extLst>
              </p:cNvPr>
              <p:cNvGrpSpPr/>
              <p:nvPr/>
            </p:nvGrpSpPr>
            <p:grpSpPr>
              <a:xfrm>
                <a:off x="10792135" y="1678087"/>
                <a:ext cx="520701" cy="4741714"/>
                <a:chOff x="10792135" y="1678087"/>
                <a:chExt cx="520701" cy="474171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labelj">
                      <a:extLst>
                        <a:ext uri="{FF2B5EF4-FFF2-40B4-BE49-F238E27FC236}">
                          <a16:creationId xmlns:a16="http://schemas.microsoft.com/office/drawing/2014/main" id="{2F56F1F5-44F7-AF26-00A4-BAA5716ADDC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92135" y="1678087"/>
                      <a:ext cx="520701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48" name="labelj">
                      <a:extLst>
                        <a:ext uri="{FF2B5EF4-FFF2-40B4-BE49-F238E27FC236}">
                          <a16:creationId xmlns:a16="http://schemas.microsoft.com/office/drawing/2014/main" id="{2F56F1F5-44F7-AF26-00A4-BAA5716ADDC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92135" y="1678087"/>
                      <a:ext cx="520701" cy="52322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1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4" name="y轴">
                  <a:extLst>
                    <a:ext uri="{FF2B5EF4-FFF2-40B4-BE49-F238E27FC236}">
                      <a16:creationId xmlns:a16="http://schemas.microsoft.com/office/drawing/2014/main" id="{B4F167F5-4B4A-3B66-66CF-556A7B3392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792135" y="2027313"/>
                  <a:ext cx="0" cy="439248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" name="实轴">
                <a:extLst>
                  <a:ext uri="{FF2B5EF4-FFF2-40B4-BE49-F238E27FC236}">
                    <a16:creationId xmlns:a16="http://schemas.microsoft.com/office/drawing/2014/main" id="{37BC8127-5B2E-EBD8-C770-7C296B5FE20E}"/>
                  </a:ext>
                </a:extLst>
              </p:cNvPr>
              <p:cNvGrpSpPr/>
              <p:nvPr/>
            </p:nvGrpSpPr>
            <p:grpSpPr>
              <a:xfrm>
                <a:off x="8399462" y="4081245"/>
                <a:ext cx="2851630" cy="524695"/>
                <a:chOff x="8399462" y="4081245"/>
                <a:chExt cx="2851630" cy="52469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label0">
                      <a:extLst>
                        <a:ext uri="{FF2B5EF4-FFF2-40B4-BE49-F238E27FC236}">
                          <a16:creationId xmlns:a16="http://schemas.microsoft.com/office/drawing/2014/main" id="{52E8DE49-E601-C1BF-A858-50CFF27EB17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30391" y="4081245"/>
                      <a:ext cx="520701" cy="5246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51" name="label0">
                      <a:extLst>
                        <a:ext uri="{FF2B5EF4-FFF2-40B4-BE49-F238E27FC236}">
                          <a16:creationId xmlns:a16="http://schemas.microsoft.com/office/drawing/2014/main" id="{52E8DE49-E601-C1BF-A858-50CFF27EB17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730391" y="4081245"/>
                      <a:ext cx="520701" cy="52469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3" name="x轴">
                  <a:extLst>
                    <a:ext uri="{FF2B5EF4-FFF2-40B4-BE49-F238E27FC236}">
                      <a16:creationId xmlns:a16="http://schemas.microsoft.com/office/drawing/2014/main" id="{ADDA96AE-FE12-3D03-517A-23462BCC0C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99462" y="4159407"/>
                  <a:ext cx="285163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9" name="渐近线2">
              <a:extLst>
                <a:ext uri="{FF2B5EF4-FFF2-40B4-BE49-F238E27FC236}">
                  <a16:creationId xmlns:a16="http://schemas.microsoft.com/office/drawing/2014/main" id="{93F32044-B66C-4143-D664-6860B6A622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65892" y="2706320"/>
              <a:ext cx="710058" cy="1434916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渐近线2">
              <a:extLst>
                <a:ext uri="{FF2B5EF4-FFF2-40B4-BE49-F238E27FC236}">
                  <a16:creationId xmlns:a16="http://schemas.microsoft.com/office/drawing/2014/main" id="{EB519B9F-D20A-C5FE-73B1-9B4E0FE76F92}"/>
                </a:ext>
              </a:extLst>
            </p:cNvPr>
            <p:cNvCxnSpPr>
              <a:cxnSpLocks/>
              <a:stCxn id="53" idx="7"/>
            </p:cNvCxnSpPr>
            <p:nvPr/>
          </p:nvCxnSpPr>
          <p:spPr>
            <a:xfrm flipV="1">
              <a:off x="9409550" y="2698593"/>
              <a:ext cx="662890" cy="1378068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渐近线1">
              <a:extLst>
                <a:ext uri="{FF2B5EF4-FFF2-40B4-BE49-F238E27FC236}">
                  <a16:creationId xmlns:a16="http://schemas.microsoft.com/office/drawing/2014/main" id="{F70145A8-9304-D24A-790B-DDA14D9E28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5892" y="2706320"/>
              <a:ext cx="0" cy="2885671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极点1">
              <a:extLst>
                <a:ext uri="{FF2B5EF4-FFF2-40B4-BE49-F238E27FC236}">
                  <a16:creationId xmlns:a16="http://schemas.microsoft.com/office/drawing/2014/main" id="{8D96D920-2BF2-EE4D-9B5E-36597394F387}"/>
                </a:ext>
              </a:extLst>
            </p:cNvPr>
            <p:cNvSpPr/>
            <p:nvPr/>
          </p:nvSpPr>
          <p:spPr>
            <a:xfrm>
              <a:off x="9915328" y="2576902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67" name="极点1">
              <a:extLst>
                <a:ext uri="{FF2B5EF4-FFF2-40B4-BE49-F238E27FC236}">
                  <a16:creationId xmlns:a16="http://schemas.microsoft.com/office/drawing/2014/main" id="{C60FC3D5-641F-5163-2073-81A5A27FCFD8}"/>
                </a:ext>
              </a:extLst>
            </p:cNvPr>
            <p:cNvSpPr/>
            <p:nvPr/>
          </p:nvSpPr>
          <p:spPr>
            <a:xfrm>
              <a:off x="9911209" y="5445572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47" name="极点1">
              <a:extLst>
                <a:ext uri="{FF2B5EF4-FFF2-40B4-BE49-F238E27FC236}">
                  <a16:creationId xmlns:a16="http://schemas.microsoft.com/office/drawing/2014/main" id="{F990C884-C1D1-9728-B477-5393D0DC837B}"/>
                </a:ext>
              </a:extLst>
            </p:cNvPr>
            <p:cNvSpPr/>
            <p:nvPr/>
          </p:nvSpPr>
          <p:spPr>
            <a:xfrm>
              <a:off x="10641568" y="4015391"/>
              <a:ext cx="288032" cy="288032"/>
            </a:xfrm>
            <a:prstGeom prst="mathMultiply">
              <a:avLst/>
            </a:prstGeom>
            <a:solidFill>
              <a:srgbClr val="E4486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75" name="根轨迹4">
              <a:extLst>
                <a:ext uri="{FF2B5EF4-FFF2-40B4-BE49-F238E27FC236}">
                  <a16:creationId xmlns:a16="http://schemas.microsoft.com/office/drawing/2014/main" id="{D33770EC-AFAE-0AD0-493D-DCD2F66BA132}"/>
                </a:ext>
              </a:extLst>
            </p:cNvPr>
            <p:cNvSpPr/>
            <p:nvPr/>
          </p:nvSpPr>
          <p:spPr>
            <a:xfrm>
              <a:off x="10062555" y="1772255"/>
              <a:ext cx="353158" cy="933938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918308"/>
                <a:gd name="connsiteY0" fmla="*/ 2108688 h 2108688"/>
                <a:gd name="connsiteX1" fmla="*/ 918308 w 918308"/>
                <a:gd name="connsiteY1" fmla="*/ 0 h 2108688"/>
                <a:gd name="connsiteX0" fmla="*/ 0 w 918308"/>
                <a:gd name="connsiteY0" fmla="*/ 2108688 h 2108688"/>
                <a:gd name="connsiteX1" fmla="*/ 918308 w 918308"/>
                <a:gd name="connsiteY1" fmla="*/ 0 h 2108688"/>
                <a:gd name="connsiteX0" fmla="*/ 0 w 353158"/>
                <a:gd name="connsiteY0" fmla="*/ 933938 h 933938"/>
                <a:gd name="connsiteX1" fmla="*/ 353158 w 353158"/>
                <a:gd name="connsiteY1" fmla="*/ 0 h 933938"/>
                <a:gd name="connsiteX0" fmla="*/ 0 w 353158"/>
                <a:gd name="connsiteY0" fmla="*/ 933938 h 933938"/>
                <a:gd name="connsiteX1" fmla="*/ 353158 w 353158"/>
                <a:gd name="connsiteY1" fmla="*/ 0 h 933938"/>
                <a:gd name="connsiteX0" fmla="*/ 0 w 360224"/>
                <a:gd name="connsiteY0" fmla="*/ 933938 h 933938"/>
                <a:gd name="connsiteX1" fmla="*/ 353158 w 360224"/>
                <a:gd name="connsiteY1" fmla="*/ 0 h 933938"/>
                <a:gd name="connsiteX0" fmla="*/ 0 w 360224"/>
                <a:gd name="connsiteY0" fmla="*/ 933938 h 933938"/>
                <a:gd name="connsiteX1" fmla="*/ 353158 w 360224"/>
                <a:gd name="connsiteY1" fmla="*/ 0 h 933938"/>
                <a:gd name="connsiteX0" fmla="*/ 0 w 360224"/>
                <a:gd name="connsiteY0" fmla="*/ 933938 h 933938"/>
                <a:gd name="connsiteX1" fmla="*/ 353158 w 360224"/>
                <a:gd name="connsiteY1" fmla="*/ 0 h 933938"/>
                <a:gd name="connsiteX0" fmla="*/ 0 w 353158"/>
                <a:gd name="connsiteY0" fmla="*/ 933938 h 933938"/>
                <a:gd name="connsiteX1" fmla="*/ 353158 w 353158"/>
                <a:gd name="connsiteY1" fmla="*/ 0 h 933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3158" h="933938">
                  <a:moveTo>
                    <a:pt x="0" y="933938"/>
                  </a:moveTo>
                  <a:cubicBezTo>
                    <a:pt x="274353" y="648025"/>
                    <a:pt x="332805" y="558963"/>
                    <a:pt x="353158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3" name="零点">
              <a:extLst>
                <a:ext uri="{FF2B5EF4-FFF2-40B4-BE49-F238E27FC236}">
                  <a16:creationId xmlns:a16="http://schemas.microsoft.com/office/drawing/2014/main" id="{A676B39D-FC33-5707-419E-8F2B9745E47F}"/>
                </a:ext>
              </a:extLst>
            </p:cNvPr>
            <p:cNvSpPr/>
            <p:nvPr/>
          </p:nvSpPr>
          <p:spPr>
            <a:xfrm>
              <a:off x="9225182" y="4045029"/>
              <a:ext cx="216000" cy="216000"/>
            </a:xfrm>
            <a:prstGeom prst="donut">
              <a:avLst/>
            </a:prstGeom>
            <a:solidFill>
              <a:srgbClr val="E448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C08A422D-A918-2411-DF32-78F516ABA9E0}"/>
                </a:ext>
              </a:extLst>
            </p:cNvPr>
            <p:cNvGrpSpPr/>
            <p:nvPr/>
          </p:nvGrpSpPr>
          <p:grpSpPr>
            <a:xfrm>
              <a:off x="9990779" y="2576820"/>
              <a:ext cx="561311" cy="258873"/>
              <a:chOff x="7046063" y="4558949"/>
              <a:chExt cx="561311" cy="258873"/>
            </a:xfrm>
          </p:grpSpPr>
          <p:sp>
            <p:nvSpPr>
              <p:cNvPr id="83" name="弧 82">
                <a:extLst>
                  <a:ext uri="{FF2B5EF4-FFF2-40B4-BE49-F238E27FC236}">
                    <a16:creationId xmlns:a16="http://schemas.microsoft.com/office/drawing/2014/main" id="{6C7B2D08-2EFB-74DF-5E05-2CB3D7312849}"/>
                  </a:ext>
                </a:extLst>
              </p:cNvPr>
              <p:cNvSpPr/>
              <p:nvPr/>
            </p:nvSpPr>
            <p:spPr>
              <a:xfrm rot="5400000" flipH="1">
                <a:off x="7046063" y="4558949"/>
                <a:ext cx="258873" cy="258873"/>
              </a:xfrm>
              <a:prstGeom prst="arc">
                <a:avLst>
                  <a:gd name="adj1" fmla="val 16200000"/>
                  <a:gd name="adj2" fmla="val 19830124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62FFAD0A-526D-E7B9-D6E7-AE17D5236E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4194" y="4688385"/>
                <a:ext cx="363180" cy="1"/>
              </a:xfrm>
              <a:prstGeom prst="line">
                <a:avLst/>
              </a:prstGeom>
              <a:ln w="127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弧 92">
              <a:extLst>
                <a:ext uri="{FF2B5EF4-FFF2-40B4-BE49-F238E27FC236}">
                  <a16:creationId xmlns:a16="http://schemas.microsoft.com/office/drawing/2014/main" id="{077ED45D-D109-CD12-C14A-4FE6BF0FD16B}"/>
                </a:ext>
              </a:extLst>
            </p:cNvPr>
            <p:cNvSpPr/>
            <p:nvPr/>
          </p:nvSpPr>
          <p:spPr>
            <a:xfrm rot="5400000" flipH="1">
              <a:off x="9299782" y="4026628"/>
              <a:ext cx="258873" cy="258873"/>
            </a:xfrm>
            <a:prstGeom prst="arc">
              <a:avLst>
                <a:gd name="adj1" fmla="val 16200000"/>
                <a:gd name="adj2" fmla="val 21379710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5" name="弧 94">
              <a:extLst>
                <a:ext uri="{FF2B5EF4-FFF2-40B4-BE49-F238E27FC236}">
                  <a16:creationId xmlns:a16="http://schemas.microsoft.com/office/drawing/2014/main" id="{3960E0CF-C04A-758A-F11A-69A33C232AD0}"/>
                </a:ext>
              </a:extLst>
            </p:cNvPr>
            <p:cNvSpPr/>
            <p:nvPr/>
          </p:nvSpPr>
          <p:spPr>
            <a:xfrm rot="5400000" flipH="1">
              <a:off x="10709505" y="4007728"/>
              <a:ext cx="258873" cy="258873"/>
            </a:xfrm>
            <a:prstGeom prst="arc">
              <a:avLst>
                <a:gd name="adj1" fmla="val 16200000"/>
                <a:gd name="adj2" fmla="val 2805583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D89EF20D-AA7F-8FD5-5472-379934EAE9CD}"/>
                </a:ext>
              </a:extLst>
            </p:cNvPr>
            <p:cNvGrpSpPr/>
            <p:nvPr/>
          </p:nvGrpSpPr>
          <p:grpSpPr>
            <a:xfrm>
              <a:off x="9984306" y="5465434"/>
              <a:ext cx="561311" cy="258873"/>
              <a:chOff x="7046063" y="4558949"/>
              <a:chExt cx="561311" cy="258873"/>
            </a:xfrm>
          </p:grpSpPr>
          <p:sp>
            <p:nvSpPr>
              <p:cNvPr id="97" name="弧 96">
                <a:extLst>
                  <a:ext uri="{FF2B5EF4-FFF2-40B4-BE49-F238E27FC236}">
                    <a16:creationId xmlns:a16="http://schemas.microsoft.com/office/drawing/2014/main" id="{7E46FDD7-427C-3AE1-4E72-02D42B2E9572}"/>
                  </a:ext>
                </a:extLst>
              </p:cNvPr>
              <p:cNvSpPr/>
              <p:nvPr/>
            </p:nvSpPr>
            <p:spPr>
              <a:xfrm rot="5400000" flipH="1">
                <a:off x="7046063" y="4558949"/>
                <a:ext cx="258873" cy="258873"/>
              </a:xfrm>
              <a:prstGeom prst="arc">
                <a:avLst>
                  <a:gd name="adj1" fmla="val 16200000"/>
                  <a:gd name="adj2" fmla="val 1271796"/>
                </a:avLst>
              </a:prstGeom>
              <a:ln w="127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A5B721DE-3AC4-61C2-2C93-2B66E4E717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4194" y="4688385"/>
                <a:ext cx="363180" cy="1"/>
              </a:xfrm>
              <a:prstGeom prst="line">
                <a:avLst/>
              </a:prstGeom>
              <a:ln w="127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89E320F0-0D45-F34E-4AFC-BBC6A8912BFF}"/>
                    </a:ext>
                  </a:extLst>
                </p:cNvPr>
                <p:cNvSpPr txBox="1"/>
                <p:nvPr/>
              </p:nvSpPr>
              <p:spPr>
                <a:xfrm>
                  <a:off x="9426207" y="2401975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89E320F0-0D45-F34E-4AFC-BBC6A8912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6207" y="2401975"/>
                  <a:ext cx="360740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10345" r="-37931"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9E21C2A6-E2E7-EBC1-21CA-FBDBE1BA37FF}"/>
                    </a:ext>
                  </a:extLst>
                </p:cNvPr>
                <p:cNvSpPr txBox="1"/>
                <p:nvPr/>
              </p:nvSpPr>
              <p:spPr>
                <a:xfrm>
                  <a:off x="9452253" y="5218386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9E21C2A6-E2E7-EBC1-21CA-FBDBE1BA3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2253" y="5218386"/>
                  <a:ext cx="360740" cy="523220"/>
                </a:xfrm>
                <a:prstGeom prst="rect">
                  <a:avLst/>
                </a:prstGeom>
                <a:blipFill>
                  <a:blip r:embed="rId8"/>
                  <a:stretch>
                    <a:fillRect l="-10345" r="-41379" b="-930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B9023117-281A-F5F9-9A47-AF2EEC8903D8}"/>
                    </a:ext>
                  </a:extLst>
                </p:cNvPr>
                <p:cNvSpPr txBox="1"/>
                <p:nvPr/>
              </p:nvSpPr>
              <p:spPr>
                <a:xfrm>
                  <a:off x="10208833" y="4092309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B9023117-281A-F5F9-9A47-AF2EEC8903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8833" y="4092309"/>
                  <a:ext cx="360740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345" r="-41379"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BE6A85C9-A609-8F40-E8AE-1CDBA830993C}"/>
                    </a:ext>
                  </a:extLst>
                </p:cNvPr>
                <p:cNvSpPr txBox="1"/>
                <p:nvPr/>
              </p:nvSpPr>
              <p:spPr>
                <a:xfrm>
                  <a:off x="8862428" y="4092309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BE6A85C9-A609-8F40-E8AE-1CDBA83099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2428" y="4092309"/>
                  <a:ext cx="360740" cy="523220"/>
                </a:xfrm>
                <a:prstGeom prst="rect">
                  <a:avLst/>
                </a:prstGeom>
                <a:blipFill>
                  <a:blip r:embed="rId10"/>
                  <a:stretch>
                    <a:fillRect r="-30000"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CC878FFA-AA4E-5A7A-0094-B71B14FE2D94}"/>
                    </a:ext>
                  </a:extLst>
                </p:cNvPr>
                <p:cNvSpPr txBox="1"/>
                <p:nvPr/>
              </p:nvSpPr>
              <p:spPr>
                <a:xfrm>
                  <a:off x="9665927" y="1913193"/>
                  <a:ext cx="360740" cy="556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CC878FFA-AA4E-5A7A-0094-B71B14FE2D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65927" y="1913193"/>
                  <a:ext cx="360740" cy="556434"/>
                </a:xfrm>
                <a:prstGeom prst="rect">
                  <a:avLst/>
                </a:prstGeom>
                <a:blipFill>
                  <a:blip r:embed="rId11"/>
                  <a:stretch>
                    <a:fillRect l="-10345" r="-86207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9CCC8987-2586-6718-0848-843B4BB4616F}"/>
                    </a:ext>
                  </a:extLst>
                </p:cNvPr>
                <p:cNvSpPr txBox="1"/>
                <p:nvPr/>
              </p:nvSpPr>
              <p:spPr>
                <a:xfrm>
                  <a:off x="10848479" y="3507471"/>
                  <a:ext cx="360740" cy="556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9CCC8987-2586-6718-0848-843B4BB46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8479" y="3507471"/>
                  <a:ext cx="360740" cy="556434"/>
                </a:xfrm>
                <a:prstGeom prst="rect">
                  <a:avLst/>
                </a:prstGeom>
                <a:blipFill>
                  <a:blip r:embed="rId12"/>
                  <a:stretch>
                    <a:fillRect l="-10345" r="-86207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47E6D47E-84D4-5473-0527-1DB8FBE5C677}"/>
                    </a:ext>
                  </a:extLst>
                </p:cNvPr>
                <p:cNvSpPr txBox="1"/>
                <p:nvPr/>
              </p:nvSpPr>
              <p:spPr>
                <a:xfrm>
                  <a:off x="10055225" y="4940169"/>
                  <a:ext cx="360740" cy="556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47E6D47E-84D4-5473-0527-1DB8FBE5C6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55225" y="4940169"/>
                  <a:ext cx="360740" cy="556434"/>
                </a:xfrm>
                <a:prstGeom prst="rect">
                  <a:avLst/>
                </a:prstGeom>
                <a:blipFill>
                  <a:blip r:embed="rId13"/>
                  <a:stretch>
                    <a:fillRect l="-6667" r="-83333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4C25C225-93DA-4AE8-9F83-2299B93D534E}"/>
                    </a:ext>
                  </a:extLst>
                </p:cNvPr>
                <p:cNvSpPr txBox="1"/>
                <p:nvPr/>
              </p:nvSpPr>
              <p:spPr>
                <a:xfrm>
                  <a:off x="9465611" y="3603894"/>
                  <a:ext cx="3607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4C25C225-93DA-4AE8-9F83-2299B93D53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5611" y="3603894"/>
                  <a:ext cx="360740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10345" r="-79310" b="-238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66179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45" grpId="0"/>
      <p:bldP spid="58" grpId="0"/>
      <p:bldP spid="5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B33FF0CE-AF7E-8199-D0CB-BE73C553B393}"/>
                  </a:ext>
                </a:extLst>
              </p:cNvPr>
              <p:cNvSpPr txBox="1"/>
              <p:nvPr/>
            </p:nvSpPr>
            <p:spPr>
              <a:xfrm>
                <a:off x="190550" y="1914240"/>
                <a:ext cx="590465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止于开环零点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𝑧</m:t>
                        </m:r>
                      </m:e>
                      <m:sub>
                        <m:r>
                          <a:rPr kumimoji="1" lang="en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en" altLang="zh-CN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的根 轨迹，在终点处的切线与水平线的正方向夹角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l-GR" altLang="zh-CN" sz="28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𝜃</m:t>
                        </m:r>
                      </m:e>
                      <m:sub>
                        <m:r>
                          <a:rPr kumimoji="1" lang="en" altLang="zh-CN" sz="2800" i="1" dirty="0" err="1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𝑧𝑘</m:t>
                        </m:r>
                      </m:sub>
                    </m:sSub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B33FF0CE-AF7E-8199-D0CB-BE73C553B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50" y="1914240"/>
                <a:ext cx="5904656" cy="954107"/>
              </a:xfrm>
              <a:prstGeom prst="rect">
                <a:avLst/>
              </a:prstGeom>
              <a:blipFill>
                <a:blip r:embed="rId3"/>
                <a:stretch>
                  <a:fillRect l="-2141" t="-6494" r="-642" b="-155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分离点例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" name="副标题">
            <a:extLst>
              <a:ext uri="{FF2B5EF4-FFF2-40B4-BE49-F238E27FC236}">
                <a16:creationId xmlns:a16="http://schemas.microsoft.com/office/drawing/2014/main" id="{AA0D920F-7E43-1F88-A9A0-745036E90E2B}"/>
              </a:ext>
            </a:extLst>
          </p:cNvPr>
          <p:cNvGrpSpPr/>
          <p:nvPr/>
        </p:nvGrpSpPr>
        <p:grpSpPr>
          <a:xfrm>
            <a:off x="6096000" y="242564"/>
            <a:ext cx="3975300" cy="725177"/>
            <a:chOff x="4943078" y="1700704"/>
            <a:chExt cx="3975300" cy="725177"/>
          </a:xfrm>
        </p:grpSpPr>
        <p:sp>
          <p:nvSpPr>
            <p:cNvPr id="55" name="标题">
              <a:extLst>
                <a:ext uri="{FF2B5EF4-FFF2-40B4-BE49-F238E27FC236}">
                  <a16:creationId xmlns:a16="http://schemas.microsoft.com/office/drawing/2014/main" id="{451AF5E9-051E-D770-9E4B-A72D41669F14}"/>
                </a:ext>
              </a:extLst>
            </p:cNvPr>
            <p:cNvSpPr/>
            <p:nvPr/>
          </p:nvSpPr>
          <p:spPr bwMode="auto">
            <a:xfrm>
              <a:off x="5375126" y="1769619"/>
              <a:ext cx="3543252" cy="576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起始角与终止角</a:t>
              </a:r>
            </a:p>
          </p:txBody>
        </p:sp>
        <p:sp>
          <p:nvSpPr>
            <p:cNvPr id="56" name="序号">
              <a:extLst>
                <a:ext uri="{FF2B5EF4-FFF2-40B4-BE49-F238E27FC236}">
                  <a16:creationId xmlns:a16="http://schemas.microsoft.com/office/drawing/2014/main" id="{76FB9BDF-0DE8-D7B0-8A95-26F4B40C879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07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特征方程">
                <a:extLst>
                  <a:ext uri="{FF2B5EF4-FFF2-40B4-BE49-F238E27FC236}">
                    <a16:creationId xmlns:a16="http://schemas.microsoft.com/office/drawing/2014/main" id="{28AD7B37-B0DD-62A1-3FC9-1841C2615A2B}"/>
                  </a:ext>
                </a:extLst>
              </p:cNvPr>
              <p:cNvSpPr txBox="1"/>
              <p:nvPr/>
            </p:nvSpPr>
            <p:spPr>
              <a:xfrm>
                <a:off x="-43116" y="2945220"/>
                <a:ext cx="8124676" cy="13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kumimoji="1" lang="el-GR" altLang="zh-CN" sz="2800" i="1" dirty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𝑧</m:t>
                          </m:r>
                          <m:r>
                            <a:rPr kumimoji="1" lang="en" altLang="zh-CN" sz="2800" i="1" dirty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𝑘</m:t>
                          </m:r>
                        </m:sub>
                      </m:sSub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=180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°+</m:t>
                      </m:r>
                      <m:nary>
                        <m:naryPr>
                          <m:chr m:val="∑"/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58" name="特征方程">
                <a:extLst>
                  <a:ext uri="{FF2B5EF4-FFF2-40B4-BE49-F238E27FC236}">
                    <a16:creationId xmlns:a16="http://schemas.microsoft.com/office/drawing/2014/main" id="{28AD7B37-B0DD-62A1-3FC9-1841C2615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116" y="2945220"/>
                <a:ext cx="8124676" cy="1317348"/>
              </a:xfrm>
              <a:prstGeom prst="rect">
                <a:avLst/>
              </a:prstGeom>
              <a:blipFill>
                <a:blip r:embed="rId4"/>
                <a:stretch>
                  <a:fillRect t="-101905" b="-15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本框 49">
            <a:extLst>
              <a:ext uri="{FF2B5EF4-FFF2-40B4-BE49-F238E27FC236}">
                <a16:creationId xmlns:a16="http://schemas.microsoft.com/office/drawing/2014/main" id="{EC9FC1DF-4B77-D1F7-5D1A-26EC80430529}"/>
              </a:ext>
            </a:extLst>
          </p:cNvPr>
          <p:cNvSpPr txBox="1"/>
          <p:nvPr/>
        </p:nvSpPr>
        <p:spPr>
          <a:xfrm>
            <a:off x="276250" y="1042366"/>
            <a:ext cx="1426467" cy="599123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终止角</a:t>
            </a:r>
          </a:p>
        </p:txBody>
      </p:sp>
      <p:grpSp>
        <p:nvGrpSpPr>
          <p:cNvPr id="7" name="坐标轴">
            <a:extLst>
              <a:ext uri="{FF2B5EF4-FFF2-40B4-BE49-F238E27FC236}">
                <a16:creationId xmlns:a16="http://schemas.microsoft.com/office/drawing/2014/main" id="{B8C46105-A591-9B12-EB98-0E6BD26930BF}"/>
              </a:ext>
            </a:extLst>
          </p:cNvPr>
          <p:cNvGrpSpPr/>
          <p:nvPr/>
        </p:nvGrpSpPr>
        <p:grpSpPr>
          <a:xfrm>
            <a:off x="8399462" y="1678087"/>
            <a:ext cx="2913374" cy="4741714"/>
            <a:chOff x="8399462" y="1678087"/>
            <a:chExt cx="2913374" cy="4741714"/>
          </a:xfrm>
        </p:grpSpPr>
        <p:grpSp>
          <p:nvGrpSpPr>
            <p:cNvPr id="5" name="虚轴">
              <a:extLst>
                <a:ext uri="{FF2B5EF4-FFF2-40B4-BE49-F238E27FC236}">
                  <a16:creationId xmlns:a16="http://schemas.microsoft.com/office/drawing/2014/main" id="{28A88718-00A9-1D39-7B0D-E63F159F4311}"/>
                </a:ext>
              </a:extLst>
            </p:cNvPr>
            <p:cNvGrpSpPr/>
            <p:nvPr/>
          </p:nvGrpSpPr>
          <p:grpSpPr>
            <a:xfrm>
              <a:off x="10792135" y="1678087"/>
              <a:ext cx="520701" cy="4741714"/>
              <a:chOff x="10792135" y="1678087"/>
              <a:chExt cx="520701" cy="47417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labelj">
                    <a:extLst>
                      <a:ext uri="{FF2B5EF4-FFF2-40B4-BE49-F238E27FC236}">
                        <a16:creationId xmlns:a16="http://schemas.microsoft.com/office/drawing/2014/main" id="{2F56F1F5-44F7-AF26-00A4-BAA5716ADDC0}"/>
                      </a:ext>
                    </a:extLst>
                  </p:cNvPr>
                  <p:cNvSpPr txBox="1"/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8" name="labelj">
                    <a:extLst>
                      <a:ext uri="{FF2B5EF4-FFF2-40B4-BE49-F238E27FC236}">
                        <a16:creationId xmlns:a16="http://schemas.microsoft.com/office/drawing/2014/main" id="{2F56F1F5-44F7-AF26-00A4-BAA5716ADD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4" name="y轴">
                <a:extLst>
                  <a:ext uri="{FF2B5EF4-FFF2-40B4-BE49-F238E27FC236}">
                    <a16:creationId xmlns:a16="http://schemas.microsoft.com/office/drawing/2014/main" id="{B4F167F5-4B4A-3B66-66CF-556A7B3392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92135" y="2027313"/>
                <a:ext cx="0" cy="43924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实轴">
              <a:extLst>
                <a:ext uri="{FF2B5EF4-FFF2-40B4-BE49-F238E27FC236}">
                  <a16:creationId xmlns:a16="http://schemas.microsoft.com/office/drawing/2014/main" id="{37BC8127-5B2E-EBD8-C770-7C296B5FE20E}"/>
                </a:ext>
              </a:extLst>
            </p:cNvPr>
            <p:cNvGrpSpPr/>
            <p:nvPr/>
          </p:nvGrpSpPr>
          <p:grpSpPr>
            <a:xfrm>
              <a:off x="8399462" y="4081245"/>
              <a:ext cx="2851630" cy="524695"/>
              <a:chOff x="8399462" y="4081245"/>
              <a:chExt cx="2851630" cy="5246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label0">
                    <a:extLst>
                      <a:ext uri="{FF2B5EF4-FFF2-40B4-BE49-F238E27FC236}">
                        <a16:creationId xmlns:a16="http://schemas.microsoft.com/office/drawing/2014/main" id="{52E8DE49-E601-C1BF-A858-50CFF27EB174}"/>
                      </a:ext>
                    </a:extLst>
                  </p:cNvPr>
                  <p:cNvSpPr txBox="1"/>
                  <p:nvPr/>
                </p:nvSpPr>
                <p:spPr>
                  <a:xfrm>
                    <a:off x="10730391" y="4081245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1" name="label0">
                    <a:extLst>
                      <a:ext uri="{FF2B5EF4-FFF2-40B4-BE49-F238E27FC236}">
                        <a16:creationId xmlns:a16="http://schemas.microsoft.com/office/drawing/2014/main" id="{52E8DE49-E601-C1BF-A858-50CFF27EB1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30391" y="4081245"/>
                    <a:ext cx="520701" cy="52469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3" name="x轴">
                <a:extLst>
                  <a:ext uri="{FF2B5EF4-FFF2-40B4-BE49-F238E27FC236}">
                    <a16:creationId xmlns:a16="http://schemas.microsoft.com/office/drawing/2014/main" id="{ADDA96AE-FE12-3D03-517A-23462BCC0C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99462" y="4159407"/>
                <a:ext cx="285163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5" name="极点1">
            <a:extLst>
              <a:ext uri="{FF2B5EF4-FFF2-40B4-BE49-F238E27FC236}">
                <a16:creationId xmlns:a16="http://schemas.microsoft.com/office/drawing/2014/main" id="{8D96D920-2BF2-EE4D-9B5E-36597394F387}"/>
              </a:ext>
            </a:extLst>
          </p:cNvPr>
          <p:cNvSpPr/>
          <p:nvPr/>
        </p:nvSpPr>
        <p:spPr>
          <a:xfrm>
            <a:off x="9915328" y="2576902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67" name="极点1">
            <a:extLst>
              <a:ext uri="{FF2B5EF4-FFF2-40B4-BE49-F238E27FC236}">
                <a16:creationId xmlns:a16="http://schemas.microsoft.com/office/drawing/2014/main" id="{C60FC3D5-641F-5163-2073-81A5A27FCFD8}"/>
              </a:ext>
            </a:extLst>
          </p:cNvPr>
          <p:cNvSpPr/>
          <p:nvPr/>
        </p:nvSpPr>
        <p:spPr>
          <a:xfrm>
            <a:off x="9911209" y="5445572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75" name="根轨迹4">
            <a:extLst>
              <a:ext uri="{FF2B5EF4-FFF2-40B4-BE49-F238E27FC236}">
                <a16:creationId xmlns:a16="http://schemas.microsoft.com/office/drawing/2014/main" id="{D33770EC-AFAE-0AD0-493D-DCD2F66BA132}"/>
              </a:ext>
            </a:extLst>
          </p:cNvPr>
          <p:cNvSpPr/>
          <p:nvPr/>
        </p:nvSpPr>
        <p:spPr>
          <a:xfrm>
            <a:off x="8612313" y="2581386"/>
            <a:ext cx="1450242" cy="765669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918308"/>
              <a:gd name="connsiteY0" fmla="*/ 2108688 h 2108688"/>
              <a:gd name="connsiteX1" fmla="*/ 918308 w 918308"/>
              <a:gd name="connsiteY1" fmla="*/ 0 h 2108688"/>
              <a:gd name="connsiteX0" fmla="*/ 0 w 918308"/>
              <a:gd name="connsiteY0" fmla="*/ 2108688 h 2108688"/>
              <a:gd name="connsiteX1" fmla="*/ 918308 w 918308"/>
              <a:gd name="connsiteY1" fmla="*/ 0 h 2108688"/>
              <a:gd name="connsiteX0" fmla="*/ 0 w 353158"/>
              <a:gd name="connsiteY0" fmla="*/ 933938 h 933938"/>
              <a:gd name="connsiteX1" fmla="*/ 353158 w 353158"/>
              <a:gd name="connsiteY1" fmla="*/ 0 h 933938"/>
              <a:gd name="connsiteX0" fmla="*/ 0 w 353158"/>
              <a:gd name="connsiteY0" fmla="*/ 933938 h 933938"/>
              <a:gd name="connsiteX1" fmla="*/ 353158 w 353158"/>
              <a:gd name="connsiteY1" fmla="*/ 0 h 933938"/>
              <a:gd name="connsiteX0" fmla="*/ 0 w 360224"/>
              <a:gd name="connsiteY0" fmla="*/ 933938 h 933938"/>
              <a:gd name="connsiteX1" fmla="*/ 353158 w 360224"/>
              <a:gd name="connsiteY1" fmla="*/ 0 h 933938"/>
              <a:gd name="connsiteX0" fmla="*/ 0 w 360224"/>
              <a:gd name="connsiteY0" fmla="*/ 933938 h 933938"/>
              <a:gd name="connsiteX1" fmla="*/ 353158 w 360224"/>
              <a:gd name="connsiteY1" fmla="*/ 0 h 933938"/>
              <a:gd name="connsiteX0" fmla="*/ 0 w 360224"/>
              <a:gd name="connsiteY0" fmla="*/ 933938 h 933938"/>
              <a:gd name="connsiteX1" fmla="*/ 353158 w 360224"/>
              <a:gd name="connsiteY1" fmla="*/ 0 h 933938"/>
              <a:gd name="connsiteX0" fmla="*/ 0 w 353158"/>
              <a:gd name="connsiteY0" fmla="*/ 933938 h 933938"/>
              <a:gd name="connsiteX1" fmla="*/ 353158 w 353158"/>
              <a:gd name="connsiteY1" fmla="*/ 0 h 933938"/>
              <a:gd name="connsiteX0" fmla="*/ 1450418 w 1479691"/>
              <a:gd name="connsiteY0" fmla="*/ 37808 h 770169"/>
              <a:gd name="connsiteX1" fmla="*/ 176 w 1479691"/>
              <a:gd name="connsiteY1" fmla="*/ 640570 h 770169"/>
              <a:gd name="connsiteX0" fmla="*/ 1450242 w 1487448"/>
              <a:gd name="connsiteY0" fmla="*/ 169546 h 772308"/>
              <a:gd name="connsiteX1" fmla="*/ 0 w 1487448"/>
              <a:gd name="connsiteY1" fmla="*/ 772308 h 772308"/>
              <a:gd name="connsiteX0" fmla="*/ 1450242 w 1450242"/>
              <a:gd name="connsiteY0" fmla="*/ 135893 h 738655"/>
              <a:gd name="connsiteX1" fmla="*/ 0 w 1450242"/>
              <a:gd name="connsiteY1" fmla="*/ 738655 h 738655"/>
              <a:gd name="connsiteX0" fmla="*/ 1450242 w 1450242"/>
              <a:gd name="connsiteY0" fmla="*/ 124807 h 765669"/>
              <a:gd name="connsiteX1" fmla="*/ 0 w 1450242"/>
              <a:gd name="connsiteY1" fmla="*/ 765669 h 765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50242" h="765669">
                <a:moveTo>
                  <a:pt x="1450242" y="124807"/>
                </a:moveTo>
                <a:cubicBezTo>
                  <a:pt x="1127695" y="-84906"/>
                  <a:pt x="405097" y="-123168"/>
                  <a:pt x="0" y="765669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3" name="零点">
            <a:extLst>
              <a:ext uri="{FF2B5EF4-FFF2-40B4-BE49-F238E27FC236}">
                <a16:creationId xmlns:a16="http://schemas.microsoft.com/office/drawing/2014/main" id="{A676B39D-FC33-5707-419E-8F2B9745E47F}"/>
              </a:ext>
            </a:extLst>
          </p:cNvPr>
          <p:cNvSpPr/>
          <p:nvPr/>
        </p:nvSpPr>
        <p:spPr>
          <a:xfrm>
            <a:off x="8507363" y="3321000"/>
            <a:ext cx="216000" cy="216000"/>
          </a:xfrm>
          <a:prstGeom prst="donut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08A422D-A918-2411-DF32-78F516ABA9E0}"/>
              </a:ext>
            </a:extLst>
          </p:cNvPr>
          <p:cNvGrpSpPr/>
          <p:nvPr/>
        </p:nvGrpSpPr>
        <p:grpSpPr>
          <a:xfrm>
            <a:off x="8537814" y="3299563"/>
            <a:ext cx="561311" cy="258873"/>
            <a:chOff x="7046063" y="4558949"/>
            <a:chExt cx="561311" cy="258873"/>
          </a:xfrm>
        </p:grpSpPr>
        <p:sp>
          <p:nvSpPr>
            <p:cNvPr id="83" name="弧 82">
              <a:extLst>
                <a:ext uri="{FF2B5EF4-FFF2-40B4-BE49-F238E27FC236}">
                  <a16:creationId xmlns:a16="http://schemas.microsoft.com/office/drawing/2014/main" id="{6C7B2D08-2EFB-74DF-5E05-2CB3D7312849}"/>
                </a:ext>
              </a:extLst>
            </p:cNvPr>
            <p:cNvSpPr/>
            <p:nvPr/>
          </p:nvSpPr>
          <p:spPr>
            <a:xfrm rot="5400000" flipH="1">
              <a:off x="7046063" y="4558949"/>
              <a:ext cx="258873" cy="258873"/>
            </a:xfrm>
            <a:prstGeom prst="arc">
              <a:avLst>
                <a:gd name="adj1" fmla="val 16200000"/>
                <a:gd name="adj2" fmla="val 332626"/>
              </a:avLst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62FFAD0A-526D-E7B9-D6E7-AE17D5236E42}"/>
                </a:ext>
              </a:extLst>
            </p:cNvPr>
            <p:cNvCxnSpPr>
              <a:cxnSpLocks/>
            </p:cNvCxnSpPr>
            <p:nvPr/>
          </p:nvCxnSpPr>
          <p:spPr>
            <a:xfrm>
              <a:off x="7244194" y="4688385"/>
              <a:ext cx="363180" cy="1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89E320F0-0D45-F34E-4AFC-BBC6A8912BFF}"/>
                  </a:ext>
                </a:extLst>
              </p:cNvPr>
              <p:cNvSpPr txBox="1"/>
              <p:nvPr/>
            </p:nvSpPr>
            <p:spPr>
              <a:xfrm>
                <a:off x="9426207" y="2401975"/>
                <a:ext cx="3607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89E320F0-0D45-F34E-4AFC-BBC6A8912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207" y="2401975"/>
                <a:ext cx="360740" cy="523220"/>
              </a:xfrm>
              <a:prstGeom prst="rect">
                <a:avLst/>
              </a:prstGeom>
              <a:blipFill>
                <a:blip r:embed="rId7"/>
                <a:stretch>
                  <a:fillRect l="-10345" r="-37931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9E21C2A6-E2E7-EBC1-21CA-FBDBE1BA37FF}"/>
                  </a:ext>
                </a:extLst>
              </p:cNvPr>
              <p:cNvSpPr txBox="1"/>
              <p:nvPr/>
            </p:nvSpPr>
            <p:spPr>
              <a:xfrm>
                <a:off x="9452253" y="5218386"/>
                <a:ext cx="3607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9E21C2A6-E2E7-EBC1-21CA-FBDBE1BA3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2253" y="5218386"/>
                <a:ext cx="360740" cy="523220"/>
              </a:xfrm>
              <a:prstGeom prst="rect">
                <a:avLst/>
              </a:prstGeom>
              <a:blipFill>
                <a:blip r:embed="rId8"/>
                <a:stretch>
                  <a:fillRect l="-10345" r="-41379" b="-9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BE6A85C9-A609-8F40-E8AE-1CDBA830993C}"/>
                  </a:ext>
                </a:extLst>
              </p:cNvPr>
              <p:cNvSpPr txBox="1"/>
              <p:nvPr/>
            </p:nvSpPr>
            <p:spPr>
              <a:xfrm>
                <a:off x="8081560" y="3327255"/>
                <a:ext cx="3607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BE6A85C9-A609-8F40-E8AE-1CDBA8309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1560" y="3327255"/>
                <a:ext cx="360740" cy="523220"/>
              </a:xfrm>
              <a:prstGeom prst="rect">
                <a:avLst/>
              </a:prstGeom>
              <a:blipFill>
                <a:blip r:embed="rId9"/>
                <a:stretch>
                  <a:fillRect r="-344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CC878FFA-AA4E-5A7A-0094-B71B14FE2D94}"/>
                  </a:ext>
                </a:extLst>
              </p:cNvPr>
              <p:cNvSpPr txBox="1"/>
              <p:nvPr/>
            </p:nvSpPr>
            <p:spPr>
              <a:xfrm>
                <a:off x="8776802" y="2864934"/>
                <a:ext cx="3607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CC878FFA-AA4E-5A7A-0094-B71B14FE2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802" y="2864934"/>
                <a:ext cx="360740" cy="523220"/>
              </a:xfrm>
              <a:prstGeom prst="rect">
                <a:avLst/>
              </a:prstGeom>
              <a:blipFill>
                <a:blip r:embed="rId10"/>
                <a:stretch>
                  <a:fillRect l="-10345" r="-79310"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零点">
            <a:extLst>
              <a:ext uri="{FF2B5EF4-FFF2-40B4-BE49-F238E27FC236}">
                <a16:creationId xmlns:a16="http://schemas.microsoft.com/office/drawing/2014/main" id="{AA74F6BC-325D-8A49-2C6B-9D3399CD20EF}"/>
              </a:ext>
            </a:extLst>
          </p:cNvPr>
          <p:cNvSpPr/>
          <p:nvPr/>
        </p:nvSpPr>
        <p:spPr>
          <a:xfrm>
            <a:off x="8507363" y="4760863"/>
            <a:ext cx="216000" cy="216000"/>
          </a:xfrm>
          <a:prstGeom prst="donut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B3A818A3-CEA8-7ABB-9670-44C2730A5137}"/>
                  </a:ext>
                </a:extLst>
              </p:cNvPr>
              <p:cNvSpPr txBox="1"/>
              <p:nvPr/>
            </p:nvSpPr>
            <p:spPr>
              <a:xfrm>
                <a:off x="8099347" y="4760863"/>
                <a:ext cx="3607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B3A818A3-CEA8-7ABB-9670-44C2730A5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9347" y="4760863"/>
                <a:ext cx="360740" cy="523220"/>
              </a:xfrm>
              <a:prstGeom prst="rect">
                <a:avLst/>
              </a:prstGeom>
              <a:blipFill>
                <a:blip r:embed="rId11"/>
                <a:stretch>
                  <a:fillRect r="-33333" b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根轨迹4">
            <a:extLst>
              <a:ext uri="{FF2B5EF4-FFF2-40B4-BE49-F238E27FC236}">
                <a16:creationId xmlns:a16="http://schemas.microsoft.com/office/drawing/2014/main" id="{A99F5844-D432-EB94-3ED1-E748A5071B73}"/>
              </a:ext>
            </a:extLst>
          </p:cNvPr>
          <p:cNvSpPr/>
          <p:nvPr/>
        </p:nvSpPr>
        <p:spPr>
          <a:xfrm flipV="1">
            <a:off x="8608358" y="4939451"/>
            <a:ext cx="1462942" cy="784253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918308"/>
              <a:gd name="connsiteY0" fmla="*/ 2108688 h 2108688"/>
              <a:gd name="connsiteX1" fmla="*/ 918308 w 918308"/>
              <a:gd name="connsiteY1" fmla="*/ 0 h 2108688"/>
              <a:gd name="connsiteX0" fmla="*/ 0 w 918308"/>
              <a:gd name="connsiteY0" fmla="*/ 2108688 h 2108688"/>
              <a:gd name="connsiteX1" fmla="*/ 918308 w 918308"/>
              <a:gd name="connsiteY1" fmla="*/ 0 h 2108688"/>
              <a:gd name="connsiteX0" fmla="*/ 0 w 353158"/>
              <a:gd name="connsiteY0" fmla="*/ 933938 h 933938"/>
              <a:gd name="connsiteX1" fmla="*/ 353158 w 353158"/>
              <a:gd name="connsiteY1" fmla="*/ 0 h 933938"/>
              <a:gd name="connsiteX0" fmla="*/ 0 w 353158"/>
              <a:gd name="connsiteY0" fmla="*/ 933938 h 933938"/>
              <a:gd name="connsiteX1" fmla="*/ 353158 w 353158"/>
              <a:gd name="connsiteY1" fmla="*/ 0 h 933938"/>
              <a:gd name="connsiteX0" fmla="*/ 0 w 360224"/>
              <a:gd name="connsiteY0" fmla="*/ 933938 h 933938"/>
              <a:gd name="connsiteX1" fmla="*/ 353158 w 360224"/>
              <a:gd name="connsiteY1" fmla="*/ 0 h 933938"/>
              <a:gd name="connsiteX0" fmla="*/ 0 w 360224"/>
              <a:gd name="connsiteY0" fmla="*/ 933938 h 933938"/>
              <a:gd name="connsiteX1" fmla="*/ 353158 w 360224"/>
              <a:gd name="connsiteY1" fmla="*/ 0 h 933938"/>
              <a:gd name="connsiteX0" fmla="*/ 0 w 360224"/>
              <a:gd name="connsiteY0" fmla="*/ 933938 h 933938"/>
              <a:gd name="connsiteX1" fmla="*/ 353158 w 360224"/>
              <a:gd name="connsiteY1" fmla="*/ 0 h 933938"/>
              <a:gd name="connsiteX0" fmla="*/ 0 w 353158"/>
              <a:gd name="connsiteY0" fmla="*/ 933938 h 933938"/>
              <a:gd name="connsiteX1" fmla="*/ 353158 w 353158"/>
              <a:gd name="connsiteY1" fmla="*/ 0 h 933938"/>
              <a:gd name="connsiteX0" fmla="*/ 1450418 w 1479691"/>
              <a:gd name="connsiteY0" fmla="*/ 37808 h 770169"/>
              <a:gd name="connsiteX1" fmla="*/ 176 w 1479691"/>
              <a:gd name="connsiteY1" fmla="*/ 640570 h 770169"/>
              <a:gd name="connsiteX0" fmla="*/ 1450242 w 1487448"/>
              <a:gd name="connsiteY0" fmla="*/ 169546 h 772308"/>
              <a:gd name="connsiteX1" fmla="*/ 0 w 1487448"/>
              <a:gd name="connsiteY1" fmla="*/ 772308 h 772308"/>
              <a:gd name="connsiteX0" fmla="*/ 1450242 w 1450242"/>
              <a:gd name="connsiteY0" fmla="*/ 135893 h 738655"/>
              <a:gd name="connsiteX1" fmla="*/ 0 w 1450242"/>
              <a:gd name="connsiteY1" fmla="*/ 738655 h 738655"/>
              <a:gd name="connsiteX0" fmla="*/ 1462942 w 1462942"/>
              <a:gd name="connsiteY0" fmla="*/ 117991 h 784253"/>
              <a:gd name="connsiteX1" fmla="*/ 0 w 1462942"/>
              <a:gd name="connsiteY1" fmla="*/ 784253 h 784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62942" h="784253">
                <a:moveTo>
                  <a:pt x="1462942" y="117991"/>
                </a:moveTo>
                <a:cubicBezTo>
                  <a:pt x="1140395" y="-91722"/>
                  <a:pt x="405097" y="-104584"/>
                  <a:pt x="0" y="784253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5355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45" grpId="0"/>
      <p:bldP spid="58" grpId="0"/>
      <p:bldP spid="5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2793628" cy="725177"/>
            <a:chOff x="4943078" y="1700704"/>
            <a:chExt cx="2793628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2233888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分离点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2793628" cy="725177"/>
            <a:chOff x="4943078" y="1700704"/>
            <a:chExt cx="2793628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90" y="1750121"/>
              <a:ext cx="2319016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起始角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2811743" cy="725177"/>
            <a:chOff x="4943078" y="1700704"/>
            <a:chExt cx="2811743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0" y="1739799"/>
              <a:ext cx="2294961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虚轴交点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2799570" cy="725177"/>
            <a:chOff x="4943078" y="1700704"/>
            <a:chExt cx="2799570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2324959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终止角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388373" y="974919"/>
            <a:ext cx="83954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分离点减去极点的倒数的和</a:t>
            </a:r>
            <a:r>
              <a:rPr lang="en-US" altLang="zh-CN" sz="2800" dirty="0"/>
              <a:t>=</a:t>
            </a:r>
            <a:r>
              <a:rPr lang="zh-CN" altLang="en-US" sz="2800" dirty="0"/>
              <a:t>分离点减去零点的倒数的和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说明2">
                <a:extLst>
                  <a:ext uri="{FF2B5EF4-FFF2-40B4-BE49-F238E27FC236}">
                    <a16:creationId xmlns:a16="http://schemas.microsoft.com/office/drawing/2014/main" id="{0EDA0FB0-9D8E-9B10-C08B-BDCA8A371C06}"/>
                  </a:ext>
                </a:extLst>
              </p:cNvPr>
              <p:cNvSpPr txBox="1"/>
              <p:nvPr/>
            </p:nvSpPr>
            <p:spPr>
              <a:xfrm>
                <a:off x="3388514" y="1880312"/>
                <a:ext cx="8524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180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altLang="zh-CN" sz="2800" dirty="0"/>
                  <a:t>+</a:t>
                </a:r>
                <a:r>
                  <a:rPr lang="zh-CN" altLang="en-US" sz="2800" dirty="0"/>
                  <a:t>极点到零点的角度和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sz="2800" dirty="0"/>
                  <a:t>极点到其他极点的角度和</a:t>
                </a:r>
              </a:p>
            </p:txBody>
          </p:sp>
        </mc:Choice>
        <mc:Fallback xmlns="">
          <p:sp>
            <p:nvSpPr>
              <p:cNvPr id="32" name="说明2">
                <a:extLst>
                  <a:ext uri="{FF2B5EF4-FFF2-40B4-BE49-F238E27FC236}">
                    <a16:creationId xmlns:a16="http://schemas.microsoft.com/office/drawing/2014/main" id="{0EDA0FB0-9D8E-9B10-C08B-BDCA8A371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514" y="1880312"/>
                <a:ext cx="8524658" cy="523220"/>
              </a:xfrm>
              <a:prstGeom prst="rect">
                <a:avLst/>
              </a:prstGeom>
              <a:blipFill>
                <a:blip r:embed="rId3"/>
                <a:stretch>
                  <a:fillRect l="-298" t="-11628" r="-893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说明3">
                <a:extLst>
                  <a:ext uri="{FF2B5EF4-FFF2-40B4-BE49-F238E27FC236}">
                    <a16:creationId xmlns:a16="http://schemas.microsoft.com/office/drawing/2014/main" id="{E8BCF822-C15C-BA20-871E-7C7CF6373C52}"/>
                  </a:ext>
                </a:extLst>
              </p:cNvPr>
              <p:cNvSpPr txBox="1"/>
              <p:nvPr/>
            </p:nvSpPr>
            <p:spPr>
              <a:xfrm>
                <a:off x="3388374" y="2703727"/>
                <a:ext cx="854291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180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altLang="zh-CN" sz="2800" dirty="0"/>
                  <a:t>+</a:t>
                </a:r>
                <a:r>
                  <a:rPr lang="zh-CN" altLang="en-US" sz="2800" dirty="0"/>
                  <a:t>零点到极点的角度和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sz="2800" dirty="0"/>
                  <a:t>零点到其他零点的角度和</a:t>
                </a:r>
              </a:p>
            </p:txBody>
          </p:sp>
        </mc:Choice>
        <mc:Fallback xmlns="">
          <p:sp>
            <p:nvSpPr>
              <p:cNvPr id="33" name="说明3">
                <a:extLst>
                  <a:ext uri="{FF2B5EF4-FFF2-40B4-BE49-F238E27FC236}">
                    <a16:creationId xmlns:a16="http://schemas.microsoft.com/office/drawing/2014/main" id="{E8BCF822-C15C-BA20-871E-7C7CF6373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374" y="2703727"/>
                <a:ext cx="8542913" cy="523220"/>
              </a:xfrm>
              <a:prstGeom prst="rect">
                <a:avLst/>
              </a:prstGeom>
              <a:blipFill>
                <a:blip r:embed="rId4"/>
                <a:stretch>
                  <a:fillRect l="-297" t="-17073" r="-593" b="-3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说明4">
                <a:extLst>
                  <a:ext uri="{FF2B5EF4-FFF2-40B4-BE49-F238E27FC236}">
                    <a16:creationId xmlns:a16="http://schemas.microsoft.com/office/drawing/2014/main" id="{24F65A02-B530-F2F0-2530-2B36E7D9C5CA}"/>
                  </a:ext>
                </a:extLst>
              </p:cNvPr>
              <p:cNvSpPr txBox="1"/>
              <p:nvPr/>
            </p:nvSpPr>
            <p:spPr>
              <a:xfrm>
                <a:off x="3388373" y="3414329"/>
                <a:ext cx="74593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特征方程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800" dirty="0"/>
                  <a:t>替换为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CN" altLang="en-US" sz="2800" dirty="0"/>
                  <a:t>，分别令实部虚部为零</a:t>
                </a:r>
              </a:p>
            </p:txBody>
          </p:sp>
        </mc:Choice>
        <mc:Fallback xmlns="">
          <p:sp>
            <p:nvSpPr>
              <p:cNvPr id="34" name="说明4">
                <a:extLst>
                  <a:ext uri="{FF2B5EF4-FFF2-40B4-BE49-F238E27FC236}">
                    <a16:creationId xmlns:a16="http://schemas.microsoft.com/office/drawing/2014/main" id="{24F65A02-B530-F2F0-2530-2B36E7D9C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373" y="3414329"/>
                <a:ext cx="7459359" cy="523220"/>
              </a:xfrm>
              <a:prstGeom prst="rect">
                <a:avLst/>
              </a:prstGeom>
              <a:blipFill>
                <a:blip r:embed="rId5"/>
                <a:stretch>
                  <a:fillRect l="-1701" t="-13953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3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把握关键点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5303118" y="5099056"/>
            <a:ext cx="23989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闭环特征根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548606"/>
            <a:ext cx="6193332" cy="1142595"/>
            <a:chOff x="5348307" y="5538470"/>
            <a:chExt cx="6193332" cy="1142595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06264" y="5726958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试在例</a:t>
              </a:r>
              <a:r>
                <a: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中选择使得近似二阶系统阻尼为</a:t>
              </a:r>
              <a:r>
                <a: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0.707</a:t>
              </a:r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的开环增益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6" name="问题">
            <a:extLst>
              <a:ext uri="{FF2B5EF4-FFF2-40B4-BE49-F238E27FC236}">
                <a16:creationId xmlns:a16="http://schemas.microsoft.com/office/drawing/2014/main" id="{A0B720D9-BC69-5FCB-17E3-944714F91B50}"/>
              </a:ext>
            </a:extLst>
          </p:cNvPr>
          <p:cNvGrpSpPr/>
          <p:nvPr/>
        </p:nvGrpSpPr>
        <p:grpSpPr>
          <a:xfrm>
            <a:off x="690338" y="3281907"/>
            <a:ext cx="6194665" cy="954107"/>
            <a:chOff x="5348307" y="5538470"/>
            <a:chExt cx="6194665" cy="954107"/>
          </a:xfrm>
        </p:grpSpPr>
        <p:sp>
          <p:nvSpPr>
            <p:cNvPr id="7" name="问号">
              <a:extLst>
                <a:ext uri="{FF2B5EF4-FFF2-40B4-BE49-F238E27FC236}">
                  <a16:creationId xmlns:a16="http://schemas.microsoft.com/office/drawing/2014/main" id="{5F8C0436-D4D3-D94B-D4E1-58302854E7D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8" name="文本">
              <a:extLst>
                <a:ext uri="{FF2B5EF4-FFF2-40B4-BE49-F238E27FC236}">
                  <a16:creationId xmlns:a16="http://schemas.microsoft.com/office/drawing/2014/main" id="{68096BCF-DEFA-1880-5BBB-61F51FEEEE7E}"/>
                </a:ext>
              </a:extLst>
            </p:cNvPr>
            <p:cNvSpPr txBox="1"/>
            <p:nvPr/>
          </p:nvSpPr>
          <p:spPr>
            <a:xfrm>
              <a:off x="6307597" y="5538470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试确定使近似二阶系统超调量在</a:t>
              </a:r>
              <a:r>
                <a:rPr kumimoji="1" lang="en-US" altLang="zh-CN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17%</a:t>
              </a:r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以下的根轨迹范围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0" name="坐标轴">
            <a:extLst>
              <a:ext uri="{FF2B5EF4-FFF2-40B4-BE49-F238E27FC236}">
                <a16:creationId xmlns:a16="http://schemas.microsoft.com/office/drawing/2014/main" id="{C14A77DA-B623-9B7C-2F31-3B7E7D7ABCF2}"/>
              </a:ext>
            </a:extLst>
          </p:cNvPr>
          <p:cNvGrpSpPr/>
          <p:nvPr/>
        </p:nvGrpSpPr>
        <p:grpSpPr>
          <a:xfrm>
            <a:off x="8039422" y="863857"/>
            <a:ext cx="3188060" cy="4741714"/>
            <a:chOff x="8276593" y="1678087"/>
            <a:chExt cx="3188060" cy="4741714"/>
          </a:xfrm>
        </p:grpSpPr>
        <p:grpSp>
          <p:nvGrpSpPr>
            <p:cNvPr id="11" name="虚轴">
              <a:extLst>
                <a:ext uri="{FF2B5EF4-FFF2-40B4-BE49-F238E27FC236}">
                  <a16:creationId xmlns:a16="http://schemas.microsoft.com/office/drawing/2014/main" id="{875CDB85-FDE2-D8A6-69B8-05471C00E958}"/>
                </a:ext>
              </a:extLst>
            </p:cNvPr>
            <p:cNvGrpSpPr/>
            <p:nvPr/>
          </p:nvGrpSpPr>
          <p:grpSpPr>
            <a:xfrm>
              <a:off x="10787944" y="1678087"/>
              <a:ext cx="676709" cy="4741714"/>
              <a:chOff x="10787944" y="1678087"/>
              <a:chExt cx="676709" cy="47417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labelj">
                    <a:extLst>
                      <a:ext uri="{FF2B5EF4-FFF2-40B4-BE49-F238E27FC236}">
                        <a16:creationId xmlns:a16="http://schemas.microsoft.com/office/drawing/2014/main" id="{C6173A24-7DB8-8892-99FD-E120002BD2FD}"/>
                      </a:ext>
                    </a:extLst>
                  </p:cNvPr>
                  <p:cNvSpPr txBox="1"/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8" name="labelj">
                    <a:extLst>
                      <a:ext uri="{FF2B5EF4-FFF2-40B4-BE49-F238E27FC236}">
                        <a16:creationId xmlns:a16="http://schemas.microsoft.com/office/drawing/2014/main" id="{2F56F1F5-44F7-AF26-00A4-BAA5716ADD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ylabel2">
                    <a:extLst>
                      <a:ext uri="{FF2B5EF4-FFF2-40B4-BE49-F238E27FC236}">
                        <a16:creationId xmlns:a16="http://schemas.microsoft.com/office/drawing/2014/main" id="{23564112-4521-ADC6-AB78-408E6012691F}"/>
                      </a:ext>
                    </a:extLst>
                  </p:cNvPr>
                  <p:cNvSpPr txBox="1"/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4" name="ylabel2">
                    <a:extLst>
                      <a:ext uri="{FF2B5EF4-FFF2-40B4-BE49-F238E27FC236}">
                        <a16:creationId xmlns:a16="http://schemas.microsoft.com/office/drawing/2014/main" id="{9D7C0A6B-EB41-E864-C05F-98B92D5C05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692" r="-307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ytick2">
                <a:extLst>
                  <a:ext uri="{FF2B5EF4-FFF2-40B4-BE49-F238E27FC236}">
                    <a16:creationId xmlns:a16="http://schemas.microsoft.com/office/drawing/2014/main" id="{48A66D71-EF8C-EA08-A202-8760D7038B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4468" y="2713985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ylabel1">
                    <a:extLst>
                      <a:ext uri="{FF2B5EF4-FFF2-40B4-BE49-F238E27FC236}">
                        <a16:creationId xmlns:a16="http://schemas.microsoft.com/office/drawing/2014/main" id="{6F7BBC85-0D12-A5DD-D070-51948915522D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9030" y="3167390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2" name="ylabel1">
                    <a:extLst>
                      <a:ext uri="{FF2B5EF4-FFF2-40B4-BE49-F238E27FC236}">
                        <a16:creationId xmlns:a16="http://schemas.microsoft.com/office/drawing/2014/main" id="{9CB1BFCC-5737-595F-A04A-49E1593A39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9030" y="3167390"/>
                    <a:ext cx="322182" cy="52469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1538" r="-2692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ytick1">
                <a:extLst>
                  <a:ext uri="{FF2B5EF4-FFF2-40B4-BE49-F238E27FC236}">
                    <a16:creationId xmlns:a16="http://schemas.microsoft.com/office/drawing/2014/main" id="{372C68FD-7355-A8B4-17F6-039357267D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87944" y="3429000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ylabel-1">
                    <a:extLst>
                      <a:ext uri="{FF2B5EF4-FFF2-40B4-BE49-F238E27FC236}">
                        <a16:creationId xmlns:a16="http://schemas.microsoft.com/office/drawing/2014/main" id="{1E062959-A39F-559F-A96C-CB8DE13EED5F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3952" y="4610305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6" name="ylabel-1">
                    <a:extLst>
                      <a:ext uri="{FF2B5EF4-FFF2-40B4-BE49-F238E27FC236}">
                        <a16:creationId xmlns:a16="http://schemas.microsoft.com/office/drawing/2014/main" id="{F2102832-36D4-C639-4E99-019C65F313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3952" y="4610305"/>
                    <a:ext cx="520701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7" name="ytick-1">
                <a:extLst>
                  <a:ext uri="{FF2B5EF4-FFF2-40B4-BE49-F238E27FC236}">
                    <a16:creationId xmlns:a16="http://schemas.microsoft.com/office/drawing/2014/main" id="{42594FFD-EC9F-20AF-CAD3-459D7ADCCB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4876194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ylabel-2">
                    <a:extLst>
                      <a:ext uri="{FF2B5EF4-FFF2-40B4-BE49-F238E27FC236}">
                        <a16:creationId xmlns:a16="http://schemas.microsoft.com/office/drawing/2014/main" id="{BA4BB599-14F8-40DB-EDEC-543AA873C896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8" name="ylabel-2">
                    <a:extLst>
                      <a:ext uri="{FF2B5EF4-FFF2-40B4-BE49-F238E27FC236}">
                        <a16:creationId xmlns:a16="http://schemas.microsoft.com/office/drawing/2014/main" id="{7FB83E9A-2039-8046-0AA8-71238C3BB4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9" name="ytick-2">
                <a:extLst>
                  <a:ext uri="{FF2B5EF4-FFF2-40B4-BE49-F238E27FC236}">
                    <a16:creationId xmlns:a16="http://schemas.microsoft.com/office/drawing/2014/main" id="{4F38052D-81BC-6C04-04DF-9D72A7299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5591991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y轴">
                <a:extLst>
                  <a:ext uri="{FF2B5EF4-FFF2-40B4-BE49-F238E27FC236}">
                    <a16:creationId xmlns:a16="http://schemas.microsoft.com/office/drawing/2014/main" id="{32016F56-5A3E-4FE5-E2FF-80B6786662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92135" y="2027313"/>
                <a:ext cx="0" cy="43924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实轴">
              <a:extLst>
                <a:ext uri="{FF2B5EF4-FFF2-40B4-BE49-F238E27FC236}">
                  <a16:creationId xmlns:a16="http://schemas.microsoft.com/office/drawing/2014/main" id="{138F3EC6-AF0E-2BD0-E5DA-EE360BF735AB}"/>
                </a:ext>
              </a:extLst>
            </p:cNvPr>
            <p:cNvGrpSpPr/>
            <p:nvPr/>
          </p:nvGrpSpPr>
          <p:grpSpPr>
            <a:xfrm>
              <a:off x="8276593" y="4005604"/>
              <a:ext cx="2974499" cy="689037"/>
              <a:chOff x="8276593" y="4005604"/>
              <a:chExt cx="2974499" cy="68903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label0">
                    <a:extLst>
                      <a:ext uri="{FF2B5EF4-FFF2-40B4-BE49-F238E27FC236}">
                        <a16:creationId xmlns:a16="http://schemas.microsoft.com/office/drawing/2014/main" id="{5FCDCC12-D9B4-2881-F387-C99D0851387C}"/>
                      </a:ext>
                    </a:extLst>
                  </p:cNvPr>
                  <p:cNvSpPr txBox="1"/>
                  <p:nvPr/>
                </p:nvSpPr>
                <p:spPr>
                  <a:xfrm>
                    <a:off x="10730391" y="4081245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1" name="label0">
                    <a:extLst>
                      <a:ext uri="{FF2B5EF4-FFF2-40B4-BE49-F238E27FC236}">
                        <a16:creationId xmlns:a16="http://schemas.microsoft.com/office/drawing/2014/main" id="{52E8DE49-E601-C1BF-A858-50CFF27EB1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30391" y="4081245"/>
                    <a:ext cx="520701" cy="52469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xlabel-3">
                    <a:extLst>
                      <a:ext uri="{FF2B5EF4-FFF2-40B4-BE49-F238E27FC236}">
                        <a16:creationId xmlns:a16="http://schemas.microsoft.com/office/drawing/2014/main" id="{88741038-EC6A-D145-11CE-9CDF593C0CA3}"/>
                      </a:ext>
                    </a:extLst>
                  </p:cNvPr>
                  <p:cNvSpPr txBox="1"/>
                  <p:nvPr/>
                </p:nvSpPr>
                <p:spPr>
                  <a:xfrm>
                    <a:off x="8276593" y="4165166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8" name="xlabel-3">
                    <a:extLst>
                      <a:ext uri="{FF2B5EF4-FFF2-40B4-BE49-F238E27FC236}">
                        <a16:creationId xmlns:a16="http://schemas.microsoft.com/office/drawing/2014/main" id="{E78AFEE6-C94E-0F2F-2D91-50B360D251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6593" y="4165166"/>
                    <a:ext cx="520701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3095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xtick-3">
                <a:extLst>
                  <a:ext uri="{FF2B5EF4-FFF2-40B4-BE49-F238E27FC236}">
                    <a16:creationId xmlns:a16="http://schemas.microsoft.com/office/drawing/2014/main" id="{876FDD1C-423A-1605-F4FB-9FF79FCA366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547547" y="4073420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xlabel-2">
                    <a:extLst>
                      <a:ext uri="{FF2B5EF4-FFF2-40B4-BE49-F238E27FC236}">
                        <a16:creationId xmlns:a16="http://schemas.microsoft.com/office/drawing/2014/main" id="{A1437578-5D0C-4E01-5E20-CDAE883C921D}"/>
                      </a:ext>
                    </a:extLst>
                  </p:cNvPr>
                  <p:cNvSpPr txBox="1"/>
                  <p:nvPr/>
                </p:nvSpPr>
                <p:spPr>
                  <a:xfrm>
                    <a:off x="8996942" y="4171421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9" name="xlabel-2">
                    <a:extLst>
                      <a:ext uri="{FF2B5EF4-FFF2-40B4-BE49-F238E27FC236}">
                        <a16:creationId xmlns:a16="http://schemas.microsoft.com/office/drawing/2014/main" id="{E2DCFA7D-1488-76C2-EE35-EF05B14D0C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96942" y="4171421"/>
                    <a:ext cx="520701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xtick-2">
                <a:extLst>
                  <a:ext uri="{FF2B5EF4-FFF2-40B4-BE49-F238E27FC236}">
                    <a16:creationId xmlns:a16="http://schemas.microsoft.com/office/drawing/2014/main" id="{8D4DC296-7B30-C0C2-8B15-986CBCA5D13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68272" y="4084906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xlabel-1">
                    <a:extLst>
                      <a:ext uri="{FF2B5EF4-FFF2-40B4-BE49-F238E27FC236}">
                        <a16:creationId xmlns:a16="http://schemas.microsoft.com/office/drawing/2014/main" id="{66E5F7CD-6CDD-E068-4ED0-BF0ECA37E525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397" y="4171421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80" name="xlabel-1">
                    <a:extLst>
                      <a:ext uri="{FF2B5EF4-FFF2-40B4-BE49-F238E27FC236}">
                        <a16:creationId xmlns:a16="http://schemas.microsoft.com/office/drawing/2014/main" id="{DF1EB158-4C5D-C070-2DF9-90CA8A9229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397" y="4171421"/>
                    <a:ext cx="520701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3170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xtick-1">
                <a:extLst>
                  <a:ext uri="{FF2B5EF4-FFF2-40B4-BE49-F238E27FC236}">
                    <a16:creationId xmlns:a16="http://schemas.microsoft.com/office/drawing/2014/main" id="{9BF5DDA0-6A9F-2B58-6E88-9A60369AC1E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991528" y="4081909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x轴">
                <a:extLst>
                  <a:ext uri="{FF2B5EF4-FFF2-40B4-BE49-F238E27FC236}">
                    <a16:creationId xmlns:a16="http://schemas.microsoft.com/office/drawing/2014/main" id="{A8CD3B85-5F78-6587-D958-54A9442778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11602" y="4159407"/>
                <a:ext cx="213949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渐近线">
            <a:extLst>
              <a:ext uri="{FF2B5EF4-FFF2-40B4-BE49-F238E27FC236}">
                <a16:creationId xmlns:a16="http://schemas.microsoft.com/office/drawing/2014/main" id="{740358BC-64FE-AC74-69C2-1CAAEDF8FDE3}"/>
              </a:ext>
            </a:extLst>
          </p:cNvPr>
          <p:cNvGrpSpPr/>
          <p:nvPr/>
        </p:nvGrpSpPr>
        <p:grpSpPr>
          <a:xfrm>
            <a:off x="7950104" y="1346979"/>
            <a:ext cx="2999986" cy="3980911"/>
            <a:chOff x="7670800" y="1679874"/>
            <a:chExt cx="2999986" cy="3980911"/>
          </a:xfrm>
        </p:grpSpPr>
        <p:cxnSp>
          <p:nvCxnSpPr>
            <p:cNvPr id="32" name="渐近线3">
              <a:extLst>
                <a:ext uri="{FF2B5EF4-FFF2-40B4-BE49-F238E27FC236}">
                  <a16:creationId xmlns:a16="http://schemas.microsoft.com/office/drawing/2014/main" id="{4248FFBE-ACC2-871D-71E3-2CE948641931}"/>
                </a:ext>
              </a:extLst>
            </p:cNvPr>
            <p:cNvCxnSpPr>
              <a:cxnSpLocks/>
            </p:cNvCxnSpPr>
            <p:nvPr/>
          </p:nvCxnSpPr>
          <p:spPr>
            <a:xfrm>
              <a:off x="9510872" y="3670345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渐近线2">
              <a:extLst>
                <a:ext uri="{FF2B5EF4-FFF2-40B4-BE49-F238E27FC236}">
                  <a16:creationId xmlns:a16="http://schemas.microsoft.com/office/drawing/2014/main" id="{4E559963-1186-54C0-BB8B-AF632BF3E8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0872" y="1679874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渐近线1">
              <a:extLst>
                <a:ext uri="{FF2B5EF4-FFF2-40B4-BE49-F238E27FC236}">
                  <a16:creationId xmlns:a16="http://schemas.microsoft.com/office/drawing/2014/main" id="{CD2F02DC-BBAF-8211-A0C7-6529E9069B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70800" y="3672000"/>
              <a:ext cx="1840072" cy="14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极点3">
            <a:extLst>
              <a:ext uri="{FF2B5EF4-FFF2-40B4-BE49-F238E27FC236}">
                <a16:creationId xmlns:a16="http://schemas.microsoft.com/office/drawing/2014/main" id="{D8E0A1EF-3FD2-FDF9-4E89-91D5CBD6ECE2}"/>
              </a:ext>
            </a:extLst>
          </p:cNvPr>
          <p:cNvSpPr/>
          <p:nvPr/>
        </p:nvSpPr>
        <p:spPr>
          <a:xfrm>
            <a:off x="8931418" y="3191479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36" name="极点2">
            <a:extLst>
              <a:ext uri="{FF2B5EF4-FFF2-40B4-BE49-F238E27FC236}">
                <a16:creationId xmlns:a16="http://schemas.microsoft.com/office/drawing/2014/main" id="{CEAD02F9-0B35-31DF-82EF-D60269A0D897}"/>
              </a:ext>
            </a:extLst>
          </p:cNvPr>
          <p:cNvSpPr/>
          <p:nvPr/>
        </p:nvSpPr>
        <p:spPr>
          <a:xfrm>
            <a:off x="9674038" y="3191479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37" name="极点1">
            <a:extLst>
              <a:ext uri="{FF2B5EF4-FFF2-40B4-BE49-F238E27FC236}">
                <a16:creationId xmlns:a16="http://schemas.microsoft.com/office/drawing/2014/main" id="{BE68ADED-5DB4-79A6-6D97-1E8A284F838D}"/>
              </a:ext>
            </a:extLst>
          </p:cNvPr>
          <p:cNvSpPr/>
          <p:nvPr/>
        </p:nvSpPr>
        <p:spPr>
          <a:xfrm>
            <a:off x="10404397" y="3201161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38" name="根轨迹5">
            <a:extLst>
              <a:ext uri="{FF2B5EF4-FFF2-40B4-BE49-F238E27FC236}">
                <a16:creationId xmlns:a16="http://schemas.microsoft.com/office/drawing/2014/main" id="{7EB1F0BF-3737-B92D-27D3-38DE5BAD1D62}"/>
              </a:ext>
            </a:extLst>
          </p:cNvPr>
          <p:cNvSpPr/>
          <p:nvPr/>
        </p:nvSpPr>
        <p:spPr>
          <a:xfrm flipV="1">
            <a:off x="10200373" y="3334851"/>
            <a:ext cx="886607" cy="214043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56 w 886614"/>
              <a:gd name="connsiteY0" fmla="*/ 2140438 h 2140438"/>
              <a:gd name="connsiteX1" fmla="*/ 886614 w 886614"/>
              <a:gd name="connsiteY1" fmla="*/ 0 h 2140438"/>
              <a:gd name="connsiteX0" fmla="*/ 49 w 886607"/>
              <a:gd name="connsiteY0" fmla="*/ 2140438 h 2140438"/>
              <a:gd name="connsiteX1" fmla="*/ 886607 w 886607"/>
              <a:gd name="connsiteY1" fmla="*/ 0 h 2140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6607" h="2140438">
                <a:moveTo>
                  <a:pt x="49" y="2140438"/>
                </a:moveTo>
                <a:cubicBezTo>
                  <a:pt x="-4998" y="1733875"/>
                  <a:pt x="383654" y="1054263"/>
                  <a:pt x="886607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9" name="根轨迹4">
            <a:extLst>
              <a:ext uri="{FF2B5EF4-FFF2-40B4-BE49-F238E27FC236}">
                <a16:creationId xmlns:a16="http://schemas.microsoft.com/office/drawing/2014/main" id="{270AABEC-946F-D819-ED43-8AAB103F3FB7}"/>
              </a:ext>
            </a:extLst>
          </p:cNvPr>
          <p:cNvSpPr/>
          <p:nvPr/>
        </p:nvSpPr>
        <p:spPr>
          <a:xfrm>
            <a:off x="10200422" y="1210424"/>
            <a:ext cx="886558" cy="2140438"/>
          </a:xfrm>
          <a:custGeom>
            <a:avLst/>
            <a:gdLst>
              <a:gd name="connsiteX0" fmla="*/ 2311400 w 2311400"/>
              <a:gd name="connsiteY0" fmla="*/ 2806700 h 2914873"/>
              <a:gd name="connsiteX1" fmla="*/ 1936750 w 2311400"/>
              <a:gd name="connsiteY1" fmla="*/ 2813050 h 2914873"/>
              <a:gd name="connsiteX2" fmla="*/ 1974850 w 2311400"/>
              <a:gd name="connsiteY2" fmla="*/ 1733550 h 2914873"/>
              <a:gd name="connsiteX3" fmla="*/ 0 w 2311400"/>
              <a:gd name="connsiteY3" fmla="*/ 0 h 2914873"/>
              <a:gd name="connsiteX0" fmla="*/ 2311400 w 2311400"/>
              <a:gd name="connsiteY0" fmla="*/ 2806700 h 2893131"/>
              <a:gd name="connsiteX1" fmla="*/ 1936750 w 2311400"/>
              <a:gd name="connsiteY1" fmla="*/ 2813050 h 2893131"/>
              <a:gd name="connsiteX2" fmla="*/ 1974850 w 2311400"/>
              <a:gd name="connsiteY2" fmla="*/ 1733550 h 2893131"/>
              <a:gd name="connsiteX3" fmla="*/ 0 w 2311400"/>
              <a:gd name="connsiteY3" fmla="*/ 0 h 2893131"/>
              <a:gd name="connsiteX0" fmla="*/ 2311400 w 2311400"/>
              <a:gd name="connsiteY0" fmla="*/ 2806700 h 2813083"/>
              <a:gd name="connsiteX1" fmla="*/ 1936750 w 2311400"/>
              <a:gd name="connsiteY1" fmla="*/ 2813050 h 2813083"/>
              <a:gd name="connsiteX2" fmla="*/ 1974850 w 2311400"/>
              <a:gd name="connsiteY2" fmla="*/ 1733550 h 2813083"/>
              <a:gd name="connsiteX3" fmla="*/ 0 w 2311400"/>
              <a:gd name="connsiteY3" fmla="*/ 0 h 2813083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76198"/>
              <a:gd name="connsiteX1" fmla="*/ 1936750 w 2311400"/>
              <a:gd name="connsiteY1" fmla="*/ 2813050 h 2876198"/>
              <a:gd name="connsiteX2" fmla="*/ 1974850 w 2311400"/>
              <a:gd name="connsiteY2" fmla="*/ 1733550 h 2876198"/>
              <a:gd name="connsiteX3" fmla="*/ 0 w 2311400"/>
              <a:gd name="connsiteY3" fmla="*/ 0 h 2876198"/>
              <a:gd name="connsiteX0" fmla="*/ 2311400 w 2311400"/>
              <a:gd name="connsiteY0" fmla="*/ 2806700 h 2813050"/>
              <a:gd name="connsiteX1" fmla="*/ 1936750 w 2311400"/>
              <a:gd name="connsiteY1" fmla="*/ 2813050 h 2813050"/>
              <a:gd name="connsiteX2" fmla="*/ 1974850 w 2311400"/>
              <a:gd name="connsiteY2" fmla="*/ 1733550 h 2813050"/>
              <a:gd name="connsiteX3" fmla="*/ 0 w 2311400"/>
              <a:gd name="connsiteY3" fmla="*/ 0 h 2813050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3675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1400"/>
              <a:gd name="connsiteY0" fmla="*/ 2806700 h 2819765"/>
              <a:gd name="connsiteX1" fmla="*/ 1968500 w 2311400"/>
              <a:gd name="connsiteY1" fmla="*/ 2813050 h 2819765"/>
              <a:gd name="connsiteX2" fmla="*/ 1974850 w 2311400"/>
              <a:gd name="connsiteY2" fmla="*/ 1733550 h 2819765"/>
              <a:gd name="connsiteX3" fmla="*/ 0 w 2311400"/>
              <a:gd name="connsiteY3" fmla="*/ 0 h 2819765"/>
              <a:gd name="connsiteX0" fmla="*/ 2311400 w 2315757"/>
              <a:gd name="connsiteY0" fmla="*/ 2806700 h 2813050"/>
              <a:gd name="connsiteX1" fmla="*/ 1968500 w 2315757"/>
              <a:gd name="connsiteY1" fmla="*/ 2813050 h 2813050"/>
              <a:gd name="connsiteX2" fmla="*/ 1974850 w 2315757"/>
              <a:gd name="connsiteY2" fmla="*/ 1733550 h 2813050"/>
              <a:gd name="connsiteX3" fmla="*/ 0 w 2315757"/>
              <a:gd name="connsiteY3" fmla="*/ 0 h 2813050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4522"/>
              <a:gd name="connsiteX1" fmla="*/ 1968500 w 2311400"/>
              <a:gd name="connsiteY1" fmla="*/ 2813050 h 2814522"/>
              <a:gd name="connsiteX2" fmla="*/ 1974850 w 2311400"/>
              <a:gd name="connsiteY2" fmla="*/ 1733550 h 2814522"/>
              <a:gd name="connsiteX3" fmla="*/ 0 w 2311400"/>
              <a:gd name="connsiteY3" fmla="*/ 0 h 2814522"/>
              <a:gd name="connsiteX0" fmla="*/ 2311400 w 2311400"/>
              <a:gd name="connsiteY0" fmla="*/ 2806700 h 2819056"/>
              <a:gd name="connsiteX1" fmla="*/ 1968500 w 2311400"/>
              <a:gd name="connsiteY1" fmla="*/ 2813050 h 2819056"/>
              <a:gd name="connsiteX2" fmla="*/ 1974850 w 2311400"/>
              <a:gd name="connsiteY2" fmla="*/ 1733550 h 2819056"/>
              <a:gd name="connsiteX3" fmla="*/ 0 w 2311400"/>
              <a:gd name="connsiteY3" fmla="*/ 0 h 2819056"/>
              <a:gd name="connsiteX0" fmla="*/ 2328984 w 2328984"/>
              <a:gd name="connsiteY0" fmla="*/ 2824284 h 2830615"/>
              <a:gd name="connsiteX1" fmla="*/ 1968500 w 2328984"/>
              <a:gd name="connsiteY1" fmla="*/ 2813050 h 2830615"/>
              <a:gd name="connsiteX2" fmla="*/ 1974850 w 2328984"/>
              <a:gd name="connsiteY2" fmla="*/ 1733550 h 2830615"/>
              <a:gd name="connsiteX3" fmla="*/ 0 w 2328984"/>
              <a:gd name="connsiteY3" fmla="*/ 0 h 2830615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4284"/>
              <a:gd name="connsiteX1" fmla="*/ 1968500 w 2328984"/>
              <a:gd name="connsiteY1" fmla="*/ 2813050 h 2824284"/>
              <a:gd name="connsiteX2" fmla="*/ 1974850 w 2328984"/>
              <a:gd name="connsiteY2" fmla="*/ 1733550 h 2824284"/>
              <a:gd name="connsiteX3" fmla="*/ 0 w 2328984"/>
              <a:gd name="connsiteY3" fmla="*/ 0 h 2824284"/>
              <a:gd name="connsiteX0" fmla="*/ 2328984 w 2328984"/>
              <a:gd name="connsiteY0" fmla="*/ 2824284 h 2825119"/>
              <a:gd name="connsiteX1" fmla="*/ 1968500 w 2328984"/>
              <a:gd name="connsiteY1" fmla="*/ 2813050 h 2825119"/>
              <a:gd name="connsiteX2" fmla="*/ 1974850 w 2328984"/>
              <a:gd name="connsiteY2" fmla="*/ 1733550 h 2825119"/>
              <a:gd name="connsiteX3" fmla="*/ 0 w 2328984"/>
              <a:gd name="connsiteY3" fmla="*/ 0 h 2825119"/>
              <a:gd name="connsiteX0" fmla="*/ 2328984 w 2328984"/>
              <a:gd name="connsiteY0" fmla="*/ 2824284 h 3129746"/>
              <a:gd name="connsiteX1" fmla="*/ 1968500 w 2328984"/>
              <a:gd name="connsiteY1" fmla="*/ 2813050 h 3129746"/>
              <a:gd name="connsiteX2" fmla="*/ 1974850 w 2328984"/>
              <a:gd name="connsiteY2" fmla="*/ 1733550 h 3129746"/>
              <a:gd name="connsiteX3" fmla="*/ 0 w 2328984"/>
              <a:gd name="connsiteY3" fmla="*/ 0 h 3129746"/>
              <a:gd name="connsiteX0" fmla="*/ 2328984 w 2328984"/>
              <a:gd name="connsiteY0" fmla="*/ 2824284 h 3258925"/>
              <a:gd name="connsiteX1" fmla="*/ 1968500 w 2328984"/>
              <a:gd name="connsiteY1" fmla="*/ 2813050 h 3258925"/>
              <a:gd name="connsiteX2" fmla="*/ 1974850 w 2328984"/>
              <a:gd name="connsiteY2" fmla="*/ 1733550 h 3258925"/>
              <a:gd name="connsiteX3" fmla="*/ 0 w 2328984"/>
              <a:gd name="connsiteY3" fmla="*/ 0 h 3258925"/>
              <a:gd name="connsiteX0" fmla="*/ 2328984 w 2328984"/>
              <a:gd name="connsiteY0" fmla="*/ 2824284 h 2856935"/>
              <a:gd name="connsiteX1" fmla="*/ 1968500 w 2328984"/>
              <a:gd name="connsiteY1" fmla="*/ 2813050 h 2856935"/>
              <a:gd name="connsiteX2" fmla="*/ 1974850 w 2328984"/>
              <a:gd name="connsiteY2" fmla="*/ 1733550 h 2856935"/>
              <a:gd name="connsiteX3" fmla="*/ 0 w 2328984"/>
              <a:gd name="connsiteY3" fmla="*/ 0 h 2856935"/>
              <a:gd name="connsiteX0" fmla="*/ 2328984 w 2331488"/>
              <a:gd name="connsiteY0" fmla="*/ 2824284 h 3113169"/>
              <a:gd name="connsiteX1" fmla="*/ 1968500 w 2331488"/>
              <a:gd name="connsiteY1" fmla="*/ 2813050 h 3113169"/>
              <a:gd name="connsiteX2" fmla="*/ 1974850 w 2331488"/>
              <a:gd name="connsiteY2" fmla="*/ 1733550 h 3113169"/>
              <a:gd name="connsiteX3" fmla="*/ 0 w 2331488"/>
              <a:gd name="connsiteY3" fmla="*/ 0 h 3113169"/>
              <a:gd name="connsiteX0" fmla="*/ 2328984 w 2330716"/>
              <a:gd name="connsiteY0" fmla="*/ 2824284 h 3049414"/>
              <a:gd name="connsiteX1" fmla="*/ 1700335 w 2330716"/>
              <a:gd name="connsiteY1" fmla="*/ 2531696 h 3049414"/>
              <a:gd name="connsiteX2" fmla="*/ 1974850 w 2330716"/>
              <a:gd name="connsiteY2" fmla="*/ 1733550 h 3049414"/>
              <a:gd name="connsiteX3" fmla="*/ 0 w 2330716"/>
              <a:gd name="connsiteY3" fmla="*/ 0 h 3049414"/>
              <a:gd name="connsiteX0" fmla="*/ 2328984 w 2331175"/>
              <a:gd name="connsiteY0" fmla="*/ 2824284 h 3066634"/>
              <a:gd name="connsiteX1" fmla="*/ 1700335 w 2331175"/>
              <a:gd name="connsiteY1" fmla="*/ 2531696 h 3066634"/>
              <a:gd name="connsiteX2" fmla="*/ 1974850 w 2331175"/>
              <a:gd name="connsiteY2" fmla="*/ 1733550 h 3066634"/>
              <a:gd name="connsiteX3" fmla="*/ 0 w 2331175"/>
              <a:gd name="connsiteY3" fmla="*/ 0 h 3066634"/>
              <a:gd name="connsiteX0" fmla="*/ 2328984 w 2332424"/>
              <a:gd name="connsiteY0" fmla="*/ 2824284 h 3145437"/>
              <a:gd name="connsiteX1" fmla="*/ 1950916 w 2332424"/>
              <a:gd name="connsiteY1" fmla="*/ 2830634 h 3145437"/>
              <a:gd name="connsiteX2" fmla="*/ 1974850 w 2332424"/>
              <a:gd name="connsiteY2" fmla="*/ 1733550 h 3145437"/>
              <a:gd name="connsiteX3" fmla="*/ 0 w 2332424"/>
              <a:gd name="connsiteY3" fmla="*/ 0 h 3145437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2300"/>
              <a:gd name="connsiteY0" fmla="*/ 2824284 h 3145571"/>
              <a:gd name="connsiteX1" fmla="*/ 1950916 w 2332300"/>
              <a:gd name="connsiteY1" fmla="*/ 2830634 h 3145571"/>
              <a:gd name="connsiteX2" fmla="*/ 1974850 w 2332300"/>
              <a:gd name="connsiteY2" fmla="*/ 1733550 h 3145571"/>
              <a:gd name="connsiteX3" fmla="*/ 0 w 2332300"/>
              <a:gd name="connsiteY3" fmla="*/ 0 h 3145571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414"/>
              <a:gd name="connsiteY0" fmla="*/ 2824284 h 3094860"/>
              <a:gd name="connsiteX1" fmla="*/ 1950916 w 2337414"/>
              <a:gd name="connsiteY1" fmla="*/ 2830634 h 3094860"/>
              <a:gd name="connsiteX2" fmla="*/ 1974850 w 2337414"/>
              <a:gd name="connsiteY2" fmla="*/ 1733550 h 3094860"/>
              <a:gd name="connsiteX3" fmla="*/ 0 w 2337414"/>
              <a:gd name="connsiteY3" fmla="*/ 0 h 3094860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74850 w 2337608"/>
              <a:gd name="connsiteY2" fmla="*/ 1733550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37608"/>
              <a:gd name="connsiteY0" fmla="*/ 2824284 h 3091488"/>
              <a:gd name="connsiteX1" fmla="*/ 1955312 w 2337608"/>
              <a:gd name="connsiteY1" fmla="*/ 2817446 h 3091488"/>
              <a:gd name="connsiteX2" fmla="*/ 1952869 w 2337608"/>
              <a:gd name="connsiteY2" fmla="*/ 1737946 h 3091488"/>
              <a:gd name="connsiteX3" fmla="*/ 0 w 2337608"/>
              <a:gd name="connsiteY3" fmla="*/ 0 h 3091488"/>
              <a:gd name="connsiteX0" fmla="*/ 2328984 w 2328984"/>
              <a:gd name="connsiteY0" fmla="*/ 2824284 h 2825799"/>
              <a:gd name="connsiteX1" fmla="*/ 1955312 w 2328984"/>
              <a:gd name="connsiteY1" fmla="*/ 2817446 h 2825799"/>
              <a:gd name="connsiteX2" fmla="*/ 1952869 w 2328984"/>
              <a:gd name="connsiteY2" fmla="*/ 1737946 h 2825799"/>
              <a:gd name="connsiteX3" fmla="*/ 0 w 2328984"/>
              <a:gd name="connsiteY3" fmla="*/ 0 h 2825799"/>
              <a:gd name="connsiteX0" fmla="*/ 2328984 w 2328984"/>
              <a:gd name="connsiteY0" fmla="*/ 2824284 h 2824284"/>
              <a:gd name="connsiteX1" fmla="*/ 1955312 w 2328984"/>
              <a:gd name="connsiteY1" fmla="*/ 2817446 h 2824284"/>
              <a:gd name="connsiteX2" fmla="*/ 1952869 w 2328984"/>
              <a:gd name="connsiteY2" fmla="*/ 1737946 h 2824284"/>
              <a:gd name="connsiteX3" fmla="*/ 0 w 2328984"/>
              <a:gd name="connsiteY3" fmla="*/ 0 h 2824284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1737946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1952869 w 2320192"/>
              <a:gd name="connsiteY2" fmla="*/ 2239108 h 2819888"/>
              <a:gd name="connsiteX3" fmla="*/ 0 w 2320192"/>
              <a:gd name="connsiteY3" fmla="*/ 0 h 2819888"/>
              <a:gd name="connsiteX0" fmla="*/ 2320192 w 2320192"/>
              <a:gd name="connsiteY0" fmla="*/ 2819888 h 2819888"/>
              <a:gd name="connsiteX1" fmla="*/ 1955312 w 2320192"/>
              <a:gd name="connsiteY1" fmla="*/ 2817446 h 2819888"/>
              <a:gd name="connsiteX2" fmla="*/ 0 w 2320192"/>
              <a:gd name="connsiteY2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2320192 w 2320192"/>
              <a:gd name="connsiteY0" fmla="*/ 2819888 h 2819888"/>
              <a:gd name="connsiteX1" fmla="*/ 0 w 2320192"/>
              <a:gd name="connsiteY1" fmla="*/ 0 h 2819888"/>
              <a:gd name="connsiteX0" fmla="*/ 3647342 w 3647342"/>
              <a:gd name="connsiteY0" fmla="*/ 3073888 h 3073888"/>
              <a:gd name="connsiteX1" fmla="*/ 0 w 3647342"/>
              <a:gd name="connsiteY1" fmla="*/ 0 h 3073888"/>
              <a:gd name="connsiteX0" fmla="*/ 256471 w 1264588"/>
              <a:gd name="connsiteY0" fmla="*/ 2210288 h 2210288"/>
              <a:gd name="connsiteX1" fmla="*/ 1123979 w 1264588"/>
              <a:gd name="connsiteY1" fmla="*/ 0 h 2210288"/>
              <a:gd name="connsiteX0" fmla="*/ 374863 w 1242371"/>
              <a:gd name="connsiteY0" fmla="*/ 2210288 h 2210288"/>
              <a:gd name="connsiteX1" fmla="*/ 1242371 w 1242371"/>
              <a:gd name="connsiteY1" fmla="*/ 0 h 2210288"/>
              <a:gd name="connsiteX0" fmla="*/ 339658 w 1454816"/>
              <a:gd name="connsiteY0" fmla="*/ 2146788 h 2146788"/>
              <a:gd name="connsiteX1" fmla="*/ 1454816 w 1454816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1115158"/>
              <a:gd name="connsiteY0" fmla="*/ 2146788 h 2146788"/>
              <a:gd name="connsiteX1" fmla="*/ 1115158 w 11151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0 w 848458"/>
              <a:gd name="connsiteY0" fmla="*/ 2146788 h 2146788"/>
              <a:gd name="connsiteX1" fmla="*/ 848458 w 848458"/>
              <a:gd name="connsiteY1" fmla="*/ 0 h 2146788"/>
              <a:gd name="connsiteX0" fmla="*/ 1965 w 850423"/>
              <a:gd name="connsiteY0" fmla="*/ 2146788 h 2146788"/>
              <a:gd name="connsiteX1" fmla="*/ 850423 w 850423"/>
              <a:gd name="connsiteY1" fmla="*/ 0 h 2146788"/>
              <a:gd name="connsiteX0" fmla="*/ 1777 w 888335"/>
              <a:gd name="connsiteY0" fmla="*/ 2140438 h 2140438"/>
              <a:gd name="connsiteX1" fmla="*/ 888335 w 888335"/>
              <a:gd name="connsiteY1" fmla="*/ 0 h 2140438"/>
              <a:gd name="connsiteX0" fmla="*/ 275 w 886833"/>
              <a:gd name="connsiteY0" fmla="*/ 2140438 h 2140438"/>
              <a:gd name="connsiteX1" fmla="*/ 886833 w 886833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  <a:gd name="connsiteX0" fmla="*/ 0 w 886558"/>
              <a:gd name="connsiteY0" fmla="*/ 2140438 h 2140438"/>
              <a:gd name="connsiteX1" fmla="*/ 886558 w 886558"/>
              <a:gd name="connsiteY1" fmla="*/ 0 h 2140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86558" h="2140438">
                <a:moveTo>
                  <a:pt x="0" y="2140438"/>
                </a:moveTo>
                <a:cubicBezTo>
                  <a:pt x="7653" y="1657675"/>
                  <a:pt x="383605" y="1073313"/>
                  <a:pt x="886558" y="0"/>
                </a:cubicBezTo>
              </a:path>
            </a:pathLst>
          </a:custGeom>
          <a:noFill/>
          <a:ln w="38100">
            <a:solidFill>
              <a:srgbClr val="E4486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40" name="根轨迹3">
            <a:extLst>
              <a:ext uri="{FF2B5EF4-FFF2-40B4-BE49-F238E27FC236}">
                <a16:creationId xmlns:a16="http://schemas.microsoft.com/office/drawing/2014/main" id="{C18188AF-0046-D4DE-5F7A-A418339B92D9}"/>
              </a:ext>
            </a:extLst>
          </p:cNvPr>
          <p:cNvCxnSpPr/>
          <p:nvPr/>
        </p:nvCxnSpPr>
        <p:spPr>
          <a:xfrm flipH="1">
            <a:off x="8249427" y="3345177"/>
            <a:ext cx="864096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根轨迹2">
            <a:extLst>
              <a:ext uri="{FF2B5EF4-FFF2-40B4-BE49-F238E27FC236}">
                <a16:creationId xmlns:a16="http://schemas.microsoft.com/office/drawing/2014/main" id="{2900663A-184C-6469-43B3-5C15B44346C6}"/>
              </a:ext>
            </a:extLst>
          </p:cNvPr>
          <p:cNvCxnSpPr>
            <a:cxnSpLocks/>
          </p:cNvCxnSpPr>
          <p:nvPr/>
        </p:nvCxnSpPr>
        <p:spPr>
          <a:xfrm>
            <a:off x="9830894" y="3345177"/>
            <a:ext cx="408115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根轨迹1">
            <a:extLst>
              <a:ext uri="{FF2B5EF4-FFF2-40B4-BE49-F238E27FC236}">
                <a16:creationId xmlns:a16="http://schemas.microsoft.com/office/drawing/2014/main" id="{77CF4501-C58F-B9E4-921B-8F9B6B2C9FF1}"/>
              </a:ext>
            </a:extLst>
          </p:cNvPr>
          <p:cNvCxnSpPr>
            <a:cxnSpLocks/>
          </p:cNvCxnSpPr>
          <p:nvPr/>
        </p:nvCxnSpPr>
        <p:spPr>
          <a:xfrm flipH="1" flipV="1">
            <a:off x="10205686" y="3337504"/>
            <a:ext cx="358938" cy="3201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虚轴交点2">
            <a:extLst>
              <a:ext uri="{FF2B5EF4-FFF2-40B4-BE49-F238E27FC236}">
                <a16:creationId xmlns:a16="http://schemas.microsoft.com/office/drawing/2014/main" id="{BE10B697-14ED-1E8F-A093-5EE6361CF656}"/>
              </a:ext>
            </a:extLst>
          </p:cNvPr>
          <p:cNvSpPr/>
          <p:nvPr/>
        </p:nvSpPr>
        <p:spPr>
          <a:xfrm>
            <a:off x="10487037" y="2252199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虚轴交点1">
            <a:extLst>
              <a:ext uri="{FF2B5EF4-FFF2-40B4-BE49-F238E27FC236}">
                <a16:creationId xmlns:a16="http://schemas.microsoft.com/office/drawing/2014/main" id="{09A931DD-6287-A85B-1559-AEBCF744A22C}"/>
              </a:ext>
            </a:extLst>
          </p:cNvPr>
          <p:cNvSpPr/>
          <p:nvPr/>
        </p:nvSpPr>
        <p:spPr>
          <a:xfrm>
            <a:off x="10487482" y="4296421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分离点">
            <a:extLst>
              <a:ext uri="{FF2B5EF4-FFF2-40B4-BE49-F238E27FC236}">
                <a16:creationId xmlns:a16="http://schemas.microsoft.com/office/drawing/2014/main" id="{CFDCE2BB-E87E-C3FD-7EF3-E766A97A1D50}"/>
              </a:ext>
            </a:extLst>
          </p:cNvPr>
          <p:cNvSpPr/>
          <p:nvPr/>
        </p:nvSpPr>
        <p:spPr>
          <a:xfrm>
            <a:off x="10146849" y="328250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862958" y="3197318"/>
            <a:ext cx="77743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/>
              <a:t>Evans, G. W. (2004). Bringing root locus to the classroom. IEEE Control Systems Magazine, 24(6), 74-81.</a:t>
            </a:r>
          </a:p>
          <a:p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 err="1"/>
              <a:t>Šekara</a:t>
            </a:r>
            <a:r>
              <a:rPr lang="en" altLang="zh-CN" sz="2800" dirty="0"/>
              <a:t>, T. B., &amp; </a:t>
            </a:r>
            <a:r>
              <a:rPr lang="en" altLang="zh-CN" sz="2800" dirty="0" err="1"/>
              <a:t>Rapaić</a:t>
            </a:r>
            <a:r>
              <a:rPr lang="en" altLang="zh-CN" sz="2800" dirty="0"/>
              <a:t>, M. R. (2015). A revision of root locus method with applications. Journal of Process Control, 34, 26-34.</a:t>
            </a:r>
            <a:endParaRPr lang="zh-CN" altLang="en-US" sz="28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4F95FCA-E9F4-9EFA-E60F-54DA6C1FF86C}"/>
              </a:ext>
            </a:extLst>
          </p:cNvPr>
          <p:cNvGrpSpPr/>
          <p:nvPr/>
        </p:nvGrpSpPr>
        <p:grpSpPr>
          <a:xfrm>
            <a:off x="982638" y="1275502"/>
            <a:ext cx="10873208" cy="3658967"/>
            <a:chOff x="982638" y="1275502"/>
            <a:chExt cx="10873208" cy="3658967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915698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2800" dirty="0"/>
                <a:t>DR_CAN</a:t>
              </a:r>
              <a:r>
                <a:rPr lang="zh-CN" altLang="en-US" sz="2800" dirty="0"/>
                <a:t>根轨迹</a:t>
              </a:r>
              <a:r>
                <a:rPr lang="en-US" altLang="zh-CN" sz="2800" dirty="0"/>
                <a:t>_</a:t>
              </a:r>
              <a:r>
                <a:rPr lang="en" altLang="zh-CN" sz="2800" dirty="0"/>
                <a:t>Part3_</a:t>
              </a:r>
              <a:r>
                <a:rPr lang="zh-CN" altLang="en-US" sz="2800" dirty="0"/>
                <a:t>分离点</a:t>
              </a:r>
              <a:r>
                <a:rPr lang="en-US" altLang="zh-CN" sz="2800" dirty="0"/>
                <a:t>/</a:t>
              </a:r>
              <a:r>
                <a:rPr lang="zh-CN" altLang="en-US" sz="2800" dirty="0"/>
                <a:t>汇合点和根的性质：</a:t>
              </a:r>
              <a:r>
                <a:rPr lang="en" altLang="zh-CN" sz="2800" dirty="0"/>
                <a:t>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/video/BV1SE411Y7CK?share_source=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5" name="图片 4" descr="图示, 示意图&#10;&#10;描述已自动生成">
              <a:extLst>
                <a:ext uri="{FF2B5EF4-FFF2-40B4-BE49-F238E27FC236}">
                  <a16:creationId xmlns:a16="http://schemas.microsoft.com/office/drawing/2014/main" id="{F1FF0509-7233-02AA-1FF1-7FEA3C1C5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638" y="1371082"/>
              <a:ext cx="2146300" cy="1409700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B4B449E-FA31-4D32-958A-5147E49EAB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5988" y="3219969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6A190C9-95A4-6C50-A660-8A0083F7B3C0}"/>
              </a:ext>
            </a:extLst>
          </p:cNvPr>
          <p:cNvGrpSpPr/>
          <p:nvPr/>
        </p:nvGrpSpPr>
        <p:grpSpPr>
          <a:xfrm>
            <a:off x="4654550" y="3558833"/>
            <a:ext cx="6981825" cy="2794000"/>
            <a:chOff x="4654550" y="3558833"/>
            <a:chExt cx="6981825" cy="27940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068</a:t>
              </a:r>
              <a:r>
                <a:rPr lang="zh-CN" altLang="en-US" sz="2800" dirty="0"/>
                <a:t>，</a:t>
              </a:r>
              <a:r>
                <a:rPr lang="en-US" altLang="zh-CN" sz="2800" dirty="0"/>
                <a:t>069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4" name="图片 3" descr="手机屏幕截图&#10;&#10;描述已自动生成">
              <a:extLst>
                <a:ext uri="{FF2B5EF4-FFF2-40B4-BE49-F238E27FC236}">
                  <a16:creationId xmlns:a16="http://schemas.microsoft.com/office/drawing/2014/main" id="{34D01D65-D737-DDCD-C7C9-0388F1443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4075" y="3558833"/>
              <a:ext cx="3162300" cy="279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">
            <a:extLst>
              <a:ext uri="{FF2B5EF4-FFF2-40B4-BE49-F238E27FC236}">
                <a16:creationId xmlns:a16="http://schemas.microsoft.com/office/drawing/2014/main" id="{A6FE66DB-1AB0-C7CA-D208-21EB02C2064D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sp>
        <p:nvSpPr>
          <p:cNvPr id="5" name="节段13">
            <a:extLst>
              <a:ext uri="{FF2B5EF4-FFF2-40B4-BE49-F238E27FC236}">
                <a16:creationId xmlns:a16="http://schemas.microsoft.com/office/drawing/2014/main" id="{EC69F142-4AC4-4828-BB11-93FBD2AA0268}"/>
              </a:ext>
            </a:extLst>
          </p:cNvPr>
          <p:cNvSpPr/>
          <p:nvPr/>
        </p:nvSpPr>
        <p:spPr bwMode="auto">
          <a:xfrm>
            <a:off x="543213" y="1269479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grpSp>
        <p:nvGrpSpPr>
          <p:cNvPr id="6" name="坐标轴">
            <a:extLst>
              <a:ext uri="{FF2B5EF4-FFF2-40B4-BE49-F238E27FC236}">
                <a16:creationId xmlns:a16="http://schemas.microsoft.com/office/drawing/2014/main" id="{49B71998-4C53-0CFE-EA68-43DD094CA06B}"/>
              </a:ext>
            </a:extLst>
          </p:cNvPr>
          <p:cNvGrpSpPr/>
          <p:nvPr/>
        </p:nvGrpSpPr>
        <p:grpSpPr>
          <a:xfrm>
            <a:off x="8039422" y="863857"/>
            <a:ext cx="3188060" cy="4741714"/>
            <a:chOff x="8276593" y="1678087"/>
            <a:chExt cx="3188060" cy="4741714"/>
          </a:xfrm>
        </p:grpSpPr>
        <p:grpSp>
          <p:nvGrpSpPr>
            <p:cNvPr id="7" name="虚轴">
              <a:extLst>
                <a:ext uri="{FF2B5EF4-FFF2-40B4-BE49-F238E27FC236}">
                  <a16:creationId xmlns:a16="http://schemas.microsoft.com/office/drawing/2014/main" id="{1FDE3039-3F97-5ABA-350F-D5E508D953BF}"/>
                </a:ext>
              </a:extLst>
            </p:cNvPr>
            <p:cNvGrpSpPr/>
            <p:nvPr/>
          </p:nvGrpSpPr>
          <p:grpSpPr>
            <a:xfrm>
              <a:off x="10787944" y="1678087"/>
              <a:ext cx="676709" cy="4741714"/>
              <a:chOff x="10787944" y="1678087"/>
              <a:chExt cx="676709" cy="474171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labelj">
                    <a:extLst>
                      <a:ext uri="{FF2B5EF4-FFF2-40B4-BE49-F238E27FC236}">
                        <a16:creationId xmlns:a16="http://schemas.microsoft.com/office/drawing/2014/main" id="{743A945C-439F-3115-23C9-2F80F8A37521}"/>
                      </a:ext>
                    </a:extLst>
                  </p:cNvPr>
                  <p:cNvSpPr txBox="1"/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8" name="labelj">
                    <a:extLst>
                      <a:ext uri="{FF2B5EF4-FFF2-40B4-BE49-F238E27FC236}">
                        <a16:creationId xmlns:a16="http://schemas.microsoft.com/office/drawing/2014/main" id="{2F56F1F5-44F7-AF26-00A4-BAA5716ADD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92135" y="1678087"/>
                    <a:ext cx="520701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ylabel2">
                    <a:extLst>
                      <a:ext uri="{FF2B5EF4-FFF2-40B4-BE49-F238E27FC236}">
                        <a16:creationId xmlns:a16="http://schemas.microsoft.com/office/drawing/2014/main" id="{4417996B-6A69-281E-4076-7BFC860C6938}"/>
                      </a:ext>
                    </a:extLst>
                  </p:cNvPr>
                  <p:cNvSpPr txBox="1"/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4" name="ylabel2">
                    <a:extLst>
                      <a:ext uri="{FF2B5EF4-FFF2-40B4-BE49-F238E27FC236}">
                        <a16:creationId xmlns:a16="http://schemas.microsoft.com/office/drawing/2014/main" id="{9D7C0A6B-EB41-E864-C05F-98B92D5C05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80864" y="2458571"/>
                    <a:ext cx="322182" cy="5246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692" r="-3076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ytick2">
                <a:extLst>
                  <a:ext uri="{FF2B5EF4-FFF2-40B4-BE49-F238E27FC236}">
                    <a16:creationId xmlns:a16="http://schemas.microsoft.com/office/drawing/2014/main" id="{C59DFE48-D62F-2889-E61C-A972F7975A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4468" y="2713985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ylabel1">
                    <a:extLst>
                      <a:ext uri="{FF2B5EF4-FFF2-40B4-BE49-F238E27FC236}">
                        <a16:creationId xmlns:a16="http://schemas.microsoft.com/office/drawing/2014/main" id="{1429B809-96AE-DFF6-D061-5A520BC18AF1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9030" y="3167390"/>
                    <a:ext cx="322182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2" name="ylabel1">
                    <a:extLst>
                      <a:ext uri="{FF2B5EF4-FFF2-40B4-BE49-F238E27FC236}">
                        <a16:creationId xmlns:a16="http://schemas.microsoft.com/office/drawing/2014/main" id="{9CB1BFCC-5737-595F-A04A-49E1593A39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9030" y="3167390"/>
                    <a:ext cx="322182" cy="52469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1538" r="-2692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ytick1">
                <a:extLst>
                  <a:ext uri="{FF2B5EF4-FFF2-40B4-BE49-F238E27FC236}">
                    <a16:creationId xmlns:a16="http://schemas.microsoft.com/office/drawing/2014/main" id="{94974F53-B6EF-D8A7-F994-5D47809D4C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87944" y="3429000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ylabel-1">
                    <a:extLst>
                      <a:ext uri="{FF2B5EF4-FFF2-40B4-BE49-F238E27FC236}">
                        <a16:creationId xmlns:a16="http://schemas.microsoft.com/office/drawing/2014/main" id="{A1277B92-3EA3-08CC-3842-F5EF0D86DB1F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3952" y="4610305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6" name="ylabel-1">
                    <a:extLst>
                      <a:ext uri="{FF2B5EF4-FFF2-40B4-BE49-F238E27FC236}">
                        <a16:creationId xmlns:a16="http://schemas.microsoft.com/office/drawing/2014/main" id="{F2102832-36D4-C639-4E99-019C65F313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3952" y="4610305"/>
                    <a:ext cx="520701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ytick-1">
                <a:extLst>
                  <a:ext uri="{FF2B5EF4-FFF2-40B4-BE49-F238E27FC236}">
                    <a16:creationId xmlns:a16="http://schemas.microsoft.com/office/drawing/2014/main" id="{B054E2F4-DCB5-BE19-37E4-151EED58CB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4876194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ylabel-2">
                    <a:extLst>
                      <a:ext uri="{FF2B5EF4-FFF2-40B4-BE49-F238E27FC236}">
                        <a16:creationId xmlns:a16="http://schemas.microsoft.com/office/drawing/2014/main" id="{A306A8A6-1E9D-E297-6DCC-10FA9836D0BB}"/>
                      </a:ext>
                    </a:extLst>
                  </p:cNvPr>
                  <p:cNvSpPr txBox="1"/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8" name="ylabel-2">
                    <a:extLst>
                      <a:ext uri="{FF2B5EF4-FFF2-40B4-BE49-F238E27FC236}">
                        <a16:creationId xmlns:a16="http://schemas.microsoft.com/office/drawing/2014/main" id="{7FB83E9A-2039-8046-0AA8-71238C3BB4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43952" y="5317102"/>
                    <a:ext cx="520701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ytick-2">
                <a:extLst>
                  <a:ext uri="{FF2B5EF4-FFF2-40B4-BE49-F238E27FC236}">
                    <a16:creationId xmlns:a16="http://schemas.microsoft.com/office/drawing/2014/main" id="{83588DA2-7434-301A-A0A8-A10079FB82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07071" y="5591991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y轴">
                <a:extLst>
                  <a:ext uri="{FF2B5EF4-FFF2-40B4-BE49-F238E27FC236}">
                    <a16:creationId xmlns:a16="http://schemas.microsoft.com/office/drawing/2014/main" id="{2E369A59-0FD0-35EE-DE71-DBB65135FC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92135" y="2027313"/>
                <a:ext cx="0" cy="43924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实轴">
              <a:extLst>
                <a:ext uri="{FF2B5EF4-FFF2-40B4-BE49-F238E27FC236}">
                  <a16:creationId xmlns:a16="http://schemas.microsoft.com/office/drawing/2014/main" id="{844A1B07-9CC5-4754-D32E-3A4FA0E398E5}"/>
                </a:ext>
              </a:extLst>
            </p:cNvPr>
            <p:cNvGrpSpPr/>
            <p:nvPr/>
          </p:nvGrpSpPr>
          <p:grpSpPr>
            <a:xfrm>
              <a:off x="8276593" y="4005604"/>
              <a:ext cx="2974499" cy="689037"/>
              <a:chOff x="8276593" y="4005604"/>
              <a:chExt cx="2974499" cy="68903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label0">
                    <a:extLst>
                      <a:ext uri="{FF2B5EF4-FFF2-40B4-BE49-F238E27FC236}">
                        <a16:creationId xmlns:a16="http://schemas.microsoft.com/office/drawing/2014/main" id="{EBBB8F5A-DD8F-35D8-D6D9-4B9D8C5F01BC}"/>
                      </a:ext>
                    </a:extLst>
                  </p:cNvPr>
                  <p:cNvSpPr txBox="1"/>
                  <p:nvPr/>
                </p:nvSpPr>
                <p:spPr>
                  <a:xfrm>
                    <a:off x="10730391" y="4081245"/>
                    <a:ext cx="520701" cy="5246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1" name="label0">
                    <a:extLst>
                      <a:ext uri="{FF2B5EF4-FFF2-40B4-BE49-F238E27FC236}">
                        <a16:creationId xmlns:a16="http://schemas.microsoft.com/office/drawing/2014/main" id="{52E8DE49-E601-C1BF-A858-50CFF27EB1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30391" y="4081245"/>
                    <a:ext cx="520701" cy="52469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xlabel-3">
                    <a:extLst>
                      <a:ext uri="{FF2B5EF4-FFF2-40B4-BE49-F238E27FC236}">
                        <a16:creationId xmlns:a16="http://schemas.microsoft.com/office/drawing/2014/main" id="{F8349055-BCD0-1D8E-BD0E-F555610A54CE}"/>
                      </a:ext>
                    </a:extLst>
                  </p:cNvPr>
                  <p:cNvSpPr txBox="1"/>
                  <p:nvPr/>
                </p:nvSpPr>
                <p:spPr>
                  <a:xfrm>
                    <a:off x="8276593" y="4165166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8" name="xlabel-3">
                    <a:extLst>
                      <a:ext uri="{FF2B5EF4-FFF2-40B4-BE49-F238E27FC236}">
                        <a16:creationId xmlns:a16="http://schemas.microsoft.com/office/drawing/2014/main" id="{E78AFEE6-C94E-0F2F-2D91-50B360D251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6593" y="4165166"/>
                    <a:ext cx="520701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3095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xtick-3">
                <a:extLst>
                  <a:ext uri="{FF2B5EF4-FFF2-40B4-BE49-F238E27FC236}">
                    <a16:creationId xmlns:a16="http://schemas.microsoft.com/office/drawing/2014/main" id="{9D28C76C-EE55-0357-7F2D-82D44AFBCAA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547547" y="4073420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xlabel-2">
                    <a:extLst>
                      <a:ext uri="{FF2B5EF4-FFF2-40B4-BE49-F238E27FC236}">
                        <a16:creationId xmlns:a16="http://schemas.microsoft.com/office/drawing/2014/main" id="{185877A5-D927-84DD-1E60-8A620260825E}"/>
                      </a:ext>
                    </a:extLst>
                  </p:cNvPr>
                  <p:cNvSpPr txBox="1"/>
                  <p:nvPr/>
                </p:nvSpPr>
                <p:spPr>
                  <a:xfrm>
                    <a:off x="8996942" y="4171421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9" name="xlabel-2">
                    <a:extLst>
                      <a:ext uri="{FF2B5EF4-FFF2-40B4-BE49-F238E27FC236}">
                        <a16:creationId xmlns:a16="http://schemas.microsoft.com/office/drawing/2014/main" id="{E2DCFA7D-1488-76C2-EE35-EF05B14D0C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96942" y="4171421"/>
                    <a:ext cx="520701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285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xtick-2">
                <a:extLst>
                  <a:ext uri="{FF2B5EF4-FFF2-40B4-BE49-F238E27FC236}">
                    <a16:creationId xmlns:a16="http://schemas.microsoft.com/office/drawing/2014/main" id="{86D8388D-C40F-A38D-EBE8-2C2AE9693C5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268272" y="4084906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xlabel-1">
                    <a:extLst>
                      <a:ext uri="{FF2B5EF4-FFF2-40B4-BE49-F238E27FC236}">
                        <a16:creationId xmlns:a16="http://schemas.microsoft.com/office/drawing/2014/main" id="{930B5D33-A194-263D-1AF2-2AD3D3892FF8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397" y="4171421"/>
                    <a:ext cx="52070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80" name="xlabel-1">
                    <a:extLst>
                      <a:ext uri="{FF2B5EF4-FFF2-40B4-BE49-F238E27FC236}">
                        <a16:creationId xmlns:a16="http://schemas.microsoft.com/office/drawing/2014/main" id="{DF1EB158-4C5D-C070-2DF9-90CA8A9229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397" y="4171421"/>
                    <a:ext cx="520701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3170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xtick-1">
                <a:extLst>
                  <a:ext uri="{FF2B5EF4-FFF2-40B4-BE49-F238E27FC236}">
                    <a16:creationId xmlns:a16="http://schemas.microsoft.com/office/drawing/2014/main" id="{8EC3D76D-18B9-33C9-F12B-AA01DE5AE72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991528" y="4081909"/>
                <a:ext cx="1356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x轴">
                <a:extLst>
                  <a:ext uri="{FF2B5EF4-FFF2-40B4-BE49-F238E27FC236}">
                    <a16:creationId xmlns:a16="http://schemas.microsoft.com/office/drawing/2014/main" id="{A7AC2DD6-CFA4-A19D-A2F3-DFDC814A03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11602" y="4159407"/>
                <a:ext cx="213949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渐近线">
            <a:extLst>
              <a:ext uri="{FF2B5EF4-FFF2-40B4-BE49-F238E27FC236}">
                <a16:creationId xmlns:a16="http://schemas.microsoft.com/office/drawing/2014/main" id="{B04253E6-E19A-960F-B51E-582A873BF368}"/>
              </a:ext>
            </a:extLst>
          </p:cNvPr>
          <p:cNvGrpSpPr/>
          <p:nvPr/>
        </p:nvGrpSpPr>
        <p:grpSpPr>
          <a:xfrm>
            <a:off x="7950104" y="1346979"/>
            <a:ext cx="2999986" cy="3980911"/>
            <a:chOff x="7670800" y="1679874"/>
            <a:chExt cx="2999986" cy="3980911"/>
          </a:xfrm>
        </p:grpSpPr>
        <p:cxnSp>
          <p:nvCxnSpPr>
            <p:cNvPr id="28" name="渐近线3">
              <a:extLst>
                <a:ext uri="{FF2B5EF4-FFF2-40B4-BE49-F238E27FC236}">
                  <a16:creationId xmlns:a16="http://schemas.microsoft.com/office/drawing/2014/main" id="{8EEE508A-76ED-54EC-E302-6150B5FFE899}"/>
                </a:ext>
              </a:extLst>
            </p:cNvPr>
            <p:cNvCxnSpPr>
              <a:cxnSpLocks/>
            </p:cNvCxnSpPr>
            <p:nvPr/>
          </p:nvCxnSpPr>
          <p:spPr>
            <a:xfrm>
              <a:off x="9510872" y="3670345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渐近线2">
              <a:extLst>
                <a:ext uri="{FF2B5EF4-FFF2-40B4-BE49-F238E27FC236}">
                  <a16:creationId xmlns:a16="http://schemas.microsoft.com/office/drawing/2014/main" id="{31CC3B31-0725-37E0-69EB-D6E7A0945A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10872" y="1679874"/>
              <a:ext cx="1159914" cy="199044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渐近线1">
              <a:extLst>
                <a:ext uri="{FF2B5EF4-FFF2-40B4-BE49-F238E27FC236}">
                  <a16:creationId xmlns:a16="http://schemas.microsoft.com/office/drawing/2014/main" id="{23A0358E-6D5E-E090-1BA0-5B09CA66A7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70800" y="3672000"/>
              <a:ext cx="1840072" cy="14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极点3">
            <a:extLst>
              <a:ext uri="{FF2B5EF4-FFF2-40B4-BE49-F238E27FC236}">
                <a16:creationId xmlns:a16="http://schemas.microsoft.com/office/drawing/2014/main" id="{9194D568-5C4A-E4DA-F222-3CD492C9A7F3}"/>
              </a:ext>
            </a:extLst>
          </p:cNvPr>
          <p:cNvSpPr/>
          <p:nvPr/>
        </p:nvSpPr>
        <p:spPr>
          <a:xfrm>
            <a:off x="8931418" y="3191479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32" name="极点2">
            <a:extLst>
              <a:ext uri="{FF2B5EF4-FFF2-40B4-BE49-F238E27FC236}">
                <a16:creationId xmlns:a16="http://schemas.microsoft.com/office/drawing/2014/main" id="{39FEAFC2-C34F-45F0-F4E4-EF1CCBA95EF0}"/>
              </a:ext>
            </a:extLst>
          </p:cNvPr>
          <p:cNvSpPr/>
          <p:nvPr/>
        </p:nvSpPr>
        <p:spPr>
          <a:xfrm>
            <a:off x="9674038" y="3191479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33" name="极点1">
            <a:extLst>
              <a:ext uri="{FF2B5EF4-FFF2-40B4-BE49-F238E27FC236}">
                <a16:creationId xmlns:a16="http://schemas.microsoft.com/office/drawing/2014/main" id="{C8EBF36F-76B1-861C-D5B5-3D82EEB98524}"/>
              </a:ext>
            </a:extLst>
          </p:cNvPr>
          <p:cNvSpPr/>
          <p:nvPr/>
        </p:nvSpPr>
        <p:spPr>
          <a:xfrm>
            <a:off x="10404397" y="3201161"/>
            <a:ext cx="288032" cy="288032"/>
          </a:xfrm>
          <a:prstGeom prst="mathMultiply">
            <a:avLst/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36" name="根轨迹3">
            <a:extLst>
              <a:ext uri="{FF2B5EF4-FFF2-40B4-BE49-F238E27FC236}">
                <a16:creationId xmlns:a16="http://schemas.microsoft.com/office/drawing/2014/main" id="{B97A66A5-1C85-B467-B5A6-054681958161}"/>
              </a:ext>
            </a:extLst>
          </p:cNvPr>
          <p:cNvCxnSpPr/>
          <p:nvPr/>
        </p:nvCxnSpPr>
        <p:spPr>
          <a:xfrm flipH="1">
            <a:off x="8249427" y="3345177"/>
            <a:ext cx="864096" cy="0"/>
          </a:xfrm>
          <a:prstGeom prst="straightConnector1">
            <a:avLst/>
          </a:prstGeom>
          <a:ln w="38100">
            <a:solidFill>
              <a:srgbClr val="E448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740F9A99-D532-C24B-D39B-FB5D81821F2B}"/>
              </a:ext>
            </a:extLst>
          </p:cNvPr>
          <p:cNvGrpSpPr/>
          <p:nvPr/>
        </p:nvGrpSpPr>
        <p:grpSpPr>
          <a:xfrm>
            <a:off x="9830894" y="3334851"/>
            <a:ext cx="1256086" cy="2140438"/>
            <a:chOff x="9830894" y="3334851"/>
            <a:chExt cx="1256086" cy="2140438"/>
          </a:xfrm>
        </p:grpSpPr>
        <p:sp>
          <p:nvSpPr>
            <p:cNvPr id="34" name="根轨迹5">
              <a:extLst>
                <a:ext uri="{FF2B5EF4-FFF2-40B4-BE49-F238E27FC236}">
                  <a16:creationId xmlns:a16="http://schemas.microsoft.com/office/drawing/2014/main" id="{AEC3EC67-0E75-5392-40A3-C4256CE9F814}"/>
                </a:ext>
              </a:extLst>
            </p:cNvPr>
            <p:cNvSpPr/>
            <p:nvPr/>
          </p:nvSpPr>
          <p:spPr>
            <a:xfrm flipV="1">
              <a:off x="10200373" y="3334851"/>
              <a:ext cx="886607" cy="2140438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56 w 886614"/>
                <a:gd name="connsiteY0" fmla="*/ 2140438 h 2140438"/>
                <a:gd name="connsiteX1" fmla="*/ 886614 w 886614"/>
                <a:gd name="connsiteY1" fmla="*/ 0 h 2140438"/>
                <a:gd name="connsiteX0" fmla="*/ 49 w 886607"/>
                <a:gd name="connsiteY0" fmla="*/ 2140438 h 2140438"/>
                <a:gd name="connsiteX1" fmla="*/ 886607 w 886607"/>
                <a:gd name="connsiteY1" fmla="*/ 0 h 214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6607" h="2140438">
                  <a:moveTo>
                    <a:pt x="49" y="2140438"/>
                  </a:moveTo>
                  <a:cubicBezTo>
                    <a:pt x="-4998" y="1733875"/>
                    <a:pt x="383654" y="1054263"/>
                    <a:pt x="886607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37" name="根轨迹2">
              <a:extLst>
                <a:ext uri="{FF2B5EF4-FFF2-40B4-BE49-F238E27FC236}">
                  <a16:creationId xmlns:a16="http://schemas.microsoft.com/office/drawing/2014/main" id="{E0D89781-0071-1F2E-587F-25E3AC8AACD0}"/>
                </a:ext>
              </a:extLst>
            </p:cNvPr>
            <p:cNvCxnSpPr>
              <a:cxnSpLocks/>
            </p:cNvCxnSpPr>
            <p:nvPr/>
          </p:nvCxnSpPr>
          <p:spPr>
            <a:xfrm>
              <a:off x="9830894" y="3345177"/>
              <a:ext cx="408115" cy="0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B39AA6E-B381-81C2-BBF2-42FA7F33FE15}"/>
              </a:ext>
            </a:extLst>
          </p:cNvPr>
          <p:cNvGrpSpPr/>
          <p:nvPr/>
        </p:nvGrpSpPr>
        <p:grpSpPr>
          <a:xfrm>
            <a:off x="10200422" y="1210424"/>
            <a:ext cx="886558" cy="2140438"/>
            <a:chOff x="10200422" y="1210424"/>
            <a:chExt cx="886558" cy="2140438"/>
          </a:xfrm>
        </p:grpSpPr>
        <p:sp>
          <p:nvSpPr>
            <p:cNvPr id="35" name="根轨迹4">
              <a:extLst>
                <a:ext uri="{FF2B5EF4-FFF2-40B4-BE49-F238E27FC236}">
                  <a16:creationId xmlns:a16="http://schemas.microsoft.com/office/drawing/2014/main" id="{62292521-854C-B012-52A0-FB602CA9F628}"/>
                </a:ext>
              </a:extLst>
            </p:cNvPr>
            <p:cNvSpPr/>
            <p:nvPr/>
          </p:nvSpPr>
          <p:spPr>
            <a:xfrm>
              <a:off x="10200422" y="1210424"/>
              <a:ext cx="886558" cy="2140438"/>
            </a:xfrm>
            <a:custGeom>
              <a:avLst/>
              <a:gdLst>
                <a:gd name="connsiteX0" fmla="*/ 2311400 w 2311400"/>
                <a:gd name="connsiteY0" fmla="*/ 2806700 h 2914873"/>
                <a:gd name="connsiteX1" fmla="*/ 1936750 w 2311400"/>
                <a:gd name="connsiteY1" fmla="*/ 2813050 h 2914873"/>
                <a:gd name="connsiteX2" fmla="*/ 1974850 w 2311400"/>
                <a:gd name="connsiteY2" fmla="*/ 1733550 h 2914873"/>
                <a:gd name="connsiteX3" fmla="*/ 0 w 2311400"/>
                <a:gd name="connsiteY3" fmla="*/ 0 h 2914873"/>
                <a:gd name="connsiteX0" fmla="*/ 2311400 w 2311400"/>
                <a:gd name="connsiteY0" fmla="*/ 2806700 h 2893131"/>
                <a:gd name="connsiteX1" fmla="*/ 1936750 w 2311400"/>
                <a:gd name="connsiteY1" fmla="*/ 2813050 h 2893131"/>
                <a:gd name="connsiteX2" fmla="*/ 1974850 w 2311400"/>
                <a:gd name="connsiteY2" fmla="*/ 1733550 h 2893131"/>
                <a:gd name="connsiteX3" fmla="*/ 0 w 2311400"/>
                <a:gd name="connsiteY3" fmla="*/ 0 h 2893131"/>
                <a:gd name="connsiteX0" fmla="*/ 2311400 w 2311400"/>
                <a:gd name="connsiteY0" fmla="*/ 2806700 h 2813083"/>
                <a:gd name="connsiteX1" fmla="*/ 1936750 w 2311400"/>
                <a:gd name="connsiteY1" fmla="*/ 2813050 h 2813083"/>
                <a:gd name="connsiteX2" fmla="*/ 1974850 w 2311400"/>
                <a:gd name="connsiteY2" fmla="*/ 1733550 h 2813083"/>
                <a:gd name="connsiteX3" fmla="*/ 0 w 2311400"/>
                <a:gd name="connsiteY3" fmla="*/ 0 h 2813083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76198"/>
                <a:gd name="connsiteX1" fmla="*/ 1936750 w 2311400"/>
                <a:gd name="connsiteY1" fmla="*/ 2813050 h 2876198"/>
                <a:gd name="connsiteX2" fmla="*/ 1974850 w 2311400"/>
                <a:gd name="connsiteY2" fmla="*/ 1733550 h 2876198"/>
                <a:gd name="connsiteX3" fmla="*/ 0 w 2311400"/>
                <a:gd name="connsiteY3" fmla="*/ 0 h 2876198"/>
                <a:gd name="connsiteX0" fmla="*/ 2311400 w 2311400"/>
                <a:gd name="connsiteY0" fmla="*/ 2806700 h 2813050"/>
                <a:gd name="connsiteX1" fmla="*/ 1936750 w 2311400"/>
                <a:gd name="connsiteY1" fmla="*/ 2813050 h 2813050"/>
                <a:gd name="connsiteX2" fmla="*/ 1974850 w 2311400"/>
                <a:gd name="connsiteY2" fmla="*/ 1733550 h 2813050"/>
                <a:gd name="connsiteX3" fmla="*/ 0 w 2311400"/>
                <a:gd name="connsiteY3" fmla="*/ 0 h 2813050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3675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1400"/>
                <a:gd name="connsiteY0" fmla="*/ 2806700 h 2819765"/>
                <a:gd name="connsiteX1" fmla="*/ 1968500 w 2311400"/>
                <a:gd name="connsiteY1" fmla="*/ 2813050 h 2819765"/>
                <a:gd name="connsiteX2" fmla="*/ 1974850 w 2311400"/>
                <a:gd name="connsiteY2" fmla="*/ 1733550 h 2819765"/>
                <a:gd name="connsiteX3" fmla="*/ 0 w 2311400"/>
                <a:gd name="connsiteY3" fmla="*/ 0 h 2819765"/>
                <a:gd name="connsiteX0" fmla="*/ 2311400 w 2315757"/>
                <a:gd name="connsiteY0" fmla="*/ 2806700 h 2813050"/>
                <a:gd name="connsiteX1" fmla="*/ 1968500 w 2315757"/>
                <a:gd name="connsiteY1" fmla="*/ 2813050 h 2813050"/>
                <a:gd name="connsiteX2" fmla="*/ 1974850 w 2315757"/>
                <a:gd name="connsiteY2" fmla="*/ 1733550 h 2813050"/>
                <a:gd name="connsiteX3" fmla="*/ 0 w 2315757"/>
                <a:gd name="connsiteY3" fmla="*/ 0 h 2813050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4522"/>
                <a:gd name="connsiteX1" fmla="*/ 1968500 w 2311400"/>
                <a:gd name="connsiteY1" fmla="*/ 2813050 h 2814522"/>
                <a:gd name="connsiteX2" fmla="*/ 1974850 w 2311400"/>
                <a:gd name="connsiteY2" fmla="*/ 1733550 h 2814522"/>
                <a:gd name="connsiteX3" fmla="*/ 0 w 2311400"/>
                <a:gd name="connsiteY3" fmla="*/ 0 h 2814522"/>
                <a:gd name="connsiteX0" fmla="*/ 2311400 w 2311400"/>
                <a:gd name="connsiteY0" fmla="*/ 2806700 h 2819056"/>
                <a:gd name="connsiteX1" fmla="*/ 1968500 w 2311400"/>
                <a:gd name="connsiteY1" fmla="*/ 2813050 h 2819056"/>
                <a:gd name="connsiteX2" fmla="*/ 1974850 w 2311400"/>
                <a:gd name="connsiteY2" fmla="*/ 1733550 h 2819056"/>
                <a:gd name="connsiteX3" fmla="*/ 0 w 2311400"/>
                <a:gd name="connsiteY3" fmla="*/ 0 h 2819056"/>
                <a:gd name="connsiteX0" fmla="*/ 2328984 w 2328984"/>
                <a:gd name="connsiteY0" fmla="*/ 2824284 h 2830615"/>
                <a:gd name="connsiteX1" fmla="*/ 1968500 w 2328984"/>
                <a:gd name="connsiteY1" fmla="*/ 2813050 h 2830615"/>
                <a:gd name="connsiteX2" fmla="*/ 1974850 w 2328984"/>
                <a:gd name="connsiteY2" fmla="*/ 1733550 h 2830615"/>
                <a:gd name="connsiteX3" fmla="*/ 0 w 2328984"/>
                <a:gd name="connsiteY3" fmla="*/ 0 h 2830615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4284"/>
                <a:gd name="connsiteX1" fmla="*/ 1968500 w 2328984"/>
                <a:gd name="connsiteY1" fmla="*/ 2813050 h 2824284"/>
                <a:gd name="connsiteX2" fmla="*/ 1974850 w 2328984"/>
                <a:gd name="connsiteY2" fmla="*/ 1733550 h 2824284"/>
                <a:gd name="connsiteX3" fmla="*/ 0 w 2328984"/>
                <a:gd name="connsiteY3" fmla="*/ 0 h 2824284"/>
                <a:gd name="connsiteX0" fmla="*/ 2328984 w 2328984"/>
                <a:gd name="connsiteY0" fmla="*/ 2824284 h 2825119"/>
                <a:gd name="connsiteX1" fmla="*/ 1968500 w 2328984"/>
                <a:gd name="connsiteY1" fmla="*/ 2813050 h 2825119"/>
                <a:gd name="connsiteX2" fmla="*/ 1974850 w 2328984"/>
                <a:gd name="connsiteY2" fmla="*/ 1733550 h 2825119"/>
                <a:gd name="connsiteX3" fmla="*/ 0 w 2328984"/>
                <a:gd name="connsiteY3" fmla="*/ 0 h 2825119"/>
                <a:gd name="connsiteX0" fmla="*/ 2328984 w 2328984"/>
                <a:gd name="connsiteY0" fmla="*/ 2824284 h 3129746"/>
                <a:gd name="connsiteX1" fmla="*/ 1968500 w 2328984"/>
                <a:gd name="connsiteY1" fmla="*/ 2813050 h 3129746"/>
                <a:gd name="connsiteX2" fmla="*/ 1974850 w 2328984"/>
                <a:gd name="connsiteY2" fmla="*/ 1733550 h 3129746"/>
                <a:gd name="connsiteX3" fmla="*/ 0 w 2328984"/>
                <a:gd name="connsiteY3" fmla="*/ 0 h 3129746"/>
                <a:gd name="connsiteX0" fmla="*/ 2328984 w 2328984"/>
                <a:gd name="connsiteY0" fmla="*/ 2824284 h 3258925"/>
                <a:gd name="connsiteX1" fmla="*/ 1968500 w 2328984"/>
                <a:gd name="connsiteY1" fmla="*/ 2813050 h 3258925"/>
                <a:gd name="connsiteX2" fmla="*/ 1974850 w 2328984"/>
                <a:gd name="connsiteY2" fmla="*/ 1733550 h 3258925"/>
                <a:gd name="connsiteX3" fmla="*/ 0 w 2328984"/>
                <a:gd name="connsiteY3" fmla="*/ 0 h 3258925"/>
                <a:gd name="connsiteX0" fmla="*/ 2328984 w 2328984"/>
                <a:gd name="connsiteY0" fmla="*/ 2824284 h 2856935"/>
                <a:gd name="connsiteX1" fmla="*/ 1968500 w 2328984"/>
                <a:gd name="connsiteY1" fmla="*/ 2813050 h 2856935"/>
                <a:gd name="connsiteX2" fmla="*/ 1974850 w 2328984"/>
                <a:gd name="connsiteY2" fmla="*/ 1733550 h 2856935"/>
                <a:gd name="connsiteX3" fmla="*/ 0 w 2328984"/>
                <a:gd name="connsiteY3" fmla="*/ 0 h 2856935"/>
                <a:gd name="connsiteX0" fmla="*/ 2328984 w 2331488"/>
                <a:gd name="connsiteY0" fmla="*/ 2824284 h 3113169"/>
                <a:gd name="connsiteX1" fmla="*/ 1968500 w 2331488"/>
                <a:gd name="connsiteY1" fmla="*/ 2813050 h 3113169"/>
                <a:gd name="connsiteX2" fmla="*/ 1974850 w 2331488"/>
                <a:gd name="connsiteY2" fmla="*/ 1733550 h 3113169"/>
                <a:gd name="connsiteX3" fmla="*/ 0 w 2331488"/>
                <a:gd name="connsiteY3" fmla="*/ 0 h 3113169"/>
                <a:gd name="connsiteX0" fmla="*/ 2328984 w 2330716"/>
                <a:gd name="connsiteY0" fmla="*/ 2824284 h 3049414"/>
                <a:gd name="connsiteX1" fmla="*/ 1700335 w 2330716"/>
                <a:gd name="connsiteY1" fmla="*/ 2531696 h 3049414"/>
                <a:gd name="connsiteX2" fmla="*/ 1974850 w 2330716"/>
                <a:gd name="connsiteY2" fmla="*/ 1733550 h 3049414"/>
                <a:gd name="connsiteX3" fmla="*/ 0 w 2330716"/>
                <a:gd name="connsiteY3" fmla="*/ 0 h 3049414"/>
                <a:gd name="connsiteX0" fmla="*/ 2328984 w 2331175"/>
                <a:gd name="connsiteY0" fmla="*/ 2824284 h 3066634"/>
                <a:gd name="connsiteX1" fmla="*/ 1700335 w 2331175"/>
                <a:gd name="connsiteY1" fmla="*/ 2531696 h 3066634"/>
                <a:gd name="connsiteX2" fmla="*/ 1974850 w 2331175"/>
                <a:gd name="connsiteY2" fmla="*/ 1733550 h 3066634"/>
                <a:gd name="connsiteX3" fmla="*/ 0 w 2331175"/>
                <a:gd name="connsiteY3" fmla="*/ 0 h 3066634"/>
                <a:gd name="connsiteX0" fmla="*/ 2328984 w 2332424"/>
                <a:gd name="connsiteY0" fmla="*/ 2824284 h 3145437"/>
                <a:gd name="connsiteX1" fmla="*/ 1950916 w 2332424"/>
                <a:gd name="connsiteY1" fmla="*/ 2830634 h 3145437"/>
                <a:gd name="connsiteX2" fmla="*/ 1974850 w 2332424"/>
                <a:gd name="connsiteY2" fmla="*/ 1733550 h 3145437"/>
                <a:gd name="connsiteX3" fmla="*/ 0 w 2332424"/>
                <a:gd name="connsiteY3" fmla="*/ 0 h 3145437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2300"/>
                <a:gd name="connsiteY0" fmla="*/ 2824284 h 3145571"/>
                <a:gd name="connsiteX1" fmla="*/ 1950916 w 2332300"/>
                <a:gd name="connsiteY1" fmla="*/ 2830634 h 3145571"/>
                <a:gd name="connsiteX2" fmla="*/ 1974850 w 2332300"/>
                <a:gd name="connsiteY2" fmla="*/ 1733550 h 3145571"/>
                <a:gd name="connsiteX3" fmla="*/ 0 w 2332300"/>
                <a:gd name="connsiteY3" fmla="*/ 0 h 3145571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414"/>
                <a:gd name="connsiteY0" fmla="*/ 2824284 h 3094860"/>
                <a:gd name="connsiteX1" fmla="*/ 1950916 w 2337414"/>
                <a:gd name="connsiteY1" fmla="*/ 2830634 h 3094860"/>
                <a:gd name="connsiteX2" fmla="*/ 1974850 w 2337414"/>
                <a:gd name="connsiteY2" fmla="*/ 1733550 h 3094860"/>
                <a:gd name="connsiteX3" fmla="*/ 0 w 2337414"/>
                <a:gd name="connsiteY3" fmla="*/ 0 h 3094860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74850 w 2337608"/>
                <a:gd name="connsiteY2" fmla="*/ 1733550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37608"/>
                <a:gd name="connsiteY0" fmla="*/ 2824284 h 3091488"/>
                <a:gd name="connsiteX1" fmla="*/ 1955312 w 2337608"/>
                <a:gd name="connsiteY1" fmla="*/ 2817446 h 3091488"/>
                <a:gd name="connsiteX2" fmla="*/ 1952869 w 2337608"/>
                <a:gd name="connsiteY2" fmla="*/ 1737946 h 3091488"/>
                <a:gd name="connsiteX3" fmla="*/ 0 w 2337608"/>
                <a:gd name="connsiteY3" fmla="*/ 0 h 3091488"/>
                <a:gd name="connsiteX0" fmla="*/ 2328984 w 2328984"/>
                <a:gd name="connsiteY0" fmla="*/ 2824284 h 2825799"/>
                <a:gd name="connsiteX1" fmla="*/ 1955312 w 2328984"/>
                <a:gd name="connsiteY1" fmla="*/ 2817446 h 2825799"/>
                <a:gd name="connsiteX2" fmla="*/ 1952869 w 2328984"/>
                <a:gd name="connsiteY2" fmla="*/ 1737946 h 2825799"/>
                <a:gd name="connsiteX3" fmla="*/ 0 w 2328984"/>
                <a:gd name="connsiteY3" fmla="*/ 0 h 2825799"/>
                <a:gd name="connsiteX0" fmla="*/ 2328984 w 2328984"/>
                <a:gd name="connsiteY0" fmla="*/ 2824284 h 2824284"/>
                <a:gd name="connsiteX1" fmla="*/ 1955312 w 2328984"/>
                <a:gd name="connsiteY1" fmla="*/ 2817446 h 2824284"/>
                <a:gd name="connsiteX2" fmla="*/ 1952869 w 2328984"/>
                <a:gd name="connsiteY2" fmla="*/ 1737946 h 2824284"/>
                <a:gd name="connsiteX3" fmla="*/ 0 w 2328984"/>
                <a:gd name="connsiteY3" fmla="*/ 0 h 2824284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1737946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1952869 w 2320192"/>
                <a:gd name="connsiteY2" fmla="*/ 2239108 h 2819888"/>
                <a:gd name="connsiteX3" fmla="*/ 0 w 2320192"/>
                <a:gd name="connsiteY3" fmla="*/ 0 h 2819888"/>
                <a:gd name="connsiteX0" fmla="*/ 2320192 w 2320192"/>
                <a:gd name="connsiteY0" fmla="*/ 2819888 h 2819888"/>
                <a:gd name="connsiteX1" fmla="*/ 1955312 w 2320192"/>
                <a:gd name="connsiteY1" fmla="*/ 2817446 h 2819888"/>
                <a:gd name="connsiteX2" fmla="*/ 0 w 2320192"/>
                <a:gd name="connsiteY2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2320192 w 2320192"/>
                <a:gd name="connsiteY0" fmla="*/ 2819888 h 2819888"/>
                <a:gd name="connsiteX1" fmla="*/ 0 w 2320192"/>
                <a:gd name="connsiteY1" fmla="*/ 0 h 2819888"/>
                <a:gd name="connsiteX0" fmla="*/ 3647342 w 3647342"/>
                <a:gd name="connsiteY0" fmla="*/ 3073888 h 3073888"/>
                <a:gd name="connsiteX1" fmla="*/ 0 w 3647342"/>
                <a:gd name="connsiteY1" fmla="*/ 0 h 3073888"/>
                <a:gd name="connsiteX0" fmla="*/ 256471 w 1264588"/>
                <a:gd name="connsiteY0" fmla="*/ 2210288 h 2210288"/>
                <a:gd name="connsiteX1" fmla="*/ 1123979 w 1264588"/>
                <a:gd name="connsiteY1" fmla="*/ 0 h 2210288"/>
                <a:gd name="connsiteX0" fmla="*/ 374863 w 1242371"/>
                <a:gd name="connsiteY0" fmla="*/ 2210288 h 2210288"/>
                <a:gd name="connsiteX1" fmla="*/ 1242371 w 1242371"/>
                <a:gd name="connsiteY1" fmla="*/ 0 h 2210288"/>
                <a:gd name="connsiteX0" fmla="*/ 339658 w 1454816"/>
                <a:gd name="connsiteY0" fmla="*/ 2146788 h 2146788"/>
                <a:gd name="connsiteX1" fmla="*/ 1454816 w 1454816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1115158"/>
                <a:gd name="connsiteY0" fmla="*/ 2146788 h 2146788"/>
                <a:gd name="connsiteX1" fmla="*/ 1115158 w 11151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0 w 848458"/>
                <a:gd name="connsiteY0" fmla="*/ 2146788 h 2146788"/>
                <a:gd name="connsiteX1" fmla="*/ 848458 w 848458"/>
                <a:gd name="connsiteY1" fmla="*/ 0 h 2146788"/>
                <a:gd name="connsiteX0" fmla="*/ 1965 w 850423"/>
                <a:gd name="connsiteY0" fmla="*/ 2146788 h 2146788"/>
                <a:gd name="connsiteX1" fmla="*/ 850423 w 850423"/>
                <a:gd name="connsiteY1" fmla="*/ 0 h 2146788"/>
                <a:gd name="connsiteX0" fmla="*/ 1777 w 888335"/>
                <a:gd name="connsiteY0" fmla="*/ 2140438 h 2140438"/>
                <a:gd name="connsiteX1" fmla="*/ 888335 w 888335"/>
                <a:gd name="connsiteY1" fmla="*/ 0 h 2140438"/>
                <a:gd name="connsiteX0" fmla="*/ 275 w 886833"/>
                <a:gd name="connsiteY0" fmla="*/ 2140438 h 2140438"/>
                <a:gd name="connsiteX1" fmla="*/ 886833 w 886833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  <a:gd name="connsiteX0" fmla="*/ 0 w 886558"/>
                <a:gd name="connsiteY0" fmla="*/ 2140438 h 2140438"/>
                <a:gd name="connsiteX1" fmla="*/ 886558 w 886558"/>
                <a:gd name="connsiteY1" fmla="*/ 0 h 214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6558" h="2140438">
                  <a:moveTo>
                    <a:pt x="0" y="2140438"/>
                  </a:moveTo>
                  <a:cubicBezTo>
                    <a:pt x="7653" y="1657675"/>
                    <a:pt x="383605" y="1073313"/>
                    <a:pt x="886558" y="0"/>
                  </a:cubicBezTo>
                </a:path>
              </a:pathLst>
            </a:custGeom>
            <a:noFill/>
            <a:ln w="38100">
              <a:solidFill>
                <a:srgbClr val="E4486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38" name="根轨迹1">
              <a:extLst>
                <a:ext uri="{FF2B5EF4-FFF2-40B4-BE49-F238E27FC236}">
                  <a16:creationId xmlns:a16="http://schemas.microsoft.com/office/drawing/2014/main" id="{47BEC79F-31A1-D9A8-FCAE-F75CA64265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5686" y="3337504"/>
              <a:ext cx="358938" cy="3201"/>
            </a:xfrm>
            <a:prstGeom prst="straightConnector1">
              <a:avLst/>
            </a:prstGeom>
            <a:ln w="38100">
              <a:solidFill>
                <a:srgbClr val="E448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虚轴交点2">
            <a:extLst>
              <a:ext uri="{FF2B5EF4-FFF2-40B4-BE49-F238E27FC236}">
                <a16:creationId xmlns:a16="http://schemas.microsoft.com/office/drawing/2014/main" id="{856D5758-D5FA-DF07-DB1D-E604691DAD0C}"/>
              </a:ext>
            </a:extLst>
          </p:cNvPr>
          <p:cNvSpPr/>
          <p:nvPr/>
        </p:nvSpPr>
        <p:spPr>
          <a:xfrm>
            <a:off x="10487037" y="2252199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虚轴交点1">
            <a:extLst>
              <a:ext uri="{FF2B5EF4-FFF2-40B4-BE49-F238E27FC236}">
                <a16:creationId xmlns:a16="http://schemas.microsoft.com/office/drawing/2014/main" id="{DBEB1B9F-09BF-7651-367A-93804E68EE1B}"/>
              </a:ext>
            </a:extLst>
          </p:cNvPr>
          <p:cNvSpPr/>
          <p:nvPr/>
        </p:nvSpPr>
        <p:spPr>
          <a:xfrm>
            <a:off x="10487482" y="4296421"/>
            <a:ext cx="122752" cy="12275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分离点">
            <a:extLst>
              <a:ext uri="{FF2B5EF4-FFF2-40B4-BE49-F238E27FC236}">
                <a16:creationId xmlns:a16="http://schemas.microsoft.com/office/drawing/2014/main" id="{3887F887-B600-75F1-C96D-F3150FD1979F}"/>
              </a:ext>
            </a:extLst>
          </p:cNvPr>
          <p:cNvSpPr/>
          <p:nvPr/>
        </p:nvSpPr>
        <p:spPr>
          <a:xfrm>
            <a:off x="10146849" y="3282503"/>
            <a:ext cx="122752" cy="122752"/>
          </a:xfrm>
          <a:prstGeom prst="ellipse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002493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17379</TotalTime>
  <Words>1359</Words>
  <Application>Microsoft Macintosh PowerPoint</Application>
  <PresentationFormat>自定义</PresentationFormat>
  <Paragraphs>289</Paragraphs>
  <Slides>20</Slides>
  <Notes>18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Menlo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544</cp:revision>
  <dcterms:created xsi:type="dcterms:W3CDTF">2012-09-21T08:06:35Z</dcterms:created>
  <dcterms:modified xsi:type="dcterms:W3CDTF">2024-04-25T04:31:24Z</dcterms:modified>
  <cp:category/>
</cp:coreProperties>
</file>