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53" r:id="rId2"/>
    <p:sldId id="511" r:id="rId3"/>
    <p:sldId id="513" r:id="rId4"/>
    <p:sldId id="530" r:id="rId5"/>
    <p:sldId id="531" r:id="rId6"/>
    <p:sldId id="532" r:id="rId7"/>
    <p:sldId id="533" r:id="rId8"/>
    <p:sldId id="534" r:id="rId9"/>
    <p:sldId id="529" r:id="rId10"/>
    <p:sldId id="535" r:id="rId11"/>
    <p:sldId id="536" r:id="rId12"/>
    <p:sldId id="537" r:id="rId13"/>
    <p:sldId id="538" r:id="rId14"/>
    <p:sldId id="539" r:id="rId15"/>
    <p:sldId id="540" r:id="rId16"/>
    <p:sldId id="541" r:id="rId17"/>
    <p:sldId id="525" r:id="rId18"/>
    <p:sldId id="526" r:id="rId19"/>
    <p:sldId id="517" r:id="rId20"/>
    <p:sldId id="527" r:id="rId21"/>
    <p:sldId id="528" r:id="rId22"/>
  </p:sldIdLst>
  <p:sldSz cx="12190413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CCE0EF"/>
    <a:srgbClr val="1F608B"/>
    <a:srgbClr val="D1E6F5"/>
    <a:srgbClr val="F29B11"/>
    <a:srgbClr val="00B0F0"/>
    <a:srgbClr val="FFC000"/>
    <a:srgbClr val="9BBB59"/>
    <a:srgbClr val="768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3380" autoAdjust="0"/>
  </p:normalViewPr>
  <p:slideViewPr>
    <p:cSldViewPr>
      <p:cViewPr varScale="1">
        <p:scale>
          <a:sx n="90" d="100"/>
          <a:sy n="90" d="100"/>
        </p:scale>
        <p:origin x="232" y="632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眉占位符 5">
            <a:extLst>
              <a:ext uri="{FF2B5EF4-FFF2-40B4-BE49-F238E27FC236}">
                <a16:creationId xmlns:a16="http://schemas.microsoft.com/office/drawing/2014/main" id="{D2D0F06B-D5E7-FEF8-50D0-D10267447F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F3CEAE-5FEA-2B86-B4AD-DFF3491084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F5E3B-79D7-5A40-93B0-747676262AC2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C6D61D-839A-FFBF-3DF9-19230036B8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274732-85CF-6C09-457C-504BCA6181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36056-C163-D047-B42E-79A73390AD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174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14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97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520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935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09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16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9C6FB-C7DC-A732-1932-439E2EE9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52C8F4-EB66-B3DA-FCAA-763BD7E51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B76C13-3996-A909-C599-BF0B3C9A7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C6E9F-8EF9-36BF-7B67-C0D24F1DE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9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31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3867185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10.png"/><Relationship Id="rId7" Type="http://schemas.openxmlformats.org/officeDocument/2006/relationships/image" Target="../media/image9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0.png"/><Relationship Id="rId11" Type="http://schemas.openxmlformats.org/officeDocument/2006/relationships/image" Target="../media/image15.png"/><Relationship Id="rId5" Type="http://schemas.openxmlformats.org/officeDocument/2006/relationships/image" Target="../media/image710.png"/><Relationship Id="rId10" Type="http://schemas.openxmlformats.org/officeDocument/2006/relationships/image" Target="../media/image14.png"/><Relationship Id="rId4" Type="http://schemas.openxmlformats.org/officeDocument/2006/relationships/image" Target="../media/image610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73.png"/><Relationship Id="rId12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77.png"/><Relationship Id="rId15" Type="http://schemas.openxmlformats.org/officeDocument/2006/relationships/image" Target="../media/image22.png"/><Relationship Id="rId10" Type="http://schemas.openxmlformats.org/officeDocument/2006/relationships/image" Target="../media/image76.png"/><Relationship Id="rId4" Type="http://schemas.openxmlformats.org/officeDocument/2006/relationships/image" Target="../media/image18.png"/><Relationship Id="rId9" Type="http://schemas.openxmlformats.org/officeDocument/2006/relationships/image" Target="../media/image75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82.png"/><Relationship Id="rId12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11" Type="http://schemas.openxmlformats.org/officeDocument/2006/relationships/image" Target="../media/image26.png"/><Relationship Id="rId5" Type="http://schemas.openxmlformats.org/officeDocument/2006/relationships/image" Target="../media/image80.png"/><Relationship Id="rId10" Type="http://schemas.openxmlformats.org/officeDocument/2006/relationships/image" Target="../media/image25.png"/><Relationship Id="rId9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32.png"/><Relationship Id="rId18" Type="http://schemas.openxmlformats.org/officeDocument/2006/relationships/image" Target="../media/image36.png"/><Relationship Id="rId21" Type="http://schemas.openxmlformats.org/officeDocument/2006/relationships/image" Target="../media/image39.png"/><Relationship Id="rId12" Type="http://schemas.openxmlformats.org/officeDocument/2006/relationships/image" Target="../media/image31.png"/><Relationship Id="rId17" Type="http://schemas.openxmlformats.org/officeDocument/2006/relationships/image" Target="../media/image35.png"/><Relationship Id="rId2" Type="http://schemas.openxmlformats.org/officeDocument/2006/relationships/image" Target="../media/image28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30.png"/><Relationship Id="rId24" Type="http://schemas.openxmlformats.org/officeDocument/2006/relationships/image" Target="../media/image42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9.png"/><Relationship Id="rId19" Type="http://schemas.openxmlformats.org/officeDocument/2006/relationships/image" Target="../media/image3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9D2914-CC66-1252-8289-E864F2DE6ABD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EC582F0-70D8-073F-23DC-C71300A9CFB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3" name="直接连接符 12">
                <a:extLst>
                  <a:ext uri="{FF2B5EF4-FFF2-40B4-BE49-F238E27FC236}">
                    <a16:creationId xmlns:a16="http://schemas.microsoft.com/office/drawing/2014/main" id="{C18CF809-4EDD-6C41-2036-EB095E43F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F95DB7DF-2A4E-D82F-9C6D-E1B3C3CF659A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75F473A7-5D3C-410E-76CE-6E80C8F53AB7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8" name="object 5">
                  <a:extLst>
                    <a:ext uri="{FF2B5EF4-FFF2-40B4-BE49-F238E27FC236}">
                      <a16:creationId xmlns:a16="http://schemas.microsoft.com/office/drawing/2014/main" id="{B217C29C-4BBA-09E2-D094-E3FA8791D93C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0A2BDE7E-07BF-6D60-721F-C630593BCA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11" name="图片 10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E70EE84-93CD-11BC-B864-E89E59F11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8" y="1828813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2">
            <a:extLst>
              <a:ext uri="{FF2B5EF4-FFF2-40B4-BE49-F238E27FC236}">
                <a16:creationId xmlns:a16="http://schemas.microsoft.com/office/drawing/2014/main" id="{09BFCD41-1537-F135-278C-AF09FCA39C59}"/>
              </a:ext>
            </a:extLst>
          </p:cNvPr>
          <p:cNvSpPr/>
          <p:nvPr/>
        </p:nvSpPr>
        <p:spPr bwMode="auto">
          <a:xfrm>
            <a:off x="389464" y="1440889"/>
            <a:ext cx="627192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微分方程：控制系统基础模型</a:t>
            </a:r>
          </a:p>
        </p:txBody>
      </p:sp>
      <p:graphicFrame>
        <p:nvGraphicFramePr>
          <p:cNvPr id="24" name="章节">
            <a:extLst>
              <a:ext uri="{FF2B5EF4-FFF2-40B4-BE49-F238E27FC236}">
                <a16:creationId xmlns:a16="http://schemas.microsoft.com/office/drawing/2014/main" id="{8B93E62B-CCB8-5559-3C6D-3DDCD0368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371034"/>
              </p:ext>
            </p:extLst>
          </p:nvPr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F5BF598C-E598-37BE-7F4C-CDCE68DBC17A}"/>
              </a:ext>
            </a:extLst>
          </p:cNvPr>
          <p:cNvSpPr/>
          <p:nvPr/>
        </p:nvSpPr>
        <p:spPr>
          <a:xfrm>
            <a:off x="2033261" y="-4733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步骤1">
            <a:extLst>
              <a:ext uri="{FF2B5EF4-FFF2-40B4-BE49-F238E27FC236}">
                <a16:creationId xmlns:a16="http://schemas.microsoft.com/office/drawing/2014/main" id="{3EA6BBC8-1810-91E6-F324-87704E15992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28" name="标题">
              <a:extLst>
                <a:ext uri="{FF2B5EF4-FFF2-40B4-BE49-F238E27FC236}">
                  <a16:creationId xmlns:a16="http://schemas.microsoft.com/office/drawing/2014/main" id="{E33A3150-7CE8-62F8-DF5F-3F396375880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解释控制系统的基本建模方法</a:t>
              </a:r>
            </a:p>
          </p:txBody>
        </p:sp>
        <p:sp>
          <p:nvSpPr>
            <p:cNvPr id="29" name="序号">
              <a:extLst>
                <a:ext uri="{FF2B5EF4-FFF2-40B4-BE49-F238E27FC236}">
                  <a16:creationId xmlns:a16="http://schemas.microsoft.com/office/drawing/2014/main" id="{A414EBD1-21D5-98BB-58D3-0BF3DC68A34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0" name="步骤2">
            <a:extLst>
              <a:ext uri="{FF2B5EF4-FFF2-40B4-BE49-F238E27FC236}">
                <a16:creationId xmlns:a16="http://schemas.microsoft.com/office/drawing/2014/main" id="{3C9F8C79-6F14-C52B-7513-3292E8B6F0B3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31" name="标题">
              <a:extLst>
                <a:ext uri="{FF2B5EF4-FFF2-40B4-BE49-F238E27FC236}">
                  <a16:creationId xmlns:a16="http://schemas.microsoft.com/office/drawing/2014/main" id="{0B71DA2F-DD27-2892-802A-5C2EE376C6A3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解释微分方程建模的一般步骤</a:t>
              </a:r>
            </a:p>
          </p:txBody>
        </p:sp>
        <p:sp>
          <p:nvSpPr>
            <p:cNvPr id="32" name="序号">
              <a:extLst>
                <a:ext uri="{FF2B5EF4-FFF2-40B4-BE49-F238E27FC236}">
                  <a16:creationId xmlns:a16="http://schemas.microsoft.com/office/drawing/2014/main" id="{16F98F1E-6DE2-1F22-50BC-F3748981CD4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步骤3">
            <a:extLst>
              <a:ext uri="{FF2B5EF4-FFF2-40B4-BE49-F238E27FC236}">
                <a16:creationId xmlns:a16="http://schemas.microsoft.com/office/drawing/2014/main" id="{7C154696-CBA2-E6E2-221C-09240C73B3D6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34" name="标题">
              <a:extLst>
                <a:ext uri="{FF2B5EF4-FFF2-40B4-BE49-F238E27FC236}">
                  <a16:creationId xmlns:a16="http://schemas.microsoft.com/office/drawing/2014/main" id="{6407F594-792A-87AB-83B7-8A5027EB5925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能够建立基本系统的微分方程</a:t>
              </a:r>
            </a:p>
          </p:txBody>
        </p:sp>
        <p:sp>
          <p:nvSpPr>
            <p:cNvPr id="35" name="序号">
              <a:extLst>
                <a:ext uri="{FF2B5EF4-FFF2-40B4-BE49-F238E27FC236}">
                  <a16:creationId xmlns:a16="http://schemas.microsoft.com/office/drawing/2014/main" id="{52676FDC-5B84-4B93-31BF-8E243D5C8DB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步骤4">
            <a:extLst>
              <a:ext uri="{FF2B5EF4-FFF2-40B4-BE49-F238E27FC236}">
                <a16:creationId xmlns:a16="http://schemas.microsoft.com/office/drawing/2014/main" id="{88BCC1BA-2A9E-D41C-A8A9-F88B61FCBCD8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37" name="标题">
              <a:extLst>
                <a:ext uri="{FF2B5EF4-FFF2-40B4-BE49-F238E27FC236}">
                  <a16:creationId xmlns:a16="http://schemas.microsoft.com/office/drawing/2014/main" id="{A6B0FEAC-FBD9-99C8-D23A-524A2B3348B5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能够进行非线性模型的线性化</a:t>
              </a:r>
            </a:p>
          </p:txBody>
        </p:sp>
        <p:sp>
          <p:nvSpPr>
            <p:cNvPr id="38" name="序号">
              <a:extLst>
                <a:ext uri="{FF2B5EF4-FFF2-40B4-BE49-F238E27FC236}">
                  <a16:creationId xmlns:a16="http://schemas.microsoft.com/office/drawing/2014/main" id="{28C91CF0-4B6B-748A-F669-74A4D5763C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学习目标">
            <a:extLst>
              <a:ext uri="{FF2B5EF4-FFF2-40B4-BE49-F238E27FC236}">
                <a16:creationId xmlns:a16="http://schemas.microsoft.com/office/drawing/2014/main" id="{F7847356-17A7-F7DB-B7A7-592BF126664C}"/>
              </a:ext>
            </a:extLst>
          </p:cNvPr>
          <p:cNvSpPr/>
          <p:nvPr/>
        </p:nvSpPr>
        <p:spPr bwMode="auto">
          <a:xfrm>
            <a:off x="8255000" y="141735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40" name="燕尾形 39">
            <a:extLst>
              <a:ext uri="{FF2B5EF4-FFF2-40B4-BE49-F238E27FC236}">
                <a16:creationId xmlns:a16="http://schemas.microsoft.com/office/drawing/2014/main" id="{49A950B6-55BC-1F05-18AF-2A59ADF63BB7}"/>
              </a:ext>
            </a:extLst>
          </p:cNvPr>
          <p:cNvSpPr/>
          <p:nvPr/>
        </p:nvSpPr>
        <p:spPr>
          <a:xfrm>
            <a:off x="7142783" y="1512838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1" name="重点">
            <a:extLst>
              <a:ext uri="{FF2B5EF4-FFF2-40B4-BE49-F238E27FC236}">
                <a16:creationId xmlns:a16="http://schemas.microsoft.com/office/drawing/2014/main" id="{4989CD7B-61BA-E351-14EC-5C2E7097ED93}"/>
              </a:ext>
            </a:extLst>
          </p:cNvPr>
          <p:cNvSpPr/>
          <p:nvPr/>
        </p:nvSpPr>
        <p:spPr bwMode="auto">
          <a:xfrm>
            <a:off x="5735166" y="4480844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42" name="难点">
            <a:extLst>
              <a:ext uri="{FF2B5EF4-FFF2-40B4-BE49-F238E27FC236}">
                <a16:creationId xmlns:a16="http://schemas.microsoft.com/office/drawing/2014/main" id="{A3497F25-8823-E8FB-7F09-1F73E320DDAE}"/>
              </a:ext>
            </a:extLst>
          </p:cNvPr>
          <p:cNvSpPr/>
          <p:nvPr/>
        </p:nvSpPr>
        <p:spPr bwMode="auto">
          <a:xfrm>
            <a:off x="5735166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 anchorCtr="1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建模方法</a:t>
            </a:r>
          </a:p>
        </p:txBody>
      </p: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8" y="980595"/>
            <a:ext cx="11401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根据现有的物理、化学定律对系统各部分的动态进行分析和描述，并给出运动方程。</a:t>
            </a:r>
          </a:p>
        </p:txBody>
      </p:sp>
      <p:grpSp>
        <p:nvGrpSpPr>
          <p:cNvPr id="5" name="步骤1">
            <a:extLst>
              <a:ext uri="{FF2B5EF4-FFF2-40B4-BE49-F238E27FC236}">
                <a16:creationId xmlns:a16="http://schemas.microsoft.com/office/drawing/2014/main" id="{8613A4F2-391A-9DE3-C384-0295892906FC}"/>
              </a:ext>
            </a:extLst>
          </p:cNvPr>
          <p:cNvGrpSpPr/>
          <p:nvPr/>
        </p:nvGrpSpPr>
        <p:grpSpPr>
          <a:xfrm>
            <a:off x="334566" y="2048304"/>
            <a:ext cx="4896691" cy="725177"/>
            <a:chOff x="4943078" y="1700704"/>
            <a:chExt cx="4896691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3A56805-B7C9-E482-5A14-00E53D2C9488}"/>
                </a:ext>
              </a:extLst>
            </p:cNvPr>
            <p:cNvSpPr/>
            <p:nvPr/>
          </p:nvSpPr>
          <p:spPr bwMode="auto">
            <a:xfrm>
              <a:off x="5358314" y="1739800"/>
              <a:ext cx="448145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电学：基尔霍夫定律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4DAD674A-16CA-BD47-5265-E764E7CA3E7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46AF7D21-3B18-A1FF-A0FD-22F194E4A443}"/>
              </a:ext>
            </a:extLst>
          </p:cNvPr>
          <p:cNvSpPr txBox="1"/>
          <p:nvPr/>
        </p:nvSpPr>
        <p:spPr>
          <a:xfrm>
            <a:off x="334566" y="2940992"/>
            <a:ext cx="112332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3333B2"/>
                </a:solidFill>
                <a:effectLst/>
                <a:latin typeface="+mn-ea"/>
              </a:rPr>
              <a:t>电流定律 </a:t>
            </a:r>
            <a:r>
              <a:rPr lang="zh-CN" altLang="en-US" sz="2800" dirty="0">
                <a:effectLst/>
                <a:latin typeface="+mn-ea"/>
              </a:rPr>
              <a:t>所有进入某节点的电流的总和等于所有离开这节点的电流的总和。 </a:t>
            </a:r>
            <a:endParaRPr lang="en-US" altLang="zh-CN" sz="2800" dirty="0">
              <a:effectLst/>
              <a:latin typeface="+mn-ea"/>
            </a:endParaRPr>
          </a:p>
          <a:p>
            <a:r>
              <a:rPr lang="zh-CN" altLang="en-US" sz="2800" dirty="0">
                <a:solidFill>
                  <a:srgbClr val="3333B2"/>
                </a:solidFill>
                <a:effectLst/>
                <a:latin typeface="+mn-ea"/>
              </a:rPr>
              <a:t>电压定律 </a:t>
            </a:r>
            <a:r>
              <a:rPr lang="zh-CN" altLang="en-US" sz="2800" dirty="0">
                <a:effectLst/>
                <a:latin typeface="+mn-ea"/>
              </a:rPr>
              <a:t>沿着闭合回路所有元件两端的电势差</a:t>
            </a:r>
            <a:r>
              <a:rPr lang="en-US" altLang="zh-CN" sz="2800" dirty="0">
                <a:effectLst/>
                <a:latin typeface="+mn-ea"/>
              </a:rPr>
              <a:t>(</a:t>
            </a:r>
            <a:r>
              <a:rPr lang="zh-CN" altLang="en-US" sz="2800" dirty="0">
                <a:effectLst/>
                <a:latin typeface="+mn-ea"/>
              </a:rPr>
              <a:t>电压</a:t>
            </a:r>
            <a:r>
              <a:rPr lang="en-US" altLang="zh-CN" sz="2800" dirty="0">
                <a:effectLst/>
                <a:latin typeface="+mn-ea"/>
              </a:rPr>
              <a:t>)</a:t>
            </a:r>
            <a:r>
              <a:rPr lang="zh-CN" altLang="en-US" sz="2800" dirty="0">
                <a:effectLst/>
                <a:latin typeface="+mn-ea"/>
              </a:rPr>
              <a:t>的代数和等于零。 </a:t>
            </a:r>
          </a:p>
        </p:txBody>
      </p:sp>
    </p:spTree>
    <p:extLst>
      <p:ext uri="{BB962C8B-B14F-4D97-AF65-F5344CB8AC3E}">
        <p14:creationId xmlns:p14="http://schemas.microsoft.com/office/powerpoint/2010/main" val="95494294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建模方法</a:t>
            </a:r>
          </a:p>
        </p:txBody>
      </p: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8" y="980595"/>
            <a:ext cx="11401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根据现有的物理、化学定律对系统各部分的动态进行分析和描述，并给出运动方程。</a:t>
            </a:r>
          </a:p>
        </p:txBody>
      </p:sp>
      <p:grpSp>
        <p:nvGrpSpPr>
          <p:cNvPr id="18" name="步骤2">
            <a:extLst>
              <a:ext uri="{FF2B5EF4-FFF2-40B4-BE49-F238E27FC236}">
                <a16:creationId xmlns:a16="http://schemas.microsoft.com/office/drawing/2014/main" id="{4BAA0C96-124B-71AF-7243-B3F9D16E9062}"/>
              </a:ext>
            </a:extLst>
          </p:cNvPr>
          <p:cNvGrpSpPr/>
          <p:nvPr/>
        </p:nvGrpSpPr>
        <p:grpSpPr>
          <a:xfrm>
            <a:off x="339614" y="2420888"/>
            <a:ext cx="3960440" cy="725177"/>
            <a:chOff x="4943078" y="1700704"/>
            <a:chExt cx="3960440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3A311701-FA6C-A933-DCB3-24B6EC0C474A}"/>
                </a:ext>
              </a:extLst>
            </p:cNvPr>
            <p:cNvSpPr/>
            <p:nvPr/>
          </p:nvSpPr>
          <p:spPr bwMode="auto">
            <a:xfrm>
              <a:off x="5417690" y="1750121"/>
              <a:ext cx="3485828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力学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: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牛顿定律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BC04559B-6E9D-D96C-9EBF-8B5A912579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C853F7D3-8A71-4C8F-2F7F-6036BAAA46D0}"/>
              </a:ext>
            </a:extLst>
          </p:cNvPr>
          <p:cNvSpPr txBox="1"/>
          <p:nvPr/>
        </p:nvSpPr>
        <p:spPr>
          <a:xfrm>
            <a:off x="251806" y="3238586"/>
            <a:ext cx="114650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3333B2"/>
                </a:solidFill>
                <a:latin typeface="+mn-ea"/>
              </a:rPr>
              <a:t>第一定律 </a:t>
            </a:r>
            <a:r>
              <a:rPr lang="zh-CN" altLang="en-US" sz="2800" dirty="0">
                <a:latin typeface="+mn-ea"/>
              </a:rPr>
              <a:t>存在某些参考系，在其中，不受外力的物体都保持静止或匀速直线运动。</a:t>
            </a:r>
            <a:r>
              <a:rPr lang="zh-CN" altLang="en-US" sz="2800" dirty="0">
                <a:solidFill>
                  <a:srgbClr val="3333B2"/>
                </a:solidFill>
                <a:latin typeface="+mn-ea"/>
              </a:rPr>
              <a:t> </a:t>
            </a:r>
            <a:endParaRPr lang="en-US" altLang="zh-CN" sz="2800" dirty="0">
              <a:solidFill>
                <a:srgbClr val="3333B2"/>
              </a:solidFill>
              <a:latin typeface="+mn-ea"/>
            </a:endParaRPr>
          </a:p>
          <a:p>
            <a:r>
              <a:rPr lang="zh-CN" altLang="en-US" sz="2800" dirty="0">
                <a:solidFill>
                  <a:srgbClr val="3333B2"/>
                </a:solidFill>
                <a:latin typeface="+mn-ea"/>
              </a:rPr>
              <a:t>第二定律 </a:t>
            </a:r>
            <a:r>
              <a:rPr lang="zh-CN" altLang="en-US" sz="2800" dirty="0">
                <a:latin typeface="+mn-ea"/>
              </a:rPr>
              <a:t>施加于物体的合外力等于此物体的质量与加速度的乘积。</a:t>
            </a:r>
          </a:p>
          <a:p>
            <a:r>
              <a:rPr lang="zh-CN" altLang="en-US" sz="2800" dirty="0">
                <a:solidFill>
                  <a:srgbClr val="3333B2"/>
                </a:solidFill>
                <a:latin typeface="+mn-ea"/>
              </a:rPr>
              <a:t>第三定律 </a:t>
            </a:r>
            <a:r>
              <a:rPr lang="zh-CN" altLang="en-US" sz="2800" dirty="0">
                <a:latin typeface="+mn-ea"/>
              </a:rPr>
              <a:t>当两个物体互相作用时，彼此施加于对方的力，其大小相等、方向相反。</a:t>
            </a:r>
            <a:endParaRPr lang="zh-CN" altLang="en-US" sz="28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7086961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建模方法</a:t>
            </a:r>
          </a:p>
        </p:txBody>
      </p: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8" y="980595"/>
            <a:ext cx="11401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根据现有的物理、化学定律对系统各部分的动态进行分析和描述，并给出运动方程。</a:t>
            </a:r>
          </a:p>
        </p:txBody>
      </p:sp>
      <p:grpSp>
        <p:nvGrpSpPr>
          <p:cNvPr id="18" name="步骤2">
            <a:extLst>
              <a:ext uri="{FF2B5EF4-FFF2-40B4-BE49-F238E27FC236}">
                <a16:creationId xmlns:a16="http://schemas.microsoft.com/office/drawing/2014/main" id="{4BAA0C96-124B-71AF-7243-B3F9D16E9062}"/>
              </a:ext>
            </a:extLst>
          </p:cNvPr>
          <p:cNvGrpSpPr/>
          <p:nvPr/>
        </p:nvGrpSpPr>
        <p:grpSpPr>
          <a:xfrm>
            <a:off x="250838" y="2023415"/>
            <a:ext cx="4675472" cy="725177"/>
            <a:chOff x="4943078" y="1700704"/>
            <a:chExt cx="4675472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3A311701-FA6C-A933-DCB3-24B6EC0C474A}"/>
                </a:ext>
              </a:extLst>
            </p:cNvPr>
            <p:cNvSpPr/>
            <p:nvPr/>
          </p:nvSpPr>
          <p:spPr bwMode="auto">
            <a:xfrm>
              <a:off x="5417690" y="1750121"/>
              <a:ext cx="4200860" cy="646986"/>
            </a:xfrm>
            <a:prstGeom prst="roundRect">
              <a:avLst/>
            </a:prstGeom>
            <a:solidFill>
              <a:srgbClr val="0070C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 热力学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: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热力学定律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BC04559B-6E9D-D96C-9EBF-8B5A912579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0070C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C853F7D3-8A71-4C8F-2F7F-6036BAAA46D0}"/>
              </a:ext>
            </a:extLst>
          </p:cNvPr>
          <p:cNvSpPr txBox="1"/>
          <p:nvPr/>
        </p:nvSpPr>
        <p:spPr>
          <a:xfrm>
            <a:off x="250838" y="2996952"/>
            <a:ext cx="114650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3B2"/>
                </a:solidFill>
                <a:latin typeface="+mn-ea"/>
              </a:rPr>
              <a:t>第零定律 </a:t>
            </a:r>
            <a:r>
              <a:rPr lang="zh-CN" altLang="en-US" sz="2400" dirty="0">
                <a:latin typeface="+mn-ea"/>
              </a:rPr>
              <a:t>若两个热力学系统均与第三个系统处于热平衡状态，此两个系统也必互相处于热平衡。</a:t>
            </a:r>
          </a:p>
          <a:p>
            <a:r>
              <a:rPr lang="zh-CN" altLang="en-US" sz="2400" dirty="0">
                <a:solidFill>
                  <a:srgbClr val="3333B2"/>
                </a:solidFill>
                <a:latin typeface="+mn-ea"/>
              </a:rPr>
              <a:t>第一定律 </a:t>
            </a:r>
            <a:r>
              <a:rPr lang="zh-CN" altLang="en-US" sz="2400" dirty="0">
                <a:latin typeface="+mn-ea"/>
              </a:rPr>
              <a:t>物体内能的增加等于物体吸收的热量和对物体所作的功的总和</a:t>
            </a:r>
            <a:r>
              <a:rPr lang="en-US" altLang="zh-CN" sz="2400" dirty="0">
                <a:latin typeface="+mn-ea"/>
              </a:rPr>
              <a:t>.(</a:t>
            </a:r>
            <a:r>
              <a:rPr lang="zh-CN" altLang="en-US" sz="2400" dirty="0">
                <a:latin typeface="+mn-ea"/>
              </a:rPr>
              <a:t>系统经过绝 热循环，其所做的功为零，因此第一类永动机是不可能的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即不消耗能量做功 的机械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。</a:t>
            </a:r>
          </a:p>
          <a:p>
            <a:r>
              <a:rPr lang="zh-CN" altLang="en-US" sz="2400" dirty="0">
                <a:solidFill>
                  <a:srgbClr val="3333B2"/>
                </a:solidFill>
                <a:latin typeface="+mn-ea"/>
              </a:rPr>
              <a:t>第二定律 </a:t>
            </a:r>
            <a:r>
              <a:rPr lang="zh-CN" altLang="en-US" sz="2400" dirty="0">
                <a:latin typeface="+mn-ea"/>
              </a:rPr>
              <a:t>孤立系统自发地朝着热力学平衡方向 最大熵状态 演化，同样地，第二类 永动机永不可能实现。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不可能从单一热源吸取热量，使之完全变为有用功而 不产生其他影响</a:t>
            </a:r>
            <a:r>
              <a:rPr lang="en-US" altLang="zh-CN" sz="2400" dirty="0">
                <a:latin typeface="+mn-ea"/>
              </a:rPr>
              <a:t>)</a:t>
            </a:r>
          </a:p>
          <a:p>
            <a:r>
              <a:rPr lang="zh-CN" altLang="en-US" sz="2400" dirty="0">
                <a:solidFill>
                  <a:srgbClr val="3333B2"/>
                </a:solidFill>
                <a:latin typeface="+mn-ea"/>
              </a:rPr>
              <a:t>第三定律 </a:t>
            </a:r>
            <a:r>
              <a:rPr lang="zh-CN" altLang="en-US" sz="2400" dirty="0">
                <a:latin typeface="+mn-ea"/>
              </a:rPr>
              <a:t>热力学系统的熵在温度趋近于绝对零度时趋于定值，特别地，对于完整晶体， 这个定值为零</a:t>
            </a:r>
            <a:endParaRPr lang="zh-CN" altLang="en-US" sz="24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822622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黑箱建模（实验法）</a:t>
            </a:r>
          </a:p>
        </p:txBody>
      </p: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8" y="980595"/>
            <a:ext cx="114011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根据系统辨识</a:t>
            </a:r>
            <a:r>
              <a:rPr lang="zh-CN" altLang="en-US" sz="2800" dirty="0">
                <a:latin typeface="+mn-ea"/>
              </a:rPr>
              <a:t> 给系统添加测试信号，记录输出响应，使用数学模型逼近。</a:t>
            </a:r>
          </a:p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神经网络</a:t>
            </a:r>
            <a:r>
              <a:rPr lang="zh-CN" altLang="en-US" sz="2800" dirty="0">
                <a:latin typeface="+mn-ea"/>
              </a:rPr>
              <a:t> 训练网络权值，最小化输出的最小二乘误差。神经网络建模可看做系统辨识的特例。</a:t>
            </a:r>
            <a:endParaRPr lang="en-US" altLang="zh-CN" sz="2800" dirty="0">
              <a:latin typeface="+mn-ea"/>
            </a:endParaRPr>
          </a:p>
          <a:p>
            <a:endParaRPr lang="zh-CN" altLang="en-US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系统辨识已经形成了一门独立的学科。本章重点研究分析法。使用物理、化学定律对系统各部分的动态进行分析和描述，并给出运动方程。</a:t>
            </a:r>
          </a:p>
        </p:txBody>
      </p:sp>
    </p:spTree>
    <p:extLst>
      <p:ext uri="{BB962C8B-B14F-4D97-AF65-F5344CB8AC3E}">
        <p14:creationId xmlns:p14="http://schemas.microsoft.com/office/powerpoint/2010/main" val="234523214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控制理论中的系统模型</a:t>
            </a:r>
          </a:p>
        </p:txBody>
      </p: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8" y="980595"/>
            <a:ext cx="114011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数学模型 </a:t>
            </a:r>
            <a:endParaRPr lang="en-US" altLang="zh-CN" sz="2800" dirty="0">
              <a:solidFill>
                <a:schemeClr val="accent1"/>
              </a:solidFill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系统内各变量之间的关系 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静态 → 各阶导数为零 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动态 → 各阶变量之间关系</a:t>
            </a:r>
          </a:p>
        </p:txBody>
      </p:sp>
      <p:sp>
        <p:nvSpPr>
          <p:cNvPr id="2" name="说明">
            <a:extLst>
              <a:ext uri="{FF2B5EF4-FFF2-40B4-BE49-F238E27FC236}">
                <a16:creationId xmlns:a16="http://schemas.microsoft.com/office/drawing/2014/main" id="{55200D83-DACA-C042-23E5-27EFB79768E3}"/>
              </a:ext>
            </a:extLst>
          </p:cNvPr>
          <p:cNvSpPr txBox="1"/>
          <p:nvPr/>
        </p:nvSpPr>
        <p:spPr>
          <a:xfrm>
            <a:off x="250837" y="2923196"/>
            <a:ext cx="114011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数学模型的类型</a:t>
            </a:r>
          </a:p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时域 </a:t>
            </a:r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" altLang="zh-CN" sz="2800" dirty="0">
                <a:solidFill>
                  <a:schemeClr val="accent1"/>
                </a:solidFill>
                <a:latin typeface="+mn-ea"/>
              </a:rPr>
              <a:t>t) </a:t>
            </a:r>
            <a:r>
              <a:rPr lang="zh-CN" altLang="en-US" sz="2800" dirty="0">
                <a:latin typeface="+mn-ea"/>
              </a:rPr>
              <a:t>微分方程，差分方程，状态方程</a:t>
            </a:r>
          </a:p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复数域 </a:t>
            </a:r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n" altLang="zh-CN" sz="2800" dirty="0">
                <a:solidFill>
                  <a:schemeClr val="accent1"/>
                </a:solidFill>
                <a:latin typeface="+mn-ea"/>
              </a:rPr>
              <a:t>s) </a:t>
            </a:r>
            <a:r>
              <a:rPr lang="zh-CN" altLang="en-US" sz="2800" dirty="0">
                <a:latin typeface="+mn-ea"/>
              </a:rPr>
              <a:t>传递函数，结构图 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频率域 </a:t>
            </a:r>
            <a:r>
              <a:rPr lang="en-US" altLang="zh-CN" sz="2800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el-GR" altLang="zh-CN" sz="2800" dirty="0">
                <a:solidFill>
                  <a:schemeClr val="accent1"/>
                </a:solidFill>
                <a:latin typeface="+mn-ea"/>
              </a:rPr>
              <a:t>ω) </a:t>
            </a:r>
            <a:r>
              <a:rPr lang="zh-CN" altLang="en-US" sz="2800" dirty="0">
                <a:latin typeface="+mn-ea"/>
              </a:rPr>
              <a:t>频率特性</a:t>
            </a:r>
          </a:p>
        </p:txBody>
      </p:sp>
    </p:spTree>
    <p:extLst>
      <p:ext uri="{BB962C8B-B14F-4D97-AF65-F5344CB8AC3E}">
        <p14:creationId xmlns:p14="http://schemas.microsoft.com/office/powerpoint/2010/main" val="907761322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控制系统的微分方程</a:t>
            </a:r>
          </a:p>
        </p:txBody>
      </p:sp>
      <p:sp>
        <p:nvSpPr>
          <p:cNvPr id="2" name="说明">
            <a:extLst>
              <a:ext uri="{FF2B5EF4-FFF2-40B4-BE49-F238E27FC236}">
                <a16:creationId xmlns:a16="http://schemas.microsoft.com/office/drawing/2014/main" id="{55200D83-DACA-C042-23E5-27EFB79768E3}"/>
              </a:ext>
            </a:extLst>
          </p:cNvPr>
          <p:cNvSpPr txBox="1"/>
          <p:nvPr/>
        </p:nvSpPr>
        <p:spPr>
          <a:xfrm>
            <a:off x="478582" y="1125128"/>
            <a:ext cx="57723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线性定常系统微分方程的一般形式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B49D84-ED98-538F-BFF4-726E55DEF3BB}"/>
              </a:ext>
            </a:extLst>
          </p:cNvPr>
          <p:cNvGrpSpPr/>
          <p:nvPr/>
        </p:nvGrpSpPr>
        <p:grpSpPr>
          <a:xfrm>
            <a:off x="7103318" y="631374"/>
            <a:ext cx="4120748" cy="913442"/>
            <a:chOff x="7422779" y="758619"/>
            <a:chExt cx="4120748" cy="91344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AF4B278-2948-9D26-61CB-674AC2300656}"/>
                </a:ext>
              </a:extLst>
            </p:cNvPr>
            <p:cNvSpPr/>
            <p:nvPr/>
          </p:nvSpPr>
          <p:spPr>
            <a:xfrm>
              <a:off x="8346696" y="1096061"/>
              <a:ext cx="2285014" cy="57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tx1"/>
                  </a:solidFill>
                </a:rPr>
                <a:t>System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1直线箭头连接符3">
              <a:extLst>
                <a:ext uri="{FF2B5EF4-FFF2-40B4-BE49-F238E27FC236}">
                  <a16:creationId xmlns:a16="http://schemas.microsoft.com/office/drawing/2014/main" id="{B4929209-3A0A-DC7C-DC7B-8DCEAAF1B41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0631710" y="1384061"/>
              <a:ext cx="30727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1直线箭头连接符3">
              <a:extLst>
                <a:ext uri="{FF2B5EF4-FFF2-40B4-BE49-F238E27FC236}">
                  <a16:creationId xmlns:a16="http://schemas.microsoft.com/office/drawing/2014/main" id="{9F34A396-D703-3C28-2C26-BD5C7B7AAA6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7770632" y="1384061"/>
              <a:ext cx="57606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1Ui">
                  <a:extLst>
                    <a:ext uri="{FF2B5EF4-FFF2-40B4-BE49-F238E27FC236}">
                      <a16:creationId xmlns:a16="http://schemas.microsoft.com/office/drawing/2014/main" id="{C209351F-CDF7-CB73-856F-114F344A2F43}"/>
                    </a:ext>
                  </a:extLst>
                </p:cNvPr>
                <p:cNvSpPr txBox="1"/>
                <p:nvPr/>
              </p:nvSpPr>
              <p:spPr>
                <a:xfrm>
                  <a:off x="7422779" y="778396"/>
                  <a:ext cx="9959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1Ui">
                  <a:extLst>
                    <a:ext uri="{FF2B5EF4-FFF2-40B4-BE49-F238E27FC236}">
                      <a16:creationId xmlns:a16="http://schemas.microsoft.com/office/drawing/2014/main" id="{BDE3717E-EEE9-2674-420F-BE837F1DD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2779" y="778396"/>
                  <a:ext cx="995925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1Ui">
                  <a:extLst>
                    <a:ext uri="{FF2B5EF4-FFF2-40B4-BE49-F238E27FC236}">
                      <a16:creationId xmlns:a16="http://schemas.microsoft.com/office/drawing/2014/main" id="{D83ACDBA-8D69-0C5E-94D2-244B38FFE579}"/>
                    </a:ext>
                  </a:extLst>
                </p:cNvPr>
                <p:cNvSpPr txBox="1"/>
                <p:nvPr/>
              </p:nvSpPr>
              <p:spPr>
                <a:xfrm>
                  <a:off x="10614476" y="758619"/>
                  <a:ext cx="9290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1Ui">
                  <a:extLst>
                    <a:ext uri="{FF2B5EF4-FFF2-40B4-BE49-F238E27FC236}">
                      <a16:creationId xmlns:a16="http://schemas.microsoft.com/office/drawing/2014/main" id="{CB337888-AE40-C6D9-A63F-96770CA7F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4476" y="758619"/>
                  <a:ext cx="929051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公式1">
                <a:extLst>
                  <a:ext uri="{FF2B5EF4-FFF2-40B4-BE49-F238E27FC236}">
                    <a16:creationId xmlns:a16="http://schemas.microsoft.com/office/drawing/2014/main" id="{1346CC9E-B84D-6CD8-C29B-CCE2789C8585}"/>
                  </a:ext>
                </a:extLst>
              </p:cNvPr>
              <p:cNvSpPr txBox="1"/>
              <p:nvPr/>
            </p:nvSpPr>
            <p:spPr>
              <a:xfrm>
                <a:off x="334566" y="1827422"/>
                <a:ext cx="11064033" cy="1819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公式1">
                <a:extLst>
                  <a:ext uri="{FF2B5EF4-FFF2-40B4-BE49-F238E27FC236}">
                    <a16:creationId xmlns:a16="http://schemas.microsoft.com/office/drawing/2014/main" id="{1346CC9E-B84D-6CD8-C29B-CCE2789C8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1827422"/>
                <a:ext cx="11064033" cy="1819729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说明">
            <a:extLst>
              <a:ext uri="{FF2B5EF4-FFF2-40B4-BE49-F238E27FC236}">
                <a16:creationId xmlns:a16="http://schemas.microsoft.com/office/drawing/2014/main" id="{615A93A5-9B52-CCAE-C854-43AB489500DC}"/>
              </a:ext>
            </a:extLst>
          </p:cNvPr>
          <p:cNvSpPr txBox="1"/>
          <p:nvPr/>
        </p:nvSpPr>
        <p:spPr>
          <a:xfrm>
            <a:off x="333025" y="4300202"/>
            <a:ext cx="114011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n-ea"/>
              </a:rPr>
              <a:t> 建立微分方程的一般步骤</a:t>
            </a:r>
            <a:endParaRPr lang="en-US" altLang="zh-CN" sz="2800" dirty="0">
              <a:solidFill>
                <a:schemeClr val="accent1"/>
              </a:solidFill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确定输入量、输出量和扰动量，并根据需要引进一些中间变量。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根据物理或化学定律，列出微分方程。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+mn-ea"/>
              </a:rPr>
              <a:t>消去中间变量后得到描述输出量与输入量 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包括扰动量</a:t>
            </a:r>
            <a:r>
              <a:rPr lang="en-US" altLang="zh-CN" sz="2800" dirty="0">
                <a:latin typeface="+mn-ea"/>
              </a:rPr>
              <a:t>) </a:t>
            </a:r>
            <a:r>
              <a:rPr lang="zh-CN" altLang="en-US" sz="2800" dirty="0">
                <a:latin typeface="+mn-ea"/>
              </a:rPr>
              <a:t>关系的微分方程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标准形式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。</a:t>
            </a:r>
          </a:p>
        </p:txBody>
      </p:sp>
      <p:pic>
        <p:nvPicPr>
          <p:cNvPr id="6145" name="Picture 1" descr="page8image60444528">
            <a:extLst>
              <a:ext uri="{FF2B5EF4-FFF2-40B4-BE49-F238E27FC236}">
                <a16:creationId xmlns:a16="http://schemas.microsoft.com/office/drawing/2014/main" id="{68FD9E2F-0457-4A03-290A-5C44EAE9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80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51885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LC方程">
                <a:extLst>
                  <a:ext uri="{FF2B5EF4-FFF2-40B4-BE49-F238E27FC236}">
                    <a16:creationId xmlns:a16="http://schemas.microsoft.com/office/drawing/2014/main" id="{102AB8FB-79BE-274F-4002-7B80E33AFBF2}"/>
                  </a:ext>
                </a:extLst>
              </p:cNvPr>
              <p:cNvSpPr txBox="1"/>
              <p:nvPr/>
            </p:nvSpPr>
            <p:spPr>
              <a:xfrm>
                <a:off x="542018" y="4933151"/>
                <a:ext cx="6624537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RLC方程">
                <a:extLst>
                  <a:ext uri="{FF2B5EF4-FFF2-40B4-BE49-F238E27FC236}">
                    <a16:creationId xmlns:a16="http://schemas.microsoft.com/office/drawing/2014/main" id="{102AB8FB-79BE-274F-4002-7B80E33AF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18" y="4933151"/>
                <a:ext cx="6624537" cy="956929"/>
              </a:xfrm>
              <a:prstGeom prst="rect">
                <a:avLst/>
              </a:prstGeom>
              <a:blipFill>
                <a:blip r:embed="rId2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串联电路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6EFC5D0-5DE2-B3B6-DE67-55AA78A0FAD5}"/>
              </a:ext>
            </a:extLst>
          </p:cNvPr>
          <p:cNvGrpSpPr/>
          <p:nvPr/>
        </p:nvGrpSpPr>
        <p:grpSpPr>
          <a:xfrm>
            <a:off x="6342228" y="855876"/>
            <a:ext cx="5233734" cy="2171491"/>
            <a:chOff x="4071937" y="2065088"/>
            <a:chExt cx="5233734" cy="2171491"/>
          </a:xfrm>
        </p:grpSpPr>
        <p:sp>
          <p:nvSpPr>
            <p:cNvPr id="8" name="端点1">
              <a:extLst>
                <a:ext uri="{FF2B5EF4-FFF2-40B4-BE49-F238E27FC236}">
                  <a16:creationId xmlns:a16="http://schemas.microsoft.com/office/drawing/2014/main" id="{FF8477B9-20D6-E2B9-69C4-74B2B3B9A91F}"/>
                </a:ext>
              </a:extLst>
            </p:cNvPr>
            <p:cNvSpPr/>
            <p:nvPr/>
          </p:nvSpPr>
          <p:spPr>
            <a:xfrm>
              <a:off x="4499720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" name="端点2">
              <a:extLst>
                <a:ext uri="{FF2B5EF4-FFF2-40B4-BE49-F238E27FC236}">
                  <a16:creationId xmlns:a16="http://schemas.microsoft.com/office/drawing/2014/main" id="{518A35CD-09FB-B76D-C063-DBEDD3EE51E2}"/>
                </a:ext>
              </a:extLst>
            </p:cNvPr>
            <p:cNvSpPr/>
            <p:nvPr/>
          </p:nvSpPr>
          <p:spPr>
            <a:xfrm>
              <a:off x="4499720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" name="端点3">
              <a:extLst>
                <a:ext uri="{FF2B5EF4-FFF2-40B4-BE49-F238E27FC236}">
                  <a16:creationId xmlns:a16="http://schemas.microsoft.com/office/drawing/2014/main" id="{DEAEC447-8BA0-904F-DC8D-5140ED211A1E}"/>
                </a:ext>
              </a:extLst>
            </p:cNvPr>
            <p:cNvSpPr/>
            <p:nvPr/>
          </p:nvSpPr>
          <p:spPr>
            <a:xfrm>
              <a:off x="8508193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" name="端点4">
              <a:extLst>
                <a:ext uri="{FF2B5EF4-FFF2-40B4-BE49-F238E27FC236}">
                  <a16:creationId xmlns:a16="http://schemas.microsoft.com/office/drawing/2014/main" id="{EB471E78-849F-B889-DEB6-AA97E61D861F}"/>
                </a:ext>
              </a:extLst>
            </p:cNvPr>
            <p:cNvSpPr/>
            <p:nvPr/>
          </p:nvSpPr>
          <p:spPr>
            <a:xfrm>
              <a:off x="8508193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13" name="电容">
              <a:extLst>
                <a:ext uri="{FF2B5EF4-FFF2-40B4-BE49-F238E27FC236}">
                  <a16:creationId xmlns:a16="http://schemas.microsoft.com/office/drawing/2014/main" id="{EB077ED3-C8EE-E150-606C-3169009C7D99}"/>
                </a:ext>
              </a:extLst>
            </p:cNvPr>
            <p:cNvGrpSpPr/>
            <p:nvPr/>
          </p:nvGrpSpPr>
          <p:grpSpPr>
            <a:xfrm rot="5400000">
              <a:off x="7853495" y="3190799"/>
              <a:ext cx="144016" cy="361079"/>
              <a:chOff x="4367014" y="3067921"/>
              <a:chExt cx="144016" cy="361079"/>
            </a:xfrm>
          </p:grpSpPr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B4CD700C-EBBC-4D64-C992-8688AE65B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连接符 34">
                <a:extLst>
                  <a:ext uri="{FF2B5EF4-FFF2-40B4-BE49-F238E27FC236}">
                    <a16:creationId xmlns:a16="http://schemas.microsoft.com/office/drawing/2014/main" id="{72F24D4C-86DA-0A4A-2291-C20B18B53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电线1">
              <a:extLst>
                <a:ext uri="{FF2B5EF4-FFF2-40B4-BE49-F238E27FC236}">
                  <a16:creationId xmlns:a16="http://schemas.microsoft.com/office/drawing/2014/main" id="{7439B5F8-CF89-0A1F-024C-0E02C45E4465}"/>
                </a:ext>
              </a:extLst>
            </p:cNvPr>
            <p:cNvCxnSpPr>
              <a:cxnSpLocks/>
              <a:stCxn id="8" idx="6"/>
              <a:endCxn id="49" idx="0"/>
            </p:cNvCxnSpPr>
            <p:nvPr/>
          </p:nvCxnSpPr>
          <p:spPr>
            <a:xfrm>
              <a:off x="4679720" y="2655596"/>
              <a:ext cx="767414" cy="3563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电线3">
              <a:extLst>
                <a:ext uri="{FF2B5EF4-FFF2-40B4-BE49-F238E27FC236}">
                  <a16:creationId xmlns:a16="http://schemas.microsoft.com/office/drawing/2014/main" id="{DB7CACB2-5D17-34AA-0041-F6D098A927A2}"/>
                </a:ext>
              </a:extLst>
            </p:cNvPr>
            <p:cNvCxnSpPr>
              <a:cxnSpLocks/>
              <a:stCxn id="12" idx="3"/>
              <a:endCxn id="10" idx="2"/>
            </p:cNvCxnSpPr>
            <p:nvPr/>
          </p:nvCxnSpPr>
          <p:spPr>
            <a:xfrm flipV="1">
              <a:off x="7463358" y="2655596"/>
              <a:ext cx="1044835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电线6">
              <a:extLst>
                <a:ext uri="{FF2B5EF4-FFF2-40B4-BE49-F238E27FC236}">
                  <a16:creationId xmlns:a16="http://schemas.microsoft.com/office/drawing/2014/main" id="{3333CA30-306B-A799-84A5-EA0126E6C733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4679720" y="4146579"/>
              <a:ext cx="382847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电线2">
              <a:extLst>
                <a:ext uri="{FF2B5EF4-FFF2-40B4-BE49-F238E27FC236}">
                  <a16:creationId xmlns:a16="http://schemas.microsoft.com/office/drawing/2014/main" id="{100AFF39-1A09-524F-3D33-6AE6830A051C}"/>
                </a:ext>
              </a:extLst>
            </p:cNvPr>
            <p:cNvCxnSpPr>
              <a:cxnSpLocks/>
              <a:stCxn id="49" idx="9"/>
              <a:endCxn id="12" idx="1"/>
            </p:cNvCxnSpPr>
            <p:nvPr/>
          </p:nvCxnSpPr>
          <p:spPr>
            <a:xfrm>
              <a:off x="6232122" y="2659278"/>
              <a:ext cx="583164" cy="35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电线4">
              <a:extLst>
                <a:ext uri="{FF2B5EF4-FFF2-40B4-BE49-F238E27FC236}">
                  <a16:creationId xmlns:a16="http://schemas.microsoft.com/office/drawing/2014/main" id="{5277658F-EF47-298A-FD10-DBEC7DF82D76}"/>
                </a:ext>
              </a:extLst>
            </p:cNvPr>
            <p:cNvCxnSpPr/>
            <p:nvPr/>
          </p:nvCxnSpPr>
          <p:spPr>
            <a:xfrm>
              <a:off x="7924984" y="2657377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电线5">
              <a:extLst>
                <a:ext uri="{FF2B5EF4-FFF2-40B4-BE49-F238E27FC236}">
                  <a16:creationId xmlns:a16="http://schemas.microsoft.com/office/drawing/2014/main" id="{725BFBB7-9072-07DF-1338-DD3BF1572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8580" y="3443347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ur">
                  <a:extLst>
                    <a:ext uri="{FF2B5EF4-FFF2-40B4-BE49-F238E27FC236}">
                      <a16:creationId xmlns:a16="http://schemas.microsoft.com/office/drawing/2014/main" id="{6D0883A0-10F7-E997-F047-1EE2941C2065}"/>
                    </a:ext>
                  </a:extLst>
                </p:cNvPr>
                <p:cNvSpPr txBox="1"/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2" name="ur">
                  <a:extLst>
                    <a:ext uri="{FF2B5EF4-FFF2-40B4-BE49-F238E27FC236}">
                      <a16:creationId xmlns:a16="http://schemas.microsoft.com/office/drawing/2014/main" id="{6D0883A0-10F7-E997-F047-1EE2941C2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1765" r="-5882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uc">
                  <a:extLst>
                    <a:ext uri="{FF2B5EF4-FFF2-40B4-BE49-F238E27FC236}">
                      <a16:creationId xmlns:a16="http://schemas.microsoft.com/office/drawing/2014/main" id="{711FCB94-39EC-F582-130A-94A222BF055D}"/>
                    </a:ext>
                  </a:extLst>
                </p:cNvPr>
                <p:cNvSpPr txBox="1"/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3" name="uc">
                  <a:extLst>
                    <a:ext uri="{FF2B5EF4-FFF2-40B4-BE49-F238E27FC236}">
                      <a16:creationId xmlns:a16="http://schemas.microsoft.com/office/drawing/2014/main" id="{711FCB94-39EC-F582-130A-94A222BF0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">
                  <a:extLst>
                    <a:ext uri="{FF2B5EF4-FFF2-40B4-BE49-F238E27FC236}">
                      <a16:creationId xmlns:a16="http://schemas.microsoft.com/office/drawing/2014/main" id="{EC433FC4-31A6-506B-6913-F76A3BDC4850}"/>
                    </a:ext>
                  </a:extLst>
                </p:cNvPr>
                <p:cNvSpPr txBox="1"/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4" name="R">
                  <a:extLst>
                    <a:ext uri="{FF2B5EF4-FFF2-40B4-BE49-F238E27FC236}">
                      <a16:creationId xmlns:a16="http://schemas.microsoft.com/office/drawing/2014/main" id="{EC433FC4-31A6-506B-6913-F76A3BDC4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blipFill>
                  <a:blip r:embed="rId5"/>
                  <a:stretch>
                    <a:fillRect l="-2703" r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L">
                  <a:extLst>
                    <a:ext uri="{FF2B5EF4-FFF2-40B4-BE49-F238E27FC236}">
                      <a16:creationId xmlns:a16="http://schemas.microsoft.com/office/drawing/2014/main" id="{D3EFA0A3-CE92-DFDB-9E23-50659CD8C45F}"/>
                    </a:ext>
                  </a:extLst>
                </p:cNvPr>
                <p:cNvSpPr txBox="1"/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4" name="L">
                  <a:extLst>
                    <a:ext uri="{FF2B5EF4-FFF2-40B4-BE49-F238E27FC236}">
                      <a16:creationId xmlns:a16="http://schemas.microsoft.com/office/drawing/2014/main" id="{D3EFA0A3-CE92-DFDB-9E23-50659CD8C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blipFill>
                  <a:blip r:embed="rId6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">
                  <a:extLst>
                    <a:ext uri="{FF2B5EF4-FFF2-40B4-BE49-F238E27FC236}">
                      <a16:creationId xmlns:a16="http://schemas.microsoft.com/office/drawing/2014/main" id="{A96766FE-3C58-810F-3FD6-B9C5D4189DE3}"/>
                    </a:ext>
                  </a:extLst>
                </p:cNvPr>
                <p:cNvSpPr txBox="1"/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6" name="C">
                  <a:extLst>
                    <a:ext uri="{FF2B5EF4-FFF2-40B4-BE49-F238E27FC236}">
                      <a16:creationId xmlns:a16="http://schemas.microsoft.com/office/drawing/2014/main" id="{A96766FE-3C58-810F-3FD6-B9C5D4189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3077" r="-19231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D5BEBB02-7A8A-9794-4828-2E3D5F1642E5}"/>
                    </a:ext>
                  </a:extLst>
                </p:cNvPr>
                <p:cNvSpPr txBox="1"/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D5BEBB02-7A8A-9794-4828-2E3D5F164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电阻R">
              <a:extLst>
                <a:ext uri="{FF2B5EF4-FFF2-40B4-BE49-F238E27FC236}">
                  <a16:creationId xmlns:a16="http://schemas.microsoft.com/office/drawing/2014/main" id="{8BD51B80-0A11-8EDF-E11C-E1A9877E8E6B}"/>
                </a:ext>
              </a:extLst>
            </p:cNvPr>
            <p:cNvSpPr/>
            <p:nvPr/>
          </p:nvSpPr>
          <p:spPr>
            <a:xfrm>
              <a:off x="6815286" y="2551616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9" name="电感L">
              <a:extLst>
                <a:ext uri="{FF2B5EF4-FFF2-40B4-BE49-F238E27FC236}">
                  <a16:creationId xmlns:a16="http://schemas.microsoft.com/office/drawing/2014/main" id="{ACB799BA-675A-2BF0-B25F-6FEF5D946179}"/>
                </a:ext>
              </a:extLst>
            </p:cNvPr>
            <p:cNvSpPr/>
            <p:nvPr/>
          </p:nvSpPr>
          <p:spPr>
            <a:xfrm>
              <a:off x="5447134" y="2540332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电流">
              <a:extLst>
                <a:ext uri="{FF2B5EF4-FFF2-40B4-BE49-F238E27FC236}">
                  <a16:creationId xmlns:a16="http://schemas.microsoft.com/office/drawing/2014/main" id="{D392D69D-2A1B-868F-36B4-DDDD8520C79D}"/>
                </a:ext>
              </a:extLst>
            </p:cNvPr>
            <p:cNvSpPr/>
            <p:nvPr/>
          </p:nvSpPr>
          <p:spPr>
            <a:xfrm>
              <a:off x="5262605" y="2997214"/>
              <a:ext cx="846667" cy="846667"/>
            </a:xfrm>
            <a:prstGeom prst="arc">
              <a:avLst>
                <a:gd name="adj1" fmla="val 16200000"/>
                <a:gd name="adj2" fmla="val 9886415"/>
              </a:avLst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0" name="uc线">
              <a:extLst>
                <a:ext uri="{FF2B5EF4-FFF2-40B4-BE49-F238E27FC236}">
                  <a16:creationId xmlns:a16="http://schemas.microsoft.com/office/drawing/2014/main" id="{F7AFD774-B465-885B-04EE-9E22DD8884DE}"/>
                </a:ext>
              </a:extLst>
            </p:cNvPr>
            <p:cNvCxnSpPr>
              <a:stCxn id="10" idx="4"/>
              <a:endCxn id="11" idx="0"/>
            </p:cNvCxnSpPr>
            <p:nvPr/>
          </p:nvCxnSpPr>
          <p:spPr>
            <a:xfrm>
              <a:off x="8598193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ur线">
              <a:extLst>
                <a:ext uri="{FF2B5EF4-FFF2-40B4-BE49-F238E27FC236}">
                  <a16:creationId xmlns:a16="http://schemas.microsoft.com/office/drawing/2014/main" id="{2519F32F-DB8D-2CE6-D34B-A550BEF135F7}"/>
                </a:ext>
              </a:extLst>
            </p:cNvPr>
            <p:cNvCxnSpPr/>
            <p:nvPr/>
          </p:nvCxnSpPr>
          <p:spPr>
            <a:xfrm>
              <a:off x="4589720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说明">
            <a:extLst>
              <a:ext uri="{FF2B5EF4-FFF2-40B4-BE49-F238E27FC236}">
                <a16:creationId xmlns:a16="http://schemas.microsoft.com/office/drawing/2014/main" id="{DD53DF7A-A01D-20E1-3820-EB49EF0A2C5F}"/>
              </a:ext>
            </a:extLst>
          </p:cNvPr>
          <p:cNvSpPr txBox="1"/>
          <p:nvPr/>
        </p:nvSpPr>
        <p:spPr>
          <a:xfrm>
            <a:off x="250839" y="980595"/>
            <a:ext cx="3612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由基尔霍夫定律得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LC方程">
                <a:extLst>
                  <a:ext uri="{FF2B5EF4-FFF2-40B4-BE49-F238E27FC236}">
                    <a16:creationId xmlns:a16="http://schemas.microsoft.com/office/drawing/2014/main" id="{251B09A8-F86A-E024-70FB-E6E4BEE02CE5}"/>
                  </a:ext>
                </a:extLst>
              </p:cNvPr>
              <p:cNvSpPr txBox="1"/>
              <p:nvPr/>
            </p:nvSpPr>
            <p:spPr>
              <a:xfrm>
                <a:off x="453854" y="3277991"/>
                <a:ext cx="3024337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" name="RLC方程">
                <a:extLst>
                  <a:ext uri="{FF2B5EF4-FFF2-40B4-BE49-F238E27FC236}">
                    <a16:creationId xmlns:a16="http://schemas.microsoft.com/office/drawing/2014/main" id="{251B09A8-F86A-E024-70FB-E6E4BEE02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54" y="3277991"/>
                <a:ext cx="3024337" cy="910377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LC方程">
                <a:extLst>
                  <a:ext uri="{FF2B5EF4-FFF2-40B4-BE49-F238E27FC236}">
                    <a16:creationId xmlns:a16="http://schemas.microsoft.com/office/drawing/2014/main" id="{47CBAF54-534A-350C-95DD-F94D55C36E83}"/>
                  </a:ext>
                </a:extLst>
              </p:cNvPr>
              <p:cNvSpPr txBox="1"/>
              <p:nvPr/>
            </p:nvSpPr>
            <p:spPr>
              <a:xfrm>
                <a:off x="478655" y="2114014"/>
                <a:ext cx="5357088" cy="928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𝑅𝑖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" name="RLC方程">
                <a:extLst>
                  <a:ext uri="{FF2B5EF4-FFF2-40B4-BE49-F238E27FC236}">
                    <a16:creationId xmlns:a16="http://schemas.microsoft.com/office/drawing/2014/main" id="{47CBAF54-534A-350C-95DD-F94D55C36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55" y="2114014"/>
                <a:ext cx="5357088" cy="928524"/>
              </a:xfrm>
              <a:prstGeom prst="rect">
                <a:avLst/>
              </a:prstGeom>
              <a:blipFill>
                <a:blip r:embed="rId10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说明1">
                <a:extLst>
                  <a:ext uri="{FF2B5EF4-FFF2-40B4-BE49-F238E27FC236}">
                    <a16:creationId xmlns:a16="http://schemas.microsoft.com/office/drawing/2014/main" id="{99CE9EE8-27A0-D666-45A6-8E8BCC7D142A}"/>
                  </a:ext>
                </a:extLst>
              </p:cNvPr>
              <p:cNvSpPr txBox="1"/>
              <p:nvPr/>
            </p:nvSpPr>
            <p:spPr>
              <a:xfrm>
                <a:off x="634615" y="4377362"/>
                <a:ext cx="40124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消去中间变量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说明1">
                <a:extLst>
                  <a:ext uri="{FF2B5EF4-FFF2-40B4-BE49-F238E27FC236}">
                    <a16:creationId xmlns:a16="http://schemas.microsoft.com/office/drawing/2014/main" id="{99CE9EE8-27A0-D666-45A6-8E8BCC7D1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15" y="4377362"/>
                <a:ext cx="4012472" cy="523220"/>
              </a:xfrm>
              <a:prstGeom prst="rect">
                <a:avLst/>
              </a:prstGeom>
              <a:blipFill>
                <a:blip r:embed="rId11"/>
                <a:stretch>
                  <a:fillRect l="-315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149056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rev="1"/>
      <p:bldP spid="3" grpId="0"/>
      <p:bldP spid="5" grpId="0" rev="1"/>
      <p:bldP spid="6" grpId="0" rev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例：有负载效应的电路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公式1">
                <a:extLst>
                  <a:ext uri="{FF2B5EF4-FFF2-40B4-BE49-F238E27FC236}">
                    <a16:creationId xmlns:a16="http://schemas.microsoft.com/office/drawing/2014/main" id="{3A7B4A5B-80EF-C97A-58AF-3E5AB025E970}"/>
                  </a:ext>
                </a:extLst>
              </p:cNvPr>
              <p:cNvSpPr txBox="1"/>
              <p:nvPr/>
            </p:nvSpPr>
            <p:spPr>
              <a:xfrm>
                <a:off x="262674" y="5566079"/>
                <a:ext cx="10621884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4" name="公式1">
                <a:extLst>
                  <a:ext uri="{FF2B5EF4-FFF2-40B4-BE49-F238E27FC236}">
                    <a16:creationId xmlns:a16="http://schemas.microsoft.com/office/drawing/2014/main" id="{3A7B4A5B-80EF-C97A-58AF-3E5AB025E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74" y="5566079"/>
                <a:ext cx="10621884" cy="956929"/>
              </a:xfrm>
              <a:prstGeom prst="rect">
                <a:avLst/>
              </a:prstGeom>
              <a:blipFill>
                <a:blip r:embed="rId2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组合 67">
            <a:extLst>
              <a:ext uri="{FF2B5EF4-FFF2-40B4-BE49-F238E27FC236}">
                <a16:creationId xmlns:a16="http://schemas.microsoft.com/office/drawing/2014/main" id="{5B210C9D-4A03-19BB-CD20-60A44B9E5EB5}"/>
              </a:ext>
            </a:extLst>
          </p:cNvPr>
          <p:cNvGrpSpPr/>
          <p:nvPr/>
        </p:nvGrpSpPr>
        <p:grpSpPr>
          <a:xfrm>
            <a:off x="6527254" y="807857"/>
            <a:ext cx="5233734" cy="2171491"/>
            <a:chOff x="3478339" y="1007015"/>
            <a:chExt cx="5233734" cy="2171491"/>
          </a:xfrm>
        </p:grpSpPr>
        <p:sp>
          <p:nvSpPr>
            <p:cNvPr id="17" name="端点1">
              <a:extLst>
                <a:ext uri="{FF2B5EF4-FFF2-40B4-BE49-F238E27FC236}">
                  <a16:creationId xmlns:a16="http://schemas.microsoft.com/office/drawing/2014/main" id="{2871D86F-75A9-3E05-9BA1-5A00DA7F614E}"/>
                </a:ext>
              </a:extLst>
            </p:cNvPr>
            <p:cNvSpPr/>
            <p:nvPr/>
          </p:nvSpPr>
          <p:spPr>
            <a:xfrm>
              <a:off x="3906122" y="1507523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8" name="端点2">
              <a:extLst>
                <a:ext uri="{FF2B5EF4-FFF2-40B4-BE49-F238E27FC236}">
                  <a16:creationId xmlns:a16="http://schemas.microsoft.com/office/drawing/2014/main" id="{C590CF79-5C12-25D8-68B9-B1A1597A7724}"/>
                </a:ext>
              </a:extLst>
            </p:cNvPr>
            <p:cNvSpPr/>
            <p:nvPr/>
          </p:nvSpPr>
          <p:spPr>
            <a:xfrm>
              <a:off x="3906122" y="299850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0" name="端点3">
              <a:extLst>
                <a:ext uri="{FF2B5EF4-FFF2-40B4-BE49-F238E27FC236}">
                  <a16:creationId xmlns:a16="http://schemas.microsoft.com/office/drawing/2014/main" id="{6EADFE70-2C88-8677-5367-ACE52F80B4B7}"/>
                </a:ext>
              </a:extLst>
            </p:cNvPr>
            <p:cNvSpPr/>
            <p:nvPr/>
          </p:nvSpPr>
          <p:spPr>
            <a:xfrm>
              <a:off x="7914595" y="1507523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21" name="端点4">
              <a:extLst>
                <a:ext uri="{FF2B5EF4-FFF2-40B4-BE49-F238E27FC236}">
                  <a16:creationId xmlns:a16="http://schemas.microsoft.com/office/drawing/2014/main" id="{2EC13FC0-DB1B-0B44-7172-EDC94C89DD30}"/>
                </a:ext>
              </a:extLst>
            </p:cNvPr>
            <p:cNvSpPr/>
            <p:nvPr/>
          </p:nvSpPr>
          <p:spPr>
            <a:xfrm>
              <a:off x="7914595" y="299850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25" name="电线6">
              <a:extLst>
                <a:ext uri="{FF2B5EF4-FFF2-40B4-BE49-F238E27FC236}">
                  <a16:creationId xmlns:a16="http://schemas.microsoft.com/office/drawing/2014/main" id="{8FD0D140-38A9-512D-C0CB-F8538611BA49}"/>
                </a:ext>
              </a:extLst>
            </p:cNvPr>
            <p:cNvCxnSpPr>
              <a:cxnSpLocks/>
              <a:stCxn id="18" idx="6"/>
              <a:endCxn id="21" idx="2"/>
            </p:cNvCxnSpPr>
            <p:nvPr/>
          </p:nvCxnSpPr>
          <p:spPr>
            <a:xfrm>
              <a:off x="4086122" y="3088506"/>
              <a:ext cx="382847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ur">
                  <a:extLst>
                    <a:ext uri="{FF2B5EF4-FFF2-40B4-BE49-F238E27FC236}">
                      <a16:creationId xmlns:a16="http://schemas.microsoft.com/office/drawing/2014/main" id="{AF7F7246-7C46-E1C8-F48D-6CBB33621270}"/>
                    </a:ext>
                  </a:extLst>
                </p:cNvPr>
                <p:cNvSpPr txBox="1"/>
                <p:nvPr/>
              </p:nvSpPr>
              <p:spPr>
                <a:xfrm>
                  <a:off x="3478339" y="2072148"/>
                  <a:ext cx="4091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7" name="ur">
                  <a:extLst>
                    <a:ext uri="{FF2B5EF4-FFF2-40B4-BE49-F238E27FC236}">
                      <a16:creationId xmlns:a16="http://schemas.microsoft.com/office/drawing/2014/main" id="{AF7F7246-7C46-E1C8-F48D-6CBB33621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8339" y="2072148"/>
                  <a:ext cx="409135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8182" r="-3030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uc">
                  <a:extLst>
                    <a:ext uri="{FF2B5EF4-FFF2-40B4-BE49-F238E27FC236}">
                      <a16:creationId xmlns:a16="http://schemas.microsoft.com/office/drawing/2014/main" id="{8582BDF5-9432-6364-1D63-263B2BDE487C}"/>
                    </a:ext>
                  </a:extLst>
                </p:cNvPr>
                <p:cNvSpPr txBox="1"/>
                <p:nvPr/>
              </p:nvSpPr>
              <p:spPr>
                <a:xfrm>
                  <a:off x="8019905" y="2072149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9" name="uc">
                  <a:extLst>
                    <a:ext uri="{FF2B5EF4-FFF2-40B4-BE49-F238E27FC236}">
                      <a16:creationId xmlns:a16="http://schemas.microsoft.com/office/drawing/2014/main" id="{8582BDF5-9432-6364-1D63-263B2BDE4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9905" y="2072149"/>
                  <a:ext cx="692168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1BC1685-2690-AD6F-90F0-36D1818BCA63}"/>
                </a:ext>
              </a:extLst>
            </p:cNvPr>
            <p:cNvGrpSpPr/>
            <p:nvPr/>
          </p:nvGrpSpPr>
          <p:grpSpPr>
            <a:xfrm>
              <a:off x="6696665" y="1599304"/>
              <a:ext cx="815779" cy="1479194"/>
              <a:chOff x="6696665" y="1599304"/>
              <a:chExt cx="815779" cy="1479194"/>
            </a:xfrm>
          </p:grpSpPr>
          <p:grpSp>
            <p:nvGrpSpPr>
              <p:cNvPr id="31" name="电容">
                <a:extLst>
                  <a:ext uri="{FF2B5EF4-FFF2-40B4-BE49-F238E27FC236}">
                    <a16:creationId xmlns:a16="http://schemas.microsoft.com/office/drawing/2014/main" id="{A0D9B93A-0BD4-E916-0AF7-EB6FA2B10276}"/>
                  </a:ext>
                </a:extLst>
              </p:cNvPr>
              <p:cNvGrpSpPr/>
              <p:nvPr/>
            </p:nvGrpSpPr>
            <p:grpSpPr>
              <a:xfrm rot="5400000">
                <a:off x="7259897" y="2132726"/>
                <a:ext cx="144016" cy="361079"/>
                <a:chOff x="4367014" y="3067921"/>
                <a:chExt cx="144016" cy="361079"/>
              </a:xfrm>
            </p:grpSpPr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FB65BD53-9288-12EB-92BB-C11529A03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67014" y="3068960"/>
                  <a:ext cx="0" cy="360040"/>
                </a:xfrm>
                <a:prstGeom prst="line">
                  <a:avLst/>
                </a:prstGeom>
                <a:ln w="38100"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56A4BB79-B702-23BF-7AEE-0FC6FDBF5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030" y="3067921"/>
                  <a:ext cx="0" cy="360040"/>
                </a:xfrm>
                <a:prstGeom prst="line">
                  <a:avLst/>
                </a:prstGeom>
                <a:ln w="38100"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电线4">
                <a:extLst>
                  <a:ext uri="{FF2B5EF4-FFF2-40B4-BE49-F238E27FC236}">
                    <a16:creationId xmlns:a16="http://schemas.microsoft.com/office/drawing/2014/main" id="{0E9ED34A-BF06-2EF8-F433-422E06ACF4BA}"/>
                  </a:ext>
                </a:extLst>
              </p:cNvPr>
              <p:cNvCxnSpPr/>
              <p:nvPr/>
            </p:nvCxnSpPr>
            <p:spPr>
              <a:xfrm>
                <a:off x="7331386" y="1599304"/>
                <a:ext cx="0" cy="63748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电线5">
                <a:extLst>
                  <a:ext uri="{FF2B5EF4-FFF2-40B4-BE49-F238E27FC236}">
                    <a16:creationId xmlns:a16="http://schemas.microsoft.com/office/drawing/2014/main" id="{229829D6-C3E8-60F3-D509-7083DCD04F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24982" y="2385274"/>
                <a:ext cx="6404" cy="693224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2">
                    <a:extLst>
                      <a:ext uri="{FF2B5EF4-FFF2-40B4-BE49-F238E27FC236}">
                        <a16:creationId xmlns:a16="http://schemas.microsoft.com/office/drawing/2014/main" id="{06F7E514-EE8F-D819-BCA1-453712A004F6}"/>
                      </a:ext>
                    </a:extLst>
                  </p:cNvPr>
                  <p:cNvSpPr txBox="1"/>
                  <p:nvPr/>
                </p:nvSpPr>
                <p:spPr>
                  <a:xfrm>
                    <a:off x="6696665" y="2094193"/>
                    <a:ext cx="322168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35" name="C2">
                    <a:extLst>
                      <a:ext uri="{FF2B5EF4-FFF2-40B4-BE49-F238E27FC236}">
                        <a16:creationId xmlns:a16="http://schemas.microsoft.com/office/drawing/2014/main" id="{6BABE500-3289-8E39-4ABA-C6712FD76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6665" y="2094193"/>
                    <a:ext cx="322168" cy="43088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8462" r="-34615" b="-1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9" name="uc线">
              <a:extLst>
                <a:ext uri="{FF2B5EF4-FFF2-40B4-BE49-F238E27FC236}">
                  <a16:creationId xmlns:a16="http://schemas.microsoft.com/office/drawing/2014/main" id="{DE784BFC-C093-24A3-5AEE-D66A23C9AABF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>
              <a:off x="8004595" y="1687523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ur线">
              <a:extLst>
                <a:ext uri="{FF2B5EF4-FFF2-40B4-BE49-F238E27FC236}">
                  <a16:creationId xmlns:a16="http://schemas.microsoft.com/office/drawing/2014/main" id="{FF4D6755-F90E-A7F7-6C36-70796F3C62DA}"/>
                </a:ext>
              </a:extLst>
            </p:cNvPr>
            <p:cNvCxnSpPr/>
            <p:nvPr/>
          </p:nvCxnSpPr>
          <p:spPr>
            <a:xfrm>
              <a:off x="3996122" y="1687523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28D22C1-FDC5-383E-9B7D-5C4411D1E30B}"/>
                </a:ext>
              </a:extLst>
            </p:cNvPr>
            <p:cNvGrpSpPr/>
            <p:nvPr/>
          </p:nvGrpSpPr>
          <p:grpSpPr>
            <a:xfrm>
              <a:off x="5266593" y="1599305"/>
              <a:ext cx="815779" cy="1479194"/>
              <a:chOff x="5266593" y="1599305"/>
              <a:chExt cx="815779" cy="1479194"/>
            </a:xfrm>
          </p:grpSpPr>
          <p:grpSp>
            <p:nvGrpSpPr>
              <p:cNvPr id="42" name="电容">
                <a:extLst>
                  <a:ext uri="{FF2B5EF4-FFF2-40B4-BE49-F238E27FC236}">
                    <a16:creationId xmlns:a16="http://schemas.microsoft.com/office/drawing/2014/main" id="{BD713CF3-0535-3E75-5B20-FBAA86CDC6D1}"/>
                  </a:ext>
                </a:extLst>
              </p:cNvPr>
              <p:cNvGrpSpPr/>
              <p:nvPr/>
            </p:nvGrpSpPr>
            <p:grpSpPr>
              <a:xfrm rot="5400000">
                <a:off x="5829825" y="2132727"/>
                <a:ext cx="144016" cy="361079"/>
                <a:chOff x="4367014" y="3067921"/>
                <a:chExt cx="144016" cy="361079"/>
              </a:xfrm>
            </p:grpSpPr>
            <p:cxnSp>
              <p:nvCxnSpPr>
                <p:cNvPr id="46" name="直线连接符 45">
                  <a:extLst>
                    <a:ext uri="{FF2B5EF4-FFF2-40B4-BE49-F238E27FC236}">
                      <a16:creationId xmlns:a16="http://schemas.microsoft.com/office/drawing/2014/main" id="{4D2C140E-AABB-9AD3-EC1E-F4B00E10C0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67014" y="3068960"/>
                  <a:ext cx="0" cy="360040"/>
                </a:xfrm>
                <a:prstGeom prst="line">
                  <a:avLst/>
                </a:prstGeom>
                <a:ln w="38100"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线连接符 46">
                  <a:extLst>
                    <a:ext uri="{FF2B5EF4-FFF2-40B4-BE49-F238E27FC236}">
                      <a16:creationId xmlns:a16="http://schemas.microsoft.com/office/drawing/2014/main" id="{AE1CBE69-59C5-C014-C5D5-50F0A5185F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1030" y="3067921"/>
                  <a:ext cx="0" cy="360040"/>
                </a:xfrm>
                <a:prstGeom prst="line">
                  <a:avLst/>
                </a:prstGeom>
                <a:ln w="38100"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电线4">
                <a:extLst>
                  <a:ext uri="{FF2B5EF4-FFF2-40B4-BE49-F238E27FC236}">
                    <a16:creationId xmlns:a16="http://schemas.microsoft.com/office/drawing/2014/main" id="{E8C1EF0E-7029-0CCD-3606-B28A9923FE53}"/>
                  </a:ext>
                </a:extLst>
              </p:cNvPr>
              <p:cNvCxnSpPr/>
              <p:nvPr/>
            </p:nvCxnSpPr>
            <p:spPr>
              <a:xfrm>
                <a:off x="5901314" y="1599305"/>
                <a:ext cx="0" cy="63748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电线5">
                <a:extLst>
                  <a:ext uri="{FF2B5EF4-FFF2-40B4-BE49-F238E27FC236}">
                    <a16:creationId xmlns:a16="http://schemas.microsoft.com/office/drawing/2014/main" id="{A05D02F1-F4D3-7E99-641F-768AE56BE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4910" y="2385275"/>
                <a:ext cx="6404" cy="693224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1">
                    <a:extLst>
                      <a:ext uri="{FF2B5EF4-FFF2-40B4-BE49-F238E27FC236}">
                        <a16:creationId xmlns:a16="http://schemas.microsoft.com/office/drawing/2014/main" id="{AF17BFB6-0F97-3F78-ECE9-ADE1F81728A9}"/>
                      </a:ext>
                    </a:extLst>
                  </p:cNvPr>
                  <p:cNvSpPr txBox="1"/>
                  <p:nvPr/>
                </p:nvSpPr>
                <p:spPr>
                  <a:xfrm>
                    <a:off x="5266593" y="2094194"/>
                    <a:ext cx="322168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51" name="C1">
                    <a:extLst>
                      <a:ext uri="{FF2B5EF4-FFF2-40B4-BE49-F238E27FC236}">
                        <a16:creationId xmlns:a16="http://schemas.microsoft.com/office/drawing/2014/main" id="{E4E0C103-8F2A-205E-D343-DF4569FCEE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6593" y="2094194"/>
                    <a:ext cx="322168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25926" b="-1470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0313912-9F80-1B79-F5ED-489DB7C6B686}"/>
                </a:ext>
              </a:extLst>
            </p:cNvPr>
            <p:cNvGrpSpPr/>
            <p:nvPr/>
          </p:nvGrpSpPr>
          <p:grpSpPr>
            <a:xfrm>
              <a:off x="4086122" y="1007015"/>
              <a:ext cx="3828473" cy="702552"/>
              <a:chOff x="4086122" y="1007015"/>
              <a:chExt cx="3828473" cy="702552"/>
            </a:xfrm>
          </p:grpSpPr>
          <p:cxnSp>
            <p:nvCxnSpPr>
              <p:cNvPr id="50" name="电线1">
                <a:extLst>
                  <a:ext uri="{FF2B5EF4-FFF2-40B4-BE49-F238E27FC236}">
                    <a16:creationId xmlns:a16="http://schemas.microsoft.com/office/drawing/2014/main" id="{82816478-B04E-4010-0328-E12EAA58C1B7}"/>
                  </a:ext>
                </a:extLst>
              </p:cNvPr>
              <p:cNvCxnSpPr>
                <a:cxnSpLocks/>
                <a:stCxn id="17" idx="6"/>
                <a:endCxn id="56" idx="1"/>
              </p:cNvCxnSpPr>
              <p:nvPr/>
            </p:nvCxnSpPr>
            <p:spPr>
              <a:xfrm>
                <a:off x="4086122" y="1597523"/>
                <a:ext cx="83942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电线3">
                <a:extLst>
                  <a:ext uri="{FF2B5EF4-FFF2-40B4-BE49-F238E27FC236}">
                    <a16:creationId xmlns:a16="http://schemas.microsoft.com/office/drawing/2014/main" id="{8D49225E-449A-C6FB-85D7-628F388366BD}"/>
                  </a:ext>
                </a:extLst>
              </p:cNvPr>
              <p:cNvCxnSpPr>
                <a:cxnSpLocks/>
                <a:stCxn id="54" idx="3"/>
                <a:endCxn id="20" idx="2"/>
              </p:cNvCxnSpPr>
              <p:nvPr/>
            </p:nvCxnSpPr>
            <p:spPr>
              <a:xfrm flipV="1">
                <a:off x="6869760" y="1597523"/>
                <a:ext cx="1044835" cy="4032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电线2">
                <a:extLst>
                  <a:ext uri="{FF2B5EF4-FFF2-40B4-BE49-F238E27FC236}">
                    <a16:creationId xmlns:a16="http://schemas.microsoft.com/office/drawing/2014/main" id="{4B0BC1A2-B640-C53E-1EC8-AE0D4696AAB6}"/>
                  </a:ext>
                </a:extLst>
              </p:cNvPr>
              <p:cNvCxnSpPr>
                <a:cxnSpLocks/>
                <a:stCxn id="56" idx="3"/>
                <a:endCxn id="54" idx="1"/>
              </p:cNvCxnSpPr>
              <p:nvPr/>
            </p:nvCxnSpPr>
            <p:spPr>
              <a:xfrm>
                <a:off x="5573616" y="1597523"/>
                <a:ext cx="648072" cy="4032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2">
                    <a:extLst>
                      <a:ext uri="{FF2B5EF4-FFF2-40B4-BE49-F238E27FC236}">
                        <a16:creationId xmlns:a16="http://schemas.microsoft.com/office/drawing/2014/main" id="{1A0A8EFD-A60B-A9D1-579C-A3ED9922A962}"/>
                      </a:ext>
                    </a:extLst>
                  </p:cNvPr>
                  <p:cNvSpPr txBox="1"/>
                  <p:nvPr/>
                </p:nvSpPr>
                <p:spPr>
                  <a:xfrm>
                    <a:off x="6318174" y="1007015"/>
                    <a:ext cx="455100" cy="4323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33" name="R2">
                    <a:extLst>
                      <a:ext uri="{FF2B5EF4-FFF2-40B4-BE49-F238E27FC236}">
                        <a16:creationId xmlns:a16="http://schemas.microsoft.com/office/drawing/2014/main" id="{8A203C7C-74E2-C7A5-0B6C-939FCC43FF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18174" y="1007015"/>
                    <a:ext cx="455100" cy="4323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919" r="-8108" b="-1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电阻R2">
                <a:extLst>
                  <a:ext uri="{FF2B5EF4-FFF2-40B4-BE49-F238E27FC236}">
                    <a16:creationId xmlns:a16="http://schemas.microsoft.com/office/drawing/2014/main" id="{90F93FE8-0ED9-76F3-F00D-C407C0F9BC87}"/>
                  </a:ext>
                </a:extLst>
              </p:cNvPr>
              <p:cNvSpPr/>
              <p:nvPr/>
            </p:nvSpPr>
            <p:spPr>
              <a:xfrm>
                <a:off x="6221688" y="1493543"/>
                <a:ext cx="648072" cy="21602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800"/>
              </a:p>
            </p:txBody>
          </p:sp>
          <p:sp>
            <p:nvSpPr>
              <p:cNvPr id="56" name="电阻R1">
                <a:extLst>
                  <a:ext uri="{FF2B5EF4-FFF2-40B4-BE49-F238E27FC236}">
                    <a16:creationId xmlns:a16="http://schemas.microsoft.com/office/drawing/2014/main" id="{260A0763-0159-0178-F256-6A4ED4FA6411}"/>
                  </a:ext>
                </a:extLst>
              </p:cNvPr>
              <p:cNvSpPr/>
              <p:nvPr/>
            </p:nvSpPr>
            <p:spPr>
              <a:xfrm>
                <a:off x="4925544" y="1489511"/>
                <a:ext cx="648072" cy="21602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R1">
                    <a:extLst>
                      <a:ext uri="{FF2B5EF4-FFF2-40B4-BE49-F238E27FC236}">
                        <a16:creationId xmlns:a16="http://schemas.microsoft.com/office/drawing/2014/main" id="{ED498BCD-0D68-30B5-0982-4E5B3EDEB00A}"/>
                      </a:ext>
                    </a:extLst>
                  </p:cNvPr>
                  <p:cNvSpPr txBox="1"/>
                  <p:nvPr/>
                </p:nvSpPr>
                <p:spPr>
                  <a:xfrm>
                    <a:off x="5039043" y="1012559"/>
                    <a:ext cx="455100" cy="4323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52" name="R1">
                    <a:extLst>
                      <a:ext uri="{FF2B5EF4-FFF2-40B4-BE49-F238E27FC236}">
                        <a16:creationId xmlns:a16="http://schemas.microsoft.com/office/drawing/2014/main" id="{0E03F87E-0D2E-362A-50E2-85C94DFCD1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9043" y="1012559"/>
                    <a:ext cx="455100" cy="4323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6216" r="-5405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E9F1C430-F23C-A63D-D444-616B1EF16FF5}"/>
                </a:ext>
              </a:extLst>
            </p:cNvPr>
            <p:cNvGrpSpPr/>
            <p:nvPr/>
          </p:nvGrpSpPr>
          <p:grpSpPr>
            <a:xfrm>
              <a:off x="4295006" y="1808896"/>
              <a:ext cx="1008112" cy="432362"/>
              <a:chOff x="4295006" y="1808896"/>
              <a:chExt cx="1008112" cy="432362"/>
            </a:xfrm>
          </p:grpSpPr>
          <p:cxnSp>
            <p:nvCxnSpPr>
              <p:cNvPr id="59" name="电流信号">
                <a:extLst>
                  <a:ext uri="{FF2B5EF4-FFF2-40B4-BE49-F238E27FC236}">
                    <a16:creationId xmlns:a16="http://schemas.microsoft.com/office/drawing/2014/main" id="{2A62FBE0-BE31-3CCC-E9A7-49829BDE86B2}"/>
                  </a:ext>
                </a:extLst>
              </p:cNvPr>
              <p:cNvCxnSpPr/>
              <p:nvPr/>
            </p:nvCxnSpPr>
            <p:spPr>
              <a:xfrm>
                <a:off x="4295006" y="1844824"/>
                <a:ext cx="1008112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i">
                    <a:extLst>
                      <a:ext uri="{FF2B5EF4-FFF2-40B4-BE49-F238E27FC236}">
                        <a16:creationId xmlns:a16="http://schemas.microsoft.com/office/drawing/2014/main" id="{3E609AED-C297-E7D3-B465-FE0033EF35E9}"/>
                      </a:ext>
                    </a:extLst>
                  </p:cNvPr>
                  <p:cNvSpPr txBox="1"/>
                  <p:nvPr/>
                </p:nvSpPr>
                <p:spPr>
                  <a:xfrm>
                    <a:off x="4541149" y="1808896"/>
                    <a:ext cx="455100" cy="4323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53" name="i">
                    <a:extLst>
                      <a:ext uri="{FF2B5EF4-FFF2-40B4-BE49-F238E27FC236}">
                        <a16:creationId xmlns:a16="http://schemas.microsoft.com/office/drawing/2014/main" id="{E2E1410E-C1C8-DBED-E830-F040F7ECEF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1149" y="1808896"/>
                    <a:ext cx="455100" cy="4323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LC方程">
                <a:extLst>
                  <a:ext uri="{FF2B5EF4-FFF2-40B4-BE49-F238E27FC236}">
                    <a16:creationId xmlns:a16="http://schemas.microsoft.com/office/drawing/2014/main" id="{99A23E90-C9D7-5AB9-B72A-504C65BAC3AB}"/>
                  </a:ext>
                </a:extLst>
              </p:cNvPr>
              <p:cNvSpPr txBox="1"/>
              <p:nvPr/>
            </p:nvSpPr>
            <p:spPr>
              <a:xfrm>
                <a:off x="257477" y="1055369"/>
                <a:ext cx="4585041" cy="1222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2" name="RLC方程">
                <a:extLst>
                  <a:ext uri="{FF2B5EF4-FFF2-40B4-BE49-F238E27FC236}">
                    <a16:creationId xmlns:a16="http://schemas.microsoft.com/office/drawing/2014/main" id="{99A23E90-C9D7-5AB9-B72A-504C65BA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77" y="1055369"/>
                <a:ext cx="4585041" cy="1222386"/>
              </a:xfrm>
              <a:prstGeom prst="rect">
                <a:avLst/>
              </a:prstGeom>
              <a:blipFill>
                <a:blip r:embed="rId12"/>
                <a:stretch>
                  <a:fillRect l="-2210" t="-140206" b="-193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LC方程">
                <a:extLst>
                  <a:ext uri="{FF2B5EF4-FFF2-40B4-BE49-F238E27FC236}">
                    <a16:creationId xmlns:a16="http://schemas.microsoft.com/office/drawing/2014/main" id="{BBDCA84E-CE2F-B258-EDB6-20369DAD8890}"/>
                  </a:ext>
                </a:extLst>
              </p:cNvPr>
              <p:cNvSpPr txBox="1"/>
              <p:nvPr/>
            </p:nvSpPr>
            <p:spPr>
              <a:xfrm>
                <a:off x="275825" y="2199101"/>
                <a:ext cx="4722969" cy="1222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3" name="RLC方程">
                <a:extLst>
                  <a:ext uri="{FF2B5EF4-FFF2-40B4-BE49-F238E27FC236}">
                    <a16:creationId xmlns:a16="http://schemas.microsoft.com/office/drawing/2014/main" id="{BBDCA84E-CE2F-B258-EDB6-20369DAD8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25" y="2199101"/>
                <a:ext cx="4722969" cy="1222386"/>
              </a:xfrm>
              <a:prstGeom prst="rect">
                <a:avLst/>
              </a:prstGeom>
              <a:blipFill>
                <a:blip r:embed="rId13"/>
                <a:stretch>
                  <a:fillRect l="-18231" t="-140206" b="-193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LC方程">
                <a:extLst>
                  <a:ext uri="{FF2B5EF4-FFF2-40B4-BE49-F238E27FC236}">
                    <a16:creationId xmlns:a16="http://schemas.microsoft.com/office/drawing/2014/main" id="{9DE2889E-3600-7C05-992E-9354003162FD}"/>
                  </a:ext>
                </a:extLst>
              </p:cNvPr>
              <p:cNvSpPr txBox="1"/>
              <p:nvPr/>
            </p:nvSpPr>
            <p:spPr>
              <a:xfrm>
                <a:off x="208250" y="3357860"/>
                <a:ext cx="3024337" cy="1222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4" name="RLC方程">
                <a:extLst>
                  <a:ext uri="{FF2B5EF4-FFF2-40B4-BE49-F238E27FC236}">
                    <a16:creationId xmlns:a16="http://schemas.microsoft.com/office/drawing/2014/main" id="{9DE2889E-3600-7C05-992E-93540031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50" y="3357860"/>
                <a:ext cx="3024337" cy="1222386"/>
              </a:xfrm>
              <a:prstGeom prst="rect">
                <a:avLst/>
              </a:prstGeom>
              <a:blipFill>
                <a:blip r:embed="rId14"/>
                <a:stretch>
                  <a:fillRect t="-140206" r="-5021" b="-1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说明1">
                <a:extLst>
                  <a:ext uri="{FF2B5EF4-FFF2-40B4-BE49-F238E27FC236}">
                    <a16:creationId xmlns:a16="http://schemas.microsoft.com/office/drawing/2014/main" id="{521F7D4C-ED43-F64D-E4EE-2B39C90B5BD8}"/>
                  </a:ext>
                </a:extLst>
              </p:cNvPr>
              <p:cNvSpPr txBox="1"/>
              <p:nvPr/>
            </p:nvSpPr>
            <p:spPr>
              <a:xfrm>
                <a:off x="454002" y="4843366"/>
                <a:ext cx="40124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消去中间变量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说明1">
                <a:extLst>
                  <a:ext uri="{FF2B5EF4-FFF2-40B4-BE49-F238E27FC236}">
                    <a16:creationId xmlns:a16="http://schemas.microsoft.com/office/drawing/2014/main" id="{521F7D4C-ED43-F64D-E4EE-2B39C90B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2" y="4843366"/>
                <a:ext cx="4012472" cy="523220"/>
              </a:xfrm>
              <a:prstGeom prst="rect">
                <a:avLst/>
              </a:prstGeom>
              <a:blipFill>
                <a:blip r:embed="rId15"/>
                <a:stretch>
                  <a:fillRect l="-315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3848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62" grpId="0" rev="1"/>
      <p:bldP spid="63" grpId="1"/>
      <p:bldP spid="64" grpId="0" rev="1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例：机械位移系统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26D8670-2C32-CB0C-90C4-E0155363D13C}"/>
              </a:ext>
            </a:extLst>
          </p:cNvPr>
          <p:cNvGrpSpPr/>
          <p:nvPr/>
        </p:nvGrpSpPr>
        <p:grpSpPr>
          <a:xfrm>
            <a:off x="7650654" y="308820"/>
            <a:ext cx="2720112" cy="3233506"/>
            <a:chOff x="7650654" y="308820"/>
            <a:chExt cx="2720112" cy="3233506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CDFC229F-3781-39BA-C831-0B40B202C2F7}"/>
                </a:ext>
              </a:extLst>
            </p:cNvPr>
            <p:cNvCxnSpPr/>
            <p:nvPr/>
          </p:nvCxnSpPr>
          <p:spPr>
            <a:xfrm>
              <a:off x="7800730" y="549275"/>
              <a:ext cx="2352012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线连接符 4">
              <a:extLst>
                <a:ext uri="{FF2B5EF4-FFF2-40B4-BE49-F238E27FC236}">
                  <a16:creationId xmlns:a16="http://schemas.microsoft.com/office/drawing/2014/main" id="{E43EDAED-B640-157A-A891-2E117F10979E}"/>
                </a:ext>
              </a:extLst>
            </p:cNvPr>
            <p:cNvCxnSpPr>
              <a:cxnSpLocks/>
            </p:cNvCxnSpPr>
            <p:nvPr/>
          </p:nvCxnSpPr>
          <p:spPr>
            <a:xfrm>
              <a:off x="7895406" y="549275"/>
              <a:ext cx="0" cy="2951733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DE40F613-8878-6C81-FEA3-D6544030B4B0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646" y="549274"/>
              <a:ext cx="0" cy="2951733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A33C9875-0864-6950-F901-D7271AB9F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073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92D7C304-BCED-C6AA-A63E-98A3E1A34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3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B80C90B6-5C60-5370-31ED-1AB8F2B4FE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134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4807C663-2ADD-21F6-F46A-C5D1CA9954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664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38CD7C58-DD16-2824-2A33-F7DD9E89D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195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9FF6E2FD-4E4A-084A-AE1C-5BA5E3BCB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725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7AAFDEF7-896A-5631-F128-107D32088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256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00F997ED-9CF8-E431-6425-D626FED47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786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476BD74E-344B-D451-F7F3-02D75E7297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317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509D1DC2-A6F3-3921-B124-6E1A0047A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847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F7237A50-CA6D-0AFB-2D4A-A3D54A4285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378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25BBC98B-78A4-DBA0-31CE-6994A1C15D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908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9AFEF2A9-81DA-80BD-8C2D-9D62FBE9D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39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0AE84076-91DF-2B0C-EB5A-92522FA94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969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DF5D0C8A-B7A6-BC51-692B-80E51A5EE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500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5BFCD0BB-CB51-2370-206E-C22DB9568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0312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F2E124C6-5F8D-6601-4D99-391B8118E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558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30B08053-9CA8-0C1F-CFB1-B019A6CB70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711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D48E83DE-96EF-FC76-5FFF-934DC1A0F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863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02EAB95E-B8BC-305C-01F6-515BD050F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015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919775DF-5507-8A10-51F4-BD8A1750D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168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37F7DBC2-CDD6-EE67-E04C-1E669D3618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320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76A71D8-AC1E-7D42-CD77-37922AEFCE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473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999A6799-A706-DE32-8524-83754085A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625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18C06B3B-AAA7-E277-4CC7-1228C4C35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777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15C5507F-23C5-29BE-5EF5-6C0A18116F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930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D09A1F0C-4663-5BEC-9A17-BB254697D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082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CBE7F2B7-BA10-C8D2-BFFE-98E138D68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235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F491EB30-1A26-8DC2-3DE2-D67CF8B1E9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387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811473E1-988E-38FD-FC7C-BBCC86A7B2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539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591CEC7F-AA07-322E-6908-BE2DF545E0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692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EEAE1E54-FDC6-8917-C616-F09A8E49C5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844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839DC1DE-68FE-9923-5B12-022CD1287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997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F29E98AA-DFD6-F6C6-8CAB-42A8ACD29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3149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91648BB8-9AFD-E554-6470-0E280C0B03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3301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CDB8F5A-B131-9186-044A-342C4545C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507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E8170D8D-2D96-AF8A-E414-A5C564608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660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1A248ED7-F2E2-5904-3445-5EAB29E3A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812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AD2A95F9-B837-50C6-6087-075F6D03D1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965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3E3E7B22-7905-091F-A3B5-7AC32E1C0B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117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139F16F3-B1DB-FDE7-B6B2-5F70C1162E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269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205E704-1994-5A52-B452-E7545C931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422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C158508A-DFA1-D695-6BA4-386C13B3F7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574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3C293B16-7875-8185-6826-4838F30F47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727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ED4CC226-28BF-5ACD-F706-08DB03D2F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879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连接符 91">
              <a:extLst>
                <a:ext uri="{FF2B5EF4-FFF2-40B4-BE49-F238E27FC236}">
                  <a16:creationId xmlns:a16="http://schemas.microsoft.com/office/drawing/2014/main" id="{17D18F59-188B-5C66-AE6B-764EB70C22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031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1873A4CD-F4EC-33C4-3712-89CFD2394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184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84EF1590-CFBC-2276-3079-D6A0A52BF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336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连接符 94">
              <a:extLst>
                <a:ext uri="{FF2B5EF4-FFF2-40B4-BE49-F238E27FC236}">
                  <a16:creationId xmlns:a16="http://schemas.microsoft.com/office/drawing/2014/main" id="{F9024DF6-E8D7-5D25-2456-32937D74E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489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30AD2A78-FC34-513E-1782-6F096CA4A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641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线连接符 96">
              <a:extLst>
                <a:ext uri="{FF2B5EF4-FFF2-40B4-BE49-F238E27FC236}">
                  <a16:creationId xmlns:a16="http://schemas.microsoft.com/office/drawing/2014/main" id="{2ABD9F50-1238-30FE-A4F9-47B8C1FE1E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793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9BC0CD17-A5BE-E11D-B9C4-599C47109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946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363742A7-143C-ACE0-3B63-3A094418F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3098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F7864DF6-12A9-4F0B-9F9A-B63651FD6C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3251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公式1">
                <a:extLst>
                  <a:ext uri="{FF2B5EF4-FFF2-40B4-BE49-F238E27FC236}">
                    <a16:creationId xmlns:a16="http://schemas.microsoft.com/office/drawing/2014/main" id="{E2E305C2-8652-0482-CF3D-254712F69A34}"/>
                  </a:ext>
                </a:extLst>
              </p:cNvPr>
              <p:cNvSpPr txBox="1"/>
              <p:nvPr/>
            </p:nvSpPr>
            <p:spPr>
              <a:xfrm>
                <a:off x="982638" y="5373216"/>
                <a:ext cx="5832648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𝐾𝑥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01" name="公式1">
                <a:extLst>
                  <a:ext uri="{FF2B5EF4-FFF2-40B4-BE49-F238E27FC236}">
                    <a16:creationId xmlns:a16="http://schemas.microsoft.com/office/drawing/2014/main" id="{E2E305C2-8652-0482-CF3D-254712F69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38" y="5373216"/>
                <a:ext cx="5832648" cy="956929"/>
              </a:xfrm>
              <a:prstGeom prst="rect">
                <a:avLst/>
              </a:prstGeom>
              <a:blipFill>
                <a:blip r:embed="rId2"/>
                <a:stretch>
                  <a:fillRect r="-435" b="-6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BAF8EC9F-E949-9AF4-90B6-E9DED5B121FF}"/>
              </a:ext>
            </a:extLst>
          </p:cNvPr>
          <p:cNvGrpSpPr/>
          <p:nvPr/>
        </p:nvGrpSpPr>
        <p:grpSpPr>
          <a:xfrm>
            <a:off x="8362249" y="549274"/>
            <a:ext cx="1224136" cy="2401849"/>
            <a:chOff x="8362249" y="549274"/>
            <a:chExt cx="1224136" cy="2401849"/>
          </a:xfrm>
        </p:grpSpPr>
        <p:sp>
          <p:nvSpPr>
            <p:cNvPr id="103" name="弹簧">
              <a:extLst>
                <a:ext uri="{FF2B5EF4-FFF2-40B4-BE49-F238E27FC236}">
                  <a16:creationId xmlns:a16="http://schemas.microsoft.com/office/drawing/2014/main" id="{8D109F82-ACD1-874F-3571-E7877C445EA9}"/>
                </a:ext>
              </a:extLst>
            </p:cNvPr>
            <p:cNvSpPr/>
            <p:nvPr/>
          </p:nvSpPr>
          <p:spPr>
            <a:xfrm rot="5400000">
              <a:off x="8584242" y="1334544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M">
                  <a:extLst>
                    <a:ext uri="{FF2B5EF4-FFF2-40B4-BE49-F238E27FC236}">
                      <a16:creationId xmlns:a16="http://schemas.microsoft.com/office/drawing/2014/main" id="{DE68C7AC-DF37-B00C-EAA3-A2D10BC15472}"/>
                    </a:ext>
                  </a:extLst>
                </p:cNvPr>
                <p:cNvSpPr/>
                <p:nvPr/>
              </p:nvSpPr>
              <p:spPr>
                <a:xfrm>
                  <a:off x="8362249" y="2281929"/>
                  <a:ext cx="1224136" cy="66919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M">
                  <a:extLst>
                    <a:ext uri="{FF2B5EF4-FFF2-40B4-BE49-F238E27FC236}">
                      <a16:creationId xmlns:a16="http://schemas.microsoft.com/office/drawing/2014/main" id="{FD0BAB04-129B-C478-F2BB-8BE89C7AB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249" y="2281929"/>
                  <a:ext cx="1224136" cy="6691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线段1">
              <a:extLst>
                <a:ext uri="{FF2B5EF4-FFF2-40B4-BE49-F238E27FC236}">
                  <a16:creationId xmlns:a16="http://schemas.microsoft.com/office/drawing/2014/main" id="{97974193-8E9E-784B-AD2C-59631F8EC43B}"/>
                </a:ext>
              </a:extLst>
            </p:cNvPr>
            <p:cNvCxnSpPr>
              <a:cxnSpLocks/>
              <a:endCxn id="103" idx="0"/>
            </p:cNvCxnSpPr>
            <p:nvPr/>
          </p:nvCxnSpPr>
          <p:spPr>
            <a:xfrm flipH="1">
              <a:off x="8975555" y="549274"/>
              <a:ext cx="1181" cy="51042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线段2">
              <a:extLst>
                <a:ext uri="{FF2B5EF4-FFF2-40B4-BE49-F238E27FC236}">
                  <a16:creationId xmlns:a16="http://schemas.microsoft.com/office/drawing/2014/main" id="{0547ADD8-AAC7-90F0-16E6-3512EA0DEA57}"/>
                </a:ext>
              </a:extLst>
            </p:cNvPr>
            <p:cNvCxnSpPr>
              <a:cxnSpLocks/>
              <a:stCxn id="103" idx="9"/>
              <a:endCxn id="104" idx="0"/>
            </p:cNvCxnSpPr>
            <p:nvPr/>
          </p:nvCxnSpPr>
          <p:spPr>
            <a:xfrm flipH="1">
              <a:off x="8974317" y="1844684"/>
              <a:ext cx="1119" cy="437245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DBD4F711-FE31-657C-E741-6CE4C0631821}"/>
              </a:ext>
            </a:extLst>
          </p:cNvPr>
          <p:cNvGrpSpPr/>
          <p:nvPr/>
        </p:nvGrpSpPr>
        <p:grpSpPr>
          <a:xfrm>
            <a:off x="10152742" y="2290483"/>
            <a:ext cx="821982" cy="850485"/>
            <a:chOff x="10152742" y="2290483"/>
            <a:chExt cx="821982" cy="850485"/>
          </a:xfrm>
        </p:grpSpPr>
        <p:grpSp>
          <p:nvGrpSpPr>
            <p:cNvPr id="108" name="位移指示">
              <a:extLst>
                <a:ext uri="{FF2B5EF4-FFF2-40B4-BE49-F238E27FC236}">
                  <a16:creationId xmlns:a16="http://schemas.microsoft.com/office/drawing/2014/main" id="{D03AFEE7-D05F-A71F-CAA2-D36785E6D3E3}"/>
                </a:ext>
              </a:extLst>
            </p:cNvPr>
            <p:cNvGrpSpPr/>
            <p:nvPr/>
          </p:nvGrpSpPr>
          <p:grpSpPr>
            <a:xfrm>
              <a:off x="10152742" y="2290483"/>
              <a:ext cx="506062" cy="850485"/>
              <a:chOff x="10152742" y="2290483"/>
              <a:chExt cx="506062" cy="850485"/>
            </a:xfrm>
          </p:grpSpPr>
          <p:cxnSp>
            <p:nvCxnSpPr>
              <p:cNvPr id="110" name="直线连接符 109">
                <a:extLst>
                  <a:ext uri="{FF2B5EF4-FFF2-40B4-BE49-F238E27FC236}">
                    <a16:creationId xmlns:a16="http://schemas.microsoft.com/office/drawing/2014/main" id="{95BF5207-BC96-13A3-9AA0-8934423CC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52742" y="2290483"/>
                <a:ext cx="50606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线连接符 110">
                <a:extLst>
                  <a:ext uri="{FF2B5EF4-FFF2-40B4-BE49-F238E27FC236}">
                    <a16:creationId xmlns:a16="http://schemas.microsoft.com/office/drawing/2014/main" id="{044B536A-2820-B5A9-6C80-F0CC31226D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05773" y="2290483"/>
                <a:ext cx="9815" cy="85048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x">
                  <a:extLst>
                    <a:ext uri="{FF2B5EF4-FFF2-40B4-BE49-F238E27FC236}">
                      <a16:creationId xmlns:a16="http://schemas.microsoft.com/office/drawing/2014/main" id="{52207F4B-4FDC-5516-5E94-9AFB32414939}"/>
                    </a:ext>
                  </a:extLst>
                </p:cNvPr>
                <p:cNvSpPr txBox="1"/>
                <p:nvPr/>
              </p:nvSpPr>
              <p:spPr>
                <a:xfrm>
                  <a:off x="10519624" y="2513704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5" name="x">
                  <a:extLst>
                    <a:ext uri="{FF2B5EF4-FFF2-40B4-BE49-F238E27FC236}">
                      <a16:creationId xmlns:a16="http://schemas.microsoft.com/office/drawing/2014/main" id="{7054A75C-0307-3E70-5880-83BC53570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9624" y="2513704"/>
                  <a:ext cx="455100" cy="432362"/>
                </a:xfrm>
                <a:prstGeom prst="rect">
                  <a:avLst/>
                </a:prstGeom>
                <a:blipFill>
                  <a:blip r:embed="rId6"/>
                  <a:stretch>
                    <a:fillRect l="-18919" r="-75676" b="-3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B6227E0-24DE-3574-5229-272B12A38E07}"/>
              </a:ext>
            </a:extLst>
          </p:cNvPr>
          <p:cNvGrpSpPr/>
          <p:nvPr/>
        </p:nvGrpSpPr>
        <p:grpSpPr>
          <a:xfrm>
            <a:off x="8041184" y="966264"/>
            <a:ext cx="521330" cy="839098"/>
            <a:chOff x="8041184" y="966264"/>
            <a:chExt cx="521330" cy="839098"/>
          </a:xfrm>
        </p:grpSpPr>
        <p:cxnSp>
          <p:nvCxnSpPr>
            <p:cNvPr id="113" name="受力指示">
              <a:extLst>
                <a:ext uri="{FF2B5EF4-FFF2-40B4-BE49-F238E27FC236}">
                  <a16:creationId xmlns:a16="http://schemas.microsoft.com/office/drawing/2014/main" id="{CB47D8A0-5DA5-D92B-5039-6017EDC58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184" y="966264"/>
              <a:ext cx="0" cy="839098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F">
                  <a:extLst>
                    <a:ext uri="{FF2B5EF4-FFF2-40B4-BE49-F238E27FC236}">
                      <a16:creationId xmlns:a16="http://schemas.microsoft.com/office/drawing/2014/main" id="{51603A29-EBD6-7791-DAC9-53B445065A42}"/>
                    </a:ext>
                  </a:extLst>
                </p:cNvPr>
                <p:cNvSpPr txBox="1"/>
                <p:nvPr/>
              </p:nvSpPr>
              <p:spPr>
                <a:xfrm>
                  <a:off x="8107414" y="1176062"/>
                  <a:ext cx="4551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7" name="F">
                  <a:extLst>
                    <a:ext uri="{FF2B5EF4-FFF2-40B4-BE49-F238E27FC236}">
                      <a16:creationId xmlns:a16="http://schemas.microsoft.com/office/drawing/2014/main" id="{3B6BDE9B-0F59-B709-330C-7B66532E0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414" y="1176062"/>
                  <a:ext cx="4551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7027" t="-2857" r="-81081" b="-3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K">
                <a:extLst>
                  <a:ext uri="{FF2B5EF4-FFF2-40B4-BE49-F238E27FC236}">
                    <a16:creationId xmlns:a16="http://schemas.microsoft.com/office/drawing/2014/main" id="{C03AEB5F-592F-7A6B-5E01-AA6314FBD133}"/>
                  </a:ext>
                </a:extLst>
              </p:cNvPr>
              <p:cNvSpPr txBox="1"/>
              <p:nvPr/>
            </p:nvSpPr>
            <p:spPr>
              <a:xfrm>
                <a:off x="9211933" y="1165607"/>
                <a:ext cx="4551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15" name="K">
                <a:extLst>
                  <a:ext uri="{FF2B5EF4-FFF2-40B4-BE49-F238E27FC236}">
                    <a16:creationId xmlns:a16="http://schemas.microsoft.com/office/drawing/2014/main" id="{C03AEB5F-592F-7A6B-5E01-AA6314FBD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933" y="1165607"/>
                <a:ext cx="455100" cy="430887"/>
              </a:xfrm>
              <a:prstGeom prst="rect">
                <a:avLst/>
              </a:prstGeom>
              <a:blipFill>
                <a:blip r:embed="rId8"/>
                <a:stretch>
                  <a:fillRect l="-5405" r="-27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C536BEDD-6A83-8EF0-8FC0-0175B2735761}"/>
              </a:ext>
            </a:extLst>
          </p:cNvPr>
          <p:cNvGrpSpPr/>
          <p:nvPr/>
        </p:nvGrpSpPr>
        <p:grpSpPr>
          <a:xfrm>
            <a:off x="7895406" y="3104983"/>
            <a:ext cx="937171" cy="451537"/>
            <a:chOff x="7895406" y="3104983"/>
            <a:chExt cx="937171" cy="451537"/>
          </a:xfrm>
        </p:grpSpPr>
        <p:sp>
          <p:nvSpPr>
            <p:cNvPr id="117" name="摩擦指示">
              <a:extLst>
                <a:ext uri="{FF2B5EF4-FFF2-40B4-BE49-F238E27FC236}">
                  <a16:creationId xmlns:a16="http://schemas.microsoft.com/office/drawing/2014/main" id="{52C25F96-1A90-46F0-19AB-E55E20D31F7F}"/>
                </a:ext>
              </a:extLst>
            </p:cNvPr>
            <p:cNvSpPr/>
            <p:nvPr/>
          </p:nvSpPr>
          <p:spPr>
            <a:xfrm>
              <a:off x="7895406" y="3104983"/>
              <a:ext cx="495836" cy="264017"/>
            </a:xfrm>
            <a:custGeom>
              <a:avLst/>
              <a:gdLst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141667 w 495836"/>
                <a:gd name="connsiteY2" fmla="*/ 12879 h 264017"/>
                <a:gd name="connsiteX3" fmla="*/ 160986 w 495836"/>
                <a:gd name="connsiteY3" fmla="*/ 12879 h 264017"/>
                <a:gd name="connsiteX4" fmla="*/ 495836 w 495836"/>
                <a:gd name="connsiteY4" fmla="*/ 264017 h 264017"/>
                <a:gd name="connsiteX0" fmla="*/ 0 w 495836"/>
                <a:gd name="connsiteY0" fmla="*/ 10046 h 274063"/>
                <a:gd name="connsiteX1" fmla="*/ 0 w 495836"/>
                <a:gd name="connsiteY1" fmla="*/ 10046 h 274063"/>
                <a:gd name="connsiteX2" fmla="*/ 160986 w 495836"/>
                <a:gd name="connsiteY2" fmla="*/ 22925 h 274063"/>
                <a:gd name="connsiteX3" fmla="*/ 495836 w 495836"/>
                <a:gd name="connsiteY3" fmla="*/ 274063 h 274063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160986 w 495836"/>
                <a:gd name="connsiteY2" fmla="*/ 12879 h 264017"/>
                <a:gd name="connsiteX3" fmla="*/ 495836 w 495836"/>
                <a:gd name="connsiteY3" fmla="*/ 264017 h 264017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314852 w 495836"/>
                <a:gd name="connsiteY2" fmla="*/ 30463 h 264017"/>
                <a:gd name="connsiteX3" fmla="*/ 495836 w 495836"/>
                <a:gd name="connsiteY3" fmla="*/ 264017 h 264017"/>
                <a:gd name="connsiteX0" fmla="*/ 0 w 495836"/>
                <a:gd name="connsiteY0" fmla="*/ 281664 h 545681"/>
                <a:gd name="connsiteX1" fmla="*/ 0 w 495836"/>
                <a:gd name="connsiteY1" fmla="*/ 281664 h 545681"/>
                <a:gd name="connsiteX2" fmla="*/ 266494 w 495836"/>
                <a:gd name="connsiteY2" fmla="*/ 0 h 545681"/>
                <a:gd name="connsiteX3" fmla="*/ 495836 w 495836"/>
                <a:gd name="connsiteY3" fmla="*/ 545681 h 545681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297267 w 495836"/>
                <a:gd name="connsiteY2" fmla="*/ 4086 h 264017"/>
                <a:gd name="connsiteX3" fmla="*/ 495836 w 495836"/>
                <a:gd name="connsiteY3" fmla="*/ 264017 h 2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836" h="264017">
                  <a:moveTo>
                    <a:pt x="0" y="0"/>
                  </a:moveTo>
                  <a:lnTo>
                    <a:pt x="0" y="0"/>
                  </a:lnTo>
                  <a:lnTo>
                    <a:pt x="297267" y="4086"/>
                  </a:lnTo>
                  <a:lnTo>
                    <a:pt x="495836" y="26401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B">
                  <a:extLst>
                    <a:ext uri="{FF2B5EF4-FFF2-40B4-BE49-F238E27FC236}">
                      <a16:creationId xmlns:a16="http://schemas.microsoft.com/office/drawing/2014/main" id="{A4DEE9AD-F9F6-C41C-0C8B-98737B51AD2B}"/>
                    </a:ext>
                  </a:extLst>
                </p:cNvPr>
                <p:cNvSpPr txBox="1"/>
                <p:nvPr/>
              </p:nvSpPr>
              <p:spPr>
                <a:xfrm>
                  <a:off x="8377477" y="312415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6" name="B">
                  <a:extLst>
                    <a:ext uri="{FF2B5EF4-FFF2-40B4-BE49-F238E27FC236}">
                      <a16:creationId xmlns:a16="http://schemas.microsoft.com/office/drawing/2014/main" id="{5794F9B5-389D-EBBF-A451-6C8D864FD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477" y="3124158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l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LC方程">
                <a:extLst>
                  <a:ext uri="{FF2B5EF4-FFF2-40B4-BE49-F238E27FC236}">
                    <a16:creationId xmlns:a16="http://schemas.microsoft.com/office/drawing/2014/main" id="{EB948E8A-6CD9-848D-E51F-6BFBAB2990A7}"/>
                  </a:ext>
                </a:extLst>
              </p:cNvPr>
              <p:cNvSpPr txBox="1"/>
              <p:nvPr/>
            </p:nvSpPr>
            <p:spPr>
              <a:xfrm>
                <a:off x="829830" y="3296366"/>
                <a:ext cx="47745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/>
                  <a:t>由胡克定律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𝐾𝑥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19" name="RLC方程">
                <a:extLst>
                  <a:ext uri="{FF2B5EF4-FFF2-40B4-BE49-F238E27FC236}">
                    <a16:creationId xmlns:a16="http://schemas.microsoft.com/office/drawing/2014/main" id="{EB948E8A-6CD9-848D-E51F-6BFBAB299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30" y="3296366"/>
                <a:ext cx="4774599" cy="523220"/>
              </a:xfrm>
              <a:prstGeom prst="rect">
                <a:avLst/>
              </a:prstGeom>
              <a:blipFill>
                <a:blip r:embed="rId10"/>
                <a:stretch>
                  <a:fillRect l="-2653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LC方程">
                <a:extLst>
                  <a:ext uri="{FF2B5EF4-FFF2-40B4-BE49-F238E27FC236}">
                    <a16:creationId xmlns:a16="http://schemas.microsoft.com/office/drawing/2014/main" id="{92582073-1F20-C82D-6C07-B8A15BFDC4E5}"/>
                  </a:ext>
                </a:extLst>
              </p:cNvPr>
              <p:cNvSpPr txBox="1"/>
              <p:nvPr/>
            </p:nvSpPr>
            <p:spPr>
              <a:xfrm>
                <a:off x="837176" y="2208361"/>
                <a:ext cx="4774599" cy="724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/>
                  <a:t>阻尼器模型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𝐵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20" name="RLC方程">
                <a:extLst>
                  <a:ext uri="{FF2B5EF4-FFF2-40B4-BE49-F238E27FC236}">
                    <a16:creationId xmlns:a16="http://schemas.microsoft.com/office/drawing/2014/main" id="{92582073-1F20-C82D-6C07-B8A15BFDC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76" y="2208361"/>
                <a:ext cx="4774599" cy="724365"/>
              </a:xfrm>
              <a:prstGeom prst="rect">
                <a:avLst/>
              </a:prstGeom>
              <a:blipFill>
                <a:blip r:embed="rId11"/>
                <a:stretch>
                  <a:fillRect l="-2646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LC方程">
                <a:extLst>
                  <a:ext uri="{FF2B5EF4-FFF2-40B4-BE49-F238E27FC236}">
                    <a16:creationId xmlns:a16="http://schemas.microsoft.com/office/drawing/2014/main" id="{A8A3D586-C912-8518-1C14-180459959235}"/>
                  </a:ext>
                </a:extLst>
              </p:cNvPr>
              <p:cNvSpPr txBox="1"/>
              <p:nvPr/>
            </p:nvSpPr>
            <p:spPr>
              <a:xfrm>
                <a:off x="772237" y="1320672"/>
                <a:ext cx="5352052" cy="764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/>
                  <a:t>由牛顿第二定律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𝑀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21" name="RLC方程">
                <a:extLst>
                  <a:ext uri="{FF2B5EF4-FFF2-40B4-BE49-F238E27FC236}">
                    <a16:creationId xmlns:a16="http://schemas.microsoft.com/office/drawing/2014/main" id="{A8A3D586-C912-8518-1C14-180459959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37" y="1320672"/>
                <a:ext cx="5352052" cy="764184"/>
              </a:xfrm>
              <a:prstGeom prst="rect">
                <a:avLst/>
              </a:prstGeom>
              <a:blipFill>
                <a:blip r:embed="rId12"/>
                <a:stretch>
                  <a:fillRect l="-2364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42257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1" grpId="0"/>
      <p:bldP spid="115" grpId="0"/>
      <p:bldP spid="119" grpId="0" rev="1"/>
      <p:bldP spid="120" grpId="0" rev="1"/>
      <p:bldP spid="121" grpId="0" rev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例：电动机系统</a:t>
            </a:r>
          </a:p>
        </p:txBody>
      </p:sp>
      <p:sp>
        <p:nvSpPr>
          <p:cNvPr id="14" name="端点1">
            <a:extLst>
              <a:ext uri="{FF2B5EF4-FFF2-40B4-BE49-F238E27FC236}">
                <a16:creationId xmlns:a16="http://schemas.microsoft.com/office/drawing/2014/main" id="{71E5D131-CF14-F140-CEB2-09E5A0F32B73}"/>
              </a:ext>
            </a:extLst>
          </p:cNvPr>
          <p:cNvSpPr/>
          <p:nvPr/>
        </p:nvSpPr>
        <p:spPr>
          <a:xfrm>
            <a:off x="7895406" y="1365814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7" name="端点2">
            <a:extLst>
              <a:ext uri="{FF2B5EF4-FFF2-40B4-BE49-F238E27FC236}">
                <a16:creationId xmlns:a16="http://schemas.microsoft.com/office/drawing/2014/main" id="{7AA49D78-CBB9-A784-99F9-EE254B23325C}"/>
              </a:ext>
            </a:extLst>
          </p:cNvPr>
          <p:cNvSpPr/>
          <p:nvPr/>
        </p:nvSpPr>
        <p:spPr>
          <a:xfrm>
            <a:off x="7895406" y="2856797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ur">
                <a:extLst>
                  <a:ext uri="{FF2B5EF4-FFF2-40B4-BE49-F238E27FC236}">
                    <a16:creationId xmlns:a16="http://schemas.microsoft.com/office/drawing/2014/main" id="{D6D277DA-A21D-8DE6-06A8-72745F7FBAF6}"/>
                  </a:ext>
                </a:extLst>
              </p:cNvPr>
              <p:cNvSpPr txBox="1"/>
              <p:nvPr/>
            </p:nvSpPr>
            <p:spPr>
              <a:xfrm>
                <a:off x="7467623" y="1930439"/>
                <a:ext cx="4091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8" name="ur">
                <a:extLst>
                  <a:ext uri="{FF2B5EF4-FFF2-40B4-BE49-F238E27FC236}">
                    <a16:creationId xmlns:a16="http://schemas.microsoft.com/office/drawing/2014/main" id="{D6D277DA-A21D-8DE6-06A8-72745F7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23" y="1930439"/>
                <a:ext cx="409135" cy="430887"/>
              </a:xfrm>
              <a:prstGeom prst="rect">
                <a:avLst/>
              </a:prstGeom>
              <a:blipFill>
                <a:blip r:embed="rId2"/>
                <a:stretch>
                  <a:fillRect l="-18182" r="-6061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转动轴">
            <a:extLst>
              <a:ext uri="{FF2B5EF4-FFF2-40B4-BE49-F238E27FC236}">
                <a16:creationId xmlns:a16="http://schemas.microsoft.com/office/drawing/2014/main" id="{737498CA-D2E7-1B95-B5D2-3EE0771564E6}"/>
              </a:ext>
            </a:extLst>
          </p:cNvPr>
          <p:cNvCxnSpPr>
            <a:cxnSpLocks/>
            <a:stCxn id="41" idx="6"/>
            <a:endCxn id="43" idx="1"/>
          </p:cNvCxnSpPr>
          <p:nvPr/>
        </p:nvCxnSpPr>
        <p:spPr>
          <a:xfrm>
            <a:off x="10082212" y="2196870"/>
            <a:ext cx="834229" cy="4436"/>
          </a:xfrm>
          <a:prstGeom prst="straightConnector1">
            <a:avLst/>
          </a:prstGeom>
          <a:ln w="25400">
            <a:solidFill>
              <a:schemeClr val="tx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ur线">
            <a:extLst>
              <a:ext uri="{FF2B5EF4-FFF2-40B4-BE49-F238E27FC236}">
                <a16:creationId xmlns:a16="http://schemas.microsoft.com/office/drawing/2014/main" id="{CBD6375E-5606-3699-0732-46FC6996066A}"/>
              </a:ext>
            </a:extLst>
          </p:cNvPr>
          <p:cNvCxnSpPr/>
          <p:nvPr/>
        </p:nvCxnSpPr>
        <p:spPr>
          <a:xfrm>
            <a:off x="7985406" y="1545814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4867563-29E7-8EC4-07E5-2FFF19F01F22}"/>
              </a:ext>
            </a:extLst>
          </p:cNvPr>
          <p:cNvGrpSpPr/>
          <p:nvPr/>
        </p:nvGrpSpPr>
        <p:grpSpPr>
          <a:xfrm>
            <a:off x="8075406" y="870850"/>
            <a:ext cx="1927508" cy="2075947"/>
            <a:chOff x="4925544" y="1012559"/>
            <a:chExt cx="1927508" cy="2075947"/>
          </a:xfrm>
        </p:grpSpPr>
        <p:cxnSp>
          <p:nvCxnSpPr>
            <p:cNvPr id="27" name="电线1">
              <a:extLst>
                <a:ext uri="{FF2B5EF4-FFF2-40B4-BE49-F238E27FC236}">
                  <a16:creationId xmlns:a16="http://schemas.microsoft.com/office/drawing/2014/main" id="{BA34A716-5722-4A33-4D16-ACBBA207E476}"/>
                </a:ext>
              </a:extLst>
            </p:cNvPr>
            <p:cNvCxnSpPr>
              <a:cxnSpLocks/>
              <a:stCxn id="14" idx="6"/>
              <a:endCxn id="31" idx="1"/>
            </p:cNvCxnSpPr>
            <p:nvPr/>
          </p:nvCxnSpPr>
          <p:spPr>
            <a:xfrm>
              <a:off x="4925544" y="1597523"/>
              <a:ext cx="612088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电线2">
              <a:extLst>
                <a:ext uri="{FF2B5EF4-FFF2-40B4-BE49-F238E27FC236}">
                  <a16:creationId xmlns:a16="http://schemas.microsoft.com/office/drawing/2014/main" id="{677A14C7-2993-240B-EC54-370E42F676C1}"/>
                </a:ext>
              </a:extLst>
            </p:cNvPr>
            <p:cNvCxnSpPr>
              <a:cxnSpLocks/>
              <a:stCxn id="31" idx="3"/>
              <a:endCxn id="41" idx="0"/>
            </p:cNvCxnSpPr>
            <p:nvPr/>
          </p:nvCxnSpPr>
          <p:spPr>
            <a:xfrm>
              <a:off x="6185704" y="1597523"/>
              <a:ext cx="542226" cy="536635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电线3">
              <a:extLst>
                <a:ext uri="{FF2B5EF4-FFF2-40B4-BE49-F238E27FC236}">
                  <a16:creationId xmlns:a16="http://schemas.microsoft.com/office/drawing/2014/main" id="{40E6697E-3F32-7E53-DC73-031B27F6D304}"/>
                </a:ext>
              </a:extLst>
            </p:cNvPr>
            <p:cNvCxnSpPr>
              <a:cxnSpLocks/>
              <a:stCxn id="17" idx="6"/>
              <a:endCxn id="41" idx="4"/>
            </p:cNvCxnSpPr>
            <p:nvPr/>
          </p:nvCxnSpPr>
          <p:spPr>
            <a:xfrm flipV="1">
              <a:off x="4925544" y="2542999"/>
              <a:ext cx="1802386" cy="545507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电阻R">
              <a:extLst>
                <a:ext uri="{FF2B5EF4-FFF2-40B4-BE49-F238E27FC236}">
                  <a16:creationId xmlns:a16="http://schemas.microsoft.com/office/drawing/2014/main" id="{AAC3EF30-E697-A230-8326-5DB066ADD014}"/>
                </a:ext>
              </a:extLst>
            </p:cNvPr>
            <p:cNvSpPr/>
            <p:nvPr/>
          </p:nvSpPr>
          <p:spPr>
            <a:xfrm>
              <a:off x="5537632" y="1489511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2" name="端子1">
              <a:extLst>
                <a:ext uri="{FF2B5EF4-FFF2-40B4-BE49-F238E27FC236}">
                  <a16:creationId xmlns:a16="http://schemas.microsoft.com/office/drawing/2014/main" id="{F439FDAC-41A0-E7EB-2985-21C462E2F8F3}"/>
                </a:ext>
              </a:extLst>
            </p:cNvPr>
            <p:cNvSpPr/>
            <p:nvPr/>
          </p:nvSpPr>
          <p:spPr>
            <a:xfrm>
              <a:off x="6609708" y="2059793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端子2">
              <a:extLst>
                <a:ext uri="{FF2B5EF4-FFF2-40B4-BE49-F238E27FC236}">
                  <a16:creationId xmlns:a16="http://schemas.microsoft.com/office/drawing/2014/main" id="{7F93A27B-D1FE-8B0D-8BE6-60FA38BDA80A}"/>
                </a:ext>
              </a:extLst>
            </p:cNvPr>
            <p:cNvSpPr/>
            <p:nvPr/>
          </p:nvSpPr>
          <p:spPr>
            <a:xfrm flipV="1">
              <a:off x="6609708" y="2510535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">
                  <a:extLst>
                    <a:ext uri="{FF2B5EF4-FFF2-40B4-BE49-F238E27FC236}">
                      <a16:creationId xmlns:a16="http://schemas.microsoft.com/office/drawing/2014/main" id="{B02C51F1-38B4-CAED-95A7-CCB95E6C14E0}"/>
                    </a:ext>
                  </a:extLst>
                </p:cNvPr>
                <p:cNvSpPr txBox="1"/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7" name="R">
                  <a:extLst>
                    <a:ext uri="{FF2B5EF4-FFF2-40B4-BE49-F238E27FC236}">
                      <a16:creationId xmlns:a16="http://schemas.microsoft.com/office/drawing/2014/main" id="{D180C873-E93E-6125-C404-1F6B664E8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blipFill>
                  <a:blip r:embed="rId8"/>
                  <a:stretch>
                    <a:fillRect l="-270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电流">
            <a:extLst>
              <a:ext uri="{FF2B5EF4-FFF2-40B4-BE49-F238E27FC236}">
                <a16:creationId xmlns:a16="http://schemas.microsoft.com/office/drawing/2014/main" id="{9C74D964-E9E3-A944-E119-AA1F99730C59}"/>
              </a:ext>
            </a:extLst>
          </p:cNvPr>
          <p:cNvGrpSpPr/>
          <p:nvPr/>
        </p:nvGrpSpPr>
        <p:grpSpPr>
          <a:xfrm>
            <a:off x="8284290" y="1667187"/>
            <a:ext cx="1008112" cy="432362"/>
            <a:chOff x="4295006" y="1808896"/>
            <a:chExt cx="1008112" cy="432362"/>
          </a:xfrm>
        </p:grpSpPr>
        <p:cxnSp>
          <p:nvCxnSpPr>
            <p:cNvPr id="38" name="电流信号">
              <a:extLst>
                <a:ext uri="{FF2B5EF4-FFF2-40B4-BE49-F238E27FC236}">
                  <a16:creationId xmlns:a16="http://schemas.microsoft.com/office/drawing/2014/main" id="{42753EE4-04C0-48E7-EEE8-783DE06E11EC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">
                  <a:extLst>
                    <a:ext uri="{FF2B5EF4-FFF2-40B4-BE49-F238E27FC236}">
                      <a16:creationId xmlns:a16="http://schemas.microsoft.com/office/drawing/2014/main" id="{8E352E68-93D5-63F0-2CAB-2D4CD8290A8F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0" name="i">
                  <a:extLst>
                    <a:ext uri="{FF2B5EF4-FFF2-40B4-BE49-F238E27FC236}">
                      <a16:creationId xmlns:a16="http://schemas.microsoft.com/office/drawing/2014/main" id="{11509381-CBC4-80EB-FBB2-368901723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电枢">
            <a:extLst>
              <a:ext uri="{FF2B5EF4-FFF2-40B4-BE49-F238E27FC236}">
                <a16:creationId xmlns:a16="http://schemas.microsoft.com/office/drawing/2014/main" id="{C7865CCF-DFF5-6E13-72D1-F0FC03AAEA81}"/>
              </a:ext>
            </a:extLst>
          </p:cNvPr>
          <p:cNvGrpSpPr/>
          <p:nvPr/>
        </p:nvGrpSpPr>
        <p:grpSpPr>
          <a:xfrm>
            <a:off x="9673371" y="1992449"/>
            <a:ext cx="408841" cy="408841"/>
            <a:chOff x="9047534" y="2094194"/>
            <a:chExt cx="408841" cy="408841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5D334AF-07D3-9E10-9269-6FF388614002}"/>
                </a:ext>
              </a:extLst>
            </p:cNvPr>
            <p:cNvSpPr/>
            <p:nvPr/>
          </p:nvSpPr>
          <p:spPr>
            <a:xfrm>
              <a:off x="9047534" y="2094194"/>
              <a:ext cx="408841" cy="408841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2" name="弧 41">
              <a:extLst>
                <a:ext uri="{FF2B5EF4-FFF2-40B4-BE49-F238E27FC236}">
                  <a16:creationId xmlns:a16="http://schemas.microsoft.com/office/drawing/2014/main" id="{1E8B209F-6081-F9F5-D10D-F82F47015E23}"/>
                </a:ext>
              </a:extLst>
            </p:cNvPr>
            <p:cNvSpPr/>
            <p:nvPr/>
          </p:nvSpPr>
          <p:spPr>
            <a:xfrm>
              <a:off x="9091846" y="2138506"/>
              <a:ext cx="320216" cy="320216"/>
            </a:xfrm>
            <a:prstGeom prst="arc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3" name="负载">
            <a:extLst>
              <a:ext uri="{FF2B5EF4-FFF2-40B4-BE49-F238E27FC236}">
                <a16:creationId xmlns:a16="http://schemas.microsoft.com/office/drawing/2014/main" id="{7E311F44-D605-B6B3-2F5B-51DE5706AF5A}"/>
              </a:ext>
            </a:extLst>
          </p:cNvPr>
          <p:cNvSpPr/>
          <p:nvPr/>
        </p:nvSpPr>
        <p:spPr>
          <a:xfrm rot="16200000">
            <a:off x="10972003" y="1969210"/>
            <a:ext cx="353069" cy="464193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Jm">
                <a:extLst>
                  <a:ext uri="{FF2B5EF4-FFF2-40B4-BE49-F238E27FC236}">
                    <a16:creationId xmlns:a16="http://schemas.microsoft.com/office/drawing/2014/main" id="{62076F17-0F2E-98BC-AFA8-DECFD63BD2C0}"/>
                  </a:ext>
                </a:extLst>
              </p:cNvPr>
              <p:cNvSpPr txBox="1"/>
              <p:nvPr/>
            </p:nvSpPr>
            <p:spPr>
              <a:xfrm>
                <a:off x="10819963" y="1429763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4" name="Jm">
                <a:extLst>
                  <a:ext uri="{FF2B5EF4-FFF2-40B4-BE49-F238E27FC236}">
                    <a16:creationId xmlns:a16="http://schemas.microsoft.com/office/drawing/2014/main" id="{62076F17-0F2E-98BC-AFA8-DECFD63B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9963" y="1429763"/>
                <a:ext cx="692168" cy="430887"/>
              </a:xfrm>
              <a:prstGeom prst="rect">
                <a:avLst/>
              </a:prstGeom>
              <a:blipFill>
                <a:blip r:embed="rId10"/>
                <a:stretch>
                  <a:fillRect b="-2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fm">
                <a:extLst>
                  <a:ext uri="{FF2B5EF4-FFF2-40B4-BE49-F238E27FC236}">
                    <a16:creationId xmlns:a16="http://schemas.microsoft.com/office/drawing/2014/main" id="{10E31B49-FF1D-1918-B36F-C3B996EB1151}"/>
                  </a:ext>
                </a:extLst>
              </p:cNvPr>
              <p:cNvSpPr txBox="1"/>
              <p:nvPr/>
            </p:nvSpPr>
            <p:spPr>
              <a:xfrm>
                <a:off x="10832979" y="2371543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5" name="fm">
                <a:extLst>
                  <a:ext uri="{FF2B5EF4-FFF2-40B4-BE49-F238E27FC236}">
                    <a16:creationId xmlns:a16="http://schemas.microsoft.com/office/drawing/2014/main" id="{10E31B49-FF1D-1918-B36F-C3B996EB1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979" y="2371543"/>
                <a:ext cx="692168" cy="430887"/>
              </a:xfrm>
              <a:prstGeom prst="rect">
                <a:avLst/>
              </a:prstGeom>
              <a:blipFill>
                <a:blip r:embed="rId11"/>
                <a:stretch>
                  <a:fillRect l="-1786" t="-2857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转动箭头">
            <a:extLst>
              <a:ext uri="{FF2B5EF4-FFF2-40B4-BE49-F238E27FC236}">
                <a16:creationId xmlns:a16="http://schemas.microsoft.com/office/drawing/2014/main" id="{B4640EBC-BDFA-0D27-D310-3977E163BE36}"/>
              </a:ext>
            </a:extLst>
          </p:cNvPr>
          <p:cNvSpPr/>
          <p:nvPr/>
        </p:nvSpPr>
        <p:spPr>
          <a:xfrm rot="2700000">
            <a:off x="9974233" y="1920108"/>
            <a:ext cx="601927" cy="601927"/>
          </a:xfrm>
          <a:prstGeom prst="arc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wm">
                <a:extLst>
                  <a:ext uri="{FF2B5EF4-FFF2-40B4-BE49-F238E27FC236}">
                    <a16:creationId xmlns:a16="http://schemas.microsoft.com/office/drawing/2014/main" id="{44B014F9-93ED-8409-7CCE-AE434E05F373}"/>
                  </a:ext>
                </a:extLst>
              </p:cNvPr>
              <p:cNvSpPr txBox="1"/>
              <p:nvPr/>
            </p:nvSpPr>
            <p:spPr>
              <a:xfrm>
                <a:off x="10126241" y="1429763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7" name="wm">
                <a:extLst>
                  <a:ext uri="{FF2B5EF4-FFF2-40B4-BE49-F238E27FC236}">
                    <a16:creationId xmlns:a16="http://schemas.microsoft.com/office/drawing/2014/main" id="{44B014F9-93ED-8409-7CCE-AE434E05F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6241" y="1429763"/>
                <a:ext cx="692168" cy="430887"/>
              </a:xfrm>
              <a:prstGeom prst="rect">
                <a:avLst/>
              </a:prstGeom>
              <a:blipFill>
                <a:blip r:embed="rId12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uc">
                <a:extLst>
                  <a:ext uri="{FF2B5EF4-FFF2-40B4-BE49-F238E27FC236}">
                    <a16:creationId xmlns:a16="http://schemas.microsoft.com/office/drawing/2014/main" id="{5907A2FE-92F6-A3CA-B905-8D64DBB8479E}"/>
                  </a:ext>
                </a:extLst>
              </p:cNvPr>
              <p:cNvSpPr txBox="1"/>
              <p:nvPr/>
            </p:nvSpPr>
            <p:spPr>
              <a:xfrm>
                <a:off x="10204192" y="2401874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8" name="uc">
                <a:extLst>
                  <a:ext uri="{FF2B5EF4-FFF2-40B4-BE49-F238E27FC236}">
                    <a16:creationId xmlns:a16="http://schemas.microsoft.com/office/drawing/2014/main" id="{5907A2FE-92F6-A3CA-B905-8D64DBB8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192" y="2401874"/>
                <a:ext cx="692168" cy="430887"/>
              </a:xfrm>
              <a:prstGeom prst="rect">
                <a:avLst/>
              </a:prstGeom>
              <a:blipFill>
                <a:blip r:embed="rId13"/>
                <a:stretch>
                  <a:fillRect l="-7273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电势">
            <a:extLst>
              <a:ext uri="{FF2B5EF4-FFF2-40B4-BE49-F238E27FC236}">
                <a16:creationId xmlns:a16="http://schemas.microsoft.com/office/drawing/2014/main" id="{84EAFE2F-A27A-5FE8-DD78-5CFA0E2EF954}"/>
              </a:ext>
            </a:extLst>
          </p:cNvPr>
          <p:cNvGrpSpPr/>
          <p:nvPr/>
        </p:nvGrpSpPr>
        <p:grpSpPr>
          <a:xfrm>
            <a:off x="9096003" y="1964856"/>
            <a:ext cx="466897" cy="468047"/>
            <a:chOff x="5106719" y="2106565"/>
            <a:chExt cx="466897" cy="4680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Eb">
                  <a:extLst>
                    <a:ext uri="{FF2B5EF4-FFF2-40B4-BE49-F238E27FC236}">
                      <a16:creationId xmlns:a16="http://schemas.microsoft.com/office/drawing/2014/main" id="{21912554-9CEE-0177-B709-F857F39E9110}"/>
                    </a:ext>
                  </a:extLst>
                </p:cNvPr>
                <p:cNvSpPr txBox="1"/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6" name="Eb">
                  <a:extLst>
                    <a:ext uri="{FF2B5EF4-FFF2-40B4-BE49-F238E27FC236}">
                      <a16:creationId xmlns:a16="http://schemas.microsoft.com/office/drawing/2014/main" id="{E43D9128-9C6A-4C7F-43F6-903BF3C8F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44000" r="-40000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电势">
              <a:extLst>
                <a:ext uri="{FF2B5EF4-FFF2-40B4-BE49-F238E27FC236}">
                  <a16:creationId xmlns:a16="http://schemas.microsoft.com/office/drawing/2014/main" id="{2F310709-433E-903F-8249-3EECAC866BF3}"/>
                </a:ext>
              </a:extLst>
            </p:cNvPr>
            <p:cNvCxnSpPr>
              <a:cxnSpLocks/>
            </p:cNvCxnSpPr>
            <p:nvPr/>
          </p:nvCxnSpPr>
          <p:spPr>
            <a:xfrm>
              <a:off x="5573616" y="2150948"/>
              <a:ext cx="0" cy="423664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公式1">
                <a:extLst>
                  <a:ext uri="{FF2B5EF4-FFF2-40B4-BE49-F238E27FC236}">
                    <a16:creationId xmlns:a16="http://schemas.microsoft.com/office/drawing/2014/main" id="{CA5808D3-E828-7101-BCFC-B441466C8F24}"/>
                  </a:ext>
                </a:extLst>
              </p:cNvPr>
              <p:cNvSpPr txBox="1"/>
              <p:nvPr/>
            </p:nvSpPr>
            <p:spPr>
              <a:xfrm>
                <a:off x="5527674" y="4929203"/>
                <a:ext cx="68139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电机时间常数</a:t>
                </a:r>
                <a:endParaRPr lang="zh-CN" altLang="en-US" sz="2800" i="1" dirty="0"/>
              </a:p>
            </p:txBody>
          </p:sp>
        </mc:Choice>
        <mc:Fallback xmlns="">
          <p:sp>
            <p:nvSpPr>
              <p:cNvPr id="56" name="公式1">
                <a:extLst>
                  <a:ext uri="{FF2B5EF4-FFF2-40B4-BE49-F238E27FC236}">
                    <a16:creationId xmlns:a16="http://schemas.microsoft.com/office/drawing/2014/main" id="{CA5808D3-E828-7101-BCFC-B441466C8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674" y="4929203"/>
                <a:ext cx="6813953" cy="523220"/>
              </a:xfrm>
              <a:prstGeom prst="rect">
                <a:avLst/>
              </a:prstGeom>
              <a:blipFill>
                <a:blip r:embed="rId15"/>
                <a:stretch>
                  <a:fillRect l="-558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公式2">
                <a:extLst>
                  <a:ext uri="{FF2B5EF4-FFF2-40B4-BE49-F238E27FC236}">
                    <a16:creationId xmlns:a16="http://schemas.microsoft.com/office/drawing/2014/main" id="{35828201-7490-B5B9-BFCB-E3E84E5887BE}"/>
                  </a:ext>
                </a:extLst>
              </p:cNvPr>
              <p:cNvSpPr txBox="1"/>
              <p:nvPr/>
            </p:nvSpPr>
            <p:spPr>
              <a:xfrm>
                <a:off x="0" y="5595139"/>
                <a:ext cx="5616624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7" name="公式2">
                <a:extLst>
                  <a:ext uri="{FF2B5EF4-FFF2-40B4-BE49-F238E27FC236}">
                    <a16:creationId xmlns:a16="http://schemas.microsoft.com/office/drawing/2014/main" id="{35828201-7490-B5B9-BFCB-E3E84E58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95139"/>
                <a:ext cx="5616624" cy="956929"/>
              </a:xfrm>
              <a:prstGeom prst="rect">
                <a:avLst/>
              </a:prstGeom>
              <a:blipFill>
                <a:blip r:embed="rId16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LC方程">
                <a:extLst>
                  <a:ext uri="{FF2B5EF4-FFF2-40B4-BE49-F238E27FC236}">
                    <a16:creationId xmlns:a16="http://schemas.microsoft.com/office/drawing/2014/main" id="{977DBB18-F139-E1AF-B03A-CBA48E645CAE}"/>
                  </a:ext>
                </a:extLst>
              </p:cNvPr>
              <p:cNvSpPr txBox="1"/>
              <p:nvPr/>
            </p:nvSpPr>
            <p:spPr>
              <a:xfrm>
                <a:off x="449228" y="1040606"/>
                <a:ext cx="5985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/>
                  <a:t>电枢回路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800" dirty="0"/>
                  <a:t>可希霍夫</a:t>
                </a:r>
              </a:p>
            </p:txBody>
          </p:sp>
        </mc:Choice>
        <mc:Fallback xmlns="">
          <p:sp>
            <p:nvSpPr>
              <p:cNvPr id="5" name="RLC方程">
                <a:extLst>
                  <a:ext uri="{FF2B5EF4-FFF2-40B4-BE49-F238E27FC236}">
                    <a16:creationId xmlns:a16="http://schemas.microsoft.com/office/drawing/2014/main" id="{977DBB18-F139-E1AF-B03A-CBA48E645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8" y="1040606"/>
                <a:ext cx="5985456" cy="523220"/>
              </a:xfrm>
              <a:prstGeom prst="rect">
                <a:avLst/>
              </a:prstGeom>
              <a:blipFill>
                <a:blip r:embed="rId17"/>
                <a:stretch>
                  <a:fillRect l="-2119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LC方程">
                <a:extLst>
                  <a:ext uri="{FF2B5EF4-FFF2-40B4-BE49-F238E27FC236}">
                    <a16:creationId xmlns:a16="http://schemas.microsoft.com/office/drawing/2014/main" id="{A3B92AA2-5372-CE08-F5F8-09099B01A720}"/>
                  </a:ext>
                </a:extLst>
              </p:cNvPr>
              <p:cNvSpPr txBox="1"/>
              <p:nvPr/>
            </p:nvSpPr>
            <p:spPr>
              <a:xfrm>
                <a:off x="449228" y="1737005"/>
                <a:ext cx="5985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0" dirty="0"/>
                  <a:t>电枢反电势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dirty="0"/>
                  <a:t>楞次定律</a:t>
                </a:r>
              </a:p>
            </p:txBody>
          </p:sp>
        </mc:Choice>
        <mc:Fallback xmlns="">
          <p:sp>
            <p:nvSpPr>
              <p:cNvPr id="6" name="RLC方程">
                <a:extLst>
                  <a:ext uri="{FF2B5EF4-FFF2-40B4-BE49-F238E27FC236}">
                    <a16:creationId xmlns:a16="http://schemas.microsoft.com/office/drawing/2014/main" id="{A3B92AA2-5372-CE08-F5F8-09099B01A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8" y="1737005"/>
                <a:ext cx="5985456" cy="523220"/>
              </a:xfrm>
              <a:prstGeom prst="rect">
                <a:avLst/>
              </a:prstGeom>
              <a:blipFill>
                <a:blip r:embed="rId18"/>
                <a:stretch>
                  <a:fillRect l="-2119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LC方程">
                <a:extLst>
                  <a:ext uri="{FF2B5EF4-FFF2-40B4-BE49-F238E27FC236}">
                    <a16:creationId xmlns:a16="http://schemas.microsoft.com/office/drawing/2014/main" id="{B83885BF-09F3-B905-D77D-FAD62BD1E051}"/>
                  </a:ext>
                </a:extLst>
              </p:cNvPr>
              <p:cNvSpPr txBox="1"/>
              <p:nvPr/>
            </p:nvSpPr>
            <p:spPr>
              <a:xfrm>
                <a:off x="449228" y="2433877"/>
                <a:ext cx="5985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电磁力矩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dirty="0"/>
                  <a:t>安培定律</a:t>
                </a:r>
              </a:p>
            </p:txBody>
          </p:sp>
        </mc:Choice>
        <mc:Fallback xmlns="">
          <p:sp>
            <p:nvSpPr>
              <p:cNvPr id="7" name="RLC方程">
                <a:extLst>
                  <a:ext uri="{FF2B5EF4-FFF2-40B4-BE49-F238E27FC236}">
                    <a16:creationId xmlns:a16="http://schemas.microsoft.com/office/drawing/2014/main" id="{B83885BF-09F3-B905-D77D-FAD62BD1E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8" y="2433877"/>
                <a:ext cx="5985456" cy="523220"/>
              </a:xfrm>
              <a:prstGeom prst="rect">
                <a:avLst/>
              </a:prstGeom>
              <a:blipFill>
                <a:blip r:embed="rId19"/>
                <a:stretch>
                  <a:fillRect l="-2119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LC方程">
                <a:extLst>
                  <a:ext uri="{FF2B5EF4-FFF2-40B4-BE49-F238E27FC236}">
                    <a16:creationId xmlns:a16="http://schemas.microsoft.com/office/drawing/2014/main" id="{A653FE0F-C88C-826B-4BDA-1703B2B04C42}"/>
                  </a:ext>
                </a:extLst>
              </p:cNvPr>
              <p:cNvSpPr txBox="1"/>
              <p:nvPr/>
            </p:nvSpPr>
            <p:spPr>
              <a:xfrm>
                <a:off x="419726" y="2975477"/>
                <a:ext cx="60149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力矩平衡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dirty="0"/>
                  <a:t>牛顿定律</a:t>
                </a:r>
              </a:p>
            </p:txBody>
          </p:sp>
        </mc:Choice>
        <mc:Fallback xmlns="">
          <p:sp>
            <p:nvSpPr>
              <p:cNvPr id="8" name="RLC方程">
                <a:extLst>
                  <a:ext uri="{FF2B5EF4-FFF2-40B4-BE49-F238E27FC236}">
                    <a16:creationId xmlns:a16="http://schemas.microsoft.com/office/drawing/2014/main" id="{A653FE0F-C88C-826B-4BDA-1703B2B04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6" y="2975477"/>
                <a:ext cx="6014958" cy="523220"/>
              </a:xfrm>
              <a:prstGeom prst="rect">
                <a:avLst/>
              </a:prstGeom>
              <a:blipFill>
                <a:blip r:embed="rId20"/>
                <a:stretch>
                  <a:fillRect l="-2110" t="-14286" r="-1899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LC方程">
                <a:extLst>
                  <a:ext uri="{FF2B5EF4-FFF2-40B4-BE49-F238E27FC236}">
                    <a16:creationId xmlns:a16="http://schemas.microsoft.com/office/drawing/2014/main" id="{E3C45ACB-D0F4-FAC6-D3CA-A634BB08CC53}"/>
                  </a:ext>
                </a:extLst>
              </p:cNvPr>
              <p:cNvSpPr txBox="1"/>
              <p:nvPr/>
            </p:nvSpPr>
            <p:spPr>
              <a:xfrm>
                <a:off x="449228" y="4095057"/>
                <a:ext cx="60149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消去中间变量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800" i="1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i="1" dirty="0"/>
                  <a:t>，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800" dirty="0"/>
                  <a:t>可得</a:t>
                </a:r>
              </a:p>
            </p:txBody>
          </p:sp>
        </mc:Choice>
        <mc:Fallback xmlns="">
          <p:sp>
            <p:nvSpPr>
              <p:cNvPr id="11" name="RLC方程">
                <a:extLst>
                  <a:ext uri="{FF2B5EF4-FFF2-40B4-BE49-F238E27FC236}">
                    <a16:creationId xmlns:a16="http://schemas.microsoft.com/office/drawing/2014/main" id="{E3C45ACB-D0F4-FAC6-D3CA-A634BB08C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8" y="4095057"/>
                <a:ext cx="6014958" cy="523220"/>
              </a:xfrm>
              <a:prstGeom prst="rect">
                <a:avLst/>
              </a:prstGeom>
              <a:blipFill>
                <a:blip r:embed="rId21"/>
                <a:stretch>
                  <a:fillRect l="-211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公式1">
                <a:extLst>
                  <a:ext uri="{FF2B5EF4-FFF2-40B4-BE49-F238E27FC236}">
                    <a16:creationId xmlns:a16="http://schemas.microsoft.com/office/drawing/2014/main" id="{ED5A5859-E1BA-A04A-75AB-EF567CDD8BEF}"/>
                  </a:ext>
                </a:extLst>
              </p:cNvPr>
              <p:cNvSpPr txBox="1"/>
              <p:nvPr/>
            </p:nvSpPr>
            <p:spPr>
              <a:xfrm>
                <a:off x="-97482" y="4682132"/>
                <a:ext cx="5058913" cy="913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2" name="公式1">
                <a:extLst>
                  <a:ext uri="{FF2B5EF4-FFF2-40B4-BE49-F238E27FC236}">
                    <a16:creationId xmlns:a16="http://schemas.microsoft.com/office/drawing/2014/main" id="{ED5A5859-E1BA-A04A-75AB-EF567CDD8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482" y="4682132"/>
                <a:ext cx="5058913" cy="913007"/>
              </a:xfrm>
              <a:prstGeom prst="rect">
                <a:avLst/>
              </a:prstGeom>
              <a:blipFill>
                <a:blip r:embed="rId22"/>
                <a:stretch>
                  <a:fillRect t="-1370"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公式1">
                <a:extLst>
                  <a:ext uri="{FF2B5EF4-FFF2-40B4-BE49-F238E27FC236}">
                    <a16:creationId xmlns:a16="http://schemas.microsoft.com/office/drawing/2014/main" id="{B3714F04-78F5-2D29-ED02-F7C455B6BE89}"/>
                  </a:ext>
                </a:extLst>
              </p:cNvPr>
              <p:cNvSpPr txBox="1"/>
              <p:nvPr/>
            </p:nvSpPr>
            <p:spPr>
              <a:xfrm>
                <a:off x="5604553" y="5806300"/>
                <a:ext cx="68139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电机传递系数</a:t>
                </a:r>
                <a:endParaRPr lang="zh-CN" altLang="en-US" sz="2800" i="1" dirty="0"/>
              </a:p>
            </p:txBody>
          </p:sp>
        </mc:Choice>
        <mc:Fallback xmlns="">
          <p:sp>
            <p:nvSpPr>
              <p:cNvPr id="13" name="公式1">
                <a:extLst>
                  <a:ext uri="{FF2B5EF4-FFF2-40B4-BE49-F238E27FC236}">
                    <a16:creationId xmlns:a16="http://schemas.microsoft.com/office/drawing/2014/main" id="{B3714F04-78F5-2D29-ED02-F7C455B6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553" y="5806300"/>
                <a:ext cx="6813953" cy="523220"/>
              </a:xfrm>
              <a:prstGeom prst="rect">
                <a:avLst/>
              </a:prstGeom>
              <a:blipFill>
                <a:blip r:embed="rId23"/>
                <a:stretch>
                  <a:fillRect l="-559" t="-11628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LC方程">
                <a:extLst>
                  <a:ext uri="{FF2B5EF4-FFF2-40B4-BE49-F238E27FC236}">
                    <a16:creationId xmlns:a16="http://schemas.microsoft.com/office/drawing/2014/main" id="{2FDEFF0C-FF24-2CC3-1D3B-7959E3A9B1C7}"/>
                  </a:ext>
                </a:extLst>
              </p:cNvPr>
              <p:cNvSpPr txBox="1"/>
              <p:nvPr/>
            </p:nvSpPr>
            <p:spPr>
              <a:xfrm>
                <a:off x="1319313" y="3498697"/>
                <a:ext cx="2225322" cy="543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RLC方程">
                <a:extLst>
                  <a:ext uri="{FF2B5EF4-FFF2-40B4-BE49-F238E27FC236}">
                    <a16:creationId xmlns:a16="http://schemas.microsoft.com/office/drawing/2014/main" id="{2FDEFF0C-FF24-2CC3-1D3B-7959E3A9B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13" y="3498697"/>
                <a:ext cx="2225322" cy="54329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8138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3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8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300"/>
                            </p:stCondLst>
                            <p:childTnLst>
                              <p:par>
                                <p:cTn id="6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22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 animBg="1"/>
      <p:bldP spid="17" grpId="0" animBg="1"/>
      <p:bldP spid="18" grpId="0"/>
      <p:bldP spid="43" grpId="0" animBg="1"/>
      <p:bldP spid="44" grpId="0"/>
      <p:bldP spid="45" grpId="0"/>
      <p:bldP spid="46" grpId="0" animBg="1"/>
      <p:bldP spid="47" grpId="0"/>
      <p:bldP spid="48" grpId="0"/>
      <p:bldP spid="56" grpId="0"/>
      <p:bldP spid="57" grpId="0"/>
      <p:bldP spid="5" grpId="0" rev="1"/>
      <p:bldP spid="6" grpId="0" rev="1"/>
      <p:bldP spid="7" grpId="0" rev="1"/>
      <p:bldP spid="8" grpId="0" rev="1"/>
      <p:bldP spid="11" grpId="0" rev="1"/>
      <p:bldP spid="12" grpId="0"/>
      <p:bldP spid="13" grpId="0"/>
      <p:bldP spid="15" grpId="0" rev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非线性模型的线性化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80635FE-76EC-91D2-A83A-2A59959B7DD4}"/>
                  </a:ext>
                </a:extLst>
              </p:cNvPr>
              <p:cNvSpPr txBox="1"/>
              <p:nvPr/>
            </p:nvSpPr>
            <p:spPr>
              <a:xfrm>
                <a:off x="2760116" y="1188150"/>
                <a:ext cx="26151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80635FE-76EC-91D2-A83A-2A59959B7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116" y="1188150"/>
                <a:ext cx="261515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E94212-EDC3-90F1-94A4-9BDEFDF8082E}"/>
                  </a:ext>
                </a:extLst>
              </p:cNvPr>
              <p:cNvSpPr txBox="1"/>
              <p:nvPr/>
            </p:nvSpPr>
            <p:spPr>
              <a:xfrm>
                <a:off x="2792362" y="1782034"/>
                <a:ext cx="26151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̈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E94212-EDC3-90F1-94A4-9BDEFDF8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362" y="1782034"/>
                <a:ext cx="26151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A6402098-B39C-049C-0E20-577B98DAE502}"/>
              </a:ext>
            </a:extLst>
          </p:cNvPr>
          <p:cNvSpPr txBox="1"/>
          <p:nvPr/>
        </p:nvSpPr>
        <p:spPr>
          <a:xfrm>
            <a:off x="5507561" y="1188150"/>
            <a:ext cx="2615158" cy="52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线性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EC82E8-E668-E553-49F3-4181F98F04D8}"/>
              </a:ext>
            </a:extLst>
          </p:cNvPr>
          <p:cNvSpPr txBox="1"/>
          <p:nvPr/>
        </p:nvSpPr>
        <p:spPr>
          <a:xfrm>
            <a:off x="5507561" y="1782034"/>
            <a:ext cx="2615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非线性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A1BC237-EE8C-759E-C17E-103EA2611D30}"/>
              </a:ext>
            </a:extLst>
          </p:cNvPr>
          <p:cNvSpPr txBox="1"/>
          <p:nvPr/>
        </p:nvSpPr>
        <p:spPr>
          <a:xfrm>
            <a:off x="406574" y="2375918"/>
            <a:ext cx="7848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/>
              <a:t>在给定工作点附近将非线性模型展开为泰勒级数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B18A12F-D606-87B0-0E8E-3BDB8500C3DC}"/>
                  </a:ext>
                </a:extLst>
              </p:cNvPr>
              <p:cNvSpPr txBox="1"/>
              <p:nvPr/>
            </p:nvSpPr>
            <p:spPr>
              <a:xfrm>
                <a:off x="443355" y="2980737"/>
                <a:ext cx="10128411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sSup>
                                    <m:sSup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B18A12F-D606-87B0-0E8E-3BDB8500C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5" y="2980737"/>
                <a:ext cx="10128411" cy="1162947"/>
              </a:xfrm>
              <a:prstGeom prst="rect">
                <a:avLst/>
              </a:prstGeom>
              <a:blipFill>
                <a:blip r:embed="rId4"/>
                <a:stretch>
                  <a:fillRect l="-376" t="-181720" b="-253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23E37273-4032-5DC0-1476-16C4755A6872}"/>
              </a:ext>
            </a:extLst>
          </p:cNvPr>
          <p:cNvSpPr txBox="1"/>
          <p:nvPr/>
        </p:nvSpPr>
        <p:spPr>
          <a:xfrm>
            <a:off x="443355" y="4225283"/>
            <a:ext cx="7848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/>
              <a:t>略去 </a:t>
            </a:r>
            <a:r>
              <a:rPr kumimoji="1" lang="en-US" altLang="zh-CN" sz="2800" dirty="0"/>
              <a:t>2 </a:t>
            </a:r>
            <a:r>
              <a:rPr kumimoji="1" lang="zh-CN" altLang="en-US" sz="2800" dirty="0"/>
              <a:t>次及高阶项，得到线性化方程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5F9DC92-7F4D-6E90-8DCE-D710642B87A3}"/>
                  </a:ext>
                </a:extLst>
              </p:cNvPr>
              <p:cNvSpPr txBox="1"/>
              <p:nvPr/>
            </p:nvSpPr>
            <p:spPr>
              <a:xfrm>
                <a:off x="2994862" y="4830102"/>
                <a:ext cx="4223903" cy="523220"/>
              </a:xfrm>
              <a:prstGeom prst="rect">
                <a:avLst/>
              </a:prstGeom>
              <a:noFill/>
            </p:spPr>
            <p:txBody>
              <a:bodyPr wrap="square" lIns="9000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5F9DC92-7F4D-6E90-8DCE-D710642B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862" y="4830102"/>
                <a:ext cx="4223903" cy="523220"/>
              </a:xfrm>
              <a:prstGeom prst="rect">
                <a:avLst/>
              </a:prstGeom>
              <a:blipFill>
                <a:blip r:embed="rId5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2132E279-5612-5EC2-FBF2-D711A05530FE}"/>
              </a:ext>
            </a:extLst>
          </p:cNvPr>
          <p:cNvSpPr txBox="1"/>
          <p:nvPr/>
        </p:nvSpPr>
        <p:spPr>
          <a:xfrm>
            <a:off x="431056" y="5434921"/>
            <a:ext cx="78488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chemeClr val="tx1"/>
                </a:solidFill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01B78F4-5CE2-4F3F-CE4B-B175424ABDE9}"/>
                  </a:ext>
                </a:extLst>
              </p:cNvPr>
              <p:cNvSpPr txBox="1"/>
              <p:nvPr/>
            </p:nvSpPr>
            <p:spPr>
              <a:xfrm>
                <a:off x="2638822" y="5516520"/>
                <a:ext cx="6002914" cy="1162947"/>
              </a:xfrm>
              <a:prstGeom prst="rect">
                <a:avLst/>
              </a:prstGeom>
              <a:noFill/>
            </p:spPr>
            <p:txBody>
              <a:bodyPr wrap="square" lIns="9000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01B78F4-5CE2-4F3F-CE4B-B175424AB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22" y="5516520"/>
                <a:ext cx="6002914" cy="1162947"/>
              </a:xfrm>
              <a:prstGeom prst="rect">
                <a:avLst/>
              </a:prstGeom>
              <a:blipFill>
                <a:blip r:embed="rId6"/>
                <a:stretch>
                  <a:fillRect t="-182796" r="-2743" b="-253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20875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非线性模型的线性化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A266A33-2851-1A32-B20F-DF332CC9D9EB}"/>
              </a:ext>
            </a:extLst>
          </p:cNvPr>
          <p:cNvGrpSpPr/>
          <p:nvPr/>
        </p:nvGrpSpPr>
        <p:grpSpPr>
          <a:xfrm>
            <a:off x="1152220" y="2276872"/>
            <a:ext cx="4223054" cy="2781857"/>
            <a:chOff x="1709844" y="2759806"/>
            <a:chExt cx="4223054" cy="2781857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2166E60-E124-CE3C-8386-972DD0AC455D}"/>
                </a:ext>
              </a:extLst>
            </p:cNvPr>
            <p:cNvGrpSpPr/>
            <p:nvPr/>
          </p:nvGrpSpPr>
          <p:grpSpPr>
            <a:xfrm rot="10800000">
              <a:off x="1709844" y="5301208"/>
              <a:ext cx="2570036" cy="240455"/>
              <a:chOff x="1996810" y="2132856"/>
              <a:chExt cx="2570036" cy="240455"/>
            </a:xfrm>
          </p:grpSpPr>
          <p:cxnSp>
            <p:nvCxnSpPr>
              <p:cNvPr id="4" name="直线连接符 3">
                <a:extLst>
                  <a:ext uri="{FF2B5EF4-FFF2-40B4-BE49-F238E27FC236}">
                    <a16:creationId xmlns:a16="http://schemas.microsoft.com/office/drawing/2014/main" id="{2D6780C4-0E41-4BA9-4021-90C75D24C55A}"/>
                  </a:ext>
                </a:extLst>
              </p:cNvPr>
              <p:cNvCxnSpPr/>
              <p:nvPr/>
            </p:nvCxnSpPr>
            <p:spPr>
              <a:xfrm>
                <a:off x="1996810" y="2373311"/>
                <a:ext cx="2352012" cy="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1AB4CE22-301C-DB0C-4B93-7F9C6F4389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681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3F87D92D-04B5-A05A-3E59-E407728BBF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211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1D3247FD-BD93-8746-BBE9-A062C52D3C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742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CBBC062E-3E1E-27EA-1374-A1B61A2D1D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6272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7EF75CF2-AC83-29DB-2690-AF9B3EA50A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803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CC4B0E20-5057-3D13-18CF-5CF97648B4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333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6FF486CE-A5E6-3B0F-E0E7-D5150729A7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864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14B8D4B1-BA3A-2DD1-3914-AD707C28C2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394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B72869C-5093-FEF3-F627-D4D74CDC26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925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16">
                <a:extLst>
                  <a:ext uri="{FF2B5EF4-FFF2-40B4-BE49-F238E27FC236}">
                    <a16:creationId xmlns:a16="http://schemas.microsoft.com/office/drawing/2014/main" id="{3F1290CF-AB8A-B7AF-47B8-90A16A438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9455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线连接符 17">
                <a:extLst>
                  <a:ext uri="{FF2B5EF4-FFF2-40B4-BE49-F238E27FC236}">
                    <a16:creationId xmlns:a16="http://schemas.microsoft.com/office/drawing/2014/main" id="{D9844C25-7454-CE9B-ED64-6A47966792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4986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线连接符 18">
                <a:extLst>
                  <a:ext uri="{FF2B5EF4-FFF2-40B4-BE49-F238E27FC236}">
                    <a16:creationId xmlns:a16="http://schemas.microsoft.com/office/drawing/2014/main" id="{3522964C-BB5B-EF56-10D1-C79626BBDE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0516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线连接符 19">
                <a:extLst>
                  <a:ext uri="{FF2B5EF4-FFF2-40B4-BE49-F238E27FC236}">
                    <a16:creationId xmlns:a16="http://schemas.microsoft.com/office/drawing/2014/main" id="{9733310D-3B73-CBE5-CB00-B8793436C5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047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线连接符 20">
                <a:extLst>
                  <a:ext uri="{FF2B5EF4-FFF2-40B4-BE49-F238E27FC236}">
                    <a16:creationId xmlns:a16="http://schemas.microsoft.com/office/drawing/2014/main" id="{FCF3B08B-F9AA-C00C-95BF-BC1A5CCE0D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1577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FC0C3DA6-89F0-4D9E-CCC0-37F99835C9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7108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>
                <a:extLst>
                  <a:ext uri="{FF2B5EF4-FFF2-40B4-BE49-F238E27FC236}">
                    <a16:creationId xmlns:a16="http://schemas.microsoft.com/office/drawing/2014/main" id="{B758A82B-960D-7A74-105E-7088DCBC08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26392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弹簧">
              <a:extLst>
                <a:ext uri="{FF2B5EF4-FFF2-40B4-BE49-F238E27FC236}">
                  <a16:creationId xmlns:a16="http://schemas.microsoft.com/office/drawing/2014/main" id="{DD0B75E4-DE2A-670A-D209-AB1DCACDE526}"/>
                </a:ext>
              </a:extLst>
            </p:cNvPr>
            <p:cNvSpPr/>
            <p:nvPr/>
          </p:nvSpPr>
          <p:spPr>
            <a:xfrm rot="5400000">
              <a:off x="2642612" y="4353079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M">
                  <a:extLst>
                    <a:ext uri="{FF2B5EF4-FFF2-40B4-BE49-F238E27FC236}">
                      <a16:creationId xmlns:a16="http://schemas.microsoft.com/office/drawing/2014/main" id="{DE19BFF4-5C8C-E64F-EAB4-C42249F4B1D2}"/>
                    </a:ext>
                  </a:extLst>
                </p:cNvPr>
                <p:cNvSpPr/>
                <p:nvPr/>
              </p:nvSpPr>
              <p:spPr>
                <a:xfrm>
                  <a:off x="2491805" y="2759806"/>
                  <a:ext cx="1224136" cy="66919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M">
                  <a:extLst>
                    <a:ext uri="{FF2B5EF4-FFF2-40B4-BE49-F238E27FC236}">
                      <a16:creationId xmlns:a16="http://schemas.microsoft.com/office/drawing/2014/main" id="{DE19BFF4-5C8C-E64F-EAB4-C42249F4B1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805" y="2759806"/>
                  <a:ext cx="1224136" cy="66919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线段1">
              <a:extLst>
                <a:ext uri="{FF2B5EF4-FFF2-40B4-BE49-F238E27FC236}">
                  <a16:creationId xmlns:a16="http://schemas.microsoft.com/office/drawing/2014/main" id="{2BC004F8-D374-F3E1-631A-CA6A7E30F774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 flipH="1">
              <a:off x="3033925" y="3567809"/>
              <a:ext cx="1181" cy="51042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线段2">
              <a:extLst>
                <a:ext uri="{FF2B5EF4-FFF2-40B4-BE49-F238E27FC236}">
                  <a16:creationId xmlns:a16="http://schemas.microsoft.com/office/drawing/2014/main" id="{3718B9E8-059A-C10B-C442-873F55B8843C}"/>
                </a:ext>
              </a:extLst>
            </p:cNvPr>
            <p:cNvCxnSpPr>
              <a:cxnSpLocks/>
              <a:stCxn id="63" idx="9"/>
            </p:cNvCxnSpPr>
            <p:nvPr/>
          </p:nvCxnSpPr>
          <p:spPr>
            <a:xfrm flipH="1">
              <a:off x="3032687" y="4863219"/>
              <a:ext cx="1119" cy="437245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M">
              <a:extLst>
                <a:ext uri="{FF2B5EF4-FFF2-40B4-BE49-F238E27FC236}">
                  <a16:creationId xmlns:a16="http://schemas.microsoft.com/office/drawing/2014/main" id="{3EFF1037-38CF-C508-2B89-4158FF5E645C}"/>
                </a:ext>
              </a:extLst>
            </p:cNvPr>
            <p:cNvSpPr/>
            <p:nvPr/>
          </p:nvSpPr>
          <p:spPr>
            <a:xfrm>
              <a:off x="2106737" y="3439947"/>
              <a:ext cx="1932688" cy="1523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线段2">
              <a:extLst>
                <a:ext uri="{FF2B5EF4-FFF2-40B4-BE49-F238E27FC236}">
                  <a16:creationId xmlns:a16="http://schemas.microsoft.com/office/drawing/2014/main" id="{C186A053-E2D8-77A7-CA51-0FE516E2D30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425" y="3592316"/>
              <a:ext cx="1335849" cy="0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线段2">
              <a:extLst>
                <a:ext uri="{FF2B5EF4-FFF2-40B4-BE49-F238E27FC236}">
                  <a16:creationId xmlns:a16="http://schemas.microsoft.com/office/drawing/2014/main" id="{08DEE54D-8178-7A2B-B58D-70F53B8ED16F}"/>
                </a:ext>
              </a:extLst>
            </p:cNvPr>
            <p:cNvCxnSpPr>
              <a:cxnSpLocks/>
            </p:cNvCxnSpPr>
            <p:nvPr/>
          </p:nvCxnSpPr>
          <p:spPr>
            <a:xfrm>
              <a:off x="4872189" y="3610414"/>
              <a:ext cx="0" cy="970714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E427DE7-5448-EE32-EB24-3A057E2FA4B0}"/>
                    </a:ext>
                  </a:extLst>
                </p:cNvPr>
                <p:cNvSpPr txBox="1"/>
                <p:nvPr/>
              </p:nvSpPr>
              <p:spPr>
                <a:xfrm>
                  <a:off x="4989835" y="3834161"/>
                  <a:ext cx="94306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E427DE7-5448-EE32-EB24-3A057E2FA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835" y="3834161"/>
                  <a:ext cx="943063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316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线段2">
            <a:extLst>
              <a:ext uri="{FF2B5EF4-FFF2-40B4-BE49-F238E27FC236}">
                <a16:creationId xmlns:a16="http://schemas.microsoft.com/office/drawing/2014/main" id="{9C0119D1-62A8-8717-AFA5-1F658983956D}"/>
              </a:ext>
            </a:extLst>
          </p:cNvPr>
          <p:cNvCxnSpPr>
            <a:cxnSpLocks/>
          </p:cNvCxnSpPr>
          <p:nvPr/>
        </p:nvCxnSpPr>
        <p:spPr>
          <a:xfrm>
            <a:off x="6959302" y="5330160"/>
            <a:ext cx="3816424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线段2">
            <a:extLst>
              <a:ext uri="{FF2B5EF4-FFF2-40B4-BE49-F238E27FC236}">
                <a16:creationId xmlns:a16="http://schemas.microsoft.com/office/drawing/2014/main" id="{A672053A-E3A8-A81E-85CD-151C29BDC4DE}"/>
              </a:ext>
            </a:extLst>
          </p:cNvPr>
          <p:cNvCxnSpPr>
            <a:cxnSpLocks/>
          </p:cNvCxnSpPr>
          <p:nvPr/>
        </p:nvCxnSpPr>
        <p:spPr>
          <a:xfrm flipV="1">
            <a:off x="6959302" y="1784340"/>
            <a:ext cx="0" cy="3561887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C46D8F56-8FBF-B448-4C99-FF2537CF5957}"/>
              </a:ext>
            </a:extLst>
          </p:cNvPr>
          <p:cNvSpPr/>
          <p:nvPr/>
        </p:nvSpPr>
        <p:spPr>
          <a:xfrm>
            <a:off x="7005484" y="1892382"/>
            <a:ext cx="2580968" cy="3436374"/>
          </a:xfrm>
          <a:custGeom>
            <a:avLst/>
            <a:gdLst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430593 w 2580968"/>
              <a:gd name="connsiteY1" fmla="*/ 2625212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430593 w 2580968"/>
              <a:gd name="connsiteY1" fmla="*/ 2625212 h 3436374"/>
              <a:gd name="connsiteX2" fmla="*/ 2580968 w 2580968"/>
              <a:gd name="connsiteY2" fmla="*/ 0 h 3436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0968" h="3436374">
                <a:moveTo>
                  <a:pt x="0" y="3436374"/>
                </a:moveTo>
                <a:cubicBezTo>
                  <a:pt x="448597" y="3361403"/>
                  <a:pt x="956186" y="3153695"/>
                  <a:pt x="1430593" y="2625212"/>
                </a:cubicBezTo>
                <a:cubicBezTo>
                  <a:pt x="1905000" y="2096729"/>
                  <a:pt x="2360971" y="864009"/>
                  <a:pt x="2580968" y="0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B14174F7-53E3-67DF-CE3C-40E71504BB50}"/>
              </a:ext>
            </a:extLst>
          </p:cNvPr>
          <p:cNvCxnSpPr>
            <a:cxnSpLocks/>
          </p:cNvCxnSpPr>
          <p:nvPr/>
        </p:nvCxnSpPr>
        <p:spPr>
          <a:xfrm flipH="1">
            <a:off x="8054696" y="2144380"/>
            <a:ext cx="1863659" cy="309367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7E6BC5DC-EAE4-60A7-1C57-A5E7BC31F170}"/>
              </a:ext>
            </a:extLst>
          </p:cNvPr>
          <p:cNvCxnSpPr>
            <a:cxnSpLocks/>
          </p:cNvCxnSpPr>
          <p:nvPr/>
        </p:nvCxnSpPr>
        <p:spPr>
          <a:xfrm>
            <a:off x="8724944" y="4174003"/>
            <a:ext cx="0" cy="1154753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CA5CD68C-4330-EB36-D9CF-107CFA4DCCF1}"/>
              </a:ext>
            </a:extLst>
          </p:cNvPr>
          <p:cNvCxnSpPr>
            <a:cxnSpLocks/>
          </p:cNvCxnSpPr>
          <p:nvPr/>
        </p:nvCxnSpPr>
        <p:spPr>
          <a:xfrm flipH="1">
            <a:off x="6962936" y="4174003"/>
            <a:ext cx="1762008" cy="0"/>
          </a:xfrm>
          <a:prstGeom prst="line">
            <a:avLst/>
          </a:prstGeom>
          <a:ln w="254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1795556-4580-2F06-EDE6-945E45644AEB}"/>
                  </a:ext>
                </a:extLst>
              </p:cNvPr>
              <p:cNvSpPr txBox="1"/>
              <p:nvPr/>
            </p:nvSpPr>
            <p:spPr>
              <a:xfrm>
                <a:off x="7459668" y="5448954"/>
                <a:ext cx="2163720" cy="71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𝑀𝑔</m:t>
                              </m:r>
                            </m:e>
                          </m:d>
                        </m:e>
                        <m:sup>
                          <m:box>
                            <m:box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1795556-4580-2F06-EDE6-945E45644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68" y="5448954"/>
                <a:ext cx="2163720" cy="716350"/>
              </a:xfrm>
              <a:prstGeom prst="rect">
                <a:avLst/>
              </a:prstGeom>
              <a:blipFill>
                <a:blip r:embed="rId4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B4E88521-FD5C-131B-702C-5B96166562B9}"/>
                  </a:ext>
                </a:extLst>
              </p:cNvPr>
              <p:cNvSpPr txBox="1"/>
              <p:nvPr/>
            </p:nvSpPr>
            <p:spPr>
              <a:xfrm>
                <a:off x="6881273" y="3207108"/>
                <a:ext cx="2163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</a:rPr>
                        <m:t>𝑀𝑔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B4E88521-FD5C-131B-702C-5B9616656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273" y="3207108"/>
                <a:ext cx="2163720" cy="523220"/>
              </a:xfrm>
              <a:prstGeom prst="rect">
                <a:avLst/>
              </a:prstGeom>
              <a:blipFill>
                <a:blip r:embed="rId5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36B728D6-39C8-1F8A-71C3-41DDB3EACF42}"/>
                  </a:ext>
                </a:extLst>
              </p:cNvPr>
              <p:cNvSpPr txBox="1"/>
              <p:nvPr/>
            </p:nvSpPr>
            <p:spPr>
              <a:xfrm>
                <a:off x="9524169" y="2983809"/>
                <a:ext cx="2163720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36B728D6-39C8-1F8A-71C3-41DDB3EAC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169" y="2983809"/>
                <a:ext cx="2163720" cy="1162947"/>
              </a:xfrm>
              <a:prstGeom prst="rect">
                <a:avLst/>
              </a:prstGeom>
              <a:blipFill>
                <a:blip r:embed="rId6"/>
                <a:stretch>
                  <a:fillRect l="-25581" t="-181720" r="-40116" b="-253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A8207B0A-7D1D-F6FF-4F18-CFACA7D786F6}"/>
              </a:ext>
            </a:extLst>
          </p:cNvPr>
          <p:cNvCxnSpPr>
            <a:cxnSpLocks/>
          </p:cNvCxnSpPr>
          <p:nvPr/>
        </p:nvCxnSpPr>
        <p:spPr>
          <a:xfrm flipH="1" flipV="1">
            <a:off x="9842445" y="2576428"/>
            <a:ext cx="353904" cy="28858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211E3DF-472C-E5CA-0B3F-38B2DACEA5DB}"/>
              </a:ext>
            </a:extLst>
          </p:cNvPr>
          <p:cNvSpPr txBox="1"/>
          <p:nvPr/>
        </p:nvSpPr>
        <p:spPr>
          <a:xfrm>
            <a:off x="9200062" y="4519320"/>
            <a:ext cx="1387194" cy="52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均衡点</a:t>
            </a:r>
          </a:p>
        </p:txBody>
      </p: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4AE0D47D-4B59-4F02-1037-3D6F967869C8}"/>
              </a:ext>
            </a:extLst>
          </p:cNvPr>
          <p:cNvCxnSpPr>
            <a:cxnSpLocks/>
          </p:cNvCxnSpPr>
          <p:nvPr/>
        </p:nvCxnSpPr>
        <p:spPr>
          <a:xfrm flipH="1" flipV="1">
            <a:off x="8855268" y="4073522"/>
            <a:ext cx="715308" cy="42973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28BB0E6-66C3-94F4-9384-412019AEDC82}"/>
                  </a:ext>
                </a:extLst>
              </p:cNvPr>
              <p:cNvSpPr txBox="1"/>
              <p:nvPr/>
            </p:nvSpPr>
            <p:spPr>
              <a:xfrm>
                <a:off x="10937669" y="5044015"/>
                <a:ext cx="77161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28BB0E6-66C3-94F4-9384-412019AE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7669" y="5044015"/>
                <a:ext cx="771615" cy="524695"/>
              </a:xfrm>
              <a:prstGeom prst="rect">
                <a:avLst/>
              </a:prstGeom>
              <a:blipFill>
                <a:blip r:embed="rId7"/>
                <a:stretch>
                  <a:fillRect l="-14516" r="-8065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504F6CB9-7653-A6E0-618D-ED436FED7C80}"/>
                  </a:ext>
                </a:extLst>
              </p:cNvPr>
              <p:cNvSpPr txBox="1"/>
              <p:nvPr/>
            </p:nvSpPr>
            <p:spPr>
              <a:xfrm>
                <a:off x="6688053" y="1109870"/>
                <a:ext cx="77161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504F6CB9-7653-A6E0-618D-ED436FED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053" y="1109870"/>
                <a:ext cx="771615" cy="524695"/>
              </a:xfrm>
              <a:prstGeom prst="rect">
                <a:avLst/>
              </a:prstGeom>
              <a:blipFill>
                <a:blip r:embed="rId8"/>
                <a:stretch>
                  <a:fillRect l="-17742" r="-806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BDF811F4-7EA6-6155-784A-B07CEEEA6EF0}"/>
                  </a:ext>
                </a:extLst>
              </p:cNvPr>
              <p:cNvSpPr txBox="1"/>
              <p:nvPr/>
            </p:nvSpPr>
            <p:spPr>
              <a:xfrm>
                <a:off x="1433033" y="5213847"/>
                <a:ext cx="2163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BDF811F4-7EA6-6155-784A-B07CEEEA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033" y="5213847"/>
                <a:ext cx="2163720" cy="523220"/>
              </a:xfrm>
              <a:prstGeom prst="rect">
                <a:avLst/>
              </a:prstGeom>
              <a:blipFill>
                <a:blip r:embed="rId9"/>
                <a:stretch>
                  <a:fillRect l="-4070" r="-581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>
            <a:extLst>
              <a:ext uri="{FF2B5EF4-FFF2-40B4-BE49-F238E27FC236}">
                <a16:creationId xmlns:a16="http://schemas.microsoft.com/office/drawing/2014/main" id="{91AA302C-CB69-F230-3569-C990E8E1E122}"/>
              </a:ext>
            </a:extLst>
          </p:cNvPr>
          <p:cNvSpPr txBox="1"/>
          <p:nvPr/>
        </p:nvSpPr>
        <p:spPr>
          <a:xfrm>
            <a:off x="826145" y="3554745"/>
            <a:ext cx="1387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/>
              <a:t>非线性弹簧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89899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非线性模型的线性化</a:t>
            </a:r>
          </a:p>
        </p:txBody>
      </p:sp>
      <p:cxnSp>
        <p:nvCxnSpPr>
          <p:cNvPr id="76" name="线段2">
            <a:extLst>
              <a:ext uri="{FF2B5EF4-FFF2-40B4-BE49-F238E27FC236}">
                <a16:creationId xmlns:a16="http://schemas.microsoft.com/office/drawing/2014/main" id="{9C0119D1-62A8-8717-AFA5-1F658983956D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6913848" y="3739424"/>
            <a:ext cx="4015454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线段2">
            <a:extLst>
              <a:ext uri="{FF2B5EF4-FFF2-40B4-BE49-F238E27FC236}">
                <a16:creationId xmlns:a16="http://schemas.microsoft.com/office/drawing/2014/main" id="{A672053A-E3A8-A81E-85CD-151C29BDC4DE}"/>
              </a:ext>
            </a:extLst>
          </p:cNvPr>
          <p:cNvCxnSpPr>
            <a:cxnSpLocks/>
          </p:cNvCxnSpPr>
          <p:nvPr/>
        </p:nvCxnSpPr>
        <p:spPr>
          <a:xfrm flipV="1">
            <a:off x="8975526" y="1787254"/>
            <a:ext cx="0" cy="3561887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形状 84">
            <a:extLst>
              <a:ext uri="{FF2B5EF4-FFF2-40B4-BE49-F238E27FC236}">
                <a16:creationId xmlns:a16="http://schemas.microsoft.com/office/drawing/2014/main" id="{C46D8F56-8FBF-B448-4C99-FF2537CF5957}"/>
              </a:ext>
            </a:extLst>
          </p:cNvPr>
          <p:cNvSpPr/>
          <p:nvPr/>
        </p:nvSpPr>
        <p:spPr>
          <a:xfrm>
            <a:off x="7526596" y="2517048"/>
            <a:ext cx="2895600" cy="2482428"/>
          </a:xfrm>
          <a:custGeom>
            <a:avLst/>
            <a:gdLst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710813 w 2580968"/>
              <a:gd name="connsiteY1" fmla="*/ 2300748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430593 w 2580968"/>
              <a:gd name="connsiteY1" fmla="*/ 2625212 h 3436374"/>
              <a:gd name="connsiteX2" fmla="*/ 2580968 w 2580968"/>
              <a:gd name="connsiteY2" fmla="*/ 0 h 3436374"/>
              <a:gd name="connsiteX0" fmla="*/ 0 w 2580968"/>
              <a:gd name="connsiteY0" fmla="*/ 3436374 h 3436374"/>
              <a:gd name="connsiteX1" fmla="*/ 1430593 w 2580968"/>
              <a:gd name="connsiteY1" fmla="*/ 2625212 h 3436374"/>
              <a:gd name="connsiteX2" fmla="*/ 2580968 w 2580968"/>
              <a:gd name="connsiteY2" fmla="*/ 0 h 3436374"/>
              <a:gd name="connsiteX0" fmla="*/ 0 w 2541639"/>
              <a:gd name="connsiteY0" fmla="*/ 1863213 h 2678649"/>
              <a:gd name="connsiteX1" fmla="*/ 1391264 w 2541639"/>
              <a:gd name="connsiteY1" fmla="*/ 2625212 h 2678649"/>
              <a:gd name="connsiteX2" fmla="*/ 2541639 w 2541639"/>
              <a:gd name="connsiteY2" fmla="*/ 0 h 2678649"/>
              <a:gd name="connsiteX0" fmla="*/ 0 w 2541639"/>
              <a:gd name="connsiteY0" fmla="*/ 1863213 h 2717548"/>
              <a:gd name="connsiteX1" fmla="*/ 1391264 w 2541639"/>
              <a:gd name="connsiteY1" fmla="*/ 2625212 h 2717548"/>
              <a:gd name="connsiteX2" fmla="*/ 2541639 w 2541639"/>
              <a:gd name="connsiteY2" fmla="*/ 0 h 2717548"/>
              <a:gd name="connsiteX0" fmla="*/ 0 w 2541639"/>
              <a:gd name="connsiteY0" fmla="*/ 1863213 h 2788261"/>
              <a:gd name="connsiteX1" fmla="*/ 1027471 w 2541639"/>
              <a:gd name="connsiteY1" fmla="*/ 2703871 h 2788261"/>
              <a:gd name="connsiteX2" fmla="*/ 2541639 w 2541639"/>
              <a:gd name="connsiteY2" fmla="*/ 0 h 2788261"/>
              <a:gd name="connsiteX0" fmla="*/ 0 w 2541639"/>
              <a:gd name="connsiteY0" fmla="*/ 1863213 h 2704096"/>
              <a:gd name="connsiteX1" fmla="*/ 1027471 w 2541639"/>
              <a:gd name="connsiteY1" fmla="*/ 2703871 h 2704096"/>
              <a:gd name="connsiteX2" fmla="*/ 2541639 w 2541639"/>
              <a:gd name="connsiteY2" fmla="*/ 0 h 2704096"/>
              <a:gd name="connsiteX0" fmla="*/ 0 w 2541639"/>
              <a:gd name="connsiteY0" fmla="*/ 1863213 h 2704427"/>
              <a:gd name="connsiteX1" fmla="*/ 1027471 w 2541639"/>
              <a:gd name="connsiteY1" fmla="*/ 2703871 h 2704427"/>
              <a:gd name="connsiteX2" fmla="*/ 2541639 w 2541639"/>
              <a:gd name="connsiteY2" fmla="*/ 0 h 2704427"/>
              <a:gd name="connsiteX0" fmla="*/ 0 w 2541639"/>
              <a:gd name="connsiteY0" fmla="*/ 1863213 h 2704427"/>
              <a:gd name="connsiteX1" fmla="*/ 1027471 w 2541639"/>
              <a:gd name="connsiteY1" fmla="*/ 2703871 h 2704427"/>
              <a:gd name="connsiteX2" fmla="*/ 2168013 w 2541639"/>
              <a:gd name="connsiteY2" fmla="*/ 1027799 h 2704427"/>
              <a:gd name="connsiteX3" fmla="*/ 2541639 w 2541639"/>
              <a:gd name="connsiteY3" fmla="*/ 0 h 2704427"/>
              <a:gd name="connsiteX0" fmla="*/ 0 w 2541639"/>
              <a:gd name="connsiteY0" fmla="*/ 1863213 h 2751796"/>
              <a:gd name="connsiteX1" fmla="*/ 1027471 w 2541639"/>
              <a:gd name="connsiteY1" fmla="*/ 2703871 h 2751796"/>
              <a:gd name="connsiteX2" fmla="*/ 2266335 w 2541639"/>
              <a:gd name="connsiteY2" fmla="*/ 614844 h 2751796"/>
              <a:gd name="connsiteX3" fmla="*/ 2541639 w 2541639"/>
              <a:gd name="connsiteY3" fmla="*/ 0 h 2751796"/>
              <a:gd name="connsiteX0" fmla="*/ 0 w 2541639"/>
              <a:gd name="connsiteY0" fmla="*/ 1863213 h 2751796"/>
              <a:gd name="connsiteX1" fmla="*/ 1027471 w 2541639"/>
              <a:gd name="connsiteY1" fmla="*/ 2703871 h 2751796"/>
              <a:gd name="connsiteX2" fmla="*/ 2266335 w 2541639"/>
              <a:gd name="connsiteY2" fmla="*/ 614844 h 2751796"/>
              <a:gd name="connsiteX3" fmla="*/ 2541639 w 2541639"/>
              <a:gd name="connsiteY3" fmla="*/ 0 h 2751796"/>
              <a:gd name="connsiteX0" fmla="*/ 0 w 2541639"/>
              <a:gd name="connsiteY0" fmla="*/ 1863213 h 2751796"/>
              <a:gd name="connsiteX1" fmla="*/ 1027471 w 2541639"/>
              <a:gd name="connsiteY1" fmla="*/ 2703871 h 2751796"/>
              <a:gd name="connsiteX2" fmla="*/ 2266335 w 2541639"/>
              <a:gd name="connsiteY2" fmla="*/ 614844 h 2751796"/>
              <a:gd name="connsiteX3" fmla="*/ 2541639 w 2541639"/>
              <a:gd name="connsiteY3" fmla="*/ 0 h 2751796"/>
              <a:gd name="connsiteX0" fmla="*/ 0 w 2915264"/>
              <a:gd name="connsiteY0" fmla="*/ 1276089 h 2164672"/>
              <a:gd name="connsiteX1" fmla="*/ 1027471 w 2915264"/>
              <a:gd name="connsiteY1" fmla="*/ 2116747 h 2164672"/>
              <a:gd name="connsiteX2" fmla="*/ 2266335 w 2915264"/>
              <a:gd name="connsiteY2" fmla="*/ 27720 h 2164672"/>
              <a:gd name="connsiteX3" fmla="*/ 2915264 w 2915264"/>
              <a:gd name="connsiteY3" fmla="*/ 799224 h 2164672"/>
              <a:gd name="connsiteX0" fmla="*/ 0 w 2915264"/>
              <a:gd name="connsiteY0" fmla="*/ 1290299 h 2178882"/>
              <a:gd name="connsiteX1" fmla="*/ 1027471 w 2915264"/>
              <a:gd name="connsiteY1" fmla="*/ 2130957 h 2178882"/>
              <a:gd name="connsiteX2" fmla="*/ 2266335 w 2915264"/>
              <a:gd name="connsiteY2" fmla="*/ 41930 h 2178882"/>
              <a:gd name="connsiteX3" fmla="*/ 2915264 w 2915264"/>
              <a:gd name="connsiteY3" fmla="*/ 813434 h 2178882"/>
              <a:gd name="connsiteX0" fmla="*/ 0 w 3200400"/>
              <a:gd name="connsiteY0" fmla="*/ 1261211 h 2149794"/>
              <a:gd name="connsiteX1" fmla="*/ 1027471 w 3200400"/>
              <a:gd name="connsiteY1" fmla="*/ 2101869 h 2149794"/>
              <a:gd name="connsiteX2" fmla="*/ 2266335 w 3200400"/>
              <a:gd name="connsiteY2" fmla="*/ 12842 h 2149794"/>
              <a:gd name="connsiteX3" fmla="*/ 3200400 w 3200400"/>
              <a:gd name="connsiteY3" fmla="*/ 1246462 h 2149794"/>
              <a:gd name="connsiteX0" fmla="*/ 0 w 3200400"/>
              <a:gd name="connsiteY0" fmla="*/ 1263376 h 2151959"/>
              <a:gd name="connsiteX1" fmla="*/ 1027471 w 3200400"/>
              <a:gd name="connsiteY1" fmla="*/ 2104034 h 2151959"/>
              <a:gd name="connsiteX2" fmla="*/ 2266335 w 3200400"/>
              <a:gd name="connsiteY2" fmla="*/ 15007 h 2151959"/>
              <a:gd name="connsiteX3" fmla="*/ 3200400 w 3200400"/>
              <a:gd name="connsiteY3" fmla="*/ 1248627 h 2151959"/>
              <a:gd name="connsiteX0" fmla="*/ 0 w 2718619"/>
              <a:gd name="connsiteY0" fmla="*/ 1263376 h 2151959"/>
              <a:gd name="connsiteX1" fmla="*/ 545690 w 2718619"/>
              <a:gd name="connsiteY1" fmla="*/ 2104034 h 2151959"/>
              <a:gd name="connsiteX2" fmla="*/ 1784554 w 2718619"/>
              <a:gd name="connsiteY2" fmla="*/ 15007 h 2151959"/>
              <a:gd name="connsiteX3" fmla="*/ 2718619 w 2718619"/>
              <a:gd name="connsiteY3" fmla="*/ 1248627 h 2151959"/>
              <a:gd name="connsiteX0" fmla="*/ 0 w 2895600"/>
              <a:gd name="connsiteY0" fmla="*/ 1263376 h 2151959"/>
              <a:gd name="connsiteX1" fmla="*/ 545690 w 2895600"/>
              <a:gd name="connsiteY1" fmla="*/ 2104034 h 2151959"/>
              <a:gd name="connsiteX2" fmla="*/ 1784554 w 2895600"/>
              <a:gd name="connsiteY2" fmla="*/ 15007 h 2151959"/>
              <a:gd name="connsiteX3" fmla="*/ 2895600 w 2895600"/>
              <a:gd name="connsiteY3" fmla="*/ 1248627 h 2151959"/>
              <a:gd name="connsiteX0" fmla="*/ 0 w 2895600"/>
              <a:gd name="connsiteY0" fmla="*/ 1253690 h 2141723"/>
              <a:gd name="connsiteX1" fmla="*/ 545690 w 2895600"/>
              <a:gd name="connsiteY1" fmla="*/ 2094348 h 2141723"/>
              <a:gd name="connsiteX2" fmla="*/ 2158179 w 2895600"/>
              <a:gd name="connsiteY2" fmla="*/ 15153 h 2141723"/>
              <a:gd name="connsiteX3" fmla="*/ 2895600 w 2895600"/>
              <a:gd name="connsiteY3" fmla="*/ 1238941 h 2141723"/>
              <a:gd name="connsiteX0" fmla="*/ 0 w 2895600"/>
              <a:gd name="connsiteY0" fmla="*/ 1238561 h 2126594"/>
              <a:gd name="connsiteX1" fmla="*/ 545690 w 2895600"/>
              <a:gd name="connsiteY1" fmla="*/ 2079219 h 2126594"/>
              <a:gd name="connsiteX2" fmla="*/ 2158179 w 2895600"/>
              <a:gd name="connsiteY2" fmla="*/ 24 h 2126594"/>
              <a:gd name="connsiteX3" fmla="*/ 2895600 w 2895600"/>
              <a:gd name="connsiteY3" fmla="*/ 1223812 h 2126594"/>
              <a:gd name="connsiteX0" fmla="*/ 0 w 2895600"/>
              <a:gd name="connsiteY0" fmla="*/ 1267926 h 2541742"/>
              <a:gd name="connsiteX1" fmla="*/ 722671 w 2895600"/>
              <a:gd name="connsiteY1" fmla="*/ 2511706 h 2541742"/>
              <a:gd name="connsiteX2" fmla="*/ 2158179 w 2895600"/>
              <a:gd name="connsiteY2" fmla="*/ 29389 h 2541742"/>
              <a:gd name="connsiteX3" fmla="*/ 2895600 w 2895600"/>
              <a:gd name="connsiteY3" fmla="*/ 1253177 h 2541742"/>
              <a:gd name="connsiteX0" fmla="*/ 0 w 2895600"/>
              <a:gd name="connsiteY0" fmla="*/ 1267926 h 2511706"/>
              <a:gd name="connsiteX1" fmla="*/ 722671 w 2895600"/>
              <a:gd name="connsiteY1" fmla="*/ 2511706 h 2511706"/>
              <a:gd name="connsiteX2" fmla="*/ 2158179 w 2895600"/>
              <a:gd name="connsiteY2" fmla="*/ 29389 h 2511706"/>
              <a:gd name="connsiteX3" fmla="*/ 2895600 w 2895600"/>
              <a:gd name="connsiteY3" fmla="*/ 1253177 h 2511706"/>
              <a:gd name="connsiteX0" fmla="*/ 0 w 2895600"/>
              <a:gd name="connsiteY0" fmla="*/ 1238548 h 2482328"/>
              <a:gd name="connsiteX1" fmla="*/ 722671 w 2895600"/>
              <a:gd name="connsiteY1" fmla="*/ 2482328 h 2482328"/>
              <a:gd name="connsiteX2" fmla="*/ 2158179 w 2895600"/>
              <a:gd name="connsiteY2" fmla="*/ 11 h 2482328"/>
              <a:gd name="connsiteX3" fmla="*/ 2895600 w 2895600"/>
              <a:gd name="connsiteY3" fmla="*/ 1223799 h 2482328"/>
              <a:gd name="connsiteX0" fmla="*/ 0 w 2895600"/>
              <a:gd name="connsiteY0" fmla="*/ 1238548 h 2512364"/>
              <a:gd name="connsiteX1" fmla="*/ 722671 w 2895600"/>
              <a:gd name="connsiteY1" fmla="*/ 2482328 h 2512364"/>
              <a:gd name="connsiteX2" fmla="*/ 2187676 w 2895600"/>
              <a:gd name="connsiteY2" fmla="*/ 11 h 2512364"/>
              <a:gd name="connsiteX3" fmla="*/ 2895600 w 2895600"/>
              <a:gd name="connsiteY3" fmla="*/ 1223799 h 2512364"/>
              <a:gd name="connsiteX0" fmla="*/ 0 w 2895600"/>
              <a:gd name="connsiteY0" fmla="*/ 1238548 h 2482428"/>
              <a:gd name="connsiteX1" fmla="*/ 722671 w 2895600"/>
              <a:gd name="connsiteY1" fmla="*/ 2482328 h 2482428"/>
              <a:gd name="connsiteX2" fmla="*/ 2187676 w 2895600"/>
              <a:gd name="connsiteY2" fmla="*/ 11 h 2482428"/>
              <a:gd name="connsiteX3" fmla="*/ 2895600 w 2895600"/>
              <a:gd name="connsiteY3" fmla="*/ 1223799 h 248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2482428">
                <a:moveTo>
                  <a:pt x="0" y="1238548"/>
                </a:moveTo>
                <a:cubicBezTo>
                  <a:pt x="192958" y="1783009"/>
                  <a:pt x="289233" y="2492106"/>
                  <a:pt x="722671" y="2482328"/>
                </a:cubicBezTo>
                <a:cubicBezTo>
                  <a:pt x="1156109" y="2472550"/>
                  <a:pt x="1756695" y="3288"/>
                  <a:pt x="2187676" y="11"/>
                </a:cubicBezTo>
                <a:cubicBezTo>
                  <a:pt x="2618657" y="-3266"/>
                  <a:pt x="2715342" y="756002"/>
                  <a:pt x="2895600" y="1223799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1795556-4580-2F06-EDE6-945E45644AEB}"/>
                  </a:ext>
                </a:extLst>
              </p:cNvPr>
              <p:cNvSpPr txBox="1"/>
              <p:nvPr/>
            </p:nvSpPr>
            <p:spPr>
              <a:xfrm>
                <a:off x="7820922" y="3850343"/>
                <a:ext cx="723770" cy="824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1795556-4580-2F06-EDE6-945E45644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922" y="3850343"/>
                <a:ext cx="723770" cy="824456"/>
              </a:xfrm>
              <a:prstGeom prst="rect">
                <a:avLst/>
              </a:prstGeom>
              <a:blipFill>
                <a:blip r:embed="rId3"/>
                <a:stretch>
                  <a:fillRect l="-1724"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28BB0E6-66C3-94F4-9384-412019AEDC82}"/>
                  </a:ext>
                </a:extLst>
              </p:cNvPr>
              <p:cNvSpPr txBox="1"/>
              <p:nvPr/>
            </p:nvSpPr>
            <p:spPr>
              <a:xfrm>
                <a:off x="10929302" y="3477076"/>
                <a:ext cx="77161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28BB0E6-66C3-94F4-9384-412019AE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302" y="3477076"/>
                <a:ext cx="771615" cy="524695"/>
              </a:xfrm>
              <a:prstGeom prst="rect">
                <a:avLst/>
              </a:prstGeom>
              <a:blipFill>
                <a:blip r:embed="rId4"/>
                <a:stretch>
                  <a:fillRect l="-12903" r="-806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504F6CB9-7653-A6E0-618D-ED436FED7C80}"/>
                  </a:ext>
                </a:extLst>
              </p:cNvPr>
              <p:cNvSpPr txBox="1"/>
              <p:nvPr/>
            </p:nvSpPr>
            <p:spPr>
              <a:xfrm>
                <a:off x="8588588" y="1142110"/>
                <a:ext cx="7716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504F6CB9-7653-A6E0-618D-ED436FED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588" y="1142110"/>
                <a:ext cx="771615" cy="523220"/>
              </a:xfrm>
              <a:prstGeom prst="rect">
                <a:avLst/>
              </a:prstGeom>
              <a:blipFill>
                <a:blip r:embed="rId5"/>
                <a:stretch>
                  <a:fillRect l="-14754" r="-9836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E3995B06-2092-3DB7-4362-F9CE51FAE69A}"/>
              </a:ext>
            </a:extLst>
          </p:cNvPr>
          <p:cNvGrpSpPr/>
          <p:nvPr/>
        </p:nvGrpSpPr>
        <p:grpSpPr>
          <a:xfrm>
            <a:off x="1572148" y="2436272"/>
            <a:ext cx="3957908" cy="2801786"/>
            <a:chOff x="1414686" y="1372217"/>
            <a:chExt cx="3957908" cy="2801786"/>
          </a:xfrm>
        </p:grpSpPr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35EB2FC8-F520-F931-1D45-2D9619F91604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2152254" y="1616001"/>
              <a:ext cx="0" cy="253075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187B8FF9-16A0-6AA8-76E8-E53AB0C6702F}"/>
                </a:ext>
              </a:extLst>
            </p:cNvPr>
            <p:cNvCxnSpPr>
              <a:cxnSpLocks/>
              <a:stCxn id="6" idx="2"/>
              <a:endCxn id="2" idx="1"/>
            </p:cNvCxnSpPr>
            <p:nvPr/>
          </p:nvCxnSpPr>
          <p:spPr>
            <a:xfrm>
              <a:off x="2152254" y="1616001"/>
              <a:ext cx="1642658" cy="2120681"/>
            </a:xfrm>
            <a:prstGeom prst="lin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2166E60-E124-CE3C-8386-972DD0AC455D}"/>
                </a:ext>
              </a:extLst>
            </p:cNvPr>
            <p:cNvGrpSpPr/>
            <p:nvPr/>
          </p:nvGrpSpPr>
          <p:grpSpPr>
            <a:xfrm>
              <a:off x="1414686" y="1372217"/>
              <a:ext cx="2570036" cy="240455"/>
              <a:chOff x="1996810" y="2132856"/>
              <a:chExt cx="2570036" cy="240455"/>
            </a:xfrm>
          </p:grpSpPr>
          <p:cxnSp>
            <p:nvCxnSpPr>
              <p:cNvPr id="4" name="直线连接符 3">
                <a:extLst>
                  <a:ext uri="{FF2B5EF4-FFF2-40B4-BE49-F238E27FC236}">
                    <a16:creationId xmlns:a16="http://schemas.microsoft.com/office/drawing/2014/main" id="{2D6780C4-0E41-4BA9-4021-90C75D24C55A}"/>
                  </a:ext>
                </a:extLst>
              </p:cNvPr>
              <p:cNvCxnSpPr/>
              <p:nvPr/>
            </p:nvCxnSpPr>
            <p:spPr>
              <a:xfrm>
                <a:off x="1996810" y="2373311"/>
                <a:ext cx="2352012" cy="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1AB4CE22-301C-DB0C-4B93-7F9C6F4389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681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3F87D92D-04B5-A05A-3E59-E407728BBF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211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1D3247FD-BD93-8746-BBE9-A062C52D3C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0742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CBBC062E-3E1E-27EA-1374-A1B61A2D1D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6272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7EF75CF2-AC83-29DB-2690-AF9B3EA50A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803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CC4B0E20-5057-3D13-18CF-5CF97648B4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333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6FF486CE-A5E6-3B0F-E0E7-D5150729A7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864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14B8D4B1-BA3A-2DD1-3914-AD707C28C2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394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FB72869C-5093-FEF3-F627-D4D74CDC26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925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16">
                <a:extLst>
                  <a:ext uri="{FF2B5EF4-FFF2-40B4-BE49-F238E27FC236}">
                    <a16:creationId xmlns:a16="http://schemas.microsoft.com/office/drawing/2014/main" id="{3F1290CF-AB8A-B7AF-47B8-90A16A438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9455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线连接符 17">
                <a:extLst>
                  <a:ext uri="{FF2B5EF4-FFF2-40B4-BE49-F238E27FC236}">
                    <a16:creationId xmlns:a16="http://schemas.microsoft.com/office/drawing/2014/main" id="{D9844C25-7454-CE9B-ED64-6A47966792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4986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线连接符 18">
                <a:extLst>
                  <a:ext uri="{FF2B5EF4-FFF2-40B4-BE49-F238E27FC236}">
                    <a16:creationId xmlns:a16="http://schemas.microsoft.com/office/drawing/2014/main" id="{3522964C-BB5B-EF56-10D1-C79626BBDE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0516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线连接符 19">
                <a:extLst>
                  <a:ext uri="{FF2B5EF4-FFF2-40B4-BE49-F238E27FC236}">
                    <a16:creationId xmlns:a16="http://schemas.microsoft.com/office/drawing/2014/main" id="{9733310D-3B73-CBE5-CB00-B8793436C5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047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线连接符 20">
                <a:extLst>
                  <a:ext uri="{FF2B5EF4-FFF2-40B4-BE49-F238E27FC236}">
                    <a16:creationId xmlns:a16="http://schemas.microsoft.com/office/drawing/2014/main" id="{FCF3B08B-F9AA-C00C-95BF-BC1A5CCE0D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15775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连接符 21">
                <a:extLst>
                  <a:ext uri="{FF2B5EF4-FFF2-40B4-BE49-F238E27FC236}">
                    <a16:creationId xmlns:a16="http://schemas.microsoft.com/office/drawing/2014/main" id="{FC0C3DA6-89F0-4D9E-CCC0-37F99835C9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71080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>
                <a:extLst>
                  <a:ext uri="{FF2B5EF4-FFF2-40B4-BE49-F238E27FC236}">
                    <a16:creationId xmlns:a16="http://schemas.microsoft.com/office/drawing/2014/main" id="{B758A82B-960D-7A74-105E-7088DCBC08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26392" y="2132856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21DCC617-A468-0B40-A3FD-12C44705B10F}"/>
                </a:ext>
              </a:extLst>
            </p:cNvPr>
            <p:cNvSpPr/>
            <p:nvPr/>
          </p:nvSpPr>
          <p:spPr>
            <a:xfrm>
              <a:off x="3729937" y="3671707"/>
              <a:ext cx="443675" cy="443675"/>
            </a:xfrm>
            <a:prstGeom prst="ellipse">
              <a:avLst/>
            </a:prstGeom>
            <a:gradFill flip="none" rotWithShape="1">
              <a:gsLst>
                <a:gs pos="8000">
                  <a:schemeClr val="accent1">
                    <a:lumMod val="0"/>
                    <a:lumOff val="100000"/>
                  </a:schemeClr>
                </a:gs>
                <a:gs pos="66000">
                  <a:schemeClr val="accent1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弦形 5">
              <a:extLst>
                <a:ext uri="{FF2B5EF4-FFF2-40B4-BE49-F238E27FC236}">
                  <a16:creationId xmlns:a16="http://schemas.microsoft.com/office/drawing/2014/main" id="{2212508F-E782-2C85-BC51-E30A10235C52}"/>
                </a:ext>
              </a:extLst>
            </p:cNvPr>
            <p:cNvSpPr/>
            <p:nvPr/>
          </p:nvSpPr>
          <p:spPr>
            <a:xfrm>
              <a:off x="1919239" y="1401607"/>
              <a:ext cx="465915" cy="465915"/>
            </a:xfrm>
            <a:prstGeom prst="chord">
              <a:avLst>
                <a:gd name="adj1" fmla="val 21336439"/>
                <a:gd name="adj2" fmla="val 11084906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弧 30">
              <a:extLst>
                <a:ext uri="{FF2B5EF4-FFF2-40B4-BE49-F238E27FC236}">
                  <a16:creationId xmlns:a16="http://schemas.microsoft.com/office/drawing/2014/main" id="{914832EF-B340-1FD2-7C69-4A8C778C114E}"/>
                </a:ext>
              </a:extLst>
            </p:cNvPr>
            <p:cNvSpPr/>
            <p:nvPr/>
          </p:nvSpPr>
          <p:spPr>
            <a:xfrm rot="6772305">
              <a:off x="1585877" y="1933711"/>
              <a:ext cx="1909573" cy="1861557"/>
            </a:xfrm>
            <a:prstGeom prst="arc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C5D8529-A688-A19F-D6BF-726C10CE948D}"/>
                    </a:ext>
                  </a:extLst>
                </p:cNvPr>
                <p:cNvSpPr txBox="1"/>
                <p:nvPr/>
              </p:nvSpPr>
              <p:spPr>
                <a:xfrm>
                  <a:off x="2387677" y="3147411"/>
                  <a:ext cx="771615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C5D8529-A688-A19F-D6BF-726C10CE9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7677" y="3147411"/>
                  <a:ext cx="771615" cy="524695"/>
                </a:xfrm>
                <a:prstGeom prst="rect">
                  <a:avLst/>
                </a:prstGeom>
                <a:blipFill>
                  <a:blip r:embed="rId4"/>
                  <a:stretch>
                    <a:fillRect l="-12903" r="-8065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F9D6BDB-42CD-674C-000A-F6F50BB4C4C5}"/>
                    </a:ext>
                  </a:extLst>
                </p:cNvPr>
                <p:cNvSpPr txBox="1"/>
                <p:nvPr/>
              </p:nvSpPr>
              <p:spPr>
                <a:xfrm>
                  <a:off x="2957057" y="2254899"/>
                  <a:ext cx="128818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800" dirty="0"/>
                    <a:t>长度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F9D6BDB-42CD-674C-000A-F6F50BB4C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057" y="2254899"/>
                  <a:ext cx="1288181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941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17B8B70-38CB-8830-77E0-D502363CD42D}"/>
                    </a:ext>
                  </a:extLst>
                </p:cNvPr>
                <p:cNvSpPr txBox="1"/>
                <p:nvPr/>
              </p:nvSpPr>
              <p:spPr>
                <a:xfrm>
                  <a:off x="4084413" y="3650783"/>
                  <a:ext cx="128818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sz="2800" b="0" dirty="0">
                      <a:solidFill>
                        <a:schemeClr val="tx1"/>
                      </a:solidFill>
                    </a:rPr>
                    <a:t>质量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17B8B70-38CB-8830-77E0-D502363C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4413" y="3650783"/>
                  <a:ext cx="1288181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863" t="-1428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3936C707-DB87-6A57-3F17-8EE2898A09E7}"/>
              </a:ext>
            </a:extLst>
          </p:cNvPr>
          <p:cNvCxnSpPr>
            <a:cxnSpLocks/>
          </p:cNvCxnSpPr>
          <p:nvPr/>
        </p:nvCxnSpPr>
        <p:spPr>
          <a:xfrm>
            <a:off x="7535366" y="3628505"/>
            <a:ext cx="0" cy="221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867BDB01-D333-4B45-88FD-F5A9812639B8}"/>
              </a:ext>
            </a:extLst>
          </p:cNvPr>
          <p:cNvCxnSpPr>
            <a:cxnSpLocks/>
          </p:cNvCxnSpPr>
          <p:nvPr/>
        </p:nvCxnSpPr>
        <p:spPr>
          <a:xfrm>
            <a:off x="8255446" y="3628505"/>
            <a:ext cx="0" cy="221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129CA631-D9F7-E282-F0E6-835A8BBFC8D0}"/>
              </a:ext>
            </a:extLst>
          </p:cNvPr>
          <p:cNvCxnSpPr>
            <a:cxnSpLocks/>
          </p:cNvCxnSpPr>
          <p:nvPr/>
        </p:nvCxnSpPr>
        <p:spPr>
          <a:xfrm>
            <a:off x="9695606" y="3628505"/>
            <a:ext cx="0" cy="221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B7C30E3-4853-356B-D173-12F2A1F5646B}"/>
              </a:ext>
            </a:extLst>
          </p:cNvPr>
          <p:cNvCxnSpPr>
            <a:cxnSpLocks/>
          </p:cNvCxnSpPr>
          <p:nvPr/>
        </p:nvCxnSpPr>
        <p:spPr>
          <a:xfrm>
            <a:off x="10415686" y="3628505"/>
            <a:ext cx="0" cy="22183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C2C46E9-E7A3-08C6-1FB7-C9AE985E9DE8}"/>
                  </a:ext>
                </a:extLst>
              </p:cNvPr>
              <p:cNvSpPr txBox="1"/>
              <p:nvPr/>
            </p:nvSpPr>
            <p:spPr>
              <a:xfrm>
                <a:off x="10106640" y="3842174"/>
                <a:ext cx="723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C2C46E9-E7A3-08C6-1FB7-C9AE985E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640" y="3842174"/>
                <a:ext cx="72377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FC958AC-3D35-15F0-2D8E-4FCAD9F45419}"/>
                  </a:ext>
                </a:extLst>
              </p:cNvPr>
              <p:cNvSpPr txBox="1"/>
              <p:nvPr/>
            </p:nvSpPr>
            <p:spPr>
              <a:xfrm>
                <a:off x="9374910" y="3850343"/>
                <a:ext cx="723770" cy="824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FC958AC-3D35-15F0-2D8E-4FCAD9F4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910" y="3850343"/>
                <a:ext cx="723770" cy="824456"/>
              </a:xfrm>
              <a:prstGeom prst="rect">
                <a:avLst/>
              </a:prstGeom>
              <a:blipFill>
                <a:blip r:embed="rId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F263C45-BCAC-8320-0B52-E439E87B880E}"/>
                  </a:ext>
                </a:extLst>
              </p:cNvPr>
              <p:cNvSpPr txBox="1"/>
              <p:nvPr/>
            </p:nvSpPr>
            <p:spPr>
              <a:xfrm>
                <a:off x="7335024" y="3213857"/>
                <a:ext cx="7237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F263C45-BCAC-8320-0B52-E439E87B8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24" y="3213857"/>
                <a:ext cx="72377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22D227D-E121-1DA3-2608-866F41506520}"/>
                  </a:ext>
                </a:extLst>
              </p:cNvPr>
              <p:cNvSpPr txBox="1"/>
              <p:nvPr/>
            </p:nvSpPr>
            <p:spPr>
              <a:xfrm>
                <a:off x="1311732" y="5621366"/>
                <a:ext cx="35567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𝑀𝑔𝐿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22D227D-E121-1DA3-2608-866F41506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32" y="5621366"/>
                <a:ext cx="3556775" cy="523220"/>
              </a:xfrm>
              <a:prstGeom prst="rect">
                <a:avLst/>
              </a:prstGeom>
              <a:blipFill>
                <a:blip r:embed="rId11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86337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DF679-F5D9-898F-711F-876F9E46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91515817-221A-A1A3-8011-CB0442083957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运动的模态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3015318-69B0-29B1-9DA6-70B62A437E44}"/>
                  </a:ext>
                </a:extLst>
              </p:cNvPr>
              <p:cNvSpPr txBox="1"/>
              <p:nvPr/>
            </p:nvSpPr>
            <p:spPr>
              <a:xfrm>
                <a:off x="617625" y="1172731"/>
                <a:ext cx="5818102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3015318-69B0-29B1-9DA6-70B62A437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25" y="1172731"/>
                <a:ext cx="5818102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B4E555CF-0D06-8084-960D-32A95060AF25}"/>
              </a:ext>
            </a:extLst>
          </p:cNvPr>
          <p:cNvSpPr txBox="1"/>
          <p:nvPr/>
        </p:nvSpPr>
        <p:spPr>
          <a:xfrm>
            <a:off x="6599262" y="1172731"/>
            <a:ext cx="3279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tx1"/>
                </a:solidFill>
              </a:rPr>
              <a:t>运动的模态、振型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4648449-A67F-DA9A-EC9B-68123A501161}"/>
                  </a:ext>
                </a:extLst>
              </p:cNvPr>
              <p:cNvSpPr txBox="1"/>
              <p:nvPr/>
            </p:nvSpPr>
            <p:spPr>
              <a:xfrm>
                <a:off x="617625" y="2037695"/>
                <a:ext cx="1157101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4648449-A67F-DA9A-EC9B-68123A501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25" y="2037695"/>
                <a:ext cx="115710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7190868-2B8A-CA8E-2EA5-BB974CBE9311}"/>
                  </a:ext>
                </a:extLst>
              </p:cNvPr>
              <p:cNvSpPr txBox="1"/>
              <p:nvPr/>
            </p:nvSpPr>
            <p:spPr>
              <a:xfrm>
                <a:off x="478582" y="2868910"/>
                <a:ext cx="2885293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7190868-2B8A-CA8E-2EA5-BB974CBE9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2" y="2868910"/>
                <a:ext cx="2885293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EF7248E-7834-768B-1F18-4B1ED16BBB2F}"/>
                  </a:ext>
                </a:extLst>
              </p:cNvPr>
              <p:cNvSpPr txBox="1"/>
              <p:nvPr/>
            </p:nvSpPr>
            <p:spPr>
              <a:xfrm>
                <a:off x="540674" y="3655050"/>
                <a:ext cx="3322284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EF7248E-7834-768B-1F18-4B1ED16B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74" y="3655050"/>
                <a:ext cx="3322284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3ADA5E6B-FDFE-1645-7455-E8F5524EEC61}"/>
              </a:ext>
            </a:extLst>
          </p:cNvPr>
          <p:cNvSpPr txBox="1"/>
          <p:nvPr/>
        </p:nvSpPr>
        <p:spPr>
          <a:xfrm>
            <a:off x="6599262" y="2021448"/>
            <a:ext cx="2086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/>
              <a:t>无重根模态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4E383B-2144-11D4-4D20-47C7C963E6FF}"/>
              </a:ext>
            </a:extLst>
          </p:cNvPr>
          <p:cNvSpPr txBox="1"/>
          <p:nvPr/>
        </p:nvSpPr>
        <p:spPr>
          <a:xfrm>
            <a:off x="6599262" y="2851353"/>
            <a:ext cx="2086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/>
              <a:t>多重根模态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1A67DCA-7B53-C3C0-B27F-93A72A1FBACC}"/>
              </a:ext>
            </a:extLst>
          </p:cNvPr>
          <p:cNvSpPr txBox="1"/>
          <p:nvPr/>
        </p:nvSpPr>
        <p:spPr>
          <a:xfrm>
            <a:off x="6600550" y="3655050"/>
            <a:ext cx="2086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/>
              <a:t>共轭复模态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2349727-CD07-EEC0-BC3E-55C70D0A7E60}"/>
                  </a:ext>
                </a:extLst>
              </p:cNvPr>
              <p:cNvSpPr txBox="1"/>
              <p:nvPr/>
            </p:nvSpPr>
            <p:spPr>
              <a:xfrm>
                <a:off x="838622" y="4441190"/>
                <a:ext cx="33222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2349727-CD07-EEC0-BC3E-55C70D0A7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4441190"/>
                <a:ext cx="3322284" cy="523220"/>
              </a:xfrm>
              <a:prstGeom prst="rect">
                <a:avLst/>
              </a:prstGeom>
              <a:blipFill>
                <a:blip r:embed="rId7"/>
                <a:stretch>
                  <a:fillRect l="-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>
            <a:extLst>
              <a:ext uri="{FF2B5EF4-FFF2-40B4-BE49-F238E27FC236}">
                <a16:creationId xmlns:a16="http://schemas.microsoft.com/office/drawing/2014/main" id="{8F7E63C9-9009-04A7-048D-DC090B727A78}"/>
              </a:ext>
            </a:extLst>
          </p:cNvPr>
          <p:cNvSpPr txBox="1"/>
          <p:nvPr/>
        </p:nvSpPr>
        <p:spPr>
          <a:xfrm>
            <a:off x="6611961" y="4458747"/>
            <a:ext cx="2086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/>
              <a:t>实函数模态</a:t>
            </a:r>
            <a:endParaRPr kumimoji="1"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7" name="说明">
            <a:extLst>
              <a:ext uri="{FF2B5EF4-FFF2-40B4-BE49-F238E27FC236}">
                <a16:creationId xmlns:a16="http://schemas.microsoft.com/office/drawing/2014/main" id="{CD0014B7-59B3-9558-3B9D-99BDE4060F66}"/>
              </a:ext>
            </a:extLst>
          </p:cNvPr>
          <p:cNvSpPr txBox="1"/>
          <p:nvPr/>
        </p:nvSpPr>
        <p:spPr>
          <a:xfrm>
            <a:off x="838622" y="5262444"/>
            <a:ext cx="7271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E44860"/>
                </a:solidFill>
                <a:latin typeface="+mn-ea"/>
              </a:rPr>
              <a:t>齐次微分方程的通解为运动模态的线性组合</a:t>
            </a:r>
          </a:p>
        </p:txBody>
      </p:sp>
    </p:spTree>
    <p:extLst>
      <p:ext uri="{BB962C8B-B14F-4D97-AF65-F5344CB8AC3E}">
        <p14:creationId xmlns:p14="http://schemas.microsoft.com/office/powerpoint/2010/main" val="406967835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865637" cy="725177"/>
            <a:chOff x="4943078" y="1700704"/>
            <a:chExt cx="2865637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05897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机理建模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865637" cy="725177"/>
            <a:chOff x="4943078" y="1700704"/>
            <a:chExt cx="2865637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39102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微分方程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877809" cy="725177"/>
            <a:chOff x="4943078" y="1700704"/>
            <a:chExt cx="287780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361026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线性近似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865636" cy="725177"/>
            <a:chOff x="4943078" y="1700704"/>
            <a:chExt cx="286563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39102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建模方法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85151" y="1081875"/>
            <a:ext cx="8467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电学、力学、热力学等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3388514" y="1880312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输入的各阶导数与输出的各阶导数的关系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388375" y="2703727"/>
            <a:ext cx="5443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单独环节描述，消去中间变量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388374" y="3550762"/>
            <a:ext cx="601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泰勒展开在均衡点的一阶项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寻找共性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799062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还原论的思想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4665" cy="974937"/>
            <a:chOff x="5348307" y="5538470"/>
            <a:chExt cx="6194665" cy="974937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7597" y="555930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为什么传函分母阶次要大于分子阶次？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试在不同领域寻找具有同样传递函数形式的系统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Smith, J. R., </a:t>
            </a:r>
            <a:r>
              <a:rPr lang="en" altLang="zh-CN" sz="2800" dirty="0" err="1"/>
              <a:t>Fatehi</a:t>
            </a:r>
            <a:r>
              <a:rPr lang="en" altLang="zh-CN" sz="2800" dirty="0"/>
              <a:t>, F., Woods, C. S., Hauer, J. F., &amp; </a:t>
            </a:r>
            <a:r>
              <a:rPr lang="en" altLang="zh-CN" sz="2800" dirty="0" err="1"/>
              <a:t>Trudnowski</a:t>
            </a:r>
            <a:r>
              <a:rPr lang="en" altLang="zh-CN" sz="2800" dirty="0"/>
              <a:t>, D. J. (1993). Transfer function identification in power system applications. IEEE Transactions on Power Systems, 8(3), 1282-1290.</a:t>
            </a:r>
          </a:p>
          <a:p>
            <a:pPr indent="-457200"/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Shui, H., Zhang, Y., Yang, H., Upadhyay, D., &amp; </a:t>
            </a:r>
            <a:r>
              <a:rPr lang="en" altLang="zh-CN" sz="2800" dirty="0" err="1"/>
              <a:t>Fujii</a:t>
            </a:r>
            <a:r>
              <a:rPr lang="en" altLang="zh-CN" sz="2800" dirty="0"/>
              <a:t>, Y. (2021). Machine learning approach for constructing wet clutch torque transfer function. SAE International Journal of Advances and Current Practices in Mobility, 3(2021-01-0712), 2738-2744.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36BF3F7-E39A-A0B6-6A3D-006594EC1145}"/>
              </a:ext>
            </a:extLst>
          </p:cNvPr>
          <p:cNvGrpSpPr/>
          <p:nvPr/>
        </p:nvGrpSpPr>
        <p:grpSpPr>
          <a:xfrm>
            <a:off x="740106" y="1275502"/>
            <a:ext cx="10659401" cy="2334374"/>
            <a:chOff x="740106" y="1275502"/>
            <a:chExt cx="10659401" cy="233437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传递函数与拉普拉斯变换：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/video/BV1Hb411a7kf?spm_id_from=333.999.0.0</a:t>
              </a:r>
              <a:endParaRPr lang="zh-CN" altLang="en-US" sz="2800" dirty="0"/>
            </a:p>
          </p:txBody>
        </p:sp>
        <p:pic>
          <p:nvPicPr>
            <p:cNvPr id="5" name="图片 4" descr="文本&#10;&#10;中度可信度描述已自动生成">
              <a:extLst>
                <a:ext uri="{FF2B5EF4-FFF2-40B4-BE49-F238E27FC236}">
                  <a16:creationId xmlns:a16="http://schemas.microsoft.com/office/drawing/2014/main" id="{5982677D-C18F-8515-E7D1-FDCB515E7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106" y="1412776"/>
              <a:ext cx="2070100" cy="2197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65B61B-F759-5C11-C457-42081D93D85F}"/>
              </a:ext>
            </a:extLst>
          </p:cNvPr>
          <p:cNvGrpSpPr/>
          <p:nvPr/>
        </p:nvGrpSpPr>
        <p:grpSpPr>
          <a:xfrm>
            <a:off x="4143113" y="3592429"/>
            <a:ext cx="7712337" cy="2933700"/>
            <a:chOff x="4143113" y="3592429"/>
            <a:chExt cx="7712337" cy="29337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43113" y="4884396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018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019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D8539326-7EE0-818B-A87B-A428CCA8D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1450" y="3592429"/>
              <a:ext cx="4064000" cy="293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op processing GIF">
            <a:extLst>
              <a:ext uri="{FF2B5EF4-FFF2-40B4-BE49-F238E27FC236}">
                <a16:creationId xmlns:a16="http://schemas.microsoft.com/office/drawing/2014/main" id="{4B09FA10-7457-EDCA-C428-7218D002B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374" y="2204864"/>
            <a:ext cx="3029529" cy="299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节段2">
            <a:extLst>
              <a:ext uri="{FF2B5EF4-FFF2-40B4-BE49-F238E27FC236}">
                <a16:creationId xmlns:a16="http://schemas.microsoft.com/office/drawing/2014/main" id="{83D95383-1DAF-6C86-7F7D-4906E9548315}"/>
              </a:ext>
            </a:extLst>
          </p:cNvPr>
          <p:cNvSpPr/>
          <p:nvPr/>
        </p:nvSpPr>
        <p:spPr bwMode="auto">
          <a:xfrm>
            <a:off x="389464" y="1440889"/>
            <a:ext cx="627192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标题">
            <a:extLst>
              <a:ext uri="{FF2B5EF4-FFF2-40B4-BE49-F238E27FC236}">
                <a16:creationId xmlns:a16="http://schemas.microsoft.com/office/drawing/2014/main" id="{0D9F92EB-3CA9-A902-A182-049D79C981E7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3948554605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23150</TotalTime>
  <Words>1464</Words>
  <Application>Microsoft Macintosh PowerPoint</Application>
  <PresentationFormat>自定义</PresentationFormat>
  <Paragraphs>212</Paragraphs>
  <Slides>21</Slides>
  <Notes>13</Notes>
  <HiddenSlides>4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555</cp:revision>
  <dcterms:created xsi:type="dcterms:W3CDTF">2012-09-21T08:06:35Z</dcterms:created>
  <dcterms:modified xsi:type="dcterms:W3CDTF">2025-02-19T02:21:27Z</dcterms:modified>
  <cp:category/>
</cp:coreProperties>
</file>