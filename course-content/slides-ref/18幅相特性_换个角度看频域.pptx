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353" r:id="rId2"/>
    <p:sldId id="522" r:id="rId3"/>
    <p:sldId id="523" r:id="rId4"/>
    <p:sldId id="537" r:id="rId5"/>
    <p:sldId id="550" r:id="rId6"/>
    <p:sldId id="529" r:id="rId7"/>
    <p:sldId id="552" r:id="rId8"/>
    <p:sldId id="543" r:id="rId9"/>
    <p:sldId id="544" r:id="rId10"/>
    <p:sldId id="545" r:id="rId11"/>
    <p:sldId id="546" r:id="rId12"/>
    <p:sldId id="553" r:id="rId13"/>
    <p:sldId id="547" r:id="rId14"/>
    <p:sldId id="548" r:id="rId15"/>
    <p:sldId id="549" r:id="rId16"/>
    <p:sldId id="551" r:id="rId17"/>
    <p:sldId id="554" r:id="rId18"/>
    <p:sldId id="555" r:id="rId19"/>
    <p:sldId id="556" r:id="rId20"/>
    <p:sldId id="557" r:id="rId21"/>
    <p:sldId id="558" r:id="rId22"/>
  </p:sldIdLst>
  <p:sldSz cx="12190413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67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pos="3840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6788" userDrawn="1">
          <p15:clr>
            <a:srgbClr val="A4A3A4"/>
          </p15:clr>
        </p15:guide>
        <p15:guide id="6" pos="3613" userDrawn="1">
          <p15:clr>
            <a:srgbClr val="A4A3A4"/>
          </p15:clr>
        </p15:guide>
        <p15:guide id="7" pos="5881" userDrawn="1">
          <p15:clr>
            <a:srgbClr val="A4A3A4"/>
          </p15:clr>
        </p15:guide>
        <p15:guide id="8" orient="horz" pos="2614" userDrawn="1">
          <p15:clr>
            <a:srgbClr val="A4A3A4"/>
          </p15:clr>
        </p15:guide>
        <p15:guide id="9" pos="6334" userDrawn="1">
          <p15:clr>
            <a:srgbClr val="A4A3A4"/>
          </p15:clr>
        </p15:guide>
        <p15:guide id="11" orient="horz" pos="1706" userDrawn="1">
          <p15:clr>
            <a:srgbClr val="A4A3A4"/>
          </p15:clr>
        </p15:guide>
        <p15:guide id="13" pos="5427" userDrawn="1">
          <p15:clr>
            <a:srgbClr val="A4A3A4"/>
          </p15:clr>
        </p15:guide>
        <p15:guide id="14" pos="4973" userDrawn="1">
          <p15:clr>
            <a:srgbClr val="A4A3A4"/>
          </p15:clr>
        </p15:guide>
        <p15:guide id="15" orient="horz" pos="1253" userDrawn="1">
          <p15:clr>
            <a:srgbClr val="A4A3A4"/>
          </p15:clr>
        </p15:guide>
        <p15:guide id="16" orient="horz" pos="3521" userDrawn="1">
          <p15:clr>
            <a:srgbClr val="A4A3A4"/>
          </p15:clr>
        </p15:guide>
        <p15:guide id="17" orient="horz" pos="799" userDrawn="1">
          <p15:clr>
            <a:srgbClr val="A4A3A4"/>
          </p15:clr>
        </p15:guide>
        <p15:guide id="18" orient="horz" pos="3974" userDrawn="1">
          <p15:clr>
            <a:srgbClr val="A4A3A4"/>
          </p15:clr>
        </p15:guide>
        <p15:guide id="19" orient="horz" pos="346" userDrawn="1">
          <p15:clr>
            <a:srgbClr val="A4A3A4"/>
          </p15:clr>
        </p15:guide>
        <p15:guide id="20" pos="4520" userDrawn="1">
          <p15:clr>
            <a:srgbClr val="A4A3A4"/>
          </p15:clr>
        </p15:guide>
        <p15:guide id="21" pos="4066" userDrawn="1">
          <p15:clr>
            <a:srgbClr val="A4A3A4"/>
          </p15:clr>
        </p15:guide>
        <p15:guide id="22" pos="72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9F84"/>
    <a:srgbClr val="E44860"/>
    <a:srgbClr val="F29B11"/>
    <a:srgbClr val="2980B9"/>
    <a:srgbClr val="768395"/>
    <a:srgbClr val="1C1C1C"/>
    <a:srgbClr val="9BBB59"/>
    <a:srgbClr val="F6973B"/>
    <a:srgbClr val="FFFFFF"/>
    <a:srgbClr val="EFF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48" autoAdjust="0"/>
    <p:restoredTop sz="92324" autoAdjust="0"/>
  </p:normalViewPr>
  <p:slideViewPr>
    <p:cSldViewPr>
      <p:cViewPr varScale="1">
        <p:scale>
          <a:sx n="95" d="100"/>
          <a:sy n="95" d="100"/>
        </p:scale>
        <p:origin x="184" y="488"/>
      </p:cViewPr>
      <p:guideLst>
        <p:guide orient="horz" pos="3067"/>
        <p:guide orient="horz" pos="2160"/>
        <p:guide pos="3840"/>
        <p:guide pos="211"/>
        <p:guide pos="6788"/>
        <p:guide pos="3613"/>
        <p:guide pos="5881"/>
        <p:guide orient="horz" pos="2614"/>
        <p:guide pos="6334"/>
        <p:guide orient="horz" pos="1706"/>
        <p:guide pos="5427"/>
        <p:guide pos="4973"/>
        <p:guide orient="horz" pos="1253"/>
        <p:guide orient="horz" pos="3521"/>
        <p:guide orient="horz" pos="799"/>
        <p:guide orient="horz" pos="3974"/>
        <p:guide orient="horz" pos="346"/>
        <p:guide pos="4520"/>
        <p:guide pos="4066"/>
        <p:guide pos="72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336"/>
    </p:cViewPr>
  </p:sorterViewPr>
  <p:notesViewPr>
    <p:cSldViewPr>
      <p:cViewPr varScale="1">
        <p:scale>
          <a:sx n="118" d="100"/>
          <a:sy n="118" d="100"/>
        </p:scale>
        <p:origin x="37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8805445-DD02-4A4D-85F2-00571D19ED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1B0AF-3333-FD46-B79E-50FD8A79D1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A9F75-F87F-124E-A6E0-5AA7D52145C2}" type="datetimeFigureOut">
              <a:rPr kumimoji="1" lang="zh-CN" altLang="en-US" smtClean="0"/>
              <a:t>2024/5/8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F8CD6C-5D36-1743-972A-01D811956D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92A2E0-40E1-5149-9E4A-F475CD689D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A3159-7C85-5C48-9D59-18AED36800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6331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CC928-7A32-4383-8C66-886F513D06F6}" type="datetimeFigureOut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36B7B-B83E-48FC-9145-C5D7D2DAF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40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3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01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318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853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3314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881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291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247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6655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4252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用幅频相频还是实频虚频？只有在系统型别为</a:t>
            </a:r>
            <a:r>
              <a:rPr kumimoji="1" lang="en-US" altLang="zh-CN" dirty="0"/>
              <a:t>1</a:t>
            </a:r>
            <a:r>
              <a:rPr kumimoji="1" lang="zh-CN" altLang="en-US" dirty="0"/>
              <a:t>时用实频虚频，因为涉及到渐近线。其他情况用幅频相频。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7339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9262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5671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6475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45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5877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74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42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7CCF719-0B4D-4198-B5BC-2D0F73DC2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41282B4-7D1A-4CA4-B97C-AECB47C3A3B9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基本情况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7453" y="356166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817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DAD0CA0-9EB6-46FD-A5D1-35CBE479C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4869" y="353986"/>
            <a:ext cx="5059282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6B85F6-A5BC-46DF-8D38-ACEA958A78FA}"/>
              </a:ext>
            </a:extLst>
          </p:cNvPr>
          <p:cNvSpPr/>
          <p:nvPr userDrawn="1"/>
        </p:nvSpPr>
        <p:spPr>
          <a:xfrm>
            <a:off x="129898" y="356166"/>
            <a:ext cx="1512168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创新设计</a:t>
            </a:r>
          </a:p>
        </p:txBody>
      </p:sp>
      <p:sp>
        <p:nvSpPr>
          <p:cNvPr id="8" name="矩形: 圆角 17">
            <a:extLst>
              <a:ext uri="{FF2B5EF4-FFF2-40B4-BE49-F238E27FC236}">
                <a16:creationId xmlns:a16="http://schemas.microsoft.com/office/drawing/2014/main" id="{2C7DE445-257D-1547-A5A3-2C9ECB3DCED5}"/>
              </a:ext>
            </a:extLst>
          </p:cNvPr>
          <p:cNvSpPr/>
          <p:nvPr userDrawn="1"/>
        </p:nvSpPr>
        <p:spPr>
          <a:xfrm>
            <a:off x="6773974" y="353986"/>
            <a:ext cx="5286541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6408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8FC1B26-5F6B-454B-B6A7-6C43341F2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9234"/>
            <a:ext cx="5616623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4C1D17-F9AA-4AA7-B29E-EA7C89094028}"/>
              </a:ext>
            </a:extLst>
          </p:cNvPr>
          <p:cNvSpPr/>
          <p:nvPr userDrawn="1"/>
        </p:nvSpPr>
        <p:spPr>
          <a:xfrm>
            <a:off x="121965" y="359235"/>
            <a:ext cx="1512168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创新效果</a:t>
            </a:r>
          </a:p>
        </p:txBody>
      </p:sp>
    </p:spTree>
    <p:extLst>
      <p:ext uri="{BB962C8B-B14F-4D97-AF65-F5344CB8AC3E}">
        <p14:creationId xmlns:p14="http://schemas.microsoft.com/office/powerpoint/2010/main" val="2005898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375F02-5481-4F79-8E14-2A5CA78A8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6166"/>
            <a:ext cx="5616623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C5F6E7-E625-494B-89C2-3D62A6B97957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教学成果</a:t>
            </a:r>
          </a:p>
        </p:txBody>
      </p:sp>
    </p:spTree>
    <p:extLst>
      <p:ext uri="{BB962C8B-B14F-4D97-AF65-F5344CB8AC3E}">
        <p14:creationId xmlns:p14="http://schemas.microsoft.com/office/powerpoint/2010/main" val="2493030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03EC96-1FAD-E241-A4B7-1ED9CE341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4" name="矩形: 圆角 17">
            <a:extLst>
              <a:ext uri="{FF2B5EF4-FFF2-40B4-BE49-F238E27FC236}">
                <a16:creationId xmlns:a16="http://schemas.microsoft.com/office/drawing/2014/main" id="{1EA45D98-DEC5-264D-BA21-59DABF9CB484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1413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91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1863972"/>
      </p:ext>
    </p:extLst>
  </p:cSld>
  <p:clrMapOvr>
    <a:masterClrMapping/>
  </p:clrMapOvr>
  <p:transition spd="slow"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840991"/>
      </p:ext>
    </p:extLst>
  </p:cSld>
  <p:clrMapOvr>
    <a:masterClrMapping/>
  </p:clrMapOvr>
  <p:transition spd="slow"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152828"/>
      </p:ext>
    </p:extLst>
  </p:cSld>
  <p:clrMapOvr>
    <a:masterClrMapping/>
  </p:clrMapOvr>
  <p:transition spd="slow"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762767"/>
      </p:ext>
    </p:extLst>
  </p:cSld>
  <p:clrMapOvr>
    <a:masterClrMapping/>
  </p:clrMapOvr>
  <p:transition spd="slow">
    <p:strips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231392"/>
      </p:ext>
    </p:extLst>
  </p:cSld>
  <p:clrMapOvr>
    <a:masterClrMapping/>
  </p:clrMapOvr>
  <p:transition spd="slow">
    <p:strips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435023"/>
      </p:ext>
    </p:extLst>
  </p:cSld>
  <p:clrMapOvr>
    <a:masterClrMapping/>
  </p:clrMapOvr>
  <p:transition spd="slow">
    <p:strips dir="r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532170"/>
      </p:ext>
    </p:extLst>
  </p:cSld>
  <p:clrMapOvr>
    <a:masterClrMapping/>
  </p:clrMapOvr>
  <p:transition spd="slow">
    <p:strips dir="r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634117"/>
      </p:ext>
    </p:extLst>
  </p:cSld>
  <p:clrMapOvr>
    <a:masterClrMapping/>
  </p:clrMapOvr>
  <p:transition spd="slow">
    <p:strips dir="r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17031"/>
      </p:ext>
    </p:extLst>
  </p:cSld>
  <p:clrMapOvr>
    <a:masterClrMapping/>
  </p:clrMapOvr>
  <p:transition spd="slow">
    <p:strips dir="r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4A263-5145-4800-9735-38896831F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3926514"/>
      </p:ext>
    </p:extLst>
  </p:cSld>
  <p:clrMapOvr>
    <a:masterClrMapping/>
  </p:clrMapOvr>
  <p:transition spd="slow">
    <p:strips dir="r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516710"/>
      </p:ext>
    </p:extLst>
  </p:cSld>
  <p:clrMapOvr>
    <a:masterClrMapping/>
  </p:clrMapOvr>
  <p:transition spd="slow">
    <p:strips dir="r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地图背景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2976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绿条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08171332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4" y="-14371"/>
            <a:ext cx="2299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 dirty="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50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  <p:sldLayoutId id="2147483671" r:id="rId3"/>
    <p:sldLayoutId id="2147483669" r:id="rId4"/>
    <p:sldLayoutId id="2147483670" r:id="rId5"/>
    <p:sldLayoutId id="2147483654" r:id="rId6"/>
    <p:sldLayoutId id="2147483663" r:id="rId7"/>
    <p:sldLayoutId id="2147483659" r:id="rId8"/>
    <p:sldLayoutId id="2147483667" r:id="rId9"/>
    <p:sldLayoutId id="2147483655" r:id="rId10"/>
    <p:sldLayoutId id="2147483651" r:id="rId11"/>
    <p:sldLayoutId id="2147483656" r:id="rId12"/>
    <p:sldLayoutId id="2147483652" r:id="rId13"/>
    <p:sldLayoutId id="2147483657" r:id="rId14"/>
    <p:sldLayoutId id="2147483653" r:id="rId15"/>
    <p:sldLayoutId id="2147483666" r:id="rId16"/>
    <p:sldLayoutId id="2147483665" r:id="rId17"/>
    <p:sldLayoutId id="2147483658" r:id="rId18"/>
    <p:sldLayoutId id="2147483672" r:id="rId19"/>
    <p:sldLayoutId id="2147483673" r:id="rId20"/>
  </p:sldLayoutIdLst>
  <p:transition spd="slow">
    <p:strips dir="r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7.png"/><Relationship Id="rId7" Type="http://schemas.openxmlformats.org/officeDocument/2006/relationships/image" Target="../media/image12.png"/><Relationship Id="rId12" Type="http://schemas.openxmlformats.org/officeDocument/2006/relationships/image" Target="../media/image7.emf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511.png"/><Relationship Id="rId15" Type="http://schemas.openxmlformats.org/officeDocument/2006/relationships/image" Target="../media/image9.png"/><Relationship Id="rId10" Type="http://schemas.openxmlformats.org/officeDocument/2006/relationships/image" Target="../media/image411.png"/><Relationship Id="rId9" Type="http://schemas.openxmlformats.org/officeDocument/2006/relationships/image" Target="../media/image14.png"/><Relationship Id="rId1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7.emf"/><Relationship Id="rId10" Type="http://schemas.openxmlformats.org/officeDocument/2006/relationships/image" Target="../media/image411.png"/><Relationship Id="rId4" Type="http://schemas.openxmlformats.org/officeDocument/2006/relationships/image" Target="../media/image511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7.emf"/><Relationship Id="rId10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13" Type="http://schemas.openxmlformats.org/officeDocument/2006/relationships/image" Target="../media/image14.png"/><Relationship Id="rId3" Type="http://schemas.openxmlformats.org/officeDocument/2006/relationships/image" Target="../media/image410.png"/><Relationship Id="rId7" Type="http://schemas.openxmlformats.org/officeDocument/2006/relationships/image" Target="../media/image810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7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10.png"/><Relationship Id="rId11" Type="http://schemas.openxmlformats.org/officeDocument/2006/relationships/image" Target="../media/image12.png"/><Relationship Id="rId5" Type="http://schemas.openxmlformats.org/officeDocument/2006/relationships/image" Target="../media/image610.png"/><Relationship Id="rId15" Type="http://schemas.openxmlformats.org/officeDocument/2006/relationships/image" Target="../media/image160.png"/><Relationship Id="rId10" Type="http://schemas.openxmlformats.org/officeDocument/2006/relationships/image" Target="../media/image114.png"/><Relationship Id="rId4" Type="http://schemas.openxmlformats.org/officeDocument/2006/relationships/image" Target="../media/image510.png"/><Relationship Id="rId9" Type="http://schemas.openxmlformats.org/officeDocument/2006/relationships/image" Target="../media/image1010.png"/><Relationship Id="rId14" Type="http://schemas.openxmlformats.org/officeDocument/2006/relationships/image" Target="../media/image1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2.png"/><Relationship Id="rId18" Type="http://schemas.openxmlformats.org/officeDocument/2006/relationships/image" Target="../media/image7.emf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14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7.emf"/><Relationship Id="rId3" Type="http://schemas.openxmlformats.org/officeDocument/2006/relationships/image" Target="../media/image31.png"/><Relationship Id="rId7" Type="http://schemas.openxmlformats.org/officeDocument/2006/relationships/image" Target="../media/image12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openxmlformats.org/officeDocument/2006/relationships/image" Target="../media/image35.png"/><Relationship Id="rId4" Type="http://schemas.openxmlformats.org/officeDocument/2006/relationships/image" Target="../media/image32.png"/><Relationship Id="rId9" Type="http://schemas.openxmlformats.org/officeDocument/2006/relationships/image" Target="../media/image14.png"/><Relationship Id="rId1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11" Type="http://schemas.openxmlformats.org/officeDocument/2006/relationships/image" Target="../media/image45.png"/><Relationship Id="rId5" Type="http://schemas.openxmlformats.org/officeDocument/2006/relationships/image" Target="../media/image40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9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53.png"/><Relationship Id="rId7" Type="http://schemas.openxmlformats.org/officeDocument/2006/relationships/image" Target="../media/image67.png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0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13" Type="http://schemas.openxmlformats.org/officeDocument/2006/relationships/image" Target="../media/image73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70.png"/><Relationship Id="rId11" Type="http://schemas.openxmlformats.org/officeDocument/2006/relationships/image" Target="../media/image71.png"/><Relationship Id="rId5" Type="http://schemas.openxmlformats.org/officeDocument/2006/relationships/image" Target="../media/image55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4" Type="http://schemas.openxmlformats.org/officeDocument/2006/relationships/image" Target="../media/image5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3" Type="http://schemas.openxmlformats.org/officeDocument/2006/relationships/image" Target="../media/image53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53.png"/><Relationship Id="rId7" Type="http://schemas.openxmlformats.org/officeDocument/2006/relationships/image" Target="../media/image10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4.png"/><Relationship Id="rId5" Type="http://schemas.openxmlformats.org/officeDocument/2006/relationships/image" Target="../media/image92.png"/><Relationship Id="rId10" Type="http://schemas.openxmlformats.org/officeDocument/2006/relationships/image" Target="../media/image108.png"/><Relationship Id="rId4" Type="http://schemas.openxmlformats.org/officeDocument/2006/relationships/image" Target="../media/image91.png"/><Relationship Id="rId9" Type="http://schemas.openxmlformats.org/officeDocument/2006/relationships/image" Target="../media/image10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92.png"/><Relationship Id="rId4" Type="http://schemas.openxmlformats.org/officeDocument/2006/relationships/image" Target="../media/image1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B897A1C7-629A-B247-B7B1-EA7AC379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4" y="828695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323DC9A-B9F0-664E-8D8B-4D4B3CB163A9}"/>
              </a:ext>
            </a:extLst>
          </p:cNvPr>
          <p:cNvGrpSpPr/>
          <p:nvPr/>
        </p:nvGrpSpPr>
        <p:grpSpPr>
          <a:xfrm>
            <a:off x="3386174" y="828695"/>
            <a:ext cx="9221717" cy="3766808"/>
            <a:chOff x="1559098" y="1196752"/>
            <a:chExt cx="9221717" cy="3766808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6C5D6197-A7EB-4453-845C-A17502C9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9098" y="1196752"/>
              <a:ext cx="9221717" cy="3766808"/>
            </a:xfrm>
            <a:prstGeom prst="rect">
              <a:avLst/>
            </a:prstGeom>
          </p:spPr>
        </p:pic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70EB58-BC11-49B8-8525-EF7D1AAA3845}"/>
                </a:ext>
              </a:extLst>
            </p:cNvPr>
            <p:cNvSpPr/>
            <p:nvPr/>
          </p:nvSpPr>
          <p:spPr>
            <a:xfrm>
              <a:off x="3186339" y="2802637"/>
              <a:ext cx="5818976" cy="1015663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chemeClr val="bg1"/>
                  </a:solidFill>
                  <a:effectLst/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自动控制</a:t>
              </a:r>
              <a:r>
                <a:rPr lang="zh-CN" altLang="en-US" sz="6000" dirty="0">
                  <a:solidFill>
                    <a:schemeClr val="bg1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原理</a:t>
              </a:r>
              <a:endParaRPr lang="zh-CN" altLang="en-US" sz="6000" dirty="0">
                <a:solidFill>
                  <a:schemeClr val="bg1"/>
                </a:solidFill>
                <a:effectLst/>
                <a:latin typeface="汉仪菱心体简" panose="02010609000101010101" pitchFamily="49" charset="-122"/>
                <a:ea typeface="汉仪菱心体简" panose="02010609000101010101" pitchFamily="49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3AB8999B-799D-2A15-3E69-2E5459CD0246}"/>
              </a:ext>
            </a:extLst>
          </p:cNvPr>
          <p:cNvGrpSpPr/>
          <p:nvPr/>
        </p:nvGrpSpPr>
        <p:grpSpPr>
          <a:xfrm>
            <a:off x="6454025" y="320863"/>
            <a:ext cx="5300128" cy="1015663"/>
            <a:chOff x="6454025" y="320863"/>
            <a:chExt cx="5300128" cy="101566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845DA2CB-B6FD-9A3B-4079-27C3DCF57380}"/>
                </a:ext>
              </a:extLst>
            </p:cNvPr>
            <p:cNvGrpSpPr/>
            <p:nvPr/>
          </p:nvGrpSpPr>
          <p:grpSpPr>
            <a:xfrm>
              <a:off x="6454025" y="320863"/>
              <a:ext cx="4143411" cy="1015663"/>
              <a:chOff x="8681781" y="504363"/>
              <a:chExt cx="3090550" cy="757578"/>
            </a:xfrm>
          </p:grpSpPr>
          <p:cxnSp>
            <p:nvCxnSpPr>
              <p:cNvPr id="5" name="直接连接符 12">
                <a:extLst>
                  <a:ext uri="{FF2B5EF4-FFF2-40B4-BE49-F238E27FC236}">
                    <a16:creationId xmlns:a16="http://schemas.microsoft.com/office/drawing/2014/main" id="{2233B7B1-AF37-9D9C-A2BB-026438499A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4041" y="528966"/>
                <a:ext cx="0" cy="702644"/>
              </a:xfrm>
              <a:prstGeom prst="line">
                <a:avLst/>
              </a:prstGeom>
              <a:ln w="76200">
                <a:solidFill>
                  <a:srgbClr val="F095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58DA923E-E735-89A0-5CFF-93FC361BC254}"/>
                  </a:ext>
                </a:extLst>
              </p:cNvPr>
              <p:cNvGrpSpPr/>
              <p:nvPr/>
            </p:nvGrpSpPr>
            <p:grpSpPr>
              <a:xfrm>
                <a:off x="8681781" y="504363"/>
                <a:ext cx="763836" cy="757578"/>
                <a:chOff x="8364926" y="513787"/>
                <a:chExt cx="817174" cy="810479"/>
              </a:xfrm>
            </p:grpSpPr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3D024073-D9B7-BC07-18DD-DE6FE110184B}"/>
                    </a:ext>
                  </a:extLst>
                </p:cNvPr>
                <p:cNvSpPr/>
                <p:nvPr/>
              </p:nvSpPr>
              <p:spPr>
                <a:xfrm>
                  <a:off x="8400771" y="544432"/>
                  <a:ext cx="756000" cy="756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D5856AC4-FBA6-F59A-E4FC-3315BC3603E2}"/>
                    </a:ext>
                  </a:extLst>
                </p:cNvPr>
                <p:cNvSpPr/>
                <p:nvPr/>
              </p:nvSpPr>
              <p:spPr>
                <a:xfrm>
                  <a:off x="8364926" y="513787"/>
                  <a:ext cx="817174" cy="81047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73502" t="-34930" r="-66194" b="-35851"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C8B0EFD3-35C2-B3AD-515E-33F37E3AEE9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80"/>
              <a:stretch/>
            </p:blipFill>
            <p:spPr>
              <a:xfrm>
                <a:off x="9632991" y="593311"/>
                <a:ext cx="2139340" cy="571505"/>
              </a:xfrm>
              <a:prstGeom prst="rect">
                <a:avLst/>
              </a:prstGeom>
            </p:spPr>
          </p:pic>
        </p:grpSp>
        <p:pic>
          <p:nvPicPr>
            <p:cNvPr id="4" name="图片 3" descr="图片包含 房间, 标志, 桌子, 游戏机&#10;&#10;描述已自动生成">
              <a:extLst>
                <a:ext uri="{FF2B5EF4-FFF2-40B4-BE49-F238E27FC236}">
                  <a16:creationId xmlns:a16="http://schemas.microsoft.com/office/drawing/2014/main" id="{6EF63178-49C2-C2BC-E901-E6D759037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9775" y="338055"/>
              <a:ext cx="1024378" cy="998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3650723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节段1">
            <a:extLst>
              <a:ext uri="{FF2B5EF4-FFF2-40B4-BE49-F238E27FC236}">
                <a16:creationId xmlns:a16="http://schemas.microsoft.com/office/drawing/2014/main" id="{326390C7-593C-216D-15DE-BC137E98C6F2}"/>
              </a:ext>
            </a:extLst>
          </p:cNvPr>
          <p:cNvSpPr/>
          <p:nvPr/>
        </p:nvSpPr>
        <p:spPr bwMode="auto">
          <a:xfrm>
            <a:off x="334963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反馈：控制原理的核心思想</a:t>
            </a:r>
          </a:p>
        </p:txBody>
      </p:sp>
      <p:sp>
        <p:nvSpPr>
          <p:cNvPr id="3" name="节段2">
            <a:extLst>
              <a:ext uri="{FF2B5EF4-FFF2-40B4-BE49-F238E27FC236}">
                <a16:creationId xmlns:a16="http://schemas.microsoft.com/office/drawing/2014/main" id="{6D0DC964-4888-22F0-0529-3ADBE19BCAC7}"/>
              </a:ext>
            </a:extLst>
          </p:cNvPr>
          <p:cNvSpPr/>
          <p:nvPr/>
        </p:nvSpPr>
        <p:spPr bwMode="auto">
          <a:xfrm>
            <a:off x="334963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传递函数：控制系统数学模型</a:t>
            </a:r>
          </a:p>
        </p:txBody>
      </p:sp>
      <p:sp>
        <p:nvSpPr>
          <p:cNvPr id="4" name="节段3">
            <a:extLst>
              <a:ext uri="{FF2B5EF4-FFF2-40B4-BE49-F238E27FC236}">
                <a16:creationId xmlns:a16="http://schemas.microsoft.com/office/drawing/2014/main" id="{2ED134D8-4396-5957-E553-8ABF4E57D6EF}"/>
              </a:ext>
            </a:extLst>
          </p:cNvPr>
          <p:cNvSpPr/>
          <p:nvPr/>
        </p:nvSpPr>
        <p:spPr bwMode="auto">
          <a:xfrm>
            <a:off x="334965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方框图：控制系统结构</a:t>
            </a:r>
          </a:p>
        </p:txBody>
      </p:sp>
      <p:sp>
        <p:nvSpPr>
          <p:cNvPr id="5" name="节段4">
            <a:extLst>
              <a:ext uri="{FF2B5EF4-FFF2-40B4-BE49-F238E27FC236}">
                <a16:creationId xmlns:a16="http://schemas.microsoft.com/office/drawing/2014/main" id="{4C7CB016-BBEE-BDEA-03F5-5613FC7FAF97}"/>
              </a:ext>
            </a:extLst>
          </p:cNvPr>
          <p:cNvSpPr/>
          <p:nvPr/>
        </p:nvSpPr>
        <p:spPr bwMode="auto">
          <a:xfrm>
            <a:off x="334965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信号流图：控制系统拓扑结</a:t>
            </a:r>
          </a:p>
        </p:txBody>
      </p:sp>
      <p:sp>
        <p:nvSpPr>
          <p:cNvPr id="6" name="节段5">
            <a:extLst>
              <a:ext uri="{FF2B5EF4-FFF2-40B4-BE49-F238E27FC236}">
                <a16:creationId xmlns:a16="http://schemas.microsoft.com/office/drawing/2014/main" id="{9B528F5E-5B56-04D6-8D5E-5117B2A82704}"/>
              </a:ext>
            </a:extLst>
          </p:cNvPr>
          <p:cNvSpPr/>
          <p:nvPr/>
        </p:nvSpPr>
        <p:spPr bwMode="auto">
          <a:xfrm>
            <a:off x="334965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梅森公式：数圈圈与消消乐</a:t>
            </a:r>
          </a:p>
        </p:txBody>
      </p:sp>
      <p:sp>
        <p:nvSpPr>
          <p:cNvPr id="7" name="节段6">
            <a:extLst>
              <a:ext uri="{FF2B5EF4-FFF2-40B4-BE49-F238E27FC236}">
                <a16:creationId xmlns:a16="http://schemas.microsoft.com/office/drawing/2014/main" id="{90E00070-848F-4C0E-5B96-BFE9A9C47D9C}"/>
              </a:ext>
            </a:extLst>
          </p:cNvPr>
          <p:cNvSpPr/>
          <p:nvPr/>
        </p:nvSpPr>
        <p:spPr bwMode="auto">
          <a:xfrm>
            <a:off x="334965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性能指标：控制效果评价</a:t>
            </a:r>
          </a:p>
        </p:txBody>
      </p:sp>
      <p:sp>
        <p:nvSpPr>
          <p:cNvPr id="8" name="节段7">
            <a:extLst>
              <a:ext uri="{FF2B5EF4-FFF2-40B4-BE49-F238E27FC236}">
                <a16:creationId xmlns:a16="http://schemas.microsoft.com/office/drawing/2014/main" id="{B1007742-24A6-63C8-03B7-1F283F0F1CF9}"/>
              </a:ext>
            </a:extLst>
          </p:cNvPr>
          <p:cNvSpPr/>
          <p:nvPr/>
        </p:nvSpPr>
        <p:spPr bwMode="auto">
          <a:xfrm>
            <a:off x="334965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衰减振荡：欠阻尼二阶系统</a:t>
            </a:r>
          </a:p>
        </p:txBody>
      </p:sp>
      <p:sp>
        <p:nvSpPr>
          <p:cNvPr id="9" name="节段8">
            <a:extLst>
              <a:ext uri="{FF2B5EF4-FFF2-40B4-BE49-F238E27FC236}">
                <a16:creationId xmlns:a16="http://schemas.microsoft.com/office/drawing/2014/main" id="{B78CDD92-DB86-441A-13AD-955229A45886}"/>
              </a:ext>
            </a:extLst>
          </p:cNvPr>
          <p:cNvSpPr/>
          <p:nvPr/>
        </p:nvSpPr>
        <p:spPr bwMode="auto">
          <a:xfrm>
            <a:off x="334965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稳定：控制系统首要任务</a:t>
            </a:r>
          </a:p>
        </p:txBody>
      </p:sp>
      <p:sp>
        <p:nvSpPr>
          <p:cNvPr id="10" name="节段9">
            <a:extLst>
              <a:ext uri="{FF2B5EF4-FFF2-40B4-BE49-F238E27FC236}">
                <a16:creationId xmlns:a16="http://schemas.microsoft.com/office/drawing/2014/main" id="{0F46DBF7-59DB-8E9C-851E-C9935EA9B4C8}"/>
              </a:ext>
            </a:extLst>
          </p:cNvPr>
          <p:cNvSpPr/>
          <p:nvPr/>
        </p:nvSpPr>
        <p:spPr bwMode="auto">
          <a:xfrm>
            <a:off x="334965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稳态误差：准确性的度量</a:t>
            </a:r>
          </a:p>
        </p:txBody>
      </p:sp>
      <p:sp>
        <p:nvSpPr>
          <p:cNvPr id="11" name="节段10">
            <a:extLst>
              <a:ext uri="{FF2B5EF4-FFF2-40B4-BE49-F238E27FC236}">
                <a16:creationId xmlns:a16="http://schemas.microsoft.com/office/drawing/2014/main" id="{557367C6-4C24-FCB2-4C28-DA0D4AAC94D9}"/>
              </a:ext>
            </a:extLst>
          </p:cNvPr>
          <p:cNvSpPr/>
          <p:nvPr/>
        </p:nvSpPr>
        <p:spPr bwMode="auto">
          <a:xfrm>
            <a:off x="334965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校正：实现控制的手段</a:t>
            </a:r>
          </a:p>
        </p:txBody>
      </p:sp>
      <p:sp>
        <p:nvSpPr>
          <p:cNvPr id="12" name="节段11">
            <a:extLst>
              <a:ext uri="{FF2B5EF4-FFF2-40B4-BE49-F238E27FC236}">
                <a16:creationId xmlns:a16="http://schemas.microsoft.com/office/drawing/2014/main" id="{4730885B-C9BD-725C-5B54-A3B36C6A83E6}"/>
              </a:ext>
            </a:extLst>
          </p:cNvPr>
          <p:cNvSpPr/>
          <p:nvPr/>
        </p:nvSpPr>
        <p:spPr bwMode="auto">
          <a:xfrm>
            <a:off x="6304250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放眼大局：根轨迹法</a:t>
            </a:r>
          </a:p>
        </p:txBody>
      </p:sp>
      <p:sp>
        <p:nvSpPr>
          <p:cNvPr id="13" name="节段12">
            <a:extLst>
              <a:ext uri="{FF2B5EF4-FFF2-40B4-BE49-F238E27FC236}">
                <a16:creationId xmlns:a16="http://schemas.microsoft.com/office/drawing/2014/main" id="{05520C60-051F-B4C9-EB2A-308DC70F4BFA}"/>
              </a:ext>
            </a:extLst>
          </p:cNvPr>
          <p:cNvSpPr/>
          <p:nvPr/>
        </p:nvSpPr>
        <p:spPr bwMode="auto">
          <a:xfrm>
            <a:off x="6304250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根轨迹：基本形态</a:t>
            </a:r>
          </a:p>
        </p:txBody>
      </p:sp>
      <p:sp>
        <p:nvSpPr>
          <p:cNvPr id="14" name="节段13">
            <a:extLst>
              <a:ext uri="{FF2B5EF4-FFF2-40B4-BE49-F238E27FC236}">
                <a16:creationId xmlns:a16="http://schemas.microsoft.com/office/drawing/2014/main" id="{27219438-65AD-FDC9-1DA8-7FFE9BA859DA}"/>
              </a:ext>
            </a:extLst>
          </p:cNvPr>
          <p:cNvSpPr/>
          <p:nvPr/>
        </p:nvSpPr>
        <p:spPr bwMode="auto">
          <a:xfrm>
            <a:off x="6304250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根轨迹：细节修正</a:t>
            </a:r>
          </a:p>
        </p:txBody>
      </p:sp>
      <p:sp>
        <p:nvSpPr>
          <p:cNvPr id="15" name="节段14">
            <a:extLst>
              <a:ext uri="{FF2B5EF4-FFF2-40B4-BE49-F238E27FC236}">
                <a16:creationId xmlns:a16="http://schemas.microsoft.com/office/drawing/2014/main" id="{3FE30DB7-AAE2-AC3E-BDA2-5E92E22FCAFC}"/>
              </a:ext>
            </a:extLst>
          </p:cNvPr>
          <p:cNvSpPr/>
          <p:nvPr/>
        </p:nvSpPr>
        <p:spPr bwMode="auto">
          <a:xfrm>
            <a:off x="6304250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参数根轨迹：广义定义</a:t>
            </a:r>
          </a:p>
        </p:txBody>
      </p:sp>
      <p:sp>
        <p:nvSpPr>
          <p:cNvPr id="16" name="节段15">
            <a:extLst>
              <a:ext uri="{FF2B5EF4-FFF2-40B4-BE49-F238E27FC236}">
                <a16:creationId xmlns:a16="http://schemas.microsoft.com/office/drawing/2014/main" id="{44E77EBF-CB85-6E3D-429B-345397FD531D}"/>
              </a:ext>
            </a:extLst>
          </p:cNvPr>
          <p:cNvSpPr/>
          <p:nvPr/>
        </p:nvSpPr>
        <p:spPr bwMode="auto">
          <a:xfrm>
            <a:off x="6304250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  <p:sp>
        <p:nvSpPr>
          <p:cNvPr id="17" name="节段16">
            <a:extLst>
              <a:ext uri="{FF2B5EF4-FFF2-40B4-BE49-F238E27FC236}">
                <a16:creationId xmlns:a16="http://schemas.microsoft.com/office/drawing/2014/main" id="{4FFAB4B2-AD9B-7207-955C-82823BE1A7DC}"/>
              </a:ext>
            </a:extLst>
          </p:cNvPr>
          <p:cNvSpPr/>
          <p:nvPr/>
        </p:nvSpPr>
        <p:spPr bwMode="auto">
          <a:xfrm>
            <a:off x="6304250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频率特性：换个角度看控制</a:t>
            </a:r>
          </a:p>
        </p:txBody>
      </p:sp>
      <p:sp>
        <p:nvSpPr>
          <p:cNvPr id="18" name="节段17">
            <a:extLst>
              <a:ext uri="{FF2B5EF4-FFF2-40B4-BE49-F238E27FC236}">
                <a16:creationId xmlns:a16="http://schemas.microsoft.com/office/drawing/2014/main" id="{2AB691DA-CCE3-3AC9-8BC7-F7DDC8B4E416}"/>
              </a:ext>
            </a:extLst>
          </p:cNvPr>
          <p:cNvSpPr/>
          <p:nvPr/>
        </p:nvSpPr>
        <p:spPr bwMode="auto">
          <a:xfrm>
            <a:off x="6304250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近似叠加：绘制伯德图</a:t>
            </a:r>
          </a:p>
        </p:txBody>
      </p:sp>
      <p:sp>
        <p:nvSpPr>
          <p:cNvPr id="19" name="节段18">
            <a:extLst>
              <a:ext uri="{FF2B5EF4-FFF2-40B4-BE49-F238E27FC236}">
                <a16:creationId xmlns:a16="http://schemas.microsoft.com/office/drawing/2014/main" id="{DF446F78-25D4-B970-C8AF-750C9ADE0345}"/>
              </a:ext>
            </a:extLst>
          </p:cNvPr>
          <p:cNvSpPr/>
          <p:nvPr/>
        </p:nvSpPr>
        <p:spPr bwMode="auto">
          <a:xfrm>
            <a:off x="6304250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按图索骥：伯德图求传递函数</a:t>
            </a:r>
          </a:p>
        </p:txBody>
      </p:sp>
      <p:sp>
        <p:nvSpPr>
          <p:cNvPr id="20" name="节段19">
            <a:extLst>
              <a:ext uri="{FF2B5EF4-FFF2-40B4-BE49-F238E27FC236}">
                <a16:creationId xmlns:a16="http://schemas.microsoft.com/office/drawing/2014/main" id="{DF2ADB47-5AEA-CD80-150C-0162DF80BE07}"/>
              </a:ext>
            </a:extLst>
          </p:cNvPr>
          <p:cNvSpPr/>
          <p:nvPr/>
        </p:nvSpPr>
        <p:spPr bwMode="auto">
          <a:xfrm>
            <a:off x="6304250" y="5420738"/>
            <a:ext cx="5551200" cy="578882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幅相特性：换个角度看频域</a:t>
            </a:r>
          </a:p>
        </p:txBody>
      </p:sp>
      <p:sp>
        <p:nvSpPr>
          <p:cNvPr id="21" name="节段20">
            <a:extLst>
              <a:ext uri="{FF2B5EF4-FFF2-40B4-BE49-F238E27FC236}">
                <a16:creationId xmlns:a16="http://schemas.microsoft.com/office/drawing/2014/main" id="{F9A31E65-9F86-1A47-9B88-A7D69C156BFC}"/>
              </a:ext>
            </a:extLst>
          </p:cNvPr>
          <p:cNvSpPr/>
          <p:nvPr/>
        </p:nvSpPr>
        <p:spPr bwMode="auto">
          <a:xfrm>
            <a:off x="6304250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宽备窄用：稳定裕度</a:t>
            </a:r>
          </a:p>
        </p:txBody>
      </p:sp>
      <p:pic>
        <p:nvPicPr>
          <p:cNvPr id="22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CB8E2FDB-E3D1-C271-FF75-70A28B3C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68928" y="1579946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8458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DF15CB57-691D-80E9-32D3-AD4DADA3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77" y="1592972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步骤1">
            <a:extLst>
              <a:ext uri="{FF2B5EF4-FFF2-40B4-BE49-F238E27FC236}">
                <a16:creationId xmlns:a16="http://schemas.microsoft.com/office/drawing/2014/main" id="{2334E117-E373-0616-6D0E-DD1101F13686}"/>
              </a:ext>
            </a:extLst>
          </p:cNvPr>
          <p:cNvGrpSpPr/>
          <p:nvPr/>
        </p:nvGrpSpPr>
        <p:grpSpPr>
          <a:xfrm>
            <a:off x="5735166" y="2516366"/>
            <a:ext cx="6120284" cy="725177"/>
            <a:chOff x="4943078" y="1700704"/>
            <a:chExt cx="6120284" cy="725177"/>
          </a:xfrm>
        </p:grpSpPr>
        <p:sp>
          <p:nvSpPr>
            <p:cNvPr id="6" name="标题">
              <a:extLst>
                <a:ext uri="{FF2B5EF4-FFF2-40B4-BE49-F238E27FC236}">
                  <a16:creationId xmlns:a16="http://schemas.microsoft.com/office/drawing/2014/main" id="{DCCBC4C8-E173-BC5A-8A28-F389626E647F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能理解开环幅相特性的含义</a:t>
              </a:r>
            </a:p>
          </p:txBody>
        </p:sp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232BA269-03F5-04FE-0B57-13EFF01505B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" name="步骤2">
            <a:extLst>
              <a:ext uri="{FF2B5EF4-FFF2-40B4-BE49-F238E27FC236}">
                <a16:creationId xmlns:a16="http://schemas.microsoft.com/office/drawing/2014/main" id="{25C68FF5-996A-6B65-D290-8429DAC47274}"/>
              </a:ext>
            </a:extLst>
          </p:cNvPr>
          <p:cNvGrpSpPr/>
          <p:nvPr/>
        </p:nvGrpSpPr>
        <p:grpSpPr>
          <a:xfrm>
            <a:off x="5735166" y="3498606"/>
            <a:ext cx="6120284" cy="725177"/>
            <a:chOff x="4943078" y="1700704"/>
            <a:chExt cx="6120284" cy="725177"/>
          </a:xfrm>
        </p:grpSpPr>
        <p:sp>
          <p:nvSpPr>
            <p:cNvPr id="12" name="标题">
              <a:extLst>
                <a:ext uri="{FF2B5EF4-FFF2-40B4-BE49-F238E27FC236}">
                  <a16:creationId xmlns:a16="http://schemas.microsoft.com/office/drawing/2014/main" id="{173CCDD5-9C46-591E-DB05-E8BCD41337D0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能手工绘制概略开环幅相特性</a:t>
              </a:r>
            </a:p>
          </p:txBody>
        </p:sp>
        <p:sp>
          <p:nvSpPr>
            <p:cNvPr id="13" name="序号">
              <a:extLst>
                <a:ext uri="{FF2B5EF4-FFF2-40B4-BE49-F238E27FC236}">
                  <a16:creationId xmlns:a16="http://schemas.microsoft.com/office/drawing/2014/main" id="{4512248E-BA27-4F3B-BB37-D47B514523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4" name="步骤3">
            <a:extLst>
              <a:ext uri="{FF2B5EF4-FFF2-40B4-BE49-F238E27FC236}">
                <a16:creationId xmlns:a16="http://schemas.microsoft.com/office/drawing/2014/main" id="{B96B03B9-B2AB-DA88-5522-8E71F1F384AA}"/>
              </a:ext>
            </a:extLst>
          </p:cNvPr>
          <p:cNvGrpSpPr/>
          <p:nvPr/>
        </p:nvGrpSpPr>
        <p:grpSpPr>
          <a:xfrm>
            <a:off x="5735166" y="4480846"/>
            <a:ext cx="6120284" cy="725177"/>
            <a:chOff x="4943078" y="1700704"/>
            <a:chExt cx="6120284" cy="725177"/>
          </a:xfrm>
        </p:grpSpPr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EB9E02EF-7D2B-02DA-3C74-5B28CE440FEB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能确定开环幅相特性的特征点</a:t>
              </a:r>
            </a:p>
          </p:txBody>
        </p:sp>
        <p:sp>
          <p:nvSpPr>
            <p:cNvPr id="16" name="序号">
              <a:extLst>
                <a:ext uri="{FF2B5EF4-FFF2-40B4-BE49-F238E27FC236}">
                  <a16:creationId xmlns:a16="http://schemas.microsoft.com/office/drawing/2014/main" id="{E749324C-E86E-7EF5-6347-DDC3A73466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7" name="步骤4">
            <a:extLst>
              <a:ext uri="{FF2B5EF4-FFF2-40B4-BE49-F238E27FC236}">
                <a16:creationId xmlns:a16="http://schemas.microsoft.com/office/drawing/2014/main" id="{74A91B15-9FD5-97BB-0766-BB3812A25282}"/>
              </a:ext>
            </a:extLst>
          </p:cNvPr>
          <p:cNvGrpSpPr/>
          <p:nvPr/>
        </p:nvGrpSpPr>
        <p:grpSpPr>
          <a:xfrm>
            <a:off x="5735166" y="5463087"/>
            <a:ext cx="6120284" cy="725177"/>
            <a:chOff x="4943078" y="1700704"/>
            <a:chExt cx="6120284" cy="725177"/>
          </a:xfrm>
        </p:grpSpPr>
        <p:sp>
          <p:nvSpPr>
            <p:cNvPr id="18" name="标题">
              <a:extLst>
                <a:ext uri="{FF2B5EF4-FFF2-40B4-BE49-F238E27FC236}">
                  <a16:creationId xmlns:a16="http://schemas.microsoft.com/office/drawing/2014/main" id="{8DEA9CB0-0441-88E1-21D6-8155790CAB78}"/>
                </a:ext>
              </a:extLst>
            </p:cNvPr>
            <p:cNvSpPr/>
            <p:nvPr/>
          </p:nvSpPr>
          <p:spPr bwMode="auto">
            <a:xfrm>
              <a:off x="5459860" y="1773850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能使用计算机辅助验证</a:t>
              </a:r>
            </a:p>
          </p:txBody>
        </p:sp>
        <p:sp>
          <p:nvSpPr>
            <p:cNvPr id="19" name="序号">
              <a:extLst>
                <a:ext uri="{FF2B5EF4-FFF2-40B4-BE49-F238E27FC236}">
                  <a16:creationId xmlns:a16="http://schemas.microsoft.com/office/drawing/2014/main" id="{8221103E-E915-9992-911C-50C0B81E40C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26" name="学习目标">
            <a:extLst>
              <a:ext uri="{FF2B5EF4-FFF2-40B4-BE49-F238E27FC236}">
                <a16:creationId xmlns:a16="http://schemas.microsoft.com/office/drawing/2014/main" id="{75F2FD80-C54D-CDC7-7E54-494CB4F6BFF0}"/>
              </a:ext>
            </a:extLst>
          </p:cNvPr>
          <p:cNvSpPr/>
          <p:nvPr/>
        </p:nvSpPr>
        <p:spPr bwMode="auto">
          <a:xfrm>
            <a:off x="8257290" y="1279325"/>
            <a:ext cx="188803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学习目标</a:t>
            </a:r>
          </a:p>
        </p:txBody>
      </p:sp>
      <p:sp>
        <p:nvSpPr>
          <p:cNvPr id="2" name="燕尾形 1">
            <a:extLst>
              <a:ext uri="{FF2B5EF4-FFF2-40B4-BE49-F238E27FC236}">
                <a16:creationId xmlns:a16="http://schemas.microsoft.com/office/drawing/2014/main" id="{870C4953-2275-A95B-BFD3-F6796FC19636}"/>
              </a:ext>
            </a:extLst>
          </p:cNvPr>
          <p:cNvSpPr/>
          <p:nvPr/>
        </p:nvSpPr>
        <p:spPr>
          <a:xfrm>
            <a:off x="7097877" y="1350973"/>
            <a:ext cx="316556" cy="503689"/>
          </a:xfrm>
          <a:prstGeom prst="chevron">
            <a:avLst>
              <a:gd name="adj" fmla="val 4803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3" name="章节">
            <a:extLst>
              <a:ext uri="{FF2B5EF4-FFF2-40B4-BE49-F238E27FC236}">
                <a16:creationId xmlns:a16="http://schemas.microsoft.com/office/drawing/2014/main" id="{6816B119-56A5-89AC-69AF-B75726CA019A}"/>
              </a:ext>
            </a:extLst>
          </p:cNvPr>
          <p:cNvGraphicFramePr>
            <a:graphicFrameLocks noGrp="1"/>
          </p:cNvGraphicFramePr>
          <p:nvPr/>
        </p:nvGraphicFramePr>
        <p:xfrm>
          <a:off x="-1" y="0"/>
          <a:ext cx="12190416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1736">
                  <a:extLst>
                    <a:ext uri="{9D8B030D-6E8A-4147-A177-3AD203B41FA5}">
                      <a16:colId xmlns:a16="http://schemas.microsoft.com/office/drawing/2014/main" val="393247685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820694549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121986950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3167948240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4246396411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527655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第一章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第二章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第三章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第四章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第五章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第六章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9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基本概念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数学模型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时域分析法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根轨迹法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频域分析法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校正方法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605781"/>
                  </a:ext>
                </a:extLst>
              </a:tr>
            </a:tbl>
          </a:graphicData>
        </a:graphic>
      </p:graphicFrame>
      <p:sp>
        <p:nvSpPr>
          <p:cNvPr id="25" name="强调">
            <a:extLst>
              <a:ext uri="{FF2B5EF4-FFF2-40B4-BE49-F238E27FC236}">
                <a16:creationId xmlns:a16="http://schemas.microsoft.com/office/drawing/2014/main" id="{7A050445-FC6D-0973-47D8-556F335924C5}"/>
              </a:ext>
            </a:extLst>
          </p:cNvPr>
          <p:cNvSpPr/>
          <p:nvPr/>
        </p:nvSpPr>
        <p:spPr>
          <a:xfrm>
            <a:off x="8118526" y="0"/>
            <a:ext cx="2026800" cy="10363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重点">
            <a:extLst>
              <a:ext uri="{FF2B5EF4-FFF2-40B4-BE49-F238E27FC236}">
                <a16:creationId xmlns:a16="http://schemas.microsoft.com/office/drawing/2014/main" id="{E7AF913B-94CD-0D9E-9D1E-15E41E75B3A9}"/>
              </a:ext>
            </a:extLst>
          </p:cNvPr>
          <p:cNvSpPr/>
          <p:nvPr/>
        </p:nvSpPr>
        <p:spPr bwMode="auto">
          <a:xfrm>
            <a:off x="5735166" y="3498606"/>
            <a:ext cx="725177" cy="725177"/>
          </a:xfrm>
          <a:prstGeom prst="ellipse">
            <a:avLst/>
          </a:prstGeom>
          <a:solidFill>
            <a:srgbClr val="E44860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重</a:t>
            </a:r>
          </a:p>
        </p:txBody>
      </p:sp>
      <p:sp>
        <p:nvSpPr>
          <p:cNvPr id="30" name="难点">
            <a:extLst>
              <a:ext uri="{FF2B5EF4-FFF2-40B4-BE49-F238E27FC236}">
                <a16:creationId xmlns:a16="http://schemas.microsoft.com/office/drawing/2014/main" id="{76867F75-98E0-71CE-4432-9B760E5E57B4}"/>
              </a:ext>
            </a:extLst>
          </p:cNvPr>
          <p:cNvSpPr/>
          <p:nvPr/>
        </p:nvSpPr>
        <p:spPr bwMode="auto">
          <a:xfrm>
            <a:off x="5736746" y="4486278"/>
            <a:ext cx="725177" cy="725177"/>
          </a:xfrm>
          <a:prstGeom prst="ellipse">
            <a:avLst/>
          </a:prstGeom>
          <a:solidFill>
            <a:schemeClr val="tx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难</a:t>
            </a:r>
          </a:p>
        </p:txBody>
      </p:sp>
      <p:sp>
        <p:nvSpPr>
          <p:cNvPr id="22" name="节段19">
            <a:extLst>
              <a:ext uri="{FF2B5EF4-FFF2-40B4-BE49-F238E27FC236}">
                <a16:creationId xmlns:a16="http://schemas.microsoft.com/office/drawing/2014/main" id="{809C4826-51DE-815E-8E47-A477EE5386D0}"/>
              </a:ext>
            </a:extLst>
          </p:cNvPr>
          <p:cNvSpPr/>
          <p:nvPr/>
        </p:nvSpPr>
        <p:spPr bwMode="auto">
          <a:xfrm>
            <a:off x="311877" y="1279998"/>
            <a:ext cx="590465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19.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幅相特性：换个角度看频域</a:t>
            </a:r>
          </a:p>
        </p:txBody>
      </p:sp>
    </p:spTree>
    <p:extLst>
      <p:ext uri="{BB962C8B-B14F-4D97-AF65-F5344CB8AC3E}">
        <p14:creationId xmlns:p14="http://schemas.microsoft.com/office/powerpoint/2010/main" val="2826082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" grpId="0" animBg="1"/>
      <p:bldP spid="25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F737F978-9705-8D13-81F8-AE1C73562DD3}"/>
              </a:ext>
            </a:extLst>
          </p:cNvPr>
          <p:cNvSpPr txBox="1"/>
          <p:nvPr/>
        </p:nvSpPr>
        <p:spPr>
          <a:xfrm>
            <a:off x="3439143" y="3987900"/>
            <a:ext cx="3376137" cy="1055608"/>
          </a:xfrm>
          <a:prstGeom prst="wedgeRoundRectCallout">
            <a:avLst>
              <a:gd name="adj1" fmla="val -58758"/>
              <a:gd name="adj2" fmla="val 23052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/>
              <a:t>这叫</a:t>
            </a:r>
            <a:r>
              <a:rPr kumimoji="1" lang="zh-CN" altLang="en-US" sz="2800" dirty="0">
                <a:solidFill>
                  <a:srgbClr val="E44860"/>
                </a:solidFill>
              </a:rPr>
              <a:t>开环幅相特性</a:t>
            </a:r>
            <a:r>
              <a:rPr kumimoji="1" lang="zh-CN" altLang="en-US" sz="2800" dirty="0"/>
              <a:t>，也叫奈奎斯特图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AF58CB0-BF38-10A8-9228-D15DF36A060C}"/>
              </a:ext>
            </a:extLst>
          </p:cNvPr>
          <p:cNvSpPr txBox="1"/>
          <p:nvPr/>
        </p:nvSpPr>
        <p:spPr>
          <a:xfrm>
            <a:off x="6892544" y="1293636"/>
            <a:ext cx="2232770" cy="1055608"/>
          </a:xfrm>
          <a:prstGeom prst="wedgeRoundRectCallout">
            <a:avLst>
              <a:gd name="adj1" fmla="val 44949"/>
              <a:gd name="adj2" fmla="val 88900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227361"/>
                      <a:gd name="connsiteY0" fmla="*/ 175938 h 1055608"/>
                      <a:gd name="connsiteX1" fmla="*/ 175938 w 2227361"/>
                      <a:gd name="connsiteY1" fmla="*/ 0 h 1055608"/>
                      <a:gd name="connsiteX2" fmla="*/ 760083 w 2227361"/>
                      <a:gd name="connsiteY2" fmla="*/ 0 h 1055608"/>
                      <a:gd name="connsiteX3" fmla="*/ 1299294 w 2227361"/>
                      <a:gd name="connsiteY3" fmla="*/ 0 h 1055608"/>
                      <a:gd name="connsiteX4" fmla="*/ 1299294 w 2227361"/>
                      <a:gd name="connsiteY4" fmla="*/ 0 h 1055608"/>
                      <a:gd name="connsiteX5" fmla="*/ 1856134 w 2227361"/>
                      <a:gd name="connsiteY5" fmla="*/ 0 h 1055608"/>
                      <a:gd name="connsiteX6" fmla="*/ 2051423 w 2227361"/>
                      <a:gd name="connsiteY6" fmla="*/ 0 h 1055608"/>
                      <a:gd name="connsiteX7" fmla="*/ 2227361 w 2227361"/>
                      <a:gd name="connsiteY7" fmla="*/ 175938 h 1055608"/>
                      <a:gd name="connsiteX8" fmla="*/ 2227361 w 2227361"/>
                      <a:gd name="connsiteY8" fmla="*/ 615771 h 1055608"/>
                      <a:gd name="connsiteX9" fmla="*/ 2227361 w 2227361"/>
                      <a:gd name="connsiteY9" fmla="*/ 615771 h 1055608"/>
                      <a:gd name="connsiteX10" fmla="*/ 2227361 w 2227361"/>
                      <a:gd name="connsiteY10" fmla="*/ 879673 h 1055608"/>
                      <a:gd name="connsiteX11" fmla="*/ 2227361 w 2227361"/>
                      <a:gd name="connsiteY11" fmla="*/ 879670 h 1055608"/>
                      <a:gd name="connsiteX12" fmla="*/ 2051423 w 2227361"/>
                      <a:gd name="connsiteY12" fmla="*/ 1055608 h 1055608"/>
                      <a:gd name="connsiteX13" fmla="*/ 1856134 w 2227361"/>
                      <a:gd name="connsiteY13" fmla="*/ 1055608 h 1055608"/>
                      <a:gd name="connsiteX14" fmla="*/ 1894482 w 2227361"/>
                      <a:gd name="connsiteY14" fmla="*/ 1384229 h 1055608"/>
                      <a:gd name="connsiteX15" fmla="*/ 1584984 w 2227361"/>
                      <a:gd name="connsiteY15" fmla="*/ 1213346 h 1055608"/>
                      <a:gd name="connsiteX16" fmla="*/ 1299294 w 2227361"/>
                      <a:gd name="connsiteY16" fmla="*/ 1055608 h 1055608"/>
                      <a:gd name="connsiteX17" fmla="*/ 726382 w 2227361"/>
                      <a:gd name="connsiteY17" fmla="*/ 1055608 h 1055608"/>
                      <a:gd name="connsiteX18" fmla="*/ 175938 w 2227361"/>
                      <a:gd name="connsiteY18" fmla="*/ 1055608 h 1055608"/>
                      <a:gd name="connsiteX19" fmla="*/ 0 w 2227361"/>
                      <a:gd name="connsiteY19" fmla="*/ 879670 h 1055608"/>
                      <a:gd name="connsiteX20" fmla="*/ 0 w 2227361"/>
                      <a:gd name="connsiteY20" fmla="*/ 879673 h 1055608"/>
                      <a:gd name="connsiteX21" fmla="*/ 0 w 2227361"/>
                      <a:gd name="connsiteY21" fmla="*/ 615771 h 1055608"/>
                      <a:gd name="connsiteX22" fmla="*/ 0 w 2227361"/>
                      <a:gd name="connsiteY22" fmla="*/ 615771 h 1055608"/>
                      <a:gd name="connsiteX23" fmla="*/ 0 w 2227361"/>
                      <a:gd name="connsiteY23" fmla="*/ 175938 h 10556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227361" h="1055608" extrusionOk="0">
                        <a:moveTo>
                          <a:pt x="0" y="175938"/>
                        </a:moveTo>
                        <a:cubicBezTo>
                          <a:pt x="-8379" y="73602"/>
                          <a:pt x="74941" y="1437"/>
                          <a:pt x="175938" y="0"/>
                        </a:cubicBezTo>
                        <a:cubicBezTo>
                          <a:pt x="327942" y="-64131"/>
                          <a:pt x="628761" y="41756"/>
                          <a:pt x="760083" y="0"/>
                        </a:cubicBezTo>
                        <a:cubicBezTo>
                          <a:pt x="891406" y="-41756"/>
                          <a:pt x="1042745" y="60515"/>
                          <a:pt x="1299294" y="0"/>
                        </a:cubicBezTo>
                        <a:lnTo>
                          <a:pt x="1299294" y="0"/>
                        </a:lnTo>
                        <a:cubicBezTo>
                          <a:pt x="1576136" y="-45227"/>
                          <a:pt x="1593192" y="37244"/>
                          <a:pt x="1856134" y="0"/>
                        </a:cubicBezTo>
                        <a:cubicBezTo>
                          <a:pt x="1944353" y="-22208"/>
                          <a:pt x="1965301" y="19537"/>
                          <a:pt x="2051423" y="0"/>
                        </a:cubicBezTo>
                        <a:cubicBezTo>
                          <a:pt x="2140350" y="7759"/>
                          <a:pt x="2224796" y="54311"/>
                          <a:pt x="2227361" y="175938"/>
                        </a:cubicBezTo>
                        <a:cubicBezTo>
                          <a:pt x="2276524" y="390928"/>
                          <a:pt x="2184921" y="466368"/>
                          <a:pt x="2227361" y="615771"/>
                        </a:cubicBezTo>
                        <a:lnTo>
                          <a:pt x="2227361" y="615771"/>
                        </a:lnTo>
                        <a:cubicBezTo>
                          <a:pt x="2248827" y="706418"/>
                          <a:pt x="2221537" y="783229"/>
                          <a:pt x="2227361" y="879673"/>
                        </a:cubicBezTo>
                        <a:lnTo>
                          <a:pt x="2227361" y="879670"/>
                        </a:lnTo>
                        <a:cubicBezTo>
                          <a:pt x="2240230" y="995995"/>
                          <a:pt x="2150225" y="1072535"/>
                          <a:pt x="2051423" y="1055608"/>
                        </a:cubicBezTo>
                        <a:cubicBezTo>
                          <a:pt x="1982194" y="1076160"/>
                          <a:pt x="1952681" y="1047161"/>
                          <a:pt x="1856134" y="1055608"/>
                        </a:cubicBezTo>
                        <a:cubicBezTo>
                          <a:pt x="1899636" y="1208407"/>
                          <a:pt x="1851762" y="1302045"/>
                          <a:pt x="1894482" y="1384229"/>
                        </a:cubicBezTo>
                        <a:cubicBezTo>
                          <a:pt x="1776915" y="1359032"/>
                          <a:pt x="1745915" y="1276643"/>
                          <a:pt x="1584984" y="1213346"/>
                        </a:cubicBezTo>
                        <a:cubicBezTo>
                          <a:pt x="1424053" y="1150049"/>
                          <a:pt x="1375528" y="1079930"/>
                          <a:pt x="1299294" y="1055608"/>
                        </a:cubicBezTo>
                        <a:cubicBezTo>
                          <a:pt x="1044726" y="1111011"/>
                          <a:pt x="1004272" y="1046688"/>
                          <a:pt x="726382" y="1055608"/>
                        </a:cubicBezTo>
                        <a:cubicBezTo>
                          <a:pt x="448492" y="1064528"/>
                          <a:pt x="349480" y="1055509"/>
                          <a:pt x="175938" y="1055608"/>
                        </a:cubicBezTo>
                        <a:cubicBezTo>
                          <a:pt x="90421" y="1048697"/>
                          <a:pt x="-14062" y="999163"/>
                          <a:pt x="0" y="879670"/>
                        </a:cubicBezTo>
                        <a:lnTo>
                          <a:pt x="0" y="879673"/>
                        </a:lnTo>
                        <a:cubicBezTo>
                          <a:pt x="-20358" y="791123"/>
                          <a:pt x="15951" y="681439"/>
                          <a:pt x="0" y="615771"/>
                        </a:cubicBezTo>
                        <a:lnTo>
                          <a:pt x="0" y="615771"/>
                        </a:lnTo>
                        <a:cubicBezTo>
                          <a:pt x="-48458" y="437856"/>
                          <a:pt x="23737" y="277093"/>
                          <a:pt x="0" y="17593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老师，您在画什么啊？</a:t>
            </a:r>
          </a:p>
        </p:txBody>
      </p:sp>
      <p:sp>
        <p:nvSpPr>
          <p:cNvPr id="12" name="幅相1-1">
            <a:extLst>
              <a:ext uri="{FF2B5EF4-FFF2-40B4-BE49-F238E27FC236}">
                <a16:creationId xmlns:a16="http://schemas.microsoft.com/office/drawing/2014/main" id="{3B123391-C91E-351E-CCDC-D085F3DF6D4B}"/>
              </a:ext>
            </a:extLst>
          </p:cNvPr>
          <p:cNvSpPr/>
          <p:nvPr/>
        </p:nvSpPr>
        <p:spPr>
          <a:xfrm flipV="1">
            <a:off x="2537146" y="1840857"/>
            <a:ext cx="1100114" cy="145713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0894" h="1802302">
                <a:moveTo>
                  <a:pt x="0" y="0"/>
                </a:moveTo>
                <a:cubicBezTo>
                  <a:pt x="67557" y="898230"/>
                  <a:pt x="469091" y="2517352"/>
                  <a:pt x="810894" y="1451463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9" name="单位圆">
            <a:extLst>
              <a:ext uri="{FF2B5EF4-FFF2-40B4-BE49-F238E27FC236}">
                <a16:creationId xmlns:a16="http://schemas.microsoft.com/office/drawing/2014/main" id="{95B2FA4D-8DCF-3F77-19D4-43BD2171017C}"/>
              </a:ext>
            </a:extLst>
          </p:cNvPr>
          <p:cNvSpPr/>
          <p:nvPr/>
        </p:nvSpPr>
        <p:spPr>
          <a:xfrm rot="16200000">
            <a:off x="3101485" y="1621596"/>
            <a:ext cx="1080000" cy="1080000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263C5621-FB38-595A-706B-D490D3C5E93E}"/>
              </a:ext>
            </a:extLst>
          </p:cNvPr>
          <p:cNvGrpSpPr/>
          <p:nvPr/>
        </p:nvGrpSpPr>
        <p:grpSpPr>
          <a:xfrm>
            <a:off x="1840763" y="94137"/>
            <a:ext cx="3915757" cy="3790002"/>
            <a:chOff x="1840763" y="94137"/>
            <a:chExt cx="3915757" cy="3790002"/>
          </a:xfrm>
        </p:grpSpPr>
        <p:grpSp>
          <p:nvGrpSpPr>
            <p:cNvPr id="23" name="坐标轴">
              <a:extLst>
                <a:ext uri="{FF2B5EF4-FFF2-40B4-BE49-F238E27FC236}">
                  <a16:creationId xmlns:a16="http://schemas.microsoft.com/office/drawing/2014/main" id="{F3F88607-9682-02A5-F9EB-FFE4C16D4077}"/>
                </a:ext>
              </a:extLst>
            </p:cNvPr>
            <p:cNvGrpSpPr/>
            <p:nvPr/>
          </p:nvGrpSpPr>
          <p:grpSpPr>
            <a:xfrm>
              <a:off x="1840763" y="94137"/>
              <a:ext cx="3915757" cy="3790002"/>
              <a:chOff x="7535366" y="2807350"/>
              <a:chExt cx="3915757" cy="3790002"/>
            </a:xfrm>
          </p:grpSpPr>
          <p:cxnSp>
            <p:nvCxnSpPr>
              <p:cNvPr id="24" name="实轴">
                <a:extLst>
                  <a:ext uri="{FF2B5EF4-FFF2-40B4-BE49-F238E27FC236}">
                    <a16:creationId xmlns:a16="http://schemas.microsoft.com/office/drawing/2014/main" id="{9705F812-4094-6EF5-91C1-7C6A877BB3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35366" y="4877435"/>
                <a:ext cx="367240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虚轴">
                <a:extLst>
                  <a:ext uri="{FF2B5EF4-FFF2-40B4-BE49-F238E27FC236}">
                    <a16:creationId xmlns:a16="http://schemas.microsoft.com/office/drawing/2014/main" id="{A5BD8CA0-5070-F76D-CA11-88648F8E58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49110" y="3068960"/>
                <a:ext cx="0" cy="352839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Re">
                    <a:extLst>
                      <a:ext uri="{FF2B5EF4-FFF2-40B4-BE49-F238E27FC236}">
                        <a16:creationId xmlns:a16="http://schemas.microsoft.com/office/drawing/2014/main" id="{F519188A-C023-11D0-91CA-CF8E68A0F45A}"/>
                      </a:ext>
                    </a:extLst>
                  </p:cNvPr>
                  <p:cNvSpPr txBox="1"/>
                  <p:nvPr/>
                </p:nvSpPr>
                <p:spPr>
                  <a:xfrm>
                    <a:off x="10874587" y="4396379"/>
                    <a:ext cx="576536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Re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38" name="Re">
                    <a:extLst>
                      <a:ext uri="{FF2B5EF4-FFF2-40B4-BE49-F238E27FC236}">
                        <a16:creationId xmlns:a16="http://schemas.microsoft.com/office/drawing/2014/main" id="{7D056F90-5A90-5AC2-0BB4-EC2B822399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74587" y="4396379"/>
                    <a:ext cx="576536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522" r="-434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Im">
                    <a:extLst>
                      <a:ext uri="{FF2B5EF4-FFF2-40B4-BE49-F238E27FC236}">
                        <a16:creationId xmlns:a16="http://schemas.microsoft.com/office/drawing/2014/main" id="{0559DCF7-EFF6-8F7D-5AA7-814D3B91785E}"/>
                      </a:ext>
                    </a:extLst>
                  </p:cNvPr>
                  <p:cNvSpPr txBox="1"/>
                  <p:nvPr/>
                </p:nvSpPr>
                <p:spPr>
                  <a:xfrm>
                    <a:off x="8734605" y="2807350"/>
                    <a:ext cx="576536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Im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39" name="Im">
                    <a:extLst>
                      <a:ext uri="{FF2B5EF4-FFF2-40B4-BE49-F238E27FC236}">
                        <a16:creationId xmlns:a16="http://schemas.microsoft.com/office/drawing/2014/main" id="{B15195EC-160D-2BB3-C29E-0FE76F5C6D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34605" y="2807350"/>
                    <a:ext cx="576536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4348" r="-1087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原点">
                    <a:extLst>
                      <a:ext uri="{FF2B5EF4-FFF2-40B4-BE49-F238E27FC236}">
                        <a16:creationId xmlns:a16="http://schemas.microsoft.com/office/drawing/2014/main" id="{3D25F348-C703-C3E6-B93B-DB88371905A7}"/>
                      </a:ext>
                    </a:extLst>
                  </p:cNvPr>
                  <p:cNvSpPr txBox="1"/>
                  <p:nvPr/>
                </p:nvSpPr>
                <p:spPr>
                  <a:xfrm>
                    <a:off x="9297698" y="4852335"/>
                    <a:ext cx="54535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53" name="原点">
                    <a:extLst>
                      <a:ext uri="{FF2B5EF4-FFF2-40B4-BE49-F238E27FC236}">
                        <a16:creationId xmlns:a16="http://schemas.microsoft.com/office/drawing/2014/main" id="{13603334-87A6-3819-C090-B07D721725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97698" y="4852335"/>
                    <a:ext cx="545352" cy="52469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label1">
                  <a:extLst>
                    <a:ext uri="{FF2B5EF4-FFF2-40B4-BE49-F238E27FC236}">
                      <a16:creationId xmlns:a16="http://schemas.microsoft.com/office/drawing/2014/main" id="{E448175E-B852-FD64-16C1-F43A6EE29DD4}"/>
                    </a:ext>
                  </a:extLst>
                </p:cNvPr>
                <p:cNvSpPr txBox="1"/>
                <p:nvPr/>
              </p:nvSpPr>
              <p:spPr>
                <a:xfrm>
                  <a:off x="3970085" y="2139122"/>
                  <a:ext cx="80122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2" name="label1">
                  <a:extLst>
                    <a:ext uri="{FF2B5EF4-FFF2-40B4-BE49-F238E27FC236}">
                      <a16:creationId xmlns:a16="http://schemas.microsoft.com/office/drawing/2014/main" id="{E448175E-B852-FD64-16C1-F43A6EE29D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0085" y="2139122"/>
                  <a:ext cx="801225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D2BC2D9-804F-2155-66DA-B4F5F9D91A07}"/>
              </a:ext>
            </a:extLst>
          </p:cNvPr>
          <p:cNvGrpSpPr/>
          <p:nvPr/>
        </p:nvGrpSpPr>
        <p:grpSpPr>
          <a:xfrm>
            <a:off x="2485476" y="560499"/>
            <a:ext cx="801225" cy="1372335"/>
            <a:chOff x="2485476" y="560499"/>
            <a:chExt cx="801225" cy="13723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label1">
                  <a:extLst>
                    <a:ext uri="{FF2B5EF4-FFF2-40B4-BE49-F238E27FC236}">
                      <a16:creationId xmlns:a16="http://schemas.microsoft.com/office/drawing/2014/main" id="{16B28E78-5624-8803-295F-9D5B5FC255E9}"/>
                    </a:ext>
                  </a:extLst>
                </p:cNvPr>
                <p:cNvSpPr txBox="1"/>
                <p:nvPr/>
              </p:nvSpPr>
              <p:spPr>
                <a:xfrm>
                  <a:off x="2485476" y="560499"/>
                  <a:ext cx="80122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4" name="label1">
                  <a:extLst>
                    <a:ext uri="{FF2B5EF4-FFF2-40B4-BE49-F238E27FC236}">
                      <a16:creationId xmlns:a16="http://schemas.microsoft.com/office/drawing/2014/main" id="{16B28E78-5624-8803-295F-9D5B5FC255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5476" y="560499"/>
                  <a:ext cx="801225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wc">
              <a:extLst>
                <a:ext uri="{FF2B5EF4-FFF2-40B4-BE49-F238E27FC236}">
                  <a16:creationId xmlns:a16="http://schemas.microsoft.com/office/drawing/2014/main" id="{696D186C-1951-8377-AD2F-C14C005F9178}"/>
                </a:ext>
              </a:extLst>
            </p:cNvPr>
            <p:cNvSpPr/>
            <p:nvPr/>
          </p:nvSpPr>
          <p:spPr>
            <a:xfrm>
              <a:off x="3129464" y="1810082"/>
              <a:ext cx="122752" cy="1227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33" name="箭头wc">
              <a:extLst>
                <a:ext uri="{FF2B5EF4-FFF2-40B4-BE49-F238E27FC236}">
                  <a16:creationId xmlns:a16="http://schemas.microsoft.com/office/drawing/2014/main" id="{E4D4BD65-747E-283F-1930-0D6819DA6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4283379" flipH="1">
              <a:off x="2679877" y="1420299"/>
              <a:ext cx="726139" cy="86505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7065442-AC0D-6184-D334-B8379ECA9735}"/>
              </a:ext>
            </a:extLst>
          </p:cNvPr>
          <p:cNvGrpSpPr/>
          <p:nvPr/>
        </p:nvGrpSpPr>
        <p:grpSpPr>
          <a:xfrm>
            <a:off x="1696007" y="1212790"/>
            <a:ext cx="1284435" cy="1001840"/>
            <a:chOff x="1696007" y="1212790"/>
            <a:chExt cx="1284435" cy="10018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label3">
                  <a:extLst>
                    <a:ext uri="{FF2B5EF4-FFF2-40B4-BE49-F238E27FC236}">
                      <a16:creationId xmlns:a16="http://schemas.microsoft.com/office/drawing/2014/main" id="{9BF3507E-865B-C0F9-1158-F7EA1B76F85C}"/>
                    </a:ext>
                  </a:extLst>
                </p:cNvPr>
                <p:cNvSpPr txBox="1"/>
                <p:nvPr/>
              </p:nvSpPr>
              <p:spPr>
                <a:xfrm>
                  <a:off x="1696007" y="1212790"/>
                  <a:ext cx="545352" cy="5582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" name="label3">
                  <a:extLst>
                    <a:ext uri="{FF2B5EF4-FFF2-40B4-BE49-F238E27FC236}">
                      <a16:creationId xmlns:a16="http://schemas.microsoft.com/office/drawing/2014/main" id="{9BF3507E-865B-C0F9-1158-F7EA1B76F8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6007" y="1212790"/>
                  <a:ext cx="545352" cy="558230"/>
                </a:xfrm>
                <a:prstGeom prst="rect">
                  <a:avLst/>
                </a:prstGeom>
                <a:blipFill>
                  <a:blip r:embed="rId13"/>
                  <a:stretch>
                    <a:fillRect r="-6818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wg">
              <a:extLst>
                <a:ext uri="{FF2B5EF4-FFF2-40B4-BE49-F238E27FC236}">
                  <a16:creationId xmlns:a16="http://schemas.microsoft.com/office/drawing/2014/main" id="{564DAC96-3107-351A-565A-CBFE67F84503}"/>
                </a:ext>
              </a:extLst>
            </p:cNvPr>
            <p:cNvSpPr/>
            <p:nvPr/>
          </p:nvSpPr>
          <p:spPr>
            <a:xfrm>
              <a:off x="2857690" y="2091878"/>
              <a:ext cx="122752" cy="1227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34" name="箭头wg">
              <a:extLst>
                <a:ext uri="{FF2B5EF4-FFF2-40B4-BE49-F238E27FC236}">
                  <a16:creationId xmlns:a16="http://schemas.microsoft.com/office/drawing/2014/main" id="{08DA455C-9274-B830-0476-C594FAECF5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1358603" flipH="1">
              <a:off x="2141253" y="1886609"/>
              <a:ext cx="726139" cy="86505"/>
            </a:xfrm>
            <a:prstGeom prst="rect">
              <a:avLst/>
            </a:prstGeom>
          </p:spPr>
        </p:pic>
      </p:grpSp>
      <p:pic>
        <p:nvPicPr>
          <p:cNvPr id="4" name="图片 3" descr="在墙壁上书写的青年商务人士">
            <a:extLst>
              <a:ext uri="{FF2B5EF4-FFF2-40B4-BE49-F238E27FC236}">
                <a16:creationId xmlns:a16="http://schemas.microsoft.com/office/drawing/2014/main" id="{4A555875-C64C-5330-9DFF-EF867050019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870" y="2266450"/>
            <a:ext cx="1404874" cy="4001000"/>
          </a:xfrm>
          <a:prstGeom prst="rect">
            <a:avLst/>
          </a:prstGeom>
        </p:spPr>
      </p:pic>
      <p:pic>
        <p:nvPicPr>
          <p:cNvPr id="8" name="图片 7" descr="双手交叉的小女孩">
            <a:extLst>
              <a:ext uri="{FF2B5EF4-FFF2-40B4-BE49-F238E27FC236}">
                <a16:creationId xmlns:a16="http://schemas.microsoft.com/office/drawing/2014/main" id="{B2D29F83-7064-4983-B7FD-D0CFDA83B71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2203" y="2957917"/>
            <a:ext cx="921852" cy="3350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65050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12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F737F978-9705-8D13-81F8-AE1C73562DD3}"/>
              </a:ext>
            </a:extLst>
          </p:cNvPr>
          <p:cNvSpPr txBox="1"/>
          <p:nvPr/>
        </p:nvSpPr>
        <p:spPr>
          <a:xfrm>
            <a:off x="3439143" y="3987900"/>
            <a:ext cx="3376137" cy="1055608"/>
          </a:xfrm>
          <a:prstGeom prst="wedgeRoundRectCallout">
            <a:avLst>
              <a:gd name="adj1" fmla="val -58758"/>
              <a:gd name="adj2" fmla="val 23052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/>
              <a:t>可以用来判断反馈系统的稳定性。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AF58CB0-BF38-10A8-9228-D15DF36A060C}"/>
              </a:ext>
            </a:extLst>
          </p:cNvPr>
          <p:cNvSpPr txBox="1"/>
          <p:nvPr/>
        </p:nvSpPr>
        <p:spPr>
          <a:xfrm>
            <a:off x="6892544" y="1293636"/>
            <a:ext cx="2232770" cy="1055608"/>
          </a:xfrm>
          <a:prstGeom prst="wedgeRoundRectCallout">
            <a:avLst>
              <a:gd name="adj1" fmla="val 44949"/>
              <a:gd name="adj2" fmla="val 88900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227361"/>
                      <a:gd name="connsiteY0" fmla="*/ 175938 h 1055608"/>
                      <a:gd name="connsiteX1" fmla="*/ 175938 w 2227361"/>
                      <a:gd name="connsiteY1" fmla="*/ 0 h 1055608"/>
                      <a:gd name="connsiteX2" fmla="*/ 760083 w 2227361"/>
                      <a:gd name="connsiteY2" fmla="*/ 0 h 1055608"/>
                      <a:gd name="connsiteX3" fmla="*/ 1299294 w 2227361"/>
                      <a:gd name="connsiteY3" fmla="*/ 0 h 1055608"/>
                      <a:gd name="connsiteX4" fmla="*/ 1299294 w 2227361"/>
                      <a:gd name="connsiteY4" fmla="*/ 0 h 1055608"/>
                      <a:gd name="connsiteX5" fmla="*/ 1856134 w 2227361"/>
                      <a:gd name="connsiteY5" fmla="*/ 0 h 1055608"/>
                      <a:gd name="connsiteX6" fmla="*/ 2051423 w 2227361"/>
                      <a:gd name="connsiteY6" fmla="*/ 0 h 1055608"/>
                      <a:gd name="connsiteX7" fmla="*/ 2227361 w 2227361"/>
                      <a:gd name="connsiteY7" fmla="*/ 175938 h 1055608"/>
                      <a:gd name="connsiteX8" fmla="*/ 2227361 w 2227361"/>
                      <a:gd name="connsiteY8" fmla="*/ 615771 h 1055608"/>
                      <a:gd name="connsiteX9" fmla="*/ 2227361 w 2227361"/>
                      <a:gd name="connsiteY9" fmla="*/ 615771 h 1055608"/>
                      <a:gd name="connsiteX10" fmla="*/ 2227361 w 2227361"/>
                      <a:gd name="connsiteY10" fmla="*/ 879673 h 1055608"/>
                      <a:gd name="connsiteX11" fmla="*/ 2227361 w 2227361"/>
                      <a:gd name="connsiteY11" fmla="*/ 879670 h 1055608"/>
                      <a:gd name="connsiteX12" fmla="*/ 2051423 w 2227361"/>
                      <a:gd name="connsiteY12" fmla="*/ 1055608 h 1055608"/>
                      <a:gd name="connsiteX13" fmla="*/ 1856134 w 2227361"/>
                      <a:gd name="connsiteY13" fmla="*/ 1055608 h 1055608"/>
                      <a:gd name="connsiteX14" fmla="*/ 1894482 w 2227361"/>
                      <a:gd name="connsiteY14" fmla="*/ 1384229 h 1055608"/>
                      <a:gd name="connsiteX15" fmla="*/ 1584984 w 2227361"/>
                      <a:gd name="connsiteY15" fmla="*/ 1213346 h 1055608"/>
                      <a:gd name="connsiteX16" fmla="*/ 1299294 w 2227361"/>
                      <a:gd name="connsiteY16" fmla="*/ 1055608 h 1055608"/>
                      <a:gd name="connsiteX17" fmla="*/ 726382 w 2227361"/>
                      <a:gd name="connsiteY17" fmla="*/ 1055608 h 1055608"/>
                      <a:gd name="connsiteX18" fmla="*/ 175938 w 2227361"/>
                      <a:gd name="connsiteY18" fmla="*/ 1055608 h 1055608"/>
                      <a:gd name="connsiteX19" fmla="*/ 0 w 2227361"/>
                      <a:gd name="connsiteY19" fmla="*/ 879670 h 1055608"/>
                      <a:gd name="connsiteX20" fmla="*/ 0 w 2227361"/>
                      <a:gd name="connsiteY20" fmla="*/ 879673 h 1055608"/>
                      <a:gd name="connsiteX21" fmla="*/ 0 w 2227361"/>
                      <a:gd name="connsiteY21" fmla="*/ 615771 h 1055608"/>
                      <a:gd name="connsiteX22" fmla="*/ 0 w 2227361"/>
                      <a:gd name="connsiteY22" fmla="*/ 615771 h 1055608"/>
                      <a:gd name="connsiteX23" fmla="*/ 0 w 2227361"/>
                      <a:gd name="connsiteY23" fmla="*/ 175938 h 10556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227361" h="1055608" extrusionOk="0">
                        <a:moveTo>
                          <a:pt x="0" y="175938"/>
                        </a:moveTo>
                        <a:cubicBezTo>
                          <a:pt x="-8379" y="73602"/>
                          <a:pt x="74941" y="1437"/>
                          <a:pt x="175938" y="0"/>
                        </a:cubicBezTo>
                        <a:cubicBezTo>
                          <a:pt x="327942" y="-64131"/>
                          <a:pt x="628761" y="41756"/>
                          <a:pt x="760083" y="0"/>
                        </a:cubicBezTo>
                        <a:cubicBezTo>
                          <a:pt x="891406" y="-41756"/>
                          <a:pt x="1042745" y="60515"/>
                          <a:pt x="1299294" y="0"/>
                        </a:cubicBezTo>
                        <a:lnTo>
                          <a:pt x="1299294" y="0"/>
                        </a:lnTo>
                        <a:cubicBezTo>
                          <a:pt x="1576136" y="-45227"/>
                          <a:pt x="1593192" y="37244"/>
                          <a:pt x="1856134" y="0"/>
                        </a:cubicBezTo>
                        <a:cubicBezTo>
                          <a:pt x="1944353" y="-22208"/>
                          <a:pt x="1965301" y="19537"/>
                          <a:pt x="2051423" y="0"/>
                        </a:cubicBezTo>
                        <a:cubicBezTo>
                          <a:pt x="2140350" y="7759"/>
                          <a:pt x="2224796" y="54311"/>
                          <a:pt x="2227361" y="175938"/>
                        </a:cubicBezTo>
                        <a:cubicBezTo>
                          <a:pt x="2276524" y="390928"/>
                          <a:pt x="2184921" y="466368"/>
                          <a:pt x="2227361" y="615771"/>
                        </a:cubicBezTo>
                        <a:lnTo>
                          <a:pt x="2227361" y="615771"/>
                        </a:lnTo>
                        <a:cubicBezTo>
                          <a:pt x="2248827" y="706418"/>
                          <a:pt x="2221537" y="783229"/>
                          <a:pt x="2227361" y="879673"/>
                        </a:cubicBezTo>
                        <a:lnTo>
                          <a:pt x="2227361" y="879670"/>
                        </a:lnTo>
                        <a:cubicBezTo>
                          <a:pt x="2240230" y="995995"/>
                          <a:pt x="2150225" y="1072535"/>
                          <a:pt x="2051423" y="1055608"/>
                        </a:cubicBezTo>
                        <a:cubicBezTo>
                          <a:pt x="1982194" y="1076160"/>
                          <a:pt x="1952681" y="1047161"/>
                          <a:pt x="1856134" y="1055608"/>
                        </a:cubicBezTo>
                        <a:cubicBezTo>
                          <a:pt x="1899636" y="1208407"/>
                          <a:pt x="1851762" y="1302045"/>
                          <a:pt x="1894482" y="1384229"/>
                        </a:cubicBezTo>
                        <a:cubicBezTo>
                          <a:pt x="1776915" y="1359032"/>
                          <a:pt x="1745915" y="1276643"/>
                          <a:pt x="1584984" y="1213346"/>
                        </a:cubicBezTo>
                        <a:cubicBezTo>
                          <a:pt x="1424053" y="1150049"/>
                          <a:pt x="1375528" y="1079930"/>
                          <a:pt x="1299294" y="1055608"/>
                        </a:cubicBezTo>
                        <a:cubicBezTo>
                          <a:pt x="1044726" y="1111011"/>
                          <a:pt x="1004272" y="1046688"/>
                          <a:pt x="726382" y="1055608"/>
                        </a:cubicBezTo>
                        <a:cubicBezTo>
                          <a:pt x="448492" y="1064528"/>
                          <a:pt x="349480" y="1055509"/>
                          <a:pt x="175938" y="1055608"/>
                        </a:cubicBezTo>
                        <a:cubicBezTo>
                          <a:pt x="90421" y="1048697"/>
                          <a:pt x="-14062" y="999163"/>
                          <a:pt x="0" y="879670"/>
                        </a:cubicBezTo>
                        <a:lnTo>
                          <a:pt x="0" y="879673"/>
                        </a:lnTo>
                        <a:cubicBezTo>
                          <a:pt x="-20358" y="791123"/>
                          <a:pt x="15951" y="681439"/>
                          <a:pt x="0" y="615771"/>
                        </a:cubicBezTo>
                        <a:lnTo>
                          <a:pt x="0" y="615771"/>
                        </a:lnTo>
                        <a:cubicBezTo>
                          <a:pt x="-48458" y="437856"/>
                          <a:pt x="23737" y="277093"/>
                          <a:pt x="0" y="17593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这个图有什么用啊？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13D3734-DB30-870B-44B2-FDBB17B5707D}"/>
              </a:ext>
            </a:extLst>
          </p:cNvPr>
          <p:cNvGrpSpPr/>
          <p:nvPr/>
        </p:nvGrpSpPr>
        <p:grpSpPr>
          <a:xfrm>
            <a:off x="1696007" y="94137"/>
            <a:ext cx="4060513" cy="3790002"/>
            <a:chOff x="8244555" y="174447"/>
            <a:chExt cx="4060513" cy="3790002"/>
          </a:xfrm>
        </p:grpSpPr>
        <p:sp>
          <p:nvSpPr>
            <p:cNvPr id="12" name="幅相1-1">
              <a:extLst>
                <a:ext uri="{FF2B5EF4-FFF2-40B4-BE49-F238E27FC236}">
                  <a16:creationId xmlns:a16="http://schemas.microsoft.com/office/drawing/2014/main" id="{3B123391-C91E-351E-CCDC-D085F3DF6D4B}"/>
                </a:ext>
              </a:extLst>
            </p:cNvPr>
            <p:cNvSpPr/>
            <p:nvPr/>
          </p:nvSpPr>
          <p:spPr>
            <a:xfrm flipV="1">
              <a:off x="9085694" y="1921167"/>
              <a:ext cx="1100114" cy="1457130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115 w 886673"/>
                <a:gd name="connsiteY0" fmla="*/ 2108688 h 2108688"/>
                <a:gd name="connsiteX1" fmla="*/ 886673 w 886673"/>
                <a:gd name="connsiteY1" fmla="*/ 0 h 2108688"/>
                <a:gd name="connsiteX0" fmla="*/ 117 w 886675"/>
                <a:gd name="connsiteY0" fmla="*/ 2108688 h 2108688"/>
                <a:gd name="connsiteX1" fmla="*/ 886675 w 886675"/>
                <a:gd name="connsiteY1" fmla="*/ 0 h 2108688"/>
                <a:gd name="connsiteX0" fmla="*/ 188597 w 188597"/>
                <a:gd name="connsiteY0" fmla="*/ 1375957 h 1375957"/>
                <a:gd name="connsiteX1" fmla="*/ 15420 w 188597"/>
                <a:gd name="connsiteY1" fmla="*/ 0 h 1375957"/>
                <a:gd name="connsiteX0" fmla="*/ 179891 w 301071"/>
                <a:gd name="connsiteY0" fmla="*/ 1375957 h 1585789"/>
                <a:gd name="connsiteX1" fmla="*/ 6714 w 301071"/>
                <a:gd name="connsiteY1" fmla="*/ 0 h 1585789"/>
                <a:gd name="connsiteX0" fmla="*/ 0 w 1219617"/>
                <a:gd name="connsiteY0" fmla="*/ 1067120 h 1383642"/>
                <a:gd name="connsiteX1" fmla="*/ 1219617 w 1219617"/>
                <a:gd name="connsiteY1" fmla="*/ 0 h 1383642"/>
                <a:gd name="connsiteX0" fmla="*/ 0 w 1219617"/>
                <a:gd name="connsiteY0" fmla="*/ 1067120 h 1144709"/>
                <a:gd name="connsiteX1" fmla="*/ 1219617 w 1219617"/>
                <a:gd name="connsiteY1" fmla="*/ 0 h 1144709"/>
                <a:gd name="connsiteX0" fmla="*/ 0 w 1219617"/>
                <a:gd name="connsiteY0" fmla="*/ 1067120 h 1106481"/>
                <a:gd name="connsiteX1" fmla="*/ 1219617 w 1219617"/>
                <a:gd name="connsiteY1" fmla="*/ 0 h 1106481"/>
                <a:gd name="connsiteX0" fmla="*/ 0 w 1219617"/>
                <a:gd name="connsiteY0" fmla="*/ 1067120 h 1067360"/>
                <a:gd name="connsiteX1" fmla="*/ 1219617 w 1219617"/>
                <a:gd name="connsiteY1" fmla="*/ 0 h 1067360"/>
                <a:gd name="connsiteX0" fmla="*/ 0 w 1219617"/>
                <a:gd name="connsiteY0" fmla="*/ 1067120 h 1067215"/>
                <a:gd name="connsiteX1" fmla="*/ 1219617 w 1219617"/>
                <a:gd name="connsiteY1" fmla="*/ 0 h 1067215"/>
                <a:gd name="connsiteX0" fmla="*/ 0 w 1219617"/>
                <a:gd name="connsiteY0" fmla="*/ 1008849 h 1008950"/>
                <a:gd name="connsiteX1" fmla="*/ 1219617 w 1219617"/>
                <a:gd name="connsiteY1" fmla="*/ 0 h 1008950"/>
                <a:gd name="connsiteX0" fmla="*/ 0 w 1219617"/>
                <a:gd name="connsiteY0" fmla="*/ 1008849 h 1008941"/>
                <a:gd name="connsiteX1" fmla="*/ 1219617 w 1219617"/>
                <a:gd name="connsiteY1" fmla="*/ 0 h 1008941"/>
                <a:gd name="connsiteX0" fmla="*/ 0 w 3104310"/>
                <a:gd name="connsiteY0" fmla="*/ 329015 h 329300"/>
                <a:gd name="connsiteX1" fmla="*/ 3104310 w 3104310"/>
                <a:gd name="connsiteY1" fmla="*/ 0 h 329300"/>
                <a:gd name="connsiteX0" fmla="*/ 0 w 3104310"/>
                <a:gd name="connsiteY0" fmla="*/ 330476 h 330724"/>
                <a:gd name="connsiteX1" fmla="*/ 3104310 w 3104310"/>
                <a:gd name="connsiteY1" fmla="*/ 1461 h 330724"/>
                <a:gd name="connsiteX0" fmla="*/ 0 w 3104310"/>
                <a:gd name="connsiteY0" fmla="*/ 330552 h 330553"/>
                <a:gd name="connsiteX1" fmla="*/ 3104310 w 3104310"/>
                <a:gd name="connsiteY1" fmla="*/ 1537 h 330553"/>
                <a:gd name="connsiteX0" fmla="*/ 0 w 3104310"/>
                <a:gd name="connsiteY0" fmla="*/ 330514 h 330518"/>
                <a:gd name="connsiteX1" fmla="*/ 3104310 w 3104310"/>
                <a:gd name="connsiteY1" fmla="*/ 1499 h 330518"/>
                <a:gd name="connsiteX0" fmla="*/ 0 w 3097047"/>
                <a:gd name="connsiteY0" fmla="*/ 747339 h 747341"/>
                <a:gd name="connsiteX1" fmla="*/ 3097047 w 3097047"/>
                <a:gd name="connsiteY1" fmla="*/ 711 h 747341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28"/>
                <a:gd name="connsiteX1" fmla="*/ 3097047 w 3097047"/>
                <a:gd name="connsiteY1" fmla="*/ 0 h 746628"/>
                <a:gd name="connsiteX0" fmla="*/ 0 w 3097047"/>
                <a:gd name="connsiteY0" fmla="*/ 746938 h 746938"/>
                <a:gd name="connsiteX1" fmla="*/ 3097047 w 3097047"/>
                <a:gd name="connsiteY1" fmla="*/ 310 h 746938"/>
                <a:gd name="connsiteX0" fmla="*/ 0 w 3097047"/>
                <a:gd name="connsiteY0" fmla="*/ 746930 h 746932"/>
                <a:gd name="connsiteX1" fmla="*/ 3097047 w 3097047"/>
                <a:gd name="connsiteY1" fmla="*/ 302 h 746932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64 h 787921"/>
                <a:gd name="connsiteX1" fmla="*/ 3100678 w 3100678"/>
                <a:gd name="connsiteY1" fmla="*/ 787921 h 787921"/>
                <a:gd name="connsiteX0" fmla="*/ 0 w 3100678"/>
                <a:gd name="connsiteY0" fmla="*/ 64 h 787923"/>
                <a:gd name="connsiteX1" fmla="*/ 3100678 w 3100678"/>
                <a:gd name="connsiteY1" fmla="*/ 787921 h 787923"/>
                <a:gd name="connsiteX0" fmla="*/ 0 w 3328991"/>
                <a:gd name="connsiteY0" fmla="*/ 64 h 845795"/>
                <a:gd name="connsiteX1" fmla="*/ 3100678 w 3328991"/>
                <a:gd name="connsiteY1" fmla="*/ 787921 h 845795"/>
                <a:gd name="connsiteX2" fmla="*/ 3095901 w 3328991"/>
                <a:gd name="connsiteY2" fmla="*/ 786225 h 845795"/>
                <a:gd name="connsiteX0" fmla="*/ 0 w 3346010"/>
                <a:gd name="connsiteY0" fmla="*/ 64 h 820441"/>
                <a:gd name="connsiteX1" fmla="*/ 3100678 w 3346010"/>
                <a:gd name="connsiteY1" fmla="*/ 787921 h 820441"/>
                <a:gd name="connsiteX2" fmla="*/ 3157635 w 3346010"/>
                <a:gd name="connsiteY2" fmla="*/ 611410 h 820441"/>
                <a:gd name="connsiteX0" fmla="*/ 96605 w 3254241"/>
                <a:gd name="connsiteY0" fmla="*/ 66 h 802690"/>
                <a:gd name="connsiteX1" fmla="*/ 2227701 w 3254241"/>
                <a:gd name="connsiteY1" fmla="*/ 768499 h 802690"/>
                <a:gd name="connsiteX2" fmla="*/ 3254240 w 3254241"/>
                <a:gd name="connsiteY2" fmla="*/ 611412 h 802690"/>
                <a:gd name="connsiteX0" fmla="*/ 0 w 3157636"/>
                <a:gd name="connsiteY0" fmla="*/ 78 h 802704"/>
                <a:gd name="connsiteX1" fmla="*/ 2131096 w 3157636"/>
                <a:gd name="connsiteY1" fmla="*/ 768511 h 802704"/>
                <a:gd name="connsiteX2" fmla="*/ 3157635 w 3157636"/>
                <a:gd name="connsiteY2" fmla="*/ 611424 h 802704"/>
                <a:gd name="connsiteX0" fmla="*/ 0 w 3088640"/>
                <a:gd name="connsiteY0" fmla="*/ 78 h 835624"/>
                <a:gd name="connsiteX1" fmla="*/ 2131096 w 3088640"/>
                <a:gd name="connsiteY1" fmla="*/ 768511 h 835624"/>
                <a:gd name="connsiteX2" fmla="*/ 3088639 w 3088640"/>
                <a:gd name="connsiteY2" fmla="*/ 795950 h 835624"/>
                <a:gd name="connsiteX0" fmla="*/ 0 w 3088639"/>
                <a:gd name="connsiteY0" fmla="*/ 106 h 795978"/>
                <a:gd name="connsiteX1" fmla="*/ 798375 w 3088639"/>
                <a:gd name="connsiteY1" fmla="*/ 603436 h 795978"/>
                <a:gd name="connsiteX2" fmla="*/ 3088639 w 3088639"/>
                <a:gd name="connsiteY2" fmla="*/ 795978 h 795978"/>
                <a:gd name="connsiteX0" fmla="*/ 0 w 3088639"/>
                <a:gd name="connsiteY0" fmla="*/ 100 h 795973"/>
                <a:gd name="connsiteX1" fmla="*/ 798375 w 3088639"/>
                <a:gd name="connsiteY1" fmla="*/ 603430 h 795973"/>
                <a:gd name="connsiteX2" fmla="*/ 3088639 w 3088639"/>
                <a:gd name="connsiteY2" fmla="*/ 795972 h 795973"/>
                <a:gd name="connsiteX0" fmla="*/ 0 w 3088639"/>
                <a:gd name="connsiteY0" fmla="*/ 86 h 795982"/>
                <a:gd name="connsiteX1" fmla="*/ 932736 w 3088639"/>
                <a:gd name="connsiteY1" fmla="*/ 690824 h 795982"/>
                <a:gd name="connsiteX2" fmla="*/ 3088639 w 3088639"/>
                <a:gd name="connsiteY2" fmla="*/ 795958 h 795982"/>
                <a:gd name="connsiteX0" fmla="*/ 0 w 3088639"/>
                <a:gd name="connsiteY0" fmla="*/ 0 h 795896"/>
                <a:gd name="connsiteX1" fmla="*/ 932736 w 3088639"/>
                <a:gd name="connsiteY1" fmla="*/ 690738 h 795896"/>
                <a:gd name="connsiteX2" fmla="*/ 3088639 w 3088639"/>
                <a:gd name="connsiteY2" fmla="*/ 795872 h 795896"/>
                <a:gd name="connsiteX0" fmla="*/ 0 w 3085008"/>
                <a:gd name="connsiteY0" fmla="*/ 0 h 690740"/>
                <a:gd name="connsiteX1" fmla="*/ 932736 w 3085008"/>
                <a:gd name="connsiteY1" fmla="*/ 690738 h 690740"/>
                <a:gd name="connsiteX2" fmla="*/ 3085008 w 3085008"/>
                <a:gd name="connsiteY2" fmla="*/ 9206 h 690740"/>
                <a:gd name="connsiteX0" fmla="*/ 0 w 3085008"/>
                <a:gd name="connsiteY0" fmla="*/ 0 h 593622"/>
                <a:gd name="connsiteX1" fmla="*/ 932736 w 3085008"/>
                <a:gd name="connsiteY1" fmla="*/ 593619 h 593622"/>
                <a:gd name="connsiteX2" fmla="*/ 3085008 w 3085008"/>
                <a:gd name="connsiteY2" fmla="*/ 9206 h 593622"/>
                <a:gd name="connsiteX0" fmla="*/ 0 w 3085008"/>
                <a:gd name="connsiteY0" fmla="*/ 0 h 595369"/>
                <a:gd name="connsiteX1" fmla="*/ 932736 w 3085008"/>
                <a:gd name="connsiteY1" fmla="*/ 593619 h 595369"/>
                <a:gd name="connsiteX2" fmla="*/ 3085008 w 3085008"/>
                <a:gd name="connsiteY2" fmla="*/ 9206 h 595369"/>
                <a:gd name="connsiteX0" fmla="*/ 0 w 3085008"/>
                <a:gd name="connsiteY0" fmla="*/ 0 h 595367"/>
                <a:gd name="connsiteX1" fmla="*/ 932736 w 3085008"/>
                <a:gd name="connsiteY1" fmla="*/ 593619 h 595367"/>
                <a:gd name="connsiteX2" fmla="*/ 3085008 w 3085008"/>
                <a:gd name="connsiteY2" fmla="*/ 9206 h 595367"/>
                <a:gd name="connsiteX0" fmla="*/ 0 w 3245462"/>
                <a:gd name="connsiteY0" fmla="*/ 31441 h 626809"/>
                <a:gd name="connsiteX1" fmla="*/ 932736 w 3245462"/>
                <a:gd name="connsiteY1" fmla="*/ 625060 h 626809"/>
                <a:gd name="connsiteX2" fmla="*/ 3085008 w 3245462"/>
                <a:gd name="connsiteY2" fmla="*/ 40647 h 626809"/>
                <a:gd name="connsiteX3" fmla="*/ 3088575 w 3245462"/>
                <a:gd name="connsiteY3" fmla="*/ 50186 h 626809"/>
                <a:gd name="connsiteX0" fmla="*/ 0 w 3253437"/>
                <a:gd name="connsiteY0" fmla="*/ 4355 h 599723"/>
                <a:gd name="connsiteX1" fmla="*/ 932736 w 3253437"/>
                <a:gd name="connsiteY1" fmla="*/ 597974 h 599723"/>
                <a:gd name="connsiteX2" fmla="*/ 3085008 w 3253437"/>
                <a:gd name="connsiteY2" fmla="*/ 13561 h 599723"/>
                <a:gd name="connsiteX3" fmla="*/ 3117626 w 3253437"/>
                <a:gd name="connsiteY3" fmla="*/ 363017 h 599723"/>
                <a:gd name="connsiteX0" fmla="*/ 0 w 3253437"/>
                <a:gd name="connsiteY0" fmla="*/ 4353 h 599721"/>
                <a:gd name="connsiteX1" fmla="*/ 932736 w 3253437"/>
                <a:gd name="connsiteY1" fmla="*/ 597972 h 599721"/>
                <a:gd name="connsiteX2" fmla="*/ 3085008 w 3253437"/>
                <a:gd name="connsiteY2" fmla="*/ 13559 h 599721"/>
                <a:gd name="connsiteX3" fmla="*/ 3117626 w 3253437"/>
                <a:gd name="connsiteY3" fmla="*/ 363015 h 599721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5350"/>
                <a:gd name="connsiteX1" fmla="*/ 772955 w 3085008"/>
                <a:gd name="connsiteY1" fmla="*/ 535347 h 535350"/>
                <a:gd name="connsiteX2" fmla="*/ 3085008 w 3085008"/>
                <a:gd name="connsiteY2" fmla="*/ 9206 h 535350"/>
                <a:gd name="connsiteX0" fmla="*/ 1207605 w 2346186"/>
                <a:gd name="connsiteY0" fmla="*/ 0 h 972386"/>
                <a:gd name="connsiteX1" fmla="*/ 34133 w 2346186"/>
                <a:gd name="connsiteY1" fmla="*/ 972383 h 972386"/>
                <a:gd name="connsiteX2" fmla="*/ 2346186 w 2346186"/>
                <a:gd name="connsiteY2" fmla="*/ 446242 h 972386"/>
                <a:gd name="connsiteX0" fmla="*/ 41748 w 1180329"/>
                <a:gd name="connsiteY0" fmla="*/ 0 h 545080"/>
                <a:gd name="connsiteX1" fmla="*/ 230049 w 1180329"/>
                <a:gd name="connsiteY1" fmla="*/ 545059 h 545080"/>
                <a:gd name="connsiteX2" fmla="*/ 1180329 w 1180329"/>
                <a:gd name="connsiteY2" fmla="*/ 446242 h 545080"/>
                <a:gd name="connsiteX0" fmla="*/ 232937 w 1070112"/>
                <a:gd name="connsiteY0" fmla="*/ 0 h 1077954"/>
                <a:gd name="connsiteX1" fmla="*/ 421238 w 1070112"/>
                <a:gd name="connsiteY1" fmla="*/ 545059 h 1077954"/>
                <a:gd name="connsiteX2" fmla="*/ 1070112 w 1070112"/>
                <a:gd name="connsiteY2" fmla="*/ 1077516 h 1077954"/>
                <a:gd name="connsiteX0" fmla="*/ 0 w 837175"/>
                <a:gd name="connsiteY0" fmla="*/ 0 h 1077517"/>
                <a:gd name="connsiteX1" fmla="*/ 188301 w 837175"/>
                <a:gd name="connsiteY1" fmla="*/ 545059 h 1077517"/>
                <a:gd name="connsiteX2" fmla="*/ 837175 w 837175"/>
                <a:gd name="connsiteY2" fmla="*/ 1077516 h 1077517"/>
                <a:gd name="connsiteX0" fmla="*/ 0 w 837175"/>
                <a:gd name="connsiteY0" fmla="*/ 0 h 1077515"/>
                <a:gd name="connsiteX1" fmla="*/ 188301 w 837175"/>
                <a:gd name="connsiteY1" fmla="*/ 545059 h 1077515"/>
                <a:gd name="connsiteX2" fmla="*/ 837175 w 837175"/>
                <a:gd name="connsiteY2" fmla="*/ 1077516 h 1077515"/>
                <a:gd name="connsiteX0" fmla="*/ 0 w 782704"/>
                <a:gd name="connsiteY0" fmla="*/ 0 h 1145500"/>
                <a:gd name="connsiteX1" fmla="*/ 133830 w 782704"/>
                <a:gd name="connsiteY1" fmla="*/ 613042 h 1145500"/>
                <a:gd name="connsiteX2" fmla="*/ 782704 w 782704"/>
                <a:gd name="connsiteY2" fmla="*/ 1145499 h 1145500"/>
                <a:gd name="connsiteX0" fmla="*/ 31539 w 814243"/>
                <a:gd name="connsiteY0" fmla="*/ 0 h 1145498"/>
                <a:gd name="connsiteX1" fmla="*/ 165369 w 814243"/>
                <a:gd name="connsiteY1" fmla="*/ 613042 h 1145498"/>
                <a:gd name="connsiteX2" fmla="*/ 814243 w 814243"/>
                <a:gd name="connsiteY2" fmla="*/ 1145499 h 1145498"/>
                <a:gd name="connsiteX0" fmla="*/ 31539 w 389370"/>
                <a:gd name="connsiteY0" fmla="*/ 0 h 1232907"/>
                <a:gd name="connsiteX1" fmla="*/ 165369 w 389370"/>
                <a:gd name="connsiteY1" fmla="*/ 613042 h 1232907"/>
                <a:gd name="connsiteX2" fmla="*/ 389370 w 389370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157764"/>
                <a:gd name="connsiteY0" fmla="*/ 0 h 613042"/>
                <a:gd name="connsiteX1" fmla="*/ 157764 w 157764"/>
                <a:gd name="connsiteY1" fmla="*/ 613042 h 613042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300874"/>
                <a:gd name="connsiteY0" fmla="*/ 0 h 1700777"/>
                <a:gd name="connsiteX1" fmla="*/ 300874 w 300874"/>
                <a:gd name="connsiteY1" fmla="*/ 1700777 h 170077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66239"/>
                <a:gd name="connsiteY0" fmla="*/ 0 h 1875592"/>
                <a:gd name="connsiteX1" fmla="*/ 366239 w 366239"/>
                <a:gd name="connsiteY1" fmla="*/ 1875592 h 1875592"/>
                <a:gd name="connsiteX0" fmla="*/ 0 w 408364"/>
                <a:gd name="connsiteY0" fmla="*/ 0 h 1679236"/>
                <a:gd name="connsiteX1" fmla="*/ 408364 w 408364"/>
                <a:gd name="connsiteY1" fmla="*/ 1679236 h 1679236"/>
                <a:gd name="connsiteX0" fmla="*/ 0 w 408364"/>
                <a:gd name="connsiteY0" fmla="*/ 0 h 1776726"/>
                <a:gd name="connsiteX1" fmla="*/ 408364 w 408364"/>
                <a:gd name="connsiteY1" fmla="*/ 1679236 h 1776726"/>
                <a:gd name="connsiteX0" fmla="*/ 0 w 459850"/>
                <a:gd name="connsiteY0" fmla="*/ 0 h 1681277"/>
                <a:gd name="connsiteX1" fmla="*/ 459850 w 459850"/>
                <a:gd name="connsiteY1" fmla="*/ 1577131 h 1681277"/>
                <a:gd name="connsiteX0" fmla="*/ 0 w 459850"/>
                <a:gd name="connsiteY0" fmla="*/ 0 h 1917866"/>
                <a:gd name="connsiteX1" fmla="*/ 459850 w 459850"/>
                <a:gd name="connsiteY1" fmla="*/ 1577131 h 1917866"/>
                <a:gd name="connsiteX0" fmla="*/ 0 w 773449"/>
                <a:gd name="connsiteY0" fmla="*/ 0 h 1590845"/>
                <a:gd name="connsiteX1" fmla="*/ 773449 w 773449"/>
                <a:gd name="connsiteY1" fmla="*/ 1192274 h 1590845"/>
                <a:gd name="connsiteX0" fmla="*/ 0 w 773449"/>
                <a:gd name="connsiteY0" fmla="*/ 0 h 1582461"/>
                <a:gd name="connsiteX1" fmla="*/ 773449 w 773449"/>
                <a:gd name="connsiteY1" fmla="*/ 1192274 h 1582461"/>
                <a:gd name="connsiteX0" fmla="*/ 0 w 810894"/>
                <a:gd name="connsiteY0" fmla="*/ 0 h 1802302"/>
                <a:gd name="connsiteX1" fmla="*/ 810894 w 810894"/>
                <a:gd name="connsiteY1" fmla="*/ 1451463 h 1802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0894" h="1802302">
                  <a:moveTo>
                    <a:pt x="0" y="0"/>
                  </a:moveTo>
                  <a:cubicBezTo>
                    <a:pt x="67557" y="898230"/>
                    <a:pt x="469091" y="2517352"/>
                    <a:pt x="810894" y="1451463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label3">
                  <a:extLst>
                    <a:ext uri="{FF2B5EF4-FFF2-40B4-BE49-F238E27FC236}">
                      <a16:creationId xmlns:a16="http://schemas.microsoft.com/office/drawing/2014/main" id="{9BF3507E-865B-C0F9-1158-F7EA1B76F85C}"/>
                    </a:ext>
                  </a:extLst>
                </p:cNvPr>
                <p:cNvSpPr txBox="1"/>
                <p:nvPr/>
              </p:nvSpPr>
              <p:spPr>
                <a:xfrm>
                  <a:off x="8244555" y="1293100"/>
                  <a:ext cx="545352" cy="5582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" name="label3">
                  <a:extLst>
                    <a:ext uri="{FF2B5EF4-FFF2-40B4-BE49-F238E27FC236}">
                      <a16:creationId xmlns:a16="http://schemas.microsoft.com/office/drawing/2014/main" id="{9BF3507E-865B-C0F9-1158-F7EA1B76F8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4555" y="1293100"/>
                  <a:ext cx="545352" cy="558230"/>
                </a:xfrm>
                <a:prstGeom prst="rect">
                  <a:avLst/>
                </a:prstGeom>
                <a:blipFill>
                  <a:blip r:embed="rId3"/>
                  <a:stretch>
                    <a:fillRect r="-6818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label1">
                  <a:extLst>
                    <a:ext uri="{FF2B5EF4-FFF2-40B4-BE49-F238E27FC236}">
                      <a16:creationId xmlns:a16="http://schemas.microsoft.com/office/drawing/2014/main" id="{16B28E78-5624-8803-295F-9D5B5FC255E9}"/>
                    </a:ext>
                  </a:extLst>
                </p:cNvPr>
                <p:cNvSpPr txBox="1"/>
                <p:nvPr/>
              </p:nvSpPr>
              <p:spPr>
                <a:xfrm>
                  <a:off x="9034024" y="640809"/>
                  <a:ext cx="80122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4" name="label1">
                  <a:extLst>
                    <a:ext uri="{FF2B5EF4-FFF2-40B4-BE49-F238E27FC236}">
                      <a16:creationId xmlns:a16="http://schemas.microsoft.com/office/drawing/2014/main" id="{16B28E78-5624-8803-295F-9D5B5FC255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4024" y="640809"/>
                  <a:ext cx="801225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3" name="坐标轴">
              <a:extLst>
                <a:ext uri="{FF2B5EF4-FFF2-40B4-BE49-F238E27FC236}">
                  <a16:creationId xmlns:a16="http://schemas.microsoft.com/office/drawing/2014/main" id="{F3F88607-9682-02A5-F9EB-FFE4C16D4077}"/>
                </a:ext>
              </a:extLst>
            </p:cNvPr>
            <p:cNvGrpSpPr/>
            <p:nvPr/>
          </p:nvGrpSpPr>
          <p:grpSpPr>
            <a:xfrm>
              <a:off x="8389311" y="174447"/>
              <a:ext cx="3915757" cy="3790002"/>
              <a:chOff x="7535366" y="2807350"/>
              <a:chExt cx="3915757" cy="3790002"/>
            </a:xfrm>
          </p:grpSpPr>
          <p:cxnSp>
            <p:nvCxnSpPr>
              <p:cNvPr id="24" name="实轴">
                <a:extLst>
                  <a:ext uri="{FF2B5EF4-FFF2-40B4-BE49-F238E27FC236}">
                    <a16:creationId xmlns:a16="http://schemas.microsoft.com/office/drawing/2014/main" id="{9705F812-4094-6EF5-91C1-7C6A877BB3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35366" y="4877435"/>
                <a:ext cx="367240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虚轴">
                <a:extLst>
                  <a:ext uri="{FF2B5EF4-FFF2-40B4-BE49-F238E27FC236}">
                    <a16:creationId xmlns:a16="http://schemas.microsoft.com/office/drawing/2014/main" id="{A5BD8CA0-5070-F76D-CA11-88648F8E58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49110" y="3068960"/>
                <a:ext cx="0" cy="352839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Re">
                    <a:extLst>
                      <a:ext uri="{FF2B5EF4-FFF2-40B4-BE49-F238E27FC236}">
                        <a16:creationId xmlns:a16="http://schemas.microsoft.com/office/drawing/2014/main" id="{F519188A-C023-11D0-91CA-CF8E68A0F45A}"/>
                      </a:ext>
                    </a:extLst>
                  </p:cNvPr>
                  <p:cNvSpPr txBox="1"/>
                  <p:nvPr/>
                </p:nvSpPr>
                <p:spPr>
                  <a:xfrm>
                    <a:off x="10874587" y="4396379"/>
                    <a:ext cx="576536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Re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38" name="Re">
                    <a:extLst>
                      <a:ext uri="{FF2B5EF4-FFF2-40B4-BE49-F238E27FC236}">
                        <a16:creationId xmlns:a16="http://schemas.microsoft.com/office/drawing/2014/main" id="{7D056F90-5A90-5AC2-0BB4-EC2B822399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74587" y="4396379"/>
                    <a:ext cx="576536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522" r="-434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Im">
                    <a:extLst>
                      <a:ext uri="{FF2B5EF4-FFF2-40B4-BE49-F238E27FC236}">
                        <a16:creationId xmlns:a16="http://schemas.microsoft.com/office/drawing/2014/main" id="{0559DCF7-EFF6-8F7D-5AA7-814D3B91785E}"/>
                      </a:ext>
                    </a:extLst>
                  </p:cNvPr>
                  <p:cNvSpPr txBox="1"/>
                  <p:nvPr/>
                </p:nvSpPr>
                <p:spPr>
                  <a:xfrm>
                    <a:off x="8734605" y="2807350"/>
                    <a:ext cx="576536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Im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39" name="Im">
                    <a:extLst>
                      <a:ext uri="{FF2B5EF4-FFF2-40B4-BE49-F238E27FC236}">
                        <a16:creationId xmlns:a16="http://schemas.microsoft.com/office/drawing/2014/main" id="{B15195EC-160D-2BB3-C29E-0FE76F5C6D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34605" y="2807350"/>
                    <a:ext cx="576536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4348" r="-1087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原点">
                    <a:extLst>
                      <a:ext uri="{FF2B5EF4-FFF2-40B4-BE49-F238E27FC236}">
                        <a16:creationId xmlns:a16="http://schemas.microsoft.com/office/drawing/2014/main" id="{3D25F348-C703-C3E6-B93B-DB88371905A7}"/>
                      </a:ext>
                    </a:extLst>
                  </p:cNvPr>
                  <p:cNvSpPr txBox="1"/>
                  <p:nvPr/>
                </p:nvSpPr>
                <p:spPr>
                  <a:xfrm>
                    <a:off x="9297698" y="4852335"/>
                    <a:ext cx="54535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53" name="原点">
                    <a:extLst>
                      <a:ext uri="{FF2B5EF4-FFF2-40B4-BE49-F238E27FC236}">
                        <a16:creationId xmlns:a16="http://schemas.microsoft.com/office/drawing/2014/main" id="{13603334-87A6-3819-C090-B07D721725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97698" y="4852335"/>
                    <a:ext cx="545352" cy="52469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9" name="单位圆">
              <a:extLst>
                <a:ext uri="{FF2B5EF4-FFF2-40B4-BE49-F238E27FC236}">
                  <a16:creationId xmlns:a16="http://schemas.microsoft.com/office/drawing/2014/main" id="{95B2FA4D-8DCF-3F77-19D4-43BD2171017C}"/>
                </a:ext>
              </a:extLst>
            </p:cNvPr>
            <p:cNvSpPr/>
            <p:nvPr/>
          </p:nvSpPr>
          <p:spPr>
            <a:xfrm rot="16200000">
              <a:off x="9650033" y="1701906"/>
              <a:ext cx="1080000" cy="1080000"/>
            </a:xfrm>
            <a:prstGeom prst="ellipse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wc">
              <a:extLst>
                <a:ext uri="{FF2B5EF4-FFF2-40B4-BE49-F238E27FC236}">
                  <a16:creationId xmlns:a16="http://schemas.microsoft.com/office/drawing/2014/main" id="{696D186C-1951-8377-AD2F-C14C005F9178}"/>
                </a:ext>
              </a:extLst>
            </p:cNvPr>
            <p:cNvSpPr/>
            <p:nvPr/>
          </p:nvSpPr>
          <p:spPr>
            <a:xfrm>
              <a:off x="9678012" y="1890392"/>
              <a:ext cx="122752" cy="1227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" name="wg">
              <a:extLst>
                <a:ext uri="{FF2B5EF4-FFF2-40B4-BE49-F238E27FC236}">
                  <a16:creationId xmlns:a16="http://schemas.microsoft.com/office/drawing/2014/main" id="{564DAC96-3107-351A-565A-CBFE67F84503}"/>
                </a:ext>
              </a:extLst>
            </p:cNvPr>
            <p:cNvSpPr/>
            <p:nvPr/>
          </p:nvSpPr>
          <p:spPr>
            <a:xfrm>
              <a:off x="9406238" y="2172188"/>
              <a:ext cx="122752" cy="1227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label1">
                  <a:extLst>
                    <a:ext uri="{FF2B5EF4-FFF2-40B4-BE49-F238E27FC236}">
                      <a16:creationId xmlns:a16="http://schemas.microsoft.com/office/drawing/2014/main" id="{E448175E-B852-FD64-16C1-F43A6EE29DD4}"/>
                    </a:ext>
                  </a:extLst>
                </p:cNvPr>
                <p:cNvSpPr txBox="1"/>
                <p:nvPr/>
              </p:nvSpPr>
              <p:spPr>
                <a:xfrm>
                  <a:off x="10518633" y="2219432"/>
                  <a:ext cx="80122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2" name="label1">
                  <a:extLst>
                    <a:ext uri="{FF2B5EF4-FFF2-40B4-BE49-F238E27FC236}">
                      <a16:creationId xmlns:a16="http://schemas.microsoft.com/office/drawing/2014/main" id="{E448175E-B852-FD64-16C1-F43A6EE29D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18633" y="2219432"/>
                  <a:ext cx="801225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3" name="箭头wc">
              <a:extLst>
                <a:ext uri="{FF2B5EF4-FFF2-40B4-BE49-F238E27FC236}">
                  <a16:creationId xmlns:a16="http://schemas.microsoft.com/office/drawing/2014/main" id="{E4D4BD65-747E-283F-1930-0D6819DA6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4283379" flipH="1">
              <a:off x="9228425" y="1500609"/>
              <a:ext cx="726139" cy="86505"/>
            </a:xfrm>
            <a:prstGeom prst="rect">
              <a:avLst/>
            </a:prstGeom>
          </p:spPr>
        </p:pic>
        <p:pic>
          <p:nvPicPr>
            <p:cNvPr id="34" name="箭头wg">
              <a:extLst>
                <a:ext uri="{FF2B5EF4-FFF2-40B4-BE49-F238E27FC236}">
                  <a16:creationId xmlns:a16="http://schemas.microsoft.com/office/drawing/2014/main" id="{08DA455C-9274-B830-0476-C594FAECF5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1358603" flipH="1">
              <a:off x="8689801" y="1966919"/>
              <a:ext cx="726139" cy="86505"/>
            </a:xfrm>
            <a:prstGeom prst="rect">
              <a:avLst/>
            </a:prstGeom>
          </p:spPr>
        </p:pic>
      </p:grpSp>
      <p:pic>
        <p:nvPicPr>
          <p:cNvPr id="8" name="图片 7" descr="双手交叉的小女孩">
            <a:extLst>
              <a:ext uri="{FF2B5EF4-FFF2-40B4-BE49-F238E27FC236}">
                <a16:creationId xmlns:a16="http://schemas.microsoft.com/office/drawing/2014/main" id="{B2D29F83-7064-4983-B7FD-D0CFDA83B71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2203" y="2957917"/>
            <a:ext cx="921852" cy="3350808"/>
          </a:xfrm>
          <a:prstGeom prst="rect">
            <a:avLst/>
          </a:prstGeom>
        </p:spPr>
      </p:pic>
      <p:pic>
        <p:nvPicPr>
          <p:cNvPr id="5" name="图片 4" descr="正在解释的年轻商务人士">
            <a:extLst>
              <a:ext uri="{FF2B5EF4-FFF2-40B4-BE49-F238E27FC236}">
                <a16:creationId xmlns:a16="http://schemas.microsoft.com/office/drawing/2014/main" id="{66E750AE-1509-3CC4-6763-0EFE7E543CA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15073" y="2721013"/>
            <a:ext cx="1544199" cy="3629247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72D422C4-5C05-2E34-B575-2398432BFFE8}"/>
              </a:ext>
            </a:extLst>
          </p:cNvPr>
          <p:cNvSpPr txBox="1"/>
          <p:nvPr/>
        </p:nvSpPr>
        <p:spPr>
          <a:xfrm>
            <a:off x="5991611" y="2619194"/>
            <a:ext cx="2576243" cy="1055608"/>
          </a:xfrm>
          <a:prstGeom prst="wedgeRoundRectCallout">
            <a:avLst>
              <a:gd name="adj1" fmla="val 44949"/>
              <a:gd name="adj2" fmla="val 88900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227361"/>
                      <a:gd name="connsiteY0" fmla="*/ 175938 h 1055608"/>
                      <a:gd name="connsiteX1" fmla="*/ 175938 w 2227361"/>
                      <a:gd name="connsiteY1" fmla="*/ 0 h 1055608"/>
                      <a:gd name="connsiteX2" fmla="*/ 760083 w 2227361"/>
                      <a:gd name="connsiteY2" fmla="*/ 0 h 1055608"/>
                      <a:gd name="connsiteX3" fmla="*/ 1299294 w 2227361"/>
                      <a:gd name="connsiteY3" fmla="*/ 0 h 1055608"/>
                      <a:gd name="connsiteX4" fmla="*/ 1299294 w 2227361"/>
                      <a:gd name="connsiteY4" fmla="*/ 0 h 1055608"/>
                      <a:gd name="connsiteX5" fmla="*/ 1856134 w 2227361"/>
                      <a:gd name="connsiteY5" fmla="*/ 0 h 1055608"/>
                      <a:gd name="connsiteX6" fmla="*/ 2051423 w 2227361"/>
                      <a:gd name="connsiteY6" fmla="*/ 0 h 1055608"/>
                      <a:gd name="connsiteX7" fmla="*/ 2227361 w 2227361"/>
                      <a:gd name="connsiteY7" fmla="*/ 175938 h 1055608"/>
                      <a:gd name="connsiteX8" fmla="*/ 2227361 w 2227361"/>
                      <a:gd name="connsiteY8" fmla="*/ 615771 h 1055608"/>
                      <a:gd name="connsiteX9" fmla="*/ 2227361 w 2227361"/>
                      <a:gd name="connsiteY9" fmla="*/ 615771 h 1055608"/>
                      <a:gd name="connsiteX10" fmla="*/ 2227361 w 2227361"/>
                      <a:gd name="connsiteY10" fmla="*/ 879673 h 1055608"/>
                      <a:gd name="connsiteX11" fmla="*/ 2227361 w 2227361"/>
                      <a:gd name="connsiteY11" fmla="*/ 879670 h 1055608"/>
                      <a:gd name="connsiteX12" fmla="*/ 2051423 w 2227361"/>
                      <a:gd name="connsiteY12" fmla="*/ 1055608 h 1055608"/>
                      <a:gd name="connsiteX13" fmla="*/ 1856134 w 2227361"/>
                      <a:gd name="connsiteY13" fmla="*/ 1055608 h 1055608"/>
                      <a:gd name="connsiteX14" fmla="*/ 1894482 w 2227361"/>
                      <a:gd name="connsiteY14" fmla="*/ 1384229 h 1055608"/>
                      <a:gd name="connsiteX15" fmla="*/ 1584984 w 2227361"/>
                      <a:gd name="connsiteY15" fmla="*/ 1213346 h 1055608"/>
                      <a:gd name="connsiteX16" fmla="*/ 1299294 w 2227361"/>
                      <a:gd name="connsiteY16" fmla="*/ 1055608 h 1055608"/>
                      <a:gd name="connsiteX17" fmla="*/ 726382 w 2227361"/>
                      <a:gd name="connsiteY17" fmla="*/ 1055608 h 1055608"/>
                      <a:gd name="connsiteX18" fmla="*/ 175938 w 2227361"/>
                      <a:gd name="connsiteY18" fmla="*/ 1055608 h 1055608"/>
                      <a:gd name="connsiteX19" fmla="*/ 0 w 2227361"/>
                      <a:gd name="connsiteY19" fmla="*/ 879670 h 1055608"/>
                      <a:gd name="connsiteX20" fmla="*/ 0 w 2227361"/>
                      <a:gd name="connsiteY20" fmla="*/ 879673 h 1055608"/>
                      <a:gd name="connsiteX21" fmla="*/ 0 w 2227361"/>
                      <a:gd name="connsiteY21" fmla="*/ 615771 h 1055608"/>
                      <a:gd name="connsiteX22" fmla="*/ 0 w 2227361"/>
                      <a:gd name="connsiteY22" fmla="*/ 615771 h 1055608"/>
                      <a:gd name="connsiteX23" fmla="*/ 0 w 2227361"/>
                      <a:gd name="connsiteY23" fmla="*/ 175938 h 10556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227361" h="1055608" extrusionOk="0">
                        <a:moveTo>
                          <a:pt x="0" y="175938"/>
                        </a:moveTo>
                        <a:cubicBezTo>
                          <a:pt x="-8379" y="73602"/>
                          <a:pt x="74941" y="1437"/>
                          <a:pt x="175938" y="0"/>
                        </a:cubicBezTo>
                        <a:cubicBezTo>
                          <a:pt x="327942" y="-64131"/>
                          <a:pt x="628761" y="41756"/>
                          <a:pt x="760083" y="0"/>
                        </a:cubicBezTo>
                        <a:cubicBezTo>
                          <a:pt x="891406" y="-41756"/>
                          <a:pt x="1042745" y="60515"/>
                          <a:pt x="1299294" y="0"/>
                        </a:cubicBezTo>
                        <a:lnTo>
                          <a:pt x="1299294" y="0"/>
                        </a:lnTo>
                        <a:cubicBezTo>
                          <a:pt x="1576136" y="-45227"/>
                          <a:pt x="1593192" y="37244"/>
                          <a:pt x="1856134" y="0"/>
                        </a:cubicBezTo>
                        <a:cubicBezTo>
                          <a:pt x="1944353" y="-22208"/>
                          <a:pt x="1965301" y="19537"/>
                          <a:pt x="2051423" y="0"/>
                        </a:cubicBezTo>
                        <a:cubicBezTo>
                          <a:pt x="2140350" y="7759"/>
                          <a:pt x="2224796" y="54311"/>
                          <a:pt x="2227361" y="175938"/>
                        </a:cubicBezTo>
                        <a:cubicBezTo>
                          <a:pt x="2276524" y="390928"/>
                          <a:pt x="2184921" y="466368"/>
                          <a:pt x="2227361" y="615771"/>
                        </a:cubicBezTo>
                        <a:lnTo>
                          <a:pt x="2227361" y="615771"/>
                        </a:lnTo>
                        <a:cubicBezTo>
                          <a:pt x="2248827" y="706418"/>
                          <a:pt x="2221537" y="783229"/>
                          <a:pt x="2227361" y="879673"/>
                        </a:cubicBezTo>
                        <a:lnTo>
                          <a:pt x="2227361" y="879670"/>
                        </a:lnTo>
                        <a:cubicBezTo>
                          <a:pt x="2240230" y="995995"/>
                          <a:pt x="2150225" y="1072535"/>
                          <a:pt x="2051423" y="1055608"/>
                        </a:cubicBezTo>
                        <a:cubicBezTo>
                          <a:pt x="1982194" y="1076160"/>
                          <a:pt x="1952681" y="1047161"/>
                          <a:pt x="1856134" y="1055608"/>
                        </a:cubicBezTo>
                        <a:cubicBezTo>
                          <a:pt x="1899636" y="1208407"/>
                          <a:pt x="1851762" y="1302045"/>
                          <a:pt x="1894482" y="1384229"/>
                        </a:cubicBezTo>
                        <a:cubicBezTo>
                          <a:pt x="1776915" y="1359032"/>
                          <a:pt x="1745915" y="1276643"/>
                          <a:pt x="1584984" y="1213346"/>
                        </a:cubicBezTo>
                        <a:cubicBezTo>
                          <a:pt x="1424053" y="1150049"/>
                          <a:pt x="1375528" y="1079930"/>
                          <a:pt x="1299294" y="1055608"/>
                        </a:cubicBezTo>
                        <a:cubicBezTo>
                          <a:pt x="1044726" y="1111011"/>
                          <a:pt x="1004272" y="1046688"/>
                          <a:pt x="726382" y="1055608"/>
                        </a:cubicBezTo>
                        <a:cubicBezTo>
                          <a:pt x="448492" y="1064528"/>
                          <a:pt x="349480" y="1055509"/>
                          <a:pt x="175938" y="1055608"/>
                        </a:cubicBezTo>
                        <a:cubicBezTo>
                          <a:pt x="90421" y="1048697"/>
                          <a:pt x="-14062" y="999163"/>
                          <a:pt x="0" y="879670"/>
                        </a:cubicBezTo>
                        <a:lnTo>
                          <a:pt x="0" y="879673"/>
                        </a:lnTo>
                        <a:cubicBezTo>
                          <a:pt x="-20358" y="791123"/>
                          <a:pt x="15951" y="681439"/>
                          <a:pt x="0" y="615771"/>
                        </a:cubicBezTo>
                        <a:lnTo>
                          <a:pt x="0" y="615771"/>
                        </a:lnTo>
                        <a:cubicBezTo>
                          <a:pt x="-48458" y="437856"/>
                          <a:pt x="23737" y="277093"/>
                          <a:pt x="0" y="17593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这么简单一条线就能判断？</a:t>
            </a:r>
          </a:p>
        </p:txBody>
      </p:sp>
    </p:spTree>
    <p:extLst>
      <p:ext uri="{BB962C8B-B14F-4D97-AF65-F5344CB8AC3E}">
        <p14:creationId xmlns:p14="http://schemas.microsoft.com/office/powerpoint/2010/main" val="3661439755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2" grpId="1" animBg="1"/>
      <p:bldP spid="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系统开环幅相曲线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40911922-53E5-4EAF-25DB-F43B555C3061}"/>
              </a:ext>
            </a:extLst>
          </p:cNvPr>
          <p:cNvGrpSpPr/>
          <p:nvPr/>
        </p:nvGrpSpPr>
        <p:grpSpPr>
          <a:xfrm>
            <a:off x="7175500" y="1533999"/>
            <a:ext cx="4060513" cy="3790002"/>
            <a:chOff x="8244555" y="174447"/>
            <a:chExt cx="4060513" cy="3790002"/>
          </a:xfrm>
        </p:grpSpPr>
        <p:sp>
          <p:nvSpPr>
            <p:cNvPr id="32" name="幅相1-1">
              <a:extLst>
                <a:ext uri="{FF2B5EF4-FFF2-40B4-BE49-F238E27FC236}">
                  <a16:creationId xmlns:a16="http://schemas.microsoft.com/office/drawing/2014/main" id="{C1E1DE1E-8830-3533-A2F6-BB69AC5A7BD1}"/>
                </a:ext>
              </a:extLst>
            </p:cNvPr>
            <p:cNvSpPr/>
            <p:nvPr/>
          </p:nvSpPr>
          <p:spPr>
            <a:xfrm flipV="1">
              <a:off x="9085694" y="1921167"/>
              <a:ext cx="1100114" cy="1457130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115 w 886673"/>
                <a:gd name="connsiteY0" fmla="*/ 2108688 h 2108688"/>
                <a:gd name="connsiteX1" fmla="*/ 886673 w 886673"/>
                <a:gd name="connsiteY1" fmla="*/ 0 h 2108688"/>
                <a:gd name="connsiteX0" fmla="*/ 117 w 886675"/>
                <a:gd name="connsiteY0" fmla="*/ 2108688 h 2108688"/>
                <a:gd name="connsiteX1" fmla="*/ 886675 w 886675"/>
                <a:gd name="connsiteY1" fmla="*/ 0 h 2108688"/>
                <a:gd name="connsiteX0" fmla="*/ 188597 w 188597"/>
                <a:gd name="connsiteY0" fmla="*/ 1375957 h 1375957"/>
                <a:gd name="connsiteX1" fmla="*/ 15420 w 188597"/>
                <a:gd name="connsiteY1" fmla="*/ 0 h 1375957"/>
                <a:gd name="connsiteX0" fmla="*/ 179891 w 301071"/>
                <a:gd name="connsiteY0" fmla="*/ 1375957 h 1585789"/>
                <a:gd name="connsiteX1" fmla="*/ 6714 w 301071"/>
                <a:gd name="connsiteY1" fmla="*/ 0 h 1585789"/>
                <a:gd name="connsiteX0" fmla="*/ 0 w 1219617"/>
                <a:gd name="connsiteY0" fmla="*/ 1067120 h 1383642"/>
                <a:gd name="connsiteX1" fmla="*/ 1219617 w 1219617"/>
                <a:gd name="connsiteY1" fmla="*/ 0 h 1383642"/>
                <a:gd name="connsiteX0" fmla="*/ 0 w 1219617"/>
                <a:gd name="connsiteY0" fmla="*/ 1067120 h 1144709"/>
                <a:gd name="connsiteX1" fmla="*/ 1219617 w 1219617"/>
                <a:gd name="connsiteY1" fmla="*/ 0 h 1144709"/>
                <a:gd name="connsiteX0" fmla="*/ 0 w 1219617"/>
                <a:gd name="connsiteY0" fmla="*/ 1067120 h 1106481"/>
                <a:gd name="connsiteX1" fmla="*/ 1219617 w 1219617"/>
                <a:gd name="connsiteY1" fmla="*/ 0 h 1106481"/>
                <a:gd name="connsiteX0" fmla="*/ 0 w 1219617"/>
                <a:gd name="connsiteY0" fmla="*/ 1067120 h 1067360"/>
                <a:gd name="connsiteX1" fmla="*/ 1219617 w 1219617"/>
                <a:gd name="connsiteY1" fmla="*/ 0 h 1067360"/>
                <a:gd name="connsiteX0" fmla="*/ 0 w 1219617"/>
                <a:gd name="connsiteY0" fmla="*/ 1067120 h 1067215"/>
                <a:gd name="connsiteX1" fmla="*/ 1219617 w 1219617"/>
                <a:gd name="connsiteY1" fmla="*/ 0 h 1067215"/>
                <a:gd name="connsiteX0" fmla="*/ 0 w 1219617"/>
                <a:gd name="connsiteY0" fmla="*/ 1008849 h 1008950"/>
                <a:gd name="connsiteX1" fmla="*/ 1219617 w 1219617"/>
                <a:gd name="connsiteY1" fmla="*/ 0 h 1008950"/>
                <a:gd name="connsiteX0" fmla="*/ 0 w 1219617"/>
                <a:gd name="connsiteY0" fmla="*/ 1008849 h 1008941"/>
                <a:gd name="connsiteX1" fmla="*/ 1219617 w 1219617"/>
                <a:gd name="connsiteY1" fmla="*/ 0 h 1008941"/>
                <a:gd name="connsiteX0" fmla="*/ 0 w 3104310"/>
                <a:gd name="connsiteY0" fmla="*/ 329015 h 329300"/>
                <a:gd name="connsiteX1" fmla="*/ 3104310 w 3104310"/>
                <a:gd name="connsiteY1" fmla="*/ 0 h 329300"/>
                <a:gd name="connsiteX0" fmla="*/ 0 w 3104310"/>
                <a:gd name="connsiteY0" fmla="*/ 330476 h 330724"/>
                <a:gd name="connsiteX1" fmla="*/ 3104310 w 3104310"/>
                <a:gd name="connsiteY1" fmla="*/ 1461 h 330724"/>
                <a:gd name="connsiteX0" fmla="*/ 0 w 3104310"/>
                <a:gd name="connsiteY0" fmla="*/ 330552 h 330553"/>
                <a:gd name="connsiteX1" fmla="*/ 3104310 w 3104310"/>
                <a:gd name="connsiteY1" fmla="*/ 1537 h 330553"/>
                <a:gd name="connsiteX0" fmla="*/ 0 w 3104310"/>
                <a:gd name="connsiteY0" fmla="*/ 330514 h 330518"/>
                <a:gd name="connsiteX1" fmla="*/ 3104310 w 3104310"/>
                <a:gd name="connsiteY1" fmla="*/ 1499 h 330518"/>
                <a:gd name="connsiteX0" fmla="*/ 0 w 3097047"/>
                <a:gd name="connsiteY0" fmla="*/ 747339 h 747341"/>
                <a:gd name="connsiteX1" fmla="*/ 3097047 w 3097047"/>
                <a:gd name="connsiteY1" fmla="*/ 711 h 747341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28"/>
                <a:gd name="connsiteX1" fmla="*/ 3097047 w 3097047"/>
                <a:gd name="connsiteY1" fmla="*/ 0 h 746628"/>
                <a:gd name="connsiteX0" fmla="*/ 0 w 3097047"/>
                <a:gd name="connsiteY0" fmla="*/ 746938 h 746938"/>
                <a:gd name="connsiteX1" fmla="*/ 3097047 w 3097047"/>
                <a:gd name="connsiteY1" fmla="*/ 310 h 746938"/>
                <a:gd name="connsiteX0" fmla="*/ 0 w 3097047"/>
                <a:gd name="connsiteY0" fmla="*/ 746930 h 746932"/>
                <a:gd name="connsiteX1" fmla="*/ 3097047 w 3097047"/>
                <a:gd name="connsiteY1" fmla="*/ 302 h 746932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64 h 787921"/>
                <a:gd name="connsiteX1" fmla="*/ 3100678 w 3100678"/>
                <a:gd name="connsiteY1" fmla="*/ 787921 h 787921"/>
                <a:gd name="connsiteX0" fmla="*/ 0 w 3100678"/>
                <a:gd name="connsiteY0" fmla="*/ 64 h 787923"/>
                <a:gd name="connsiteX1" fmla="*/ 3100678 w 3100678"/>
                <a:gd name="connsiteY1" fmla="*/ 787921 h 787923"/>
                <a:gd name="connsiteX0" fmla="*/ 0 w 3328991"/>
                <a:gd name="connsiteY0" fmla="*/ 64 h 845795"/>
                <a:gd name="connsiteX1" fmla="*/ 3100678 w 3328991"/>
                <a:gd name="connsiteY1" fmla="*/ 787921 h 845795"/>
                <a:gd name="connsiteX2" fmla="*/ 3095901 w 3328991"/>
                <a:gd name="connsiteY2" fmla="*/ 786225 h 845795"/>
                <a:gd name="connsiteX0" fmla="*/ 0 w 3346010"/>
                <a:gd name="connsiteY0" fmla="*/ 64 h 820441"/>
                <a:gd name="connsiteX1" fmla="*/ 3100678 w 3346010"/>
                <a:gd name="connsiteY1" fmla="*/ 787921 h 820441"/>
                <a:gd name="connsiteX2" fmla="*/ 3157635 w 3346010"/>
                <a:gd name="connsiteY2" fmla="*/ 611410 h 820441"/>
                <a:gd name="connsiteX0" fmla="*/ 96605 w 3254241"/>
                <a:gd name="connsiteY0" fmla="*/ 66 h 802690"/>
                <a:gd name="connsiteX1" fmla="*/ 2227701 w 3254241"/>
                <a:gd name="connsiteY1" fmla="*/ 768499 h 802690"/>
                <a:gd name="connsiteX2" fmla="*/ 3254240 w 3254241"/>
                <a:gd name="connsiteY2" fmla="*/ 611412 h 802690"/>
                <a:gd name="connsiteX0" fmla="*/ 0 w 3157636"/>
                <a:gd name="connsiteY0" fmla="*/ 78 h 802704"/>
                <a:gd name="connsiteX1" fmla="*/ 2131096 w 3157636"/>
                <a:gd name="connsiteY1" fmla="*/ 768511 h 802704"/>
                <a:gd name="connsiteX2" fmla="*/ 3157635 w 3157636"/>
                <a:gd name="connsiteY2" fmla="*/ 611424 h 802704"/>
                <a:gd name="connsiteX0" fmla="*/ 0 w 3088640"/>
                <a:gd name="connsiteY0" fmla="*/ 78 h 835624"/>
                <a:gd name="connsiteX1" fmla="*/ 2131096 w 3088640"/>
                <a:gd name="connsiteY1" fmla="*/ 768511 h 835624"/>
                <a:gd name="connsiteX2" fmla="*/ 3088639 w 3088640"/>
                <a:gd name="connsiteY2" fmla="*/ 795950 h 835624"/>
                <a:gd name="connsiteX0" fmla="*/ 0 w 3088639"/>
                <a:gd name="connsiteY0" fmla="*/ 106 h 795978"/>
                <a:gd name="connsiteX1" fmla="*/ 798375 w 3088639"/>
                <a:gd name="connsiteY1" fmla="*/ 603436 h 795978"/>
                <a:gd name="connsiteX2" fmla="*/ 3088639 w 3088639"/>
                <a:gd name="connsiteY2" fmla="*/ 795978 h 795978"/>
                <a:gd name="connsiteX0" fmla="*/ 0 w 3088639"/>
                <a:gd name="connsiteY0" fmla="*/ 100 h 795973"/>
                <a:gd name="connsiteX1" fmla="*/ 798375 w 3088639"/>
                <a:gd name="connsiteY1" fmla="*/ 603430 h 795973"/>
                <a:gd name="connsiteX2" fmla="*/ 3088639 w 3088639"/>
                <a:gd name="connsiteY2" fmla="*/ 795972 h 795973"/>
                <a:gd name="connsiteX0" fmla="*/ 0 w 3088639"/>
                <a:gd name="connsiteY0" fmla="*/ 86 h 795982"/>
                <a:gd name="connsiteX1" fmla="*/ 932736 w 3088639"/>
                <a:gd name="connsiteY1" fmla="*/ 690824 h 795982"/>
                <a:gd name="connsiteX2" fmla="*/ 3088639 w 3088639"/>
                <a:gd name="connsiteY2" fmla="*/ 795958 h 795982"/>
                <a:gd name="connsiteX0" fmla="*/ 0 w 3088639"/>
                <a:gd name="connsiteY0" fmla="*/ 0 h 795896"/>
                <a:gd name="connsiteX1" fmla="*/ 932736 w 3088639"/>
                <a:gd name="connsiteY1" fmla="*/ 690738 h 795896"/>
                <a:gd name="connsiteX2" fmla="*/ 3088639 w 3088639"/>
                <a:gd name="connsiteY2" fmla="*/ 795872 h 795896"/>
                <a:gd name="connsiteX0" fmla="*/ 0 w 3085008"/>
                <a:gd name="connsiteY0" fmla="*/ 0 h 690740"/>
                <a:gd name="connsiteX1" fmla="*/ 932736 w 3085008"/>
                <a:gd name="connsiteY1" fmla="*/ 690738 h 690740"/>
                <a:gd name="connsiteX2" fmla="*/ 3085008 w 3085008"/>
                <a:gd name="connsiteY2" fmla="*/ 9206 h 690740"/>
                <a:gd name="connsiteX0" fmla="*/ 0 w 3085008"/>
                <a:gd name="connsiteY0" fmla="*/ 0 h 593622"/>
                <a:gd name="connsiteX1" fmla="*/ 932736 w 3085008"/>
                <a:gd name="connsiteY1" fmla="*/ 593619 h 593622"/>
                <a:gd name="connsiteX2" fmla="*/ 3085008 w 3085008"/>
                <a:gd name="connsiteY2" fmla="*/ 9206 h 593622"/>
                <a:gd name="connsiteX0" fmla="*/ 0 w 3085008"/>
                <a:gd name="connsiteY0" fmla="*/ 0 h 595369"/>
                <a:gd name="connsiteX1" fmla="*/ 932736 w 3085008"/>
                <a:gd name="connsiteY1" fmla="*/ 593619 h 595369"/>
                <a:gd name="connsiteX2" fmla="*/ 3085008 w 3085008"/>
                <a:gd name="connsiteY2" fmla="*/ 9206 h 595369"/>
                <a:gd name="connsiteX0" fmla="*/ 0 w 3085008"/>
                <a:gd name="connsiteY0" fmla="*/ 0 h 595367"/>
                <a:gd name="connsiteX1" fmla="*/ 932736 w 3085008"/>
                <a:gd name="connsiteY1" fmla="*/ 593619 h 595367"/>
                <a:gd name="connsiteX2" fmla="*/ 3085008 w 3085008"/>
                <a:gd name="connsiteY2" fmla="*/ 9206 h 595367"/>
                <a:gd name="connsiteX0" fmla="*/ 0 w 3245462"/>
                <a:gd name="connsiteY0" fmla="*/ 31441 h 626809"/>
                <a:gd name="connsiteX1" fmla="*/ 932736 w 3245462"/>
                <a:gd name="connsiteY1" fmla="*/ 625060 h 626809"/>
                <a:gd name="connsiteX2" fmla="*/ 3085008 w 3245462"/>
                <a:gd name="connsiteY2" fmla="*/ 40647 h 626809"/>
                <a:gd name="connsiteX3" fmla="*/ 3088575 w 3245462"/>
                <a:gd name="connsiteY3" fmla="*/ 50186 h 626809"/>
                <a:gd name="connsiteX0" fmla="*/ 0 w 3253437"/>
                <a:gd name="connsiteY0" fmla="*/ 4355 h 599723"/>
                <a:gd name="connsiteX1" fmla="*/ 932736 w 3253437"/>
                <a:gd name="connsiteY1" fmla="*/ 597974 h 599723"/>
                <a:gd name="connsiteX2" fmla="*/ 3085008 w 3253437"/>
                <a:gd name="connsiteY2" fmla="*/ 13561 h 599723"/>
                <a:gd name="connsiteX3" fmla="*/ 3117626 w 3253437"/>
                <a:gd name="connsiteY3" fmla="*/ 363017 h 599723"/>
                <a:gd name="connsiteX0" fmla="*/ 0 w 3253437"/>
                <a:gd name="connsiteY0" fmla="*/ 4353 h 599721"/>
                <a:gd name="connsiteX1" fmla="*/ 932736 w 3253437"/>
                <a:gd name="connsiteY1" fmla="*/ 597972 h 599721"/>
                <a:gd name="connsiteX2" fmla="*/ 3085008 w 3253437"/>
                <a:gd name="connsiteY2" fmla="*/ 13559 h 599721"/>
                <a:gd name="connsiteX3" fmla="*/ 3117626 w 3253437"/>
                <a:gd name="connsiteY3" fmla="*/ 363015 h 599721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5350"/>
                <a:gd name="connsiteX1" fmla="*/ 772955 w 3085008"/>
                <a:gd name="connsiteY1" fmla="*/ 535347 h 535350"/>
                <a:gd name="connsiteX2" fmla="*/ 3085008 w 3085008"/>
                <a:gd name="connsiteY2" fmla="*/ 9206 h 535350"/>
                <a:gd name="connsiteX0" fmla="*/ 1207605 w 2346186"/>
                <a:gd name="connsiteY0" fmla="*/ 0 h 972386"/>
                <a:gd name="connsiteX1" fmla="*/ 34133 w 2346186"/>
                <a:gd name="connsiteY1" fmla="*/ 972383 h 972386"/>
                <a:gd name="connsiteX2" fmla="*/ 2346186 w 2346186"/>
                <a:gd name="connsiteY2" fmla="*/ 446242 h 972386"/>
                <a:gd name="connsiteX0" fmla="*/ 41748 w 1180329"/>
                <a:gd name="connsiteY0" fmla="*/ 0 h 545080"/>
                <a:gd name="connsiteX1" fmla="*/ 230049 w 1180329"/>
                <a:gd name="connsiteY1" fmla="*/ 545059 h 545080"/>
                <a:gd name="connsiteX2" fmla="*/ 1180329 w 1180329"/>
                <a:gd name="connsiteY2" fmla="*/ 446242 h 545080"/>
                <a:gd name="connsiteX0" fmla="*/ 232937 w 1070112"/>
                <a:gd name="connsiteY0" fmla="*/ 0 h 1077954"/>
                <a:gd name="connsiteX1" fmla="*/ 421238 w 1070112"/>
                <a:gd name="connsiteY1" fmla="*/ 545059 h 1077954"/>
                <a:gd name="connsiteX2" fmla="*/ 1070112 w 1070112"/>
                <a:gd name="connsiteY2" fmla="*/ 1077516 h 1077954"/>
                <a:gd name="connsiteX0" fmla="*/ 0 w 837175"/>
                <a:gd name="connsiteY0" fmla="*/ 0 h 1077517"/>
                <a:gd name="connsiteX1" fmla="*/ 188301 w 837175"/>
                <a:gd name="connsiteY1" fmla="*/ 545059 h 1077517"/>
                <a:gd name="connsiteX2" fmla="*/ 837175 w 837175"/>
                <a:gd name="connsiteY2" fmla="*/ 1077516 h 1077517"/>
                <a:gd name="connsiteX0" fmla="*/ 0 w 837175"/>
                <a:gd name="connsiteY0" fmla="*/ 0 h 1077515"/>
                <a:gd name="connsiteX1" fmla="*/ 188301 w 837175"/>
                <a:gd name="connsiteY1" fmla="*/ 545059 h 1077515"/>
                <a:gd name="connsiteX2" fmla="*/ 837175 w 837175"/>
                <a:gd name="connsiteY2" fmla="*/ 1077516 h 1077515"/>
                <a:gd name="connsiteX0" fmla="*/ 0 w 782704"/>
                <a:gd name="connsiteY0" fmla="*/ 0 h 1145500"/>
                <a:gd name="connsiteX1" fmla="*/ 133830 w 782704"/>
                <a:gd name="connsiteY1" fmla="*/ 613042 h 1145500"/>
                <a:gd name="connsiteX2" fmla="*/ 782704 w 782704"/>
                <a:gd name="connsiteY2" fmla="*/ 1145499 h 1145500"/>
                <a:gd name="connsiteX0" fmla="*/ 31539 w 814243"/>
                <a:gd name="connsiteY0" fmla="*/ 0 h 1145498"/>
                <a:gd name="connsiteX1" fmla="*/ 165369 w 814243"/>
                <a:gd name="connsiteY1" fmla="*/ 613042 h 1145498"/>
                <a:gd name="connsiteX2" fmla="*/ 814243 w 814243"/>
                <a:gd name="connsiteY2" fmla="*/ 1145499 h 1145498"/>
                <a:gd name="connsiteX0" fmla="*/ 31539 w 389370"/>
                <a:gd name="connsiteY0" fmla="*/ 0 h 1232907"/>
                <a:gd name="connsiteX1" fmla="*/ 165369 w 389370"/>
                <a:gd name="connsiteY1" fmla="*/ 613042 h 1232907"/>
                <a:gd name="connsiteX2" fmla="*/ 389370 w 389370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157764"/>
                <a:gd name="connsiteY0" fmla="*/ 0 h 613042"/>
                <a:gd name="connsiteX1" fmla="*/ 157764 w 157764"/>
                <a:gd name="connsiteY1" fmla="*/ 613042 h 613042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300874"/>
                <a:gd name="connsiteY0" fmla="*/ 0 h 1700777"/>
                <a:gd name="connsiteX1" fmla="*/ 300874 w 300874"/>
                <a:gd name="connsiteY1" fmla="*/ 1700777 h 170077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66239"/>
                <a:gd name="connsiteY0" fmla="*/ 0 h 1875592"/>
                <a:gd name="connsiteX1" fmla="*/ 366239 w 366239"/>
                <a:gd name="connsiteY1" fmla="*/ 1875592 h 1875592"/>
                <a:gd name="connsiteX0" fmla="*/ 0 w 408364"/>
                <a:gd name="connsiteY0" fmla="*/ 0 h 1679236"/>
                <a:gd name="connsiteX1" fmla="*/ 408364 w 408364"/>
                <a:gd name="connsiteY1" fmla="*/ 1679236 h 1679236"/>
                <a:gd name="connsiteX0" fmla="*/ 0 w 408364"/>
                <a:gd name="connsiteY0" fmla="*/ 0 h 1776726"/>
                <a:gd name="connsiteX1" fmla="*/ 408364 w 408364"/>
                <a:gd name="connsiteY1" fmla="*/ 1679236 h 1776726"/>
                <a:gd name="connsiteX0" fmla="*/ 0 w 459850"/>
                <a:gd name="connsiteY0" fmla="*/ 0 h 1681277"/>
                <a:gd name="connsiteX1" fmla="*/ 459850 w 459850"/>
                <a:gd name="connsiteY1" fmla="*/ 1577131 h 1681277"/>
                <a:gd name="connsiteX0" fmla="*/ 0 w 459850"/>
                <a:gd name="connsiteY0" fmla="*/ 0 h 1917866"/>
                <a:gd name="connsiteX1" fmla="*/ 459850 w 459850"/>
                <a:gd name="connsiteY1" fmla="*/ 1577131 h 1917866"/>
                <a:gd name="connsiteX0" fmla="*/ 0 w 773449"/>
                <a:gd name="connsiteY0" fmla="*/ 0 h 1590845"/>
                <a:gd name="connsiteX1" fmla="*/ 773449 w 773449"/>
                <a:gd name="connsiteY1" fmla="*/ 1192274 h 1590845"/>
                <a:gd name="connsiteX0" fmla="*/ 0 w 773449"/>
                <a:gd name="connsiteY0" fmla="*/ 0 h 1582461"/>
                <a:gd name="connsiteX1" fmla="*/ 773449 w 773449"/>
                <a:gd name="connsiteY1" fmla="*/ 1192274 h 1582461"/>
                <a:gd name="connsiteX0" fmla="*/ 0 w 810894"/>
                <a:gd name="connsiteY0" fmla="*/ 0 h 1802302"/>
                <a:gd name="connsiteX1" fmla="*/ 810894 w 810894"/>
                <a:gd name="connsiteY1" fmla="*/ 1451463 h 1802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0894" h="1802302">
                  <a:moveTo>
                    <a:pt x="0" y="0"/>
                  </a:moveTo>
                  <a:cubicBezTo>
                    <a:pt x="67557" y="898230"/>
                    <a:pt x="469091" y="2517352"/>
                    <a:pt x="810894" y="1451463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label3">
                  <a:extLst>
                    <a:ext uri="{FF2B5EF4-FFF2-40B4-BE49-F238E27FC236}">
                      <a16:creationId xmlns:a16="http://schemas.microsoft.com/office/drawing/2014/main" id="{883ED08D-CD6A-3470-CDDC-AB6D1D276935}"/>
                    </a:ext>
                  </a:extLst>
                </p:cNvPr>
                <p:cNvSpPr txBox="1"/>
                <p:nvPr/>
              </p:nvSpPr>
              <p:spPr>
                <a:xfrm>
                  <a:off x="8244555" y="1293100"/>
                  <a:ext cx="545352" cy="5582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4" name="label3">
                  <a:extLst>
                    <a:ext uri="{FF2B5EF4-FFF2-40B4-BE49-F238E27FC236}">
                      <a16:creationId xmlns:a16="http://schemas.microsoft.com/office/drawing/2014/main" id="{883ED08D-CD6A-3470-CDDC-AB6D1D2769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4555" y="1293100"/>
                  <a:ext cx="545352" cy="558230"/>
                </a:xfrm>
                <a:prstGeom prst="rect">
                  <a:avLst/>
                </a:prstGeom>
                <a:blipFill>
                  <a:blip r:embed="rId3"/>
                  <a:stretch>
                    <a:fillRect r="-6667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label1">
                  <a:extLst>
                    <a:ext uri="{FF2B5EF4-FFF2-40B4-BE49-F238E27FC236}">
                      <a16:creationId xmlns:a16="http://schemas.microsoft.com/office/drawing/2014/main" id="{9A488E15-FD8B-28AC-B459-86A4E0B6BA96}"/>
                    </a:ext>
                  </a:extLst>
                </p:cNvPr>
                <p:cNvSpPr txBox="1"/>
                <p:nvPr/>
              </p:nvSpPr>
              <p:spPr>
                <a:xfrm>
                  <a:off x="9034024" y="640809"/>
                  <a:ext cx="80122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5" name="label1">
                  <a:extLst>
                    <a:ext uri="{FF2B5EF4-FFF2-40B4-BE49-F238E27FC236}">
                      <a16:creationId xmlns:a16="http://schemas.microsoft.com/office/drawing/2014/main" id="{9A488E15-FD8B-28AC-B459-86A4E0B6BA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4024" y="640809"/>
                  <a:ext cx="801225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6" name="坐标轴">
              <a:extLst>
                <a:ext uri="{FF2B5EF4-FFF2-40B4-BE49-F238E27FC236}">
                  <a16:creationId xmlns:a16="http://schemas.microsoft.com/office/drawing/2014/main" id="{A9B5DCCF-E58D-1783-9314-6B5A167ECD8C}"/>
                </a:ext>
              </a:extLst>
            </p:cNvPr>
            <p:cNvGrpSpPr/>
            <p:nvPr/>
          </p:nvGrpSpPr>
          <p:grpSpPr>
            <a:xfrm>
              <a:off x="8389311" y="174447"/>
              <a:ext cx="3915757" cy="3790002"/>
              <a:chOff x="7535366" y="2807350"/>
              <a:chExt cx="3915757" cy="3790002"/>
            </a:xfrm>
          </p:grpSpPr>
          <p:cxnSp>
            <p:nvCxnSpPr>
              <p:cNvPr id="43" name="实轴">
                <a:extLst>
                  <a:ext uri="{FF2B5EF4-FFF2-40B4-BE49-F238E27FC236}">
                    <a16:creationId xmlns:a16="http://schemas.microsoft.com/office/drawing/2014/main" id="{91EA0A34-7FE8-9D9E-6CE9-3FD5BAA1E9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35366" y="4877435"/>
                <a:ext cx="367240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虚轴">
                <a:extLst>
                  <a:ext uri="{FF2B5EF4-FFF2-40B4-BE49-F238E27FC236}">
                    <a16:creationId xmlns:a16="http://schemas.microsoft.com/office/drawing/2014/main" id="{DFDBB0BB-2CCD-79CD-6AF8-A5751383B3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49110" y="3068960"/>
                <a:ext cx="0" cy="352839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Re">
                    <a:extLst>
                      <a:ext uri="{FF2B5EF4-FFF2-40B4-BE49-F238E27FC236}">
                        <a16:creationId xmlns:a16="http://schemas.microsoft.com/office/drawing/2014/main" id="{A7EB21CE-C703-D14D-7885-CBAB29B6B61F}"/>
                      </a:ext>
                    </a:extLst>
                  </p:cNvPr>
                  <p:cNvSpPr txBox="1"/>
                  <p:nvPr/>
                </p:nvSpPr>
                <p:spPr>
                  <a:xfrm>
                    <a:off x="10874587" y="4396379"/>
                    <a:ext cx="576536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Re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38" name="Re">
                    <a:extLst>
                      <a:ext uri="{FF2B5EF4-FFF2-40B4-BE49-F238E27FC236}">
                        <a16:creationId xmlns:a16="http://schemas.microsoft.com/office/drawing/2014/main" id="{7D056F90-5A90-5AC2-0BB4-EC2B822399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74587" y="4396379"/>
                    <a:ext cx="576536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522" r="-434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Im">
                    <a:extLst>
                      <a:ext uri="{FF2B5EF4-FFF2-40B4-BE49-F238E27FC236}">
                        <a16:creationId xmlns:a16="http://schemas.microsoft.com/office/drawing/2014/main" id="{AF3C6596-8DC8-52F1-1DAC-5DE53BBF9413}"/>
                      </a:ext>
                    </a:extLst>
                  </p:cNvPr>
                  <p:cNvSpPr txBox="1"/>
                  <p:nvPr/>
                </p:nvSpPr>
                <p:spPr>
                  <a:xfrm>
                    <a:off x="8734605" y="2807350"/>
                    <a:ext cx="576536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Im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39" name="Im">
                    <a:extLst>
                      <a:ext uri="{FF2B5EF4-FFF2-40B4-BE49-F238E27FC236}">
                        <a16:creationId xmlns:a16="http://schemas.microsoft.com/office/drawing/2014/main" id="{B15195EC-160D-2BB3-C29E-0FE76F5C6D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34605" y="2807350"/>
                    <a:ext cx="576536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4348" r="-1087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原点">
                    <a:extLst>
                      <a:ext uri="{FF2B5EF4-FFF2-40B4-BE49-F238E27FC236}">
                        <a16:creationId xmlns:a16="http://schemas.microsoft.com/office/drawing/2014/main" id="{BA28F7DC-4ADE-80AE-2DBC-4F49DAF3037B}"/>
                      </a:ext>
                    </a:extLst>
                  </p:cNvPr>
                  <p:cNvSpPr txBox="1"/>
                  <p:nvPr/>
                </p:nvSpPr>
                <p:spPr>
                  <a:xfrm>
                    <a:off x="9297698" y="4852335"/>
                    <a:ext cx="54535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53" name="原点">
                    <a:extLst>
                      <a:ext uri="{FF2B5EF4-FFF2-40B4-BE49-F238E27FC236}">
                        <a16:creationId xmlns:a16="http://schemas.microsoft.com/office/drawing/2014/main" id="{13603334-87A6-3819-C090-B07D721725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97698" y="4852335"/>
                    <a:ext cx="545352" cy="52469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7" name="单位圆">
              <a:extLst>
                <a:ext uri="{FF2B5EF4-FFF2-40B4-BE49-F238E27FC236}">
                  <a16:creationId xmlns:a16="http://schemas.microsoft.com/office/drawing/2014/main" id="{C6304B34-D46B-A161-0DE0-9D4C0178D671}"/>
                </a:ext>
              </a:extLst>
            </p:cNvPr>
            <p:cNvSpPr/>
            <p:nvPr/>
          </p:nvSpPr>
          <p:spPr>
            <a:xfrm rot="16200000">
              <a:off x="9650033" y="1701906"/>
              <a:ext cx="1080000" cy="1080000"/>
            </a:xfrm>
            <a:prstGeom prst="ellipse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wc">
              <a:extLst>
                <a:ext uri="{FF2B5EF4-FFF2-40B4-BE49-F238E27FC236}">
                  <a16:creationId xmlns:a16="http://schemas.microsoft.com/office/drawing/2014/main" id="{3749DB52-DEEF-C4AF-4355-CA07BA3EE651}"/>
                </a:ext>
              </a:extLst>
            </p:cNvPr>
            <p:cNvSpPr/>
            <p:nvPr/>
          </p:nvSpPr>
          <p:spPr>
            <a:xfrm>
              <a:off x="9678012" y="1890392"/>
              <a:ext cx="122752" cy="1227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" name="wg">
              <a:extLst>
                <a:ext uri="{FF2B5EF4-FFF2-40B4-BE49-F238E27FC236}">
                  <a16:creationId xmlns:a16="http://schemas.microsoft.com/office/drawing/2014/main" id="{16E172DA-09A8-9206-69B9-605FF0FB6F02}"/>
                </a:ext>
              </a:extLst>
            </p:cNvPr>
            <p:cNvSpPr/>
            <p:nvPr/>
          </p:nvSpPr>
          <p:spPr>
            <a:xfrm>
              <a:off x="9406238" y="2172188"/>
              <a:ext cx="122752" cy="1227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label1">
                  <a:extLst>
                    <a:ext uri="{FF2B5EF4-FFF2-40B4-BE49-F238E27FC236}">
                      <a16:creationId xmlns:a16="http://schemas.microsoft.com/office/drawing/2014/main" id="{36A26917-6F19-6E36-C7A8-E13837A45A67}"/>
                    </a:ext>
                  </a:extLst>
                </p:cNvPr>
                <p:cNvSpPr txBox="1"/>
                <p:nvPr/>
              </p:nvSpPr>
              <p:spPr>
                <a:xfrm>
                  <a:off x="10518633" y="2219432"/>
                  <a:ext cx="80122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0" name="label1">
                  <a:extLst>
                    <a:ext uri="{FF2B5EF4-FFF2-40B4-BE49-F238E27FC236}">
                      <a16:creationId xmlns:a16="http://schemas.microsoft.com/office/drawing/2014/main" id="{36A26917-6F19-6E36-C7A8-E13837A45A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18633" y="2219432"/>
                  <a:ext cx="801225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1" name="箭头wc">
              <a:extLst>
                <a:ext uri="{FF2B5EF4-FFF2-40B4-BE49-F238E27FC236}">
                  <a16:creationId xmlns:a16="http://schemas.microsoft.com/office/drawing/2014/main" id="{15D6693B-E6DC-125C-0748-5C5849CB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4283379" flipH="1">
              <a:off x="9228425" y="1500609"/>
              <a:ext cx="726139" cy="86505"/>
            </a:xfrm>
            <a:prstGeom prst="rect">
              <a:avLst/>
            </a:prstGeom>
          </p:spPr>
        </p:pic>
        <p:pic>
          <p:nvPicPr>
            <p:cNvPr id="42" name="箭头wg">
              <a:extLst>
                <a:ext uri="{FF2B5EF4-FFF2-40B4-BE49-F238E27FC236}">
                  <a16:creationId xmlns:a16="http://schemas.microsoft.com/office/drawing/2014/main" id="{90D2693E-1E93-83CD-40F7-A0FCA8D98C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1358603" flipH="1">
              <a:off x="8689801" y="1966919"/>
              <a:ext cx="726139" cy="8650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6C20C081-2881-B1CB-E8B9-5822AA32939D}"/>
                  </a:ext>
                </a:extLst>
              </p:cNvPr>
              <p:cNvSpPr txBox="1"/>
              <p:nvPr/>
            </p:nvSpPr>
            <p:spPr>
              <a:xfrm>
                <a:off x="619546" y="2812817"/>
                <a:ext cx="6181255" cy="1532334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当输入信号的频率</a:t>
                </a:r>
                <a14:m>
                  <m:oMath xmlns:m="http://schemas.openxmlformats.org/officeDocument/2006/math">
                    <m:r>
                      <a:rPr kumimoji="1" lang="zh-CN" alt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kumimoji="1" lang="en-US" altLang="zh-C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:0→</m:t>
                    </m:r>
                    <m:r>
                      <a:rPr kumimoji="1"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变化时，频率响应的</a:t>
                </a:r>
                <a:r>
                  <a:rPr kumimoji="1" lang="zh-CN" altLang="en-US" sz="2800" dirty="0">
                    <a:solidFill>
                      <a:srgbClr val="E44860"/>
                    </a:solidFill>
                  </a:rPr>
                  <a:t>幅值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和</a:t>
                </a:r>
                <a:r>
                  <a:rPr kumimoji="1" lang="zh-CN" altLang="en-US" sz="2800" dirty="0">
                    <a:solidFill>
                      <a:srgbClr val="E44860"/>
                    </a:solidFill>
                  </a:rPr>
                  <a:t>相角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在</a:t>
                </a:r>
                <a:r>
                  <a:rPr kumimoji="1" lang="zh-CN" altLang="en-US" sz="2800" dirty="0">
                    <a:solidFill>
                      <a:srgbClr val="159F84"/>
                    </a:solidFill>
                  </a:rPr>
                  <a:t>极坐标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系上形成的轨迹</a:t>
                </a: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6C20C081-2881-B1CB-E8B9-5822AA329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46" y="2812817"/>
                <a:ext cx="6181255" cy="1532334"/>
              </a:xfrm>
              <a:prstGeom prst="flowChartAlternateProcess">
                <a:avLst/>
              </a:prstGeom>
              <a:blipFill>
                <a:blip r:embed="rId12"/>
                <a:stretch>
                  <a:fillRect l="-816" b="-4839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小标题1">
            <a:extLst>
              <a:ext uri="{FF2B5EF4-FFF2-40B4-BE49-F238E27FC236}">
                <a16:creationId xmlns:a16="http://schemas.microsoft.com/office/drawing/2014/main" id="{E7CB9811-8A38-676B-F337-B4E0FBAA6000}"/>
              </a:ext>
            </a:extLst>
          </p:cNvPr>
          <p:cNvSpPr/>
          <p:nvPr/>
        </p:nvSpPr>
        <p:spPr bwMode="auto">
          <a:xfrm>
            <a:off x="657869" y="2057219"/>
            <a:ext cx="2372001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定义</a:t>
            </a:r>
          </a:p>
        </p:txBody>
      </p:sp>
    </p:spTree>
    <p:extLst>
      <p:ext uri="{BB962C8B-B14F-4D97-AF65-F5344CB8AC3E}">
        <p14:creationId xmlns:p14="http://schemas.microsoft.com/office/powerpoint/2010/main" val="1210654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5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5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0" grpId="0" animBg="1"/>
      <p:bldP spid="5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系统开环幅相曲线</a:t>
            </a:r>
          </a:p>
        </p:txBody>
      </p:sp>
      <p:grpSp>
        <p:nvGrpSpPr>
          <p:cNvPr id="76" name="步骤1">
            <a:extLst>
              <a:ext uri="{FF2B5EF4-FFF2-40B4-BE49-F238E27FC236}">
                <a16:creationId xmlns:a16="http://schemas.microsoft.com/office/drawing/2014/main" id="{98F4674A-51B6-B55E-285D-5812200E4606}"/>
              </a:ext>
            </a:extLst>
          </p:cNvPr>
          <p:cNvGrpSpPr/>
          <p:nvPr/>
        </p:nvGrpSpPr>
        <p:grpSpPr>
          <a:xfrm>
            <a:off x="190550" y="2955896"/>
            <a:ext cx="4996671" cy="725177"/>
            <a:chOff x="4943078" y="1700704"/>
            <a:chExt cx="4996671" cy="725177"/>
          </a:xfrm>
        </p:grpSpPr>
        <p:sp>
          <p:nvSpPr>
            <p:cNvPr id="77" name="标题">
              <a:extLst>
                <a:ext uri="{FF2B5EF4-FFF2-40B4-BE49-F238E27FC236}">
                  <a16:creationId xmlns:a16="http://schemas.microsoft.com/office/drawing/2014/main" id="{43DA60B5-6978-89A1-FDF3-71B36825FB03}"/>
                </a:ext>
              </a:extLst>
            </p:cNvPr>
            <p:cNvSpPr/>
            <p:nvPr/>
          </p:nvSpPr>
          <p:spPr bwMode="auto">
            <a:xfrm>
              <a:off x="5375126" y="1769619"/>
              <a:ext cx="45646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起点</a:t>
              </a:r>
              <a:r>
                <a:rPr lang="en-US" altLang="zh-CN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(</a:t>
              </a:r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低频段</a:t>
              </a:r>
              <a:r>
                <a:rPr lang="en-US" altLang="zh-CN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)</a:t>
              </a:r>
              <a:endPara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  <p:sp>
          <p:nvSpPr>
            <p:cNvPr id="78" name="序号">
              <a:extLst>
                <a:ext uri="{FF2B5EF4-FFF2-40B4-BE49-F238E27FC236}">
                  <a16:creationId xmlns:a16="http://schemas.microsoft.com/office/drawing/2014/main" id="{1C215964-A7F2-16B2-FE56-91D7F08D78A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开环传函">
                <a:extLst>
                  <a:ext uri="{FF2B5EF4-FFF2-40B4-BE49-F238E27FC236}">
                    <a16:creationId xmlns:a16="http://schemas.microsoft.com/office/drawing/2014/main" id="{3B84EE24-A13A-21D3-F3D4-F6D5FB3D85F4}"/>
                  </a:ext>
                </a:extLst>
              </p:cNvPr>
              <p:cNvSpPr txBox="1"/>
              <p:nvPr/>
            </p:nvSpPr>
            <p:spPr>
              <a:xfrm>
                <a:off x="1846734" y="868616"/>
                <a:ext cx="9648354" cy="1001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𝐻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𝐾</m:t>
                          </m:r>
                          <m:d>
                            <m:d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𝑠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𝑠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+1</m:t>
                              </m:r>
                            </m:e>
                          </m:d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𝑠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𝑠</m:t>
                              </m:r>
                            </m:e>
                            <m:sup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𝑣</m:t>
                              </m:r>
                            </m:sup>
                          </m:sSup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𝑠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𝑠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+1</m:t>
                              </m:r>
                            </m:e>
                          </m:d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𝑠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+1</m:t>
                              </m:r>
                            </m:e>
                          </m:d>
                        </m:den>
                      </m:f>
                      <m:r>
                        <a:rPr kumimoji="1" lang="zh-CN" altLang="en-US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   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(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𝑛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&gt;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𝑚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" name="开环传函">
                <a:extLst>
                  <a:ext uri="{FF2B5EF4-FFF2-40B4-BE49-F238E27FC236}">
                    <a16:creationId xmlns:a16="http://schemas.microsoft.com/office/drawing/2014/main" id="{3B84EE24-A13A-21D3-F3D4-F6D5FB3D8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734" y="868616"/>
                <a:ext cx="9648354" cy="1001300"/>
              </a:xfrm>
              <a:prstGeom prst="rect">
                <a:avLst/>
              </a:prstGeom>
              <a:blipFill>
                <a:blip r:embed="rId3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频率特性">
                <a:extLst>
                  <a:ext uri="{FF2B5EF4-FFF2-40B4-BE49-F238E27FC236}">
                    <a16:creationId xmlns:a16="http://schemas.microsoft.com/office/drawing/2014/main" id="{266E9B64-6064-E939-4A94-7A3ADF8437F2}"/>
                  </a:ext>
                </a:extLst>
              </p:cNvPr>
              <p:cNvSpPr txBox="1"/>
              <p:nvPr/>
            </p:nvSpPr>
            <p:spPr>
              <a:xfrm>
                <a:off x="1822648" y="1945335"/>
                <a:ext cx="9479583" cy="10040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𝐻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𝐾</m:t>
                          </m:r>
                          <m:d>
                            <m:d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+1</m:t>
                              </m:r>
                            </m:e>
                          </m:d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𝑗</m:t>
                                  </m:r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𝑣</m:t>
                              </m:r>
                            </m:sup>
                          </m:sSup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+1</m:t>
                              </m:r>
                            </m:e>
                          </m:d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7" name="频率特性">
                <a:extLst>
                  <a:ext uri="{FF2B5EF4-FFF2-40B4-BE49-F238E27FC236}">
                    <a16:creationId xmlns:a16="http://schemas.microsoft.com/office/drawing/2014/main" id="{266E9B64-6064-E939-4A94-7A3ADF843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648" y="1945335"/>
                <a:ext cx="9479583" cy="1004057"/>
              </a:xfrm>
              <a:prstGeom prst="rect">
                <a:avLst/>
              </a:prstGeom>
              <a:blipFill>
                <a:blip r:embed="rId4"/>
                <a:stretch>
                  <a:fillRect b="-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低频段">
                <a:extLst>
                  <a:ext uri="{FF2B5EF4-FFF2-40B4-BE49-F238E27FC236}">
                    <a16:creationId xmlns:a16="http://schemas.microsoft.com/office/drawing/2014/main" id="{2A9A8317-ABC1-4527-896E-B2D4AAE6A871}"/>
                  </a:ext>
                </a:extLst>
              </p:cNvPr>
              <p:cNvSpPr txBox="1"/>
              <p:nvPr/>
            </p:nvSpPr>
            <p:spPr>
              <a:xfrm>
                <a:off x="550856" y="3909130"/>
                <a:ext cx="4683298" cy="974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sSup>
                            <m:sSup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0</m:t>
                              </m:r>
                            </m:e>
                            <m:sup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𝐻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sSup>
                            <m:sSup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0</m:t>
                              </m:r>
                            </m:e>
                            <m:sup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unc>
                        <m:func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800" b="0" i="0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sSup>
                                <m:sSup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𝐾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𝑗</m:t>
                                      </m:r>
                                      <m: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𝑣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3" name="低频段">
                <a:extLst>
                  <a:ext uri="{FF2B5EF4-FFF2-40B4-BE49-F238E27FC236}">
                    <a16:creationId xmlns:a16="http://schemas.microsoft.com/office/drawing/2014/main" id="{2A9A8317-ABC1-4527-896E-B2D4AAE6A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56" y="3909130"/>
                <a:ext cx="4683298" cy="974498"/>
              </a:xfrm>
              <a:prstGeom prst="rect">
                <a:avLst/>
              </a:prstGeom>
              <a:blipFill>
                <a:blip r:embed="rId5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幅相1-2">
            <a:extLst>
              <a:ext uri="{FF2B5EF4-FFF2-40B4-BE49-F238E27FC236}">
                <a16:creationId xmlns:a16="http://schemas.microsoft.com/office/drawing/2014/main" id="{1F0798C7-32C2-069D-B5A9-C7CFEB3118EE}"/>
              </a:ext>
            </a:extLst>
          </p:cNvPr>
          <p:cNvSpPr/>
          <p:nvPr/>
        </p:nvSpPr>
        <p:spPr>
          <a:xfrm flipH="1">
            <a:off x="10465420" y="4850875"/>
            <a:ext cx="301372" cy="57709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239" h="1875592">
                <a:moveTo>
                  <a:pt x="0" y="0"/>
                </a:moveTo>
                <a:cubicBezTo>
                  <a:pt x="34793" y="953209"/>
                  <a:pt x="178896" y="1582700"/>
                  <a:pt x="366239" y="187559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5" name="幅相1-1">
            <a:extLst>
              <a:ext uri="{FF2B5EF4-FFF2-40B4-BE49-F238E27FC236}">
                <a16:creationId xmlns:a16="http://schemas.microsoft.com/office/drawing/2014/main" id="{7D4E8293-4DAA-A53F-CB17-233468F0E74D}"/>
              </a:ext>
            </a:extLst>
          </p:cNvPr>
          <p:cNvSpPr/>
          <p:nvPr/>
        </p:nvSpPr>
        <p:spPr>
          <a:xfrm flipH="1" flipV="1">
            <a:off x="10465420" y="4297718"/>
            <a:ext cx="301372" cy="57709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239" h="1875592">
                <a:moveTo>
                  <a:pt x="0" y="0"/>
                </a:moveTo>
                <a:cubicBezTo>
                  <a:pt x="34793" y="953209"/>
                  <a:pt x="178896" y="1582700"/>
                  <a:pt x="366239" y="187559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6" name="幅相2-1">
            <a:extLst>
              <a:ext uri="{FF2B5EF4-FFF2-40B4-BE49-F238E27FC236}">
                <a16:creationId xmlns:a16="http://schemas.microsoft.com/office/drawing/2014/main" id="{D5A0E1D2-EF73-E1E7-7C80-DDB4E7BA1379}"/>
              </a:ext>
            </a:extLst>
          </p:cNvPr>
          <p:cNvSpPr/>
          <p:nvPr/>
        </p:nvSpPr>
        <p:spPr>
          <a:xfrm rot="10800000">
            <a:off x="8882492" y="5805262"/>
            <a:ext cx="403788" cy="773205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239" h="1875592">
                <a:moveTo>
                  <a:pt x="0" y="0"/>
                </a:moveTo>
                <a:cubicBezTo>
                  <a:pt x="34793" y="953209"/>
                  <a:pt x="178896" y="1582700"/>
                  <a:pt x="366239" y="187559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7" name="幅相2-2">
            <a:extLst>
              <a:ext uri="{FF2B5EF4-FFF2-40B4-BE49-F238E27FC236}">
                <a16:creationId xmlns:a16="http://schemas.microsoft.com/office/drawing/2014/main" id="{332CB13C-C7F9-4EAD-19CF-71E4E9DF41ED}"/>
              </a:ext>
            </a:extLst>
          </p:cNvPr>
          <p:cNvSpPr/>
          <p:nvPr/>
        </p:nvSpPr>
        <p:spPr>
          <a:xfrm rot="10800000" flipH="1">
            <a:off x="9416055" y="5805262"/>
            <a:ext cx="403788" cy="773205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239" h="1875592">
                <a:moveTo>
                  <a:pt x="0" y="0"/>
                </a:moveTo>
                <a:cubicBezTo>
                  <a:pt x="34793" y="953209"/>
                  <a:pt x="178896" y="1582700"/>
                  <a:pt x="366239" y="187559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0" name="幅相3-1">
            <a:extLst>
              <a:ext uri="{FF2B5EF4-FFF2-40B4-BE49-F238E27FC236}">
                <a16:creationId xmlns:a16="http://schemas.microsoft.com/office/drawing/2014/main" id="{BE587B43-02E6-466F-BD2E-43B18046074B}"/>
              </a:ext>
            </a:extLst>
          </p:cNvPr>
          <p:cNvSpPr/>
          <p:nvPr/>
        </p:nvSpPr>
        <p:spPr>
          <a:xfrm rot="16200000">
            <a:off x="7713693" y="4226037"/>
            <a:ext cx="377449" cy="72277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239" h="1875592">
                <a:moveTo>
                  <a:pt x="0" y="0"/>
                </a:moveTo>
                <a:cubicBezTo>
                  <a:pt x="34793" y="953209"/>
                  <a:pt x="178896" y="1582700"/>
                  <a:pt x="366239" y="187559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1" name="幅相3-2">
            <a:extLst>
              <a:ext uri="{FF2B5EF4-FFF2-40B4-BE49-F238E27FC236}">
                <a16:creationId xmlns:a16="http://schemas.microsoft.com/office/drawing/2014/main" id="{771FE594-20FC-8CAF-0B18-D8DBCBDC250D}"/>
              </a:ext>
            </a:extLst>
          </p:cNvPr>
          <p:cNvSpPr/>
          <p:nvPr/>
        </p:nvSpPr>
        <p:spPr>
          <a:xfrm rot="5400000" flipV="1">
            <a:off x="7713692" y="4806063"/>
            <a:ext cx="377449" cy="72277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239" h="1875592">
                <a:moveTo>
                  <a:pt x="0" y="0"/>
                </a:moveTo>
                <a:cubicBezTo>
                  <a:pt x="34793" y="953209"/>
                  <a:pt x="178896" y="1582700"/>
                  <a:pt x="366239" y="187559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4" name="幅相4-1">
            <a:extLst>
              <a:ext uri="{FF2B5EF4-FFF2-40B4-BE49-F238E27FC236}">
                <a16:creationId xmlns:a16="http://schemas.microsoft.com/office/drawing/2014/main" id="{4DD2CD6B-723A-399A-1226-35DC2FABA15A}"/>
              </a:ext>
            </a:extLst>
          </p:cNvPr>
          <p:cNvSpPr/>
          <p:nvPr/>
        </p:nvSpPr>
        <p:spPr>
          <a:xfrm flipH="1">
            <a:off x="8921921" y="3165616"/>
            <a:ext cx="338406" cy="648006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239" h="1875592">
                <a:moveTo>
                  <a:pt x="0" y="0"/>
                </a:moveTo>
                <a:cubicBezTo>
                  <a:pt x="34793" y="953209"/>
                  <a:pt x="178896" y="1582700"/>
                  <a:pt x="366239" y="187559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5" name="幅相4-2">
            <a:extLst>
              <a:ext uri="{FF2B5EF4-FFF2-40B4-BE49-F238E27FC236}">
                <a16:creationId xmlns:a16="http://schemas.microsoft.com/office/drawing/2014/main" id="{C82216A9-A4E3-107B-02C7-82629145F10B}"/>
              </a:ext>
            </a:extLst>
          </p:cNvPr>
          <p:cNvSpPr/>
          <p:nvPr/>
        </p:nvSpPr>
        <p:spPr>
          <a:xfrm>
            <a:off x="9411941" y="3160752"/>
            <a:ext cx="338406" cy="648006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239" h="1875592">
                <a:moveTo>
                  <a:pt x="0" y="0"/>
                </a:moveTo>
                <a:cubicBezTo>
                  <a:pt x="34793" y="953209"/>
                  <a:pt x="178896" y="1582700"/>
                  <a:pt x="366239" y="187559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label3">
                <a:extLst>
                  <a:ext uri="{FF2B5EF4-FFF2-40B4-BE49-F238E27FC236}">
                    <a16:creationId xmlns:a16="http://schemas.microsoft.com/office/drawing/2014/main" id="{186D5E41-B13F-BAEC-AF77-2468C2B6AD48}"/>
                  </a:ext>
                </a:extLst>
              </p:cNvPr>
              <p:cNvSpPr txBox="1"/>
              <p:nvPr/>
            </p:nvSpPr>
            <p:spPr>
              <a:xfrm>
                <a:off x="9459017" y="2892677"/>
                <a:ext cx="14458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8" name="label3">
                <a:extLst>
                  <a:ext uri="{FF2B5EF4-FFF2-40B4-BE49-F238E27FC236}">
                    <a16:creationId xmlns:a16="http://schemas.microsoft.com/office/drawing/2014/main" id="{186D5E41-B13F-BAEC-AF77-2468C2B6A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9017" y="2892677"/>
                <a:ext cx="144580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v3">
                <a:extLst>
                  <a:ext uri="{FF2B5EF4-FFF2-40B4-BE49-F238E27FC236}">
                    <a16:creationId xmlns:a16="http://schemas.microsoft.com/office/drawing/2014/main" id="{CD9E8D91-7CC2-55C4-4478-AE03F9850AD5}"/>
                  </a:ext>
                </a:extLst>
              </p:cNvPr>
              <p:cNvSpPr txBox="1"/>
              <p:nvPr/>
            </p:nvSpPr>
            <p:spPr>
              <a:xfrm>
                <a:off x="9570374" y="3366089"/>
                <a:ext cx="1369147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1" name="v3">
                <a:extLst>
                  <a:ext uri="{FF2B5EF4-FFF2-40B4-BE49-F238E27FC236}">
                    <a16:creationId xmlns:a16="http://schemas.microsoft.com/office/drawing/2014/main" id="{CD9E8D91-7CC2-55C4-4478-AE03F9850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0374" y="3366089"/>
                <a:ext cx="1369147" cy="5246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v0">
                <a:extLst>
                  <a:ext uri="{FF2B5EF4-FFF2-40B4-BE49-F238E27FC236}">
                    <a16:creationId xmlns:a16="http://schemas.microsoft.com/office/drawing/2014/main" id="{883E3FA3-E2E1-DDB4-08EF-DDDEEF6EA2A9}"/>
                  </a:ext>
                </a:extLst>
              </p:cNvPr>
              <p:cNvSpPr txBox="1"/>
              <p:nvPr/>
            </p:nvSpPr>
            <p:spPr>
              <a:xfrm>
                <a:off x="10500355" y="5175301"/>
                <a:ext cx="1369147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2" name="v0">
                <a:extLst>
                  <a:ext uri="{FF2B5EF4-FFF2-40B4-BE49-F238E27FC236}">
                    <a16:creationId xmlns:a16="http://schemas.microsoft.com/office/drawing/2014/main" id="{883E3FA3-E2E1-DDB4-08EF-DDDEEF6EA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0355" y="5175301"/>
                <a:ext cx="1369147" cy="5246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v1">
                <a:extLst>
                  <a:ext uri="{FF2B5EF4-FFF2-40B4-BE49-F238E27FC236}">
                    <a16:creationId xmlns:a16="http://schemas.microsoft.com/office/drawing/2014/main" id="{D31195FE-E1B8-5AC3-EAA1-3000805CC4FB}"/>
                  </a:ext>
                </a:extLst>
              </p:cNvPr>
              <p:cNvSpPr txBox="1"/>
              <p:nvPr/>
            </p:nvSpPr>
            <p:spPr>
              <a:xfrm>
                <a:off x="7686681" y="5546287"/>
                <a:ext cx="1369147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3" name="v1">
                <a:extLst>
                  <a:ext uri="{FF2B5EF4-FFF2-40B4-BE49-F238E27FC236}">
                    <a16:creationId xmlns:a16="http://schemas.microsoft.com/office/drawing/2014/main" id="{D31195FE-E1B8-5AC3-EAA1-3000805CC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6681" y="5546287"/>
                <a:ext cx="1369147" cy="5246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v2">
                <a:extLst>
                  <a:ext uri="{FF2B5EF4-FFF2-40B4-BE49-F238E27FC236}">
                    <a16:creationId xmlns:a16="http://schemas.microsoft.com/office/drawing/2014/main" id="{8E36FCEC-1753-DD7B-CC1A-D42CE03BFFD2}"/>
                  </a:ext>
                </a:extLst>
              </p:cNvPr>
              <p:cNvSpPr txBox="1"/>
              <p:nvPr/>
            </p:nvSpPr>
            <p:spPr>
              <a:xfrm>
                <a:off x="7034938" y="3983558"/>
                <a:ext cx="1369147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4" name="v2">
                <a:extLst>
                  <a:ext uri="{FF2B5EF4-FFF2-40B4-BE49-F238E27FC236}">
                    <a16:creationId xmlns:a16="http://schemas.microsoft.com/office/drawing/2014/main" id="{8E36FCEC-1753-DD7B-CC1A-D42CE03BF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938" y="3983558"/>
                <a:ext cx="1369147" cy="52469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坐标轴">
            <a:extLst>
              <a:ext uri="{FF2B5EF4-FFF2-40B4-BE49-F238E27FC236}">
                <a16:creationId xmlns:a16="http://schemas.microsoft.com/office/drawing/2014/main" id="{D2FB5216-B7F0-CCC2-FAB3-ADB5DBD0C4D0}"/>
              </a:ext>
            </a:extLst>
          </p:cNvPr>
          <p:cNvGrpSpPr/>
          <p:nvPr/>
        </p:nvGrpSpPr>
        <p:grpSpPr>
          <a:xfrm>
            <a:off x="7535366" y="2807350"/>
            <a:ext cx="3915757" cy="3790002"/>
            <a:chOff x="7535366" y="2807350"/>
            <a:chExt cx="3915757" cy="3790002"/>
          </a:xfrm>
        </p:grpSpPr>
        <p:cxnSp>
          <p:nvCxnSpPr>
            <p:cNvPr id="85" name="实轴">
              <a:extLst>
                <a:ext uri="{FF2B5EF4-FFF2-40B4-BE49-F238E27FC236}">
                  <a16:creationId xmlns:a16="http://schemas.microsoft.com/office/drawing/2014/main" id="{A1A443A4-BFF5-55E5-EFAC-FC1BCFE842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5366" y="4877435"/>
              <a:ext cx="367240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虚轴">
              <a:extLst>
                <a:ext uri="{FF2B5EF4-FFF2-40B4-BE49-F238E27FC236}">
                  <a16:creationId xmlns:a16="http://schemas.microsoft.com/office/drawing/2014/main" id="{D37D6385-0667-3A7D-D152-79C9AB5BAE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49110" y="3068960"/>
              <a:ext cx="0" cy="3528392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Re">
                  <a:extLst>
                    <a:ext uri="{FF2B5EF4-FFF2-40B4-BE49-F238E27FC236}">
                      <a16:creationId xmlns:a16="http://schemas.microsoft.com/office/drawing/2014/main" id="{014057CE-ED37-57D1-72B5-1132051CE6CB}"/>
                    </a:ext>
                  </a:extLst>
                </p:cNvPr>
                <p:cNvSpPr txBox="1"/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Re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4" name="Re">
                  <a:extLst>
                    <a:ext uri="{FF2B5EF4-FFF2-40B4-BE49-F238E27FC236}">
                      <a16:creationId xmlns:a16="http://schemas.microsoft.com/office/drawing/2014/main" id="{014057CE-ED37-57D1-72B5-1132051CE6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blipFill>
                  <a:blip r:embed="rId11"/>
                  <a:stretch>
                    <a:fillRect l="-6522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Im">
                  <a:extLst>
                    <a:ext uri="{FF2B5EF4-FFF2-40B4-BE49-F238E27FC236}">
                      <a16:creationId xmlns:a16="http://schemas.microsoft.com/office/drawing/2014/main" id="{BF290E09-329D-3D3C-D674-4F31AEB01C95}"/>
                    </a:ext>
                  </a:extLst>
                </p:cNvPr>
                <p:cNvSpPr txBox="1"/>
                <p:nvPr/>
              </p:nvSpPr>
              <p:spPr>
                <a:xfrm>
                  <a:off x="8734605" y="280735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Im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5" name="Im">
                  <a:extLst>
                    <a:ext uri="{FF2B5EF4-FFF2-40B4-BE49-F238E27FC236}">
                      <a16:creationId xmlns:a16="http://schemas.microsoft.com/office/drawing/2014/main" id="{BF290E09-329D-3D3C-D674-4F31AEB01C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4605" y="2807350"/>
                  <a:ext cx="576536" cy="523220"/>
                </a:xfrm>
                <a:prstGeom prst="rect">
                  <a:avLst/>
                </a:prstGeom>
                <a:blipFill>
                  <a:blip r:embed="rId12"/>
                  <a:stretch>
                    <a:fillRect l="-4348" r="-1087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原点">
                  <a:extLst>
                    <a:ext uri="{FF2B5EF4-FFF2-40B4-BE49-F238E27FC236}">
                      <a16:creationId xmlns:a16="http://schemas.microsoft.com/office/drawing/2014/main" id="{259306B7-54C7-7225-D8E4-ECE7440F182A}"/>
                    </a:ext>
                  </a:extLst>
                </p:cNvPr>
                <p:cNvSpPr txBox="1"/>
                <p:nvPr/>
              </p:nvSpPr>
              <p:spPr>
                <a:xfrm>
                  <a:off x="9297698" y="4852335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7" name="原点">
                  <a:extLst>
                    <a:ext uri="{FF2B5EF4-FFF2-40B4-BE49-F238E27FC236}">
                      <a16:creationId xmlns:a16="http://schemas.microsoft.com/office/drawing/2014/main" id="{259306B7-54C7-7225-D8E4-ECE7440F18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97698" y="4852335"/>
                  <a:ext cx="545352" cy="52469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label2">
                <a:extLst>
                  <a:ext uri="{FF2B5EF4-FFF2-40B4-BE49-F238E27FC236}">
                    <a16:creationId xmlns:a16="http://schemas.microsoft.com/office/drawing/2014/main" id="{6BF8D5A7-01FE-B054-2B3F-F9A95F16FFDD}"/>
                  </a:ext>
                </a:extLst>
              </p:cNvPr>
              <p:cNvSpPr txBox="1"/>
              <p:nvPr/>
            </p:nvSpPr>
            <p:spPr>
              <a:xfrm>
                <a:off x="6469946" y="4360408"/>
                <a:ext cx="14458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9" name="label2">
                <a:extLst>
                  <a:ext uri="{FF2B5EF4-FFF2-40B4-BE49-F238E27FC236}">
                    <a16:creationId xmlns:a16="http://schemas.microsoft.com/office/drawing/2014/main" id="{6BF8D5A7-01FE-B054-2B3F-F9A95F16F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946" y="4360408"/>
                <a:ext cx="1445808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label1">
                <a:extLst>
                  <a:ext uri="{FF2B5EF4-FFF2-40B4-BE49-F238E27FC236}">
                    <a16:creationId xmlns:a16="http://schemas.microsoft.com/office/drawing/2014/main" id="{41F4AE4D-A232-77C3-40DE-2F71F0142BF6}"/>
                  </a:ext>
                </a:extLst>
              </p:cNvPr>
              <p:cNvSpPr txBox="1"/>
              <p:nvPr/>
            </p:nvSpPr>
            <p:spPr>
              <a:xfrm>
                <a:off x="7884318" y="6158997"/>
                <a:ext cx="14458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0" name="label1">
                <a:extLst>
                  <a:ext uri="{FF2B5EF4-FFF2-40B4-BE49-F238E27FC236}">
                    <a16:creationId xmlns:a16="http://schemas.microsoft.com/office/drawing/2014/main" id="{41F4AE4D-A232-77C3-40DE-2F71F0142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318" y="6158997"/>
                <a:ext cx="1445808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label0">
                <a:extLst>
                  <a:ext uri="{FF2B5EF4-FFF2-40B4-BE49-F238E27FC236}">
                    <a16:creationId xmlns:a16="http://schemas.microsoft.com/office/drawing/2014/main" id="{FD5C3465-E0C9-1CB4-5CB2-67C8C69180F1}"/>
                  </a:ext>
                </a:extLst>
              </p:cNvPr>
              <p:cNvSpPr txBox="1"/>
              <p:nvPr/>
            </p:nvSpPr>
            <p:spPr>
              <a:xfrm>
                <a:off x="10706991" y="4772326"/>
                <a:ext cx="14458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1" name="label0">
                <a:extLst>
                  <a:ext uri="{FF2B5EF4-FFF2-40B4-BE49-F238E27FC236}">
                    <a16:creationId xmlns:a16="http://schemas.microsoft.com/office/drawing/2014/main" id="{FD5C3465-E0C9-1CB4-5CB2-67C8C6918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6991" y="4772326"/>
                <a:ext cx="1445808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7784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500"/>
                            </p:stCondLst>
                            <p:childTnLst>
                              <p:par>
                                <p:cTn id="9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27" grpId="0"/>
      <p:bldP spid="33" grpId="0"/>
      <p:bldP spid="54" grpId="0" animBg="1"/>
      <p:bldP spid="55" grpId="0" animBg="1"/>
      <p:bldP spid="56" grpId="0" animBg="1"/>
      <p:bldP spid="57" grpId="0" animBg="1"/>
      <p:bldP spid="60" grpId="0" animBg="1"/>
      <p:bldP spid="61" grpId="0" animBg="1"/>
      <p:bldP spid="64" grpId="0" animBg="1"/>
      <p:bldP spid="65" grpId="0" animBg="1"/>
      <p:bldP spid="68" grpId="0"/>
      <p:bldP spid="71" grpId="0"/>
      <p:bldP spid="72" grpId="0"/>
      <p:bldP spid="73" grpId="0"/>
      <p:bldP spid="74" grpId="0"/>
      <p:bldP spid="109" grpId="0"/>
      <p:bldP spid="110" grpId="0"/>
      <p:bldP spid="1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系统开环幅相曲线</a:t>
            </a:r>
          </a:p>
        </p:txBody>
      </p:sp>
      <p:grpSp>
        <p:nvGrpSpPr>
          <p:cNvPr id="76" name="步骤1">
            <a:extLst>
              <a:ext uri="{FF2B5EF4-FFF2-40B4-BE49-F238E27FC236}">
                <a16:creationId xmlns:a16="http://schemas.microsoft.com/office/drawing/2014/main" id="{98F4674A-51B6-B55E-285D-5812200E4606}"/>
              </a:ext>
            </a:extLst>
          </p:cNvPr>
          <p:cNvGrpSpPr/>
          <p:nvPr/>
        </p:nvGrpSpPr>
        <p:grpSpPr>
          <a:xfrm>
            <a:off x="6023075" y="181574"/>
            <a:ext cx="5184576" cy="725177"/>
            <a:chOff x="4943078" y="1700704"/>
            <a:chExt cx="5184576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标题">
                  <a:extLst>
                    <a:ext uri="{FF2B5EF4-FFF2-40B4-BE49-F238E27FC236}">
                      <a16:creationId xmlns:a16="http://schemas.microsoft.com/office/drawing/2014/main" id="{43DA60B5-6978-89A1-FDF3-71B36825FB03}"/>
                    </a:ext>
                  </a:extLst>
                </p:cNvPr>
                <p:cNvSpPr/>
                <p:nvPr/>
              </p:nvSpPr>
              <p:spPr bwMode="auto">
                <a:xfrm>
                  <a:off x="5375126" y="1769619"/>
                  <a:ext cx="4752528" cy="576000"/>
                </a:xfrm>
                <a:prstGeom prst="roundRect">
                  <a:avLst/>
                </a:prstGeom>
                <a:solidFill>
                  <a:schemeClr val="accent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360000"/>
                  <a:r>
                    <a:rPr lang="zh-CN" altLang="en-US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终点</a:t>
                  </a:r>
                  <a:r>
                    <a:rPr lang="en-US" altLang="zh-CN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(</a:t>
                  </a:r>
                  <a:r>
                    <a:rPr lang="zh-CN" altLang="en-US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高频段</a:t>
                  </a:r>
                  <a:r>
                    <a:rPr lang="en-US" altLang="zh-CN" sz="32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):</a:t>
                  </a:r>
                  <a14:m>
                    <m:oMath xmlns:m="http://schemas.openxmlformats.org/officeDocument/2006/math">
                      <m:r>
                        <a:rPr lang="el-GR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l-GR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altLang="zh-CN" sz="32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a14:m>
                  <a:endParaRPr lang="zh-CN" altLang="en-US" sz="3200" b="1" dirty="0">
                    <a:solidFill>
                      <a:schemeClr val="bg1"/>
                    </a:solidFill>
                    <a:latin typeface="Stencil" panose="040409050D0802020404" pitchFamily="82" charset="0"/>
                  </a:endParaRPr>
                </a:p>
              </p:txBody>
            </p:sp>
          </mc:Choice>
          <mc:Fallback xmlns="">
            <p:sp>
              <p:nvSpPr>
                <p:cNvPr id="77" name="标题">
                  <a:extLst>
                    <a:ext uri="{FF2B5EF4-FFF2-40B4-BE49-F238E27FC236}">
                      <a16:creationId xmlns:a16="http://schemas.microsoft.com/office/drawing/2014/main" id="{43DA60B5-6978-89A1-FDF3-71B36825FB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75126" y="1769619"/>
                  <a:ext cx="4752528" cy="576000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序号">
              <a:extLst>
                <a:ext uri="{FF2B5EF4-FFF2-40B4-BE49-F238E27FC236}">
                  <a16:creationId xmlns:a16="http://schemas.microsoft.com/office/drawing/2014/main" id="{1C215964-A7F2-16B2-FE56-91D7F08D78A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频率特性">
                <a:extLst>
                  <a:ext uri="{FF2B5EF4-FFF2-40B4-BE49-F238E27FC236}">
                    <a16:creationId xmlns:a16="http://schemas.microsoft.com/office/drawing/2014/main" id="{266E9B64-6064-E939-4A94-7A3ADF8437F2}"/>
                  </a:ext>
                </a:extLst>
              </p:cNvPr>
              <p:cNvSpPr txBox="1"/>
              <p:nvPr/>
            </p:nvSpPr>
            <p:spPr>
              <a:xfrm>
                <a:off x="1625366" y="911402"/>
                <a:ext cx="9479583" cy="10040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𝐻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𝐾</m:t>
                          </m:r>
                          <m:d>
                            <m:d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+1</m:t>
                              </m:r>
                            </m:e>
                          </m:d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𝑗</m:t>
                                  </m:r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𝑣</m:t>
                              </m:r>
                            </m:sup>
                          </m:sSup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+1</m:t>
                              </m:r>
                            </m:e>
                          </m:d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7" name="频率特性">
                <a:extLst>
                  <a:ext uri="{FF2B5EF4-FFF2-40B4-BE49-F238E27FC236}">
                    <a16:creationId xmlns:a16="http://schemas.microsoft.com/office/drawing/2014/main" id="{266E9B64-6064-E939-4A94-7A3ADF843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366" y="911402"/>
                <a:ext cx="9479583" cy="1004057"/>
              </a:xfrm>
              <a:prstGeom prst="rect">
                <a:avLst/>
              </a:prstGeom>
              <a:blipFill>
                <a:blip r:embed="rId4"/>
                <a:stretch>
                  <a:fillRect b="-10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低频段">
                <a:extLst>
                  <a:ext uri="{FF2B5EF4-FFF2-40B4-BE49-F238E27FC236}">
                    <a16:creationId xmlns:a16="http://schemas.microsoft.com/office/drawing/2014/main" id="{2A9A8317-ABC1-4527-896E-B2D4AAE6A871}"/>
                  </a:ext>
                </a:extLst>
              </p:cNvPr>
              <p:cNvSpPr txBox="1"/>
              <p:nvPr/>
            </p:nvSpPr>
            <p:spPr>
              <a:xfrm>
                <a:off x="1210161" y="1858051"/>
                <a:ext cx="9996648" cy="10040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800" b="0" i="0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→+∞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𝐺</m:t>
                          </m:r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𝑗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𝐻</m:t>
                          </m:r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𝑗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func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unc>
                        <m:func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800" b="0" i="0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𝐾</m:t>
                              </m:r>
                              <m:sSup>
                                <m:sSup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𝑗</m:t>
                                      </m:r>
                                      <m: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𝑗</m:t>
                                      </m:r>
                                      <m: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unc>
                        <m:func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80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→+∞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𝐾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𝑗</m:t>
                                      </m:r>
                                      <m: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kumimoji="1" lang="zh-CN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3" name="低频段">
                <a:extLst>
                  <a:ext uri="{FF2B5EF4-FFF2-40B4-BE49-F238E27FC236}">
                    <a16:creationId xmlns:a16="http://schemas.microsoft.com/office/drawing/2014/main" id="{2A9A8317-ABC1-4527-896E-B2D4AAE6A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161" y="1858051"/>
                <a:ext cx="9996648" cy="1004057"/>
              </a:xfrm>
              <a:prstGeom prst="rect">
                <a:avLst/>
              </a:prstGeom>
              <a:blipFill>
                <a:blip r:embed="rId5"/>
                <a:stretch>
                  <a:fillRect b="-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幅相1-2">
            <a:extLst>
              <a:ext uri="{FF2B5EF4-FFF2-40B4-BE49-F238E27FC236}">
                <a16:creationId xmlns:a16="http://schemas.microsoft.com/office/drawing/2014/main" id="{91516CD5-CF73-217D-1E03-FD04BE8B6529}"/>
              </a:ext>
            </a:extLst>
          </p:cNvPr>
          <p:cNvSpPr/>
          <p:nvPr/>
        </p:nvSpPr>
        <p:spPr>
          <a:xfrm flipH="1">
            <a:off x="10465420" y="4850875"/>
            <a:ext cx="301372" cy="57709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239" h="1875592">
                <a:moveTo>
                  <a:pt x="0" y="0"/>
                </a:moveTo>
                <a:cubicBezTo>
                  <a:pt x="34793" y="953209"/>
                  <a:pt x="178896" y="1582700"/>
                  <a:pt x="366239" y="187559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5" name="幅相1-1">
            <a:extLst>
              <a:ext uri="{FF2B5EF4-FFF2-40B4-BE49-F238E27FC236}">
                <a16:creationId xmlns:a16="http://schemas.microsoft.com/office/drawing/2014/main" id="{6D9CB9E4-827A-67BE-4B81-4879FE516102}"/>
              </a:ext>
            </a:extLst>
          </p:cNvPr>
          <p:cNvSpPr/>
          <p:nvPr/>
        </p:nvSpPr>
        <p:spPr>
          <a:xfrm flipH="1" flipV="1">
            <a:off x="10465420" y="4297718"/>
            <a:ext cx="301372" cy="57709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239" h="1875592">
                <a:moveTo>
                  <a:pt x="0" y="0"/>
                </a:moveTo>
                <a:cubicBezTo>
                  <a:pt x="34793" y="953209"/>
                  <a:pt x="178896" y="1582700"/>
                  <a:pt x="366239" y="187559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2" name="幅相2-1">
            <a:extLst>
              <a:ext uri="{FF2B5EF4-FFF2-40B4-BE49-F238E27FC236}">
                <a16:creationId xmlns:a16="http://schemas.microsoft.com/office/drawing/2014/main" id="{D8B4D395-24FC-4C27-F84F-15084AC292D1}"/>
              </a:ext>
            </a:extLst>
          </p:cNvPr>
          <p:cNvSpPr/>
          <p:nvPr/>
        </p:nvSpPr>
        <p:spPr>
          <a:xfrm rot="10800000">
            <a:off x="8882492" y="5805262"/>
            <a:ext cx="403788" cy="773205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239" h="1875592">
                <a:moveTo>
                  <a:pt x="0" y="0"/>
                </a:moveTo>
                <a:cubicBezTo>
                  <a:pt x="34793" y="953209"/>
                  <a:pt x="178896" y="1582700"/>
                  <a:pt x="366239" y="187559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4" name="幅相2-2">
            <a:extLst>
              <a:ext uri="{FF2B5EF4-FFF2-40B4-BE49-F238E27FC236}">
                <a16:creationId xmlns:a16="http://schemas.microsoft.com/office/drawing/2014/main" id="{C84B2C1D-27CB-C24E-5A9C-CE96EAE74578}"/>
              </a:ext>
            </a:extLst>
          </p:cNvPr>
          <p:cNvSpPr/>
          <p:nvPr/>
        </p:nvSpPr>
        <p:spPr>
          <a:xfrm rot="10800000" flipH="1">
            <a:off x="9416055" y="5805262"/>
            <a:ext cx="403788" cy="773205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239" h="1875592">
                <a:moveTo>
                  <a:pt x="0" y="0"/>
                </a:moveTo>
                <a:cubicBezTo>
                  <a:pt x="34793" y="953209"/>
                  <a:pt x="178896" y="1582700"/>
                  <a:pt x="366239" y="187559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0" name="幅相2-3">
            <a:extLst>
              <a:ext uri="{FF2B5EF4-FFF2-40B4-BE49-F238E27FC236}">
                <a16:creationId xmlns:a16="http://schemas.microsoft.com/office/drawing/2014/main" id="{BABD9AA4-0E43-5E5B-4DF4-C7C3EE61A673}"/>
              </a:ext>
            </a:extLst>
          </p:cNvPr>
          <p:cNvSpPr/>
          <p:nvPr/>
        </p:nvSpPr>
        <p:spPr>
          <a:xfrm rot="5400000" flipH="1" flipV="1">
            <a:off x="8887359" y="4993424"/>
            <a:ext cx="570411" cy="33318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239" h="1875592">
                <a:moveTo>
                  <a:pt x="0" y="0"/>
                </a:moveTo>
                <a:cubicBezTo>
                  <a:pt x="34793" y="953209"/>
                  <a:pt x="178896" y="1582700"/>
                  <a:pt x="366239" y="187559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6" name="幅相2-4">
            <a:extLst>
              <a:ext uri="{FF2B5EF4-FFF2-40B4-BE49-F238E27FC236}">
                <a16:creationId xmlns:a16="http://schemas.microsoft.com/office/drawing/2014/main" id="{BA8645D9-8276-9F53-B224-B609AF7E983B}"/>
              </a:ext>
            </a:extLst>
          </p:cNvPr>
          <p:cNvSpPr/>
          <p:nvPr/>
        </p:nvSpPr>
        <p:spPr>
          <a:xfrm rot="16200000" flipV="1">
            <a:off x="9212441" y="5011474"/>
            <a:ext cx="570410" cy="297075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239" h="1875592">
                <a:moveTo>
                  <a:pt x="0" y="0"/>
                </a:moveTo>
                <a:cubicBezTo>
                  <a:pt x="34793" y="953209"/>
                  <a:pt x="178896" y="1582700"/>
                  <a:pt x="366239" y="187559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3" name="幅相3-1">
            <a:extLst>
              <a:ext uri="{FF2B5EF4-FFF2-40B4-BE49-F238E27FC236}">
                <a16:creationId xmlns:a16="http://schemas.microsoft.com/office/drawing/2014/main" id="{C9B98A67-8926-5C0F-962A-ABD3E238E15D}"/>
              </a:ext>
            </a:extLst>
          </p:cNvPr>
          <p:cNvSpPr/>
          <p:nvPr/>
        </p:nvSpPr>
        <p:spPr>
          <a:xfrm rot="16200000">
            <a:off x="7713693" y="4226037"/>
            <a:ext cx="377449" cy="72277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239" h="1875592">
                <a:moveTo>
                  <a:pt x="0" y="0"/>
                </a:moveTo>
                <a:cubicBezTo>
                  <a:pt x="34793" y="953209"/>
                  <a:pt x="178896" y="1582700"/>
                  <a:pt x="366239" y="187559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5" name="幅相3-2">
            <a:extLst>
              <a:ext uri="{FF2B5EF4-FFF2-40B4-BE49-F238E27FC236}">
                <a16:creationId xmlns:a16="http://schemas.microsoft.com/office/drawing/2014/main" id="{4F6FF488-F1ED-5BD9-FCB0-91898839A707}"/>
              </a:ext>
            </a:extLst>
          </p:cNvPr>
          <p:cNvSpPr/>
          <p:nvPr/>
        </p:nvSpPr>
        <p:spPr>
          <a:xfrm rot="5400000" flipV="1">
            <a:off x="7713692" y="4806063"/>
            <a:ext cx="377449" cy="72277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239" h="1875592">
                <a:moveTo>
                  <a:pt x="0" y="0"/>
                </a:moveTo>
                <a:cubicBezTo>
                  <a:pt x="34793" y="953209"/>
                  <a:pt x="178896" y="1582700"/>
                  <a:pt x="366239" y="187559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7" name="幅相3-3">
            <a:extLst>
              <a:ext uri="{FF2B5EF4-FFF2-40B4-BE49-F238E27FC236}">
                <a16:creationId xmlns:a16="http://schemas.microsoft.com/office/drawing/2014/main" id="{A6851EBA-2E74-90D8-69F2-9D387C012900}"/>
              </a:ext>
            </a:extLst>
          </p:cNvPr>
          <p:cNvSpPr/>
          <p:nvPr/>
        </p:nvSpPr>
        <p:spPr>
          <a:xfrm rot="5400000" flipH="1">
            <a:off x="8839770" y="4362217"/>
            <a:ext cx="284949" cy="72277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239" h="1875592">
                <a:moveTo>
                  <a:pt x="0" y="0"/>
                </a:moveTo>
                <a:cubicBezTo>
                  <a:pt x="34793" y="953209"/>
                  <a:pt x="178896" y="1582700"/>
                  <a:pt x="366239" y="1875592"/>
                </a:cubicBezTo>
              </a:path>
            </a:pathLst>
          </a:custGeom>
          <a:noFill/>
          <a:ln w="38100">
            <a:solidFill>
              <a:srgbClr val="E44860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8" name="幅相3-4">
            <a:extLst>
              <a:ext uri="{FF2B5EF4-FFF2-40B4-BE49-F238E27FC236}">
                <a16:creationId xmlns:a16="http://schemas.microsoft.com/office/drawing/2014/main" id="{6F233001-24FB-2984-E5DE-00FE58AC141D}"/>
              </a:ext>
            </a:extLst>
          </p:cNvPr>
          <p:cNvSpPr/>
          <p:nvPr/>
        </p:nvSpPr>
        <p:spPr>
          <a:xfrm rot="16200000" flipH="1" flipV="1">
            <a:off x="8841712" y="4660781"/>
            <a:ext cx="270072" cy="72277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239" h="1875592">
                <a:moveTo>
                  <a:pt x="0" y="0"/>
                </a:moveTo>
                <a:cubicBezTo>
                  <a:pt x="34793" y="953209"/>
                  <a:pt x="178896" y="1582700"/>
                  <a:pt x="366239" y="1875592"/>
                </a:cubicBezTo>
              </a:path>
            </a:pathLst>
          </a:custGeom>
          <a:noFill/>
          <a:ln w="38100">
            <a:solidFill>
              <a:srgbClr val="E44860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6" name="幅相4-1">
            <a:extLst>
              <a:ext uri="{FF2B5EF4-FFF2-40B4-BE49-F238E27FC236}">
                <a16:creationId xmlns:a16="http://schemas.microsoft.com/office/drawing/2014/main" id="{E16DA926-5DEF-0295-2E7E-329157D75105}"/>
              </a:ext>
            </a:extLst>
          </p:cNvPr>
          <p:cNvSpPr/>
          <p:nvPr/>
        </p:nvSpPr>
        <p:spPr>
          <a:xfrm flipH="1">
            <a:off x="8921921" y="3165616"/>
            <a:ext cx="338406" cy="648006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239" h="1875592">
                <a:moveTo>
                  <a:pt x="0" y="0"/>
                </a:moveTo>
                <a:cubicBezTo>
                  <a:pt x="34793" y="953209"/>
                  <a:pt x="178896" y="1582700"/>
                  <a:pt x="366239" y="187559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0" name="幅相4-2">
            <a:extLst>
              <a:ext uri="{FF2B5EF4-FFF2-40B4-BE49-F238E27FC236}">
                <a16:creationId xmlns:a16="http://schemas.microsoft.com/office/drawing/2014/main" id="{796421A8-311C-9450-44A9-757B8AA33573}"/>
              </a:ext>
            </a:extLst>
          </p:cNvPr>
          <p:cNvSpPr/>
          <p:nvPr/>
        </p:nvSpPr>
        <p:spPr>
          <a:xfrm>
            <a:off x="9411941" y="3160752"/>
            <a:ext cx="338406" cy="648006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239" h="1875592">
                <a:moveTo>
                  <a:pt x="0" y="0"/>
                </a:moveTo>
                <a:cubicBezTo>
                  <a:pt x="34793" y="953209"/>
                  <a:pt x="178896" y="1582700"/>
                  <a:pt x="366239" y="187559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1" name="幅相4-3">
            <a:extLst>
              <a:ext uri="{FF2B5EF4-FFF2-40B4-BE49-F238E27FC236}">
                <a16:creationId xmlns:a16="http://schemas.microsoft.com/office/drawing/2014/main" id="{4F078ED8-EF60-AE2B-E7FB-DA1126944209}"/>
              </a:ext>
            </a:extLst>
          </p:cNvPr>
          <p:cNvSpPr/>
          <p:nvPr/>
        </p:nvSpPr>
        <p:spPr>
          <a:xfrm rot="16200000" flipH="1">
            <a:off x="8832606" y="4364681"/>
            <a:ext cx="726957" cy="29710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239" h="1875592">
                <a:moveTo>
                  <a:pt x="0" y="0"/>
                </a:moveTo>
                <a:cubicBezTo>
                  <a:pt x="34793" y="953209"/>
                  <a:pt x="178896" y="1582700"/>
                  <a:pt x="366239" y="187559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7" name="幅相4-4">
            <a:extLst>
              <a:ext uri="{FF2B5EF4-FFF2-40B4-BE49-F238E27FC236}">
                <a16:creationId xmlns:a16="http://schemas.microsoft.com/office/drawing/2014/main" id="{436CE12C-06B8-8288-F6BA-237EBC1364EB}"/>
              </a:ext>
            </a:extLst>
          </p:cNvPr>
          <p:cNvSpPr/>
          <p:nvPr/>
        </p:nvSpPr>
        <p:spPr>
          <a:xfrm rot="5400000">
            <a:off x="9141396" y="4357457"/>
            <a:ext cx="712518" cy="29709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239" h="1875592">
                <a:moveTo>
                  <a:pt x="0" y="0"/>
                </a:moveTo>
                <a:cubicBezTo>
                  <a:pt x="34793" y="953209"/>
                  <a:pt x="178896" y="1582700"/>
                  <a:pt x="366239" y="187559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label3">
                <a:extLst>
                  <a:ext uri="{FF2B5EF4-FFF2-40B4-BE49-F238E27FC236}">
                    <a16:creationId xmlns:a16="http://schemas.microsoft.com/office/drawing/2014/main" id="{64987B26-286C-35B6-5336-A898FC267E4A}"/>
                  </a:ext>
                </a:extLst>
              </p:cNvPr>
              <p:cNvSpPr txBox="1"/>
              <p:nvPr/>
            </p:nvSpPr>
            <p:spPr>
              <a:xfrm>
                <a:off x="9617949" y="3724998"/>
                <a:ext cx="18913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4" name="label3">
                <a:extLst>
                  <a:ext uri="{FF2B5EF4-FFF2-40B4-BE49-F238E27FC236}">
                    <a16:creationId xmlns:a16="http://schemas.microsoft.com/office/drawing/2014/main" id="{64987B26-286C-35B6-5336-A898FC267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7949" y="3724998"/>
                <a:ext cx="189139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label1">
                <a:extLst>
                  <a:ext uri="{FF2B5EF4-FFF2-40B4-BE49-F238E27FC236}">
                    <a16:creationId xmlns:a16="http://schemas.microsoft.com/office/drawing/2014/main" id="{96F2B485-9392-97DA-A917-91C41F32A1BF}"/>
                  </a:ext>
                </a:extLst>
              </p:cNvPr>
              <p:cNvSpPr txBox="1"/>
              <p:nvPr/>
            </p:nvSpPr>
            <p:spPr>
              <a:xfrm>
                <a:off x="7022166" y="5729021"/>
                <a:ext cx="186617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" name="label1">
                <a:extLst>
                  <a:ext uri="{FF2B5EF4-FFF2-40B4-BE49-F238E27FC236}">
                    <a16:creationId xmlns:a16="http://schemas.microsoft.com/office/drawing/2014/main" id="{96F2B485-9392-97DA-A917-91C41F32A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2166" y="5729021"/>
                <a:ext cx="186617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label2">
                <a:extLst>
                  <a:ext uri="{FF2B5EF4-FFF2-40B4-BE49-F238E27FC236}">
                    <a16:creationId xmlns:a16="http://schemas.microsoft.com/office/drawing/2014/main" id="{7F5CDC1F-9A84-0F2D-C30D-0280C126179F}"/>
                  </a:ext>
                </a:extLst>
              </p:cNvPr>
              <p:cNvSpPr txBox="1"/>
              <p:nvPr/>
            </p:nvSpPr>
            <p:spPr>
              <a:xfrm>
                <a:off x="6870353" y="3593751"/>
                <a:ext cx="18913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8" name="label2">
                <a:extLst>
                  <a:ext uri="{FF2B5EF4-FFF2-40B4-BE49-F238E27FC236}">
                    <a16:creationId xmlns:a16="http://schemas.microsoft.com/office/drawing/2014/main" id="{7F5CDC1F-9A84-0F2D-C30D-0280C1261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353" y="3593751"/>
                <a:ext cx="189139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v3">
                <a:extLst>
                  <a:ext uri="{FF2B5EF4-FFF2-40B4-BE49-F238E27FC236}">
                    <a16:creationId xmlns:a16="http://schemas.microsoft.com/office/drawing/2014/main" id="{9E6E9CA3-4F27-1641-0688-E7F64B702458}"/>
                  </a:ext>
                </a:extLst>
              </p:cNvPr>
              <p:cNvSpPr txBox="1"/>
              <p:nvPr/>
            </p:nvSpPr>
            <p:spPr>
              <a:xfrm>
                <a:off x="9275442" y="2940107"/>
                <a:ext cx="1369147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" name="v3">
                <a:extLst>
                  <a:ext uri="{FF2B5EF4-FFF2-40B4-BE49-F238E27FC236}">
                    <a16:creationId xmlns:a16="http://schemas.microsoft.com/office/drawing/2014/main" id="{9E6E9CA3-4F27-1641-0688-E7F64B702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5442" y="2940107"/>
                <a:ext cx="1369147" cy="5246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v0">
                <a:extLst>
                  <a:ext uri="{FF2B5EF4-FFF2-40B4-BE49-F238E27FC236}">
                    <a16:creationId xmlns:a16="http://schemas.microsoft.com/office/drawing/2014/main" id="{30F74079-F138-AA62-A917-603FA55634C3}"/>
                  </a:ext>
                </a:extLst>
              </p:cNvPr>
              <p:cNvSpPr txBox="1"/>
              <p:nvPr/>
            </p:nvSpPr>
            <p:spPr>
              <a:xfrm>
                <a:off x="10574612" y="4776147"/>
                <a:ext cx="1369147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0" name="v0">
                <a:extLst>
                  <a:ext uri="{FF2B5EF4-FFF2-40B4-BE49-F238E27FC236}">
                    <a16:creationId xmlns:a16="http://schemas.microsoft.com/office/drawing/2014/main" id="{30F74079-F138-AA62-A917-603FA5563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4612" y="4776147"/>
                <a:ext cx="1369147" cy="52469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v1">
                <a:extLst>
                  <a:ext uri="{FF2B5EF4-FFF2-40B4-BE49-F238E27FC236}">
                    <a16:creationId xmlns:a16="http://schemas.microsoft.com/office/drawing/2014/main" id="{D4628D46-6B64-4082-40D8-842E7EFABFCF}"/>
                  </a:ext>
                </a:extLst>
              </p:cNvPr>
              <p:cNvSpPr txBox="1"/>
              <p:nvPr/>
            </p:nvSpPr>
            <p:spPr>
              <a:xfrm>
                <a:off x="7992929" y="6065777"/>
                <a:ext cx="1369147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1" name="v1">
                <a:extLst>
                  <a:ext uri="{FF2B5EF4-FFF2-40B4-BE49-F238E27FC236}">
                    <a16:creationId xmlns:a16="http://schemas.microsoft.com/office/drawing/2014/main" id="{D4628D46-6B64-4082-40D8-842E7EFAB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2929" y="6065777"/>
                <a:ext cx="1369147" cy="52469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v2">
                <a:extLst>
                  <a:ext uri="{FF2B5EF4-FFF2-40B4-BE49-F238E27FC236}">
                    <a16:creationId xmlns:a16="http://schemas.microsoft.com/office/drawing/2014/main" id="{E6480405-7F8C-8C64-13D4-F6EB1B3AD19E}"/>
                  </a:ext>
                </a:extLst>
              </p:cNvPr>
              <p:cNvSpPr txBox="1"/>
              <p:nvPr/>
            </p:nvSpPr>
            <p:spPr>
              <a:xfrm>
                <a:off x="6635623" y="4284984"/>
                <a:ext cx="1369147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2" name="v2">
                <a:extLst>
                  <a:ext uri="{FF2B5EF4-FFF2-40B4-BE49-F238E27FC236}">
                    <a16:creationId xmlns:a16="http://schemas.microsoft.com/office/drawing/2014/main" id="{E6480405-7F8C-8C64-13D4-F6EB1B3AD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623" y="4284984"/>
                <a:ext cx="1369147" cy="52469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坐标轴">
            <a:extLst>
              <a:ext uri="{FF2B5EF4-FFF2-40B4-BE49-F238E27FC236}">
                <a16:creationId xmlns:a16="http://schemas.microsoft.com/office/drawing/2014/main" id="{78BF8EAD-BC16-C0E2-8C49-DBDB1A570865}"/>
              </a:ext>
            </a:extLst>
          </p:cNvPr>
          <p:cNvGrpSpPr/>
          <p:nvPr/>
        </p:nvGrpSpPr>
        <p:grpSpPr>
          <a:xfrm>
            <a:off x="7535366" y="2807350"/>
            <a:ext cx="3915757" cy="3790002"/>
            <a:chOff x="7535366" y="2807350"/>
            <a:chExt cx="3915757" cy="3790002"/>
          </a:xfrm>
        </p:grpSpPr>
        <p:cxnSp>
          <p:nvCxnSpPr>
            <p:cNvPr id="28" name="实轴">
              <a:extLst>
                <a:ext uri="{FF2B5EF4-FFF2-40B4-BE49-F238E27FC236}">
                  <a16:creationId xmlns:a16="http://schemas.microsoft.com/office/drawing/2014/main" id="{0B3FFAE2-5E10-D833-BE14-F71AEA2F80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5366" y="4877435"/>
              <a:ext cx="367240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虚轴">
              <a:extLst>
                <a:ext uri="{FF2B5EF4-FFF2-40B4-BE49-F238E27FC236}">
                  <a16:creationId xmlns:a16="http://schemas.microsoft.com/office/drawing/2014/main" id="{2D56FA3E-C5BF-E59D-04A5-04623EA2F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49110" y="3068960"/>
              <a:ext cx="0" cy="3528392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/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Re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blipFill>
                  <a:blip r:embed="rId13"/>
                  <a:stretch>
                    <a:fillRect l="-6522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/>
                <p:nvPr/>
              </p:nvSpPr>
              <p:spPr>
                <a:xfrm>
                  <a:off x="8734605" y="280735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Im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4605" y="2807350"/>
                  <a:ext cx="576536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4348" r="-1087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/>
                <p:nvPr/>
              </p:nvSpPr>
              <p:spPr>
                <a:xfrm>
                  <a:off x="9297698" y="4852335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97698" y="4852335"/>
                  <a:ext cx="545352" cy="52469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小标题1">
            <a:extLst>
              <a:ext uri="{FF2B5EF4-FFF2-40B4-BE49-F238E27FC236}">
                <a16:creationId xmlns:a16="http://schemas.microsoft.com/office/drawing/2014/main" id="{6EA30E24-3201-DFCA-9EFE-54A78D121AE2}"/>
              </a:ext>
            </a:extLst>
          </p:cNvPr>
          <p:cNvSpPr/>
          <p:nvPr/>
        </p:nvSpPr>
        <p:spPr bwMode="auto">
          <a:xfrm>
            <a:off x="338824" y="3042570"/>
            <a:ext cx="2372001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终点处幅值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终点幅值">
                <a:extLst>
                  <a:ext uri="{FF2B5EF4-FFF2-40B4-BE49-F238E27FC236}">
                    <a16:creationId xmlns:a16="http://schemas.microsoft.com/office/drawing/2014/main" id="{A344F24E-C01E-6031-026E-02D2D4437EA5}"/>
                  </a:ext>
                </a:extLst>
              </p:cNvPr>
              <p:cNvSpPr txBox="1"/>
              <p:nvPr/>
            </p:nvSpPr>
            <p:spPr>
              <a:xfrm>
                <a:off x="2678194" y="3019339"/>
                <a:ext cx="4160743" cy="6618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800" b="0" i="0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→+∞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𝑗</m:t>
                                  </m:r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𝐻</m:t>
                              </m:r>
                              <m:d>
                                <m:d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𝑗</m:t>
                                  </m:r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" name="终点幅值">
                <a:extLst>
                  <a:ext uri="{FF2B5EF4-FFF2-40B4-BE49-F238E27FC236}">
                    <a16:creationId xmlns:a16="http://schemas.microsoft.com/office/drawing/2014/main" id="{A344F24E-C01E-6031-026E-02D2D4437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8194" y="3019339"/>
                <a:ext cx="4160743" cy="661848"/>
              </a:xfrm>
              <a:prstGeom prst="rect">
                <a:avLst/>
              </a:prstGeom>
              <a:blipFill>
                <a:blip r:embed="rId16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小标题1">
            <a:extLst>
              <a:ext uri="{FF2B5EF4-FFF2-40B4-BE49-F238E27FC236}">
                <a16:creationId xmlns:a16="http://schemas.microsoft.com/office/drawing/2014/main" id="{ADC23408-5D06-3F66-22F1-CA321942FF1C}"/>
              </a:ext>
            </a:extLst>
          </p:cNvPr>
          <p:cNvSpPr/>
          <p:nvPr/>
        </p:nvSpPr>
        <p:spPr bwMode="auto">
          <a:xfrm>
            <a:off x="338824" y="3753316"/>
            <a:ext cx="2372001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终点处相角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终点相角">
                <a:extLst>
                  <a:ext uri="{FF2B5EF4-FFF2-40B4-BE49-F238E27FC236}">
                    <a16:creationId xmlns:a16="http://schemas.microsoft.com/office/drawing/2014/main" id="{564888B0-6E17-29CF-7CEB-7BFC4EF43251}"/>
                  </a:ext>
                </a:extLst>
              </p:cNvPr>
              <p:cNvSpPr txBox="1"/>
              <p:nvPr/>
            </p:nvSpPr>
            <p:spPr>
              <a:xfrm>
                <a:off x="142256" y="4455278"/>
                <a:ext cx="6138024" cy="6532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800" b="0" i="0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→+∞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∠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𝐺</m:t>
                          </m:r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𝑗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𝐻</m:t>
                          </m:r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𝑗</m:t>
                              </m:r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func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=(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𝑛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𝑚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)(−</m:t>
                      </m:r>
                      <m:box>
                        <m:box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4" name="终点相角">
                <a:extLst>
                  <a:ext uri="{FF2B5EF4-FFF2-40B4-BE49-F238E27FC236}">
                    <a16:creationId xmlns:a16="http://schemas.microsoft.com/office/drawing/2014/main" id="{564888B0-6E17-29CF-7CEB-7BFC4EF43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56" y="4455278"/>
                <a:ext cx="6138024" cy="653256"/>
              </a:xfrm>
              <a:prstGeom prst="rect">
                <a:avLst/>
              </a:prstGeom>
              <a:blipFill>
                <a:blip r:embed="rId17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2" name="箭头2">
            <a:extLst>
              <a:ext uri="{FF2B5EF4-FFF2-40B4-BE49-F238E27FC236}">
                <a16:creationId xmlns:a16="http://schemas.microsoft.com/office/drawing/2014/main" id="{FF1E0A07-3A29-3AD4-6BCB-387EB7680B2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441539" flipH="1">
            <a:off x="8194158" y="4286140"/>
            <a:ext cx="726139" cy="86505"/>
          </a:xfrm>
          <a:prstGeom prst="rect">
            <a:avLst/>
          </a:prstGeom>
        </p:spPr>
      </p:pic>
      <p:sp>
        <p:nvSpPr>
          <p:cNvPr id="4" name="圈2">
            <a:extLst>
              <a:ext uri="{FF2B5EF4-FFF2-40B4-BE49-F238E27FC236}">
                <a16:creationId xmlns:a16="http://schemas.microsoft.com/office/drawing/2014/main" id="{54BA39A5-AD0A-DFB2-E3EA-9E995716B5FD}"/>
              </a:ext>
            </a:extLst>
          </p:cNvPr>
          <p:cNvSpPr/>
          <p:nvPr/>
        </p:nvSpPr>
        <p:spPr>
          <a:xfrm>
            <a:off x="8284731" y="4532699"/>
            <a:ext cx="1007989" cy="665115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圈3">
            <a:extLst>
              <a:ext uri="{FF2B5EF4-FFF2-40B4-BE49-F238E27FC236}">
                <a16:creationId xmlns:a16="http://schemas.microsoft.com/office/drawing/2014/main" id="{E9FFC200-4638-4FE5-B710-4C047D893FB9}"/>
              </a:ext>
            </a:extLst>
          </p:cNvPr>
          <p:cNvSpPr/>
          <p:nvPr/>
        </p:nvSpPr>
        <p:spPr>
          <a:xfrm rot="5400000">
            <a:off x="8850013" y="4037529"/>
            <a:ext cx="1007989" cy="665115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5" name="箭头3">
            <a:extLst>
              <a:ext uri="{FF2B5EF4-FFF2-40B4-BE49-F238E27FC236}">
                <a16:creationId xmlns:a16="http://schemas.microsoft.com/office/drawing/2014/main" id="{99051552-FACF-9DFD-9366-B47C0D88EFE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8395400" flipH="1">
            <a:off x="9560541" y="4341882"/>
            <a:ext cx="726139" cy="86505"/>
          </a:xfrm>
          <a:prstGeom prst="rect">
            <a:avLst/>
          </a:prstGeom>
        </p:spPr>
      </p:pic>
      <p:sp>
        <p:nvSpPr>
          <p:cNvPr id="66" name="圈1">
            <a:extLst>
              <a:ext uri="{FF2B5EF4-FFF2-40B4-BE49-F238E27FC236}">
                <a16:creationId xmlns:a16="http://schemas.microsoft.com/office/drawing/2014/main" id="{68E26334-1BE8-DBB2-7A65-8ACA8CC1C9C5}"/>
              </a:ext>
            </a:extLst>
          </p:cNvPr>
          <p:cNvSpPr/>
          <p:nvPr/>
        </p:nvSpPr>
        <p:spPr>
          <a:xfrm rot="16200000">
            <a:off x="8837709" y="5040300"/>
            <a:ext cx="1007989" cy="665115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7" name="箭头1">
            <a:extLst>
              <a:ext uri="{FF2B5EF4-FFF2-40B4-BE49-F238E27FC236}">
                <a16:creationId xmlns:a16="http://schemas.microsoft.com/office/drawing/2014/main" id="{F31AD9B5-8C48-BAD3-1C96-12FD9ED2C05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19746897" flipH="1">
            <a:off x="8345815" y="5616713"/>
            <a:ext cx="726139" cy="8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833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9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000"/>
                            </p:stCondLst>
                            <p:childTnLst>
                              <p:par>
                                <p:cTn id="9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500"/>
                            </p:stCondLst>
                            <p:childTnLst>
                              <p:par>
                                <p:cTn id="9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60" grpId="0" animBg="1"/>
      <p:bldP spid="36" grpId="0" animBg="1"/>
      <p:bldP spid="57" grpId="0" animBg="1"/>
      <p:bldP spid="58" grpId="0" animBg="1"/>
      <p:bldP spid="61" grpId="0" animBg="1"/>
      <p:bldP spid="37" grpId="0" animBg="1"/>
      <p:bldP spid="44" grpId="0"/>
      <p:bldP spid="46" grpId="0"/>
      <p:bldP spid="48" grpId="0"/>
      <p:bldP spid="30" grpId="0" animBg="1"/>
      <p:bldP spid="31" grpId="0"/>
      <p:bldP spid="32" grpId="0" animBg="1"/>
      <p:bldP spid="34" grpId="0"/>
      <p:bldP spid="4" grpId="0" animBg="1"/>
      <p:bldP spid="64" grpId="0" animBg="1"/>
      <p:bldP spid="6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系统开环幅相曲线</a:t>
            </a:r>
          </a:p>
        </p:txBody>
      </p:sp>
      <p:grpSp>
        <p:nvGrpSpPr>
          <p:cNvPr id="76" name="步骤1">
            <a:extLst>
              <a:ext uri="{FF2B5EF4-FFF2-40B4-BE49-F238E27FC236}">
                <a16:creationId xmlns:a16="http://schemas.microsoft.com/office/drawing/2014/main" id="{98F4674A-51B6-B55E-285D-5812200E4606}"/>
              </a:ext>
            </a:extLst>
          </p:cNvPr>
          <p:cNvGrpSpPr/>
          <p:nvPr/>
        </p:nvGrpSpPr>
        <p:grpSpPr>
          <a:xfrm>
            <a:off x="6023075" y="181574"/>
            <a:ext cx="5184576" cy="725177"/>
            <a:chOff x="4943078" y="1700704"/>
            <a:chExt cx="5184576" cy="725177"/>
          </a:xfrm>
        </p:grpSpPr>
        <p:sp>
          <p:nvSpPr>
            <p:cNvPr id="77" name="标题">
              <a:extLst>
                <a:ext uri="{FF2B5EF4-FFF2-40B4-BE49-F238E27FC236}">
                  <a16:creationId xmlns:a16="http://schemas.microsoft.com/office/drawing/2014/main" id="{43DA60B5-6978-89A1-FDF3-71B36825FB03}"/>
                </a:ext>
              </a:extLst>
            </p:cNvPr>
            <p:cNvSpPr/>
            <p:nvPr/>
          </p:nvSpPr>
          <p:spPr bwMode="auto">
            <a:xfrm>
              <a:off x="5375126" y="1769619"/>
              <a:ext cx="4752528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与负实轴交点</a:t>
              </a:r>
              <a:r>
                <a:rPr lang="en-US" altLang="zh-CN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:</a:t>
              </a:r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试探法</a:t>
              </a:r>
            </a:p>
          </p:txBody>
        </p:sp>
        <p:sp>
          <p:nvSpPr>
            <p:cNvPr id="78" name="序号">
              <a:extLst>
                <a:ext uri="{FF2B5EF4-FFF2-40B4-BE49-F238E27FC236}">
                  <a16:creationId xmlns:a16="http://schemas.microsoft.com/office/drawing/2014/main" id="{1C215964-A7F2-16B2-FE56-91D7F08D78A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频率特性">
                <a:extLst>
                  <a:ext uri="{FF2B5EF4-FFF2-40B4-BE49-F238E27FC236}">
                    <a16:creationId xmlns:a16="http://schemas.microsoft.com/office/drawing/2014/main" id="{266E9B64-6064-E939-4A94-7A3ADF8437F2}"/>
                  </a:ext>
                </a:extLst>
              </p:cNvPr>
              <p:cNvSpPr txBox="1"/>
              <p:nvPr/>
            </p:nvSpPr>
            <p:spPr>
              <a:xfrm>
                <a:off x="2859158" y="1049473"/>
                <a:ext cx="5975699" cy="589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800" b="0" i="0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Im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𝐺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(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)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=0→</m:t>
                      </m:r>
                      <m:sSub>
                        <m:sSub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kumimoji="1"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𝐺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(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7" name="频率特性">
                <a:extLst>
                  <a:ext uri="{FF2B5EF4-FFF2-40B4-BE49-F238E27FC236}">
                    <a16:creationId xmlns:a16="http://schemas.microsoft.com/office/drawing/2014/main" id="{266E9B64-6064-E939-4A94-7A3ADF843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158" y="1049473"/>
                <a:ext cx="5975699" cy="589072"/>
              </a:xfrm>
              <a:prstGeom prst="rect">
                <a:avLst/>
              </a:prstGeom>
              <a:blipFill>
                <a:blip r:embed="rId3"/>
                <a:stretch>
                  <a:fillRect b="-10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低频段">
                <a:extLst>
                  <a:ext uri="{FF2B5EF4-FFF2-40B4-BE49-F238E27FC236}">
                    <a16:creationId xmlns:a16="http://schemas.microsoft.com/office/drawing/2014/main" id="{2A9A8317-ABC1-4527-896E-B2D4AAE6A871}"/>
                  </a:ext>
                </a:extLst>
              </p:cNvPr>
              <p:cNvSpPr txBox="1"/>
              <p:nvPr/>
            </p:nvSpPr>
            <p:spPr>
              <a:xfrm>
                <a:off x="2855688" y="1927399"/>
                <a:ext cx="5975699" cy="589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=−180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sSub>
                        <m:sSub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𝐺</m:t>
                          </m:r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3" name="低频段">
                <a:extLst>
                  <a:ext uri="{FF2B5EF4-FFF2-40B4-BE49-F238E27FC236}">
                    <a16:creationId xmlns:a16="http://schemas.microsoft.com/office/drawing/2014/main" id="{2A9A8317-ABC1-4527-896E-B2D4AAE6A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688" y="1927399"/>
                <a:ext cx="5975699" cy="589072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幅相1-1">
            <a:extLst>
              <a:ext uri="{FF2B5EF4-FFF2-40B4-BE49-F238E27FC236}">
                <a16:creationId xmlns:a16="http://schemas.microsoft.com/office/drawing/2014/main" id="{6D9CB9E4-827A-67BE-4B81-4879FE516102}"/>
              </a:ext>
            </a:extLst>
          </p:cNvPr>
          <p:cNvSpPr/>
          <p:nvPr/>
        </p:nvSpPr>
        <p:spPr>
          <a:xfrm flipV="1">
            <a:off x="8231749" y="4554070"/>
            <a:ext cx="1100114" cy="145713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0894" h="1802302">
                <a:moveTo>
                  <a:pt x="0" y="0"/>
                </a:moveTo>
                <a:cubicBezTo>
                  <a:pt x="67557" y="898230"/>
                  <a:pt x="469091" y="2517352"/>
                  <a:pt x="810894" y="1451463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label3">
                <a:extLst>
                  <a:ext uri="{FF2B5EF4-FFF2-40B4-BE49-F238E27FC236}">
                    <a16:creationId xmlns:a16="http://schemas.microsoft.com/office/drawing/2014/main" id="{64987B26-286C-35B6-5336-A898FC267E4A}"/>
                  </a:ext>
                </a:extLst>
              </p:cNvPr>
              <p:cNvSpPr txBox="1"/>
              <p:nvPr/>
            </p:nvSpPr>
            <p:spPr>
              <a:xfrm>
                <a:off x="7390610" y="3926003"/>
                <a:ext cx="545352" cy="55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4" name="label3">
                <a:extLst>
                  <a:ext uri="{FF2B5EF4-FFF2-40B4-BE49-F238E27FC236}">
                    <a16:creationId xmlns:a16="http://schemas.microsoft.com/office/drawing/2014/main" id="{64987B26-286C-35B6-5336-A898FC267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0610" y="3926003"/>
                <a:ext cx="545352" cy="558230"/>
              </a:xfrm>
              <a:prstGeom prst="rect">
                <a:avLst/>
              </a:prstGeom>
              <a:blipFill>
                <a:blip r:embed="rId5"/>
                <a:stretch>
                  <a:fillRect r="-6818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label1">
                <a:extLst>
                  <a:ext uri="{FF2B5EF4-FFF2-40B4-BE49-F238E27FC236}">
                    <a16:creationId xmlns:a16="http://schemas.microsoft.com/office/drawing/2014/main" id="{96F2B485-9392-97DA-A917-91C41F32A1BF}"/>
                  </a:ext>
                </a:extLst>
              </p:cNvPr>
              <p:cNvSpPr txBox="1"/>
              <p:nvPr/>
            </p:nvSpPr>
            <p:spPr>
              <a:xfrm>
                <a:off x="8180079" y="3273712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" name="label1">
                <a:extLst>
                  <a:ext uri="{FF2B5EF4-FFF2-40B4-BE49-F238E27FC236}">
                    <a16:creationId xmlns:a16="http://schemas.microsoft.com/office/drawing/2014/main" id="{96F2B485-9392-97DA-A917-91C41F32A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0079" y="3273712"/>
                <a:ext cx="80122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坐标轴">
            <a:extLst>
              <a:ext uri="{FF2B5EF4-FFF2-40B4-BE49-F238E27FC236}">
                <a16:creationId xmlns:a16="http://schemas.microsoft.com/office/drawing/2014/main" id="{78BF8EAD-BC16-C0E2-8C49-DBDB1A570865}"/>
              </a:ext>
            </a:extLst>
          </p:cNvPr>
          <p:cNvGrpSpPr/>
          <p:nvPr/>
        </p:nvGrpSpPr>
        <p:grpSpPr>
          <a:xfrm>
            <a:off x="7535366" y="2807350"/>
            <a:ext cx="3915757" cy="3790002"/>
            <a:chOff x="7535366" y="2807350"/>
            <a:chExt cx="3915757" cy="3790002"/>
          </a:xfrm>
        </p:grpSpPr>
        <p:cxnSp>
          <p:nvCxnSpPr>
            <p:cNvPr id="28" name="实轴">
              <a:extLst>
                <a:ext uri="{FF2B5EF4-FFF2-40B4-BE49-F238E27FC236}">
                  <a16:creationId xmlns:a16="http://schemas.microsoft.com/office/drawing/2014/main" id="{0B3FFAE2-5E10-D833-BE14-F71AEA2F80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5366" y="4877435"/>
              <a:ext cx="367240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虚轴">
              <a:extLst>
                <a:ext uri="{FF2B5EF4-FFF2-40B4-BE49-F238E27FC236}">
                  <a16:creationId xmlns:a16="http://schemas.microsoft.com/office/drawing/2014/main" id="{2D56FA3E-C5BF-E59D-04A5-04623EA2F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49110" y="3068960"/>
              <a:ext cx="0" cy="3528392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/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Re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6522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/>
                <p:nvPr/>
              </p:nvSpPr>
              <p:spPr>
                <a:xfrm>
                  <a:off x="8734605" y="280735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Im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4605" y="2807350"/>
                  <a:ext cx="576536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4348" r="-1087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/>
                <p:nvPr/>
              </p:nvSpPr>
              <p:spPr>
                <a:xfrm>
                  <a:off x="9297698" y="4852335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97698" y="4852335"/>
                  <a:ext cx="545352" cy="52469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小标题1">
            <a:extLst>
              <a:ext uri="{FF2B5EF4-FFF2-40B4-BE49-F238E27FC236}">
                <a16:creationId xmlns:a16="http://schemas.microsoft.com/office/drawing/2014/main" id="{6EA30E24-3201-DFCA-9EFE-54A78D121AE2}"/>
              </a:ext>
            </a:extLst>
          </p:cNvPr>
          <p:cNvSpPr/>
          <p:nvPr/>
        </p:nvSpPr>
        <p:spPr bwMode="auto">
          <a:xfrm>
            <a:off x="286151" y="1005818"/>
            <a:ext cx="2372001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方法</a:t>
            </a:r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1</a:t>
            </a:r>
            <a:endParaRPr lang="zh-CN" altLang="en-US" sz="3200" b="1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32" name="小标题2">
            <a:extLst>
              <a:ext uri="{FF2B5EF4-FFF2-40B4-BE49-F238E27FC236}">
                <a16:creationId xmlns:a16="http://schemas.microsoft.com/office/drawing/2014/main" id="{ADC23408-5D06-3F66-22F1-CA321942FF1C}"/>
              </a:ext>
            </a:extLst>
          </p:cNvPr>
          <p:cNvSpPr/>
          <p:nvPr/>
        </p:nvSpPr>
        <p:spPr bwMode="auto">
          <a:xfrm>
            <a:off x="306193" y="1949660"/>
            <a:ext cx="2372001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方法</a:t>
            </a:r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2</a:t>
            </a:r>
            <a:endParaRPr lang="zh-CN" altLang="en-US" sz="3200" b="1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66" name="单位圆">
            <a:extLst>
              <a:ext uri="{FF2B5EF4-FFF2-40B4-BE49-F238E27FC236}">
                <a16:creationId xmlns:a16="http://schemas.microsoft.com/office/drawing/2014/main" id="{68E26334-1BE8-DBB2-7A65-8ACA8CC1C9C5}"/>
              </a:ext>
            </a:extLst>
          </p:cNvPr>
          <p:cNvSpPr/>
          <p:nvPr/>
        </p:nvSpPr>
        <p:spPr>
          <a:xfrm rot="16200000">
            <a:off x="8796088" y="4334809"/>
            <a:ext cx="1080000" cy="1080000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wc">
            <a:extLst>
              <a:ext uri="{FF2B5EF4-FFF2-40B4-BE49-F238E27FC236}">
                <a16:creationId xmlns:a16="http://schemas.microsoft.com/office/drawing/2014/main" id="{021153ED-39E0-1AF1-1592-952781E959C2}"/>
              </a:ext>
            </a:extLst>
          </p:cNvPr>
          <p:cNvSpPr/>
          <p:nvPr/>
        </p:nvSpPr>
        <p:spPr>
          <a:xfrm>
            <a:off x="8824067" y="4523295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wg">
            <a:extLst>
              <a:ext uri="{FF2B5EF4-FFF2-40B4-BE49-F238E27FC236}">
                <a16:creationId xmlns:a16="http://schemas.microsoft.com/office/drawing/2014/main" id="{83D9EB89-C8AD-58AD-40C3-4FE43B41DD7A}"/>
              </a:ext>
            </a:extLst>
          </p:cNvPr>
          <p:cNvSpPr/>
          <p:nvPr/>
        </p:nvSpPr>
        <p:spPr>
          <a:xfrm>
            <a:off x="8552293" y="4805091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label1">
                <a:extLst>
                  <a:ext uri="{FF2B5EF4-FFF2-40B4-BE49-F238E27FC236}">
                    <a16:creationId xmlns:a16="http://schemas.microsoft.com/office/drawing/2014/main" id="{5EFF7C26-62BD-82A6-17CA-51A8F0110784}"/>
                  </a:ext>
                </a:extLst>
              </p:cNvPr>
              <p:cNvSpPr txBox="1"/>
              <p:nvPr/>
            </p:nvSpPr>
            <p:spPr>
              <a:xfrm>
                <a:off x="9664688" y="4852335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label1">
                <a:extLst>
                  <a:ext uri="{FF2B5EF4-FFF2-40B4-BE49-F238E27FC236}">
                    <a16:creationId xmlns:a16="http://schemas.microsoft.com/office/drawing/2014/main" id="{5EFF7C26-62BD-82A6-17CA-51A8F0110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4688" y="4852335"/>
                <a:ext cx="801225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相角穿越频率">
                <a:extLst>
                  <a:ext uri="{FF2B5EF4-FFF2-40B4-BE49-F238E27FC236}">
                    <a16:creationId xmlns:a16="http://schemas.microsoft.com/office/drawing/2014/main" id="{6FBCEB77-541B-21D3-7D6F-16E8BF905A47}"/>
                  </a:ext>
                </a:extLst>
              </p:cNvPr>
              <p:cNvSpPr txBox="1"/>
              <p:nvPr/>
            </p:nvSpPr>
            <p:spPr>
              <a:xfrm>
                <a:off x="350522" y="3606704"/>
                <a:ext cx="3659812" cy="589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kumimoji="1" lang="zh-CN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=−180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8" name="相角穿越频率">
                <a:extLst>
                  <a:ext uri="{FF2B5EF4-FFF2-40B4-BE49-F238E27FC236}">
                    <a16:creationId xmlns:a16="http://schemas.microsoft.com/office/drawing/2014/main" id="{6FBCEB77-541B-21D3-7D6F-16E8BF905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2" y="3606704"/>
                <a:ext cx="3659812" cy="589072"/>
              </a:xfrm>
              <a:prstGeom prst="rect">
                <a:avLst/>
              </a:prstGeom>
              <a:blipFill>
                <a:blip r:embed="rId11"/>
                <a:stretch>
                  <a:fillRect r="-692" b="-127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截止频率">
                <a:extLst>
                  <a:ext uri="{FF2B5EF4-FFF2-40B4-BE49-F238E27FC236}">
                    <a16:creationId xmlns:a16="http://schemas.microsoft.com/office/drawing/2014/main" id="{BA9D9906-491B-B102-5B9E-16BEBDE0C5AD}"/>
                  </a:ext>
                </a:extLst>
              </p:cNvPr>
              <p:cNvSpPr txBox="1"/>
              <p:nvPr/>
            </p:nvSpPr>
            <p:spPr>
              <a:xfrm>
                <a:off x="231188" y="5589588"/>
                <a:ext cx="5249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kumimoji="1" lang="zh-CN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𝐺</m:t>
                          </m:r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</m:t>
                      </m:r>
                      <m:r>
                        <a:rPr kumimoji="1" lang="zh-CN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  <m:r>
                        <a:rPr kumimoji="1" lang="zh-CN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9" name="截止频率">
                <a:extLst>
                  <a:ext uri="{FF2B5EF4-FFF2-40B4-BE49-F238E27FC236}">
                    <a16:creationId xmlns:a16="http://schemas.microsoft.com/office/drawing/2014/main" id="{BA9D9906-491B-B102-5B9E-16BEBDE0C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88" y="5589588"/>
                <a:ext cx="5249000" cy="523220"/>
              </a:xfrm>
              <a:prstGeom prst="rect">
                <a:avLst/>
              </a:prstGeom>
              <a:blipFill>
                <a:blip r:embed="rId12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重要1">
            <a:extLst>
              <a:ext uri="{FF2B5EF4-FFF2-40B4-BE49-F238E27FC236}">
                <a16:creationId xmlns:a16="http://schemas.microsoft.com/office/drawing/2014/main" id="{5A786566-C153-E975-062F-3FCD5207A2E4}"/>
              </a:ext>
            </a:extLst>
          </p:cNvPr>
          <p:cNvSpPr txBox="1"/>
          <p:nvPr/>
        </p:nvSpPr>
        <p:spPr>
          <a:xfrm>
            <a:off x="310435" y="2866385"/>
            <a:ext cx="2597263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相角穿越频率</a:t>
            </a:r>
          </a:p>
        </p:txBody>
      </p:sp>
      <p:sp>
        <p:nvSpPr>
          <p:cNvPr id="71" name="重要2">
            <a:extLst>
              <a:ext uri="{FF2B5EF4-FFF2-40B4-BE49-F238E27FC236}">
                <a16:creationId xmlns:a16="http://schemas.microsoft.com/office/drawing/2014/main" id="{82E9E586-9227-8D81-C96B-3E40E245BE44}"/>
              </a:ext>
            </a:extLst>
          </p:cNvPr>
          <p:cNvSpPr txBox="1"/>
          <p:nvPr/>
        </p:nvSpPr>
        <p:spPr>
          <a:xfrm>
            <a:off x="306193" y="4276514"/>
            <a:ext cx="2578279" cy="1092518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幅值穿越频率</a:t>
            </a:r>
            <a:endParaRPr kumimoji="1" lang="en-US" altLang="zh-CN" sz="2800" dirty="0">
              <a:solidFill>
                <a:schemeClr val="bg1"/>
              </a:solidFill>
            </a:endParaRPr>
          </a:p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截止频率</a:t>
            </a:r>
          </a:p>
        </p:txBody>
      </p:sp>
      <p:pic>
        <p:nvPicPr>
          <p:cNvPr id="72" name="箭头wc">
            <a:extLst>
              <a:ext uri="{FF2B5EF4-FFF2-40B4-BE49-F238E27FC236}">
                <a16:creationId xmlns:a16="http://schemas.microsoft.com/office/drawing/2014/main" id="{EA637AC8-C121-35D5-F881-4CDB867EEF9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4283379" flipH="1">
            <a:off x="8374480" y="4133512"/>
            <a:ext cx="726139" cy="86505"/>
          </a:xfrm>
          <a:prstGeom prst="rect">
            <a:avLst/>
          </a:prstGeom>
        </p:spPr>
      </p:pic>
      <p:pic>
        <p:nvPicPr>
          <p:cNvPr id="73" name="箭头wg">
            <a:extLst>
              <a:ext uri="{FF2B5EF4-FFF2-40B4-BE49-F238E27FC236}">
                <a16:creationId xmlns:a16="http://schemas.microsoft.com/office/drawing/2014/main" id="{25AFD4D6-B11A-45E7-B23E-44A004F8D19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358603" flipH="1">
            <a:off x="7835856" y="4599822"/>
            <a:ext cx="726139" cy="86505"/>
          </a:xfrm>
          <a:prstGeom prst="rect">
            <a:avLst/>
          </a:prstGeom>
        </p:spPr>
      </p:pic>
      <p:grpSp>
        <p:nvGrpSpPr>
          <p:cNvPr id="2" name="问题">
            <a:extLst>
              <a:ext uri="{FF2B5EF4-FFF2-40B4-BE49-F238E27FC236}">
                <a16:creationId xmlns:a16="http://schemas.microsoft.com/office/drawing/2014/main" id="{DD767AC4-E1F9-874A-D92C-98DD41E37873}"/>
              </a:ext>
            </a:extLst>
          </p:cNvPr>
          <p:cNvGrpSpPr/>
          <p:nvPr/>
        </p:nvGrpSpPr>
        <p:grpSpPr>
          <a:xfrm>
            <a:off x="3632955" y="4368866"/>
            <a:ext cx="3196441" cy="954107"/>
            <a:chOff x="5348307" y="5518325"/>
            <a:chExt cx="3196441" cy="954107"/>
          </a:xfrm>
        </p:grpSpPr>
        <p:sp>
          <p:nvSpPr>
            <p:cNvPr id="3" name="问号">
              <a:extLst>
                <a:ext uri="{FF2B5EF4-FFF2-40B4-BE49-F238E27FC236}">
                  <a16:creationId xmlns:a16="http://schemas.microsoft.com/office/drawing/2014/main" id="{B59CCD23-10F6-7B0F-326A-5407EBEF8F3A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文本">
                  <a:extLst>
                    <a:ext uri="{FF2B5EF4-FFF2-40B4-BE49-F238E27FC236}">
                      <a16:creationId xmlns:a16="http://schemas.microsoft.com/office/drawing/2014/main" id="{467B2538-CED5-28D6-F63B-6026715001D8}"/>
                    </a:ext>
                  </a:extLst>
                </p:cNvPr>
                <p:cNvSpPr txBox="1"/>
                <p:nvPr/>
              </p:nvSpPr>
              <p:spPr>
                <a:xfrm>
                  <a:off x="6320676" y="5518325"/>
                  <a:ext cx="2224072" cy="9541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a14:m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在</a:t>
                  </a:r>
                  <a:r>
                    <a:rPr kumimoji="1" lang="en-US" altLang="zh-CN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Bode</a:t>
                  </a:r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图</a:t>
                  </a:r>
                  <a:endParaRPr kumimoji="1"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  <a:p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什么位置？</a:t>
                  </a:r>
                  <a:endParaRPr kumimoji="1"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4" name="文本">
                  <a:extLst>
                    <a:ext uri="{FF2B5EF4-FFF2-40B4-BE49-F238E27FC236}">
                      <a16:creationId xmlns:a16="http://schemas.microsoft.com/office/drawing/2014/main" id="{467B2538-CED5-28D6-F63B-6026715001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0676" y="5518325"/>
                  <a:ext cx="2224072" cy="954107"/>
                </a:xfrm>
                <a:prstGeom prst="rect">
                  <a:avLst/>
                </a:prstGeom>
                <a:blipFill>
                  <a:blip r:embed="rId14"/>
                  <a:stretch>
                    <a:fillRect l="-5682" t="-7895" r="-3409" b="-171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19016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 tmFilter="0, 0; .2, .5; .8, .5; 1, 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250" autoRev="1" fill="hold"/>
                                        <p:tgtEl>
                                          <p:spTgt spid="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3" grpId="0"/>
      <p:bldP spid="35" grpId="0" animBg="1"/>
      <p:bldP spid="44" grpId="0"/>
      <p:bldP spid="46" grpId="0"/>
      <p:bldP spid="30" grpId="0" animBg="1"/>
      <p:bldP spid="32" grpId="0" animBg="1"/>
      <p:bldP spid="66" grpId="0" animBg="1"/>
      <p:bldP spid="47" grpId="0" animBg="1"/>
      <p:bldP spid="47" grpId="1" animBg="1"/>
      <p:bldP spid="59" grpId="0" animBg="1"/>
      <p:bldP spid="59" grpId="1" animBg="1"/>
      <p:bldP spid="63" grpId="0"/>
      <p:bldP spid="68" grpId="0"/>
      <p:bldP spid="69" grpId="0"/>
      <p:bldP spid="70" grpId="0" animBg="1"/>
      <p:bldP spid="7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概略绘制极坐标图步骤</a:t>
            </a:r>
          </a:p>
        </p:txBody>
      </p:sp>
      <p:grpSp>
        <p:nvGrpSpPr>
          <p:cNvPr id="76" name="步骤1">
            <a:extLst>
              <a:ext uri="{FF2B5EF4-FFF2-40B4-BE49-F238E27FC236}">
                <a16:creationId xmlns:a16="http://schemas.microsoft.com/office/drawing/2014/main" id="{98F4674A-51B6-B55E-285D-5812200E4606}"/>
              </a:ext>
            </a:extLst>
          </p:cNvPr>
          <p:cNvGrpSpPr/>
          <p:nvPr/>
        </p:nvGrpSpPr>
        <p:grpSpPr>
          <a:xfrm>
            <a:off x="193530" y="945843"/>
            <a:ext cx="3093364" cy="725177"/>
            <a:chOff x="4943078" y="1700704"/>
            <a:chExt cx="3093364" cy="725177"/>
          </a:xfrm>
        </p:grpSpPr>
        <p:sp>
          <p:nvSpPr>
            <p:cNvPr id="77" name="标题">
              <a:extLst>
                <a:ext uri="{FF2B5EF4-FFF2-40B4-BE49-F238E27FC236}">
                  <a16:creationId xmlns:a16="http://schemas.microsoft.com/office/drawing/2014/main" id="{43DA60B5-6978-89A1-FDF3-71B36825FB03}"/>
                </a:ext>
              </a:extLst>
            </p:cNvPr>
            <p:cNvSpPr/>
            <p:nvPr/>
          </p:nvSpPr>
          <p:spPr bwMode="auto">
            <a:xfrm>
              <a:off x="5375126" y="1769619"/>
              <a:ext cx="2661316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求频率特性</a:t>
              </a:r>
            </a:p>
          </p:txBody>
        </p:sp>
        <p:sp>
          <p:nvSpPr>
            <p:cNvPr id="78" name="序号">
              <a:extLst>
                <a:ext uri="{FF2B5EF4-FFF2-40B4-BE49-F238E27FC236}">
                  <a16:creationId xmlns:a16="http://schemas.microsoft.com/office/drawing/2014/main" id="{1C215964-A7F2-16B2-FE56-91D7F08D78A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频率特性">
                <a:extLst>
                  <a:ext uri="{FF2B5EF4-FFF2-40B4-BE49-F238E27FC236}">
                    <a16:creationId xmlns:a16="http://schemas.microsoft.com/office/drawing/2014/main" id="{266E9B64-6064-E939-4A94-7A3ADF8437F2}"/>
                  </a:ext>
                </a:extLst>
              </p:cNvPr>
              <p:cNvSpPr txBox="1"/>
              <p:nvPr/>
            </p:nvSpPr>
            <p:spPr>
              <a:xfrm>
                <a:off x="4720636" y="1611750"/>
                <a:ext cx="503958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𝐺</m:t>
                          </m:r>
                          <m:d>
                            <m:dPr>
                              <m:ctrlPr>
                                <a:rPr kumimoji="1" lang="en-US" altLang="zh-CN" sz="280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𝑗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𝐾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,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𝑣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=0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,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∞,(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≠0)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7" name="频率特性">
                <a:extLst>
                  <a:ext uri="{FF2B5EF4-FFF2-40B4-BE49-F238E27FC236}">
                    <a16:creationId xmlns:a16="http://schemas.microsoft.com/office/drawing/2014/main" id="{266E9B64-6064-E939-4A94-7A3ADF843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0636" y="1611750"/>
                <a:ext cx="5039587" cy="523220"/>
              </a:xfrm>
              <a:prstGeom prst="rect">
                <a:avLst/>
              </a:prstGeom>
              <a:blipFill>
                <a:blip r:embed="rId3"/>
                <a:stretch>
                  <a:fillRect r="-1256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幅相1-1">
            <a:extLst>
              <a:ext uri="{FF2B5EF4-FFF2-40B4-BE49-F238E27FC236}">
                <a16:creationId xmlns:a16="http://schemas.microsoft.com/office/drawing/2014/main" id="{6D9CB9E4-827A-67BE-4B81-4879FE516102}"/>
              </a:ext>
            </a:extLst>
          </p:cNvPr>
          <p:cNvSpPr/>
          <p:nvPr/>
        </p:nvSpPr>
        <p:spPr>
          <a:xfrm flipV="1">
            <a:off x="9707705" y="4122022"/>
            <a:ext cx="1100114" cy="145713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0894" h="1802302">
                <a:moveTo>
                  <a:pt x="0" y="0"/>
                </a:moveTo>
                <a:cubicBezTo>
                  <a:pt x="67557" y="898230"/>
                  <a:pt x="469091" y="2517352"/>
                  <a:pt x="810894" y="1451463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label3">
                <a:extLst>
                  <a:ext uri="{FF2B5EF4-FFF2-40B4-BE49-F238E27FC236}">
                    <a16:creationId xmlns:a16="http://schemas.microsoft.com/office/drawing/2014/main" id="{64987B26-286C-35B6-5336-A898FC267E4A}"/>
                  </a:ext>
                </a:extLst>
              </p:cNvPr>
              <p:cNvSpPr txBox="1"/>
              <p:nvPr/>
            </p:nvSpPr>
            <p:spPr>
              <a:xfrm>
                <a:off x="8866566" y="3493955"/>
                <a:ext cx="545352" cy="55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4" name="label3">
                <a:extLst>
                  <a:ext uri="{FF2B5EF4-FFF2-40B4-BE49-F238E27FC236}">
                    <a16:creationId xmlns:a16="http://schemas.microsoft.com/office/drawing/2014/main" id="{64987B26-286C-35B6-5336-A898FC267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6566" y="3493955"/>
                <a:ext cx="545352" cy="558230"/>
              </a:xfrm>
              <a:prstGeom prst="rect">
                <a:avLst/>
              </a:prstGeom>
              <a:blipFill>
                <a:blip r:embed="rId4"/>
                <a:stretch>
                  <a:fillRect r="-4444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坐标轴">
            <a:extLst>
              <a:ext uri="{FF2B5EF4-FFF2-40B4-BE49-F238E27FC236}">
                <a16:creationId xmlns:a16="http://schemas.microsoft.com/office/drawing/2014/main" id="{78BF8EAD-BC16-C0E2-8C49-DBDB1A570865}"/>
              </a:ext>
            </a:extLst>
          </p:cNvPr>
          <p:cNvGrpSpPr/>
          <p:nvPr/>
        </p:nvGrpSpPr>
        <p:grpSpPr>
          <a:xfrm>
            <a:off x="9011322" y="2375302"/>
            <a:ext cx="2988540" cy="3790002"/>
            <a:chOff x="7535366" y="2807350"/>
            <a:chExt cx="2988540" cy="3790002"/>
          </a:xfrm>
        </p:grpSpPr>
        <p:cxnSp>
          <p:nvCxnSpPr>
            <p:cNvPr id="28" name="实轴">
              <a:extLst>
                <a:ext uri="{FF2B5EF4-FFF2-40B4-BE49-F238E27FC236}">
                  <a16:creationId xmlns:a16="http://schemas.microsoft.com/office/drawing/2014/main" id="{0B3FFAE2-5E10-D833-BE14-F71AEA2F80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5366" y="4877435"/>
              <a:ext cx="276362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虚轴">
              <a:extLst>
                <a:ext uri="{FF2B5EF4-FFF2-40B4-BE49-F238E27FC236}">
                  <a16:creationId xmlns:a16="http://schemas.microsoft.com/office/drawing/2014/main" id="{2D56FA3E-C5BF-E59D-04A5-04623EA2F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49110" y="3068960"/>
              <a:ext cx="0" cy="3528392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/>
                <p:nvPr/>
              </p:nvSpPr>
              <p:spPr>
                <a:xfrm>
                  <a:off x="9947370" y="4331962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Re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370" y="4331962"/>
                  <a:ext cx="576536" cy="523220"/>
                </a:xfrm>
                <a:prstGeom prst="rect">
                  <a:avLst/>
                </a:prstGeom>
                <a:blipFill>
                  <a:blip r:embed="rId5"/>
                  <a:stretch>
                    <a:fillRect l="-4348" r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/>
                <p:nvPr/>
              </p:nvSpPr>
              <p:spPr>
                <a:xfrm>
                  <a:off x="8734605" y="280735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Im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4605" y="2807350"/>
                  <a:ext cx="576536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6522"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/>
                <p:nvPr/>
              </p:nvSpPr>
              <p:spPr>
                <a:xfrm>
                  <a:off x="9297698" y="4852335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97698" y="4852335"/>
                  <a:ext cx="545352" cy="52469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9" name="wg">
            <a:extLst>
              <a:ext uri="{FF2B5EF4-FFF2-40B4-BE49-F238E27FC236}">
                <a16:creationId xmlns:a16="http://schemas.microsoft.com/office/drawing/2014/main" id="{83D9EB89-C8AD-58AD-40C3-4FE43B41DD7A}"/>
              </a:ext>
            </a:extLst>
          </p:cNvPr>
          <p:cNvSpPr/>
          <p:nvPr/>
        </p:nvSpPr>
        <p:spPr>
          <a:xfrm>
            <a:off x="10028249" y="4373043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重要1">
            <a:extLst>
              <a:ext uri="{FF2B5EF4-FFF2-40B4-BE49-F238E27FC236}">
                <a16:creationId xmlns:a16="http://schemas.microsoft.com/office/drawing/2014/main" id="{5A786566-C153-E975-062F-3FCD5207A2E4}"/>
              </a:ext>
            </a:extLst>
          </p:cNvPr>
          <p:cNvSpPr txBox="1"/>
          <p:nvPr/>
        </p:nvSpPr>
        <p:spPr>
          <a:xfrm>
            <a:off x="3502918" y="1778794"/>
            <a:ext cx="1217718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起点</a:t>
            </a:r>
          </a:p>
        </p:txBody>
      </p:sp>
      <p:pic>
        <p:nvPicPr>
          <p:cNvPr id="73" name="箭头wg">
            <a:extLst>
              <a:ext uri="{FF2B5EF4-FFF2-40B4-BE49-F238E27FC236}">
                <a16:creationId xmlns:a16="http://schemas.microsoft.com/office/drawing/2014/main" id="{25AFD4D6-B11A-45E7-B23E-44A004F8D1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358603" flipH="1">
            <a:off x="9311812" y="4167774"/>
            <a:ext cx="726139" cy="86505"/>
          </a:xfrm>
          <a:prstGeom prst="rect">
            <a:avLst/>
          </a:prstGeom>
        </p:spPr>
      </p:pic>
      <p:grpSp>
        <p:nvGrpSpPr>
          <p:cNvPr id="34" name="步骤2">
            <a:extLst>
              <a:ext uri="{FF2B5EF4-FFF2-40B4-BE49-F238E27FC236}">
                <a16:creationId xmlns:a16="http://schemas.microsoft.com/office/drawing/2014/main" id="{8C62DF29-A2DC-FECF-0741-27EDC933D825}"/>
              </a:ext>
            </a:extLst>
          </p:cNvPr>
          <p:cNvGrpSpPr/>
          <p:nvPr/>
        </p:nvGrpSpPr>
        <p:grpSpPr>
          <a:xfrm>
            <a:off x="175922" y="1731607"/>
            <a:ext cx="3110971" cy="725177"/>
            <a:chOff x="4943078" y="1700704"/>
            <a:chExt cx="3110971" cy="725177"/>
          </a:xfrm>
        </p:grpSpPr>
        <p:sp>
          <p:nvSpPr>
            <p:cNvPr id="36" name="标题">
              <a:extLst>
                <a:ext uri="{FF2B5EF4-FFF2-40B4-BE49-F238E27FC236}">
                  <a16:creationId xmlns:a16="http://schemas.microsoft.com/office/drawing/2014/main" id="{96C7FCCE-6BF1-7210-53D1-FA6B40322139}"/>
                </a:ext>
              </a:extLst>
            </p:cNvPr>
            <p:cNvSpPr/>
            <p:nvPr/>
          </p:nvSpPr>
          <p:spPr bwMode="auto">
            <a:xfrm>
              <a:off x="5375126" y="1769619"/>
              <a:ext cx="26789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求特征点</a:t>
              </a:r>
            </a:p>
          </p:txBody>
        </p:sp>
        <p:sp>
          <p:nvSpPr>
            <p:cNvPr id="37" name="序号">
              <a:extLst>
                <a:ext uri="{FF2B5EF4-FFF2-40B4-BE49-F238E27FC236}">
                  <a16:creationId xmlns:a16="http://schemas.microsoft.com/office/drawing/2014/main" id="{4CCDECC9-622E-24E7-9593-B122F0240E8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40" name="步骤3">
            <a:extLst>
              <a:ext uri="{FF2B5EF4-FFF2-40B4-BE49-F238E27FC236}">
                <a16:creationId xmlns:a16="http://schemas.microsoft.com/office/drawing/2014/main" id="{76681851-098D-78DD-468F-BA904D079BFA}"/>
              </a:ext>
            </a:extLst>
          </p:cNvPr>
          <p:cNvGrpSpPr/>
          <p:nvPr/>
        </p:nvGrpSpPr>
        <p:grpSpPr>
          <a:xfrm>
            <a:off x="147232" y="5255786"/>
            <a:ext cx="3110971" cy="725177"/>
            <a:chOff x="4943078" y="1700704"/>
            <a:chExt cx="3110971" cy="725177"/>
          </a:xfrm>
        </p:grpSpPr>
        <p:sp>
          <p:nvSpPr>
            <p:cNvPr id="41" name="标题">
              <a:extLst>
                <a:ext uri="{FF2B5EF4-FFF2-40B4-BE49-F238E27FC236}">
                  <a16:creationId xmlns:a16="http://schemas.microsoft.com/office/drawing/2014/main" id="{E2FB05CF-AAE9-D648-C1A3-5DDC805BC49E}"/>
                </a:ext>
              </a:extLst>
            </p:cNvPr>
            <p:cNvSpPr/>
            <p:nvPr/>
          </p:nvSpPr>
          <p:spPr bwMode="auto">
            <a:xfrm>
              <a:off x="5375126" y="1769619"/>
              <a:ext cx="26789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概略绘图</a:t>
              </a:r>
            </a:p>
          </p:txBody>
        </p:sp>
        <p:sp>
          <p:nvSpPr>
            <p:cNvPr id="42" name="序号">
              <a:extLst>
                <a:ext uri="{FF2B5EF4-FFF2-40B4-BE49-F238E27FC236}">
                  <a16:creationId xmlns:a16="http://schemas.microsoft.com/office/drawing/2014/main" id="{A3FC1872-1ECA-0629-EA49-4FB53B7336F1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71D4F4D9-4A11-9967-C1B8-21ED44DE51C0}"/>
                  </a:ext>
                </a:extLst>
              </p:cNvPr>
              <p:cNvSpPr txBox="1"/>
              <p:nvPr/>
            </p:nvSpPr>
            <p:spPr>
              <a:xfrm>
                <a:off x="4617121" y="2015610"/>
                <a:ext cx="32775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𝑣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(−90°)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71D4F4D9-4A11-9967-C1B8-21ED44DE5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121" y="2015610"/>
                <a:ext cx="3277517" cy="523220"/>
              </a:xfrm>
              <a:prstGeom prst="rect">
                <a:avLst/>
              </a:prstGeom>
              <a:blipFill>
                <a:blip r:embed="rId9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重要1">
            <a:extLst>
              <a:ext uri="{FF2B5EF4-FFF2-40B4-BE49-F238E27FC236}">
                <a16:creationId xmlns:a16="http://schemas.microsoft.com/office/drawing/2014/main" id="{2957ED14-51D5-916A-1B2B-9CA86687EA32}"/>
              </a:ext>
            </a:extLst>
          </p:cNvPr>
          <p:cNvSpPr txBox="1"/>
          <p:nvPr/>
        </p:nvSpPr>
        <p:spPr>
          <a:xfrm>
            <a:off x="292240" y="2580719"/>
            <a:ext cx="1217718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终点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频率特性">
                <a:extLst>
                  <a:ext uri="{FF2B5EF4-FFF2-40B4-BE49-F238E27FC236}">
                    <a16:creationId xmlns:a16="http://schemas.microsoft.com/office/drawing/2014/main" id="{393578E9-D8C0-F2B0-F0E1-9216CEFB3226}"/>
                  </a:ext>
                </a:extLst>
              </p:cNvPr>
              <p:cNvSpPr txBox="1"/>
              <p:nvPr/>
            </p:nvSpPr>
            <p:spPr>
              <a:xfrm>
                <a:off x="1702718" y="2618670"/>
                <a:ext cx="430986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∞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=0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−90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" name="频率特性">
                <a:extLst>
                  <a:ext uri="{FF2B5EF4-FFF2-40B4-BE49-F238E27FC236}">
                    <a16:creationId xmlns:a16="http://schemas.microsoft.com/office/drawing/2014/main" id="{393578E9-D8C0-F2B0-F0E1-9216CEFB3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2718" y="2618670"/>
                <a:ext cx="4309865" cy="523220"/>
              </a:xfrm>
              <a:prstGeom prst="rect">
                <a:avLst/>
              </a:prstGeom>
              <a:blipFill>
                <a:blip r:embed="rId10"/>
                <a:stretch>
                  <a:fillRect r="-88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重要1">
            <a:extLst>
              <a:ext uri="{FF2B5EF4-FFF2-40B4-BE49-F238E27FC236}">
                <a16:creationId xmlns:a16="http://schemas.microsoft.com/office/drawing/2014/main" id="{3C4685DF-59CA-EC90-CFB8-3864A7204425}"/>
              </a:ext>
            </a:extLst>
          </p:cNvPr>
          <p:cNvSpPr txBox="1"/>
          <p:nvPr/>
        </p:nvSpPr>
        <p:spPr>
          <a:xfrm>
            <a:off x="292974" y="3290857"/>
            <a:ext cx="2184958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负实轴交点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频率特性">
                <a:extLst>
                  <a:ext uri="{FF2B5EF4-FFF2-40B4-BE49-F238E27FC236}">
                    <a16:creationId xmlns:a16="http://schemas.microsoft.com/office/drawing/2014/main" id="{9B1966A1-ED36-5A32-A606-C7293F575A1F}"/>
                  </a:ext>
                </a:extLst>
              </p:cNvPr>
              <p:cNvSpPr txBox="1"/>
              <p:nvPr/>
            </p:nvSpPr>
            <p:spPr>
              <a:xfrm>
                <a:off x="2507962" y="3328410"/>
                <a:ext cx="5975699" cy="589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800" b="0" i="0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Im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𝐺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(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)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=0→</m:t>
                      </m:r>
                      <m:sSub>
                        <m:sSub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kumimoji="1"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𝐺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(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1" name="频率特性">
                <a:extLst>
                  <a:ext uri="{FF2B5EF4-FFF2-40B4-BE49-F238E27FC236}">
                    <a16:creationId xmlns:a16="http://schemas.microsoft.com/office/drawing/2014/main" id="{9B1966A1-ED36-5A32-A606-C7293F575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962" y="3328410"/>
                <a:ext cx="5975699" cy="589072"/>
              </a:xfrm>
              <a:prstGeom prst="rect">
                <a:avLst/>
              </a:prstGeom>
              <a:blipFill>
                <a:blip r:embed="rId11"/>
                <a:stretch>
                  <a:fillRect b="-106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低频段">
                <a:extLst>
                  <a:ext uri="{FF2B5EF4-FFF2-40B4-BE49-F238E27FC236}">
                    <a16:creationId xmlns:a16="http://schemas.microsoft.com/office/drawing/2014/main" id="{3788ED03-A315-5405-7B23-B89A68B206CA}"/>
                  </a:ext>
                </a:extLst>
              </p:cNvPr>
              <p:cNvSpPr txBox="1"/>
              <p:nvPr/>
            </p:nvSpPr>
            <p:spPr>
              <a:xfrm>
                <a:off x="2525209" y="3888501"/>
                <a:ext cx="5975699" cy="589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=−180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→</m:t>
                      </m:r>
                      <m:sSub>
                        <m:sSub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𝐺</m:t>
                          </m:r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2" name="低频段">
                <a:extLst>
                  <a:ext uri="{FF2B5EF4-FFF2-40B4-BE49-F238E27FC236}">
                    <a16:creationId xmlns:a16="http://schemas.microsoft.com/office/drawing/2014/main" id="{3788ED03-A315-5405-7B23-B89A68B20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209" y="3888501"/>
                <a:ext cx="5975699" cy="589072"/>
              </a:xfrm>
              <a:prstGeom prst="rect">
                <a:avLst/>
              </a:prstGeom>
              <a:blipFill>
                <a:blip r:embed="rId12"/>
                <a:stretch>
                  <a:fillRect b="-106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39B7593D-532E-F4FE-F675-88B1FD2B4CCE}"/>
                  </a:ext>
                </a:extLst>
              </p:cNvPr>
              <p:cNvSpPr txBox="1"/>
              <p:nvPr/>
            </p:nvSpPr>
            <p:spPr>
              <a:xfrm>
                <a:off x="3358903" y="1079722"/>
                <a:ext cx="33843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tx1"/>
                    </a:solidFill>
                  </a:rPr>
                  <a:t>开环频率特性 </a:t>
                </a:r>
                <a14:m>
                  <m:oMath xmlns:m="http://schemas.openxmlformats.org/officeDocument/2006/math">
                    <m:r>
                      <a:rPr kumimoji="1" lang="en" altLang="zh-CN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kumimoji="1" lang="en" altLang="zh-CN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" altLang="zh-CN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l-GR" altLang="zh-CN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kumimoji="1" lang="el-GR" altLang="zh-CN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l-GR" altLang="zh-CN" sz="2800" dirty="0">
                    <a:solidFill>
                      <a:schemeClr val="tx1"/>
                    </a:solidFill>
                  </a:rPr>
                  <a:t> </a:t>
                </a:r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39B7593D-532E-F4FE-F675-88B1FD2B4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903" y="1079722"/>
                <a:ext cx="3384376" cy="523220"/>
              </a:xfrm>
              <a:prstGeom prst="rect">
                <a:avLst/>
              </a:prstGeom>
              <a:blipFill>
                <a:blip r:embed="rId13"/>
                <a:stretch>
                  <a:fillRect l="-3745" t="-13953" r="-749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B915FC79-039F-4087-2278-DBC5E502ED70}"/>
                  </a:ext>
                </a:extLst>
              </p:cNvPr>
              <p:cNvSpPr txBox="1"/>
              <p:nvPr/>
            </p:nvSpPr>
            <p:spPr>
              <a:xfrm>
                <a:off x="7198360" y="858010"/>
                <a:ext cx="208771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000" dirty="0">
                    <a:solidFill>
                      <a:schemeClr val="tx1"/>
                    </a:solidFill>
                  </a:rPr>
                  <a:t>幅频特性 </a:t>
                </a:r>
                <a14:m>
                  <m:oMath xmlns:m="http://schemas.openxmlformats.org/officeDocument/2006/math">
                    <m:r>
                      <a:rPr kumimoji="1" lang="en-US" altLang="zh-CN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kumimoji="1" lang="en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kumimoji="1" lang="en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l-GR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kumimoji="1" lang="el-GR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)|</m:t>
                    </m:r>
                  </m:oMath>
                </a14:m>
                <a:r>
                  <a:rPr kumimoji="1" lang="el-GR" altLang="zh-CN" sz="2000" dirty="0">
                    <a:solidFill>
                      <a:schemeClr val="tx1"/>
                    </a:solidFill>
                  </a:rPr>
                  <a:t> 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B915FC79-039F-4087-2278-DBC5E502E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8360" y="858010"/>
                <a:ext cx="2087713" cy="400110"/>
              </a:xfrm>
              <a:prstGeom prst="rect">
                <a:avLst/>
              </a:prstGeom>
              <a:blipFill>
                <a:blip r:embed="rId14"/>
                <a:stretch>
                  <a:fillRect l="-3012" t="-9375" r="-602" b="-28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D05C6E63-1C03-DC28-1343-4A01B9D5998B}"/>
                  </a:ext>
                </a:extLst>
              </p:cNvPr>
              <p:cNvSpPr txBox="1"/>
              <p:nvPr/>
            </p:nvSpPr>
            <p:spPr>
              <a:xfrm>
                <a:off x="9704721" y="850816"/>
                <a:ext cx="208771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000" dirty="0">
                    <a:solidFill>
                      <a:schemeClr val="tx1"/>
                    </a:solidFill>
                  </a:rPr>
                  <a:t>相频特性 </a:t>
                </a:r>
                <a14:m>
                  <m:oMath xmlns:m="http://schemas.openxmlformats.org/officeDocument/2006/math">
                    <m:r>
                      <a:rPr kumimoji="1" lang="zh-CN" alt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kumimoji="1" lang="en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kumimoji="1" lang="en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l-GR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kumimoji="1" lang="el-GR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D05C6E63-1C03-DC28-1343-4A01B9D59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4721" y="850816"/>
                <a:ext cx="2087713" cy="400110"/>
              </a:xfrm>
              <a:prstGeom prst="rect">
                <a:avLst/>
              </a:prstGeom>
              <a:blipFill>
                <a:blip r:embed="rId15"/>
                <a:stretch>
                  <a:fillRect l="-3636" t="-9375" r="-1212" b="-28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BE238687-FAE5-F415-0AA3-76BF0D74F10D}"/>
                  </a:ext>
                </a:extLst>
              </p:cNvPr>
              <p:cNvSpPr txBox="1"/>
              <p:nvPr/>
            </p:nvSpPr>
            <p:spPr>
              <a:xfrm>
                <a:off x="7200232" y="1274280"/>
                <a:ext cx="250448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000" dirty="0">
                    <a:solidFill>
                      <a:schemeClr val="tx1"/>
                    </a:solidFill>
                  </a:rPr>
                  <a:t>实频特性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" altLang="zh-CN" sz="20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</m:t>
                    </m:r>
                    <m:r>
                      <a:rPr kumimoji="1" lang="en" altLang="zh-CN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kumimoji="1" lang="en" altLang="zh-CN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kumimoji="1" lang="en" altLang="zh-CN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" altLang="zh-CN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l-GR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kumimoji="1" lang="el-GR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)] </m:t>
                    </m:r>
                  </m:oMath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BE238687-FAE5-F415-0AA3-76BF0D74F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232" y="1274280"/>
                <a:ext cx="2504489" cy="400110"/>
              </a:xfrm>
              <a:prstGeom prst="rect">
                <a:avLst/>
              </a:prstGeom>
              <a:blipFill>
                <a:blip r:embed="rId16"/>
                <a:stretch>
                  <a:fillRect l="-2010" t="-9375" b="-28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13822B6-890F-FE94-F22E-42609F50F071}"/>
                  </a:ext>
                </a:extLst>
              </p:cNvPr>
              <p:cNvSpPr txBox="1"/>
              <p:nvPr/>
            </p:nvSpPr>
            <p:spPr>
              <a:xfrm>
                <a:off x="9684908" y="1262603"/>
                <a:ext cx="253305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000" dirty="0">
                    <a:solidFill>
                      <a:schemeClr val="tx1"/>
                    </a:solidFill>
                  </a:rPr>
                  <a:t>虚频特性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" altLang="zh-CN" sz="20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Im</m:t>
                    </m:r>
                    <m:r>
                      <a:rPr kumimoji="1" lang="en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kumimoji="1" lang="en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kumimoji="1" lang="en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l-GR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kumimoji="1" lang="el-GR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13822B6-890F-FE94-F22E-42609F50F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908" y="1262603"/>
                <a:ext cx="2533053" cy="400110"/>
              </a:xfrm>
              <a:prstGeom prst="rect">
                <a:avLst/>
              </a:prstGeom>
              <a:blipFill>
                <a:blip r:embed="rId17"/>
                <a:stretch>
                  <a:fillRect l="-2500" t="-9091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燕尾形 60">
            <a:extLst>
              <a:ext uri="{FF2B5EF4-FFF2-40B4-BE49-F238E27FC236}">
                <a16:creationId xmlns:a16="http://schemas.microsoft.com/office/drawing/2014/main" id="{89817132-95C4-E977-40CB-A0310529B74D}"/>
              </a:ext>
            </a:extLst>
          </p:cNvPr>
          <p:cNvSpPr/>
          <p:nvPr/>
        </p:nvSpPr>
        <p:spPr>
          <a:xfrm>
            <a:off x="6751157" y="1114947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96C8E21-024C-70EF-DE17-513E74A29037}"/>
              </a:ext>
            </a:extLst>
          </p:cNvPr>
          <p:cNvSpPr txBox="1"/>
          <p:nvPr/>
        </p:nvSpPr>
        <p:spPr>
          <a:xfrm>
            <a:off x="3930829" y="6085374"/>
            <a:ext cx="3252623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accent1"/>
                </a:solidFill>
              </a:rPr>
              <a:t>含零点时可能扭曲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026A351-E2DF-B152-E84B-4F35592CA134}"/>
              </a:ext>
            </a:extLst>
          </p:cNvPr>
          <p:cNvSpPr txBox="1"/>
          <p:nvPr/>
        </p:nvSpPr>
        <p:spPr>
          <a:xfrm>
            <a:off x="292240" y="6085374"/>
            <a:ext cx="3500570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accent1"/>
                </a:solidFill>
              </a:rPr>
              <a:t>不含零点时</a:t>
            </a:r>
            <a:r>
              <a:rPr kumimoji="1" lang="zh-CN" altLang="en-US" sz="2800" dirty="0">
                <a:solidFill>
                  <a:srgbClr val="159F84"/>
                </a:solidFill>
              </a:rPr>
              <a:t>单调收缩</a:t>
            </a:r>
          </a:p>
        </p:txBody>
      </p:sp>
      <p:sp>
        <p:nvSpPr>
          <p:cNvPr id="67" name="重要1">
            <a:extLst>
              <a:ext uri="{FF2B5EF4-FFF2-40B4-BE49-F238E27FC236}">
                <a16:creationId xmlns:a16="http://schemas.microsoft.com/office/drawing/2014/main" id="{E417B710-1AB4-55F8-43E5-3EDF076A2C11}"/>
              </a:ext>
            </a:extLst>
          </p:cNvPr>
          <p:cNvSpPr txBox="1"/>
          <p:nvPr/>
        </p:nvSpPr>
        <p:spPr>
          <a:xfrm>
            <a:off x="304360" y="4457758"/>
            <a:ext cx="2184958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实部渐近线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BFBA2105-EA5E-BC70-6126-EB22EDB99F87}"/>
                  </a:ext>
                </a:extLst>
              </p:cNvPr>
              <p:cNvSpPr txBox="1"/>
              <p:nvPr/>
            </p:nvSpPr>
            <p:spPr>
              <a:xfrm>
                <a:off x="2539039" y="4528203"/>
                <a:ext cx="4944697" cy="6536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" altLang="zh-CN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kumimoji="1" lang="en" altLang="zh-CN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kumimoji="1" lang="en" altLang="zh-CN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unc>
                        <m:funcPr>
                          <m:ctrlPr>
                            <a:rPr kumimoji="1" lang="en" altLang="zh-CN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" altLang="zh-CN" sz="28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" altLang="zh-CN" sz="28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el-GR" altLang="zh-CN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l-GR" altLang="zh-CN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kumimoji="1" lang="en" altLang="zh-CN" sz="28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Re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1" lang="en" altLang="zh-CN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" altLang="zh-CN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kumimoji="1" lang="en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kumimoji="1" lang="el-GR" altLang="zh-CN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kumimoji="1" lang="en-US" altLang="zh-CN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,(</m:t>
                      </m:r>
                      <m:r>
                        <a:rPr kumimoji="1" lang="en-US" altLang="zh-CN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kumimoji="1" lang="en-US" altLang="zh-CN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=1)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BFBA2105-EA5E-BC70-6126-EB22EDB99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039" y="4528203"/>
                <a:ext cx="4944697" cy="653640"/>
              </a:xfrm>
              <a:prstGeom prst="rect">
                <a:avLst/>
              </a:prstGeom>
              <a:blipFill>
                <a:blip r:embed="rId18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向上">
            <a:extLst>
              <a:ext uri="{FF2B5EF4-FFF2-40B4-BE49-F238E27FC236}">
                <a16:creationId xmlns:a16="http://schemas.microsoft.com/office/drawing/2014/main" id="{92F8C95D-2606-09FC-D746-7C764CF75A59}"/>
              </a:ext>
            </a:extLst>
          </p:cNvPr>
          <p:cNvCxnSpPr/>
          <p:nvPr/>
        </p:nvCxnSpPr>
        <p:spPr>
          <a:xfrm flipV="1">
            <a:off x="10631710" y="5435731"/>
            <a:ext cx="0" cy="729573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向下">
            <a:extLst>
              <a:ext uri="{FF2B5EF4-FFF2-40B4-BE49-F238E27FC236}">
                <a16:creationId xmlns:a16="http://schemas.microsoft.com/office/drawing/2014/main" id="{45EA4DB1-33DC-97A9-AB68-CA29728F45DC}"/>
              </a:ext>
            </a:extLst>
          </p:cNvPr>
          <p:cNvCxnSpPr>
            <a:cxnSpLocks/>
          </p:cNvCxnSpPr>
          <p:nvPr/>
        </p:nvCxnSpPr>
        <p:spPr>
          <a:xfrm>
            <a:off x="10631710" y="3114575"/>
            <a:ext cx="0" cy="758759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渐近线">
            <a:extLst>
              <a:ext uri="{FF2B5EF4-FFF2-40B4-BE49-F238E27FC236}">
                <a16:creationId xmlns:a16="http://schemas.microsoft.com/office/drawing/2014/main" id="{AB9F5CCB-1847-12C0-475E-9C5B31566F6D}"/>
              </a:ext>
            </a:extLst>
          </p:cNvPr>
          <p:cNvCxnSpPr>
            <a:cxnSpLocks/>
          </p:cNvCxnSpPr>
          <p:nvPr/>
        </p:nvCxnSpPr>
        <p:spPr>
          <a:xfrm flipV="1">
            <a:off x="9623598" y="2708275"/>
            <a:ext cx="0" cy="3600450"/>
          </a:xfrm>
          <a:prstGeom prst="line">
            <a:avLst/>
          </a:prstGeom>
          <a:ln w="38100">
            <a:solidFill>
              <a:schemeClr val="tx2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1846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6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5" grpId="0" animBg="1"/>
      <p:bldP spid="44" grpId="0"/>
      <p:bldP spid="59" grpId="0" animBg="1"/>
      <p:bldP spid="59" grpId="1" animBg="1"/>
      <p:bldP spid="70" grpId="0" animBg="1"/>
      <p:bldP spid="43" grpId="0"/>
      <p:bldP spid="48" grpId="0" animBg="1"/>
      <p:bldP spid="49" grpId="0"/>
      <p:bldP spid="50" grpId="0" animBg="1"/>
      <p:bldP spid="51" grpId="0"/>
      <p:bldP spid="52" grpId="0"/>
      <p:bldP spid="55" grpId="0"/>
      <p:bldP spid="56" grpId="0"/>
      <p:bldP spid="57" grpId="0"/>
      <p:bldP spid="58" grpId="0"/>
      <p:bldP spid="60" grpId="0"/>
      <p:bldP spid="61" grpId="0" animBg="1"/>
      <p:bldP spid="62" grpId="0" animBg="1"/>
      <p:bldP spid="65" grpId="0" animBg="1"/>
      <p:bldP spid="67" grpId="0" animBg="1"/>
      <p:bldP spid="7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绘制概略极坐标图例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6" name="步骤1">
            <a:extLst>
              <a:ext uri="{FF2B5EF4-FFF2-40B4-BE49-F238E27FC236}">
                <a16:creationId xmlns:a16="http://schemas.microsoft.com/office/drawing/2014/main" id="{98F4674A-51B6-B55E-285D-5812200E4606}"/>
              </a:ext>
            </a:extLst>
          </p:cNvPr>
          <p:cNvGrpSpPr/>
          <p:nvPr/>
        </p:nvGrpSpPr>
        <p:grpSpPr>
          <a:xfrm>
            <a:off x="193530" y="945843"/>
            <a:ext cx="3093364" cy="725177"/>
            <a:chOff x="4943078" y="1700704"/>
            <a:chExt cx="3093364" cy="725177"/>
          </a:xfrm>
        </p:grpSpPr>
        <p:sp>
          <p:nvSpPr>
            <p:cNvPr id="77" name="标题">
              <a:extLst>
                <a:ext uri="{FF2B5EF4-FFF2-40B4-BE49-F238E27FC236}">
                  <a16:creationId xmlns:a16="http://schemas.microsoft.com/office/drawing/2014/main" id="{43DA60B5-6978-89A1-FDF3-71B36825FB03}"/>
                </a:ext>
              </a:extLst>
            </p:cNvPr>
            <p:cNvSpPr/>
            <p:nvPr/>
          </p:nvSpPr>
          <p:spPr bwMode="auto">
            <a:xfrm>
              <a:off x="5375126" y="1769619"/>
              <a:ext cx="2661316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求频率特性</a:t>
              </a:r>
            </a:p>
          </p:txBody>
        </p:sp>
        <p:sp>
          <p:nvSpPr>
            <p:cNvPr id="78" name="序号">
              <a:extLst>
                <a:ext uri="{FF2B5EF4-FFF2-40B4-BE49-F238E27FC236}">
                  <a16:creationId xmlns:a16="http://schemas.microsoft.com/office/drawing/2014/main" id="{1C215964-A7F2-16B2-FE56-91D7F08D78A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5" name="幅相1-1">
            <a:extLst>
              <a:ext uri="{FF2B5EF4-FFF2-40B4-BE49-F238E27FC236}">
                <a16:creationId xmlns:a16="http://schemas.microsoft.com/office/drawing/2014/main" id="{6D9CB9E4-827A-67BE-4B81-4879FE516102}"/>
              </a:ext>
            </a:extLst>
          </p:cNvPr>
          <p:cNvSpPr/>
          <p:nvPr/>
        </p:nvSpPr>
        <p:spPr>
          <a:xfrm flipV="1">
            <a:off x="9041945" y="3896735"/>
            <a:ext cx="1869259" cy="123742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740685"/>
              <a:gd name="connsiteY0" fmla="*/ 0 h 1890882"/>
              <a:gd name="connsiteX1" fmla="*/ 740685 w 740685"/>
              <a:gd name="connsiteY1" fmla="*/ 1553568 h 1890882"/>
              <a:gd name="connsiteX0" fmla="*/ 0 w 740685"/>
              <a:gd name="connsiteY0" fmla="*/ 0 h 1553569"/>
              <a:gd name="connsiteX1" fmla="*/ 740685 w 740685"/>
              <a:gd name="connsiteY1" fmla="*/ 1553568 h 1553569"/>
              <a:gd name="connsiteX0" fmla="*/ 865137 w 867536"/>
              <a:gd name="connsiteY0" fmla="*/ 0 h 1035189"/>
              <a:gd name="connsiteX1" fmla="*/ 154841 w 867536"/>
              <a:gd name="connsiteY1" fmla="*/ 1035189 h 1035189"/>
              <a:gd name="connsiteX0" fmla="*/ 903669 w 903669"/>
              <a:gd name="connsiteY0" fmla="*/ 28617 h 1063806"/>
              <a:gd name="connsiteX1" fmla="*/ 193373 w 903669"/>
              <a:gd name="connsiteY1" fmla="*/ 1063806 h 1063806"/>
              <a:gd name="connsiteX0" fmla="*/ 1329353 w 1329353"/>
              <a:gd name="connsiteY0" fmla="*/ 311957 h 333951"/>
              <a:gd name="connsiteX1" fmla="*/ 146318 w 1329353"/>
              <a:gd name="connsiteY1" fmla="*/ 333951 h 333951"/>
              <a:gd name="connsiteX0" fmla="*/ 1335921 w 1335921"/>
              <a:gd name="connsiteY0" fmla="*/ 1616112 h 1638106"/>
              <a:gd name="connsiteX1" fmla="*/ 152886 w 1335921"/>
              <a:gd name="connsiteY1" fmla="*/ 1638106 h 1638106"/>
              <a:gd name="connsiteX0" fmla="*/ 1396511 w 1396511"/>
              <a:gd name="connsiteY0" fmla="*/ 1713702 h 1735696"/>
              <a:gd name="connsiteX1" fmla="*/ 213476 w 1396511"/>
              <a:gd name="connsiteY1" fmla="*/ 1735696 h 1735696"/>
              <a:gd name="connsiteX0" fmla="*/ 1377830 w 1377830"/>
              <a:gd name="connsiteY0" fmla="*/ 1508565 h 1530559"/>
              <a:gd name="connsiteX1" fmla="*/ 194795 w 1377830"/>
              <a:gd name="connsiteY1" fmla="*/ 1530559 h 1530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77830" h="1530559">
                <a:moveTo>
                  <a:pt x="1377830" y="1508565"/>
                </a:moveTo>
                <a:cubicBezTo>
                  <a:pt x="1183274" y="-1323965"/>
                  <a:pt x="-577621" y="515079"/>
                  <a:pt x="194795" y="1530559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10" name="坐标轴">
            <a:extLst>
              <a:ext uri="{FF2B5EF4-FFF2-40B4-BE49-F238E27FC236}">
                <a16:creationId xmlns:a16="http://schemas.microsoft.com/office/drawing/2014/main" id="{78BF8EAD-BC16-C0E2-8C49-DBDB1A570865}"/>
              </a:ext>
            </a:extLst>
          </p:cNvPr>
          <p:cNvGrpSpPr/>
          <p:nvPr/>
        </p:nvGrpSpPr>
        <p:grpSpPr>
          <a:xfrm>
            <a:off x="7175500" y="2395194"/>
            <a:ext cx="4821496" cy="3826760"/>
            <a:chOff x="5699544" y="2827242"/>
            <a:chExt cx="4821496" cy="3826760"/>
          </a:xfrm>
        </p:grpSpPr>
        <p:cxnSp>
          <p:nvCxnSpPr>
            <p:cNvPr id="28" name="实轴">
              <a:extLst>
                <a:ext uri="{FF2B5EF4-FFF2-40B4-BE49-F238E27FC236}">
                  <a16:creationId xmlns:a16="http://schemas.microsoft.com/office/drawing/2014/main" id="{0B3FFAE2-5E10-D833-BE14-F71AEA2F80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99544" y="4318469"/>
              <a:ext cx="459945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虚轴">
              <a:extLst>
                <a:ext uri="{FF2B5EF4-FFF2-40B4-BE49-F238E27FC236}">
                  <a16:creationId xmlns:a16="http://schemas.microsoft.com/office/drawing/2014/main" id="{2D56FA3E-C5BF-E59D-04A5-04623EA2F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7597" y="3125610"/>
              <a:ext cx="0" cy="3528392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/>
                <p:nvPr/>
              </p:nvSpPr>
              <p:spPr>
                <a:xfrm>
                  <a:off x="9944504" y="3795249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Re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4504" y="3795249"/>
                  <a:ext cx="576536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4348" r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/>
                <p:nvPr/>
              </p:nvSpPr>
              <p:spPr>
                <a:xfrm>
                  <a:off x="7847597" y="2827242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Im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7597" y="2827242"/>
                  <a:ext cx="576536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4255" r="-85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/>
                <p:nvPr/>
              </p:nvSpPr>
              <p:spPr>
                <a:xfrm>
                  <a:off x="7804016" y="4318469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4016" y="4318469"/>
                  <a:ext cx="545352" cy="5246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0" name="重要1">
            <a:extLst>
              <a:ext uri="{FF2B5EF4-FFF2-40B4-BE49-F238E27FC236}">
                <a16:creationId xmlns:a16="http://schemas.microsoft.com/office/drawing/2014/main" id="{5A786566-C153-E975-062F-3FCD5207A2E4}"/>
              </a:ext>
            </a:extLst>
          </p:cNvPr>
          <p:cNvSpPr txBox="1"/>
          <p:nvPr/>
        </p:nvSpPr>
        <p:spPr>
          <a:xfrm>
            <a:off x="3502918" y="1778794"/>
            <a:ext cx="1217718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起点</a:t>
            </a:r>
          </a:p>
        </p:txBody>
      </p:sp>
      <p:grpSp>
        <p:nvGrpSpPr>
          <p:cNvPr id="34" name="步骤2">
            <a:extLst>
              <a:ext uri="{FF2B5EF4-FFF2-40B4-BE49-F238E27FC236}">
                <a16:creationId xmlns:a16="http://schemas.microsoft.com/office/drawing/2014/main" id="{8C62DF29-A2DC-FECF-0741-27EDC933D825}"/>
              </a:ext>
            </a:extLst>
          </p:cNvPr>
          <p:cNvGrpSpPr/>
          <p:nvPr/>
        </p:nvGrpSpPr>
        <p:grpSpPr>
          <a:xfrm>
            <a:off x="175922" y="1731607"/>
            <a:ext cx="3110971" cy="725177"/>
            <a:chOff x="4943078" y="1700704"/>
            <a:chExt cx="3110971" cy="725177"/>
          </a:xfrm>
        </p:grpSpPr>
        <p:sp>
          <p:nvSpPr>
            <p:cNvPr id="36" name="标题">
              <a:extLst>
                <a:ext uri="{FF2B5EF4-FFF2-40B4-BE49-F238E27FC236}">
                  <a16:creationId xmlns:a16="http://schemas.microsoft.com/office/drawing/2014/main" id="{96C7FCCE-6BF1-7210-53D1-FA6B40322139}"/>
                </a:ext>
              </a:extLst>
            </p:cNvPr>
            <p:cNvSpPr/>
            <p:nvPr/>
          </p:nvSpPr>
          <p:spPr bwMode="auto">
            <a:xfrm>
              <a:off x="5375126" y="1769619"/>
              <a:ext cx="26789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求特征点</a:t>
              </a:r>
            </a:p>
          </p:txBody>
        </p:sp>
        <p:sp>
          <p:nvSpPr>
            <p:cNvPr id="37" name="序号">
              <a:extLst>
                <a:ext uri="{FF2B5EF4-FFF2-40B4-BE49-F238E27FC236}">
                  <a16:creationId xmlns:a16="http://schemas.microsoft.com/office/drawing/2014/main" id="{4CCDECC9-622E-24E7-9593-B122F0240E8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40" name="步骤3">
            <a:extLst>
              <a:ext uri="{FF2B5EF4-FFF2-40B4-BE49-F238E27FC236}">
                <a16:creationId xmlns:a16="http://schemas.microsoft.com/office/drawing/2014/main" id="{76681851-098D-78DD-468F-BA904D079BFA}"/>
              </a:ext>
            </a:extLst>
          </p:cNvPr>
          <p:cNvGrpSpPr/>
          <p:nvPr/>
        </p:nvGrpSpPr>
        <p:grpSpPr>
          <a:xfrm>
            <a:off x="147232" y="5255786"/>
            <a:ext cx="3110971" cy="725177"/>
            <a:chOff x="4943078" y="1700704"/>
            <a:chExt cx="3110971" cy="725177"/>
          </a:xfrm>
        </p:grpSpPr>
        <p:sp>
          <p:nvSpPr>
            <p:cNvPr id="41" name="标题">
              <a:extLst>
                <a:ext uri="{FF2B5EF4-FFF2-40B4-BE49-F238E27FC236}">
                  <a16:creationId xmlns:a16="http://schemas.microsoft.com/office/drawing/2014/main" id="{E2FB05CF-AAE9-D648-C1A3-5DDC805BC49E}"/>
                </a:ext>
              </a:extLst>
            </p:cNvPr>
            <p:cNvSpPr/>
            <p:nvPr/>
          </p:nvSpPr>
          <p:spPr bwMode="auto">
            <a:xfrm>
              <a:off x="5375126" y="1769619"/>
              <a:ext cx="26789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概略绘图</a:t>
              </a:r>
            </a:p>
          </p:txBody>
        </p:sp>
        <p:sp>
          <p:nvSpPr>
            <p:cNvPr id="42" name="序号">
              <a:extLst>
                <a:ext uri="{FF2B5EF4-FFF2-40B4-BE49-F238E27FC236}">
                  <a16:creationId xmlns:a16="http://schemas.microsoft.com/office/drawing/2014/main" id="{A3FC1872-1ECA-0629-EA49-4FB53B7336F1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起点">
                <a:extLst>
                  <a:ext uri="{FF2B5EF4-FFF2-40B4-BE49-F238E27FC236}">
                    <a16:creationId xmlns:a16="http://schemas.microsoft.com/office/drawing/2014/main" id="{71D4F4D9-4A11-9967-C1B8-21ED44DE51C0}"/>
                  </a:ext>
                </a:extLst>
              </p:cNvPr>
              <p:cNvSpPr txBox="1"/>
              <p:nvPr/>
            </p:nvSpPr>
            <p:spPr>
              <a:xfrm>
                <a:off x="4373824" y="1825293"/>
                <a:ext cx="32775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=10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3" name="起点">
                <a:extLst>
                  <a:ext uri="{FF2B5EF4-FFF2-40B4-BE49-F238E27FC236}">
                    <a16:creationId xmlns:a16="http://schemas.microsoft.com/office/drawing/2014/main" id="{71D4F4D9-4A11-9967-C1B8-21ED44DE5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824" y="1825293"/>
                <a:ext cx="3277517" cy="523220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重要2">
            <a:extLst>
              <a:ext uri="{FF2B5EF4-FFF2-40B4-BE49-F238E27FC236}">
                <a16:creationId xmlns:a16="http://schemas.microsoft.com/office/drawing/2014/main" id="{2957ED14-51D5-916A-1B2B-9CA86687EA32}"/>
              </a:ext>
            </a:extLst>
          </p:cNvPr>
          <p:cNvSpPr txBox="1"/>
          <p:nvPr/>
        </p:nvSpPr>
        <p:spPr>
          <a:xfrm>
            <a:off x="292240" y="2580719"/>
            <a:ext cx="1217718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终点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终点">
                <a:extLst>
                  <a:ext uri="{FF2B5EF4-FFF2-40B4-BE49-F238E27FC236}">
                    <a16:creationId xmlns:a16="http://schemas.microsoft.com/office/drawing/2014/main" id="{393578E9-D8C0-F2B0-F0E1-9216CEFB3226}"/>
                  </a:ext>
                </a:extLst>
              </p:cNvPr>
              <p:cNvSpPr txBox="1"/>
              <p:nvPr/>
            </p:nvSpPr>
            <p:spPr>
              <a:xfrm>
                <a:off x="1131960" y="2644342"/>
                <a:ext cx="430986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∞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=0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18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0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" name="终点">
                <a:extLst>
                  <a:ext uri="{FF2B5EF4-FFF2-40B4-BE49-F238E27FC236}">
                    <a16:creationId xmlns:a16="http://schemas.microsoft.com/office/drawing/2014/main" id="{393578E9-D8C0-F2B0-F0E1-9216CEFB3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960" y="2644342"/>
                <a:ext cx="4309865" cy="523220"/>
              </a:xfrm>
              <a:prstGeom prst="rect">
                <a:avLst/>
              </a:prstGeom>
              <a:blipFill>
                <a:blip r:embed="rId7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重要3">
            <a:extLst>
              <a:ext uri="{FF2B5EF4-FFF2-40B4-BE49-F238E27FC236}">
                <a16:creationId xmlns:a16="http://schemas.microsoft.com/office/drawing/2014/main" id="{3C4685DF-59CA-EC90-CFB8-3864A7204425}"/>
              </a:ext>
            </a:extLst>
          </p:cNvPr>
          <p:cNvSpPr txBox="1"/>
          <p:nvPr/>
        </p:nvSpPr>
        <p:spPr>
          <a:xfrm>
            <a:off x="292974" y="3290857"/>
            <a:ext cx="2184958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负实轴交点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频率特性">
                <a:extLst>
                  <a:ext uri="{FF2B5EF4-FFF2-40B4-BE49-F238E27FC236}">
                    <a16:creationId xmlns:a16="http://schemas.microsoft.com/office/drawing/2014/main" id="{39B7593D-532E-F4FE-F675-88B1FD2B4CCE}"/>
                  </a:ext>
                </a:extLst>
              </p:cNvPr>
              <p:cNvSpPr txBox="1"/>
              <p:nvPr/>
            </p:nvSpPr>
            <p:spPr>
              <a:xfrm>
                <a:off x="3258203" y="876568"/>
                <a:ext cx="3729919" cy="759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kumimoji="1" lang="en-US" altLang="zh-CN" sz="28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10</m:t>
                        </m:r>
                      </m:num>
                      <m:den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(0.1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den>
                    </m:f>
                  </m:oMath>
                </a14:m>
                <a:r>
                  <a:rPr kumimoji="1" lang="el-GR" altLang="zh-CN" sz="2800" dirty="0">
                    <a:solidFill>
                      <a:schemeClr val="tx1"/>
                    </a:solidFill>
                  </a:rPr>
                  <a:t> </a:t>
                </a:r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频率特性">
                <a:extLst>
                  <a:ext uri="{FF2B5EF4-FFF2-40B4-BE49-F238E27FC236}">
                    <a16:creationId xmlns:a16="http://schemas.microsoft.com/office/drawing/2014/main" id="{39B7593D-532E-F4FE-F675-88B1FD2B4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203" y="876568"/>
                <a:ext cx="3729919" cy="759503"/>
              </a:xfrm>
              <a:prstGeom prst="rect">
                <a:avLst/>
              </a:prstGeom>
              <a:blipFill>
                <a:blip r:embed="rId8"/>
                <a:stretch>
                  <a:fillRect l="-1017" r="-339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幅频特性">
                <a:extLst>
                  <a:ext uri="{FF2B5EF4-FFF2-40B4-BE49-F238E27FC236}">
                    <a16:creationId xmlns:a16="http://schemas.microsoft.com/office/drawing/2014/main" id="{B915FC79-039F-4087-2278-DBC5E502ED70}"/>
                  </a:ext>
                </a:extLst>
              </p:cNvPr>
              <p:cNvSpPr txBox="1"/>
              <p:nvPr/>
            </p:nvSpPr>
            <p:spPr>
              <a:xfrm>
                <a:off x="7113352" y="793527"/>
                <a:ext cx="4333240" cy="799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en-US" altLang="zh-CN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" altLang="zh-CN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kumimoji="1" lang="en" altLang="zh-CN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" altLang="zh-CN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kumimoji="1" lang="el-GR" altLang="zh-CN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kumimoji="1"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10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zh-CN" sz="200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1" lang="en-US" altLang="zh-CN" sz="2000" b="0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CN" sz="2000" i="1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0.1</m:t>
                                      </m:r>
                                      <m:r>
                                        <a:rPr kumimoji="1"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kumimoji="1"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+1</m:t>
                              </m:r>
                            </m:e>
                          </m:rad>
                          <m:rad>
                            <m:radPr>
                              <m:degHide m:val="on"/>
                              <m:ctrlPr>
                                <a:rPr kumimoji="1" lang="en-US" altLang="zh-CN" sz="20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kumimoji="1"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+1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幅频特性">
                <a:extLst>
                  <a:ext uri="{FF2B5EF4-FFF2-40B4-BE49-F238E27FC236}">
                    <a16:creationId xmlns:a16="http://schemas.microsoft.com/office/drawing/2014/main" id="{B915FC79-039F-4087-2278-DBC5E502E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352" y="793527"/>
                <a:ext cx="4333240" cy="79970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相频特性">
                <a:extLst>
                  <a:ext uri="{FF2B5EF4-FFF2-40B4-BE49-F238E27FC236}">
                    <a16:creationId xmlns:a16="http://schemas.microsoft.com/office/drawing/2014/main" id="{D05C6E63-1C03-DC28-1343-4A01B9D5998B}"/>
                  </a:ext>
                </a:extLst>
              </p:cNvPr>
              <p:cNvSpPr txBox="1"/>
              <p:nvPr/>
            </p:nvSpPr>
            <p:spPr>
              <a:xfrm>
                <a:off x="7182873" y="1587561"/>
                <a:ext cx="450062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kumimoji="1" lang="en" altLang="zh-CN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kumimoji="1" lang="en" altLang="zh-CN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" altLang="zh-CN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l-GR" altLang="zh-CN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kumimoji="1"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kumimoji="1" lang="zh-CN" alt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r>
                            <a:rPr kumimoji="1"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func>
                      <m:r>
                        <a:rPr kumimoji="1"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kumimoji="1"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func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相频特性">
                <a:extLst>
                  <a:ext uri="{FF2B5EF4-FFF2-40B4-BE49-F238E27FC236}">
                    <a16:creationId xmlns:a16="http://schemas.microsoft.com/office/drawing/2014/main" id="{D05C6E63-1C03-DC28-1343-4A01B9D59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2873" y="1587561"/>
                <a:ext cx="4500628" cy="400110"/>
              </a:xfrm>
              <a:prstGeom prst="rect">
                <a:avLst/>
              </a:prstGeom>
              <a:blipFill>
                <a:blip r:embed="rId10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燕尾形 60">
            <a:extLst>
              <a:ext uri="{FF2B5EF4-FFF2-40B4-BE49-F238E27FC236}">
                <a16:creationId xmlns:a16="http://schemas.microsoft.com/office/drawing/2014/main" id="{89817132-95C4-E977-40CB-A0310529B74D}"/>
              </a:ext>
            </a:extLst>
          </p:cNvPr>
          <p:cNvSpPr/>
          <p:nvPr/>
        </p:nvSpPr>
        <p:spPr>
          <a:xfrm>
            <a:off x="7113352" y="1127365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5" name="说明3">
            <a:extLst>
              <a:ext uri="{FF2B5EF4-FFF2-40B4-BE49-F238E27FC236}">
                <a16:creationId xmlns:a16="http://schemas.microsoft.com/office/drawing/2014/main" id="{7026A351-E2DF-B152-E84B-4F35592CA134}"/>
              </a:ext>
            </a:extLst>
          </p:cNvPr>
          <p:cNvSpPr txBox="1"/>
          <p:nvPr/>
        </p:nvSpPr>
        <p:spPr>
          <a:xfrm>
            <a:off x="292240" y="6085374"/>
            <a:ext cx="3500570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accent1"/>
                </a:solidFill>
              </a:rPr>
              <a:t>不含零点时</a:t>
            </a:r>
            <a:r>
              <a:rPr kumimoji="1" lang="zh-CN" altLang="en-US" sz="2800" dirty="0">
                <a:solidFill>
                  <a:srgbClr val="159F84"/>
                </a:solidFill>
              </a:rPr>
              <a:t>单调收缩</a:t>
            </a:r>
          </a:p>
        </p:txBody>
      </p:sp>
      <p:sp>
        <p:nvSpPr>
          <p:cNvPr id="67" name="重要4">
            <a:extLst>
              <a:ext uri="{FF2B5EF4-FFF2-40B4-BE49-F238E27FC236}">
                <a16:creationId xmlns:a16="http://schemas.microsoft.com/office/drawing/2014/main" id="{E417B710-1AB4-55F8-43E5-3EDF076A2C11}"/>
              </a:ext>
            </a:extLst>
          </p:cNvPr>
          <p:cNvSpPr txBox="1"/>
          <p:nvPr/>
        </p:nvSpPr>
        <p:spPr>
          <a:xfrm>
            <a:off x="304360" y="4457758"/>
            <a:ext cx="2184958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实部渐近线</a:t>
            </a:r>
          </a:p>
        </p:txBody>
      </p:sp>
      <p:cxnSp>
        <p:nvCxnSpPr>
          <p:cNvPr id="12" name="向下">
            <a:extLst>
              <a:ext uri="{FF2B5EF4-FFF2-40B4-BE49-F238E27FC236}">
                <a16:creationId xmlns:a16="http://schemas.microsoft.com/office/drawing/2014/main" id="{92F8C95D-2606-09FC-D746-7C764CF75A59}"/>
              </a:ext>
            </a:extLst>
          </p:cNvPr>
          <p:cNvCxnSpPr>
            <a:cxnSpLocks/>
          </p:cNvCxnSpPr>
          <p:nvPr/>
        </p:nvCxnSpPr>
        <p:spPr>
          <a:xfrm>
            <a:off x="10919742" y="3886421"/>
            <a:ext cx="0" cy="729573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向右">
            <a:extLst>
              <a:ext uri="{FF2B5EF4-FFF2-40B4-BE49-F238E27FC236}">
                <a16:creationId xmlns:a16="http://schemas.microsoft.com/office/drawing/2014/main" id="{45EA4DB1-33DC-97A9-AB68-CA29728F45DC}"/>
              </a:ext>
            </a:extLst>
          </p:cNvPr>
          <p:cNvCxnSpPr>
            <a:cxnSpLocks/>
          </p:cNvCxnSpPr>
          <p:nvPr/>
        </p:nvCxnSpPr>
        <p:spPr>
          <a:xfrm>
            <a:off x="7587792" y="4005064"/>
            <a:ext cx="910790" cy="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开环传函">
                <a:extLst>
                  <a:ext uri="{FF2B5EF4-FFF2-40B4-BE49-F238E27FC236}">
                    <a16:creationId xmlns:a16="http://schemas.microsoft.com/office/drawing/2014/main" id="{D93442EB-A994-89E9-FA60-2EE49D8449BF}"/>
                  </a:ext>
                </a:extLst>
              </p:cNvPr>
              <p:cNvSpPr txBox="1"/>
              <p:nvPr/>
            </p:nvSpPr>
            <p:spPr>
              <a:xfrm>
                <a:off x="7045882" y="145421"/>
                <a:ext cx="3164679" cy="759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10</m:t>
                        </m:r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(0.1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46" name="开环传函">
                <a:extLst>
                  <a:ext uri="{FF2B5EF4-FFF2-40B4-BE49-F238E27FC236}">
                    <a16:creationId xmlns:a16="http://schemas.microsoft.com/office/drawing/2014/main" id="{D93442EB-A994-89E9-FA60-2EE49D8449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882" y="145421"/>
                <a:ext cx="3164679" cy="759503"/>
              </a:xfrm>
              <a:prstGeom prst="rect">
                <a:avLst/>
              </a:prstGeom>
              <a:blipFill>
                <a:blip r:embed="rId11"/>
                <a:stretch>
                  <a:fillRect l="-797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说明1">
                <a:extLst>
                  <a:ext uri="{FF2B5EF4-FFF2-40B4-BE49-F238E27FC236}">
                    <a16:creationId xmlns:a16="http://schemas.microsoft.com/office/drawing/2014/main" id="{95D7D61A-93A9-0F59-6D0C-C07FF932A8FB}"/>
                  </a:ext>
                </a:extLst>
              </p:cNvPr>
              <p:cNvSpPr txBox="1"/>
              <p:nvPr/>
            </p:nvSpPr>
            <p:spPr>
              <a:xfrm>
                <a:off x="2716952" y="3150069"/>
                <a:ext cx="3490561" cy="1058375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幅角范围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kumimoji="1" lang="en-US" altLang="zh-CN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°,−180°</m:t>
                        </m:r>
                      </m:e>
                    </m:d>
                  </m:oMath>
                </a14:m>
                <a:endParaRPr kumimoji="1" lang="en-US" altLang="zh-CN" sz="2800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不穿越</m:t>
                      </m:r>
                      <m:r>
                        <a:rPr kumimoji="1" lang="zh-CN" altLang="en-US" sz="28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负实轴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7" name="说明1">
                <a:extLst>
                  <a:ext uri="{FF2B5EF4-FFF2-40B4-BE49-F238E27FC236}">
                    <a16:creationId xmlns:a16="http://schemas.microsoft.com/office/drawing/2014/main" id="{95D7D61A-93A9-0F59-6D0C-C07FF932A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952" y="3150069"/>
                <a:ext cx="3490561" cy="1058375"/>
              </a:xfrm>
              <a:prstGeom prst="flowChartAlternateProcess">
                <a:avLst/>
              </a:prstGeom>
              <a:blipFill>
                <a:blip r:embed="rId12"/>
                <a:stretch>
                  <a:fillRect l="-2166" t="-2326" b="-1163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说明2">
                <a:extLst>
                  <a:ext uri="{FF2B5EF4-FFF2-40B4-BE49-F238E27FC236}">
                    <a16:creationId xmlns:a16="http://schemas.microsoft.com/office/drawing/2014/main" id="{F96A9A92-23CE-17DB-49B0-C00E53ADBE19}"/>
                  </a:ext>
                </a:extLst>
              </p:cNvPr>
              <p:cNvSpPr txBox="1"/>
              <p:nvPr/>
            </p:nvSpPr>
            <p:spPr>
              <a:xfrm>
                <a:off x="2716846" y="4477999"/>
                <a:ext cx="3168626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，无渐近线</a:t>
                </a:r>
              </a:p>
            </p:txBody>
          </p:sp>
        </mc:Choice>
        <mc:Fallback xmlns="">
          <p:sp>
            <p:nvSpPr>
              <p:cNvPr id="54" name="说明2">
                <a:extLst>
                  <a:ext uri="{FF2B5EF4-FFF2-40B4-BE49-F238E27FC236}">
                    <a16:creationId xmlns:a16="http://schemas.microsoft.com/office/drawing/2014/main" id="{F96A9A92-23CE-17DB-49B0-C00E53ADB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846" y="4477999"/>
                <a:ext cx="3168626" cy="578882"/>
              </a:xfrm>
              <a:prstGeom prst="flowChartAlternateProcess">
                <a:avLst/>
              </a:prstGeom>
              <a:blipFill>
                <a:blip r:embed="rId13"/>
                <a:stretch>
                  <a:fillRect t="-6122" b="-18367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原点">
                <a:extLst>
                  <a:ext uri="{FF2B5EF4-FFF2-40B4-BE49-F238E27FC236}">
                    <a16:creationId xmlns:a16="http://schemas.microsoft.com/office/drawing/2014/main" id="{8CF6360A-78C4-B59D-567B-328711115DE3}"/>
                  </a:ext>
                </a:extLst>
              </p:cNvPr>
              <p:cNvSpPr txBox="1"/>
              <p:nvPr/>
            </p:nvSpPr>
            <p:spPr>
              <a:xfrm>
                <a:off x="11024854" y="3899508"/>
                <a:ext cx="545352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原点">
                <a:extLst>
                  <a:ext uri="{FF2B5EF4-FFF2-40B4-BE49-F238E27FC236}">
                    <a16:creationId xmlns:a16="http://schemas.microsoft.com/office/drawing/2014/main" id="{8CF6360A-78C4-B59D-567B-328711115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4854" y="3899508"/>
                <a:ext cx="545352" cy="524695"/>
              </a:xfrm>
              <a:prstGeom prst="rect">
                <a:avLst/>
              </a:prstGeom>
              <a:blipFill>
                <a:blip r:embed="rId14"/>
                <a:stretch>
                  <a:fillRect l="-6818"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起始频率">
                <a:extLst>
                  <a:ext uri="{FF2B5EF4-FFF2-40B4-BE49-F238E27FC236}">
                    <a16:creationId xmlns:a16="http://schemas.microsoft.com/office/drawing/2014/main" id="{52A43A7E-E27B-1907-8CA1-C526AE2BE377}"/>
                  </a:ext>
                </a:extLst>
              </p:cNvPr>
              <p:cNvSpPr txBox="1"/>
              <p:nvPr/>
            </p:nvSpPr>
            <p:spPr>
              <a:xfrm>
                <a:off x="10225454" y="3290857"/>
                <a:ext cx="11908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4" name="起始频率">
                <a:extLst>
                  <a:ext uri="{FF2B5EF4-FFF2-40B4-BE49-F238E27FC236}">
                    <a16:creationId xmlns:a16="http://schemas.microsoft.com/office/drawing/2014/main" id="{52A43A7E-E27B-1907-8CA1-C526AE2BE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5454" y="3290857"/>
                <a:ext cx="1190868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终止频率">
                <a:extLst>
                  <a:ext uri="{FF2B5EF4-FFF2-40B4-BE49-F238E27FC236}">
                    <a16:creationId xmlns:a16="http://schemas.microsoft.com/office/drawing/2014/main" id="{3AE6B575-3139-CF93-8F0F-6E33AF4F84AC}"/>
                  </a:ext>
                </a:extLst>
              </p:cNvPr>
              <p:cNvSpPr txBox="1"/>
              <p:nvPr/>
            </p:nvSpPr>
            <p:spPr>
              <a:xfrm>
                <a:off x="7879539" y="3303880"/>
                <a:ext cx="14716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=∞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6" name="终止频率">
                <a:extLst>
                  <a:ext uri="{FF2B5EF4-FFF2-40B4-BE49-F238E27FC236}">
                    <a16:creationId xmlns:a16="http://schemas.microsoft.com/office/drawing/2014/main" id="{3AE6B575-3139-CF93-8F0F-6E33AF4F8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539" y="3303880"/>
                <a:ext cx="1471648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4170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5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5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35" grpId="0" animBg="1"/>
      <p:bldP spid="70" grpId="0" animBg="1"/>
      <p:bldP spid="43" grpId="0"/>
      <p:bldP spid="48" grpId="0" animBg="1"/>
      <p:bldP spid="49" grpId="0"/>
      <p:bldP spid="50" grpId="0" animBg="1"/>
      <p:bldP spid="55" grpId="0"/>
      <p:bldP spid="56" grpId="0"/>
      <p:bldP spid="57" grpId="0"/>
      <p:bldP spid="61" grpId="0" animBg="1"/>
      <p:bldP spid="65" grpId="0" animBg="1"/>
      <p:bldP spid="67" grpId="0" animBg="1"/>
      <p:bldP spid="46" grpId="0"/>
      <p:bldP spid="47" grpId="0" animBg="1"/>
      <p:bldP spid="54" grpId="0" animBg="1"/>
      <p:bldP spid="63" grpId="0"/>
      <p:bldP spid="64" grpId="0"/>
      <p:bldP spid="6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代码框">
            <a:extLst>
              <a:ext uri="{FF2B5EF4-FFF2-40B4-BE49-F238E27FC236}">
                <a16:creationId xmlns:a16="http://schemas.microsoft.com/office/drawing/2014/main" id="{D632C16F-64EE-A07C-73DB-351D31446BB1}"/>
              </a:ext>
            </a:extLst>
          </p:cNvPr>
          <p:cNvGrpSpPr/>
          <p:nvPr/>
        </p:nvGrpSpPr>
        <p:grpSpPr>
          <a:xfrm>
            <a:off x="235858" y="891531"/>
            <a:ext cx="8811676" cy="1878314"/>
            <a:chOff x="2515563" y="3741795"/>
            <a:chExt cx="8811676" cy="1878314"/>
          </a:xfrm>
        </p:grpSpPr>
        <p:sp>
          <p:nvSpPr>
            <p:cNvPr id="3" name="代码">
              <a:extLst>
                <a:ext uri="{FF2B5EF4-FFF2-40B4-BE49-F238E27FC236}">
                  <a16:creationId xmlns:a16="http://schemas.microsoft.com/office/drawing/2014/main" id="{272DE7E0-6446-3463-58AF-F1B6332CD04C}"/>
                </a:ext>
              </a:extLst>
            </p:cNvPr>
            <p:cNvSpPr txBox="1"/>
            <p:nvPr/>
          </p:nvSpPr>
          <p:spPr>
            <a:xfrm>
              <a:off x="2515563" y="4101629"/>
              <a:ext cx="8811676" cy="1518480"/>
            </a:xfrm>
            <a:prstGeom prst="roundRect">
              <a:avLst>
                <a:gd name="adj" fmla="val 21830"/>
              </a:avLst>
            </a:prstGeom>
            <a:noFill/>
            <a:ln>
              <a:solidFill>
                <a:srgbClr val="E44860"/>
              </a:solidFill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tIns="108000" bIns="108000" rtlCol="0">
              <a:spAutoFit/>
            </a:bodyPr>
            <a:lstStyle/>
            <a:p>
              <a:r>
                <a:rPr lang="en" altLang="zh-CN" sz="2400" dirty="0">
                  <a:latin typeface="Menlo" panose="020B0609030804020204" pitchFamily="49" charset="0"/>
                </a:rPr>
                <a:t>s = </a:t>
              </a:r>
              <a:r>
                <a:rPr lang="en" altLang="zh-CN" sz="2400" dirty="0" err="1">
                  <a:latin typeface="Menlo" panose="020B0609030804020204" pitchFamily="49" charset="0"/>
                </a:rPr>
                <a:t>tf</a:t>
              </a:r>
              <a:r>
                <a:rPr lang="en" altLang="zh-CN" sz="2400" dirty="0">
                  <a:latin typeface="Menlo" panose="020B0609030804020204" pitchFamily="49" charset="0"/>
                </a:rPr>
                <a:t>(</a:t>
              </a:r>
              <a:r>
                <a:rPr lang="en" altLang="zh-CN" sz="2400" dirty="0">
                  <a:solidFill>
                    <a:srgbClr val="AA04F9"/>
                  </a:solidFill>
                  <a:latin typeface="Menlo" panose="020B0609030804020204" pitchFamily="49" charset="0"/>
                </a:rPr>
                <a:t>'s’</a:t>
              </a:r>
              <a:r>
                <a:rPr lang="en" altLang="zh-CN" sz="2400" dirty="0">
                  <a:latin typeface="Menlo" panose="020B0609030804020204" pitchFamily="49" charset="0"/>
                </a:rPr>
                <a:t>); 			</a:t>
              </a:r>
              <a:r>
                <a:rPr lang="en" altLang="zh-CN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建立传递函数的复数变量</a:t>
              </a:r>
              <a:endParaRPr lang="zh-CN" altLang="en-US" sz="2400" dirty="0">
                <a:latin typeface="Menlo" panose="020B0609030804020204" pitchFamily="49" charset="0"/>
              </a:endParaRPr>
            </a:p>
            <a:p>
              <a:r>
                <a:rPr lang="en" altLang="zh-CN" sz="2400" dirty="0">
                  <a:latin typeface="Menlo" panose="020B0609030804020204" pitchFamily="49" charset="0"/>
                </a:rPr>
                <a:t>G = 10/((0.2*s+1)*(s+1));</a:t>
              </a:r>
              <a:r>
                <a:rPr lang="en" altLang="zh-CN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建立传递函数</a:t>
              </a:r>
              <a:endParaRPr lang="zh-CN" altLang="en-US" sz="2400" dirty="0">
                <a:latin typeface="Menlo" panose="020B0609030804020204" pitchFamily="49" charset="0"/>
              </a:endParaRPr>
            </a:p>
            <a:p>
              <a:r>
                <a:rPr lang="en" altLang="zh-CN" sz="2400" dirty="0" err="1">
                  <a:latin typeface="Menlo" panose="020B0609030804020204" pitchFamily="49" charset="0"/>
                </a:rPr>
                <a:t>nyquist</a:t>
              </a:r>
              <a:r>
                <a:rPr lang="en" altLang="zh-CN" sz="2400" dirty="0">
                  <a:latin typeface="Menlo" panose="020B0609030804020204" pitchFamily="49" charset="0"/>
                </a:rPr>
                <a:t>(G) 			</a:t>
              </a:r>
              <a:r>
                <a:rPr lang="en" altLang="zh-CN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绘制开环幅相特性</a:t>
              </a:r>
              <a:endParaRPr lang="zh-CN" altLang="en-US" sz="2400" dirty="0">
                <a:latin typeface="Menlo" panose="020B0609030804020204" pitchFamily="49" charset="0"/>
              </a:endParaRPr>
            </a:p>
          </p:txBody>
        </p:sp>
        <p:sp>
          <p:nvSpPr>
            <p:cNvPr id="4" name="标题">
              <a:extLst>
                <a:ext uri="{FF2B5EF4-FFF2-40B4-BE49-F238E27FC236}">
                  <a16:creationId xmlns:a16="http://schemas.microsoft.com/office/drawing/2014/main" id="{37EAB477-27D5-0B40-E0D2-008BAD95F370}"/>
                </a:ext>
              </a:extLst>
            </p:cNvPr>
            <p:cNvSpPr/>
            <p:nvPr/>
          </p:nvSpPr>
          <p:spPr bwMode="auto">
            <a:xfrm>
              <a:off x="2783285" y="3741795"/>
              <a:ext cx="1152128" cy="576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tIns="46800"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代码</a:t>
              </a:r>
            </a:p>
          </p:txBody>
        </p:sp>
      </p:grpSp>
      <p:sp>
        <p:nvSpPr>
          <p:cNvPr id="5" name="标题">
            <a:extLst>
              <a:ext uri="{FF2B5EF4-FFF2-40B4-BE49-F238E27FC236}">
                <a16:creationId xmlns:a16="http://schemas.microsoft.com/office/drawing/2014/main" id="{24D81070-DF7F-EA08-BE1E-798273B4A67F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绘制概略极坐标图例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63E1DEC-E53C-6FD1-0DAC-08027192E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81" y="2791716"/>
            <a:ext cx="5188181" cy="3891136"/>
          </a:xfrm>
          <a:prstGeom prst="rect">
            <a:avLst/>
          </a:prstGeom>
        </p:spPr>
      </p:pic>
      <p:sp>
        <p:nvSpPr>
          <p:cNvPr id="9" name="幅相1-1">
            <a:extLst>
              <a:ext uri="{FF2B5EF4-FFF2-40B4-BE49-F238E27FC236}">
                <a16:creationId xmlns:a16="http://schemas.microsoft.com/office/drawing/2014/main" id="{C33869C8-7E19-5BA0-D2DA-31257991EA3B}"/>
              </a:ext>
            </a:extLst>
          </p:cNvPr>
          <p:cNvSpPr/>
          <p:nvPr/>
        </p:nvSpPr>
        <p:spPr>
          <a:xfrm flipV="1">
            <a:off x="8323758" y="4209816"/>
            <a:ext cx="1869259" cy="123742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740685"/>
              <a:gd name="connsiteY0" fmla="*/ 0 h 1890882"/>
              <a:gd name="connsiteX1" fmla="*/ 740685 w 740685"/>
              <a:gd name="connsiteY1" fmla="*/ 1553568 h 1890882"/>
              <a:gd name="connsiteX0" fmla="*/ 0 w 740685"/>
              <a:gd name="connsiteY0" fmla="*/ 0 h 1553569"/>
              <a:gd name="connsiteX1" fmla="*/ 740685 w 740685"/>
              <a:gd name="connsiteY1" fmla="*/ 1553568 h 1553569"/>
              <a:gd name="connsiteX0" fmla="*/ 865137 w 867536"/>
              <a:gd name="connsiteY0" fmla="*/ 0 h 1035189"/>
              <a:gd name="connsiteX1" fmla="*/ 154841 w 867536"/>
              <a:gd name="connsiteY1" fmla="*/ 1035189 h 1035189"/>
              <a:gd name="connsiteX0" fmla="*/ 903669 w 903669"/>
              <a:gd name="connsiteY0" fmla="*/ 28617 h 1063806"/>
              <a:gd name="connsiteX1" fmla="*/ 193373 w 903669"/>
              <a:gd name="connsiteY1" fmla="*/ 1063806 h 1063806"/>
              <a:gd name="connsiteX0" fmla="*/ 1329353 w 1329353"/>
              <a:gd name="connsiteY0" fmla="*/ 311957 h 333951"/>
              <a:gd name="connsiteX1" fmla="*/ 146318 w 1329353"/>
              <a:gd name="connsiteY1" fmla="*/ 333951 h 333951"/>
              <a:gd name="connsiteX0" fmla="*/ 1335921 w 1335921"/>
              <a:gd name="connsiteY0" fmla="*/ 1616112 h 1638106"/>
              <a:gd name="connsiteX1" fmla="*/ 152886 w 1335921"/>
              <a:gd name="connsiteY1" fmla="*/ 1638106 h 1638106"/>
              <a:gd name="connsiteX0" fmla="*/ 1396511 w 1396511"/>
              <a:gd name="connsiteY0" fmla="*/ 1713702 h 1735696"/>
              <a:gd name="connsiteX1" fmla="*/ 213476 w 1396511"/>
              <a:gd name="connsiteY1" fmla="*/ 1735696 h 1735696"/>
              <a:gd name="connsiteX0" fmla="*/ 1377830 w 1377830"/>
              <a:gd name="connsiteY0" fmla="*/ 1508565 h 1530559"/>
              <a:gd name="connsiteX1" fmla="*/ 194795 w 1377830"/>
              <a:gd name="connsiteY1" fmla="*/ 1530559 h 1530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77830" h="1530559">
                <a:moveTo>
                  <a:pt x="1377830" y="1508565"/>
                </a:moveTo>
                <a:cubicBezTo>
                  <a:pt x="1183274" y="-1323965"/>
                  <a:pt x="-577621" y="515079"/>
                  <a:pt x="194795" y="1530559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10" name="坐标轴">
            <a:extLst>
              <a:ext uri="{FF2B5EF4-FFF2-40B4-BE49-F238E27FC236}">
                <a16:creationId xmlns:a16="http://schemas.microsoft.com/office/drawing/2014/main" id="{852519B3-FFE7-8100-1AEA-B9628AD096FA}"/>
              </a:ext>
            </a:extLst>
          </p:cNvPr>
          <p:cNvGrpSpPr/>
          <p:nvPr/>
        </p:nvGrpSpPr>
        <p:grpSpPr>
          <a:xfrm>
            <a:off x="6457313" y="2708275"/>
            <a:ext cx="4821496" cy="3826760"/>
            <a:chOff x="5699544" y="2827242"/>
            <a:chExt cx="4821496" cy="3826760"/>
          </a:xfrm>
        </p:grpSpPr>
        <p:cxnSp>
          <p:nvCxnSpPr>
            <p:cNvPr id="11" name="实轴">
              <a:extLst>
                <a:ext uri="{FF2B5EF4-FFF2-40B4-BE49-F238E27FC236}">
                  <a16:creationId xmlns:a16="http://schemas.microsoft.com/office/drawing/2014/main" id="{9C33AD97-1B5C-1036-290C-8030E1657F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99544" y="4318469"/>
              <a:ext cx="459945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虚轴">
              <a:extLst>
                <a:ext uri="{FF2B5EF4-FFF2-40B4-BE49-F238E27FC236}">
                  <a16:creationId xmlns:a16="http://schemas.microsoft.com/office/drawing/2014/main" id="{17AE33DC-C207-99CD-4655-16C9EB13DA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7597" y="3125610"/>
              <a:ext cx="0" cy="3528392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">
                  <a:extLst>
                    <a:ext uri="{FF2B5EF4-FFF2-40B4-BE49-F238E27FC236}">
                      <a16:creationId xmlns:a16="http://schemas.microsoft.com/office/drawing/2014/main" id="{E1A41DC4-BE15-FDBC-6832-EB2C67FFD19C}"/>
                    </a:ext>
                  </a:extLst>
                </p:cNvPr>
                <p:cNvSpPr txBox="1"/>
                <p:nvPr/>
              </p:nvSpPr>
              <p:spPr>
                <a:xfrm>
                  <a:off x="9944504" y="3795249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Re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4504" y="3795249"/>
                  <a:ext cx="576536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4348" r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Im">
                  <a:extLst>
                    <a:ext uri="{FF2B5EF4-FFF2-40B4-BE49-F238E27FC236}">
                      <a16:creationId xmlns:a16="http://schemas.microsoft.com/office/drawing/2014/main" id="{2D75DC65-5512-704D-5644-9E20614378F6}"/>
                    </a:ext>
                  </a:extLst>
                </p:cNvPr>
                <p:cNvSpPr txBox="1"/>
                <p:nvPr/>
              </p:nvSpPr>
              <p:spPr>
                <a:xfrm>
                  <a:off x="7847597" y="2827242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Im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7597" y="2827242"/>
                  <a:ext cx="576536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4255" r="-85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原点">
                  <a:extLst>
                    <a:ext uri="{FF2B5EF4-FFF2-40B4-BE49-F238E27FC236}">
                      <a16:creationId xmlns:a16="http://schemas.microsoft.com/office/drawing/2014/main" id="{D3993C77-F808-99FB-42A2-2D8F0FD5E314}"/>
                    </a:ext>
                  </a:extLst>
                </p:cNvPr>
                <p:cNvSpPr txBox="1"/>
                <p:nvPr/>
              </p:nvSpPr>
              <p:spPr>
                <a:xfrm>
                  <a:off x="7804016" y="4318469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4016" y="4318469"/>
                  <a:ext cx="545352" cy="5246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6" name="向下">
            <a:extLst>
              <a:ext uri="{FF2B5EF4-FFF2-40B4-BE49-F238E27FC236}">
                <a16:creationId xmlns:a16="http://schemas.microsoft.com/office/drawing/2014/main" id="{62D0C25A-762A-D282-B2AF-9744B1457B88}"/>
              </a:ext>
            </a:extLst>
          </p:cNvPr>
          <p:cNvCxnSpPr>
            <a:cxnSpLocks/>
          </p:cNvCxnSpPr>
          <p:nvPr/>
        </p:nvCxnSpPr>
        <p:spPr>
          <a:xfrm>
            <a:off x="10201555" y="4199502"/>
            <a:ext cx="0" cy="729573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向右">
            <a:extLst>
              <a:ext uri="{FF2B5EF4-FFF2-40B4-BE49-F238E27FC236}">
                <a16:creationId xmlns:a16="http://schemas.microsoft.com/office/drawing/2014/main" id="{94FEE79C-E51C-F753-E021-DF6B73AD1402}"/>
              </a:ext>
            </a:extLst>
          </p:cNvPr>
          <p:cNvCxnSpPr>
            <a:cxnSpLocks/>
          </p:cNvCxnSpPr>
          <p:nvPr/>
        </p:nvCxnSpPr>
        <p:spPr>
          <a:xfrm>
            <a:off x="6869605" y="4318145"/>
            <a:ext cx="910790" cy="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原点">
                <a:extLst>
                  <a:ext uri="{FF2B5EF4-FFF2-40B4-BE49-F238E27FC236}">
                    <a16:creationId xmlns:a16="http://schemas.microsoft.com/office/drawing/2014/main" id="{EA143410-C783-FDD3-80E8-9627CC447129}"/>
                  </a:ext>
                </a:extLst>
              </p:cNvPr>
              <p:cNvSpPr txBox="1"/>
              <p:nvPr/>
            </p:nvSpPr>
            <p:spPr>
              <a:xfrm>
                <a:off x="10306667" y="4212589"/>
                <a:ext cx="545352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原点">
                <a:extLst>
                  <a:ext uri="{FF2B5EF4-FFF2-40B4-BE49-F238E27FC236}">
                    <a16:creationId xmlns:a16="http://schemas.microsoft.com/office/drawing/2014/main" id="{EA143410-C783-FDD3-80E8-9627CC447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6667" y="4212589"/>
                <a:ext cx="545352" cy="524695"/>
              </a:xfrm>
              <a:prstGeom prst="rect">
                <a:avLst/>
              </a:prstGeom>
              <a:blipFill>
                <a:blip r:embed="rId6"/>
                <a:stretch>
                  <a:fillRect l="-6818" r="-11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起始频率">
                <a:extLst>
                  <a:ext uri="{FF2B5EF4-FFF2-40B4-BE49-F238E27FC236}">
                    <a16:creationId xmlns:a16="http://schemas.microsoft.com/office/drawing/2014/main" id="{9AEA0EA9-E49E-5CF6-5BE8-95D756CA916B}"/>
                  </a:ext>
                </a:extLst>
              </p:cNvPr>
              <p:cNvSpPr txBox="1"/>
              <p:nvPr/>
            </p:nvSpPr>
            <p:spPr>
              <a:xfrm>
                <a:off x="9507267" y="3603938"/>
                <a:ext cx="11908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" name="起始频率">
                <a:extLst>
                  <a:ext uri="{FF2B5EF4-FFF2-40B4-BE49-F238E27FC236}">
                    <a16:creationId xmlns:a16="http://schemas.microsoft.com/office/drawing/2014/main" id="{9AEA0EA9-E49E-5CF6-5BE8-95D756CA9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7267" y="3603938"/>
                <a:ext cx="119086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终止频率">
                <a:extLst>
                  <a:ext uri="{FF2B5EF4-FFF2-40B4-BE49-F238E27FC236}">
                    <a16:creationId xmlns:a16="http://schemas.microsoft.com/office/drawing/2014/main" id="{4AEAD7F7-DC93-BFDF-B043-18F32AB0563D}"/>
                  </a:ext>
                </a:extLst>
              </p:cNvPr>
              <p:cNvSpPr txBox="1"/>
              <p:nvPr/>
            </p:nvSpPr>
            <p:spPr>
              <a:xfrm>
                <a:off x="7161352" y="3616961"/>
                <a:ext cx="14716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=∞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终止频率">
                <a:extLst>
                  <a:ext uri="{FF2B5EF4-FFF2-40B4-BE49-F238E27FC236}">
                    <a16:creationId xmlns:a16="http://schemas.microsoft.com/office/drawing/2014/main" id="{4AEAD7F7-DC93-BFDF-B043-18F32AB05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1352" y="3616961"/>
                <a:ext cx="147164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问题">
            <a:extLst>
              <a:ext uri="{FF2B5EF4-FFF2-40B4-BE49-F238E27FC236}">
                <a16:creationId xmlns:a16="http://schemas.microsoft.com/office/drawing/2014/main" id="{C0720016-5254-CBA2-E116-571CFBFDB775}"/>
              </a:ext>
            </a:extLst>
          </p:cNvPr>
          <p:cNvGrpSpPr/>
          <p:nvPr/>
        </p:nvGrpSpPr>
        <p:grpSpPr>
          <a:xfrm>
            <a:off x="6095206" y="249096"/>
            <a:ext cx="3935185" cy="881063"/>
            <a:chOff x="5348307" y="5538470"/>
            <a:chExt cx="3935185" cy="881063"/>
          </a:xfrm>
        </p:grpSpPr>
        <p:sp>
          <p:nvSpPr>
            <p:cNvPr id="22" name="问号">
              <a:extLst>
                <a:ext uri="{FF2B5EF4-FFF2-40B4-BE49-F238E27FC236}">
                  <a16:creationId xmlns:a16="http://schemas.microsoft.com/office/drawing/2014/main" id="{1C15C8AD-878D-0768-1E61-0F5B8D5D933D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23" name="文本">
              <a:extLst>
                <a:ext uri="{FF2B5EF4-FFF2-40B4-BE49-F238E27FC236}">
                  <a16:creationId xmlns:a16="http://schemas.microsoft.com/office/drawing/2014/main" id="{BE14F3EA-3C8D-D54E-5A11-5B3A2DDAC5A8}"/>
                </a:ext>
              </a:extLst>
            </p:cNvPr>
            <p:cNvSpPr txBox="1"/>
            <p:nvPr/>
          </p:nvSpPr>
          <p:spPr>
            <a:xfrm>
              <a:off x="6320700" y="5717391"/>
              <a:ext cx="296279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为什么不一样？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8480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绘制概略极坐标图例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6" name="步骤1">
            <a:extLst>
              <a:ext uri="{FF2B5EF4-FFF2-40B4-BE49-F238E27FC236}">
                <a16:creationId xmlns:a16="http://schemas.microsoft.com/office/drawing/2014/main" id="{98F4674A-51B6-B55E-285D-5812200E4606}"/>
              </a:ext>
            </a:extLst>
          </p:cNvPr>
          <p:cNvGrpSpPr/>
          <p:nvPr/>
        </p:nvGrpSpPr>
        <p:grpSpPr>
          <a:xfrm>
            <a:off x="193530" y="945843"/>
            <a:ext cx="3093364" cy="725177"/>
            <a:chOff x="4943078" y="1700704"/>
            <a:chExt cx="3093364" cy="725177"/>
          </a:xfrm>
        </p:grpSpPr>
        <p:sp>
          <p:nvSpPr>
            <p:cNvPr id="77" name="标题">
              <a:extLst>
                <a:ext uri="{FF2B5EF4-FFF2-40B4-BE49-F238E27FC236}">
                  <a16:creationId xmlns:a16="http://schemas.microsoft.com/office/drawing/2014/main" id="{43DA60B5-6978-89A1-FDF3-71B36825FB03}"/>
                </a:ext>
              </a:extLst>
            </p:cNvPr>
            <p:cNvSpPr/>
            <p:nvPr/>
          </p:nvSpPr>
          <p:spPr bwMode="auto">
            <a:xfrm>
              <a:off x="5375126" y="1769619"/>
              <a:ext cx="2661316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求频率特性</a:t>
              </a:r>
            </a:p>
          </p:txBody>
        </p:sp>
        <p:sp>
          <p:nvSpPr>
            <p:cNvPr id="78" name="序号">
              <a:extLst>
                <a:ext uri="{FF2B5EF4-FFF2-40B4-BE49-F238E27FC236}">
                  <a16:creationId xmlns:a16="http://schemas.microsoft.com/office/drawing/2014/main" id="{1C215964-A7F2-16B2-FE56-91D7F08D78A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5" name="幅相1-1">
            <a:extLst>
              <a:ext uri="{FF2B5EF4-FFF2-40B4-BE49-F238E27FC236}">
                <a16:creationId xmlns:a16="http://schemas.microsoft.com/office/drawing/2014/main" id="{6D9CB9E4-827A-67BE-4B81-4879FE516102}"/>
              </a:ext>
            </a:extLst>
          </p:cNvPr>
          <p:cNvSpPr/>
          <p:nvPr/>
        </p:nvSpPr>
        <p:spPr>
          <a:xfrm flipV="1">
            <a:off x="8161655" y="3896735"/>
            <a:ext cx="1144562" cy="2399032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740685"/>
              <a:gd name="connsiteY0" fmla="*/ 0 h 1890882"/>
              <a:gd name="connsiteX1" fmla="*/ 740685 w 740685"/>
              <a:gd name="connsiteY1" fmla="*/ 1553568 h 1890882"/>
              <a:gd name="connsiteX0" fmla="*/ 0 w 740685"/>
              <a:gd name="connsiteY0" fmla="*/ 0 h 1553569"/>
              <a:gd name="connsiteX1" fmla="*/ 740685 w 740685"/>
              <a:gd name="connsiteY1" fmla="*/ 1553568 h 1553569"/>
              <a:gd name="connsiteX0" fmla="*/ 865137 w 867536"/>
              <a:gd name="connsiteY0" fmla="*/ 0 h 1035189"/>
              <a:gd name="connsiteX1" fmla="*/ 154841 w 867536"/>
              <a:gd name="connsiteY1" fmla="*/ 1035189 h 1035189"/>
              <a:gd name="connsiteX0" fmla="*/ 903669 w 903669"/>
              <a:gd name="connsiteY0" fmla="*/ 28617 h 1063806"/>
              <a:gd name="connsiteX1" fmla="*/ 193373 w 903669"/>
              <a:gd name="connsiteY1" fmla="*/ 1063806 h 1063806"/>
              <a:gd name="connsiteX0" fmla="*/ 1329353 w 1329353"/>
              <a:gd name="connsiteY0" fmla="*/ 311957 h 333951"/>
              <a:gd name="connsiteX1" fmla="*/ 146318 w 1329353"/>
              <a:gd name="connsiteY1" fmla="*/ 333951 h 333951"/>
              <a:gd name="connsiteX0" fmla="*/ 1335921 w 1335921"/>
              <a:gd name="connsiteY0" fmla="*/ 1616112 h 1638106"/>
              <a:gd name="connsiteX1" fmla="*/ 152886 w 1335921"/>
              <a:gd name="connsiteY1" fmla="*/ 1638106 h 1638106"/>
              <a:gd name="connsiteX0" fmla="*/ 1396511 w 1396511"/>
              <a:gd name="connsiteY0" fmla="*/ 1713702 h 1735696"/>
              <a:gd name="connsiteX1" fmla="*/ 213476 w 1396511"/>
              <a:gd name="connsiteY1" fmla="*/ 1735696 h 1735696"/>
              <a:gd name="connsiteX0" fmla="*/ 1377830 w 1377830"/>
              <a:gd name="connsiteY0" fmla="*/ 1508565 h 1530559"/>
              <a:gd name="connsiteX1" fmla="*/ 194795 w 1377830"/>
              <a:gd name="connsiteY1" fmla="*/ 1530559 h 1530559"/>
              <a:gd name="connsiteX0" fmla="*/ 80370 w 788290"/>
              <a:gd name="connsiteY0" fmla="*/ 1009743 h 3113109"/>
              <a:gd name="connsiteX1" fmla="*/ 788290 w 788290"/>
              <a:gd name="connsiteY1" fmla="*/ 3113109 h 3113109"/>
              <a:gd name="connsiteX0" fmla="*/ 40665 w 748585"/>
              <a:gd name="connsiteY0" fmla="*/ 0 h 2103366"/>
              <a:gd name="connsiteX1" fmla="*/ 748585 w 748585"/>
              <a:gd name="connsiteY1" fmla="*/ 2103366 h 2103366"/>
              <a:gd name="connsiteX0" fmla="*/ 26198 w 869855"/>
              <a:gd name="connsiteY0" fmla="*/ 0 h 2967332"/>
              <a:gd name="connsiteX1" fmla="*/ 869855 w 869855"/>
              <a:gd name="connsiteY1" fmla="*/ 2967332 h 2967332"/>
              <a:gd name="connsiteX0" fmla="*/ 0 w 843657"/>
              <a:gd name="connsiteY0" fmla="*/ 0 h 2967332"/>
              <a:gd name="connsiteX1" fmla="*/ 843657 w 843657"/>
              <a:gd name="connsiteY1" fmla="*/ 2967332 h 2967332"/>
              <a:gd name="connsiteX0" fmla="*/ 0 w 843657"/>
              <a:gd name="connsiteY0" fmla="*/ 0 h 2967332"/>
              <a:gd name="connsiteX1" fmla="*/ 843657 w 843657"/>
              <a:gd name="connsiteY1" fmla="*/ 2967332 h 2967332"/>
              <a:gd name="connsiteX0" fmla="*/ 0 w 843657"/>
              <a:gd name="connsiteY0" fmla="*/ 0 h 2967332"/>
              <a:gd name="connsiteX1" fmla="*/ 843657 w 843657"/>
              <a:gd name="connsiteY1" fmla="*/ 2967332 h 296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3657" h="2967332">
                <a:moveTo>
                  <a:pt x="0" y="0"/>
                </a:moveTo>
                <a:cubicBezTo>
                  <a:pt x="86278" y="1746488"/>
                  <a:pt x="89963" y="2478086"/>
                  <a:pt x="843657" y="296733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10" name="坐标轴">
            <a:extLst>
              <a:ext uri="{FF2B5EF4-FFF2-40B4-BE49-F238E27FC236}">
                <a16:creationId xmlns:a16="http://schemas.microsoft.com/office/drawing/2014/main" id="{78BF8EAD-BC16-C0E2-8C49-DBDB1A570865}"/>
              </a:ext>
            </a:extLst>
          </p:cNvPr>
          <p:cNvGrpSpPr/>
          <p:nvPr/>
        </p:nvGrpSpPr>
        <p:grpSpPr>
          <a:xfrm>
            <a:off x="7175500" y="2395194"/>
            <a:ext cx="4821496" cy="3826760"/>
            <a:chOff x="5699544" y="2827242"/>
            <a:chExt cx="4821496" cy="3826760"/>
          </a:xfrm>
        </p:grpSpPr>
        <p:cxnSp>
          <p:nvCxnSpPr>
            <p:cNvPr id="28" name="实轴">
              <a:extLst>
                <a:ext uri="{FF2B5EF4-FFF2-40B4-BE49-F238E27FC236}">
                  <a16:creationId xmlns:a16="http://schemas.microsoft.com/office/drawing/2014/main" id="{0B3FFAE2-5E10-D833-BE14-F71AEA2F80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99544" y="4318469"/>
              <a:ext cx="459945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虚轴">
              <a:extLst>
                <a:ext uri="{FF2B5EF4-FFF2-40B4-BE49-F238E27FC236}">
                  <a16:creationId xmlns:a16="http://schemas.microsoft.com/office/drawing/2014/main" id="{2D56FA3E-C5BF-E59D-04A5-04623EA2F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7597" y="3125610"/>
              <a:ext cx="0" cy="3528392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/>
                <p:nvPr/>
              </p:nvSpPr>
              <p:spPr>
                <a:xfrm>
                  <a:off x="9944504" y="3795249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Re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4504" y="3795249"/>
                  <a:ext cx="576536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4348" r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/>
                <p:nvPr/>
              </p:nvSpPr>
              <p:spPr>
                <a:xfrm>
                  <a:off x="7847597" y="2827242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Im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7597" y="2827242"/>
                  <a:ext cx="576536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4255" r="-85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/>
                <p:nvPr/>
              </p:nvSpPr>
              <p:spPr>
                <a:xfrm>
                  <a:off x="7804016" y="4318469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4016" y="4318469"/>
                  <a:ext cx="545352" cy="5246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0" name="重要1">
            <a:extLst>
              <a:ext uri="{FF2B5EF4-FFF2-40B4-BE49-F238E27FC236}">
                <a16:creationId xmlns:a16="http://schemas.microsoft.com/office/drawing/2014/main" id="{5A786566-C153-E975-062F-3FCD5207A2E4}"/>
              </a:ext>
            </a:extLst>
          </p:cNvPr>
          <p:cNvSpPr txBox="1"/>
          <p:nvPr/>
        </p:nvSpPr>
        <p:spPr>
          <a:xfrm>
            <a:off x="3502918" y="1778794"/>
            <a:ext cx="1217718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起点</a:t>
            </a:r>
          </a:p>
        </p:txBody>
      </p:sp>
      <p:grpSp>
        <p:nvGrpSpPr>
          <p:cNvPr id="34" name="步骤2">
            <a:extLst>
              <a:ext uri="{FF2B5EF4-FFF2-40B4-BE49-F238E27FC236}">
                <a16:creationId xmlns:a16="http://schemas.microsoft.com/office/drawing/2014/main" id="{8C62DF29-A2DC-FECF-0741-27EDC933D825}"/>
              </a:ext>
            </a:extLst>
          </p:cNvPr>
          <p:cNvGrpSpPr/>
          <p:nvPr/>
        </p:nvGrpSpPr>
        <p:grpSpPr>
          <a:xfrm>
            <a:off x="175922" y="1731607"/>
            <a:ext cx="3110971" cy="725177"/>
            <a:chOff x="4943078" y="1700704"/>
            <a:chExt cx="3110971" cy="725177"/>
          </a:xfrm>
        </p:grpSpPr>
        <p:sp>
          <p:nvSpPr>
            <p:cNvPr id="36" name="标题">
              <a:extLst>
                <a:ext uri="{FF2B5EF4-FFF2-40B4-BE49-F238E27FC236}">
                  <a16:creationId xmlns:a16="http://schemas.microsoft.com/office/drawing/2014/main" id="{96C7FCCE-6BF1-7210-53D1-FA6B40322139}"/>
                </a:ext>
              </a:extLst>
            </p:cNvPr>
            <p:cNvSpPr/>
            <p:nvPr/>
          </p:nvSpPr>
          <p:spPr bwMode="auto">
            <a:xfrm>
              <a:off x="5375126" y="1769619"/>
              <a:ext cx="26789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求特征点</a:t>
              </a:r>
            </a:p>
          </p:txBody>
        </p:sp>
        <p:sp>
          <p:nvSpPr>
            <p:cNvPr id="37" name="序号">
              <a:extLst>
                <a:ext uri="{FF2B5EF4-FFF2-40B4-BE49-F238E27FC236}">
                  <a16:creationId xmlns:a16="http://schemas.microsoft.com/office/drawing/2014/main" id="{4CCDECC9-622E-24E7-9593-B122F0240E8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40" name="步骤3">
            <a:extLst>
              <a:ext uri="{FF2B5EF4-FFF2-40B4-BE49-F238E27FC236}">
                <a16:creationId xmlns:a16="http://schemas.microsoft.com/office/drawing/2014/main" id="{76681851-098D-78DD-468F-BA904D079BFA}"/>
              </a:ext>
            </a:extLst>
          </p:cNvPr>
          <p:cNvGrpSpPr/>
          <p:nvPr/>
        </p:nvGrpSpPr>
        <p:grpSpPr>
          <a:xfrm>
            <a:off x="147232" y="5255786"/>
            <a:ext cx="3110971" cy="725177"/>
            <a:chOff x="4943078" y="1700704"/>
            <a:chExt cx="3110971" cy="725177"/>
          </a:xfrm>
        </p:grpSpPr>
        <p:sp>
          <p:nvSpPr>
            <p:cNvPr id="41" name="标题">
              <a:extLst>
                <a:ext uri="{FF2B5EF4-FFF2-40B4-BE49-F238E27FC236}">
                  <a16:creationId xmlns:a16="http://schemas.microsoft.com/office/drawing/2014/main" id="{E2FB05CF-AAE9-D648-C1A3-5DDC805BC49E}"/>
                </a:ext>
              </a:extLst>
            </p:cNvPr>
            <p:cNvSpPr/>
            <p:nvPr/>
          </p:nvSpPr>
          <p:spPr bwMode="auto">
            <a:xfrm>
              <a:off x="5375126" y="1769619"/>
              <a:ext cx="26789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概略绘图</a:t>
              </a:r>
            </a:p>
          </p:txBody>
        </p:sp>
        <p:sp>
          <p:nvSpPr>
            <p:cNvPr id="42" name="序号">
              <a:extLst>
                <a:ext uri="{FF2B5EF4-FFF2-40B4-BE49-F238E27FC236}">
                  <a16:creationId xmlns:a16="http://schemas.microsoft.com/office/drawing/2014/main" id="{A3FC1872-1ECA-0629-EA49-4FB53B7336F1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起点">
                <a:extLst>
                  <a:ext uri="{FF2B5EF4-FFF2-40B4-BE49-F238E27FC236}">
                    <a16:creationId xmlns:a16="http://schemas.microsoft.com/office/drawing/2014/main" id="{71D4F4D9-4A11-9967-C1B8-21ED44DE51C0}"/>
                  </a:ext>
                </a:extLst>
              </p:cNvPr>
              <p:cNvSpPr txBox="1"/>
              <p:nvPr/>
            </p:nvSpPr>
            <p:spPr>
              <a:xfrm>
                <a:off x="4765670" y="1812436"/>
                <a:ext cx="32775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sSup>
                            <m:sSup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−90°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3" name="起点">
                <a:extLst>
                  <a:ext uri="{FF2B5EF4-FFF2-40B4-BE49-F238E27FC236}">
                    <a16:creationId xmlns:a16="http://schemas.microsoft.com/office/drawing/2014/main" id="{71D4F4D9-4A11-9967-C1B8-21ED44DE5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670" y="1812436"/>
                <a:ext cx="3277517" cy="523220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重要2">
            <a:extLst>
              <a:ext uri="{FF2B5EF4-FFF2-40B4-BE49-F238E27FC236}">
                <a16:creationId xmlns:a16="http://schemas.microsoft.com/office/drawing/2014/main" id="{2957ED14-51D5-916A-1B2B-9CA86687EA32}"/>
              </a:ext>
            </a:extLst>
          </p:cNvPr>
          <p:cNvSpPr txBox="1"/>
          <p:nvPr/>
        </p:nvSpPr>
        <p:spPr>
          <a:xfrm>
            <a:off x="292240" y="2580719"/>
            <a:ext cx="1217718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终点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终点">
                <a:extLst>
                  <a:ext uri="{FF2B5EF4-FFF2-40B4-BE49-F238E27FC236}">
                    <a16:creationId xmlns:a16="http://schemas.microsoft.com/office/drawing/2014/main" id="{393578E9-D8C0-F2B0-F0E1-9216CEFB3226}"/>
                  </a:ext>
                </a:extLst>
              </p:cNvPr>
              <p:cNvSpPr txBox="1"/>
              <p:nvPr/>
            </p:nvSpPr>
            <p:spPr>
              <a:xfrm>
                <a:off x="1131960" y="2644342"/>
                <a:ext cx="430986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∞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=0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18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0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" name="终点">
                <a:extLst>
                  <a:ext uri="{FF2B5EF4-FFF2-40B4-BE49-F238E27FC236}">
                    <a16:creationId xmlns:a16="http://schemas.microsoft.com/office/drawing/2014/main" id="{393578E9-D8C0-F2B0-F0E1-9216CEFB3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960" y="2644342"/>
                <a:ext cx="4309865" cy="523220"/>
              </a:xfrm>
              <a:prstGeom prst="rect">
                <a:avLst/>
              </a:prstGeom>
              <a:blipFill>
                <a:blip r:embed="rId7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重要3">
            <a:extLst>
              <a:ext uri="{FF2B5EF4-FFF2-40B4-BE49-F238E27FC236}">
                <a16:creationId xmlns:a16="http://schemas.microsoft.com/office/drawing/2014/main" id="{3C4685DF-59CA-EC90-CFB8-3864A7204425}"/>
              </a:ext>
            </a:extLst>
          </p:cNvPr>
          <p:cNvSpPr txBox="1"/>
          <p:nvPr/>
        </p:nvSpPr>
        <p:spPr>
          <a:xfrm>
            <a:off x="292974" y="3290857"/>
            <a:ext cx="2184958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负实轴交点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频率特性1">
                <a:extLst>
                  <a:ext uri="{FF2B5EF4-FFF2-40B4-BE49-F238E27FC236}">
                    <a16:creationId xmlns:a16="http://schemas.microsoft.com/office/drawing/2014/main" id="{39B7593D-532E-F4FE-F675-88B1FD2B4CCE}"/>
                  </a:ext>
                </a:extLst>
              </p:cNvPr>
              <p:cNvSpPr txBox="1"/>
              <p:nvPr/>
            </p:nvSpPr>
            <p:spPr>
              <a:xfrm>
                <a:off x="3258203" y="876568"/>
                <a:ext cx="3729919" cy="759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kumimoji="1" lang="en-US" altLang="zh-CN" sz="28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10</m:t>
                        </m:r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1+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kumimoji="1" lang="el-GR" altLang="zh-CN" sz="2800" dirty="0">
                    <a:solidFill>
                      <a:schemeClr val="tx1"/>
                    </a:solidFill>
                  </a:rPr>
                  <a:t> </a:t>
                </a:r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频率特性1">
                <a:extLst>
                  <a:ext uri="{FF2B5EF4-FFF2-40B4-BE49-F238E27FC236}">
                    <a16:creationId xmlns:a16="http://schemas.microsoft.com/office/drawing/2014/main" id="{39B7593D-532E-F4FE-F675-88B1FD2B4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203" y="876568"/>
                <a:ext cx="3729919" cy="759503"/>
              </a:xfrm>
              <a:prstGeom prst="rect">
                <a:avLst/>
              </a:prstGeom>
              <a:blipFill>
                <a:blip r:embed="rId8"/>
                <a:stretch>
                  <a:fillRect l="-1017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幅频特性2">
                <a:extLst>
                  <a:ext uri="{FF2B5EF4-FFF2-40B4-BE49-F238E27FC236}">
                    <a16:creationId xmlns:a16="http://schemas.microsoft.com/office/drawing/2014/main" id="{B915FC79-039F-4087-2278-DBC5E502ED70}"/>
                  </a:ext>
                </a:extLst>
              </p:cNvPr>
              <p:cNvSpPr txBox="1"/>
              <p:nvPr/>
            </p:nvSpPr>
            <p:spPr>
              <a:xfrm>
                <a:off x="6036837" y="855815"/>
                <a:ext cx="3267390" cy="778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10</m:t>
                        </m:r>
                        <m:r>
                          <a:rPr kumimoji="1"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(1−</m:t>
                        </m:r>
                        <m:r>
                          <a:rPr kumimoji="1"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kumimoji="1"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)</m:t>
                        </m:r>
                      </m:num>
                      <m:den>
                        <m:r>
                          <a:rPr kumimoji="1"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</m:t>
                        </m:r>
                        <m:r>
                          <a:rPr kumimoji="1"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1+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)</m:t>
                        </m:r>
                        <m:r>
                          <a:rPr kumimoji="1" lang="en-US" altLang="zh-CN" sz="280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(1−</m:t>
                        </m:r>
                        <m:r>
                          <a:rPr kumimoji="1" lang="en-US" altLang="zh-CN" sz="280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kumimoji="1"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6" name="幅频特性2">
                <a:extLst>
                  <a:ext uri="{FF2B5EF4-FFF2-40B4-BE49-F238E27FC236}">
                    <a16:creationId xmlns:a16="http://schemas.microsoft.com/office/drawing/2014/main" id="{B915FC79-039F-4087-2278-DBC5E502E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837" y="855815"/>
                <a:ext cx="3267390" cy="778675"/>
              </a:xfrm>
              <a:prstGeom prst="rect">
                <a:avLst/>
              </a:prstGeom>
              <a:blipFill>
                <a:blip r:embed="rId9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幅频特性3">
                <a:extLst>
                  <a:ext uri="{FF2B5EF4-FFF2-40B4-BE49-F238E27FC236}">
                    <a16:creationId xmlns:a16="http://schemas.microsoft.com/office/drawing/2014/main" id="{C47FFD2E-893E-1F72-1E22-BD0CD1E0BA94}"/>
                  </a:ext>
                </a:extLst>
              </p:cNvPr>
              <p:cNvSpPr txBox="1"/>
              <p:nvPr/>
            </p:nvSpPr>
            <p:spPr>
              <a:xfrm>
                <a:off x="9191550" y="862358"/>
                <a:ext cx="1927908" cy="778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</m:t>
                        </m:r>
                        <m: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10</m:t>
                        </m:r>
                        <m: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−10</m:t>
                        </m:r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</m:num>
                      <m:den>
                        <m: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den>
                    </m:f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4" name="幅频特性3">
                <a:extLst>
                  <a:ext uri="{FF2B5EF4-FFF2-40B4-BE49-F238E27FC236}">
                    <a16:creationId xmlns:a16="http://schemas.microsoft.com/office/drawing/2014/main" id="{C47FFD2E-893E-1F72-1E22-BD0CD1E0B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550" y="862358"/>
                <a:ext cx="1927908" cy="778675"/>
              </a:xfrm>
              <a:prstGeom prst="rect">
                <a:avLst/>
              </a:prstGeom>
              <a:blipFill>
                <a:blip r:embed="rId10"/>
                <a:stretch>
                  <a:fillRect b="-79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幅频特性4">
                <a:extLst>
                  <a:ext uri="{FF2B5EF4-FFF2-40B4-BE49-F238E27FC236}">
                    <a16:creationId xmlns:a16="http://schemas.microsoft.com/office/drawing/2014/main" id="{48D0C575-53CF-1538-C989-6879AF2713AC}"/>
                  </a:ext>
                </a:extLst>
              </p:cNvPr>
              <p:cNvSpPr txBox="1"/>
              <p:nvPr/>
            </p:nvSpPr>
            <p:spPr>
              <a:xfrm>
                <a:off x="9220465" y="1579295"/>
                <a:ext cx="2794026" cy="703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</m:t>
                        </m:r>
                        <m: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10</m:t>
                        </m:r>
                      </m:num>
                      <m:den>
                        <m:sSup>
                          <m:sSup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</m:t>
                        </m:r>
                      </m:den>
                    </m:f>
                    <m:r>
                      <a:rPr kumimoji="1"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−</m:t>
                    </m:r>
                    <m:r>
                      <a:rPr kumimoji="1"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𝑗</m:t>
                    </m:r>
                    <m:f>
                      <m:f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10</m:t>
                        </m:r>
                      </m:num>
                      <m:den>
                        <m:sSup>
                          <m:sSup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den>
                    </m:f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1" name="幅频特性4">
                <a:extLst>
                  <a:ext uri="{FF2B5EF4-FFF2-40B4-BE49-F238E27FC236}">
                    <a16:creationId xmlns:a16="http://schemas.microsoft.com/office/drawing/2014/main" id="{48D0C575-53CF-1538-C989-6879AF271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465" y="1579295"/>
                <a:ext cx="2794026" cy="703911"/>
              </a:xfrm>
              <a:prstGeom prst="rect">
                <a:avLst/>
              </a:prstGeom>
              <a:blipFill>
                <a:blip r:embed="rId11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说明3">
            <a:extLst>
              <a:ext uri="{FF2B5EF4-FFF2-40B4-BE49-F238E27FC236}">
                <a16:creationId xmlns:a16="http://schemas.microsoft.com/office/drawing/2014/main" id="{7026A351-E2DF-B152-E84B-4F35592CA134}"/>
              </a:ext>
            </a:extLst>
          </p:cNvPr>
          <p:cNvSpPr txBox="1"/>
          <p:nvPr/>
        </p:nvSpPr>
        <p:spPr>
          <a:xfrm>
            <a:off x="292240" y="6085374"/>
            <a:ext cx="3500570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accent1"/>
                </a:solidFill>
              </a:rPr>
              <a:t>不含零点时</a:t>
            </a:r>
            <a:r>
              <a:rPr kumimoji="1" lang="zh-CN" altLang="en-US" sz="2800" dirty="0">
                <a:solidFill>
                  <a:srgbClr val="159F84"/>
                </a:solidFill>
              </a:rPr>
              <a:t>单调收缩</a:t>
            </a:r>
          </a:p>
        </p:txBody>
      </p:sp>
      <p:sp>
        <p:nvSpPr>
          <p:cNvPr id="67" name="重要4">
            <a:extLst>
              <a:ext uri="{FF2B5EF4-FFF2-40B4-BE49-F238E27FC236}">
                <a16:creationId xmlns:a16="http://schemas.microsoft.com/office/drawing/2014/main" id="{E417B710-1AB4-55F8-43E5-3EDF076A2C11}"/>
              </a:ext>
            </a:extLst>
          </p:cNvPr>
          <p:cNvSpPr txBox="1"/>
          <p:nvPr/>
        </p:nvSpPr>
        <p:spPr>
          <a:xfrm>
            <a:off x="304360" y="4457758"/>
            <a:ext cx="2184958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实部渐近线</a:t>
            </a:r>
          </a:p>
        </p:txBody>
      </p:sp>
      <p:cxnSp>
        <p:nvCxnSpPr>
          <p:cNvPr id="12" name="向上">
            <a:extLst>
              <a:ext uri="{FF2B5EF4-FFF2-40B4-BE49-F238E27FC236}">
                <a16:creationId xmlns:a16="http://schemas.microsoft.com/office/drawing/2014/main" id="{92F8C95D-2606-09FC-D746-7C764CF75A59}"/>
              </a:ext>
            </a:extLst>
          </p:cNvPr>
          <p:cNvCxnSpPr>
            <a:cxnSpLocks/>
          </p:cNvCxnSpPr>
          <p:nvPr/>
        </p:nvCxnSpPr>
        <p:spPr>
          <a:xfrm flipV="1">
            <a:off x="8628915" y="5492381"/>
            <a:ext cx="0" cy="729573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向右">
            <a:extLst>
              <a:ext uri="{FF2B5EF4-FFF2-40B4-BE49-F238E27FC236}">
                <a16:creationId xmlns:a16="http://schemas.microsoft.com/office/drawing/2014/main" id="{45EA4DB1-33DC-97A9-AB68-CA29728F45DC}"/>
              </a:ext>
            </a:extLst>
          </p:cNvPr>
          <p:cNvCxnSpPr>
            <a:cxnSpLocks/>
          </p:cNvCxnSpPr>
          <p:nvPr/>
        </p:nvCxnSpPr>
        <p:spPr>
          <a:xfrm>
            <a:off x="8127479" y="3933056"/>
            <a:ext cx="910790" cy="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开环传函">
                <a:extLst>
                  <a:ext uri="{FF2B5EF4-FFF2-40B4-BE49-F238E27FC236}">
                    <a16:creationId xmlns:a16="http://schemas.microsoft.com/office/drawing/2014/main" id="{D93442EB-A994-89E9-FA60-2EE49D8449BF}"/>
                  </a:ext>
                </a:extLst>
              </p:cNvPr>
              <p:cNvSpPr txBox="1"/>
              <p:nvPr/>
            </p:nvSpPr>
            <p:spPr>
              <a:xfrm>
                <a:off x="7045882" y="145421"/>
                <a:ext cx="3164679" cy="759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10</m:t>
                        </m:r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46" name="开环传函">
                <a:extLst>
                  <a:ext uri="{FF2B5EF4-FFF2-40B4-BE49-F238E27FC236}">
                    <a16:creationId xmlns:a16="http://schemas.microsoft.com/office/drawing/2014/main" id="{D93442EB-A994-89E9-FA60-2EE49D8449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882" y="145421"/>
                <a:ext cx="3164679" cy="759503"/>
              </a:xfrm>
              <a:prstGeom prst="rect">
                <a:avLst/>
              </a:prstGeom>
              <a:blipFill>
                <a:blip r:embed="rId12"/>
                <a:stretch>
                  <a:fillRect l="-797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说明1">
                <a:extLst>
                  <a:ext uri="{FF2B5EF4-FFF2-40B4-BE49-F238E27FC236}">
                    <a16:creationId xmlns:a16="http://schemas.microsoft.com/office/drawing/2014/main" id="{95D7D61A-93A9-0F59-6D0C-C07FF932A8FB}"/>
                  </a:ext>
                </a:extLst>
              </p:cNvPr>
              <p:cNvSpPr txBox="1"/>
              <p:nvPr/>
            </p:nvSpPr>
            <p:spPr>
              <a:xfrm>
                <a:off x="2716952" y="3150069"/>
                <a:ext cx="4068163" cy="1058375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幅角范围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−90</m:t>
                        </m:r>
                        <m:r>
                          <a:rPr kumimoji="1" lang="en-US" altLang="zh-CN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°,−180°</m:t>
                        </m:r>
                      </m:e>
                    </m:d>
                  </m:oMath>
                </a14:m>
                <a:endParaRPr kumimoji="1" lang="en-US" altLang="zh-CN" sz="2800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不穿越</m:t>
                      </m:r>
                      <m:r>
                        <a:rPr kumimoji="1" lang="zh-CN" altLang="en-US" sz="28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负实轴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7" name="说明1">
                <a:extLst>
                  <a:ext uri="{FF2B5EF4-FFF2-40B4-BE49-F238E27FC236}">
                    <a16:creationId xmlns:a16="http://schemas.microsoft.com/office/drawing/2014/main" id="{95D7D61A-93A9-0F59-6D0C-C07FF932A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952" y="3150069"/>
                <a:ext cx="4068163" cy="1058375"/>
              </a:xfrm>
              <a:prstGeom prst="flowChartAlternateProcess">
                <a:avLst/>
              </a:prstGeom>
              <a:blipFill>
                <a:blip r:embed="rId13"/>
                <a:stretch>
                  <a:fillRect l="-1858" t="-2326" b="-1163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说明2">
                <a:extLst>
                  <a:ext uri="{FF2B5EF4-FFF2-40B4-BE49-F238E27FC236}">
                    <a16:creationId xmlns:a16="http://schemas.microsoft.com/office/drawing/2014/main" id="{F96A9A92-23CE-17DB-49B0-C00E53ADBE19}"/>
                  </a:ext>
                </a:extLst>
              </p:cNvPr>
              <p:cNvSpPr txBox="1"/>
              <p:nvPr/>
            </p:nvSpPr>
            <p:spPr>
              <a:xfrm>
                <a:off x="2716846" y="4477999"/>
                <a:ext cx="3594384" cy="778795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kumimoji="1" lang="en" altLang="zh-CN" sz="28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1" lang="en" altLang="zh-CN" sz="28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kumimoji="1" lang="en" altLang="zh-CN" sz="2800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kumimoji="1" lang="en-US" altLang="zh-CN" sz="28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kumimoji="1" lang="en-US" altLang="zh-CN" sz="2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kumimoji="1" lang="en-US" altLang="zh-CN" sz="28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kumimoji="1" lang="en-US" altLang="zh-CN" sz="28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f>
                          <m:fPr>
                            <m:ctrlPr>
                              <a:rPr kumimoji="1" lang="en-US" altLang="zh-CN" sz="28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−10</m:t>
                            </m:r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8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kumimoji="1" lang="en-US" altLang="zh-CN" sz="28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8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+1</m:t>
                            </m:r>
                          </m:den>
                        </m:f>
                      </m:e>
                    </m:func>
                    <m:r>
                      <a:rPr kumimoji="1" lang="en-US" altLang="zh-CN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=−10</m:t>
                    </m:r>
                  </m:oMath>
                </a14:m>
                <a:r>
                  <a:rPr kumimoji="1" lang="zh-CN" altLang="en-US" sz="2800" dirty="0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4" name="说明2">
                <a:extLst>
                  <a:ext uri="{FF2B5EF4-FFF2-40B4-BE49-F238E27FC236}">
                    <a16:creationId xmlns:a16="http://schemas.microsoft.com/office/drawing/2014/main" id="{F96A9A92-23CE-17DB-49B0-C00E53ADB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846" y="4477999"/>
                <a:ext cx="3594384" cy="778795"/>
              </a:xfrm>
              <a:prstGeom prst="flowChartAlternateProcess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渐近线坐标">
                <a:extLst>
                  <a:ext uri="{FF2B5EF4-FFF2-40B4-BE49-F238E27FC236}">
                    <a16:creationId xmlns:a16="http://schemas.microsoft.com/office/drawing/2014/main" id="{8CF6360A-78C4-B59D-567B-328711115DE3}"/>
                  </a:ext>
                </a:extLst>
              </p:cNvPr>
              <p:cNvSpPr txBox="1"/>
              <p:nvPr/>
            </p:nvSpPr>
            <p:spPr>
              <a:xfrm>
                <a:off x="7175500" y="3892992"/>
                <a:ext cx="855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−10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渐近线坐标">
                <a:extLst>
                  <a:ext uri="{FF2B5EF4-FFF2-40B4-BE49-F238E27FC236}">
                    <a16:creationId xmlns:a16="http://schemas.microsoft.com/office/drawing/2014/main" id="{8CF6360A-78C4-B59D-567B-328711115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500" y="3892992"/>
                <a:ext cx="855549" cy="523220"/>
              </a:xfrm>
              <a:prstGeom prst="rect">
                <a:avLst/>
              </a:prstGeom>
              <a:blipFill>
                <a:blip r:embed="rId15"/>
                <a:stretch>
                  <a:fillRect r="-2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起始频率">
                <a:extLst>
                  <a:ext uri="{FF2B5EF4-FFF2-40B4-BE49-F238E27FC236}">
                    <a16:creationId xmlns:a16="http://schemas.microsoft.com/office/drawing/2014/main" id="{52A43A7E-E27B-1907-8CA1-C526AE2BE377}"/>
                  </a:ext>
                </a:extLst>
              </p:cNvPr>
              <p:cNvSpPr txBox="1"/>
              <p:nvPr/>
            </p:nvSpPr>
            <p:spPr>
              <a:xfrm>
                <a:off x="8171115" y="6170267"/>
                <a:ext cx="11908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4" name="起始频率">
                <a:extLst>
                  <a:ext uri="{FF2B5EF4-FFF2-40B4-BE49-F238E27FC236}">
                    <a16:creationId xmlns:a16="http://schemas.microsoft.com/office/drawing/2014/main" id="{52A43A7E-E27B-1907-8CA1-C526AE2BE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1115" y="6170267"/>
                <a:ext cx="1190868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终止频率">
                <a:extLst>
                  <a:ext uri="{FF2B5EF4-FFF2-40B4-BE49-F238E27FC236}">
                    <a16:creationId xmlns:a16="http://schemas.microsoft.com/office/drawing/2014/main" id="{3AE6B575-3139-CF93-8F0F-6E33AF4F84AC}"/>
                  </a:ext>
                </a:extLst>
              </p:cNvPr>
              <p:cNvSpPr txBox="1"/>
              <p:nvPr/>
            </p:nvSpPr>
            <p:spPr>
              <a:xfrm>
                <a:off x="7998112" y="3374497"/>
                <a:ext cx="14716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=∞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6" name="终止频率">
                <a:extLst>
                  <a:ext uri="{FF2B5EF4-FFF2-40B4-BE49-F238E27FC236}">
                    <a16:creationId xmlns:a16="http://schemas.microsoft.com/office/drawing/2014/main" id="{3AE6B575-3139-CF93-8F0F-6E33AF4F8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8112" y="3374497"/>
                <a:ext cx="1471648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渐近线">
            <a:extLst>
              <a:ext uri="{FF2B5EF4-FFF2-40B4-BE49-F238E27FC236}">
                <a16:creationId xmlns:a16="http://schemas.microsoft.com/office/drawing/2014/main" id="{8251786F-324D-3983-236E-69E8E64CF3C9}"/>
              </a:ext>
            </a:extLst>
          </p:cNvPr>
          <p:cNvCxnSpPr>
            <a:cxnSpLocks/>
          </p:cNvCxnSpPr>
          <p:nvPr/>
        </p:nvCxnSpPr>
        <p:spPr>
          <a:xfrm flipV="1">
            <a:off x="8058491" y="2693562"/>
            <a:ext cx="0" cy="3600450"/>
          </a:xfrm>
          <a:prstGeom prst="line">
            <a:avLst/>
          </a:prstGeom>
          <a:ln w="38100">
            <a:solidFill>
              <a:schemeClr val="tx2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506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5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5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35" grpId="0" animBg="1"/>
      <p:bldP spid="70" grpId="0" animBg="1"/>
      <p:bldP spid="43" grpId="0"/>
      <p:bldP spid="48" grpId="0" animBg="1"/>
      <p:bldP spid="49" grpId="0"/>
      <p:bldP spid="50" grpId="0" animBg="1"/>
      <p:bldP spid="55" grpId="0"/>
      <p:bldP spid="56" grpId="0"/>
      <p:bldP spid="44" grpId="0"/>
      <p:bldP spid="51" grpId="0"/>
      <p:bldP spid="65" grpId="0" animBg="1"/>
      <p:bldP spid="67" grpId="0" animBg="1"/>
      <p:bldP spid="46" grpId="0"/>
      <p:bldP spid="47" grpId="0" animBg="1"/>
      <p:bldP spid="54" grpId="0" animBg="1"/>
      <p:bldP spid="63" grpId="0"/>
      <p:bldP spid="64" grpId="0"/>
      <p:bldP spid="6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绘制概略极坐标图例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6" name="步骤1">
            <a:extLst>
              <a:ext uri="{FF2B5EF4-FFF2-40B4-BE49-F238E27FC236}">
                <a16:creationId xmlns:a16="http://schemas.microsoft.com/office/drawing/2014/main" id="{98F4674A-51B6-B55E-285D-5812200E4606}"/>
              </a:ext>
            </a:extLst>
          </p:cNvPr>
          <p:cNvGrpSpPr/>
          <p:nvPr/>
        </p:nvGrpSpPr>
        <p:grpSpPr>
          <a:xfrm>
            <a:off x="193530" y="945843"/>
            <a:ext cx="3093364" cy="725177"/>
            <a:chOff x="4943078" y="1700704"/>
            <a:chExt cx="3093364" cy="725177"/>
          </a:xfrm>
        </p:grpSpPr>
        <p:sp>
          <p:nvSpPr>
            <p:cNvPr id="77" name="标题">
              <a:extLst>
                <a:ext uri="{FF2B5EF4-FFF2-40B4-BE49-F238E27FC236}">
                  <a16:creationId xmlns:a16="http://schemas.microsoft.com/office/drawing/2014/main" id="{43DA60B5-6978-89A1-FDF3-71B36825FB03}"/>
                </a:ext>
              </a:extLst>
            </p:cNvPr>
            <p:cNvSpPr/>
            <p:nvPr/>
          </p:nvSpPr>
          <p:spPr bwMode="auto">
            <a:xfrm>
              <a:off x="5375126" y="1769619"/>
              <a:ext cx="2661316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求频率特性</a:t>
              </a:r>
            </a:p>
          </p:txBody>
        </p:sp>
        <p:sp>
          <p:nvSpPr>
            <p:cNvPr id="78" name="序号">
              <a:extLst>
                <a:ext uri="{FF2B5EF4-FFF2-40B4-BE49-F238E27FC236}">
                  <a16:creationId xmlns:a16="http://schemas.microsoft.com/office/drawing/2014/main" id="{1C215964-A7F2-16B2-FE56-91D7F08D78A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5" name="幅相1-1">
            <a:extLst>
              <a:ext uri="{FF2B5EF4-FFF2-40B4-BE49-F238E27FC236}">
                <a16:creationId xmlns:a16="http://schemas.microsoft.com/office/drawing/2014/main" id="{6D9CB9E4-827A-67BE-4B81-4879FE516102}"/>
              </a:ext>
            </a:extLst>
          </p:cNvPr>
          <p:cNvSpPr/>
          <p:nvPr/>
        </p:nvSpPr>
        <p:spPr>
          <a:xfrm flipV="1">
            <a:off x="7291706" y="3711315"/>
            <a:ext cx="2719360" cy="114426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740685"/>
              <a:gd name="connsiteY0" fmla="*/ 0 h 1890882"/>
              <a:gd name="connsiteX1" fmla="*/ 740685 w 740685"/>
              <a:gd name="connsiteY1" fmla="*/ 1553568 h 1890882"/>
              <a:gd name="connsiteX0" fmla="*/ 0 w 740685"/>
              <a:gd name="connsiteY0" fmla="*/ 0 h 1553569"/>
              <a:gd name="connsiteX1" fmla="*/ 740685 w 740685"/>
              <a:gd name="connsiteY1" fmla="*/ 1553568 h 1553569"/>
              <a:gd name="connsiteX0" fmla="*/ 865137 w 867536"/>
              <a:gd name="connsiteY0" fmla="*/ 0 h 1035189"/>
              <a:gd name="connsiteX1" fmla="*/ 154841 w 867536"/>
              <a:gd name="connsiteY1" fmla="*/ 1035189 h 1035189"/>
              <a:gd name="connsiteX0" fmla="*/ 903669 w 903669"/>
              <a:gd name="connsiteY0" fmla="*/ 28617 h 1063806"/>
              <a:gd name="connsiteX1" fmla="*/ 193373 w 903669"/>
              <a:gd name="connsiteY1" fmla="*/ 1063806 h 1063806"/>
              <a:gd name="connsiteX0" fmla="*/ 1329353 w 1329353"/>
              <a:gd name="connsiteY0" fmla="*/ 311957 h 333951"/>
              <a:gd name="connsiteX1" fmla="*/ 146318 w 1329353"/>
              <a:gd name="connsiteY1" fmla="*/ 333951 h 333951"/>
              <a:gd name="connsiteX0" fmla="*/ 1335921 w 1335921"/>
              <a:gd name="connsiteY0" fmla="*/ 1616112 h 1638106"/>
              <a:gd name="connsiteX1" fmla="*/ 152886 w 1335921"/>
              <a:gd name="connsiteY1" fmla="*/ 1638106 h 1638106"/>
              <a:gd name="connsiteX0" fmla="*/ 1396511 w 1396511"/>
              <a:gd name="connsiteY0" fmla="*/ 1713702 h 1735696"/>
              <a:gd name="connsiteX1" fmla="*/ 213476 w 1396511"/>
              <a:gd name="connsiteY1" fmla="*/ 1735696 h 1735696"/>
              <a:gd name="connsiteX0" fmla="*/ 1377830 w 1377830"/>
              <a:gd name="connsiteY0" fmla="*/ 1508565 h 1530559"/>
              <a:gd name="connsiteX1" fmla="*/ 194795 w 1377830"/>
              <a:gd name="connsiteY1" fmla="*/ 1530559 h 1530559"/>
              <a:gd name="connsiteX0" fmla="*/ 885972 w 885972"/>
              <a:gd name="connsiteY0" fmla="*/ 1342492 h 1898574"/>
              <a:gd name="connsiteX1" fmla="*/ 255246 w 885972"/>
              <a:gd name="connsiteY1" fmla="*/ 1898574 h 1898574"/>
              <a:gd name="connsiteX0" fmla="*/ 860051 w 860387"/>
              <a:gd name="connsiteY0" fmla="*/ 449579 h 1005661"/>
              <a:gd name="connsiteX1" fmla="*/ 229325 w 860387"/>
              <a:gd name="connsiteY1" fmla="*/ 1005661 h 1005661"/>
              <a:gd name="connsiteX0" fmla="*/ 497667 w 498144"/>
              <a:gd name="connsiteY0" fmla="*/ 719342 h 719341"/>
              <a:gd name="connsiteX1" fmla="*/ 292873 w 498144"/>
              <a:gd name="connsiteY1" fmla="*/ 662794 h 719341"/>
              <a:gd name="connsiteX0" fmla="*/ 13337 w 580838"/>
              <a:gd name="connsiteY0" fmla="*/ 1110591 h 1110592"/>
              <a:gd name="connsiteX1" fmla="*/ 580838 w 580838"/>
              <a:gd name="connsiteY1" fmla="*/ 464976 h 1110592"/>
              <a:gd name="connsiteX0" fmla="*/ 0 w 567501"/>
              <a:gd name="connsiteY0" fmla="*/ 645616 h 645615"/>
              <a:gd name="connsiteX1" fmla="*/ 567501 w 567501"/>
              <a:gd name="connsiteY1" fmla="*/ 1 h 645615"/>
              <a:gd name="connsiteX0" fmla="*/ 0 w 1849980"/>
              <a:gd name="connsiteY0" fmla="*/ 1391767 h 1391767"/>
              <a:gd name="connsiteX1" fmla="*/ 1849980 w 1849980"/>
              <a:gd name="connsiteY1" fmla="*/ 0 h 1391767"/>
              <a:gd name="connsiteX0" fmla="*/ 0 w 1849980"/>
              <a:gd name="connsiteY0" fmla="*/ 1391767 h 1391767"/>
              <a:gd name="connsiteX1" fmla="*/ 1849980 w 1849980"/>
              <a:gd name="connsiteY1" fmla="*/ 0 h 1391767"/>
              <a:gd name="connsiteX0" fmla="*/ 0 w 2004439"/>
              <a:gd name="connsiteY0" fmla="*/ 1415330 h 1415330"/>
              <a:gd name="connsiteX1" fmla="*/ 2004439 w 2004439"/>
              <a:gd name="connsiteY1" fmla="*/ 0 h 1415330"/>
              <a:gd name="connsiteX0" fmla="*/ 0 w 2004439"/>
              <a:gd name="connsiteY0" fmla="*/ 1415330 h 1415330"/>
              <a:gd name="connsiteX1" fmla="*/ 2004439 w 2004439"/>
              <a:gd name="connsiteY1" fmla="*/ 0 h 141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4439" h="1415330">
                <a:moveTo>
                  <a:pt x="0" y="1415330"/>
                </a:moveTo>
                <a:cubicBezTo>
                  <a:pt x="624546" y="1347490"/>
                  <a:pt x="1681359" y="1395769"/>
                  <a:pt x="2004439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10" name="坐标轴">
            <a:extLst>
              <a:ext uri="{FF2B5EF4-FFF2-40B4-BE49-F238E27FC236}">
                <a16:creationId xmlns:a16="http://schemas.microsoft.com/office/drawing/2014/main" id="{78BF8EAD-BC16-C0E2-8C49-DBDB1A570865}"/>
              </a:ext>
            </a:extLst>
          </p:cNvPr>
          <p:cNvGrpSpPr/>
          <p:nvPr/>
        </p:nvGrpSpPr>
        <p:grpSpPr>
          <a:xfrm>
            <a:off x="7133461" y="2431952"/>
            <a:ext cx="4819375" cy="3790002"/>
            <a:chOff x="5657505" y="2864000"/>
            <a:chExt cx="4819375" cy="3790002"/>
          </a:xfrm>
        </p:grpSpPr>
        <p:cxnSp>
          <p:nvCxnSpPr>
            <p:cNvPr id="28" name="实轴">
              <a:extLst>
                <a:ext uri="{FF2B5EF4-FFF2-40B4-BE49-F238E27FC236}">
                  <a16:creationId xmlns:a16="http://schemas.microsoft.com/office/drawing/2014/main" id="{0B3FFAE2-5E10-D833-BE14-F71AEA2F80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57505" y="5300911"/>
              <a:ext cx="459945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虚轴">
              <a:extLst>
                <a:ext uri="{FF2B5EF4-FFF2-40B4-BE49-F238E27FC236}">
                  <a16:creationId xmlns:a16="http://schemas.microsoft.com/office/drawing/2014/main" id="{2D56FA3E-C5BF-E59D-04A5-04623EA2F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79269" y="3125610"/>
              <a:ext cx="0" cy="3528392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/>
                <p:nvPr/>
              </p:nvSpPr>
              <p:spPr>
                <a:xfrm>
                  <a:off x="9900344" y="4777691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Re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0344" y="4777691"/>
                  <a:ext cx="576536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4255" r="-42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/>
                <p:nvPr/>
              </p:nvSpPr>
              <p:spPr>
                <a:xfrm>
                  <a:off x="8628323" y="286400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Im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8323" y="2864000"/>
                  <a:ext cx="576536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6522" r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/>
                <p:nvPr/>
              </p:nvSpPr>
              <p:spPr>
                <a:xfrm>
                  <a:off x="8500618" y="5256638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0618" y="5256638"/>
                  <a:ext cx="545352" cy="5246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0" name="重要1">
            <a:extLst>
              <a:ext uri="{FF2B5EF4-FFF2-40B4-BE49-F238E27FC236}">
                <a16:creationId xmlns:a16="http://schemas.microsoft.com/office/drawing/2014/main" id="{5A786566-C153-E975-062F-3FCD5207A2E4}"/>
              </a:ext>
            </a:extLst>
          </p:cNvPr>
          <p:cNvSpPr txBox="1"/>
          <p:nvPr/>
        </p:nvSpPr>
        <p:spPr>
          <a:xfrm>
            <a:off x="3502918" y="1778794"/>
            <a:ext cx="1217718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起点</a:t>
            </a:r>
          </a:p>
        </p:txBody>
      </p:sp>
      <p:grpSp>
        <p:nvGrpSpPr>
          <p:cNvPr id="34" name="步骤2">
            <a:extLst>
              <a:ext uri="{FF2B5EF4-FFF2-40B4-BE49-F238E27FC236}">
                <a16:creationId xmlns:a16="http://schemas.microsoft.com/office/drawing/2014/main" id="{8C62DF29-A2DC-FECF-0741-27EDC933D825}"/>
              </a:ext>
            </a:extLst>
          </p:cNvPr>
          <p:cNvGrpSpPr/>
          <p:nvPr/>
        </p:nvGrpSpPr>
        <p:grpSpPr>
          <a:xfrm>
            <a:off x="175922" y="1731607"/>
            <a:ext cx="3110971" cy="725177"/>
            <a:chOff x="4943078" y="1700704"/>
            <a:chExt cx="3110971" cy="725177"/>
          </a:xfrm>
        </p:grpSpPr>
        <p:sp>
          <p:nvSpPr>
            <p:cNvPr id="36" name="标题">
              <a:extLst>
                <a:ext uri="{FF2B5EF4-FFF2-40B4-BE49-F238E27FC236}">
                  <a16:creationId xmlns:a16="http://schemas.microsoft.com/office/drawing/2014/main" id="{96C7FCCE-6BF1-7210-53D1-FA6B40322139}"/>
                </a:ext>
              </a:extLst>
            </p:cNvPr>
            <p:cNvSpPr/>
            <p:nvPr/>
          </p:nvSpPr>
          <p:spPr bwMode="auto">
            <a:xfrm>
              <a:off x="5375126" y="1769619"/>
              <a:ext cx="26789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求特征点</a:t>
              </a:r>
            </a:p>
          </p:txBody>
        </p:sp>
        <p:sp>
          <p:nvSpPr>
            <p:cNvPr id="37" name="序号">
              <a:extLst>
                <a:ext uri="{FF2B5EF4-FFF2-40B4-BE49-F238E27FC236}">
                  <a16:creationId xmlns:a16="http://schemas.microsoft.com/office/drawing/2014/main" id="{4CCDECC9-622E-24E7-9593-B122F0240E8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40" name="步骤3">
            <a:extLst>
              <a:ext uri="{FF2B5EF4-FFF2-40B4-BE49-F238E27FC236}">
                <a16:creationId xmlns:a16="http://schemas.microsoft.com/office/drawing/2014/main" id="{76681851-098D-78DD-468F-BA904D079BFA}"/>
              </a:ext>
            </a:extLst>
          </p:cNvPr>
          <p:cNvGrpSpPr/>
          <p:nvPr/>
        </p:nvGrpSpPr>
        <p:grpSpPr>
          <a:xfrm>
            <a:off x="147232" y="5255786"/>
            <a:ext cx="3110971" cy="725177"/>
            <a:chOff x="4943078" y="1700704"/>
            <a:chExt cx="3110971" cy="725177"/>
          </a:xfrm>
        </p:grpSpPr>
        <p:sp>
          <p:nvSpPr>
            <p:cNvPr id="41" name="标题">
              <a:extLst>
                <a:ext uri="{FF2B5EF4-FFF2-40B4-BE49-F238E27FC236}">
                  <a16:creationId xmlns:a16="http://schemas.microsoft.com/office/drawing/2014/main" id="{E2FB05CF-AAE9-D648-C1A3-5DDC805BC49E}"/>
                </a:ext>
              </a:extLst>
            </p:cNvPr>
            <p:cNvSpPr/>
            <p:nvPr/>
          </p:nvSpPr>
          <p:spPr bwMode="auto">
            <a:xfrm>
              <a:off x="5375126" y="1769619"/>
              <a:ext cx="26789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概略绘图</a:t>
              </a:r>
            </a:p>
          </p:txBody>
        </p:sp>
        <p:sp>
          <p:nvSpPr>
            <p:cNvPr id="42" name="序号">
              <a:extLst>
                <a:ext uri="{FF2B5EF4-FFF2-40B4-BE49-F238E27FC236}">
                  <a16:creationId xmlns:a16="http://schemas.microsoft.com/office/drawing/2014/main" id="{A3FC1872-1ECA-0629-EA49-4FB53B7336F1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起点">
                <a:extLst>
                  <a:ext uri="{FF2B5EF4-FFF2-40B4-BE49-F238E27FC236}">
                    <a16:creationId xmlns:a16="http://schemas.microsoft.com/office/drawing/2014/main" id="{71D4F4D9-4A11-9967-C1B8-21ED44DE51C0}"/>
                  </a:ext>
                </a:extLst>
              </p:cNvPr>
              <p:cNvSpPr txBox="1"/>
              <p:nvPr/>
            </p:nvSpPr>
            <p:spPr>
              <a:xfrm>
                <a:off x="4720636" y="1813311"/>
                <a:ext cx="32775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−180°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3" name="起点">
                <a:extLst>
                  <a:ext uri="{FF2B5EF4-FFF2-40B4-BE49-F238E27FC236}">
                    <a16:creationId xmlns:a16="http://schemas.microsoft.com/office/drawing/2014/main" id="{71D4F4D9-4A11-9967-C1B8-21ED44DE5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0636" y="1813311"/>
                <a:ext cx="3277517" cy="523220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重要2">
            <a:extLst>
              <a:ext uri="{FF2B5EF4-FFF2-40B4-BE49-F238E27FC236}">
                <a16:creationId xmlns:a16="http://schemas.microsoft.com/office/drawing/2014/main" id="{2957ED14-51D5-916A-1B2B-9CA86687EA32}"/>
              </a:ext>
            </a:extLst>
          </p:cNvPr>
          <p:cNvSpPr txBox="1"/>
          <p:nvPr/>
        </p:nvSpPr>
        <p:spPr>
          <a:xfrm>
            <a:off x="292240" y="2580719"/>
            <a:ext cx="1217718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终点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终点">
                <a:extLst>
                  <a:ext uri="{FF2B5EF4-FFF2-40B4-BE49-F238E27FC236}">
                    <a16:creationId xmlns:a16="http://schemas.microsoft.com/office/drawing/2014/main" id="{393578E9-D8C0-F2B0-F0E1-9216CEFB3226}"/>
                  </a:ext>
                </a:extLst>
              </p:cNvPr>
              <p:cNvSpPr txBox="1"/>
              <p:nvPr/>
            </p:nvSpPr>
            <p:spPr>
              <a:xfrm>
                <a:off x="1131960" y="2644342"/>
                <a:ext cx="430986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∞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=0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27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0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" name="终点">
                <a:extLst>
                  <a:ext uri="{FF2B5EF4-FFF2-40B4-BE49-F238E27FC236}">
                    <a16:creationId xmlns:a16="http://schemas.microsoft.com/office/drawing/2014/main" id="{393578E9-D8C0-F2B0-F0E1-9216CEFB3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960" y="2644342"/>
                <a:ext cx="4309865" cy="523220"/>
              </a:xfrm>
              <a:prstGeom prst="rect">
                <a:avLst/>
              </a:prstGeom>
              <a:blipFill>
                <a:blip r:embed="rId7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重要3">
            <a:extLst>
              <a:ext uri="{FF2B5EF4-FFF2-40B4-BE49-F238E27FC236}">
                <a16:creationId xmlns:a16="http://schemas.microsoft.com/office/drawing/2014/main" id="{3C4685DF-59CA-EC90-CFB8-3864A7204425}"/>
              </a:ext>
            </a:extLst>
          </p:cNvPr>
          <p:cNvSpPr txBox="1"/>
          <p:nvPr/>
        </p:nvSpPr>
        <p:spPr>
          <a:xfrm>
            <a:off x="292974" y="3290857"/>
            <a:ext cx="2184958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负实轴交点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频率特性">
                <a:extLst>
                  <a:ext uri="{FF2B5EF4-FFF2-40B4-BE49-F238E27FC236}">
                    <a16:creationId xmlns:a16="http://schemas.microsoft.com/office/drawing/2014/main" id="{39B7593D-532E-F4FE-F675-88B1FD2B4CCE}"/>
                  </a:ext>
                </a:extLst>
              </p:cNvPr>
              <p:cNvSpPr txBox="1"/>
              <p:nvPr/>
            </p:nvSpPr>
            <p:spPr>
              <a:xfrm>
                <a:off x="3258203" y="876568"/>
                <a:ext cx="3729919" cy="759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kumimoji="1" lang="en-US" altLang="zh-CN" sz="28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10</m:t>
                        </m:r>
                      </m:num>
                      <m:den>
                        <m:sSup>
                          <m:sSup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𝑗</m:t>
                                </m:r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den>
                    </m:f>
                  </m:oMath>
                </a14:m>
                <a:r>
                  <a:rPr kumimoji="1" lang="el-GR" altLang="zh-CN" sz="2800" dirty="0">
                    <a:solidFill>
                      <a:schemeClr val="tx1"/>
                    </a:solidFill>
                  </a:rPr>
                  <a:t> </a:t>
                </a:r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频率特性">
                <a:extLst>
                  <a:ext uri="{FF2B5EF4-FFF2-40B4-BE49-F238E27FC236}">
                    <a16:creationId xmlns:a16="http://schemas.microsoft.com/office/drawing/2014/main" id="{39B7593D-532E-F4FE-F675-88B1FD2B4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203" y="876568"/>
                <a:ext cx="3729919" cy="759503"/>
              </a:xfrm>
              <a:prstGeom prst="rect">
                <a:avLst/>
              </a:prstGeom>
              <a:blipFill>
                <a:blip r:embed="rId8"/>
                <a:stretch>
                  <a:fillRect l="-1017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幅频特性">
                <a:extLst>
                  <a:ext uri="{FF2B5EF4-FFF2-40B4-BE49-F238E27FC236}">
                    <a16:creationId xmlns:a16="http://schemas.microsoft.com/office/drawing/2014/main" id="{B915FC79-039F-4087-2278-DBC5E502ED70}"/>
                  </a:ext>
                </a:extLst>
              </p:cNvPr>
              <p:cNvSpPr txBox="1"/>
              <p:nvPr/>
            </p:nvSpPr>
            <p:spPr>
              <a:xfrm>
                <a:off x="7113352" y="793527"/>
                <a:ext cx="4333240" cy="7280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en-US" altLang="zh-CN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" altLang="zh-CN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kumimoji="1" lang="en" altLang="zh-CN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" altLang="zh-CN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kumimoji="1" lang="el-GR" altLang="zh-CN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kumimoji="1"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10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ad>
                            <m:radPr>
                              <m:degHide m:val="on"/>
                              <m:ctrlPr>
                                <a:rPr kumimoji="1" lang="en-US" altLang="zh-CN" sz="20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kumimoji="1"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+1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幅频特性">
                <a:extLst>
                  <a:ext uri="{FF2B5EF4-FFF2-40B4-BE49-F238E27FC236}">
                    <a16:creationId xmlns:a16="http://schemas.microsoft.com/office/drawing/2014/main" id="{B915FC79-039F-4087-2278-DBC5E502E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352" y="793527"/>
                <a:ext cx="4333240" cy="728084"/>
              </a:xfrm>
              <a:prstGeom prst="rect">
                <a:avLst/>
              </a:prstGeom>
              <a:blipFill>
                <a:blip r:embed="rId9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相频特性">
                <a:extLst>
                  <a:ext uri="{FF2B5EF4-FFF2-40B4-BE49-F238E27FC236}">
                    <a16:creationId xmlns:a16="http://schemas.microsoft.com/office/drawing/2014/main" id="{D05C6E63-1C03-DC28-1343-4A01B9D5998B}"/>
                  </a:ext>
                </a:extLst>
              </p:cNvPr>
              <p:cNvSpPr txBox="1"/>
              <p:nvPr/>
            </p:nvSpPr>
            <p:spPr>
              <a:xfrm>
                <a:off x="7182873" y="1587561"/>
                <a:ext cx="450062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kumimoji="1" lang="en" altLang="zh-CN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kumimoji="1" lang="en" altLang="zh-CN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" altLang="zh-CN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l-GR" altLang="zh-CN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kumimoji="1"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=−180</m:t>
                      </m:r>
                      <m:r>
                        <a:rPr kumimoji="1"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°−</m:t>
                      </m:r>
                      <m:func>
                        <m:funcPr>
                          <m:ctrlPr>
                            <a:rPr kumimoji="1"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func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相频特性">
                <a:extLst>
                  <a:ext uri="{FF2B5EF4-FFF2-40B4-BE49-F238E27FC236}">
                    <a16:creationId xmlns:a16="http://schemas.microsoft.com/office/drawing/2014/main" id="{D05C6E63-1C03-DC28-1343-4A01B9D59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2873" y="1587561"/>
                <a:ext cx="4500628" cy="400110"/>
              </a:xfrm>
              <a:prstGeom prst="rect">
                <a:avLst/>
              </a:prstGeom>
              <a:blipFill>
                <a:blip r:embed="rId10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燕尾形 60">
            <a:extLst>
              <a:ext uri="{FF2B5EF4-FFF2-40B4-BE49-F238E27FC236}">
                <a16:creationId xmlns:a16="http://schemas.microsoft.com/office/drawing/2014/main" id="{89817132-95C4-E977-40CB-A0310529B74D}"/>
              </a:ext>
            </a:extLst>
          </p:cNvPr>
          <p:cNvSpPr/>
          <p:nvPr/>
        </p:nvSpPr>
        <p:spPr>
          <a:xfrm>
            <a:off x="7113352" y="1127365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5" name="说明3">
            <a:extLst>
              <a:ext uri="{FF2B5EF4-FFF2-40B4-BE49-F238E27FC236}">
                <a16:creationId xmlns:a16="http://schemas.microsoft.com/office/drawing/2014/main" id="{7026A351-E2DF-B152-E84B-4F35592CA134}"/>
              </a:ext>
            </a:extLst>
          </p:cNvPr>
          <p:cNvSpPr txBox="1"/>
          <p:nvPr/>
        </p:nvSpPr>
        <p:spPr>
          <a:xfrm>
            <a:off x="292240" y="6085374"/>
            <a:ext cx="3500570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accent1"/>
                </a:solidFill>
              </a:rPr>
              <a:t>不含零点时</a:t>
            </a:r>
            <a:r>
              <a:rPr kumimoji="1" lang="zh-CN" altLang="en-US" sz="2800" dirty="0">
                <a:solidFill>
                  <a:srgbClr val="159F84"/>
                </a:solidFill>
              </a:rPr>
              <a:t>单调收缩</a:t>
            </a:r>
          </a:p>
        </p:txBody>
      </p:sp>
      <p:sp>
        <p:nvSpPr>
          <p:cNvPr id="67" name="重要4">
            <a:extLst>
              <a:ext uri="{FF2B5EF4-FFF2-40B4-BE49-F238E27FC236}">
                <a16:creationId xmlns:a16="http://schemas.microsoft.com/office/drawing/2014/main" id="{E417B710-1AB4-55F8-43E5-3EDF076A2C11}"/>
              </a:ext>
            </a:extLst>
          </p:cNvPr>
          <p:cNvSpPr txBox="1"/>
          <p:nvPr/>
        </p:nvSpPr>
        <p:spPr>
          <a:xfrm>
            <a:off x="304360" y="4457758"/>
            <a:ext cx="2184958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实部渐近线</a:t>
            </a:r>
          </a:p>
        </p:txBody>
      </p:sp>
      <p:cxnSp>
        <p:nvCxnSpPr>
          <p:cNvPr id="12" name="向下">
            <a:extLst>
              <a:ext uri="{FF2B5EF4-FFF2-40B4-BE49-F238E27FC236}">
                <a16:creationId xmlns:a16="http://schemas.microsoft.com/office/drawing/2014/main" id="{92F8C95D-2606-09FC-D746-7C764CF75A59}"/>
              </a:ext>
            </a:extLst>
          </p:cNvPr>
          <p:cNvCxnSpPr>
            <a:cxnSpLocks/>
          </p:cNvCxnSpPr>
          <p:nvPr/>
        </p:nvCxnSpPr>
        <p:spPr>
          <a:xfrm>
            <a:off x="7182873" y="4725144"/>
            <a:ext cx="792088" cy="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向右">
            <a:extLst>
              <a:ext uri="{FF2B5EF4-FFF2-40B4-BE49-F238E27FC236}">
                <a16:creationId xmlns:a16="http://schemas.microsoft.com/office/drawing/2014/main" id="{45EA4DB1-33DC-97A9-AB68-CA29728F45DC}"/>
              </a:ext>
            </a:extLst>
          </p:cNvPr>
          <p:cNvCxnSpPr>
            <a:cxnSpLocks/>
          </p:cNvCxnSpPr>
          <p:nvPr/>
        </p:nvCxnSpPr>
        <p:spPr>
          <a:xfrm>
            <a:off x="9911630" y="3557488"/>
            <a:ext cx="0" cy="650956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开环传函">
                <a:extLst>
                  <a:ext uri="{FF2B5EF4-FFF2-40B4-BE49-F238E27FC236}">
                    <a16:creationId xmlns:a16="http://schemas.microsoft.com/office/drawing/2014/main" id="{D93442EB-A994-89E9-FA60-2EE49D8449BF}"/>
                  </a:ext>
                </a:extLst>
              </p:cNvPr>
              <p:cNvSpPr txBox="1"/>
              <p:nvPr/>
            </p:nvSpPr>
            <p:spPr>
              <a:xfrm>
                <a:off x="7045882" y="145421"/>
                <a:ext cx="3164679" cy="759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10</m:t>
                        </m:r>
                      </m:num>
                      <m:den>
                        <m:sSup>
                          <m:sSup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𝑠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46" name="开环传函">
                <a:extLst>
                  <a:ext uri="{FF2B5EF4-FFF2-40B4-BE49-F238E27FC236}">
                    <a16:creationId xmlns:a16="http://schemas.microsoft.com/office/drawing/2014/main" id="{D93442EB-A994-89E9-FA60-2EE49D8449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882" y="145421"/>
                <a:ext cx="3164679" cy="759503"/>
              </a:xfrm>
              <a:prstGeom prst="rect">
                <a:avLst/>
              </a:prstGeom>
              <a:blipFill>
                <a:blip r:embed="rId11"/>
                <a:stretch>
                  <a:fillRect l="-797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说明1">
                <a:extLst>
                  <a:ext uri="{FF2B5EF4-FFF2-40B4-BE49-F238E27FC236}">
                    <a16:creationId xmlns:a16="http://schemas.microsoft.com/office/drawing/2014/main" id="{95D7D61A-93A9-0F59-6D0C-C07FF932A8FB}"/>
                  </a:ext>
                </a:extLst>
              </p:cNvPr>
              <p:cNvSpPr txBox="1"/>
              <p:nvPr/>
            </p:nvSpPr>
            <p:spPr>
              <a:xfrm>
                <a:off x="2716952" y="3150069"/>
                <a:ext cx="4134698" cy="1058375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幅角范围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−180</m:t>
                        </m:r>
                        <m:r>
                          <a:rPr kumimoji="1" lang="en-US" altLang="zh-CN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°,−270°</m:t>
                        </m:r>
                      </m:e>
                    </m:d>
                  </m:oMath>
                </a14:m>
                <a:endParaRPr kumimoji="1" lang="en-US" altLang="zh-CN" sz="2800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不穿越</m:t>
                      </m:r>
                      <m:r>
                        <a:rPr kumimoji="1" lang="zh-CN" altLang="en-US" sz="28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负实轴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7" name="说明1">
                <a:extLst>
                  <a:ext uri="{FF2B5EF4-FFF2-40B4-BE49-F238E27FC236}">
                    <a16:creationId xmlns:a16="http://schemas.microsoft.com/office/drawing/2014/main" id="{95D7D61A-93A9-0F59-6D0C-C07FF932A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952" y="3150069"/>
                <a:ext cx="4134698" cy="1058375"/>
              </a:xfrm>
              <a:prstGeom prst="flowChartAlternateProcess">
                <a:avLst/>
              </a:prstGeom>
              <a:blipFill>
                <a:blip r:embed="rId12"/>
                <a:stretch>
                  <a:fillRect l="-1829" t="-2326" b="-1163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说明2">
                <a:extLst>
                  <a:ext uri="{FF2B5EF4-FFF2-40B4-BE49-F238E27FC236}">
                    <a16:creationId xmlns:a16="http://schemas.microsoft.com/office/drawing/2014/main" id="{F96A9A92-23CE-17DB-49B0-C00E53ADBE19}"/>
                  </a:ext>
                </a:extLst>
              </p:cNvPr>
              <p:cNvSpPr txBox="1"/>
              <p:nvPr/>
            </p:nvSpPr>
            <p:spPr>
              <a:xfrm>
                <a:off x="2716846" y="4477999"/>
                <a:ext cx="3168626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，无渐近线</a:t>
                </a:r>
              </a:p>
            </p:txBody>
          </p:sp>
        </mc:Choice>
        <mc:Fallback xmlns="">
          <p:sp>
            <p:nvSpPr>
              <p:cNvPr id="54" name="说明2">
                <a:extLst>
                  <a:ext uri="{FF2B5EF4-FFF2-40B4-BE49-F238E27FC236}">
                    <a16:creationId xmlns:a16="http://schemas.microsoft.com/office/drawing/2014/main" id="{F96A9A92-23CE-17DB-49B0-C00E53ADB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846" y="4477999"/>
                <a:ext cx="3168626" cy="578882"/>
              </a:xfrm>
              <a:prstGeom prst="flowChartAlternateProcess">
                <a:avLst/>
              </a:prstGeom>
              <a:blipFill>
                <a:blip r:embed="rId13"/>
                <a:stretch>
                  <a:fillRect t="-6122" b="-18367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起始频率">
                <a:extLst>
                  <a:ext uri="{FF2B5EF4-FFF2-40B4-BE49-F238E27FC236}">
                    <a16:creationId xmlns:a16="http://schemas.microsoft.com/office/drawing/2014/main" id="{52A43A7E-E27B-1907-8CA1-C526AE2BE377}"/>
                  </a:ext>
                </a:extLst>
              </p:cNvPr>
              <p:cNvSpPr txBox="1"/>
              <p:nvPr/>
            </p:nvSpPr>
            <p:spPr>
              <a:xfrm>
                <a:off x="6969665" y="4111885"/>
                <a:ext cx="11908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4" name="起始频率">
                <a:extLst>
                  <a:ext uri="{FF2B5EF4-FFF2-40B4-BE49-F238E27FC236}">
                    <a16:creationId xmlns:a16="http://schemas.microsoft.com/office/drawing/2014/main" id="{52A43A7E-E27B-1907-8CA1-C526AE2BE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9665" y="4111885"/>
                <a:ext cx="1190868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终止频率">
                <a:extLst>
                  <a:ext uri="{FF2B5EF4-FFF2-40B4-BE49-F238E27FC236}">
                    <a16:creationId xmlns:a16="http://schemas.microsoft.com/office/drawing/2014/main" id="{3AE6B575-3139-CF93-8F0F-6E33AF4F84AC}"/>
                  </a:ext>
                </a:extLst>
              </p:cNvPr>
              <p:cNvSpPr txBox="1"/>
              <p:nvPr/>
            </p:nvSpPr>
            <p:spPr>
              <a:xfrm>
                <a:off x="9904652" y="3639752"/>
                <a:ext cx="14716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=∞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6" name="终止频率">
                <a:extLst>
                  <a:ext uri="{FF2B5EF4-FFF2-40B4-BE49-F238E27FC236}">
                    <a16:creationId xmlns:a16="http://schemas.microsoft.com/office/drawing/2014/main" id="{3AE6B575-3139-CF93-8F0F-6E33AF4F8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4652" y="3639752"/>
                <a:ext cx="1471648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0825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5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5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35" grpId="0" animBg="1"/>
      <p:bldP spid="70" grpId="0" animBg="1"/>
      <p:bldP spid="43" grpId="0"/>
      <p:bldP spid="48" grpId="0" animBg="1"/>
      <p:bldP spid="49" grpId="0"/>
      <p:bldP spid="50" grpId="0" animBg="1"/>
      <p:bldP spid="55" grpId="0"/>
      <p:bldP spid="56" grpId="0"/>
      <p:bldP spid="57" grpId="0"/>
      <p:bldP spid="61" grpId="0" animBg="1"/>
      <p:bldP spid="65" grpId="0" animBg="1"/>
      <p:bldP spid="67" grpId="0" animBg="1"/>
      <p:bldP spid="46" grpId="0"/>
      <p:bldP spid="47" grpId="0" animBg="1"/>
      <p:bldP spid="54" grpId="0" animBg="1"/>
      <p:bldP spid="64" grpId="0"/>
      <p:bldP spid="6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绘制概略极坐标图例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6" name="步骤1">
            <a:extLst>
              <a:ext uri="{FF2B5EF4-FFF2-40B4-BE49-F238E27FC236}">
                <a16:creationId xmlns:a16="http://schemas.microsoft.com/office/drawing/2014/main" id="{98F4674A-51B6-B55E-285D-5812200E4606}"/>
              </a:ext>
            </a:extLst>
          </p:cNvPr>
          <p:cNvGrpSpPr/>
          <p:nvPr/>
        </p:nvGrpSpPr>
        <p:grpSpPr>
          <a:xfrm>
            <a:off x="193530" y="945843"/>
            <a:ext cx="3093364" cy="725177"/>
            <a:chOff x="4943078" y="1700704"/>
            <a:chExt cx="3093364" cy="725177"/>
          </a:xfrm>
        </p:grpSpPr>
        <p:sp>
          <p:nvSpPr>
            <p:cNvPr id="77" name="标题">
              <a:extLst>
                <a:ext uri="{FF2B5EF4-FFF2-40B4-BE49-F238E27FC236}">
                  <a16:creationId xmlns:a16="http://schemas.microsoft.com/office/drawing/2014/main" id="{43DA60B5-6978-89A1-FDF3-71B36825FB03}"/>
                </a:ext>
              </a:extLst>
            </p:cNvPr>
            <p:cNvSpPr/>
            <p:nvPr/>
          </p:nvSpPr>
          <p:spPr bwMode="auto">
            <a:xfrm>
              <a:off x="5375126" y="1769619"/>
              <a:ext cx="2661316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求频率特性</a:t>
              </a:r>
            </a:p>
          </p:txBody>
        </p:sp>
        <p:sp>
          <p:nvSpPr>
            <p:cNvPr id="78" name="序号">
              <a:extLst>
                <a:ext uri="{FF2B5EF4-FFF2-40B4-BE49-F238E27FC236}">
                  <a16:creationId xmlns:a16="http://schemas.microsoft.com/office/drawing/2014/main" id="{1C215964-A7F2-16B2-FE56-91D7F08D78A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5" name="幅相1-1">
            <a:extLst>
              <a:ext uri="{FF2B5EF4-FFF2-40B4-BE49-F238E27FC236}">
                <a16:creationId xmlns:a16="http://schemas.microsoft.com/office/drawing/2014/main" id="{6D9CB9E4-827A-67BE-4B81-4879FE516102}"/>
              </a:ext>
            </a:extLst>
          </p:cNvPr>
          <p:cNvSpPr/>
          <p:nvPr/>
        </p:nvSpPr>
        <p:spPr>
          <a:xfrm flipV="1">
            <a:off x="8919337" y="3515747"/>
            <a:ext cx="1830361" cy="2740649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740685"/>
              <a:gd name="connsiteY0" fmla="*/ 0 h 1890882"/>
              <a:gd name="connsiteX1" fmla="*/ 740685 w 740685"/>
              <a:gd name="connsiteY1" fmla="*/ 1553568 h 1890882"/>
              <a:gd name="connsiteX0" fmla="*/ 0 w 740685"/>
              <a:gd name="connsiteY0" fmla="*/ 0 h 1553569"/>
              <a:gd name="connsiteX1" fmla="*/ 740685 w 740685"/>
              <a:gd name="connsiteY1" fmla="*/ 1553568 h 1553569"/>
              <a:gd name="connsiteX0" fmla="*/ 865137 w 867536"/>
              <a:gd name="connsiteY0" fmla="*/ 0 h 1035189"/>
              <a:gd name="connsiteX1" fmla="*/ 154841 w 867536"/>
              <a:gd name="connsiteY1" fmla="*/ 1035189 h 1035189"/>
              <a:gd name="connsiteX0" fmla="*/ 903669 w 903669"/>
              <a:gd name="connsiteY0" fmla="*/ 28617 h 1063806"/>
              <a:gd name="connsiteX1" fmla="*/ 193373 w 903669"/>
              <a:gd name="connsiteY1" fmla="*/ 1063806 h 1063806"/>
              <a:gd name="connsiteX0" fmla="*/ 1329353 w 1329353"/>
              <a:gd name="connsiteY0" fmla="*/ 311957 h 333951"/>
              <a:gd name="connsiteX1" fmla="*/ 146318 w 1329353"/>
              <a:gd name="connsiteY1" fmla="*/ 333951 h 333951"/>
              <a:gd name="connsiteX0" fmla="*/ 1335921 w 1335921"/>
              <a:gd name="connsiteY0" fmla="*/ 1616112 h 1638106"/>
              <a:gd name="connsiteX1" fmla="*/ 152886 w 1335921"/>
              <a:gd name="connsiteY1" fmla="*/ 1638106 h 1638106"/>
              <a:gd name="connsiteX0" fmla="*/ 1396511 w 1396511"/>
              <a:gd name="connsiteY0" fmla="*/ 1713702 h 1735696"/>
              <a:gd name="connsiteX1" fmla="*/ 213476 w 1396511"/>
              <a:gd name="connsiteY1" fmla="*/ 1735696 h 1735696"/>
              <a:gd name="connsiteX0" fmla="*/ 1377830 w 1377830"/>
              <a:gd name="connsiteY0" fmla="*/ 1508565 h 1530559"/>
              <a:gd name="connsiteX1" fmla="*/ 194795 w 1377830"/>
              <a:gd name="connsiteY1" fmla="*/ 1530559 h 1530559"/>
              <a:gd name="connsiteX0" fmla="*/ 80370 w 788290"/>
              <a:gd name="connsiteY0" fmla="*/ 1009743 h 3113109"/>
              <a:gd name="connsiteX1" fmla="*/ 788290 w 788290"/>
              <a:gd name="connsiteY1" fmla="*/ 3113109 h 3113109"/>
              <a:gd name="connsiteX0" fmla="*/ 40665 w 748585"/>
              <a:gd name="connsiteY0" fmla="*/ 0 h 2103366"/>
              <a:gd name="connsiteX1" fmla="*/ 748585 w 748585"/>
              <a:gd name="connsiteY1" fmla="*/ 2103366 h 2103366"/>
              <a:gd name="connsiteX0" fmla="*/ 26198 w 869855"/>
              <a:gd name="connsiteY0" fmla="*/ 0 h 2967332"/>
              <a:gd name="connsiteX1" fmla="*/ 869855 w 869855"/>
              <a:gd name="connsiteY1" fmla="*/ 2967332 h 2967332"/>
              <a:gd name="connsiteX0" fmla="*/ 0 w 843657"/>
              <a:gd name="connsiteY0" fmla="*/ 0 h 2967332"/>
              <a:gd name="connsiteX1" fmla="*/ 843657 w 843657"/>
              <a:gd name="connsiteY1" fmla="*/ 2967332 h 2967332"/>
              <a:gd name="connsiteX0" fmla="*/ 0 w 843657"/>
              <a:gd name="connsiteY0" fmla="*/ 0 h 2967332"/>
              <a:gd name="connsiteX1" fmla="*/ 843657 w 843657"/>
              <a:gd name="connsiteY1" fmla="*/ 2967332 h 2967332"/>
              <a:gd name="connsiteX0" fmla="*/ 0 w 843657"/>
              <a:gd name="connsiteY0" fmla="*/ 0 h 2967332"/>
              <a:gd name="connsiteX1" fmla="*/ 843657 w 843657"/>
              <a:gd name="connsiteY1" fmla="*/ 2967332 h 2967332"/>
              <a:gd name="connsiteX0" fmla="*/ 0 w 1349160"/>
              <a:gd name="connsiteY0" fmla="*/ 0 h 2935915"/>
              <a:gd name="connsiteX1" fmla="*/ 1349160 w 1349160"/>
              <a:gd name="connsiteY1" fmla="*/ 2935915 h 2935915"/>
              <a:gd name="connsiteX0" fmla="*/ 0 w 1349160"/>
              <a:gd name="connsiteY0" fmla="*/ 0 h 3355376"/>
              <a:gd name="connsiteX1" fmla="*/ 1349160 w 1349160"/>
              <a:gd name="connsiteY1" fmla="*/ 2935915 h 3355376"/>
              <a:gd name="connsiteX0" fmla="*/ 0 w 1349160"/>
              <a:gd name="connsiteY0" fmla="*/ 0 h 3389874"/>
              <a:gd name="connsiteX1" fmla="*/ 1349160 w 1349160"/>
              <a:gd name="connsiteY1" fmla="*/ 2935915 h 3389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49160" h="3389874">
                <a:moveTo>
                  <a:pt x="0" y="0"/>
                </a:moveTo>
                <a:cubicBezTo>
                  <a:pt x="222015" y="2076366"/>
                  <a:pt x="1189901" y="4386665"/>
                  <a:pt x="1349160" y="2935915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10" name="坐标轴">
            <a:extLst>
              <a:ext uri="{FF2B5EF4-FFF2-40B4-BE49-F238E27FC236}">
                <a16:creationId xmlns:a16="http://schemas.microsoft.com/office/drawing/2014/main" id="{78BF8EAD-BC16-C0E2-8C49-DBDB1A570865}"/>
              </a:ext>
            </a:extLst>
          </p:cNvPr>
          <p:cNvGrpSpPr/>
          <p:nvPr/>
        </p:nvGrpSpPr>
        <p:grpSpPr>
          <a:xfrm>
            <a:off x="8161655" y="2431952"/>
            <a:ext cx="3835341" cy="3753244"/>
            <a:chOff x="6685699" y="2864000"/>
            <a:chExt cx="3835341" cy="3753244"/>
          </a:xfrm>
        </p:grpSpPr>
        <p:cxnSp>
          <p:nvCxnSpPr>
            <p:cNvPr id="28" name="实轴">
              <a:extLst>
                <a:ext uri="{FF2B5EF4-FFF2-40B4-BE49-F238E27FC236}">
                  <a16:creationId xmlns:a16="http://schemas.microsoft.com/office/drawing/2014/main" id="{0B3FFAE2-5E10-D833-BE14-F71AEA2F80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5699" y="4318469"/>
              <a:ext cx="361329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虚轴">
              <a:extLst>
                <a:ext uri="{FF2B5EF4-FFF2-40B4-BE49-F238E27FC236}">
                  <a16:creationId xmlns:a16="http://schemas.microsoft.com/office/drawing/2014/main" id="{2D56FA3E-C5BF-E59D-04A5-04623EA2F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01747" y="3088852"/>
              <a:ext cx="0" cy="3528392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/>
                <p:nvPr/>
              </p:nvSpPr>
              <p:spPr>
                <a:xfrm>
                  <a:off x="9944504" y="3795249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Re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4504" y="3795249"/>
                  <a:ext cx="576536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4348" r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/>
                <p:nvPr/>
              </p:nvSpPr>
              <p:spPr>
                <a:xfrm>
                  <a:off x="9312786" y="286400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Im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2786" y="2864000"/>
                  <a:ext cx="576536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4348" r="-1087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/>
                <p:nvPr/>
              </p:nvSpPr>
              <p:spPr>
                <a:xfrm>
                  <a:off x="9227762" y="4314976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7762" y="4314976"/>
                  <a:ext cx="545352" cy="5246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步骤2">
            <a:extLst>
              <a:ext uri="{FF2B5EF4-FFF2-40B4-BE49-F238E27FC236}">
                <a16:creationId xmlns:a16="http://schemas.microsoft.com/office/drawing/2014/main" id="{8C62DF29-A2DC-FECF-0741-27EDC933D825}"/>
              </a:ext>
            </a:extLst>
          </p:cNvPr>
          <p:cNvGrpSpPr/>
          <p:nvPr/>
        </p:nvGrpSpPr>
        <p:grpSpPr>
          <a:xfrm>
            <a:off x="175922" y="1731607"/>
            <a:ext cx="3110971" cy="725177"/>
            <a:chOff x="4943078" y="1700704"/>
            <a:chExt cx="3110971" cy="725177"/>
          </a:xfrm>
        </p:grpSpPr>
        <p:sp>
          <p:nvSpPr>
            <p:cNvPr id="36" name="标题">
              <a:extLst>
                <a:ext uri="{FF2B5EF4-FFF2-40B4-BE49-F238E27FC236}">
                  <a16:creationId xmlns:a16="http://schemas.microsoft.com/office/drawing/2014/main" id="{96C7FCCE-6BF1-7210-53D1-FA6B40322139}"/>
                </a:ext>
              </a:extLst>
            </p:cNvPr>
            <p:cNvSpPr/>
            <p:nvPr/>
          </p:nvSpPr>
          <p:spPr bwMode="auto">
            <a:xfrm>
              <a:off x="5375126" y="1769619"/>
              <a:ext cx="26789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求特征点</a:t>
              </a:r>
            </a:p>
          </p:txBody>
        </p:sp>
        <p:sp>
          <p:nvSpPr>
            <p:cNvPr id="37" name="序号">
              <a:extLst>
                <a:ext uri="{FF2B5EF4-FFF2-40B4-BE49-F238E27FC236}">
                  <a16:creationId xmlns:a16="http://schemas.microsoft.com/office/drawing/2014/main" id="{4CCDECC9-622E-24E7-9593-B122F0240E8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40" name="步骤3">
            <a:extLst>
              <a:ext uri="{FF2B5EF4-FFF2-40B4-BE49-F238E27FC236}">
                <a16:creationId xmlns:a16="http://schemas.microsoft.com/office/drawing/2014/main" id="{76681851-098D-78DD-468F-BA904D079BFA}"/>
              </a:ext>
            </a:extLst>
          </p:cNvPr>
          <p:cNvGrpSpPr/>
          <p:nvPr/>
        </p:nvGrpSpPr>
        <p:grpSpPr>
          <a:xfrm>
            <a:off x="147232" y="5255786"/>
            <a:ext cx="3110971" cy="725177"/>
            <a:chOff x="4943078" y="1700704"/>
            <a:chExt cx="3110971" cy="725177"/>
          </a:xfrm>
        </p:grpSpPr>
        <p:sp>
          <p:nvSpPr>
            <p:cNvPr id="41" name="标题">
              <a:extLst>
                <a:ext uri="{FF2B5EF4-FFF2-40B4-BE49-F238E27FC236}">
                  <a16:creationId xmlns:a16="http://schemas.microsoft.com/office/drawing/2014/main" id="{E2FB05CF-AAE9-D648-C1A3-5DDC805BC49E}"/>
                </a:ext>
              </a:extLst>
            </p:cNvPr>
            <p:cNvSpPr/>
            <p:nvPr/>
          </p:nvSpPr>
          <p:spPr bwMode="auto">
            <a:xfrm>
              <a:off x="5375126" y="1769619"/>
              <a:ext cx="2678923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概略绘图</a:t>
              </a:r>
            </a:p>
          </p:txBody>
        </p:sp>
        <p:sp>
          <p:nvSpPr>
            <p:cNvPr id="42" name="序号">
              <a:extLst>
                <a:ext uri="{FF2B5EF4-FFF2-40B4-BE49-F238E27FC236}">
                  <a16:creationId xmlns:a16="http://schemas.microsoft.com/office/drawing/2014/main" id="{A3FC1872-1ECA-0629-EA49-4FB53B7336F1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起点">
                <a:extLst>
                  <a:ext uri="{FF2B5EF4-FFF2-40B4-BE49-F238E27FC236}">
                    <a16:creationId xmlns:a16="http://schemas.microsoft.com/office/drawing/2014/main" id="{71D4F4D9-4A11-9967-C1B8-21ED44DE51C0}"/>
                  </a:ext>
                </a:extLst>
              </p:cNvPr>
              <p:cNvSpPr txBox="1"/>
              <p:nvPr/>
            </p:nvSpPr>
            <p:spPr>
              <a:xfrm>
                <a:off x="71621" y="2520651"/>
                <a:ext cx="32775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sSup>
                            <m:sSup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−90°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3" name="起点">
                <a:extLst>
                  <a:ext uri="{FF2B5EF4-FFF2-40B4-BE49-F238E27FC236}">
                    <a16:creationId xmlns:a16="http://schemas.microsoft.com/office/drawing/2014/main" id="{71D4F4D9-4A11-9967-C1B8-21ED44DE5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1" y="2520651"/>
                <a:ext cx="3277517" cy="523220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终点">
                <a:extLst>
                  <a:ext uri="{FF2B5EF4-FFF2-40B4-BE49-F238E27FC236}">
                    <a16:creationId xmlns:a16="http://schemas.microsoft.com/office/drawing/2014/main" id="{393578E9-D8C0-F2B0-F0E1-9216CEFB3226}"/>
                  </a:ext>
                </a:extLst>
              </p:cNvPr>
              <p:cNvSpPr txBox="1"/>
              <p:nvPr/>
            </p:nvSpPr>
            <p:spPr>
              <a:xfrm>
                <a:off x="2929934" y="2506024"/>
                <a:ext cx="430986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∞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=0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−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27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0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" name="终点">
                <a:extLst>
                  <a:ext uri="{FF2B5EF4-FFF2-40B4-BE49-F238E27FC236}">
                    <a16:creationId xmlns:a16="http://schemas.microsoft.com/office/drawing/2014/main" id="{393578E9-D8C0-F2B0-F0E1-9216CEFB3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934" y="2506024"/>
                <a:ext cx="4309865" cy="523220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重要1">
            <a:extLst>
              <a:ext uri="{FF2B5EF4-FFF2-40B4-BE49-F238E27FC236}">
                <a16:creationId xmlns:a16="http://schemas.microsoft.com/office/drawing/2014/main" id="{3C4685DF-59CA-EC90-CFB8-3864A7204425}"/>
              </a:ext>
            </a:extLst>
          </p:cNvPr>
          <p:cNvSpPr txBox="1"/>
          <p:nvPr/>
        </p:nvSpPr>
        <p:spPr>
          <a:xfrm>
            <a:off x="292974" y="3290857"/>
            <a:ext cx="2184958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负实轴交点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频率特性1">
                <a:extLst>
                  <a:ext uri="{FF2B5EF4-FFF2-40B4-BE49-F238E27FC236}">
                    <a16:creationId xmlns:a16="http://schemas.microsoft.com/office/drawing/2014/main" id="{39B7593D-532E-F4FE-F675-88B1FD2B4CCE}"/>
                  </a:ext>
                </a:extLst>
              </p:cNvPr>
              <p:cNvSpPr txBox="1"/>
              <p:nvPr/>
            </p:nvSpPr>
            <p:spPr>
              <a:xfrm>
                <a:off x="3258203" y="876568"/>
                <a:ext cx="3917297" cy="759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kumimoji="1" lang="en-US" altLang="zh-CN" sz="28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5</m:t>
                        </m:r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1+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)(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1+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kumimoji="1" lang="el-GR" altLang="zh-CN" sz="2800" dirty="0">
                    <a:solidFill>
                      <a:schemeClr val="tx1"/>
                    </a:solidFill>
                  </a:rPr>
                  <a:t> </a:t>
                </a:r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频率特性1">
                <a:extLst>
                  <a:ext uri="{FF2B5EF4-FFF2-40B4-BE49-F238E27FC236}">
                    <a16:creationId xmlns:a16="http://schemas.microsoft.com/office/drawing/2014/main" id="{39B7593D-532E-F4FE-F675-88B1FD2B4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203" y="876568"/>
                <a:ext cx="3917297" cy="759503"/>
              </a:xfrm>
              <a:prstGeom prst="rect">
                <a:avLst/>
              </a:prstGeom>
              <a:blipFill>
                <a:blip r:embed="rId8"/>
                <a:stretch>
                  <a:fillRect l="-971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幅频特性2">
                <a:extLst>
                  <a:ext uri="{FF2B5EF4-FFF2-40B4-BE49-F238E27FC236}">
                    <a16:creationId xmlns:a16="http://schemas.microsoft.com/office/drawing/2014/main" id="{B915FC79-039F-4087-2278-DBC5E502ED70}"/>
                  </a:ext>
                </a:extLst>
              </p:cNvPr>
              <p:cNvSpPr txBox="1"/>
              <p:nvPr/>
            </p:nvSpPr>
            <p:spPr>
              <a:xfrm>
                <a:off x="7074573" y="855516"/>
                <a:ext cx="3267390" cy="778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</m:t>
                        </m:r>
                        <m:r>
                          <a:rPr kumimoji="1"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5</m:t>
                        </m:r>
                        <m:r>
                          <a:rPr kumimoji="1"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(1−</m:t>
                        </m:r>
                        <m:r>
                          <a:rPr kumimoji="1"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kumimoji="1"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)(1−</m:t>
                        </m:r>
                        <m:r>
                          <a:rPr kumimoji="1"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  <m:r>
                          <a:rPr kumimoji="1"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kumimoji="1"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)</m:t>
                        </m:r>
                      </m:num>
                      <m:den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1+</m:t>
                        </m:r>
                        <m:sSup>
                          <m:sSup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)</m:t>
                        </m:r>
                        <m:r>
                          <a:rPr kumimoji="1" lang="en-US" altLang="zh-C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(1</m:t>
                        </m:r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+4</m:t>
                        </m:r>
                        <m:sSup>
                          <m:sSupPr>
                            <m:ctrlP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6" name="幅频特性2">
                <a:extLst>
                  <a:ext uri="{FF2B5EF4-FFF2-40B4-BE49-F238E27FC236}">
                    <a16:creationId xmlns:a16="http://schemas.microsoft.com/office/drawing/2014/main" id="{B915FC79-039F-4087-2278-DBC5E502E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4573" y="855516"/>
                <a:ext cx="3267390" cy="778675"/>
              </a:xfrm>
              <a:prstGeom prst="rect">
                <a:avLst/>
              </a:prstGeom>
              <a:blipFill>
                <a:blip r:embed="rId9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幅频特性4">
                <a:extLst>
                  <a:ext uri="{FF2B5EF4-FFF2-40B4-BE49-F238E27FC236}">
                    <a16:creationId xmlns:a16="http://schemas.microsoft.com/office/drawing/2014/main" id="{48D0C575-53CF-1538-C989-6879AF2713AC}"/>
                  </a:ext>
                </a:extLst>
              </p:cNvPr>
              <p:cNvSpPr txBox="1"/>
              <p:nvPr/>
            </p:nvSpPr>
            <p:spPr>
              <a:xfrm>
                <a:off x="6745680" y="1584435"/>
                <a:ext cx="5400425" cy="8197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</m:t>
                        </m:r>
                        <m: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5</m:t>
                        </m:r>
                      </m:num>
                      <m:den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(1+</m:t>
                        </m:r>
                        <m:sSup>
                          <m:sSup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)(1+4</m:t>
                        </m:r>
                        <m:sSup>
                          <m:sSup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)</m:t>
                        </m:r>
                      </m:den>
                    </m:f>
                    <m:r>
                      <a:rPr kumimoji="1"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−</m:t>
                    </m:r>
                    <m:r>
                      <a:rPr kumimoji="1"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𝑗</m:t>
                    </m:r>
                    <m:f>
                      <m:f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5(1−2</m:t>
                        </m:r>
                        <m:sSup>
                          <m:sSup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)</m:t>
                        </m:r>
                      </m:num>
                      <m:den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(1+</m:t>
                        </m:r>
                        <m:sSup>
                          <m:sSup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)(1+4</m:t>
                        </m:r>
                        <m:sSup>
                          <m:sSup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1" name="幅频特性4">
                <a:extLst>
                  <a:ext uri="{FF2B5EF4-FFF2-40B4-BE49-F238E27FC236}">
                    <a16:creationId xmlns:a16="http://schemas.microsoft.com/office/drawing/2014/main" id="{48D0C575-53CF-1538-C989-6879AF271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680" y="1584435"/>
                <a:ext cx="5400425" cy="819776"/>
              </a:xfrm>
              <a:prstGeom prst="rect">
                <a:avLst/>
              </a:prstGeom>
              <a:blipFill>
                <a:blip r:embed="rId10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说明3">
            <a:extLst>
              <a:ext uri="{FF2B5EF4-FFF2-40B4-BE49-F238E27FC236}">
                <a16:creationId xmlns:a16="http://schemas.microsoft.com/office/drawing/2014/main" id="{7026A351-E2DF-B152-E84B-4F35592CA134}"/>
              </a:ext>
            </a:extLst>
          </p:cNvPr>
          <p:cNvSpPr txBox="1"/>
          <p:nvPr/>
        </p:nvSpPr>
        <p:spPr>
          <a:xfrm>
            <a:off x="292240" y="6085374"/>
            <a:ext cx="3500570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accent1"/>
                </a:solidFill>
              </a:rPr>
              <a:t>不含零点时</a:t>
            </a:r>
            <a:r>
              <a:rPr kumimoji="1" lang="zh-CN" altLang="en-US" sz="2800" dirty="0">
                <a:solidFill>
                  <a:srgbClr val="159F84"/>
                </a:solidFill>
              </a:rPr>
              <a:t>单调收缩</a:t>
            </a:r>
          </a:p>
        </p:txBody>
      </p:sp>
      <p:sp>
        <p:nvSpPr>
          <p:cNvPr id="67" name="重要2">
            <a:extLst>
              <a:ext uri="{FF2B5EF4-FFF2-40B4-BE49-F238E27FC236}">
                <a16:creationId xmlns:a16="http://schemas.microsoft.com/office/drawing/2014/main" id="{E417B710-1AB4-55F8-43E5-3EDF076A2C11}"/>
              </a:ext>
            </a:extLst>
          </p:cNvPr>
          <p:cNvSpPr txBox="1"/>
          <p:nvPr/>
        </p:nvSpPr>
        <p:spPr>
          <a:xfrm>
            <a:off x="304360" y="4457758"/>
            <a:ext cx="2184958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实部渐近线</a:t>
            </a:r>
          </a:p>
        </p:txBody>
      </p:sp>
      <p:cxnSp>
        <p:nvCxnSpPr>
          <p:cNvPr id="12" name="向上">
            <a:extLst>
              <a:ext uri="{FF2B5EF4-FFF2-40B4-BE49-F238E27FC236}">
                <a16:creationId xmlns:a16="http://schemas.microsoft.com/office/drawing/2014/main" id="{92F8C95D-2606-09FC-D746-7C764CF75A59}"/>
              </a:ext>
            </a:extLst>
          </p:cNvPr>
          <p:cNvCxnSpPr>
            <a:cxnSpLocks/>
          </p:cNvCxnSpPr>
          <p:nvPr/>
        </p:nvCxnSpPr>
        <p:spPr>
          <a:xfrm flipV="1">
            <a:off x="10610669" y="5355801"/>
            <a:ext cx="0" cy="729573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向下">
            <a:extLst>
              <a:ext uri="{FF2B5EF4-FFF2-40B4-BE49-F238E27FC236}">
                <a16:creationId xmlns:a16="http://schemas.microsoft.com/office/drawing/2014/main" id="{45EA4DB1-33DC-97A9-AB68-CA29728F45DC}"/>
              </a:ext>
            </a:extLst>
          </p:cNvPr>
          <p:cNvCxnSpPr>
            <a:cxnSpLocks/>
          </p:cNvCxnSpPr>
          <p:nvPr/>
        </p:nvCxnSpPr>
        <p:spPr>
          <a:xfrm>
            <a:off x="10650058" y="2708920"/>
            <a:ext cx="0" cy="72008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开环传函">
                <a:extLst>
                  <a:ext uri="{FF2B5EF4-FFF2-40B4-BE49-F238E27FC236}">
                    <a16:creationId xmlns:a16="http://schemas.microsoft.com/office/drawing/2014/main" id="{D93442EB-A994-89E9-FA60-2EE49D8449BF}"/>
                  </a:ext>
                </a:extLst>
              </p:cNvPr>
              <p:cNvSpPr txBox="1"/>
              <p:nvPr/>
            </p:nvSpPr>
            <p:spPr>
              <a:xfrm>
                <a:off x="7045882" y="145421"/>
                <a:ext cx="3164679" cy="759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5</m:t>
                        </m:r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+1)(2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46" name="开环传函">
                <a:extLst>
                  <a:ext uri="{FF2B5EF4-FFF2-40B4-BE49-F238E27FC236}">
                    <a16:creationId xmlns:a16="http://schemas.microsoft.com/office/drawing/2014/main" id="{D93442EB-A994-89E9-FA60-2EE49D8449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882" y="145421"/>
                <a:ext cx="3164679" cy="759503"/>
              </a:xfrm>
              <a:prstGeom prst="rect">
                <a:avLst/>
              </a:prstGeom>
              <a:blipFill>
                <a:blip r:embed="rId11"/>
                <a:stretch>
                  <a:fillRect l="-797" b="-8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说明2">
                <a:extLst>
                  <a:ext uri="{FF2B5EF4-FFF2-40B4-BE49-F238E27FC236}">
                    <a16:creationId xmlns:a16="http://schemas.microsoft.com/office/drawing/2014/main" id="{F96A9A92-23CE-17DB-49B0-C00E53ADBE19}"/>
                  </a:ext>
                </a:extLst>
              </p:cNvPr>
              <p:cNvSpPr txBox="1"/>
              <p:nvPr/>
            </p:nvSpPr>
            <p:spPr>
              <a:xfrm>
                <a:off x="2716846" y="4477999"/>
                <a:ext cx="2874041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80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kumimoji="1" lang="en-US" altLang="zh-CN" sz="28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kumimoji="1"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0)</m:t>
                        </m:r>
                      </m:e>
                    </m:d>
                    <m:r>
                      <a:rPr kumimoji="1" lang="en-US" altLang="zh-CN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=−15</m:t>
                    </m:r>
                  </m:oMath>
                </a14:m>
                <a:r>
                  <a:rPr kumimoji="1" lang="zh-CN" altLang="en-US" sz="2800" dirty="0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4" name="说明2">
                <a:extLst>
                  <a:ext uri="{FF2B5EF4-FFF2-40B4-BE49-F238E27FC236}">
                    <a16:creationId xmlns:a16="http://schemas.microsoft.com/office/drawing/2014/main" id="{F96A9A92-23CE-17DB-49B0-C00E53ADB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846" y="4477999"/>
                <a:ext cx="2874041" cy="578882"/>
              </a:xfrm>
              <a:prstGeom prst="flowChartAlternateProcess">
                <a:avLst/>
              </a:prstGeom>
              <a:blipFill>
                <a:blip r:embed="rId12"/>
                <a:stretch>
                  <a:fillRect b="-8163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渐近线坐标">
                <a:extLst>
                  <a:ext uri="{FF2B5EF4-FFF2-40B4-BE49-F238E27FC236}">
                    <a16:creationId xmlns:a16="http://schemas.microsoft.com/office/drawing/2014/main" id="{8CF6360A-78C4-B59D-567B-328711115DE3}"/>
                  </a:ext>
                </a:extLst>
              </p:cNvPr>
              <p:cNvSpPr txBox="1"/>
              <p:nvPr/>
            </p:nvSpPr>
            <p:spPr>
              <a:xfrm>
                <a:off x="8026796" y="3880763"/>
                <a:ext cx="855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−15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渐近线坐标">
                <a:extLst>
                  <a:ext uri="{FF2B5EF4-FFF2-40B4-BE49-F238E27FC236}">
                    <a16:creationId xmlns:a16="http://schemas.microsoft.com/office/drawing/2014/main" id="{8CF6360A-78C4-B59D-567B-328711115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796" y="3880763"/>
                <a:ext cx="855549" cy="523220"/>
              </a:xfrm>
              <a:prstGeom prst="rect">
                <a:avLst/>
              </a:prstGeom>
              <a:blipFill>
                <a:blip r:embed="rId13"/>
                <a:stretch>
                  <a:fillRect r="-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起始频率">
                <a:extLst>
                  <a:ext uri="{FF2B5EF4-FFF2-40B4-BE49-F238E27FC236}">
                    <a16:creationId xmlns:a16="http://schemas.microsoft.com/office/drawing/2014/main" id="{52A43A7E-E27B-1907-8CA1-C526AE2BE377}"/>
                  </a:ext>
                </a:extLst>
              </p:cNvPr>
              <p:cNvSpPr txBox="1"/>
              <p:nvPr/>
            </p:nvSpPr>
            <p:spPr>
              <a:xfrm>
                <a:off x="9382809" y="5568800"/>
                <a:ext cx="11908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4" name="起始频率">
                <a:extLst>
                  <a:ext uri="{FF2B5EF4-FFF2-40B4-BE49-F238E27FC236}">
                    <a16:creationId xmlns:a16="http://schemas.microsoft.com/office/drawing/2014/main" id="{52A43A7E-E27B-1907-8CA1-C526AE2BE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2809" y="5568800"/>
                <a:ext cx="1190868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终止频率">
                <a:extLst>
                  <a:ext uri="{FF2B5EF4-FFF2-40B4-BE49-F238E27FC236}">
                    <a16:creationId xmlns:a16="http://schemas.microsoft.com/office/drawing/2014/main" id="{3AE6B575-3139-CF93-8F0F-6E33AF4F84AC}"/>
                  </a:ext>
                </a:extLst>
              </p:cNvPr>
              <p:cNvSpPr txBox="1"/>
              <p:nvPr/>
            </p:nvSpPr>
            <p:spPr>
              <a:xfrm>
                <a:off x="10630454" y="2905780"/>
                <a:ext cx="14716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=∞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6" name="终止频率">
                <a:extLst>
                  <a:ext uri="{FF2B5EF4-FFF2-40B4-BE49-F238E27FC236}">
                    <a16:creationId xmlns:a16="http://schemas.microsoft.com/office/drawing/2014/main" id="{3AE6B575-3139-CF93-8F0F-6E33AF4F8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0454" y="2905780"/>
                <a:ext cx="1471648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渐近线">
            <a:extLst>
              <a:ext uri="{FF2B5EF4-FFF2-40B4-BE49-F238E27FC236}">
                <a16:creationId xmlns:a16="http://schemas.microsoft.com/office/drawing/2014/main" id="{8251786F-324D-3983-236E-69E8E64CF3C9}"/>
              </a:ext>
            </a:extLst>
          </p:cNvPr>
          <p:cNvCxnSpPr>
            <a:cxnSpLocks/>
          </p:cNvCxnSpPr>
          <p:nvPr/>
        </p:nvCxnSpPr>
        <p:spPr>
          <a:xfrm flipV="1">
            <a:off x="8831510" y="2693562"/>
            <a:ext cx="0" cy="3600450"/>
          </a:xfrm>
          <a:prstGeom prst="line">
            <a:avLst/>
          </a:prstGeom>
          <a:ln w="38100">
            <a:solidFill>
              <a:schemeClr val="tx2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交点计算">
                <a:extLst>
                  <a:ext uri="{FF2B5EF4-FFF2-40B4-BE49-F238E27FC236}">
                    <a16:creationId xmlns:a16="http://schemas.microsoft.com/office/drawing/2014/main" id="{56E2B14C-D4A0-0580-9854-794731B0E719}"/>
                  </a:ext>
                </a:extLst>
              </p:cNvPr>
              <p:cNvSpPr txBox="1"/>
              <p:nvPr/>
            </p:nvSpPr>
            <p:spPr>
              <a:xfrm>
                <a:off x="2553854" y="3126664"/>
                <a:ext cx="5204229" cy="10186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000" b="0" i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Im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𝐺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sSub>
                          <m:sSub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)</m:t>
                        </m:r>
                      </m:e>
                    </m:d>
                    <m:r>
                      <a:rPr kumimoji="1" lang="en-US" altLang="zh-CN" sz="20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=0→</m:t>
                    </m:r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kumimoji="1"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kumimoji="1"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=0.707</m:t>
                    </m:r>
                  </m:oMath>
                </a14:m>
                <a:r>
                  <a:rPr kumimoji="1" lang="zh-CN" altLang="en-US" sz="20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kumimoji="1" lang="en-US" altLang="zh-CN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Re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sz="20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𝐺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0.707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)</m:t>
                        </m:r>
                      </m:e>
                    </m:d>
                    <m:r>
                      <a:rPr kumimoji="1" lang="en-US" altLang="zh-CN" sz="20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0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15</m:t>
                        </m:r>
                      </m:num>
                      <m:den>
                        <m:d>
                          <m:d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1+0.5</m:t>
                            </m:r>
                          </m:e>
                        </m:d>
                        <m:d>
                          <m:d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1+4</m:t>
                            </m:r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×0.5</m:t>
                            </m:r>
                          </m:e>
                        </m:d>
                      </m:den>
                    </m:f>
                    <m:r>
                      <a:rPr kumimoji="1" lang="en-US" altLang="zh-CN" sz="20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=−</m:t>
                    </m:r>
                    <m:f>
                      <m:f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10</m:t>
                        </m:r>
                      </m:num>
                      <m:den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altLang="en-US" sz="2000" dirty="0"/>
                  <a:t> </a:t>
                </a:r>
              </a:p>
            </p:txBody>
          </p:sp>
        </mc:Choice>
        <mc:Fallback xmlns="">
          <p:sp>
            <p:nvSpPr>
              <p:cNvPr id="57" name="交点计算">
                <a:extLst>
                  <a:ext uri="{FF2B5EF4-FFF2-40B4-BE49-F238E27FC236}">
                    <a16:creationId xmlns:a16="http://schemas.microsoft.com/office/drawing/2014/main" id="{56E2B14C-D4A0-0580-9854-794731B0E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854" y="3126664"/>
                <a:ext cx="5204229" cy="101861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负实轴交点">
            <a:extLst>
              <a:ext uri="{FF2B5EF4-FFF2-40B4-BE49-F238E27FC236}">
                <a16:creationId xmlns:a16="http://schemas.microsoft.com/office/drawing/2014/main" id="{55565AC9-C4EF-F9B3-A57F-1472BD63D9C2}"/>
              </a:ext>
            </a:extLst>
          </p:cNvPr>
          <p:cNvSpPr/>
          <p:nvPr/>
        </p:nvSpPr>
        <p:spPr>
          <a:xfrm>
            <a:off x="9894396" y="3828604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9621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5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5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 tmFilter="0, 0; .2, .5; .8, .5; 1, 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2" dur="25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35" grpId="0" animBg="1"/>
      <p:bldP spid="43" grpId="0"/>
      <p:bldP spid="49" grpId="0"/>
      <p:bldP spid="50" grpId="0" animBg="1"/>
      <p:bldP spid="55" grpId="0"/>
      <p:bldP spid="56" grpId="0"/>
      <p:bldP spid="51" grpId="0"/>
      <p:bldP spid="65" grpId="0" animBg="1"/>
      <p:bldP spid="67" grpId="0" animBg="1"/>
      <p:bldP spid="46" grpId="0"/>
      <p:bldP spid="54" grpId="0" animBg="1"/>
      <p:bldP spid="63" grpId="0"/>
      <p:bldP spid="64" grpId="0"/>
      <p:bldP spid="66" grpId="0"/>
      <p:bldP spid="57" grpId="0"/>
      <p:bldP spid="58" grpId="0" animBg="1"/>
      <p:bldP spid="58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04E921FD-3166-D03C-5C3D-CD1AD0B5ED67}"/>
              </a:ext>
            </a:extLst>
          </p:cNvPr>
          <p:cNvSpPr txBox="1"/>
          <p:nvPr/>
        </p:nvSpPr>
        <p:spPr>
          <a:xfrm>
            <a:off x="533842" y="340637"/>
            <a:ext cx="14569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3" name="幅相1-1">
            <a:extLst>
              <a:ext uri="{FF2B5EF4-FFF2-40B4-BE49-F238E27FC236}">
                <a16:creationId xmlns:a16="http://schemas.microsoft.com/office/drawing/2014/main" id="{4221141F-D7A8-64DA-9CC0-ECBC193E3259}"/>
              </a:ext>
            </a:extLst>
          </p:cNvPr>
          <p:cNvSpPr/>
          <p:nvPr/>
        </p:nvSpPr>
        <p:spPr>
          <a:xfrm flipV="1">
            <a:off x="8417429" y="2148018"/>
            <a:ext cx="1830361" cy="2740649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740685"/>
              <a:gd name="connsiteY0" fmla="*/ 0 h 1890882"/>
              <a:gd name="connsiteX1" fmla="*/ 740685 w 740685"/>
              <a:gd name="connsiteY1" fmla="*/ 1553568 h 1890882"/>
              <a:gd name="connsiteX0" fmla="*/ 0 w 740685"/>
              <a:gd name="connsiteY0" fmla="*/ 0 h 1553569"/>
              <a:gd name="connsiteX1" fmla="*/ 740685 w 740685"/>
              <a:gd name="connsiteY1" fmla="*/ 1553568 h 1553569"/>
              <a:gd name="connsiteX0" fmla="*/ 865137 w 867536"/>
              <a:gd name="connsiteY0" fmla="*/ 0 h 1035189"/>
              <a:gd name="connsiteX1" fmla="*/ 154841 w 867536"/>
              <a:gd name="connsiteY1" fmla="*/ 1035189 h 1035189"/>
              <a:gd name="connsiteX0" fmla="*/ 903669 w 903669"/>
              <a:gd name="connsiteY0" fmla="*/ 28617 h 1063806"/>
              <a:gd name="connsiteX1" fmla="*/ 193373 w 903669"/>
              <a:gd name="connsiteY1" fmla="*/ 1063806 h 1063806"/>
              <a:gd name="connsiteX0" fmla="*/ 1329353 w 1329353"/>
              <a:gd name="connsiteY0" fmla="*/ 311957 h 333951"/>
              <a:gd name="connsiteX1" fmla="*/ 146318 w 1329353"/>
              <a:gd name="connsiteY1" fmla="*/ 333951 h 333951"/>
              <a:gd name="connsiteX0" fmla="*/ 1335921 w 1335921"/>
              <a:gd name="connsiteY0" fmla="*/ 1616112 h 1638106"/>
              <a:gd name="connsiteX1" fmla="*/ 152886 w 1335921"/>
              <a:gd name="connsiteY1" fmla="*/ 1638106 h 1638106"/>
              <a:gd name="connsiteX0" fmla="*/ 1396511 w 1396511"/>
              <a:gd name="connsiteY0" fmla="*/ 1713702 h 1735696"/>
              <a:gd name="connsiteX1" fmla="*/ 213476 w 1396511"/>
              <a:gd name="connsiteY1" fmla="*/ 1735696 h 1735696"/>
              <a:gd name="connsiteX0" fmla="*/ 1377830 w 1377830"/>
              <a:gd name="connsiteY0" fmla="*/ 1508565 h 1530559"/>
              <a:gd name="connsiteX1" fmla="*/ 194795 w 1377830"/>
              <a:gd name="connsiteY1" fmla="*/ 1530559 h 1530559"/>
              <a:gd name="connsiteX0" fmla="*/ 80370 w 788290"/>
              <a:gd name="connsiteY0" fmla="*/ 1009743 h 3113109"/>
              <a:gd name="connsiteX1" fmla="*/ 788290 w 788290"/>
              <a:gd name="connsiteY1" fmla="*/ 3113109 h 3113109"/>
              <a:gd name="connsiteX0" fmla="*/ 40665 w 748585"/>
              <a:gd name="connsiteY0" fmla="*/ 0 h 2103366"/>
              <a:gd name="connsiteX1" fmla="*/ 748585 w 748585"/>
              <a:gd name="connsiteY1" fmla="*/ 2103366 h 2103366"/>
              <a:gd name="connsiteX0" fmla="*/ 26198 w 869855"/>
              <a:gd name="connsiteY0" fmla="*/ 0 h 2967332"/>
              <a:gd name="connsiteX1" fmla="*/ 869855 w 869855"/>
              <a:gd name="connsiteY1" fmla="*/ 2967332 h 2967332"/>
              <a:gd name="connsiteX0" fmla="*/ 0 w 843657"/>
              <a:gd name="connsiteY0" fmla="*/ 0 h 2967332"/>
              <a:gd name="connsiteX1" fmla="*/ 843657 w 843657"/>
              <a:gd name="connsiteY1" fmla="*/ 2967332 h 2967332"/>
              <a:gd name="connsiteX0" fmla="*/ 0 w 843657"/>
              <a:gd name="connsiteY0" fmla="*/ 0 h 2967332"/>
              <a:gd name="connsiteX1" fmla="*/ 843657 w 843657"/>
              <a:gd name="connsiteY1" fmla="*/ 2967332 h 2967332"/>
              <a:gd name="connsiteX0" fmla="*/ 0 w 843657"/>
              <a:gd name="connsiteY0" fmla="*/ 0 h 2967332"/>
              <a:gd name="connsiteX1" fmla="*/ 843657 w 843657"/>
              <a:gd name="connsiteY1" fmla="*/ 2967332 h 2967332"/>
              <a:gd name="connsiteX0" fmla="*/ 0 w 1349160"/>
              <a:gd name="connsiteY0" fmla="*/ 0 h 2935915"/>
              <a:gd name="connsiteX1" fmla="*/ 1349160 w 1349160"/>
              <a:gd name="connsiteY1" fmla="*/ 2935915 h 2935915"/>
              <a:gd name="connsiteX0" fmla="*/ 0 w 1349160"/>
              <a:gd name="connsiteY0" fmla="*/ 0 h 3355376"/>
              <a:gd name="connsiteX1" fmla="*/ 1349160 w 1349160"/>
              <a:gd name="connsiteY1" fmla="*/ 2935915 h 3355376"/>
              <a:gd name="connsiteX0" fmla="*/ 0 w 1349160"/>
              <a:gd name="connsiteY0" fmla="*/ 0 h 3389874"/>
              <a:gd name="connsiteX1" fmla="*/ 1349160 w 1349160"/>
              <a:gd name="connsiteY1" fmla="*/ 2935915 h 3389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49160" h="3389874">
                <a:moveTo>
                  <a:pt x="0" y="0"/>
                </a:moveTo>
                <a:cubicBezTo>
                  <a:pt x="222015" y="2076366"/>
                  <a:pt x="1189901" y="4386665"/>
                  <a:pt x="1349160" y="2935915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4" name="坐标轴">
            <a:extLst>
              <a:ext uri="{FF2B5EF4-FFF2-40B4-BE49-F238E27FC236}">
                <a16:creationId xmlns:a16="http://schemas.microsoft.com/office/drawing/2014/main" id="{CA890485-36E6-6BBA-0375-3972D0C59457}"/>
              </a:ext>
            </a:extLst>
          </p:cNvPr>
          <p:cNvGrpSpPr/>
          <p:nvPr/>
        </p:nvGrpSpPr>
        <p:grpSpPr>
          <a:xfrm>
            <a:off x="7659747" y="1064223"/>
            <a:ext cx="3835341" cy="3753244"/>
            <a:chOff x="6685699" y="2864000"/>
            <a:chExt cx="3835341" cy="3753244"/>
          </a:xfrm>
        </p:grpSpPr>
        <p:cxnSp>
          <p:nvCxnSpPr>
            <p:cNvPr id="5" name="实轴">
              <a:extLst>
                <a:ext uri="{FF2B5EF4-FFF2-40B4-BE49-F238E27FC236}">
                  <a16:creationId xmlns:a16="http://schemas.microsoft.com/office/drawing/2014/main" id="{9C3CE674-E263-24A8-C903-6D4161594F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5699" y="4318469"/>
              <a:ext cx="361329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虚轴">
              <a:extLst>
                <a:ext uri="{FF2B5EF4-FFF2-40B4-BE49-F238E27FC236}">
                  <a16:creationId xmlns:a16="http://schemas.microsoft.com/office/drawing/2014/main" id="{A81E25C6-D044-F621-96C8-93734582D4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01747" y="3088852"/>
              <a:ext cx="0" cy="3528392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">
                  <a:extLst>
                    <a:ext uri="{FF2B5EF4-FFF2-40B4-BE49-F238E27FC236}">
                      <a16:creationId xmlns:a16="http://schemas.microsoft.com/office/drawing/2014/main" id="{DB5ABD28-3C7C-C61A-F3C0-6112959FB867}"/>
                    </a:ext>
                  </a:extLst>
                </p:cNvPr>
                <p:cNvSpPr txBox="1"/>
                <p:nvPr/>
              </p:nvSpPr>
              <p:spPr>
                <a:xfrm>
                  <a:off x="9944504" y="3795249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Re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4504" y="3795249"/>
                  <a:ext cx="576536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4348" r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Im">
                  <a:extLst>
                    <a:ext uri="{FF2B5EF4-FFF2-40B4-BE49-F238E27FC236}">
                      <a16:creationId xmlns:a16="http://schemas.microsoft.com/office/drawing/2014/main" id="{3A26A2A0-386A-6759-82FB-45A0D6381ABE}"/>
                    </a:ext>
                  </a:extLst>
                </p:cNvPr>
                <p:cNvSpPr txBox="1"/>
                <p:nvPr/>
              </p:nvSpPr>
              <p:spPr>
                <a:xfrm>
                  <a:off x="9312786" y="286400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Im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2786" y="2864000"/>
                  <a:ext cx="576536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4348" r="-1087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原点">
                  <a:extLst>
                    <a:ext uri="{FF2B5EF4-FFF2-40B4-BE49-F238E27FC236}">
                      <a16:creationId xmlns:a16="http://schemas.microsoft.com/office/drawing/2014/main" id="{E919D2CA-A6C0-FE54-C87E-B38282263B1A}"/>
                    </a:ext>
                  </a:extLst>
                </p:cNvPr>
                <p:cNvSpPr txBox="1"/>
                <p:nvPr/>
              </p:nvSpPr>
              <p:spPr>
                <a:xfrm>
                  <a:off x="9227762" y="4314976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7762" y="4314976"/>
                  <a:ext cx="545352" cy="5246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" name="向上">
            <a:extLst>
              <a:ext uri="{FF2B5EF4-FFF2-40B4-BE49-F238E27FC236}">
                <a16:creationId xmlns:a16="http://schemas.microsoft.com/office/drawing/2014/main" id="{430E140F-EBE1-D949-6535-F7D1C505B657}"/>
              </a:ext>
            </a:extLst>
          </p:cNvPr>
          <p:cNvCxnSpPr>
            <a:cxnSpLocks/>
          </p:cNvCxnSpPr>
          <p:nvPr/>
        </p:nvCxnSpPr>
        <p:spPr>
          <a:xfrm flipV="1">
            <a:off x="10108761" y="3988072"/>
            <a:ext cx="0" cy="729573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向下">
            <a:extLst>
              <a:ext uri="{FF2B5EF4-FFF2-40B4-BE49-F238E27FC236}">
                <a16:creationId xmlns:a16="http://schemas.microsoft.com/office/drawing/2014/main" id="{B93FEDB0-5503-80AC-F9C7-8D589B30CBCF}"/>
              </a:ext>
            </a:extLst>
          </p:cNvPr>
          <p:cNvCxnSpPr>
            <a:cxnSpLocks/>
          </p:cNvCxnSpPr>
          <p:nvPr/>
        </p:nvCxnSpPr>
        <p:spPr>
          <a:xfrm>
            <a:off x="10148150" y="1341191"/>
            <a:ext cx="0" cy="72008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渐近线坐标">
                <a:extLst>
                  <a:ext uri="{FF2B5EF4-FFF2-40B4-BE49-F238E27FC236}">
                    <a16:creationId xmlns:a16="http://schemas.microsoft.com/office/drawing/2014/main" id="{27C93FBA-665E-5B07-8453-837C0346619E}"/>
                  </a:ext>
                </a:extLst>
              </p:cNvPr>
              <p:cNvSpPr txBox="1"/>
              <p:nvPr/>
            </p:nvSpPr>
            <p:spPr>
              <a:xfrm>
                <a:off x="7524888" y="2513034"/>
                <a:ext cx="8555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−15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" name="渐近线坐标">
                <a:extLst>
                  <a:ext uri="{FF2B5EF4-FFF2-40B4-BE49-F238E27FC236}">
                    <a16:creationId xmlns:a16="http://schemas.microsoft.com/office/drawing/2014/main" id="{27C93FBA-665E-5B07-8453-837C03466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4888" y="2513034"/>
                <a:ext cx="855549" cy="523220"/>
              </a:xfrm>
              <a:prstGeom prst="rect">
                <a:avLst/>
              </a:prstGeom>
              <a:blipFill>
                <a:blip r:embed="rId6"/>
                <a:stretch>
                  <a:fillRect r="-4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起始频率">
                <a:extLst>
                  <a:ext uri="{FF2B5EF4-FFF2-40B4-BE49-F238E27FC236}">
                    <a16:creationId xmlns:a16="http://schemas.microsoft.com/office/drawing/2014/main" id="{2269BAFD-9387-9332-5E7A-27219948D76D}"/>
                  </a:ext>
                </a:extLst>
              </p:cNvPr>
              <p:cNvSpPr txBox="1"/>
              <p:nvPr/>
            </p:nvSpPr>
            <p:spPr>
              <a:xfrm>
                <a:off x="8880901" y="4201071"/>
                <a:ext cx="11908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3" name="起始频率">
                <a:extLst>
                  <a:ext uri="{FF2B5EF4-FFF2-40B4-BE49-F238E27FC236}">
                    <a16:creationId xmlns:a16="http://schemas.microsoft.com/office/drawing/2014/main" id="{2269BAFD-9387-9332-5E7A-27219948D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901" y="4201071"/>
                <a:ext cx="119086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终止频率">
                <a:extLst>
                  <a:ext uri="{FF2B5EF4-FFF2-40B4-BE49-F238E27FC236}">
                    <a16:creationId xmlns:a16="http://schemas.microsoft.com/office/drawing/2014/main" id="{D88E138E-9747-A952-9CD9-E547B04C7D5D}"/>
                  </a:ext>
                </a:extLst>
              </p:cNvPr>
              <p:cNvSpPr txBox="1"/>
              <p:nvPr/>
            </p:nvSpPr>
            <p:spPr>
              <a:xfrm>
                <a:off x="10128546" y="1538051"/>
                <a:ext cx="14716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=∞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" name="终止频率">
                <a:extLst>
                  <a:ext uri="{FF2B5EF4-FFF2-40B4-BE49-F238E27FC236}">
                    <a16:creationId xmlns:a16="http://schemas.microsoft.com/office/drawing/2014/main" id="{D88E138E-9747-A952-9CD9-E547B04C7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8546" y="1538051"/>
                <a:ext cx="147164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渐近线">
            <a:extLst>
              <a:ext uri="{FF2B5EF4-FFF2-40B4-BE49-F238E27FC236}">
                <a16:creationId xmlns:a16="http://schemas.microsoft.com/office/drawing/2014/main" id="{EEC5A33C-783D-13FA-8A58-26CE58F65A3E}"/>
              </a:ext>
            </a:extLst>
          </p:cNvPr>
          <p:cNvCxnSpPr>
            <a:cxnSpLocks/>
          </p:cNvCxnSpPr>
          <p:nvPr/>
        </p:nvCxnSpPr>
        <p:spPr>
          <a:xfrm flipV="1">
            <a:off x="8329602" y="1325833"/>
            <a:ext cx="0" cy="3600450"/>
          </a:xfrm>
          <a:prstGeom prst="line">
            <a:avLst/>
          </a:prstGeom>
          <a:ln w="38100">
            <a:solidFill>
              <a:schemeClr val="tx2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小标题1">
            <a:extLst>
              <a:ext uri="{FF2B5EF4-FFF2-40B4-BE49-F238E27FC236}">
                <a16:creationId xmlns:a16="http://schemas.microsoft.com/office/drawing/2014/main" id="{72B998A6-A93E-74C5-F067-9D86C4E6AAEE}"/>
              </a:ext>
            </a:extLst>
          </p:cNvPr>
          <p:cNvSpPr/>
          <p:nvPr/>
        </p:nvSpPr>
        <p:spPr bwMode="auto">
          <a:xfrm>
            <a:off x="334962" y="1341191"/>
            <a:ext cx="2807907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频域稳定判据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说明3">
                <a:extLst>
                  <a:ext uri="{FF2B5EF4-FFF2-40B4-BE49-F238E27FC236}">
                    <a16:creationId xmlns:a16="http://schemas.microsoft.com/office/drawing/2014/main" id="{460E00DC-A944-3EB9-3069-885A800F7FAA}"/>
                  </a:ext>
                </a:extLst>
              </p:cNvPr>
              <p:cNvSpPr txBox="1"/>
              <p:nvPr/>
            </p:nvSpPr>
            <p:spPr>
              <a:xfrm>
                <a:off x="340172" y="2070450"/>
                <a:ext cx="5106959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开环幅相特性和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(−1,0</m:t>
                    </m:r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的关系</a:t>
                </a:r>
              </a:p>
            </p:txBody>
          </p:sp>
        </mc:Choice>
        <mc:Fallback xmlns="">
          <p:sp>
            <p:nvSpPr>
              <p:cNvPr id="18" name="说明3">
                <a:extLst>
                  <a:ext uri="{FF2B5EF4-FFF2-40B4-BE49-F238E27FC236}">
                    <a16:creationId xmlns:a16="http://schemas.microsoft.com/office/drawing/2014/main" id="{460E00DC-A944-3EB9-3069-885A800F7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72" y="2070450"/>
                <a:ext cx="5106959" cy="578882"/>
              </a:xfrm>
              <a:prstGeom prst="flowChartAlternateProcess">
                <a:avLst/>
              </a:prstGeom>
              <a:blipFill>
                <a:blip r:embed="rId9"/>
                <a:stretch>
                  <a:fillRect l="-1478" t="-8333" b="-18750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小标题1">
            <a:extLst>
              <a:ext uri="{FF2B5EF4-FFF2-40B4-BE49-F238E27FC236}">
                <a16:creationId xmlns:a16="http://schemas.microsoft.com/office/drawing/2014/main" id="{2BB6947B-DB95-B19D-996D-CCBAB66BB2C7}"/>
              </a:ext>
            </a:extLst>
          </p:cNvPr>
          <p:cNvSpPr/>
          <p:nvPr/>
        </p:nvSpPr>
        <p:spPr bwMode="auto">
          <a:xfrm>
            <a:off x="334961" y="2802591"/>
            <a:ext cx="2807907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简洁下的深刻</a:t>
            </a:r>
          </a:p>
        </p:txBody>
      </p:sp>
      <p:sp>
        <p:nvSpPr>
          <p:cNvPr id="20" name="说明3">
            <a:extLst>
              <a:ext uri="{FF2B5EF4-FFF2-40B4-BE49-F238E27FC236}">
                <a16:creationId xmlns:a16="http://schemas.microsoft.com/office/drawing/2014/main" id="{A3DEC291-4456-C5D7-FFC7-682932A2B450}"/>
              </a:ext>
            </a:extLst>
          </p:cNvPr>
          <p:cNvSpPr txBox="1"/>
          <p:nvPr/>
        </p:nvSpPr>
        <p:spPr>
          <a:xfrm>
            <a:off x="340172" y="3503931"/>
            <a:ext cx="1741480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accent1"/>
                </a:solidFill>
              </a:rPr>
              <a:t>幅角原理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5B01329-78C8-3987-FBA0-B42CBBE7A25D}"/>
              </a:ext>
            </a:extLst>
          </p:cNvPr>
          <p:cNvGrpSpPr/>
          <p:nvPr/>
        </p:nvGrpSpPr>
        <p:grpSpPr>
          <a:xfrm>
            <a:off x="8844280" y="2460875"/>
            <a:ext cx="855549" cy="701593"/>
            <a:chOff x="8844280" y="2460875"/>
            <a:chExt cx="855549" cy="701593"/>
          </a:xfrm>
        </p:grpSpPr>
        <p:sp>
          <p:nvSpPr>
            <p:cNvPr id="16" name="负实轴交点">
              <a:extLst>
                <a:ext uri="{FF2B5EF4-FFF2-40B4-BE49-F238E27FC236}">
                  <a16:creationId xmlns:a16="http://schemas.microsoft.com/office/drawing/2014/main" id="{58BCD591-F861-8EB5-23D9-78C0C69BBC28}"/>
                </a:ext>
              </a:extLst>
            </p:cNvPr>
            <p:cNvSpPr/>
            <p:nvPr/>
          </p:nvSpPr>
          <p:spPr>
            <a:xfrm>
              <a:off x="9392488" y="2460875"/>
              <a:ext cx="122752" cy="1227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渐近线坐标">
                  <a:extLst>
                    <a:ext uri="{FF2B5EF4-FFF2-40B4-BE49-F238E27FC236}">
                      <a16:creationId xmlns:a16="http://schemas.microsoft.com/office/drawing/2014/main" id="{2F873D35-79D1-06AB-1F53-697E3997D4C9}"/>
                    </a:ext>
                  </a:extLst>
                </p:cNvPr>
                <p:cNvSpPr txBox="1"/>
                <p:nvPr/>
              </p:nvSpPr>
              <p:spPr>
                <a:xfrm>
                  <a:off x="8844280" y="2637773"/>
                  <a:ext cx="855549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(−1,0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1" name="渐近线坐标">
                  <a:extLst>
                    <a:ext uri="{FF2B5EF4-FFF2-40B4-BE49-F238E27FC236}">
                      <a16:creationId xmlns:a16="http://schemas.microsoft.com/office/drawing/2014/main" id="{2F873D35-79D1-06AB-1F53-697E3997D4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4280" y="2637773"/>
                  <a:ext cx="855549" cy="524695"/>
                </a:xfrm>
                <a:prstGeom prst="rect">
                  <a:avLst/>
                </a:prstGeom>
                <a:blipFill>
                  <a:blip r:embed="rId10"/>
                  <a:stretch>
                    <a:fillRect l="-8824" r="-66176" b="-16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说明3">
            <a:extLst>
              <a:ext uri="{FF2B5EF4-FFF2-40B4-BE49-F238E27FC236}">
                <a16:creationId xmlns:a16="http://schemas.microsoft.com/office/drawing/2014/main" id="{9F2355C4-9A2F-4765-AA3F-76AD043D0BD4}"/>
              </a:ext>
            </a:extLst>
          </p:cNvPr>
          <p:cNvSpPr txBox="1"/>
          <p:nvPr/>
        </p:nvSpPr>
        <p:spPr>
          <a:xfrm>
            <a:off x="8397126" y="1325833"/>
            <a:ext cx="984595" cy="578882"/>
          </a:xfrm>
          <a:prstGeom prst="flowChartAlternateProcess">
            <a:avLst/>
          </a:prstGeom>
          <a:noFill/>
          <a:ln>
            <a:solidFill>
              <a:schemeClr val="accent2"/>
            </a:solidFill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rgbClr val="159F84"/>
                </a:solidFill>
              </a:rPr>
              <a:t>稳定</a:t>
            </a:r>
          </a:p>
        </p:txBody>
      </p:sp>
      <p:sp>
        <p:nvSpPr>
          <p:cNvPr id="24" name="说明3">
            <a:extLst>
              <a:ext uri="{FF2B5EF4-FFF2-40B4-BE49-F238E27FC236}">
                <a16:creationId xmlns:a16="http://schemas.microsoft.com/office/drawing/2014/main" id="{EA4E6095-541B-DA65-3FE2-EC445BAA8A8B}"/>
              </a:ext>
            </a:extLst>
          </p:cNvPr>
          <p:cNvSpPr txBox="1"/>
          <p:nvPr/>
        </p:nvSpPr>
        <p:spPr>
          <a:xfrm>
            <a:off x="10460624" y="2972620"/>
            <a:ext cx="1333950" cy="578882"/>
          </a:xfrm>
          <a:prstGeom prst="flowChartAlternateProcess">
            <a:avLst/>
          </a:prstGeom>
          <a:noFill/>
          <a:ln>
            <a:solidFill>
              <a:srgbClr val="E44860"/>
            </a:solidFill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rgbClr val="E44860"/>
                </a:solidFill>
              </a:rPr>
              <a:t>不稳定</a:t>
            </a:r>
          </a:p>
        </p:txBody>
      </p:sp>
    </p:spTree>
    <p:extLst>
      <p:ext uri="{BB962C8B-B14F-4D97-AF65-F5344CB8AC3E}">
        <p14:creationId xmlns:p14="http://schemas.microsoft.com/office/powerpoint/2010/main" val="3368874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0785E-6 -3.7037E-6 L -0.05379 -3.7037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379 -3.7037E-6 L 0.03516 -3.7037E-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4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grpSp>
        <p:nvGrpSpPr>
          <p:cNvPr id="19" name="步骤1">
            <a:extLst>
              <a:ext uri="{FF2B5EF4-FFF2-40B4-BE49-F238E27FC236}">
                <a16:creationId xmlns:a16="http://schemas.microsoft.com/office/drawing/2014/main" id="{1DF0A6FF-1D67-2486-36F5-E5EF1E2707D0}"/>
              </a:ext>
            </a:extLst>
          </p:cNvPr>
          <p:cNvGrpSpPr/>
          <p:nvPr/>
        </p:nvGrpSpPr>
        <p:grpSpPr>
          <a:xfrm>
            <a:off x="277241" y="955919"/>
            <a:ext cx="2937646" cy="725177"/>
            <a:chOff x="4943078" y="1700704"/>
            <a:chExt cx="2937646" cy="725177"/>
          </a:xfrm>
        </p:grpSpPr>
        <p:sp>
          <p:nvSpPr>
            <p:cNvPr id="20" name="标题">
              <a:extLst>
                <a:ext uri="{FF2B5EF4-FFF2-40B4-BE49-F238E27FC236}">
                  <a16:creationId xmlns:a16="http://schemas.microsoft.com/office/drawing/2014/main" id="{AE7B35A2-1941-E8EB-D7BB-FC3B4E479557}"/>
                </a:ext>
              </a:extLst>
            </p:cNvPr>
            <p:cNvSpPr/>
            <p:nvPr/>
          </p:nvSpPr>
          <p:spPr bwMode="auto">
            <a:xfrm>
              <a:off x="5502818" y="1739799"/>
              <a:ext cx="2377906" cy="646986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幅相特性</a:t>
              </a:r>
            </a:p>
          </p:txBody>
        </p:sp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4EDD4ABB-AC59-9BDE-7217-79A45D20B45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2" name="步骤2">
            <a:extLst>
              <a:ext uri="{FF2B5EF4-FFF2-40B4-BE49-F238E27FC236}">
                <a16:creationId xmlns:a16="http://schemas.microsoft.com/office/drawing/2014/main" id="{F45F4F54-5A48-9DFF-111A-9147948CD157}"/>
              </a:ext>
            </a:extLst>
          </p:cNvPr>
          <p:cNvGrpSpPr/>
          <p:nvPr/>
        </p:nvGrpSpPr>
        <p:grpSpPr>
          <a:xfrm>
            <a:off x="277241" y="1769012"/>
            <a:ext cx="2937646" cy="725177"/>
            <a:chOff x="4943078" y="1700704"/>
            <a:chExt cx="2937646" cy="725177"/>
          </a:xfrm>
        </p:grpSpPr>
        <p:sp>
          <p:nvSpPr>
            <p:cNvPr id="23" name="标题">
              <a:extLst>
                <a:ext uri="{FF2B5EF4-FFF2-40B4-BE49-F238E27FC236}">
                  <a16:creationId xmlns:a16="http://schemas.microsoft.com/office/drawing/2014/main" id="{5D13C6C9-7135-610B-8953-ACD7A4A4E4DE}"/>
                </a:ext>
              </a:extLst>
            </p:cNvPr>
            <p:cNvSpPr/>
            <p:nvPr/>
          </p:nvSpPr>
          <p:spPr bwMode="auto">
            <a:xfrm>
              <a:off x="5417689" y="1750121"/>
              <a:ext cx="2463035" cy="646986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起点终点</a:t>
              </a:r>
            </a:p>
          </p:txBody>
        </p:sp>
        <p:sp>
          <p:nvSpPr>
            <p:cNvPr id="24" name="序号">
              <a:extLst>
                <a:ext uri="{FF2B5EF4-FFF2-40B4-BE49-F238E27FC236}">
                  <a16:creationId xmlns:a16="http://schemas.microsoft.com/office/drawing/2014/main" id="{E0E52B47-7B51-9B94-226B-1EA55CBB8F2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5" name="步骤4">
            <a:extLst>
              <a:ext uri="{FF2B5EF4-FFF2-40B4-BE49-F238E27FC236}">
                <a16:creationId xmlns:a16="http://schemas.microsoft.com/office/drawing/2014/main" id="{BDBAFAA3-6448-7C50-7AAD-79F36CB67C04}"/>
              </a:ext>
            </a:extLst>
          </p:cNvPr>
          <p:cNvGrpSpPr/>
          <p:nvPr/>
        </p:nvGrpSpPr>
        <p:grpSpPr>
          <a:xfrm>
            <a:off x="259126" y="3449784"/>
            <a:ext cx="3303095" cy="725177"/>
            <a:chOff x="4943078" y="1700704"/>
            <a:chExt cx="3303095" cy="725177"/>
          </a:xfrm>
        </p:grpSpPr>
        <p:sp>
          <p:nvSpPr>
            <p:cNvPr id="26" name="标题">
              <a:extLst>
                <a:ext uri="{FF2B5EF4-FFF2-40B4-BE49-F238E27FC236}">
                  <a16:creationId xmlns:a16="http://schemas.microsoft.com/office/drawing/2014/main" id="{32490998-B565-963D-5F2D-0D864334F9A5}"/>
                </a:ext>
              </a:extLst>
            </p:cNvPr>
            <p:cNvSpPr/>
            <p:nvPr/>
          </p:nvSpPr>
          <p:spPr bwMode="auto">
            <a:xfrm>
              <a:off x="5459861" y="1739799"/>
              <a:ext cx="2786312" cy="646986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单位圆交点</a:t>
              </a:r>
            </a:p>
          </p:txBody>
        </p:sp>
        <p:sp>
          <p:nvSpPr>
            <p:cNvPr id="27" name="序号">
              <a:extLst>
                <a:ext uri="{FF2B5EF4-FFF2-40B4-BE49-F238E27FC236}">
                  <a16:creationId xmlns:a16="http://schemas.microsoft.com/office/drawing/2014/main" id="{3B15418C-5D46-25FB-A87A-B9F63D5A2F0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8" name="步骤3">
            <a:extLst>
              <a:ext uri="{FF2B5EF4-FFF2-40B4-BE49-F238E27FC236}">
                <a16:creationId xmlns:a16="http://schemas.microsoft.com/office/drawing/2014/main" id="{DCDEE8DC-BA56-0318-6930-FF7101B52CFD}"/>
              </a:ext>
            </a:extLst>
          </p:cNvPr>
          <p:cNvGrpSpPr/>
          <p:nvPr/>
        </p:nvGrpSpPr>
        <p:grpSpPr>
          <a:xfrm>
            <a:off x="271299" y="2582105"/>
            <a:ext cx="3260924" cy="725177"/>
            <a:chOff x="4943078" y="1700704"/>
            <a:chExt cx="3260924" cy="725177"/>
          </a:xfrm>
        </p:grpSpPr>
        <p:sp>
          <p:nvSpPr>
            <p:cNvPr id="29" name="标题">
              <a:extLst>
                <a:ext uri="{FF2B5EF4-FFF2-40B4-BE49-F238E27FC236}">
                  <a16:creationId xmlns:a16="http://schemas.microsoft.com/office/drawing/2014/main" id="{173D9534-8EDB-7E86-ABE3-A8D0FCFCEE3F}"/>
                </a:ext>
              </a:extLst>
            </p:cNvPr>
            <p:cNvSpPr/>
            <p:nvPr/>
          </p:nvSpPr>
          <p:spPr bwMode="auto">
            <a:xfrm>
              <a:off x="5417690" y="1736097"/>
              <a:ext cx="2786312" cy="646986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负实轴交点</a:t>
              </a:r>
            </a:p>
          </p:txBody>
        </p:sp>
        <p:sp>
          <p:nvSpPr>
            <p:cNvPr id="30" name="序号">
              <a:extLst>
                <a:ext uri="{FF2B5EF4-FFF2-40B4-BE49-F238E27FC236}">
                  <a16:creationId xmlns:a16="http://schemas.microsoft.com/office/drawing/2014/main" id="{4EE3A3FD-9421-CBFA-EC5C-9B49F910783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说明1">
                <a:extLst>
                  <a:ext uri="{FF2B5EF4-FFF2-40B4-BE49-F238E27FC236}">
                    <a16:creationId xmlns:a16="http://schemas.microsoft.com/office/drawing/2014/main" id="{13AD52AC-E7E6-2895-D13B-B9CCA570C548}"/>
                  </a:ext>
                </a:extLst>
              </p:cNvPr>
              <p:cNvSpPr txBox="1"/>
              <p:nvPr/>
            </p:nvSpPr>
            <p:spPr>
              <a:xfrm>
                <a:off x="3574926" y="1053704"/>
                <a:ext cx="79964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幅值和相角在频率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0→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sz="2800" dirty="0"/>
                  <a:t>变化时的极坐标轨迹</a:t>
                </a:r>
              </a:p>
            </p:txBody>
          </p:sp>
        </mc:Choice>
        <mc:Fallback xmlns="">
          <p:sp>
            <p:nvSpPr>
              <p:cNvPr id="31" name="说明1">
                <a:extLst>
                  <a:ext uri="{FF2B5EF4-FFF2-40B4-BE49-F238E27FC236}">
                    <a16:creationId xmlns:a16="http://schemas.microsoft.com/office/drawing/2014/main" id="{13AD52AC-E7E6-2895-D13B-B9CCA570C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926" y="1053704"/>
                <a:ext cx="7996405" cy="523220"/>
              </a:xfrm>
              <a:prstGeom prst="rect">
                <a:avLst/>
              </a:prstGeom>
              <a:blipFill>
                <a:blip r:embed="rId3"/>
                <a:stretch>
                  <a:fillRect l="-1585" t="-16667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说明2">
                <a:extLst>
                  <a:ext uri="{FF2B5EF4-FFF2-40B4-BE49-F238E27FC236}">
                    <a16:creationId xmlns:a16="http://schemas.microsoft.com/office/drawing/2014/main" id="{0EDA0FB0-9D8E-9B10-C08B-BDCA8A371C06}"/>
                  </a:ext>
                </a:extLst>
              </p:cNvPr>
              <p:cNvSpPr txBox="1"/>
              <p:nvPr/>
            </p:nvSpPr>
            <p:spPr>
              <a:xfrm>
                <a:off x="3532223" y="1856692"/>
                <a:ext cx="83563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−90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,−90°(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32" name="说明2">
                <a:extLst>
                  <a:ext uri="{FF2B5EF4-FFF2-40B4-BE49-F238E27FC236}">
                    <a16:creationId xmlns:a16="http://schemas.microsoft.com/office/drawing/2014/main" id="{0EDA0FB0-9D8E-9B10-C08B-BDCA8A371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223" y="1856692"/>
                <a:ext cx="8356361" cy="523220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说明3">
                <a:extLst>
                  <a:ext uri="{FF2B5EF4-FFF2-40B4-BE49-F238E27FC236}">
                    <a16:creationId xmlns:a16="http://schemas.microsoft.com/office/drawing/2014/main" id="{E8BCF822-C15C-BA20-871E-7C7CF6373C52}"/>
                  </a:ext>
                </a:extLst>
              </p:cNvPr>
              <p:cNvSpPr txBox="1"/>
              <p:nvPr/>
            </p:nvSpPr>
            <p:spPr>
              <a:xfrm>
                <a:off x="3862957" y="2703727"/>
                <a:ext cx="6912993" cy="589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穿越频率，</a:t>
                </a:r>
                <a:r>
                  <a:rPr kumimoji="1" lang="en-US" altLang="zh-CN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kumimoji="1"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kumimoji="1" lang="zh-CN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kumimoji="1" lang="en-US" altLang="zh-CN" sz="28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sSub>
                          <m:sSub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e>
                    </m:d>
                    <m:r>
                      <a:rPr kumimoji="1" lang="en-US" altLang="zh-CN" sz="28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=−180</m:t>
                    </m:r>
                    <m:r>
                      <a:rPr kumimoji="1"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3" name="说明3">
                <a:extLst>
                  <a:ext uri="{FF2B5EF4-FFF2-40B4-BE49-F238E27FC236}">
                    <a16:creationId xmlns:a16="http://schemas.microsoft.com/office/drawing/2014/main" id="{E8BCF822-C15C-BA20-871E-7C7CF6373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2957" y="2703727"/>
                <a:ext cx="6912993" cy="589072"/>
              </a:xfrm>
              <a:prstGeom prst="rect">
                <a:avLst/>
              </a:prstGeom>
              <a:blipFill>
                <a:blip r:embed="rId5"/>
                <a:stretch>
                  <a:fillRect l="-1835" t="-8511" b="-212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说明4">
                <a:extLst>
                  <a:ext uri="{FF2B5EF4-FFF2-40B4-BE49-F238E27FC236}">
                    <a16:creationId xmlns:a16="http://schemas.microsoft.com/office/drawing/2014/main" id="{24F65A02-B530-F2F0-2530-2B36E7D9C5CA}"/>
                  </a:ext>
                </a:extLst>
              </p:cNvPr>
              <p:cNvSpPr txBox="1"/>
              <p:nvPr/>
            </p:nvSpPr>
            <p:spPr>
              <a:xfrm>
                <a:off x="3915875" y="3550762"/>
                <a:ext cx="69129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截止频率，</a:t>
                </a:r>
                <a:r>
                  <a:rPr kumimoji="1" lang="en-US" altLang="zh-CN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kumimoji="1"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kumimoji="1" lang="zh-CN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𝐺</m:t>
                        </m:r>
                        <m:d>
                          <m:d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kumimoji="1"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4" name="说明4">
                <a:extLst>
                  <a:ext uri="{FF2B5EF4-FFF2-40B4-BE49-F238E27FC236}">
                    <a16:creationId xmlns:a16="http://schemas.microsoft.com/office/drawing/2014/main" id="{24F65A02-B530-F2F0-2530-2B36E7D9C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875" y="3550762"/>
                <a:ext cx="6912994" cy="523220"/>
              </a:xfrm>
              <a:prstGeom prst="rect">
                <a:avLst/>
              </a:prstGeom>
              <a:blipFill>
                <a:blip r:embed="rId6"/>
                <a:stretch>
                  <a:fillRect l="-1835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E6F94E93-458A-E75F-9A2F-B14498086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49" y="4100226"/>
            <a:ext cx="2619277" cy="261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小标题2">
            <a:extLst>
              <a:ext uri="{FF2B5EF4-FFF2-40B4-BE49-F238E27FC236}">
                <a16:creationId xmlns:a16="http://schemas.microsoft.com/office/drawing/2014/main" id="{6609E773-FB04-4285-ADEF-66294E9673E3}"/>
              </a:ext>
            </a:extLst>
          </p:cNvPr>
          <p:cNvSpPr/>
          <p:nvPr/>
        </p:nvSpPr>
        <p:spPr bwMode="auto">
          <a:xfrm>
            <a:off x="7905182" y="5099056"/>
            <a:ext cx="3950664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复杂现象的简洁概括</a:t>
            </a:r>
          </a:p>
        </p:txBody>
      </p:sp>
      <p:sp>
        <p:nvSpPr>
          <p:cNvPr id="37" name="小标题1">
            <a:extLst>
              <a:ext uri="{FF2B5EF4-FFF2-40B4-BE49-F238E27FC236}">
                <a16:creationId xmlns:a16="http://schemas.microsoft.com/office/drawing/2014/main" id="{B67F9E3C-9AEE-BB33-36C7-7B2CF23F4CF4}"/>
              </a:ext>
            </a:extLst>
          </p:cNvPr>
          <p:cNvSpPr/>
          <p:nvPr/>
        </p:nvSpPr>
        <p:spPr bwMode="auto">
          <a:xfrm>
            <a:off x="4943078" y="5099056"/>
            <a:ext cx="275899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简洁下的深刻</a:t>
            </a:r>
          </a:p>
        </p:txBody>
      </p:sp>
    </p:spTree>
    <p:extLst>
      <p:ext uri="{BB962C8B-B14F-4D97-AF65-F5344CB8AC3E}">
        <p14:creationId xmlns:p14="http://schemas.microsoft.com/office/powerpoint/2010/main" val="332209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6" grpId="0" animBg="1"/>
      <p:bldP spid="3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grpSp>
        <p:nvGrpSpPr>
          <p:cNvPr id="3" name="问题">
            <a:extLst>
              <a:ext uri="{FF2B5EF4-FFF2-40B4-BE49-F238E27FC236}">
                <a16:creationId xmlns:a16="http://schemas.microsoft.com/office/drawing/2014/main" id="{D06D3F1D-D77A-CF55-27C3-5010FE1F3D41}"/>
              </a:ext>
            </a:extLst>
          </p:cNvPr>
          <p:cNvGrpSpPr/>
          <p:nvPr/>
        </p:nvGrpSpPr>
        <p:grpSpPr>
          <a:xfrm>
            <a:off x="6059488" y="318248"/>
            <a:ext cx="6228406" cy="1001329"/>
            <a:chOff x="5348307" y="5538470"/>
            <a:chExt cx="6228406" cy="1001329"/>
          </a:xfrm>
        </p:grpSpPr>
        <p:sp>
          <p:nvSpPr>
            <p:cNvPr id="4" name="问号">
              <a:extLst>
                <a:ext uri="{FF2B5EF4-FFF2-40B4-BE49-F238E27FC236}">
                  <a16:creationId xmlns:a16="http://schemas.microsoft.com/office/drawing/2014/main" id="{D1612918-97F0-8B94-875C-DFD8D3439BA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5" name="文本">
              <a:extLst>
                <a:ext uri="{FF2B5EF4-FFF2-40B4-BE49-F238E27FC236}">
                  <a16:creationId xmlns:a16="http://schemas.microsoft.com/office/drawing/2014/main" id="{B40EDE9D-B618-037F-57F9-2304DF45231C}"/>
                </a:ext>
              </a:extLst>
            </p:cNvPr>
            <p:cNvSpPr txBox="1"/>
            <p:nvPr/>
          </p:nvSpPr>
          <p:spPr>
            <a:xfrm>
              <a:off x="6320700" y="5585692"/>
              <a:ext cx="5256013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根据下图实验数据分析开环幅相特性和闭环系统稳定性的关系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6E58A4A3-EF02-7CA7-7908-28B8D3712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489854"/>
            <a:ext cx="12190413" cy="50542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开环传函">
                <a:extLst>
                  <a:ext uri="{FF2B5EF4-FFF2-40B4-BE49-F238E27FC236}">
                    <a16:creationId xmlns:a16="http://schemas.microsoft.com/office/drawing/2014/main" id="{6FC849BC-1AC4-CB0C-B3F3-E9B12BBF0CAB}"/>
                  </a:ext>
                </a:extLst>
              </p:cNvPr>
              <p:cNvSpPr txBox="1"/>
              <p:nvPr/>
            </p:nvSpPr>
            <p:spPr>
              <a:xfrm>
                <a:off x="1006293" y="964831"/>
                <a:ext cx="3164679" cy="759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𝐾</m:t>
                        </m:r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+1)(2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+1)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10" name="开环传函">
                <a:extLst>
                  <a:ext uri="{FF2B5EF4-FFF2-40B4-BE49-F238E27FC236}">
                    <a16:creationId xmlns:a16="http://schemas.microsoft.com/office/drawing/2014/main" id="{6FC849BC-1AC4-CB0C-B3F3-E9B12BBF0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293" y="964831"/>
                <a:ext cx="3164679" cy="759760"/>
              </a:xfrm>
              <a:prstGeom prst="rect">
                <a:avLst/>
              </a:prstGeom>
              <a:blipFill>
                <a:blip r:embed="rId4"/>
                <a:stretch>
                  <a:fillRect l="-1200" b="-8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7085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sp>
        <p:nvSpPr>
          <p:cNvPr id="6" name="说明1">
            <a:extLst>
              <a:ext uri="{FF2B5EF4-FFF2-40B4-BE49-F238E27FC236}">
                <a16:creationId xmlns:a16="http://schemas.microsoft.com/office/drawing/2014/main" id="{EAEF012D-62CA-5326-65BE-0E9657263C8A}"/>
              </a:ext>
            </a:extLst>
          </p:cNvPr>
          <p:cNvSpPr txBox="1"/>
          <p:nvPr/>
        </p:nvSpPr>
        <p:spPr>
          <a:xfrm>
            <a:off x="3935413" y="2749986"/>
            <a:ext cx="777437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[1]</a:t>
            </a:r>
            <a:r>
              <a:rPr lang="zh-CN" altLang="en-US" sz="2800" dirty="0"/>
              <a:t> </a:t>
            </a:r>
            <a:r>
              <a:rPr lang="en" altLang="zh-CN" sz="2800" dirty="0" err="1"/>
              <a:t>Pejović</a:t>
            </a:r>
            <a:r>
              <a:rPr lang="en" altLang="zh-CN" sz="2800" dirty="0"/>
              <a:t>, P. (2019, October). Replotting the </a:t>
            </a:r>
            <a:r>
              <a:rPr lang="en" altLang="zh-CN" sz="2800" dirty="0" err="1"/>
              <a:t>nyquist</a:t>
            </a:r>
            <a:r>
              <a:rPr lang="en" altLang="zh-CN" sz="2800" dirty="0"/>
              <a:t> plot-a new visualization proposal. In 2019 20th International Symposium on Power Electronics (</a:t>
            </a:r>
            <a:r>
              <a:rPr lang="en" altLang="zh-CN" sz="2800" dirty="0" err="1"/>
              <a:t>Ee</a:t>
            </a:r>
            <a:r>
              <a:rPr lang="en" altLang="zh-CN" sz="2800" dirty="0"/>
              <a:t>) (pp. 1-6). IEEE.</a:t>
            </a:r>
          </a:p>
          <a:p>
            <a:r>
              <a:rPr lang="en-US" altLang="zh-CN" sz="2800" dirty="0"/>
              <a:t>[2]</a:t>
            </a:r>
            <a:r>
              <a:rPr lang="zh-CN" altLang="en-US" sz="2800" dirty="0"/>
              <a:t> </a:t>
            </a:r>
            <a:r>
              <a:rPr lang="en" altLang="zh-CN" sz="2800" dirty="0"/>
              <a:t>Fan, L., &amp; Miao, Z. (2020). Admittance-based stability analysis: Bode plots, </a:t>
            </a:r>
            <a:r>
              <a:rPr lang="en" altLang="zh-CN" sz="2800" dirty="0" err="1"/>
              <a:t>nyquist</a:t>
            </a:r>
            <a:r>
              <a:rPr lang="en" altLang="zh-CN" sz="2800" dirty="0"/>
              <a:t> diagrams or eigenvalue analysis?. IEEE Transactions on Power Systems, 35(4), 3312-3315.</a:t>
            </a:r>
            <a:endParaRPr lang="zh-CN" altLang="en-US" sz="2800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34FB1C4-ACDA-684B-1E5C-631D141355F8}"/>
              </a:ext>
            </a:extLst>
          </p:cNvPr>
          <p:cNvGrpSpPr/>
          <p:nvPr/>
        </p:nvGrpSpPr>
        <p:grpSpPr>
          <a:xfrm>
            <a:off x="818788" y="1275502"/>
            <a:ext cx="11037058" cy="3731473"/>
            <a:chOff x="818788" y="1275502"/>
            <a:chExt cx="11037058" cy="3731473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646934" y="1275502"/>
              <a:ext cx="8208912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dirty="0"/>
                <a:t>DR_CAN</a:t>
              </a:r>
              <a:r>
                <a:rPr lang="zh-CN" altLang="en-US" sz="2800" dirty="0"/>
                <a:t>奈奎斯特稳定性判据：</a:t>
              </a:r>
              <a:r>
                <a:rPr lang="en" altLang="zh-CN" sz="2800" dirty="0"/>
                <a:t> https://</a:t>
              </a:r>
              <a:r>
                <a:rPr lang="en" altLang="zh-CN" sz="2800" dirty="0" err="1"/>
                <a:t>www.bilibili.com</a:t>
              </a:r>
              <a:r>
                <a:rPr lang="en" altLang="zh-CN" sz="2800" dirty="0"/>
                <a:t>/video/BV1yg4y1B7JM?share_source=</a:t>
              </a:r>
              <a:r>
                <a:rPr lang="en" altLang="zh-CN" sz="2800" dirty="0" err="1"/>
                <a:t>copy_web</a:t>
              </a:r>
              <a:endParaRPr lang="zh-CN" altLang="en-US" sz="2800" dirty="0"/>
            </a:p>
          </p:txBody>
        </p:sp>
        <p:pic>
          <p:nvPicPr>
            <p:cNvPr id="4" name="图片 3" descr="图示&#10;&#10;描述已自动生成">
              <a:extLst>
                <a:ext uri="{FF2B5EF4-FFF2-40B4-BE49-F238E27FC236}">
                  <a16:creationId xmlns:a16="http://schemas.microsoft.com/office/drawing/2014/main" id="{A4685F74-9775-3CD4-C3CA-52CEE2C1F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8788" y="1367640"/>
              <a:ext cx="2171700" cy="1435100"/>
            </a:xfrm>
            <a:prstGeom prst="rect">
              <a:avLst/>
            </a:prstGeom>
          </p:spPr>
        </p:pic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73074620-032D-A0A5-9FB5-9120CF3548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7388" y="3292475"/>
              <a:ext cx="1714500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25084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pic>
        <p:nvPicPr>
          <p:cNvPr id="12" name="图形 11" descr="翻开的书、台灯、书、钢笔和铅笔">
            <a:extLst>
              <a:ext uri="{FF2B5EF4-FFF2-40B4-BE49-F238E27FC236}">
                <a16:creationId xmlns:a16="http://schemas.microsoft.com/office/drawing/2014/main" id="{E4D2B8AC-B004-AD54-F56D-CBCCEF246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8226"/>
            <a:ext cx="4148932" cy="414893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A898460F-B659-9221-12A1-BDB9965F118D}"/>
              </a:ext>
            </a:extLst>
          </p:cNvPr>
          <p:cNvGrpSpPr/>
          <p:nvPr/>
        </p:nvGrpSpPr>
        <p:grpSpPr>
          <a:xfrm>
            <a:off x="994874" y="993120"/>
            <a:ext cx="10404633" cy="2952764"/>
            <a:chOff x="994874" y="993120"/>
            <a:chExt cx="10404633" cy="295276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控制之美，王天威著，清华大学出版社，</a:t>
              </a:r>
              <a:r>
                <a:rPr lang="en-US" altLang="zh-CN" sz="2800" dirty="0"/>
                <a:t>2022</a:t>
              </a:r>
              <a:endParaRPr lang="zh-CN" altLang="en-US" sz="2800" dirty="0"/>
            </a:p>
          </p:txBody>
        </p:sp>
        <p:pic>
          <p:nvPicPr>
            <p:cNvPr id="13" name="图片 12" descr="图片包含 文本&#10;&#10;描述已自动生成">
              <a:extLst>
                <a:ext uri="{FF2B5EF4-FFF2-40B4-BE49-F238E27FC236}">
                  <a16:creationId xmlns:a16="http://schemas.microsoft.com/office/drawing/2014/main" id="{8FD22F2E-5A35-F8FB-3E4E-6F97DF4C3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874" y="993120"/>
              <a:ext cx="2148003" cy="2952764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7833AC99-3846-00FE-B980-470C6AEDDA7F}"/>
              </a:ext>
            </a:extLst>
          </p:cNvPr>
          <p:cNvGrpSpPr/>
          <p:nvPr/>
        </p:nvGrpSpPr>
        <p:grpSpPr>
          <a:xfrm>
            <a:off x="4654550" y="3429000"/>
            <a:ext cx="6967538" cy="2857500"/>
            <a:chOff x="4654550" y="3429000"/>
            <a:chExt cx="6967538" cy="2857500"/>
          </a:xfrm>
        </p:grpSpPr>
        <p:sp>
          <p:nvSpPr>
            <p:cNvPr id="9" name="说明1">
              <a:extLst>
                <a:ext uri="{FF2B5EF4-FFF2-40B4-BE49-F238E27FC236}">
                  <a16:creationId xmlns:a16="http://schemas.microsoft.com/office/drawing/2014/main" id="{75AF8125-108A-60BC-B6E2-2AAF0040A830}"/>
                </a:ext>
              </a:extLst>
            </p:cNvPr>
            <p:cNvSpPr txBox="1"/>
            <p:nvPr/>
          </p:nvSpPr>
          <p:spPr>
            <a:xfrm>
              <a:off x="4654550" y="4955833"/>
              <a:ext cx="352671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在线视频</a:t>
              </a:r>
              <a:r>
                <a:rPr lang="en-US" altLang="zh-CN" sz="2800" dirty="0"/>
                <a:t>095</a:t>
              </a:r>
              <a:r>
                <a:rPr lang="zh-CN" altLang="en-US" sz="2800" dirty="0"/>
                <a:t>，</a:t>
              </a:r>
              <a:r>
                <a:rPr lang="en-US" altLang="zh-CN" sz="2800" dirty="0"/>
                <a:t>096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参与在线讨论</a:t>
              </a:r>
            </a:p>
          </p:txBody>
        </p:sp>
        <p:pic>
          <p:nvPicPr>
            <p:cNvPr id="6" name="图片 5" descr="手机屏幕截图&#10;&#10;描述已自动生成">
              <a:extLst>
                <a:ext uri="{FF2B5EF4-FFF2-40B4-BE49-F238E27FC236}">
                  <a16:creationId xmlns:a16="http://schemas.microsoft.com/office/drawing/2014/main" id="{EA1E1483-37B5-A0CA-6E35-FCBB9B241A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36088" y="3429000"/>
              <a:ext cx="2286000" cy="285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308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实轴根轨迹2" hidden="1">
            <a:extLst>
              <a:ext uri="{FF2B5EF4-FFF2-40B4-BE49-F238E27FC236}">
                <a16:creationId xmlns:a16="http://schemas.microsoft.com/office/drawing/2014/main" id="{E3BFF0B5-75EB-88CB-D2B8-45B1CB7B3820}"/>
              </a:ext>
            </a:extLst>
          </p:cNvPr>
          <p:cNvCxnSpPr>
            <a:cxnSpLocks/>
          </p:cNvCxnSpPr>
          <p:nvPr/>
        </p:nvCxnSpPr>
        <p:spPr>
          <a:xfrm flipH="1" flipV="1">
            <a:off x="6781576" y="3495280"/>
            <a:ext cx="3108553" cy="682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实轴根轨迹1" hidden="1">
            <a:extLst>
              <a:ext uri="{FF2B5EF4-FFF2-40B4-BE49-F238E27FC236}">
                <a16:creationId xmlns:a16="http://schemas.microsoft.com/office/drawing/2014/main" id="{D3BFAEBF-E730-5646-6B89-280B20B81EF2}"/>
              </a:ext>
            </a:extLst>
          </p:cNvPr>
          <p:cNvCxnSpPr>
            <a:cxnSpLocks/>
          </p:cNvCxnSpPr>
          <p:nvPr/>
        </p:nvCxnSpPr>
        <p:spPr>
          <a:xfrm flipH="1">
            <a:off x="10351817" y="3501653"/>
            <a:ext cx="456895" cy="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节段19">
            <a:extLst>
              <a:ext uri="{FF2B5EF4-FFF2-40B4-BE49-F238E27FC236}">
                <a16:creationId xmlns:a16="http://schemas.microsoft.com/office/drawing/2014/main" id="{450D1F2B-BDA0-11FF-AE33-57008AE13E36}"/>
              </a:ext>
            </a:extLst>
          </p:cNvPr>
          <p:cNvSpPr/>
          <p:nvPr/>
        </p:nvSpPr>
        <p:spPr bwMode="auto">
          <a:xfrm>
            <a:off x="311877" y="1279998"/>
            <a:ext cx="590465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19.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幅相特性：换个角度看频域</a:t>
            </a:r>
          </a:p>
        </p:txBody>
      </p:sp>
      <p:sp>
        <p:nvSpPr>
          <p:cNvPr id="8" name="幅相1-1">
            <a:extLst>
              <a:ext uri="{FF2B5EF4-FFF2-40B4-BE49-F238E27FC236}">
                <a16:creationId xmlns:a16="http://schemas.microsoft.com/office/drawing/2014/main" id="{FBC7E945-68DF-C128-F943-CC826262B7B8}"/>
              </a:ext>
            </a:extLst>
          </p:cNvPr>
          <p:cNvSpPr/>
          <p:nvPr/>
        </p:nvSpPr>
        <p:spPr>
          <a:xfrm flipV="1">
            <a:off x="7679382" y="3140968"/>
            <a:ext cx="1598725" cy="236990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740685"/>
              <a:gd name="connsiteY0" fmla="*/ 0 h 1890882"/>
              <a:gd name="connsiteX1" fmla="*/ 740685 w 740685"/>
              <a:gd name="connsiteY1" fmla="*/ 1553568 h 1890882"/>
              <a:gd name="connsiteX0" fmla="*/ 0 w 740685"/>
              <a:gd name="connsiteY0" fmla="*/ 0 h 1553569"/>
              <a:gd name="connsiteX1" fmla="*/ 740685 w 740685"/>
              <a:gd name="connsiteY1" fmla="*/ 1553568 h 1553569"/>
              <a:gd name="connsiteX0" fmla="*/ 865137 w 867536"/>
              <a:gd name="connsiteY0" fmla="*/ 0 h 1035189"/>
              <a:gd name="connsiteX1" fmla="*/ 154841 w 867536"/>
              <a:gd name="connsiteY1" fmla="*/ 1035189 h 1035189"/>
              <a:gd name="connsiteX0" fmla="*/ 903669 w 903669"/>
              <a:gd name="connsiteY0" fmla="*/ 28617 h 1063806"/>
              <a:gd name="connsiteX1" fmla="*/ 193373 w 903669"/>
              <a:gd name="connsiteY1" fmla="*/ 1063806 h 1063806"/>
              <a:gd name="connsiteX0" fmla="*/ 1329353 w 1329353"/>
              <a:gd name="connsiteY0" fmla="*/ 311957 h 333951"/>
              <a:gd name="connsiteX1" fmla="*/ 146318 w 1329353"/>
              <a:gd name="connsiteY1" fmla="*/ 333951 h 333951"/>
              <a:gd name="connsiteX0" fmla="*/ 1335921 w 1335921"/>
              <a:gd name="connsiteY0" fmla="*/ 1616112 h 1638106"/>
              <a:gd name="connsiteX1" fmla="*/ 152886 w 1335921"/>
              <a:gd name="connsiteY1" fmla="*/ 1638106 h 1638106"/>
              <a:gd name="connsiteX0" fmla="*/ 1396511 w 1396511"/>
              <a:gd name="connsiteY0" fmla="*/ 1713702 h 1735696"/>
              <a:gd name="connsiteX1" fmla="*/ 213476 w 1396511"/>
              <a:gd name="connsiteY1" fmla="*/ 1735696 h 1735696"/>
              <a:gd name="connsiteX0" fmla="*/ 1377830 w 1377830"/>
              <a:gd name="connsiteY0" fmla="*/ 1508565 h 1530559"/>
              <a:gd name="connsiteX1" fmla="*/ 194795 w 1377830"/>
              <a:gd name="connsiteY1" fmla="*/ 1530559 h 1530559"/>
              <a:gd name="connsiteX0" fmla="*/ 80370 w 788290"/>
              <a:gd name="connsiteY0" fmla="*/ 1009743 h 3113109"/>
              <a:gd name="connsiteX1" fmla="*/ 788290 w 788290"/>
              <a:gd name="connsiteY1" fmla="*/ 3113109 h 3113109"/>
              <a:gd name="connsiteX0" fmla="*/ 40665 w 748585"/>
              <a:gd name="connsiteY0" fmla="*/ 0 h 2103366"/>
              <a:gd name="connsiteX1" fmla="*/ 748585 w 748585"/>
              <a:gd name="connsiteY1" fmla="*/ 2103366 h 2103366"/>
              <a:gd name="connsiteX0" fmla="*/ 26198 w 869855"/>
              <a:gd name="connsiteY0" fmla="*/ 0 h 2967332"/>
              <a:gd name="connsiteX1" fmla="*/ 869855 w 869855"/>
              <a:gd name="connsiteY1" fmla="*/ 2967332 h 2967332"/>
              <a:gd name="connsiteX0" fmla="*/ 0 w 843657"/>
              <a:gd name="connsiteY0" fmla="*/ 0 h 2967332"/>
              <a:gd name="connsiteX1" fmla="*/ 843657 w 843657"/>
              <a:gd name="connsiteY1" fmla="*/ 2967332 h 2967332"/>
              <a:gd name="connsiteX0" fmla="*/ 0 w 843657"/>
              <a:gd name="connsiteY0" fmla="*/ 0 h 2967332"/>
              <a:gd name="connsiteX1" fmla="*/ 843657 w 843657"/>
              <a:gd name="connsiteY1" fmla="*/ 2967332 h 2967332"/>
              <a:gd name="connsiteX0" fmla="*/ 0 w 843657"/>
              <a:gd name="connsiteY0" fmla="*/ 0 h 2967332"/>
              <a:gd name="connsiteX1" fmla="*/ 843657 w 843657"/>
              <a:gd name="connsiteY1" fmla="*/ 2967332 h 2967332"/>
              <a:gd name="connsiteX0" fmla="*/ 0 w 1349160"/>
              <a:gd name="connsiteY0" fmla="*/ 0 h 2935915"/>
              <a:gd name="connsiteX1" fmla="*/ 1349160 w 1349160"/>
              <a:gd name="connsiteY1" fmla="*/ 2935915 h 2935915"/>
              <a:gd name="connsiteX0" fmla="*/ 0 w 1349160"/>
              <a:gd name="connsiteY0" fmla="*/ 0 h 3355376"/>
              <a:gd name="connsiteX1" fmla="*/ 1349160 w 1349160"/>
              <a:gd name="connsiteY1" fmla="*/ 2935915 h 3355376"/>
              <a:gd name="connsiteX0" fmla="*/ 0 w 1349160"/>
              <a:gd name="connsiteY0" fmla="*/ 0 h 3389874"/>
              <a:gd name="connsiteX1" fmla="*/ 1349160 w 1349160"/>
              <a:gd name="connsiteY1" fmla="*/ 2935915 h 3389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49160" h="3389874">
                <a:moveTo>
                  <a:pt x="0" y="0"/>
                </a:moveTo>
                <a:cubicBezTo>
                  <a:pt x="222015" y="2076366"/>
                  <a:pt x="1189901" y="4386665"/>
                  <a:pt x="1349160" y="2935915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9" name="坐标轴">
            <a:extLst>
              <a:ext uri="{FF2B5EF4-FFF2-40B4-BE49-F238E27FC236}">
                <a16:creationId xmlns:a16="http://schemas.microsoft.com/office/drawing/2014/main" id="{C3CC82DB-6774-9915-7A59-D79D5393B105}"/>
              </a:ext>
            </a:extLst>
          </p:cNvPr>
          <p:cNvGrpSpPr/>
          <p:nvPr/>
        </p:nvGrpSpPr>
        <p:grpSpPr>
          <a:xfrm>
            <a:off x="7002767" y="1400090"/>
            <a:ext cx="4349023" cy="4039578"/>
            <a:chOff x="6685699" y="1945711"/>
            <a:chExt cx="4979145" cy="4671533"/>
          </a:xfrm>
        </p:grpSpPr>
        <p:cxnSp>
          <p:nvCxnSpPr>
            <p:cNvPr id="10" name="实轴">
              <a:extLst>
                <a:ext uri="{FF2B5EF4-FFF2-40B4-BE49-F238E27FC236}">
                  <a16:creationId xmlns:a16="http://schemas.microsoft.com/office/drawing/2014/main" id="{6DA747E0-0D32-428B-D32B-7C54513149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5699" y="4318469"/>
              <a:ext cx="497914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虚轴">
              <a:extLst>
                <a:ext uri="{FF2B5EF4-FFF2-40B4-BE49-F238E27FC236}">
                  <a16:creationId xmlns:a16="http://schemas.microsoft.com/office/drawing/2014/main" id="{0739B3FF-43AA-45CF-A1C3-930E478D00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01747" y="1945711"/>
              <a:ext cx="0" cy="4671533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">
                  <a:extLst>
                    <a:ext uri="{FF2B5EF4-FFF2-40B4-BE49-F238E27FC236}">
                      <a16:creationId xmlns:a16="http://schemas.microsoft.com/office/drawing/2014/main" id="{AC91997D-4AA4-5CE4-350B-382AC9925208}"/>
                    </a:ext>
                  </a:extLst>
                </p:cNvPr>
                <p:cNvSpPr txBox="1"/>
                <p:nvPr/>
              </p:nvSpPr>
              <p:spPr>
                <a:xfrm>
                  <a:off x="11034719" y="3791744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Re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" name="Re">
                  <a:extLst>
                    <a:ext uri="{FF2B5EF4-FFF2-40B4-BE49-F238E27FC236}">
                      <a16:creationId xmlns:a16="http://schemas.microsoft.com/office/drawing/2014/main" id="{AC91997D-4AA4-5CE4-350B-382AC99252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4719" y="3791744"/>
                  <a:ext cx="576536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5000" r="-22500"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Im">
                  <a:extLst>
                    <a:ext uri="{FF2B5EF4-FFF2-40B4-BE49-F238E27FC236}">
                      <a16:creationId xmlns:a16="http://schemas.microsoft.com/office/drawing/2014/main" id="{194960B1-8B28-2B49-04E7-A9CF5B1909DC}"/>
                    </a:ext>
                  </a:extLst>
                </p:cNvPr>
                <p:cNvSpPr txBox="1"/>
                <p:nvPr/>
              </p:nvSpPr>
              <p:spPr>
                <a:xfrm>
                  <a:off x="9312786" y="1961345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Im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" name="Im">
                  <a:extLst>
                    <a:ext uri="{FF2B5EF4-FFF2-40B4-BE49-F238E27FC236}">
                      <a16:creationId xmlns:a16="http://schemas.microsoft.com/office/drawing/2014/main" id="{194960B1-8B28-2B49-04E7-A9CF5B190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2786" y="1961345"/>
                  <a:ext cx="576536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7500" r="-25000"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原点">
                  <a:extLst>
                    <a:ext uri="{FF2B5EF4-FFF2-40B4-BE49-F238E27FC236}">
                      <a16:creationId xmlns:a16="http://schemas.microsoft.com/office/drawing/2014/main" id="{51058877-8203-6CE8-B3AF-6AC97AFE181E}"/>
                    </a:ext>
                  </a:extLst>
                </p:cNvPr>
                <p:cNvSpPr txBox="1"/>
                <p:nvPr/>
              </p:nvSpPr>
              <p:spPr>
                <a:xfrm>
                  <a:off x="9227762" y="4314976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7762" y="4314976"/>
                  <a:ext cx="545352" cy="5246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幅相1-1">
            <a:extLst>
              <a:ext uri="{FF2B5EF4-FFF2-40B4-BE49-F238E27FC236}">
                <a16:creationId xmlns:a16="http://schemas.microsoft.com/office/drawing/2014/main" id="{2FDDB516-DEEE-7DB2-513E-15EBF05CA7B7}"/>
              </a:ext>
            </a:extLst>
          </p:cNvPr>
          <p:cNvSpPr/>
          <p:nvPr/>
        </p:nvSpPr>
        <p:spPr>
          <a:xfrm>
            <a:off x="7679382" y="1400090"/>
            <a:ext cx="1598725" cy="236990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740685"/>
              <a:gd name="connsiteY0" fmla="*/ 0 h 1890882"/>
              <a:gd name="connsiteX1" fmla="*/ 740685 w 740685"/>
              <a:gd name="connsiteY1" fmla="*/ 1553568 h 1890882"/>
              <a:gd name="connsiteX0" fmla="*/ 0 w 740685"/>
              <a:gd name="connsiteY0" fmla="*/ 0 h 1553569"/>
              <a:gd name="connsiteX1" fmla="*/ 740685 w 740685"/>
              <a:gd name="connsiteY1" fmla="*/ 1553568 h 1553569"/>
              <a:gd name="connsiteX0" fmla="*/ 865137 w 867536"/>
              <a:gd name="connsiteY0" fmla="*/ 0 h 1035189"/>
              <a:gd name="connsiteX1" fmla="*/ 154841 w 867536"/>
              <a:gd name="connsiteY1" fmla="*/ 1035189 h 1035189"/>
              <a:gd name="connsiteX0" fmla="*/ 903669 w 903669"/>
              <a:gd name="connsiteY0" fmla="*/ 28617 h 1063806"/>
              <a:gd name="connsiteX1" fmla="*/ 193373 w 903669"/>
              <a:gd name="connsiteY1" fmla="*/ 1063806 h 1063806"/>
              <a:gd name="connsiteX0" fmla="*/ 1329353 w 1329353"/>
              <a:gd name="connsiteY0" fmla="*/ 311957 h 333951"/>
              <a:gd name="connsiteX1" fmla="*/ 146318 w 1329353"/>
              <a:gd name="connsiteY1" fmla="*/ 333951 h 333951"/>
              <a:gd name="connsiteX0" fmla="*/ 1335921 w 1335921"/>
              <a:gd name="connsiteY0" fmla="*/ 1616112 h 1638106"/>
              <a:gd name="connsiteX1" fmla="*/ 152886 w 1335921"/>
              <a:gd name="connsiteY1" fmla="*/ 1638106 h 1638106"/>
              <a:gd name="connsiteX0" fmla="*/ 1396511 w 1396511"/>
              <a:gd name="connsiteY0" fmla="*/ 1713702 h 1735696"/>
              <a:gd name="connsiteX1" fmla="*/ 213476 w 1396511"/>
              <a:gd name="connsiteY1" fmla="*/ 1735696 h 1735696"/>
              <a:gd name="connsiteX0" fmla="*/ 1377830 w 1377830"/>
              <a:gd name="connsiteY0" fmla="*/ 1508565 h 1530559"/>
              <a:gd name="connsiteX1" fmla="*/ 194795 w 1377830"/>
              <a:gd name="connsiteY1" fmla="*/ 1530559 h 1530559"/>
              <a:gd name="connsiteX0" fmla="*/ 80370 w 788290"/>
              <a:gd name="connsiteY0" fmla="*/ 1009743 h 3113109"/>
              <a:gd name="connsiteX1" fmla="*/ 788290 w 788290"/>
              <a:gd name="connsiteY1" fmla="*/ 3113109 h 3113109"/>
              <a:gd name="connsiteX0" fmla="*/ 40665 w 748585"/>
              <a:gd name="connsiteY0" fmla="*/ 0 h 2103366"/>
              <a:gd name="connsiteX1" fmla="*/ 748585 w 748585"/>
              <a:gd name="connsiteY1" fmla="*/ 2103366 h 2103366"/>
              <a:gd name="connsiteX0" fmla="*/ 26198 w 869855"/>
              <a:gd name="connsiteY0" fmla="*/ 0 h 2967332"/>
              <a:gd name="connsiteX1" fmla="*/ 869855 w 869855"/>
              <a:gd name="connsiteY1" fmla="*/ 2967332 h 2967332"/>
              <a:gd name="connsiteX0" fmla="*/ 0 w 843657"/>
              <a:gd name="connsiteY0" fmla="*/ 0 h 2967332"/>
              <a:gd name="connsiteX1" fmla="*/ 843657 w 843657"/>
              <a:gd name="connsiteY1" fmla="*/ 2967332 h 2967332"/>
              <a:gd name="connsiteX0" fmla="*/ 0 w 843657"/>
              <a:gd name="connsiteY0" fmla="*/ 0 h 2967332"/>
              <a:gd name="connsiteX1" fmla="*/ 843657 w 843657"/>
              <a:gd name="connsiteY1" fmla="*/ 2967332 h 2967332"/>
              <a:gd name="connsiteX0" fmla="*/ 0 w 843657"/>
              <a:gd name="connsiteY0" fmla="*/ 0 h 2967332"/>
              <a:gd name="connsiteX1" fmla="*/ 843657 w 843657"/>
              <a:gd name="connsiteY1" fmla="*/ 2967332 h 2967332"/>
              <a:gd name="connsiteX0" fmla="*/ 0 w 1349160"/>
              <a:gd name="connsiteY0" fmla="*/ 0 h 2935915"/>
              <a:gd name="connsiteX1" fmla="*/ 1349160 w 1349160"/>
              <a:gd name="connsiteY1" fmla="*/ 2935915 h 2935915"/>
              <a:gd name="connsiteX0" fmla="*/ 0 w 1349160"/>
              <a:gd name="connsiteY0" fmla="*/ 0 h 3355376"/>
              <a:gd name="connsiteX1" fmla="*/ 1349160 w 1349160"/>
              <a:gd name="connsiteY1" fmla="*/ 2935915 h 3355376"/>
              <a:gd name="connsiteX0" fmla="*/ 0 w 1349160"/>
              <a:gd name="connsiteY0" fmla="*/ 0 h 3389874"/>
              <a:gd name="connsiteX1" fmla="*/ 1349160 w 1349160"/>
              <a:gd name="connsiteY1" fmla="*/ 2935915 h 3389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49160" h="3389874">
                <a:moveTo>
                  <a:pt x="0" y="0"/>
                </a:moveTo>
                <a:cubicBezTo>
                  <a:pt x="222015" y="2076366"/>
                  <a:pt x="1189901" y="4386665"/>
                  <a:pt x="1349160" y="2935915"/>
                </a:cubicBezTo>
              </a:path>
            </a:pathLst>
          </a:custGeom>
          <a:noFill/>
          <a:ln w="38100">
            <a:solidFill>
              <a:srgbClr val="E44860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幅相1-1">
            <a:extLst>
              <a:ext uri="{FF2B5EF4-FFF2-40B4-BE49-F238E27FC236}">
                <a16:creationId xmlns:a16="http://schemas.microsoft.com/office/drawing/2014/main" id="{555EB820-43EB-0E75-8461-53C5817A79F2}"/>
              </a:ext>
            </a:extLst>
          </p:cNvPr>
          <p:cNvSpPr/>
          <p:nvPr/>
        </p:nvSpPr>
        <p:spPr>
          <a:xfrm>
            <a:off x="7675201" y="1065811"/>
            <a:ext cx="3876748" cy="4781334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740685"/>
              <a:gd name="connsiteY0" fmla="*/ 0 h 1890882"/>
              <a:gd name="connsiteX1" fmla="*/ 740685 w 740685"/>
              <a:gd name="connsiteY1" fmla="*/ 1553568 h 1890882"/>
              <a:gd name="connsiteX0" fmla="*/ 0 w 740685"/>
              <a:gd name="connsiteY0" fmla="*/ 0 h 1553569"/>
              <a:gd name="connsiteX1" fmla="*/ 740685 w 740685"/>
              <a:gd name="connsiteY1" fmla="*/ 1553568 h 1553569"/>
              <a:gd name="connsiteX0" fmla="*/ 865137 w 867536"/>
              <a:gd name="connsiteY0" fmla="*/ 0 h 1035189"/>
              <a:gd name="connsiteX1" fmla="*/ 154841 w 867536"/>
              <a:gd name="connsiteY1" fmla="*/ 1035189 h 1035189"/>
              <a:gd name="connsiteX0" fmla="*/ 903669 w 903669"/>
              <a:gd name="connsiteY0" fmla="*/ 28617 h 1063806"/>
              <a:gd name="connsiteX1" fmla="*/ 193373 w 903669"/>
              <a:gd name="connsiteY1" fmla="*/ 1063806 h 1063806"/>
              <a:gd name="connsiteX0" fmla="*/ 1329353 w 1329353"/>
              <a:gd name="connsiteY0" fmla="*/ 311957 h 333951"/>
              <a:gd name="connsiteX1" fmla="*/ 146318 w 1329353"/>
              <a:gd name="connsiteY1" fmla="*/ 333951 h 333951"/>
              <a:gd name="connsiteX0" fmla="*/ 1335921 w 1335921"/>
              <a:gd name="connsiteY0" fmla="*/ 1616112 h 1638106"/>
              <a:gd name="connsiteX1" fmla="*/ 152886 w 1335921"/>
              <a:gd name="connsiteY1" fmla="*/ 1638106 h 1638106"/>
              <a:gd name="connsiteX0" fmla="*/ 1396511 w 1396511"/>
              <a:gd name="connsiteY0" fmla="*/ 1713702 h 1735696"/>
              <a:gd name="connsiteX1" fmla="*/ 213476 w 1396511"/>
              <a:gd name="connsiteY1" fmla="*/ 1735696 h 1735696"/>
              <a:gd name="connsiteX0" fmla="*/ 1377830 w 1377830"/>
              <a:gd name="connsiteY0" fmla="*/ 1508565 h 1530559"/>
              <a:gd name="connsiteX1" fmla="*/ 194795 w 1377830"/>
              <a:gd name="connsiteY1" fmla="*/ 1530559 h 1530559"/>
              <a:gd name="connsiteX0" fmla="*/ 80370 w 788290"/>
              <a:gd name="connsiteY0" fmla="*/ 1009743 h 3113109"/>
              <a:gd name="connsiteX1" fmla="*/ 788290 w 788290"/>
              <a:gd name="connsiteY1" fmla="*/ 3113109 h 3113109"/>
              <a:gd name="connsiteX0" fmla="*/ 40665 w 748585"/>
              <a:gd name="connsiteY0" fmla="*/ 0 h 2103366"/>
              <a:gd name="connsiteX1" fmla="*/ 748585 w 748585"/>
              <a:gd name="connsiteY1" fmla="*/ 2103366 h 2103366"/>
              <a:gd name="connsiteX0" fmla="*/ 26198 w 869855"/>
              <a:gd name="connsiteY0" fmla="*/ 0 h 2967332"/>
              <a:gd name="connsiteX1" fmla="*/ 869855 w 869855"/>
              <a:gd name="connsiteY1" fmla="*/ 2967332 h 2967332"/>
              <a:gd name="connsiteX0" fmla="*/ 0 w 843657"/>
              <a:gd name="connsiteY0" fmla="*/ 0 h 2967332"/>
              <a:gd name="connsiteX1" fmla="*/ 843657 w 843657"/>
              <a:gd name="connsiteY1" fmla="*/ 2967332 h 2967332"/>
              <a:gd name="connsiteX0" fmla="*/ 0 w 843657"/>
              <a:gd name="connsiteY0" fmla="*/ 0 h 2967332"/>
              <a:gd name="connsiteX1" fmla="*/ 843657 w 843657"/>
              <a:gd name="connsiteY1" fmla="*/ 2967332 h 2967332"/>
              <a:gd name="connsiteX0" fmla="*/ 0 w 843657"/>
              <a:gd name="connsiteY0" fmla="*/ 0 h 2967332"/>
              <a:gd name="connsiteX1" fmla="*/ 843657 w 843657"/>
              <a:gd name="connsiteY1" fmla="*/ 2967332 h 2967332"/>
              <a:gd name="connsiteX0" fmla="*/ 0 w 1349160"/>
              <a:gd name="connsiteY0" fmla="*/ 0 h 2935915"/>
              <a:gd name="connsiteX1" fmla="*/ 1349160 w 1349160"/>
              <a:gd name="connsiteY1" fmla="*/ 2935915 h 2935915"/>
              <a:gd name="connsiteX0" fmla="*/ 0 w 1349160"/>
              <a:gd name="connsiteY0" fmla="*/ 0 h 3355376"/>
              <a:gd name="connsiteX1" fmla="*/ 1349160 w 1349160"/>
              <a:gd name="connsiteY1" fmla="*/ 2935915 h 3355376"/>
              <a:gd name="connsiteX0" fmla="*/ 0 w 1349160"/>
              <a:gd name="connsiteY0" fmla="*/ 0 h 3389874"/>
              <a:gd name="connsiteX1" fmla="*/ 1349160 w 1349160"/>
              <a:gd name="connsiteY1" fmla="*/ 2935915 h 3389874"/>
              <a:gd name="connsiteX0" fmla="*/ 0 w 2769228"/>
              <a:gd name="connsiteY0" fmla="*/ 0 h 3358014"/>
              <a:gd name="connsiteX1" fmla="*/ 2769228 w 2769228"/>
              <a:gd name="connsiteY1" fmla="*/ 2899583 h 3358014"/>
              <a:gd name="connsiteX0" fmla="*/ 0 w 2769228"/>
              <a:gd name="connsiteY0" fmla="*/ 134030 h 3283315"/>
              <a:gd name="connsiteX1" fmla="*/ 2769228 w 2769228"/>
              <a:gd name="connsiteY1" fmla="*/ 3033613 h 3283315"/>
              <a:gd name="connsiteX0" fmla="*/ 6728 w 1406465"/>
              <a:gd name="connsiteY0" fmla="*/ 90631 h 6040848"/>
              <a:gd name="connsiteX1" fmla="*/ 5482 w 1406465"/>
              <a:gd name="connsiteY1" fmla="*/ 5869513 h 6040848"/>
              <a:gd name="connsiteX0" fmla="*/ 1246 w 2588889"/>
              <a:gd name="connsiteY0" fmla="*/ 97431 h 5937352"/>
              <a:gd name="connsiteX1" fmla="*/ 0 w 2588889"/>
              <a:gd name="connsiteY1" fmla="*/ 5876313 h 5937352"/>
              <a:gd name="connsiteX0" fmla="*/ 1246 w 2397480"/>
              <a:gd name="connsiteY0" fmla="*/ 81205 h 6289104"/>
              <a:gd name="connsiteX1" fmla="*/ 0 w 2397480"/>
              <a:gd name="connsiteY1" fmla="*/ 5860087 h 6289104"/>
              <a:gd name="connsiteX0" fmla="*/ 1246 w 2397480"/>
              <a:gd name="connsiteY0" fmla="*/ 80687 h 6349687"/>
              <a:gd name="connsiteX1" fmla="*/ 0 w 2397480"/>
              <a:gd name="connsiteY1" fmla="*/ 5923149 h 6349687"/>
              <a:gd name="connsiteX0" fmla="*/ 1246 w 2702301"/>
              <a:gd name="connsiteY0" fmla="*/ 356938 h 6579975"/>
              <a:gd name="connsiteX1" fmla="*/ 0 w 2702301"/>
              <a:gd name="connsiteY1" fmla="*/ 6199400 h 6579975"/>
              <a:gd name="connsiteX0" fmla="*/ 1246 w 3011348"/>
              <a:gd name="connsiteY0" fmla="*/ 358082 h 6570898"/>
              <a:gd name="connsiteX1" fmla="*/ 0 w 3011348"/>
              <a:gd name="connsiteY1" fmla="*/ 6200544 h 6570898"/>
              <a:gd name="connsiteX0" fmla="*/ 1246 w 2920066"/>
              <a:gd name="connsiteY0" fmla="*/ 476587 h 6676525"/>
              <a:gd name="connsiteX1" fmla="*/ 0 w 2920066"/>
              <a:gd name="connsiteY1" fmla="*/ 6319049 h 6676525"/>
              <a:gd name="connsiteX0" fmla="*/ 1246 w 2820683"/>
              <a:gd name="connsiteY0" fmla="*/ 464012 h 6756481"/>
              <a:gd name="connsiteX1" fmla="*/ 0 w 2820683"/>
              <a:gd name="connsiteY1" fmla="*/ 6306474 h 6756481"/>
              <a:gd name="connsiteX0" fmla="*/ 1246 w 3054103"/>
              <a:gd name="connsiteY0" fmla="*/ 515992 h 6802252"/>
              <a:gd name="connsiteX1" fmla="*/ 0 w 3054103"/>
              <a:gd name="connsiteY1" fmla="*/ 6358454 h 6802252"/>
              <a:gd name="connsiteX0" fmla="*/ 1246 w 3271578"/>
              <a:gd name="connsiteY0" fmla="*/ 510150 h 6839159"/>
              <a:gd name="connsiteX1" fmla="*/ 0 w 3271578"/>
              <a:gd name="connsiteY1" fmla="*/ 6352612 h 6839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71578" h="6839159">
                <a:moveTo>
                  <a:pt x="1246" y="510150"/>
                </a:moveTo>
                <a:cubicBezTo>
                  <a:pt x="4382150" y="-2558453"/>
                  <a:pt x="4341593" y="9343662"/>
                  <a:pt x="0" y="6352612"/>
                </a:cubicBezTo>
              </a:path>
            </a:pathLst>
          </a:custGeom>
          <a:noFill/>
          <a:ln w="38100">
            <a:solidFill>
              <a:srgbClr val="E44860"/>
            </a:solidFill>
            <a:prstDash val="sysDash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6704177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2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6" grpId="0" animBg="1"/>
      <p:bldP spid="2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信息化教学设计"/>
</p:tagLst>
</file>

<file path=ppt/theme/theme1.xml><?xml version="1.0" encoding="utf-8"?>
<a:theme xmlns:a="http://schemas.openxmlformats.org/drawingml/2006/main" name="Office 主题​​">
  <a:themeElements>
    <a:clrScheme name="自定义 22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980B9"/>
      </a:accent1>
      <a:accent2>
        <a:srgbClr val="159F84"/>
      </a:accent2>
      <a:accent3>
        <a:srgbClr val="9BBB59"/>
      </a:accent3>
      <a:accent4>
        <a:srgbClr val="F29B11"/>
      </a:accent4>
      <a:accent5>
        <a:srgbClr val="BF382A"/>
      </a:accent5>
      <a:accent6>
        <a:srgbClr val="A7459D"/>
      </a:accent6>
      <a:hlink>
        <a:srgbClr val="2980B9"/>
      </a:hlink>
      <a:folHlink>
        <a:srgbClr val="BFBFB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淘宝店：章瑾图文</Template>
  <TotalTime>20358</TotalTime>
  <Words>1529</Words>
  <Application>Microsoft Macintosh PowerPoint</Application>
  <PresentationFormat>自定义</PresentationFormat>
  <Paragraphs>338</Paragraphs>
  <Slides>21</Slides>
  <Notes>17</Notes>
  <HiddenSlides>2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等线</vt:lpstr>
      <vt:lpstr>汉仪菱心体简</vt:lpstr>
      <vt:lpstr>微软雅黑</vt:lpstr>
      <vt:lpstr>微软雅黑</vt:lpstr>
      <vt:lpstr>Arial</vt:lpstr>
      <vt:lpstr>Calibri</vt:lpstr>
      <vt:lpstr>Cambria Math</vt:lpstr>
      <vt:lpstr>Gill Sans Ultra Bold</vt:lpstr>
      <vt:lpstr>Menlo</vt:lpstr>
      <vt:lpstr>Stencil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章瑾图文</dc:creator>
  <cp:keywords/>
  <dc:description/>
  <cp:lastModifiedBy>Yong-Wei Zhang</cp:lastModifiedBy>
  <cp:revision>584</cp:revision>
  <dcterms:created xsi:type="dcterms:W3CDTF">2012-09-21T08:06:35Z</dcterms:created>
  <dcterms:modified xsi:type="dcterms:W3CDTF">2024-05-08T14:37:05Z</dcterms:modified>
  <cp:category/>
</cp:coreProperties>
</file>