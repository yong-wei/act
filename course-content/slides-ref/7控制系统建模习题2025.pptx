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353" r:id="rId2"/>
    <p:sldId id="488" r:id="rId3"/>
    <p:sldId id="526" r:id="rId4"/>
    <p:sldId id="525" r:id="rId5"/>
    <p:sldId id="527" r:id="rId6"/>
    <p:sldId id="528" r:id="rId7"/>
    <p:sldId id="529" r:id="rId8"/>
    <p:sldId id="530" r:id="rId9"/>
    <p:sldId id="531" r:id="rId10"/>
    <p:sldId id="532" r:id="rId11"/>
    <p:sldId id="533" r:id="rId12"/>
  </p:sldIdLst>
  <p:sldSz cx="12190413" cy="6858000"/>
  <p:notesSz cx="6858000" cy="9144000"/>
  <p:custDataLst>
    <p:tags r:id="rId15"/>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1706" userDrawn="1">
          <p15:clr>
            <a:srgbClr val="A4A3A4"/>
          </p15:clr>
        </p15:guide>
        <p15:guide id="3" pos="4747" userDrawn="1">
          <p15:clr>
            <a:srgbClr val="A4A3A4"/>
          </p15:clr>
        </p15:guide>
        <p15:guide id="4" pos="211" userDrawn="1">
          <p15:clr>
            <a:srgbClr val="A4A3A4"/>
          </p15:clr>
        </p15:guide>
        <p15:guide id="5" pos="7468" userDrawn="1">
          <p15:clr>
            <a:srgbClr val="A4A3A4"/>
          </p15:clr>
        </p15:guide>
        <p15:guide id="6" pos="3386" userDrawn="1">
          <p15:clr>
            <a:srgbClr val="A4A3A4"/>
          </p15:clr>
        </p15:guide>
        <p15:guide id="7" pos="7015" userDrawn="1">
          <p15:clr>
            <a:srgbClr val="A4A3A4"/>
          </p15:clr>
        </p15:guide>
        <p15:guide id="8" pos="4293" userDrawn="1">
          <p15:clr>
            <a:srgbClr val="A4A3A4"/>
          </p15:clr>
        </p15:guide>
        <p15:guide id="9" pos="3840" userDrawn="1">
          <p15:clr>
            <a:srgbClr val="A4A3A4"/>
          </p15:clr>
        </p15:guide>
        <p15:guide id="10" pos="5200" userDrawn="1">
          <p15:clr>
            <a:srgbClr val="A4A3A4"/>
          </p15:clr>
        </p15:guide>
        <p15:guide id="11" pos="5654" userDrawn="1">
          <p15:clr>
            <a:srgbClr val="A4A3A4"/>
          </p15:clr>
        </p15:guide>
        <p15:guide id="12" pos="6107" userDrawn="1">
          <p15:clr>
            <a:srgbClr val="A4A3A4"/>
          </p15:clr>
        </p15:guide>
        <p15:guide id="13" pos="6561" userDrawn="1">
          <p15:clr>
            <a:srgbClr val="A4A3A4"/>
          </p15:clr>
        </p15:guide>
        <p15:guide id="14" orient="horz" pos="2614" userDrawn="1">
          <p15:clr>
            <a:srgbClr val="A4A3A4"/>
          </p15:clr>
        </p15:guide>
        <p15:guide id="15" orient="horz" pos="3067" userDrawn="1">
          <p15:clr>
            <a:srgbClr val="A4A3A4"/>
          </p15:clr>
        </p15:guide>
        <p15:guide id="16" orient="horz" pos="3521" userDrawn="1">
          <p15:clr>
            <a:srgbClr val="A4A3A4"/>
          </p15:clr>
        </p15:guide>
        <p15:guide id="17" orient="horz" pos="3974" userDrawn="1">
          <p15:clr>
            <a:srgbClr val="A4A3A4"/>
          </p15:clr>
        </p15:guide>
        <p15:guide id="18" orient="horz" pos="1253" userDrawn="1">
          <p15:clr>
            <a:srgbClr val="A4A3A4"/>
          </p15:clr>
        </p15:guide>
        <p15:guide id="19" orient="horz" pos="799" userDrawn="1">
          <p15:clr>
            <a:srgbClr val="A4A3A4"/>
          </p15:clr>
        </p15:guide>
        <p15:guide id="20" orient="horz" pos="346" userDrawn="1">
          <p15:clr>
            <a:srgbClr val="A4A3A4"/>
          </p15:clr>
        </p15:guide>
        <p15:guide id="21" pos="2932" userDrawn="1">
          <p15:clr>
            <a:srgbClr val="A4A3A4"/>
          </p15:clr>
        </p15:guide>
        <p15:guide id="22" pos="2479" userDrawn="1">
          <p15:clr>
            <a:srgbClr val="A4A3A4"/>
          </p15:clr>
        </p15:guide>
        <p15:guide id="23" pos="2025" userDrawn="1">
          <p15:clr>
            <a:srgbClr val="A4A3A4"/>
          </p15:clr>
        </p15:guide>
        <p15:guide id="24" pos="1572" userDrawn="1">
          <p15:clr>
            <a:srgbClr val="A4A3A4"/>
          </p15:clr>
        </p15:guide>
        <p15:guide id="25" pos="1118" userDrawn="1">
          <p15:clr>
            <a:srgbClr val="A4A3A4"/>
          </p15:clr>
        </p15:guide>
        <p15:guide id="26" pos="66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2CEEA"/>
    <a:srgbClr val="E44860"/>
    <a:srgbClr val="159F84"/>
    <a:srgbClr val="F29B11"/>
    <a:srgbClr val="00B0F0"/>
    <a:srgbClr val="FFC000"/>
    <a:srgbClr val="9BBB59"/>
    <a:srgbClr val="768395"/>
    <a:srgbClr val="1C1C1C"/>
    <a:srgbClr val="2980B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浅色样式 2 - 强调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E171933-4619-4E11-9A3F-F7608DF75F80}" styleName="中度样式 1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12" autoAdjust="0"/>
    <p:restoredTop sz="93500" autoAdjust="0"/>
  </p:normalViewPr>
  <p:slideViewPr>
    <p:cSldViewPr>
      <p:cViewPr varScale="1">
        <p:scale>
          <a:sx n="109" d="100"/>
          <a:sy n="109" d="100"/>
        </p:scale>
        <p:origin x="720" y="184"/>
      </p:cViewPr>
      <p:guideLst>
        <p:guide orient="horz" pos="2160"/>
        <p:guide orient="horz" pos="1706"/>
        <p:guide pos="4747"/>
        <p:guide pos="211"/>
        <p:guide pos="7468"/>
        <p:guide pos="3386"/>
        <p:guide pos="7015"/>
        <p:guide pos="4293"/>
        <p:guide pos="3840"/>
        <p:guide pos="5200"/>
        <p:guide pos="5654"/>
        <p:guide pos="6107"/>
        <p:guide pos="6561"/>
        <p:guide orient="horz" pos="2614"/>
        <p:guide orient="horz" pos="3067"/>
        <p:guide orient="horz" pos="3521"/>
        <p:guide orient="horz" pos="3974"/>
        <p:guide orient="horz" pos="1253"/>
        <p:guide orient="horz" pos="799"/>
        <p:guide orient="horz" pos="346"/>
        <p:guide pos="2932"/>
        <p:guide pos="2479"/>
        <p:guide pos="2025"/>
        <p:guide pos="1572"/>
        <p:guide pos="1118"/>
        <p:guide pos="664"/>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336"/>
    </p:cViewPr>
  </p:sorterViewPr>
  <p:notesViewPr>
    <p:cSldViewPr>
      <p:cViewPr varScale="1">
        <p:scale>
          <a:sx n="118" d="100"/>
          <a:sy n="118" d="100"/>
        </p:scale>
        <p:origin x="3752" y="21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8805445-DD02-4A4D-85F2-00571D19EDC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a:extLst>
              <a:ext uri="{FF2B5EF4-FFF2-40B4-BE49-F238E27FC236}">
                <a16:creationId xmlns:a16="http://schemas.microsoft.com/office/drawing/2014/main" id="{FE41B0AF-3333-FD46-B79E-50FD8A79D1B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82A9F75-F87F-124E-A6E0-5AA7D52145C2}" type="datetimeFigureOut">
              <a:rPr kumimoji="1" lang="zh-CN" altLang="en-US" smtClean="0"/>
              <a:t>2026/3/26</a:t>
            </a:fld>
            <a:endParaRPr kumimoji="1" lang="zh-CN" altLang="en-US"/>
          </a:p>
        </p:txBody>
      </p:sp>
      <p:sp>
        <p:nvSpPr>
          <p:cNvPr id="4" name="页脚占位符 3">
            <a:extLst>
              <a:ext uri="{FF2B5EF4-FFF2-40B4-BE49-F238E27FC236}">
                <a16:creationId xmlns:a16="http://schemas.microsoft.com/office/drawing/2014/main" id="{8BF8CD6C-5D36-1743-972A-01D811956D4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a:extLst>
              <a:ext uri="{FF2B5EF4-FFF2-40B4-BE49-F238E27FC236}">
                <a16:creationId xmlns:a16="http://schemas.microsoft.com/office/drawing/2014/main" id="{5D92A2E0-40E1-5149-9E4A-F475CD689D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2A3159-7C85-5C48-9D59-18AED36800EB}" type="slidenum">
              <a:rPr kumimoji="1" lang="zh-CN" altLang="en-US" smtClean="0"/>
              <a:t>‹#›</a:t>
            </a:fld>
            <a:endParaRPr kumimoji="1" lang="zh-CN" altLang="en-US"/>
          </a:p>
        </p:txBody>
      </p:sp>
    </p:spTree>
    <p:extLst>
      <p:ext uri="{BB962C8B-B14F-4D97-AF65-F5344CB8AC3E}">
        <p14:creationId xmlns:p14="http://schemas.microsoft.com/office/powerpoint/2010/main" val="421633102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DCC928-7A32-4383-8C66-886F513D06F6}" type="datetimeFigureOut">
              <a:rPr lang="zh-CN" altLang="en-US" smtClean="0"/>
              <a:t>2026/3/26</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4936B7B-B83E-48FC-9145-C5D7D2DAFA4C}" type="slidenum">
              <a:rPr lang="zh-CN" altLang="en-US" smtClean="0"/>
              <a:t>‹#›</a:t>
            </a:fld>
            <a:endParaRPr lang="zh-CN" altLang="en-US"/>
          </a:p>
        </p:txBody>
      </p:sp>
    </p:spTree>
    <p:extLst>
      <p:ext uri="{BB962C8B-B14F-4D97-AF65-F5344CB8AC3E}">
        <p14:creationId xmlns:p14="http://schemas.microsoft.com/office/powerpoint/2010/main" val="39194092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r>
              <a:rPr lang="en-US" altLang="zh-CN"/>
              <a:t>1</a:t>
            </a:r>
            <a:endParaRPr lang="zh-CN" altLang="en-US"/>
          </a:p>
        </p:txBody>
      </p:sp>
    </p:spTree>
    <p:extLst>
      <p:ext uri="{BB962C8B-B14F-4D97-AF65-F5344CB8AC3E}">
        <p14:creationId xmlns:p14="http://schemas.microsoft.com/office/powerpoint/2010/main" val="34569312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B4936B7B-B83E-48FC-9145-C5D7D2DAFA4C}" type="slidenum">
              <a:rPr lang="zh-CN" altLang="en-US" smtClean="0"/>
              <a:t>2</a:t>
            </a:fld>
            <a:endParaRPr lang="zh-CN" altLang="en-US"/>
          </a:p>
        </p:txBody>
      </p:sp>
    </p:spTree>
    <p:extLst>
      <p:ext uri="{BB962C8B-B14F-4D97-AF65-F5344CB8AC3E}">
        <p14:creationId xmlns:p14="http://schemas.microsoft.com/office/powerpoint/2010/main" val="11437034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FBC070-9081-D29E-2D23-36CA506A36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7138BEF-D253-74E5-7322-3E728D55E01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2E5E38B-3824-6810-635C-1FB1DD75AC6F}"/>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EEB31694-D36D-112E-87D0-28657F88613F}"/>
              </a:ext>
            </a:extLst>
          </p:cNvPr>
          <p:cNvSpPr>
            <a:spLocks noGrp="1"/>
          </p:cNvSpPr>
          <p:nvPr>
            <p:ph type="sldNum" sz="quarter" idx="5"/>
          </p:nvPr>
        </p:nvSpPr>
        <p:spPr/>
        <p:txBody>
          <a:bodyPr/>
          <a:lstStyle/>
          <a:p>
            <a:fld id="{B4936B7B-B83E-48FC-9145-C5D7D2DAFA4C}" type="slidenum">
              <a:rPr lang="zh-CN" altLang="en-US" smtClean="0"/>
              <a:t>3</a:t>
            </a:fld>
            <a:endParaRPr lang="zh-CN" altLang="en-US"/>
          </a:p>
        </p:txBody>
      </p:sp>
    </p:spTree>
    <p:extLst>
      <p:ext uri="{BB962C8B-B14F-4D97-AF65-F5344CB8AC3E}">
        <p14:creationId xmlns:p14="http://schemas.microsoft.com/office/powerpoint/2010/main" val="2026492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99362-8961-0A0B-E108-DE18AFE3130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08F5398-511B-F051-2CC8-1C16F44F3B0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C79FA39-4CFA-0403-09B3-AF9CDC1B9318}"/>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08BC05EF-C1DA-F68D-D1D7-A05877E33736}"/>
              </a:ext>
            </a:extLst>
          </p:cNvPr>
          <p:cNvSpPr>
            <a:spLocks noGrp="1"/>
          </p:cNvSpPr>
          <p:nvPr>
            <p:ph type="sldNum" sz="quarter" idx="5"/>
          </p:nvPr>
        </p:nvSpPr>
        <p:spPr/>
        <p:txBody>
          <a:bodyPr/>
          <a:lstStyle/>
          <a:p>
            <a:fld id="{B4936B7B-B83E-48FC-9145-C5D7D2DAFA4C}" type="slidenum">
              <a:rPr lang="zh-CN" altLang="en-US" smtClean="0"/>
              <a:t>4</a:t>
            </a:fld>
            <a:endParaRPr lang="zh-CN" altLang="en-US"/>
          </a:p>
        </p:txBody>
      </p:sp>
    </p:spTree>
    <p:extLst>
      <p:ext uri="{BB962C8B-B14F-4D97-AF65-F5344CB8AC3E}">
        <p14:creationId xmlns:p14="http://schemas.microsoft.com/office/powerpoint/2010/main" val="4012016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5AA6F-6448-6C57-566C-3236F8F19E0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21B4DC8-6BAE-B247-06C8-9B4C4D11059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81FF39-5800-2F01-3BF3-607494B4A60D}"/>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EEA738FD-16B9-3F0B-CB69-786BAAB19EB6}"/>
              </a:ext>
            </a:extLst>
          </p:cNvPr>
          <p:cNvSpPr>
            <a:spLocks noGrp="1"/>
          </p:cNvSpPr>
          <p:nvPr>
            <p:ph type="sldNum" sz="quarter" idx="5"/>
          </p:nvPr>
        </p:nvSpPr>
        <p:spPr/>
        <p:txBody>
          <a:bodyPr/>
          <a:lstStyle/>
          <a:p>
            <a:fld id="{B4936B7B-B83E-48FC-9145-C5D7D2DAFA4C}" type="slidenum">
              <a:rPr lang="zh-CN" altLang="en-US" smtClean="0"/>
              <a:t>5</a:t>
            </a:fld>
            <a:endParaRPr lang="zh-CN" altLang="en-US"/>
          </a:p>
        </p:txBody>
      </p:sp>
    </p:spTree>
    <p:extLst>
      <p:ext uri="{BB962C8B-B14F-4D97-AF65-F5344CB8AC3E}">
        <p14:creationId xmlns:p14="http://schemas.microsoft.com/office/powerpoint/2010/main" val="901893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71E637-C0CA-A79D-FC18-BC2B00734B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70DB7EB-1481-0DB3-C5AB-7E04335F2B9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FEC0E98-7D1A-BB7D-5706-CC0C7B335C5C}"/>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CDF37D2D-5F47-FE72-FAFC-7FE5DA0793D6}"/>
              </a:ext>
            </a:extLst>
          </p:cNvPr>
          <p:cNvSpPr>
            <a:spLocks noGrp="1"/>
          </p:cNvSpPr>
          <p:nvPr>
            <p:ph type="sldNum" sz="quarter" idx="5"/>
          </p:nvPr>
        </p:nvSpPr>
        <p:spPr/>
        <p:txBody>
          <a:bodyPr/>
          <a:lstStyle/>
          <a:p>
            <a:fld id="{B4936B7B-B83E-48FC-9145-C5D7D2DAFA4C}" type="slidenum">
              <a:rPr lang="zh-CN" altLang="en-US" smtClean="0"/>
              <a:t>6</a:t>
            </a:fld>
            <a:endParaRPr lang="zh-CN" altLang="en-US"/>
          </a:p>
        </p:txBody>
      </p:sp>
    </p:spTree>
    <p:extLst>
      <p:ext uri="{BB962C8B-B14F-4D97-AF65-F5344CB8AC3E}">
        <p14:creationId xmlns:p14="http://schemas.microsoft.com/office/powerpoint/2010/main" val="32992215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18C95-2C50-F7C8-C696-40474DB52EE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6003755-F39B-77D4-AC56-991CA288EA8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E6B8FCE-BE3C-DB52-E554-542B8CE5ADDA}"/>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BB8D7757-845E-B0FC-69A7-D2FAEB7DC8FB}"/>
              </a:ext>
            </a:extLst>
          </p:cNvPr>
          <p:cNvSpPr>
            <a:spLocks noGrp="1"/>
          </p:cNvSpPr>
          <p:nvPr>
            <p:ph type="sldNum" sz="quarter" idx="5"/>
          </p:nvPr>
        </p:nvSpPr>
        <p:spPr/>
        <p:txBody>
          <a:bodyPr/>
          <a:lstStyle/>
          <a:p>
            <a:fld id="{B4936B7B-B83E-48FC-9145-C5D7D2DAFA4C}" type="slidenum">
              <a:rPr lang="zh-CN" altLang="en-US" smtClean="0"/>
              <a:t>7</a:t>
            </a:fld>
            <a:endParaRPr lang="zh-CN" altLang="en-US"/>
          </a:p>
        </p:txBody>
      </p:sp>
    </p:spTree>
    <p:extLst>
      <p:ext uri="{BB962C8B-B14F-4D97-AF65-F5344CB8AC3E}">
        <p14:creationId xmlns:p14="http://schemas.microsoft.com/office/powerpoint/2010/main" val="30094370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BA0D7-307C-19F6-34F9-6AB8D249D73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A05C4F-8608-7314-70F3-8F0962697E9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DBFD4AE-FE8F-B487-A9E7-8F0F782B2AFF}"/>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10C5DAE4-E4AD-46CA-5E28-F685D4FF59E6}"/>
              </a:ext>
            </a:extLst>
          </p:cNvPr>
          <p:cNvSpPr>
            <a:spLocks noGrp="1"/>
          </p:cNvSpPr>
          <p:nvPr>
            <p:ph type="sldNum" sz="quarter" idx="5"/>
          </p:nvPr>
        </p:nvSpPr>
        <p:spPr/>
        <p:txBody>
          <a:bodyPr/>
          <a:lstStyle/>
          <a:p>
            <a:fld id="{B4936B7B-B83E-48FC-9145-C5D7D2DAFA4C}" type="slidenum">
              <a:rPr lang="zh-CN" altLang="en-US" smtClean="0"/>
              <a:t>8</a:t>
            </a:fld>
            <a:endParaRPr lang="zh-CN" altLang="en-US"/>
          </a:p>
        </p:txBody>
      </p:sp>
    </p:spTree>
    <p:extLst>
      <p:ext uri="{BB962C8B-B14F-4D97-AF65-F5344CB8AC3E}">
        <p14:creationId xmlns:p14="http://schemas.microsoft.com/office/powerpoint/2010/main" val="2820856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72AEA-2BBF-9614-83D1-4EBDCDA401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D779886-3672-3545-D597-506DBFDF405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AC621FE-E1A5-535E-8D40-FC2B306D6374}"/>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8B2C91CD-8ADF-AE01-8783-D65B7B67BF75}"/>
              </a:ext>
            </a:extLst>
          </p:cNvPr>
          <p:cNvSpPr>
            <a:spLocks noGrp="1"/>
          </p:cNvSpPr>
          <p:nvPr>
            <p:ph type="sldNum" sz="quarter" idx="5"/>
          </p:nvPr>
        </p:nvSpPr>
        <p:spPr/>
        <p:txBody>
          <a:bodyPr/>
          <a:lstStyle/>
          <a:p>
            <a:fld id="{B4936B7B-B83E-48FC-9145-C5D7D2DAFA4C}" type="slidenum">
              <a:rPr lang="zh-CN" altLang="en-US" smtClean="0"/>
              <a:t>9</a:t>
            </a:fld>
            <a:endParaRPr lang="zh-CN" altLang="en-US"/>
          </a:p>
        </p:txBody>
      </p:sp>
    </p:spTree>
    <p:extLst>
      <p:ext uri="{BB962C8B-B14F-4D97-AF65-F5344CB8AC3E}">
        <p14:creationId xmlns:p14="http://schemas.microsoft.com/office/powerpoint/2010/main" val="8325663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EC754-02CE-BEBB-65E2-F0D562EF02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30C407D-7DFE-6BAF-4846-894D75CD99D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3AABDB5-027D-397E-9245-DF3BD40BFA6B}"/>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D30B03FA-78B4-726D-A0D1-F896D76C9A45}"/>
              </a:ext>
            </a:extLst>
          </p:cNvPr>
          <p:cNvSpPr>
            <a:spLocks noGrp="1"/>
          </p:cNvSpPr>
          <p:nvPr>
            <p:ph type="sldNum" sz="quarter" idx="5"/>
          </p:nvPr>
        </p:nvSpPr>
        <p:spPr/>
        <p:txBody>
          <a:bodyPr/>
          <a:lstStyle/>
          <a:p>
            <a:fld id="{B4936B7B-B83E-48FC-9145-C5D7D2DAFA4C}" type="slidenum">
              <a:rPr lang="zh-CN" altLang="en-US" smtClean="0"/>
              <a:t>10</a:t>
            </a:fld>
            <a:endParaRPr lang="zh-CN" altLang="en-US"/>
          </a:p>
        </p:txBody>
      </p:sp>
    </p:spTree>
    <p:extLst>
      <p:ext uri="{BB962C8B-B14F-4D97-AF65-F5344CB8AC3E}">
        <p14:creationId xmlns:p14="http://schemas.microsoft.com/office/powerpoint/2010/main" val="4274698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745997-FEAC-DE59-CF0C-177B5820BCE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4C2D954-C032-9FFB-D5D6-9919CCC350D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8131FA8-BB43-F465-A3AE-ADA55F54729B}"/>
              </a:ext>
            </a:extLst>
          </p:cNvPr>
          <p:cNvSpPr>
            <a:spLocks noGrp="1"/>
          </p:cNvSpPr>
          <p:nvPr>
            <p:ph type="body" idx="1"/>
          </p:nvPr>
        </p:nvSpPr>
        <p:spPr/>
        <p:txBody>
          <a:bodyPr/>
          <a:lstStyle/>
          <a:p>
            <a:endParaRPr kumimoji="1" lang="zh-CN" altLang="en-US" dirty="0"/>
          </a:p>
        </p:txBody>
      </p:sp>
      <p:sp>
        <p:nvSpPr>
          <p:cNvPr id="4" name="灯片编号占位符 3">
            <a:extLst>
              <a:ext uri="{FF2B5EF4-FFF2-40B4-BE49-F238E27FC236}">
                <a16:creationId xmlns:a16="http://schemas.microsoft.com/office/drawing/2014/main" id="{7DA0E04F-BB08-F6BC-6F60-B256285513C2}"/>
              </a:ext>
            </a:extLst>
          </p:cNvPr>
          <p:cNvSpPr>
            <a:spLocks noGrp="1"/>
          </p:cNvSpPr>
          <p:nvPr>
            <p:ph type="sldNum" sz="quarter" idx="5"/>
          </p:nvPr>
        </p:nvSpPr>
        <p:spPr/>
        <p:txBody>
          <a:bodyPr/>
          <a:lstStyle/>
          <a:p>
            <a:fld id="{B4936B7B-B83E-48FC-9145-C5D7D2DAFA4C}" type="slidenum">
              <a:rPr lang="zh-CN" altLang="en-US" smtClean="0"/>
              <a:t>11</a:t>
            </a:fld>
            <a:endParaRPr lang="zh-CN" altLang="en-US"/>
          </a:p>
        </p:txBody>
      </p:sp>
    </p:spTree>
    <p:extLst>
      <p:ext uri="{BB962C8B-B14F-4D97-AF65-F5344CB8AC3E}">
        <p14:creationId xmlns:p14="http://schemas.microsoft.com/office/powerpoint/2010/main" val="1644363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绿条地图">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8003EC96-1FAD-E241-A4B7-1ED9CE341EC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9586" cy="6859588"/>
          </a:xfrm>
          <a:prstGeom prst="rect">
            <a:avLst/>
          </a:prstGeom>
        </p:spPr>
      </p:pic>
      <p:sp>
        <p:nvSpPr>
          <p:cNvPr id="4" name="矩形: 圆角 17">
            <a:extLst>
              <a:ext uri="{FF2B5EF4-FFF2-40B4-BE49-F238E27FC236}">
                <a16:creationId xmlns:a16="http://schemas.microsoft.com/office/drawing/2014/main" id="{1EA45D98-DEC5-264D-BA21-59DABF9CB484}"/>
              </a:ext>
            </a:extLst>
          </p:cNvPr>
          <p:cNvSpPr/>
          <p:nvPr userDrawn="1"/>
        </p:nvSpPr>
        <p:spPr>
          <a:xfrm>
            <a:off x="118541" y="356168"/>
            <a:ext cx="5616623" cy="514375"/>
          </a:xfrm>
          <a:prstGeom prst="roundRect">
            <a:avLst/>
          </a:prstGeom>
          <a:solidFill>
            <a:schemeClr val="accent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Tree>
    <p:extLst>
      <p:ext uri="{BB962C8B-B14F-4D97-AF65-F5344CB8AC3E}">
        <p14:creationId xmlns:p14="http://schemas.microsoft.com/office/powerpoint/2010/main" val="571413893"/>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userDrawn="1">
          <p15:clr>
            <a:srgbClr val="FBAE40"/>
          </p15:clr>
        </p15:guide>
        <p15:guide id="2" pos="383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空白地图背景">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26FE7A8-4B06-47F3-B893-C94D3CF39AE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9586" cy="6859588"/>
          </a:xfrm>
          <a:prstGeom prst="rect">
            <a:avLst/>
          </a:prstGeom>
        </p:spPr>
      </p:pic>
    </p:spTree>
    <p:extLst>
      <p:ext uri="{BB962C8B-B14F-4D97-AF65-F5344CB8AC3E}">
        <p14:creationId xmlns:p14="http://schemas.microsoft.com/office/powerpoint/2010/main" val="2717091939"/>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绿条空白">
    <p:spTree>
      <p:nvGrpSpPr>
        <p:cNvPr id="1" name=""/>
        <p:cNvGrpSpPr/>
        <p:nvPr/>
      </p:nvGrpSpPr>
      <p:grpSpPr>
        <a:xfrm>
          <a:off x="0" y="0"/>
          <a:ext cx="0" cy="0"/>
          <a:chOff x="0" y="0"/>
          <a:chExt cx="0" cy="0"/>
        </a:xfrm>
      </p:grpSpPr>
      <p:sp>
        <p:nvSpPr>
          <p:cNvPr id="2" name="矩形: 圆角 17">
            <a:extLst>
              <a:ext uri="{FF2B5EF4-FFF2-40B4-BE49-F238E27FC236}">
                <a16:creationId xmlns:a16="http://schemas.microsoft.com/office/drawing/2014/main" id="{3B45C2DF-0EC4-B246-BC5F-91F7278EBADC}"/>
              </a:ext>
            </a:extLst>
          </p:cNvPr>
          <p:cNvSpPr/>
          <p:nvPr userDrawn="1"/>
        </p:nvSpPr>
        <p:spPr>
          <a:xfrm>
            <a:off x="118541" y="356168"/>
            <a:ext cx="5616623" cy="514375"/>
          </a:xfrm>
          <a:prstGeom prst="roundRect">
            <a:avLst/>
          </a:prstGeom>
          <a:solidFill>
            <a:schemeClr val="accent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Tree>
    <p:extLst>
      <p:ext uri="{BB962C8B-B14F-4D97-AF65-F5344CB8AC3E}">
        <p14:creationId xmlns:p14="http://schemas.microsoft.com/office/powerpoint/2010/main" val="1071863972"/>
      </p:ext>
    </p:extLst>
  </p:cSld>
  <p:clrMapOvr>
    <a:masterClrMapping/>
  </p:clrMapOvr>
  <p:transition spd="slow">
    <p:strips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2840991"/>
      </p:ext>
    </p:extLst>
  </p:cSld>
  <p:clrMapOvr>
    <a:masterClrMapping/>
  </p:clrMapOvr>
  <p:transition spd="slow">
    <p:strips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基本情况">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E7CCF719-0B4D-4198-B5BC-2D0F73DC268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9586" cy="6859588"/>
          </a:xfrm>
          <a:prstGeom prst="rect">
            <a:avLst/>
          </a:prstGeom>
        </p:spPr>
      </p:pic>
      <p:sp>
        <p:nvSpPr>
          <p:cNvPr id="3" name="矩形: 圆角 2">
            <a:extLst>
              <a:ext uri="{FF2B5EF4-FFF2-40B4-BE49-F238E27FC236}">
                <a16:creationId xmlns:a16="http://schemas.microsoft.com/office/drawing/2014/main" id="{141282B4-7D1A-4CA4-B97C-AECB47C3A3B9}"/>
              </a:ext>
            </a:extLst>
          </p:cNvPr>
          <p:cNvSpPr/>
          <p:nvPr userDrawn="1"/>
        </p:nvSpPr>
        <p:spPr>
          <a:xfrm>
            <a:off x="118541" y="356166"/>
            <a:ext cx="1512168" cy="514375"/>
          </a:xfrm>
          <a:prstGeom prst="roundRect">
            <a:avLst/>
          </a:prstGeom>
          <a:solidFill>
            <a:schemeClr val="accent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j-ea"/>
                <a:ea typeface="+mj-ea"/>
              </a:rPr>
              <a:t>基本情况</a:t>
            </a:r>
          </a:p>
        </p:txBody>
      </p:sp>
      <p:sp>
        <p:nvSpPr>
          <p:cNvPr id="18" name="矩形: 圆角 17">
            <a:extLst>
              <a:ext uri="{FF2B5EF4-FFF2-40B4-BE49-F238E27FC236}">
                <a16:creationId xmlns:a16="http://schemas.microsoft.com/office/drawing/2014/main" id="{56B3B556-EBE2-4F68-9A8E-D8E9A97279D5}"/>
              </a:ext>
            </a:extLst>
          </p:cNvPr>
          <p:cNvSpPr/>
          <p:nvPr userDrawn="1"/>
        </p:nvSpPr>
        <p:spPr>
          <a:xfrm>
            <a:off x="1677453" y="356166"/>
            <a:ext cx="5616623" cy="514375"/>
          </a:xfrm>
          <a:prstGeom prst="roundRect">
            <a:avLst/>
          </a:prstGeom>
          <a:solidFill>
            <a:schemeClr val="accent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Tree>
    <p:extLst>
      <p:ext uri="{BB962C8B-B14F-4D97-AF65-F5344CB8AC3E}">
        <p14:creationId xmlns:p14="http://schemas.microsoft.com/office/powerpoint/2010/main" val="2928175394"/>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创新设计">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8DAD0CA0-9EB6-46FD-A5D1-35CBE479CB8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9586" cy="6859588"/>
          </a:xfrm>
          <a:prstGeom prst="rect">
            <a:avLst/>
          </a:prstGeom>
        </p:spPr>
      </p:pic>
      <p:sp>
        <p:nvSpPr>
          <p:cNvPr id="18" name="矩形: 圆角 17">
            <a:extLst>
              <a:ext uri="{FF2B5EF4-FFF2-40B4-BE49-F238E27FC236}">
                <a16:creationId xmlns:a16="http://schemas.microsoft.com/office/drawing/2014/main" id="{56B3B556-EBE2-4F68-9A8E-D8E9A97279D5}"/>
              </a:ext>
            </a:extLst>
          </p:cNvPr>
          <p:cNvSpPr/>
          <p:nvPr userDrawn="1"/>
        </p:nvSpPr>
        <p:spPr>
          <a:xfrm>
            <a:off x="1674869" y="353986"/>
            <a:ext cx="5059282" cy="514375"/>
          </a:xfrm>
          <a:prstGeom prst="roundRect">
            <a:avLst/>
          </a:prstGeom>
          <a:solidFill>
            <a:schemeClr val="accent4"/>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19" name="矩形: 圆角 18">
            <a:extLst>
              <a:ext uri="{FF2B5EF4-FFF2-40B4-BE49-F238E27FC236}">
                <a16:creationId xmlns:a16="http://schemas.microsoft.com/office/drawing/2014/main" id="{536B85F6-A5BC-46DF-8D38-ACEA958A78FA}"/>
              </a:ext>
            </a:extLst>
          </p:cNvPr>
          <p:cNvSpPr/>
          <p:nvPr userDrawn="1"/>
        </p:nvSpPr>
        <p:spPr>
          <a:xfrm>
            <a:off x="129898" y="356166"/>
            <a:ext cx="1512168" cy="514375"/>
          </a:xfrm>
          <a:prstGeom prst="roundRect">
            <a:avLst/>
          </a:prstGeom>
          <a:solidFill>
            <a:schemeClr val="accent4"/>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j-ea"/>
                <a:ea typeface="+mj-ea"/>
              </a:rPr>
              <a:t>创新设计</a:t>
            </a:r>
          </a:p>
        </p:txBody>
      </p:sp>
      <p:sp>
        <p:nvSpPr>
          <p:cNvPr id="8" name="矩形: 圆角 17">
            <a:extLst>
              <a:ext uri="{FF2B5EF4-FFF2-40B4-BE49-F238E27FC236}">
                <a16:creationId xmlns:a16="http://schemas.microsoft.com/office/drawing/2014/main" id="{2C7DE445-257D-1547-A5A3-2C9ECB3DCED5}"/>
              </a:ext>
            </a:extLst>
          </p:cNvPr>
          <p:cNvSpPr/>
          <p:nvPr userDrawn="1"/>
        </p:nvSpPr>
        <p:spPr>
          <a:xfrm>
            <a:off x="6773974" y="353986"/>
            <a:ext cx="5286541" cy="514375"/>
          </a:xfrm>
          <a:prstGeom prst="roundRect">
            <a:avLst/>
          </a:prstGeom>
          <a:solidFill>
            <a:schemeClr val="accent4"/>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Tree>
    <p:extLst>
      <p:ext uri="{BB962C8B-B14F-4D97-AF65-F5344CB8AC3E}">
        <p14:creationId xmlns:p14="http://schemas.microsoft.com/office/powerpoint/2010/main" val="1736408579"/>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创新效果">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C8FC1B26-5F6B-454B-B6A7-6C43341F236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9586" cy="6859588"/>
          </a:xfrm>
          <a:prstGeom prst="rect">
            <a:avLst/>
          </a:prstGeom>
        </p:spPr>
      </p:pic>
      <p:sp>
        <p:nvSpPr>
          <p:cNvPr id="18" name="矩形: 圆角 17">
            <a:extLst>
              <a:ext uri="{FF2B5EF4-FFF2-40B4-BE49-F238E27FC236}">
                <a16:creationId xmlns:a16="http://schemas.microsoft.com/office/drawing/2014/main" id="{56B3B556-EBE2-4F68-9A8E-D8E9A97279D5}"/>
              </a:ext>
            </a:extLst>
          </p:cNvPr>
          <p:cNvSpPr/>
          <p:nvPr userDrawn="1"/>
        </p:nvSpPr>
        <p:spPr>
          <a:xfrm>
            <a:off x="1702718" y="359234"/>
            <a:ext cx="5616623" cy="514375"/>
          </a:xfrm>
          <a:prstGeom prst="roundRect">
            <a:avLst/>
          </a:prstGeom>
          <a:solidFill>
            <a:srgbClr val="E44860"/>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0" name="矩形: 圆角 19">
            <a:extLst>
              <a:ext uri="{FF2B5EF4-FFF2-40B4-BE49-F238E27FC236}">
                <a16:creationId xmlns:a16="http://schemas.microsoft.com/office/drawing/2014/main" id="{AC4C1D17-F9AA-4AA7-B29E-EA7C89094028}"/>
              </a:ext>
            </a:extLst>
          </p:cNvPr>
          <p:cNvSpPr/>
          <p:nvPr userDrawn="1"/>
        </p:nvSpPr>
        <p:spPr>
          <a:xfrm>
            <a:off x="121965" y="359235"/>
            <a:ext cx="1512168" cy="514375"/>
          </a:xfrm>
          <a:prstGeom prst="roundRect">
            <a:avLst/>
          </a:prstGeom>
          <a:solidFill>
            <a:srgbClr val="E44860"/>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j-ea"/>
                <a:ea typeface="+mj-ea"/>
              </a:rPr>
              <a:t>创新效果</a:t>
            </a:r>
          </a:p>
        </p:txBody>
      </p:sp>
    </p:spTree>
    <p:extLst>
      <p:ext uri="{BB962C8B-B14F-4D97-AF65-F5344CB8AC3E}">
        <p14:creationId xmlns:p14="http://schemas.microsoft.com/office/powerpoint/2010/main" val="2005898724"/>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教学成果">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AE375F02-5481-4F79-8E14-2A5CA78A8ED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791"/>
            <a:ext cx="12179586" cy="6859588"/>
          </a:xfrm>
          <a:prstGeom prst="rect">
            <a:avLst/>
          </a:prstGeom>
        </p:spPr>
      </p:pic>
      <p:sp>
        <p:nvSpPr>
          <p:cNvPr id="18" name="矩形: 圆角 17">
            <a:extLst>
              <a:ext uri="{FF2B5EF4-FFF2-40B4-BE49-F238E27FC236}">
                <a16:creationId xmlns:a16="http://schemas.microsoft.com/office/drawing/2014/main" id="{56B3B556-EBE2-4F68-9A8E-D8E9A97279D5}"/>
              </a:ext>
            </a:extLst>
          </p:cNvPr>
          <p:cNvSpPr/>
          <p:nvPr userDrawn="1"/>
        </p:nvSpPr>
        <p:spPr>
          <a:xfrm>
            <a:off x="1702718" y="356166"/>
            <a:ext cx="5616623" cy="514375"/>
          </a:xfrm>
          <a:prstGeom prst="roundRect">
            <a:avLst/>
          </a:prstGeom>
          <a:solidFill>
            <a:schemeClr val="tx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
        <p:nvSpPr>
          <p:cNvPr id="21" name="矩形: 圆角 20">
            <a:extLst>
              <a:ext uri="{FF2B5EF4-FFF2-40B4-BE49-F238E27FC236}">
                <a16:creationId xmlns:a16="http://schemas.microsoft.com/office/drawing/2014/main" id="{53C5F6E7-E625-494B-89C2-3D62A6B97957}"/>
              </a:ext>
            </a:extLst>
          </p:cNvPr>
          <p:cNvSpPr/>
          <p:nvPr userDrawn="1"/>
        </p:nvSpPr>
        <p:spPr>
          <a:xfrm>
            <a:off x="118541" y="356166"/>
            <a:ext cx="1512168" cy="514375"/>
          </a:xfrm>
          <a:prstGeom prst="roundRect">
            <a:avLst/>
          </a:prstGeom>
          <a:solidFill>
            <a:schemeClr val="tx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mj-ea"/>
                <a:ea typeface="+mj-ea"/>
              </a:rPr>
              <a:t>教学成果</a:t>
            </a:r>
          </a:p>
        </p:txBody>
      </p:sp>
    </p:spTree>
    <p:extLst>
      <p:ext uri="{BB962C8B-B14F-4D97-AF65-F5344CB8AC3E}">
        <p14:creationId xmlns:p14="http://schemas.microsoft.com/office/powerpoint/2010/main" val="2493030061"/>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userDrawn="1">
  <p:cSld name="2_自定义版式">
    <p:bg>
      <p:bgPr>
        <a:pattFill prst="ltUpDiag">
          <a:fgClr>
            <a:srgbClr val="F2F2F2"/>
          </a:fgClr>
          <a:bgClr>
            <a:schemeClr val="bg1"/>
          </a:bgClr>
        </a:patt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C26FE7A8-4B06-47F3-B893-C94D3CF39AE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79586" cy="6859588"/>
          </a:xfrm>
          <a:prstGeom prst="rect">
            <a:avLst/>
          </a:prstGeom>
        </p:spPr>
      </p:pic>
    </p:spTree>
    <p:extLst>
      <p:ext uri="{BB962C8B-B14F-4D97-AF65-F5344CB8AC3E}">
        <p14:creationId xmlns:p14="http://schemas.microsoft.com/office/powerpoint/2010/main" val="4093505405"/>
      </p:ext>
    </p:extLst>
  </p:cSld>
  <p:clrMapOvr>
    <a:overrideClrMapping bg1="lt1" tx1="dk1" bg2="lt2" tx2="dk2" accent1="accent1" accent2="accent2" accent3="accent3" accent4="accent4" accent5="accent5" accent6="accent6" hlink="hlink" folHlink="folHlink"/>
  </p:clrMapOvr>
  <p:transition spd="slow">
    <p:strips dir="ru"/>
  </p:transition>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教学分析">
    <p:spTree>
      <p:nvGrpSpPr>
        <p:cNvPr id="1" name=""/>
        <p:cNvGrpSpPr/>
        <p:nvPr/>
      </p:nvGrpSpPr>
      <p:grpSpPr>
        <a:xfrm>
          <a:off x="0" y="0"/>
          <a:ext cx="0" cy="0"/>
          <a:chOff x="0" y="0"/>
          <a:chExt cx="0" cy="0"/>
        </a:xfrm>
      </p:grpSpPr>
      <p:sp>
        <p:nvSpPr>
          <p:cNvPr id="2" name="矩形: 圆角 17">
            <a:extLst>
              <a:ext uri="{FF2B5EF4-FFF2-40B4-BE49-F238E27FC236}">
                <a16:creationId xmlns:a16="http://schemas.microsoft.com/office/drawing/2014/main" id="{3B45C2DF-0EC4-B246-BC5F-91F7278EBADC}"/>
              </a:ext>
            </a:extLst>
          </p:cNvPr>
          <p:cNvSpPr/>
          <p:nvPr userDrawn="1"/>
        </p:nvSpPr>
        <p:spPr>
          <a:xfrm>
            <a:off x="118541" y="356168"/>
            <a:ext cx="5616623" cy="514375"/>
          </a:xfrm>
          <a:prstGeom prst="roundRect">
            <a:avLst/>
          </a:prstGeom>
          <a:solidFill>
            <a:schemeClr val="accent2"/>
          </a:solidFill>
          <a:ln>
            <a:noFill/>
          </a:ln>
          <a:effectLst>
            <a:outerShdw blurRad="50800" dist="38100" dir="18900000" algn="b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mj-ea"/>
              <a:ea typeface="+mj-ea"/>
            </a:endParaRPr>
          </a:p>
        </p:txBody>
      </p:sp>
    </p:spTree>
    <p:extLst>
      <p:ext uri="{BB962C8B-B14F-4D97-AF65-F5344CB8AC3E}">
        <p14:creationId xmlns:p14="http://schemas.microsoft.com/office/powerpoint/2010/main" val="161618718"/>
      </p:ext>
    </p:extLst>
  </p:cSld>
  <p:clrMapOvr>
    <a:masterClrMapping/>
  </p:clrMapOvr>
  <p:transition spd="slow">
    <p:strips dir="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UpDiag">
          <a:fgClr>
            <a:schemeClr val="bg1">
              <a:lumMod val="95000"/>
            </a:schemeClr>
          </a:fgClr>
          <a:bgClr>
            <a:schemeClr val="bg1"/>
          </a:bgClr>
        </a:pattFill>
        <a:effectLst/>
      </p:bgPr>
    </p:bg>
    <p:spTree>
      <p:nvGrpSpPr>
        <p:cNvPr id="1" name=""/>
        <p:cNvGrpSpPr/>
        <p:nvPr/>
      </p:nvGrpSpPr>
      <p:grpSpPr>
        <a:xfrm>
          <a:off x="0" y="0"/>
          <a:ext cx="0" cy="0"/>
          <a:chOff x="0" y="0"/>
          <a:chExt cx="0" cy="0"/>
        </a:xfrm>
      </p:grpSpPr>
      <p:sp>
        <p:nvSpPr>
          <p:cNvPr id="32" name="TextBox 31" hidden="1"/>
          <p:cNvSpPr txBox="1"/>
          <p:nvPr userDrawn="1"/>
        </p:nvSpPr>
        <p:spPr>
          <a:xfrm>
            <a:off x="25134" y="-14371"/>
            <a:ext cx="2299539" cy="584775"/>
          </a:xfrm>
          <a:prstGeom prst="rect">
            <a:avLst/>
          </a:prstGeom>
          <a:noFill/>
        </p:spPr>
        <p:txBody>
          <a:bodyPr wrap="square" rtlCol="0">
            <a:spAutoFit/>
          </a:bodyPr>
          <a:lstStyle/>
          <a:p>
            <a:r>
              <a:rPr lang="en-US" altLang="zh-CN" sz="3200">
                <a:solidFill>
                  <a:srgbClr val="333333"/>
                </a:solidFill>
                <a:latin typeface="Gill Sans Ultra Bold" pitchFamily="34" charset="0"/>
              </a:rPr>
              <a:t>LOGO</a:t>
            </a:r>
            <a:endParaRPr lang="zh-CN" altLang="en-US" sz="3200" dirty="0">
              <a:solidFill>
                <a:srgbClr val="333333"/>
              </a:solidFill>
              <a:latin typeface="Gill Sans Ultra Bold" pitchFamily="34" charset="0"/>
            </a:endParaRPr>
          </a:p>
        </p:txBody>
      </p:sp>
    </p:spTree>
    <p:extLst>
      <p:ext uri="{BB962C8B-B14F-4D97-AF65-F5344CB8AC3E}">
        <p14:creationId xmlns:p14="http://schemas.microsoft.com/office/powerpoint/2010/main" val="1571502896"/>
      </p:ext>
    </p:extLst>
  </p:cSld>
  <p:clrMap bg1="lt1" tx1="dk1" bg2="lt2" tx2="dk2" accent1="accent1" accent2="accent2" accent3="accent3" accent4="accent4" accent5="accent5" accent6="accent6" hlink="hlink" folHlink="folHlink"/>
  <p:sldLayoutIdLst>
    <p:sldLayoutId id="2147483654" r:id="rId1"/>
    <p:sldLayoutId id="2147483663" r:id="rId2"/>
    <p:sldLayoutId id="2147483659" r:id="rId3"/>
    <p:sldLayoutId id="2147483667" r:id="rId4"/>
    <p:sldLayoutId id="2147483668" r:id="rId5"/>
    <p:sldLayoutId id="2147483671" r:id="rId6"/>
    <p:sldLayoutId id="2147483669" r:id="rId7"/>
    <p:sldLayoutId id="2147483670" r:id="rId8"/>
    <p:sldLayoutId id="2147483672" r:id="rId9"/>
    <p:sldLayoutId id="2147483673" r:id="rId10"/>
  </p:sldLayoutIdLst>
  <p:transition spd="slow">
    <p:strips dir="ru"/>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0.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10.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10.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0.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0.xml"/><Relationship Id="rId4"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ontrol, feedback, management, systems icon - Download on Iconfinder">
            <a:extLst>
              <a:ext uri="{FF2B5EF4-FFF2-40B4-BE49-F238E27FC236}">
                <a16:creationId xmlns:a16="http://schemas.microsoft.com/office/drawing/2014/main" id="{B897A1C7-629A-B247-B7B1-EA7AC37975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3644" y="828695"/>
            <a:ext cx="5139557" cy="5139557"/>
          </a:xfrm>
          <a:prstGeom prst="rect">
            <a:avLst/>
          </a:prstGeom>
          <a:noFill/>
          <a:extLst>
            <a:ext uri="{909E8E84-426E-40DD-AFC4-6F175D3DCCD1}">
              <a14:hiddenFill xmlns:a14="http://schemas.microsoft.com/office/drawing/2010/main">
                <a:solidFill>
                  <a:srgbClr val="FFFFFF"/>
                </a:solidFill>
              </a14:hiddenFill>
            </a:ext>
          </a:extLst>
        </p:spPr>
      </p:pic>
      <p:grpSp>
        <p:nvGrpSpPr>
          <p:cNvPr id="7" name="组合 6">
            <a:extLst>
              <a:ext uri="{FF2B5EF4-FFF2-40B4-BE49-F238E27FC236}">
                <a16:creationId xmlns:a16="http://schemas.microsoft.com/office/drawing/2014/main" id="{E323DC9A-B9F0-664E-8D8B-4D4B3CB163A9}"/>
              </a:ext>
            </a:extLst>
          </p:cNvPr>
          <p:cNvGrpSpPr/>
          <p:nvPr/>
        </p:nvGrpSpPr>
        <p:grpSpPr>
          <a:xfrm>
            <a:off x="3386174" y="828695"/>
            <a:ext cx="9221717" cy="3766808"/>
            <a:chOff x="1559098" y="1196752"/>
            <a:chExt cx="9221717" cy="3766808"/>
          </a:xfrm>
        </p:grpSpPr>
        <p:pic>
          <p:nvPicPr>
            <p:cNvPr id="139" name="图片 138">
              <a:extLst>
                <a:ext uri="{FF2B5EF4-FFF2-40B4-BE49-F238E27FC236}">
                  <a16:creationId xmlns:a16="http://schemas.microsoft.com/office/drawing/2014/main" id="{6C5D6197-A7EB-4453-845C-A17502C9F718}"/>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559098" y="1196752"/>
              <a:ext cx="9221717" cy="3766808"/>
            </a:xfrm>
            <a:prstGeom prst="rect">
              <a:avLst/>
            </a:prstGeom>
          </p:spPr>
        </p:pic>
        <p:sp>
          <p:nvSpPr>
            <p:cNvPr id="126" name="矩形 125">
              <a:extLst>
                <a:ext uri="{FF2B5EF4-FFF2-40B4-BE49-F238E27FC236}">
                  <a16:creationId xmlns:a16="http://schemas.microsoft.com/office/drawing/2014/main" id="{FD70EB58-BC11-49B8-8525-EF7D1AAA3845}"/>
                </a:ext>
              </a:extLst>
            </p:cNvPr>
            <p:cNvSpPr/>
            <p:nvPr/>
          </p:nvSpPr>
          <p:spPr>
            <a:xfrm>
              <a:off x="3186339" y="2802637"/>
              <a:ext cx="5818976" cy="1015663"/>
            </a:xfrm>
            <a:prstGeom prst="rect">
              <a:avLst/>
            </a:prstGeom>
            <a:solidFill>
              <a:schemeClr val="accent2"/>
            </a:solidFill>
          </p:spPr>
          <p:txBody>
            <a:bodyPr wrap="square" anchor="ctr">
              <a:spAutoFit/>
            </a:bodyPr>
            <a:lstStyle/>
            <a:p>
              <a:pPr algn="ctr"/>
              <a:r>
                <a:rPr lang="zh-CN" altLang="en-US" sz="6000" dirty="0">
                  <a:solidFill>
                    <a:schemeClr val="bg1"/>
                  </a:solidFill>
                  <a:effectLst/>
                  <a:latin typeface="汉仪菱心体简" panose="02010609000101010101" pitchFamily="49" charset="-122"/>
                  <a:ea typeface="汉仪菱心体简" panose="02010609000101010101" pitchFamily="49" charset="-122"/>
                </a:rPr>
                <a:t>自动控制原理</a:t>
              </a:r>
            </a:p>
          </p:txBody>
        </p:sp>
      </p:grpSp>
      <p:grpSp>
        <p:nvGrpSpPr>
          <p:cNvPr id="2" name="组合 1">
            <a:extLst>
              <a:ext uri="{FF2B5EF4-FFF2-40B4-BE49-F238E27FC236}">
                <a16:creationId xmlns:a16="http://schemas.microsoft.com/office/drawing/2014/main" id="{67A72020-F212-7A4F-9886-409A4930D7B8}"/>
              </a:ext>
            </a:extLst>
          </p:cNvPr>
          <p:cNvGrpSpPr/>
          <p:nvPr/>
        </p:nvGrpSpPr>
        <p:grpSpPr>
          <a:xfrm>
            <a:off x="6454025" y="320863"/>
            <a:ext cx="5300128" cy="1015663"/>
            <a:chOff x="6454025" y="320863"/>
            <a:chExt cx="5300128" cy="1015663"/>
          </a:xfrm>
        </p:grpSpPr>
        <p:grpSp>
          <p:nvGrpSpPr>
            <p:cNvPr id="3" name="组合 2">
              <a:extLst>
                <a:ext uri="{FF2B5EF4-FFF2-40B4-BE49-F238E27FC236}">
                  <a16:creationId xmlns:a16="http://schemas.microsoft.com/office/drawing/2014/main" id="{2B67B0DA-556A-0B89-6384-3FFC1D7F4C6D}"/>
                </a:ext>
              </a:extLst>
            </p:cNvPr>
            <p:cNvGrpSpPr/>
            <p:nvPr/>
          </p:nvGrpSpPr>
          <p:grpSpPr>
            <a:xfrm>
              <a:off x="6454025" y="320863"/>
              <a:ext cx="4143411" cy="1015663"/>
              <a:chOff x="8681781" y="504363"/>
              <a:chExt cx="3090550" cy="757578"/>
            </a:xfrm>
          </p:grpSpPr>
          <p:cxnSp>
            <p:nvCxnSpPr>
              <p:cNvPr id="5" name="直接连接符 12">
                <a:extLst>
                  <a:ext uri="{FF2B5EF4-FFF2-40B4-BE49-F238E27FC236}">
                    <a16:creationId xmlns:a16="http://schemas.microsoft.com/office/drawing/2014/main" id="{29F12436-5FDB-A05F-74CE-A6E67966B7EE}"/>
                  </a:ext>
                </a:extLst>
              </p:cNvPr>
              <p:cNvCxnSpPr>
                <a:cxnSpLocks/>
              </p:cNvCxnSpPr>
              <p:nvPr/>
            </p:nvCxnSpPr>
            <p:spPr>
              <a:xfrm>
                <a:off x="9534041" y="528966"/>
                <a:ext cx="0" cy="702644"/>
              </a:xfrm>
              <a:prstGeom prst="line">
                <a:avLst/>
              </a:prstGeom>
              <a:ln w="76200">
                <a:solidFill>
                  <a:srgbClr val="F09524"/>
                </a:solidFill>
              </a:ln>
            </p:spPr>
            <p:style>
              <a:lnRef idx="1">
                <a:schemeClr val="accent1"/>
              </a:lnRef>
              <a:fillRef idx="0">
                <a:schemeClr val="accent1"/>
              </a:fillRef>
              <a:effectRef idx="0">
                <a:schemeClr val="accent1"/>
              </a:effectRef>
              <a:fontRef idx="minor">
                <a:schemeClr val="tx1"/>
              </a:fontRef>
            </p:style>
          </p:cxnSp>
          <p:grpSp>
            <p:nvGrpSpPr>
              <p:cNvPr id="6" name="组合 5">
                <a:extLst>
                  <a:ext uri="{FF2B5EF4-FFF2-40B4-BE49-F238E27FC236}">
                    <a16:creationId xmlns:a16="http://schemas.microsoft.com/office/drawing/2014/main" id="{93D0DB62-DA3B-26C7-4CF1-126A7C384299}"/>
                  </a:ext>
                </a:extLst>
              </p:cNvPr>
              <p:cNvGrpSpPr/>
              <p:nvPr/>
            </p:nvGrpSpPr>
            <p:grpSpPr>
              <a:xfrm>
                <a:off x="8681781" y="504363"/>
                <a:ext cx="763836" cy="757578"/>
                <a:chOff x="8364926" y="513787"/>
                <a:chExt cx="817174" cy="810479"/>
              </a:xfrm>
            </p:grpSpPr>
            <p:sp>
              <p:nvSpPr>
                <p:cNvPr id="10" name="椭圆 9">
                  <a:extLst>
                    <a:ext uri="{FF2B5EF4-FFF2-40B4-BE49-F238E27FC236}">
                      <a16:creationId xmlns:a16="http://schemas.microsoft.com/office/drawing/2014/main" id="{ABEB3BDD-5767-C862-7180-BEE323DFC8ED}"/>
                    </a:ext>
                  </a:extLst>
                </p:cNvPr>
                <p:cNvSpPr/>
                <p:nvPr/>
              </p:nvSpPr>
              <p:spPr>
                <a:xfrm>
                  <a:off x="8400771" y="544432"/>
                  <a:ext cx="756000" cy="75600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ea typeface="微软雅黑" panose="020B0503020204020204" pitchFamily="34" charset="-122"/>
                    <a:sym typeface="Times New Roman" panose="02020603050405020304" pitchFamily="18" charset="0"/>
                  </a:endParaRPr>
                </a:p>
              </p:txBody>
            </p:sp>
            <p:sp>
              <p:nvSpPr>
                <p:cNvPr id="11" name="object 5">
                  <a:extLst>
                    <a:ext uri="{FF2B5EF4-FFF2-40B4-BE49-F238E27FC236}">
                      <a16:creationId xmlns:a16="http://schemas.microsoft.com/office/drawing/2014/main" id="{AC8A9ADA-7042-7A8C-27C9-EE7B11A6D6FD}"/>
                    </a:ext>
                  </a:extLst>
                </p:cNvPr>
                <p:cNvSpPr/>
                <p:nvPr/>
              </p:nvSpPr>
              <p:spPr>
                <a:xfrm>
                  <a:off x="8364926" y="513787"/>
                  <a:ext cx="817174" cy="810479"/>
                </a:xfrm>
                <a:prstGeom prst="rect">
                  <a:avLst/>
                </a:prstGeom>
                <a:blipFill>
                  <a:blip r:embed="rId5" cstate="print"/>
                  <a:stretch>
                    <a:fillRect l="-73502" t="-34930" r="-66194" b="-35851"/>
                  </a:stretch>
                </a:blipFill>
              </p:spPr>
              <p:txBody>
                <a:bodyPr wrap="square" lIns="0" tIns="0" rIns="0" bIns="0" rtlCol="0"/>
                <a:lstStyle/>
                <a:p>
                  <a:endParaRPr dirty="0">
                    <a:latin typeface="Times New Roman" panose="02020603050405020304" pitchFamily="18" charset="0"/>
                    <a:ea typeface="微软雅黑" panose="020B0503020204020204" pitchFamily="34" charset="-122"/>
                    <a:sym typeface="Times New Roman" panose="02020603050405020304" pitchFamily="18" charset="0"/>
                  </a:endParaRPr>
                </a:p>
              </p:txBody>
            </p:sp>
          </p:grpSp>
          <p:pic>
            <p:nvPicPr>
              <p:cNvPr id="8" name="图片 7">
                <a:extLst>
                  <a:ext uri="{FF2B5EF4-FFF2-40B4-BE49-F238E27FC236}">
                    <a16:creationId xmlns:a16="http://schemas.microsoft.com/office/drawing/2014/main" id="{8BF7BF1A-4852-74BB-2974-C4A9C80F334D}"/>
                  </a:ext>
                </a:extLst>
              </p:cNvPr>
              <p:cNvPicPr>
                <a:picLocks noChangeAspect="1"/>
              </p:cNvPicPr>
              <p:nvPr/>
            </p:nvPicPr>
            <p:blipFill rotWithShape="1">
              <a:blip r:embed="rId6" cstate="hqprint">
                <a:extLst>
                  <a:ext uri="{28A0092B-C50C-407E-A947-70E740481C1C}">
                    <a14:useLocalDpi xmlns:a14="http://schemas.microsoft.com/office/drawing/2010/main" val="0"/>
                  </a:ext>
                </a:extLst>
              </a:blip>
              <a:srcRect l="23280"/>
              <a:stretch/>
            </p:blipFill>
            <p:spPr>
              <a:xfrm>
                <a:off x="9632991" y="593311"/>
                <a:ext cx="2139340" cy="571505"/>
              </a:xfrm>
              <a:prstGeom prst="rect">
                <a:avLst/>
              </a:prstGeom>
            </p:spPr>
          </p:pic>
        </p:grpSp>
        <p:pic>
          <p:nvPicPr>
            <p:cNvPr id="4" name="图片 3" descr="图片包含 房间, 标志, 桌子, 游戏机&#10;&#10;描述已自动生成">
              <a:extLst>
                <a:ext uri="{FF2B5EF4-FFF2-40B4-BE49-F238E27FC236}">
                  <a16:creationId xmlns:a16="http://schemas.microsoft.com/office/drawing/2014/main" id="{DB0019ED-199B-2F82-139A-9D04905AEAD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729775" y="338055"/>
              <a:ext cx="1024378" cy="998471"/>
            </a:xfrm>
            <a:prstGeom prst="rect">
              <a:avLst/>
            </a:prstGeom>
          </p:spPr>
        </p:pic>
      </p:grpSp>
    </p:spTree>
    <p:extLst>
      <p:ext uri="{BB962C8B-B14F-4D97-AF65-F5344CB8AC3E}">
        <p14:creationId xmlns:p14="http://schemas.microsoft.com/office/powerpoint/2010/main" val="1443650723"/>
      </p:ext>
    </p:extLst>
  </p:cSld>
  <p:clrMapOvr>
    <a:masterClrMapping/>
  </p:clrMapOvr>
  <p:transition spd="slow">
    <p:strips dir="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标题">
            <a:extLst>
              <a:ext uri="{FF2B5EF4-FFF2-40B4-BE49-F238E27FC236}">
                <a16:creationId xmlns:a16="http://schemas.microsoft.com/office/drawing/2014/main" id="{83FE2B42-5ECC-BC4E-A248-5C517753D47C}"/>
              </a:ext>
            </a:extLst>
          </p:cNvPr>
          <p:cNvSpPr txBox="1"/>
          <p:nvPr/>
        </p:nvSpPr>
        <p:spPr>
          <a:xfrm>
            <a:off x="614452" y="332656"/>
            <a:ext cx="4261118"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液位系统原理</a:t>
            </a:r>
          </a:p>
        </p:txBody>
      </p:sp>
      <p:sp>
        <p:nvSpPr>
          <p:cNvPr id="2" name="Rectangle 2">
            <a:extLst>
              <a:ext uri="{FF2B5EF4-FFF2-40B4-BE49-F238E27FC236}">
                <a16:creationId xmlns:a16="http://schemas.microsoft.com/office/drawing/2014/main" id="{DBF9F435-6C42-E13A-387E-45E388921624}"/>
              </a:ext>
            </a:extLst>
          </p:cNvPr>
          <p:cNvSpPr>
            <a:spLocks noChangeArrowheads="1"/>
          </p:cNvSpPr>
          <p:nvPr/>
        </p:nvSpPr>
        <p:spPr bwMode="auto">
          <a:xfrm>
            <a:off x="426180" y="1063189"/>
            <a:ext cx="1133805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chemeClr val="tx1"/>
                </a:solidFill>
                <a:effectLst/>
                <a:latin typeface="+mn-ea"/>
                <a:cs typeface="Times New Roman (正文 CS 字体)"/>
              </a:rPr>
              <a:t>下图是液位自动控制系统原理示意图。在任意情况下，希望液面高度</a:t>
            </a:r>
            <a:r>
              <a:rPr kumimoji="0" lang="zh-CN" altLang="zh-CN" sz="2400" b="0" i="1" u="none" strike="noStrike" cap="none" normalizeH="0" baseline="0" dirty="0">
                <a:ln>
                  <a:noFill/>
                </a:ln>
                <a:solidFill>
                  <a:schemeClr val="tx1"/>
                </a:solidFill>
                <a:effectLst/>
                <a:latin typeface="+mn-ea"/>
                <a:cs typeface="Times New Roman (正文 CS 字体)"/>
              </a:rPr>
              <a:t>c</a:t>
            </a:r>
            <a:r>
              <a:rPr kumimoji="0" lang="zh-CN" altLang="zh-CN" sz="2400" b="0" i="0" u="none" strike="noStrike" cap="none" normalizeH="0" baseline="0" dirty="0">
                <a:ln>
                  <a:noFill/>
                </a:ln>
                <a:solidFill>
                  <a:schemeClr val="tx1"/>
                </a:solidFill>
                <a:effectLst/>
                <a:latin typeface="+mn-ea"/>
                <a:cs typeface="Times New Roman (正文 CS 字体)"/>
              </a:rPr>
              <a:t>维持不变，试说明系统工作原理并画出系统方框图。</a:t>
            </a:r>
            <a:endParaRPr kumimoji="0" lang="zh-CN" altLang="zh-CN" sz="2400" b="0" i="0" u="none" strike="noStrike" cap="none" normalizeH="0" baseline="0" dirty="0">
              <a:ln>
                <a:noFill/>
              </a:ln>
              <a:solidFill>
                <a:schemeClr val="tx1"/>
              </a:solidFill>
              <a:effectLst/>
              <a:latin typeface="+mn-ea"/>
            </a:endParaRPr>
          </a:p>
        </p:txBody>
      </p:sp>
      <p:pic>
        <p:nvPicPr>
          <p:cNvPr id="1025" name="图片 1">
            <a:extLst>
              <a:ext uri="{FF2B5EF4-FFF2-40B4-BE49-F238E27FC236}">
                <a16:creationId xmlns:a16="http://schemas.microsoft.com/office/drawing/2014/main" id="{714EFBD6-A54E-F2C2-00C4-964479F794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6854" y="2204864"/>
            <a:ext cx="5760640" cy="3764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733953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AEDA6-5EC4-60A1-1EE4-8A166EBDF125}"/>
            </a:ext>
          </a:extLst>
        </p:cNvPr>
        <p:cNvGrpSpPr/>
        <p:nvPr/>
      </p:nvGrpSpPr>
      <p:grpSpPr>
        <a:xfrm>
          <a:off x="0" y="0"/>
          <a:ext cx="0" cy="0"/>
          <a:chOff x="0" y="0"/>
          <a:chExt cx="0" cy="0"/>
        </a:xfrm>
      </p:grpSpPr>
      <p:sp>
        <p:nvSpPr>
          <p:cNvPr id="45" name="标题">
            <a:extLst>
              <a:ext uri="{FF2B5EF4-FFF2-40B4-BE49-F238E27FC236}">
                <a16:creationId xmlns:a16="http://schemas.microsoft.com/office/drawing/2014/main" id="{8A01E9BF-8AB5-0692-BEF4-0F7B520E0E51}"/>
              </a:ext>
            </a:extLst>
          </p:cNvPr>
          <p:cNvSpPr txBox="1"/>
          <p:nvPr/>
        </p:nvSpPr>
        <p:spPr>
          <a:xfrm>
            <a:off x="614452" y="332656"/>
            <a:ext cx="4261118"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液位系统原理</a:t>
            </a:r>
          </a:p>
        </p:txBody>
      </p:sp>
      <mc:AlternateContent xmlns:mc="http://schemas.openxmlformats.org/markup-compatibility/2006" xmlns:a14="http://schemas.microsoft.com/office/drawing/2010/main">
        <mc:Choice Requires="a14">
          <p:sp>
            <p:nvSpPr>
              <p:cNvPr id="2" name="Rectangle 2">
                <a:extLst>
                  <a:ext uri="{FF2B5EF4-FFF2-40B4-BE49-F238E27FC236}">
                    <a16:creationId xmlns:a16="http://schemas.microsoft.com/office/drawing/2014/main" id="{324B051A-CAA7-8503-FF1A-4EEC0FA4D071}"/>
                  </a:ext>
                </a:extLst>
              </p:cNvPr>
              <p:cNvSpPr>
                <a:spLocks noChangeArrowheads="1"/>
              </p:cNvSpPr>
              <p:nvPr/>
            </p:nvSpPr>
            <p:spPr bwMode="auto">
              <a:xfrm>
                <a:off x="426180" y="1084675"/>
                <a:ext cx="11338051" cy="304698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en-US" sz="2400" b="0" i="0" u="none" strike="noStrike" cap="none" normalizeH="0" baseline="0" dirty="0">
                    <a:ln>
                      <a:noFill/>
                    </a:ln>
                    <a:solidFill>
                      <a:schemeClr val="tx1"/>
                    </a:solidFill>
                    <a:effectLst/>
                    <a:latin typeface="+mn-ea"/>
                    <a:cs typeface="Times New Roman (正文 CS 字体)"/>
                  </a:rPr>
                  <a:t>当电位器电刷位于中点位置时，电动机不动，控制阀门有一定的开度，使水箱中流入水量与流出水量相等，从而液面保持在希望高度</a:t>
                </a:r>
                <a14:m>
                  <m:oMath xmlns:m="http://schemas.openxmlformats.org/officeDocument/2006/math">
                    <m:r>
                      <a:rPr kumimoji="0" lang="en" altLang="zh-CN" sz="2400" b="0" i="1" u="none" strike="noStrike" cap="none" normalizeH="0" baseline="0" dirty="0" smtClean="0">
                        <a:ln>
                          <a:noFill/>
                        </a:ln>
                        <a:solidFill>
                          <a:schemeClr val="tx1"/>
                        </a:solidFill>
                        <a:effectLst/>
                        <a:latin typeface="Cambria Math" panose="02040503050406030204" pitchFamily="18" charset="0"/>
                        <a:cs typeface="Times New Roman (正文 CS 字体)"/>
                      </a:rPr>
                      <m:t>𝑐</m:t>
                    </m:r>
                  </m:oMath>
                </a14:m>
                <a:r>
                  <a:rPr kumimoji="0" lang="zh-CN" altLang="en-US" sz="2400" b="0" i="0" u="none" strike="noStrike" cap="none" normalizeH="0" baseline="0" dirty="0">
                    <a:ln>
                      <a:noFill/>
                    </a:ln>
                    <a:solidFill>
                      <a:schemeClr val="tx1"/>
                    </a:solidFill>
                    <a:effectLst/>
                    <a:latin typeface="+mn-ea"/>
                    <a:cs typeface="Times New Roman (正文 CS 字体)"/>
                  </a:rPr>
                  <a:t>上。一旦流入水量或流出水量发生变化，水箱液面高度</a:t>
                </a:r>
                <a14:m>
                  <m:oMath xmlns:m="http://schemas.openxmlformats.org/officeDocument/2006/math">
                    <m:r>
                      <a:rPr kumimoji="0" lang="en" altLang="zh-CN" sz="2400" b="0" i="1" u="none" strike="noStrike" cap="none" normalizeH="0" baseline="0" dirty="0" smtClean="0">
                        <a:ln>
                          <a:noFill/>
                        </a:ln>
                        <a:solidFill>
                          <a:schemeClr val="tx1"/>
                        </a:solidFill>
                        <a:effectLst/>
                        <a:latin typeface="Cambria Math" panose="02040503050406030204" pitchFamily="18" charset="0"/>
                        <a:cs typeface="Times New Roman (正文 CS 字体)"/>
                      </a:rPr>
                      <m:t>𝑐</m:t>
                    </m:r>
                  </m:oMath>
                </a14:m>
                <a:r>
                  <a:rPr kumimoji="0" lang="zh-CN" altLang="en-US" sz="2400" b="0" i="0" u="none" strike="noStrike" cap="none" normalizeH="0" baseline="0" dirty="0">
                    <a:ln>
                      <a:noFill/>
                    </a:ln>
                    <a:solidFill>
                      <a:schemeClr val="tx1"/>
                    </a:solidFill>
                    <a:effectLst/>
                    <a:latin typeface="+mn-ea"/>
                    <a:cs typeface="Times New Roman (正文 CS 字体)"/>
                  </a:rPr>
                  <a:t>便相应变化。例如，当液面升高时，浮子位置亦相应升高，杠杆作用使电位器电刷从中点位置下移，从而给电动机提供一定的控制电压，驱动电动机通过减速器减小阀门开度，使进入水箱的流量减少。此时，水箱液面下降，浮子位置相应下降，直到电位器电刷回到中点位置，系统重新处于平衡状态，液面恢复给定高度。反之，若水箱液位下降，则系统会自动增大阀门开度，加大流入水量，使液位升到给定高度</a:t>
                </a:r>
                <a14:m>
                  <m:oMath xmlns:m="http://schemas.openxmlformats.org/officeDocument/2006/math">
                    <m:r>
                      <a:rPr kumimoji="0" lang="en" altLang="zh-CN" sz="2400" b="0" i="1" u="none" strike="noStrike" cap="none" normalizeH="0" baseline="0" dirty="0" smtClean="0">
                        <a:ln>
                          <a:noFill/>
                        </a:ln>
                        <a:solidFill>
                          <a:schemeClr val="tx1"/>
                        </a:solidFill>
                        <a:effectLst/>
                        <a:latin typeface="Cambria Math" panose="02040503050406030204" pitchFamily="18" charset="0"/>
                        <a:cs typeface="Times New Roman (正文 CS 字体)"/>
                      </a:rPr>
                      <m:t>𝑐</m:t>
                    </m:r>
                  </m:oMath>
                </a14:m>
                <a:r>
                  <a:rPr kumimoji="0" lang="zh-CN" altLang="en" sz="2400" b="0" i="0" u="none" strike="noStrike" cap="none" normalizeH="0" baseline="0" dirty="0">
                    <a:ln>
                      <a:noFill/>
                    </a:ln>
                    <a:solidFill>
                      <a:schemeClr val="tx1"/>
                    </a:solidFill>
                    <a:effectLst/>
                    <a:latin typeface="+mn-ea"/>
                    <a:cs typeface="Times New Roman (正文 CS 字体)"/>
                  </a:rPr>
                  <a:t>。</a:t>
                </a:r>
                <a:endParaRPr kumimoji="0" lang="zh-CN" altLang="zh-CN" sz="2400" b="0" i="0" u="none" strike="noStrike" cap="none" normalizeH="0" baseline="0" dirty="0">
                  <a:ln>
                    <a:noFill/>
                  </a:ln>
                  <a:solidFill>
                    <a:schemeClr val="tx1"/>
                  </a:solidFill>
                  <a:effectLst/>
                  <a:latin typeface="+mn-ea"/>
                </a:endParaRPr>
              </a:p>
            </p:txBody>
          </p:sp>
        </mc:Choice>
        <mc:Fallback xmlns="">
          <p:sp>
            <p:nvSpPr>
              <p:cNvPr id="2" name="Rectangle 2">
                <a:extLst>
                  <a:ext uri="{FF2B5EF4-FFF2-40B4-BE49-F238E27FC236}">
                    <a16:creationId xmlns:a16="http://schemas.microsoft.com/office/drawing/2014/main" id="{324B051A-CAA7-8503-FF1A-4EEC0FA4D071}"/>
                  </a:ext>
                </a:extLst>
              </p:cNvPr>
              <p:cNvSpPr>
                <a:spLocks noRot="1" noChangeAspect="1" noMove="1" noResize="1" noEditPoints="1" noAdjustHandles="1" noChangeArrowheads="1" noChangeShapeType="1" noTextEdit="1"/>
              </p:cNvSpPr>
              <p:nvPr/>
            </p:nvSpPr>
            <p:spPr bwMode="auto">
              <a:xfrm>
                <a:off x="426180" y="1084675"/>
                <a:ext cx="11338051" cy="3046988"/>
              </a:xfrm>
              <a:prstGeom prst="rect">
                <a:avLst/>
              </a:prstGeom>
              <a:blipFill>
                <a:blip r:embed="rId3"/>
                <a:stretch>
                  <a:fillRect l="-895" t="-1245" r="-559" b="-4149"/>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301DF54F-235B-F2D2-B680-8CDE0BF82866}"/>
              </a:ext>
            </a:extLst>
          </p:cNvPr>
          <p:cNvPicPr>
            <a:picLocks noChangeAspect="1"/>
          </p:cNvPicPr>
          <p:nvPr/>
        </p:nvPicPr>
        <p:blipFill>
          <a:blip r:embed="rId4"/>
          <a:stretch>
            <a:fillRect/>
          </a:stretch>
        </p:blipFill>
        <p:spPr>
          <a:xfrm>
            <a:off x="159095" y="4360461"/>
            <a:ext cx="11872219" cy="1947843"/>
          </a:xfrm>
          <a:prstGeom prst="rect">
            <a:avLst/>
          </a:prstGeom>
        </p:spPr>
      </p:pic>
    </p:spTree>
    <p:extLst>
      <p:ext uri="{BB962C8B-B14F-4D97-AF65-F5344CB8AC3E}">
        <p14:creationId xmlns:p14="http://schemas.microsoft.com/office/powerpoint/2010/main" val="110706370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89A09-4444-3DE1-461F-4F1945401667}"/>
            </a:ext>
          </a:extLst>
        </p:cNvPr>
        <p:cNvGrpSpPr/>
        <p:nvPr/>
      </p:nvGrpSpPr>
      <p:grpSpPr>
        <a:xfrm>
          <a:off x="0" y="0"/>
          <a:ext cx="0" cy="0"/>
          <a:chOff x="0" y="0"/>
          <a:chExt cx="0" cy="0"/>
        </a:xfrm>
      </p:grpSpPr>
      <p:sp>
        <p:nvSpPr>
          <p:cNvPr id="45" name="标题">
            <a:extLst>
              <a:ext uri="{FF2B5EF4-FFF2-40B4-BE49-F238E27FC236}">
                <a16:creationId xmlns:a16="http://schemas.microsoft.com/office/drawing/2014/main" id="{8A3ED9A9-EC5E-2C8D-6B41-38F947FD4E8B}"/>
              </a:ext>
            </a:extLst>
          </p:cNvPr>
          <p:cNvSpPr txBox="1"/>
          <p:nvPr/>
        </p:nvSpPr>
        <p:spPr>
          <a:xfrm>
            <a:off x="614452" y="332656"/>
            <a:ext cx="4261118"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液位系统原理</a:t>
            </a:r>
          </a:p>
        </p:txBody>
      </p:sp>
      <p:pic>
        <p:nvPicPr>
          <p:cNvPr id="4" name="图片 1">
            <a:extLst>
              <a:ext uri="{FF2B5EF4-FFF2-40B4-BE49-F238E27FC236}">
                <a16:creationId xmlns:a16="http://schemas.microsoft.com/office/drawing/2014/main" id="{A328D76C-F8B0-E76E-7DFC-9C7992ED67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615" y="2348880"/>
            <a:ext cx="5760640" cy="376417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B12639C-30EE-1DF3-DE12-DAA6AC5A1F4B}"/>
                  </a:ext>
                </a:extLst>
              </p:cNvPr>
              <p:cNvSpPr txBox="1"/>
              <p:nvPr/>
            </p:nvSpPr>
            <p:spPr>
              <a:xfrm>
                <a:off x="6328183" y="2348880"/>
                <a:ext cx="5862230" cy="3341684"/>
              </a:xfrm>
              <a:prstGeom prst="rect">
                <a:avLst/>
              </a:prstGeom>
              <a:noFill/>
            </p:spPr>
            <p:txBody>
              <a:bodyPr wrap="square">
                <a:spAutoFit/>
              </a:bodyPr>
              <a:lstStyle/>
              <a:p>
                <a:pPr indent="304800"/>
                <a:r>
                  <a:rPr lang="zh-CN" altLang="zh-CN" sz="2400" dirty="0">
                    <a:effectLst/>
                    <a:latin typeface="+mn-ea"/>
                    <a:cs typeface="Times New Roman (正文 CS 字体)"/>
                  </a:rPr>
                  <a:t>当 </a:t>
                </a:r>
                <a14:m>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𝑄</m:t>
                        </m:r>
                      </m:e>
                      <m:sub>
                        <m:r>
                          <a:rPr lang="en-US" altLang="zh-CN" sz="2400" i="1">
                            <a:effectLst/>
                            <a:latin typeface="Cambria Math" panose="02040503050406030204" pitchFamily="18" charset="0"/>
                            <a:cs typeface="Times New Roman (正文 CS 字体)"/>
                          </a:rPr>
                          <m:t>1</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𝑄</m:t>
                        </m:r>
                      </m:e>
                      <m:sub>
                        <m:r>
                          <a:rPr lang="en-US" altLang="zh-CN" sz="2400" i="1">
                            <a:effectLst/>
                            <a:latin typeface="Cambria Math" panose="02040503050406030204" pitchFamily="18" charset="0"/>
                            <a:cs typeface="Times New Roman (正文 CS 字体)"/>
                          </a:rPr>
                          <m:t>2</m:t>
                        </m:r>
                      </m:sub>
                    </m:sSub>
                  </m:oMath>
                </a14:m>
                <a:r>
                  <a:rPr lang="en-US" altLang="zh-CN" sz="2400" dirty="0">
                    <a:effectLst/>
                    <a:latin typeface="+mn-ea"/>
                    <a:cs typeface="Times New Roman (正文 CS 字体)"/>
                  </a:rPr>
                  <a:t> </a:t>
                </a:r>
                <a:r>
                  <a:rPr lang="zh-CN" altLang="zh-CN" sz="2400" dirty="0">
                    <a:effectLst/>
                    <a:latin typeface="+mn-ea"/>
                    <a:cs typeface="Times New Roman (正文 CS 字体)"/>
                  </a:rPr>
                  <a:t>时，液位的高度为 </a:t>
                </a:r>
                <a14:m>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𝑐</m:t>
                        </m:r>
                      </m:e>
                      <m:sub>
                        <m:r>
                          <a:rPr lang="en-US" altLang="zh-CN" sz="2400" i="1">
                            <a:effectLst/>
                            <a:latin typeface="Cambria Math" panose="02040503050406030204" pitchFamily="18" charset="0"/>
                            <a:cs typeface="Times New Roman (正文 CS 字体)"/>
                          </a:rPr>
                          <m:t>0</m:t>
                        </m:r>
                      </m:sub>
                    </m:sSub>
                  </m:oMath>
                </a14:m>
                <a:r>
                  <a:rPr lang="zh-CN" altLang="zh-CN" sz="2400" dirty="0">
                    <a:effectLst/>
                    <a:latin typeface="+mn-ea"/>
                    <a:cs typeface="Times New Roman (正文 CS 字体)"/>
                  </a:rPr>
                  <a:t>；当 </a:t>
                </a:r>
                <a14:m>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𝑄</m:t>
                        </m:r>
                      </m:e>
                      <m:sub>
                        <m:r>
                          <a:rPr lang="en-US" altLang="zh-CN" sz="2400" i="1">
                            <a:effectLst/>
                            <a:latin typeface="Cambria Math" panose="02040503050406030204" pitchFamily="18" charset="0"/>
                            <a:cs typeface="Times New Roman (正文 CS 字体)"/>
                          </a:rPr>
                          <m:t>1</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𝑄</m:t>
                        </m:r>
                      </m:e>
                      <m:sub>
                        <m:r>
                          <a:rPr lang="en-US" altLang="zh-CN" sz="2400" i="1">
                            <a:effectLst/>
                            <a:latin typeface="Cambria Math" panose="02040503050406030204" pitchFamily="18" charset="0"/>
                            <a:cs typeface="Times New Roman (正文 CS 字体)"/>
                          </a:rPr>
                          <m:t>2</m:t>
                        </m:r>
                      </m:sub>
                    </m:sSub>
                  </m:oMath>
                </a14:m>
                <a:r>
                  <a:rPr lang="en-US" altLang="zh-CN" sz="2400" dirty="0">
                    <a:effectLst/>
                    <a:latin typeface="+mn-ea"/>
                    <a:cs typeface="Times New Roman (正文 CS 字体)"/>
                  </a:rPr>
                  <a:t> </a:t>
                </a:r>
                <a:r>
                  <a:rPr lang="zh-CN" altLang="zh-CN" sz="2400" dirty="0">
                    <a:effectLst/>
                    <a:latin typeface="+mn-ea"/>
                    <a:cs typeface="Times New Roman (正文 CS 字体)"/>
                  </a:rPr>
                  <a:t>时，液位的高度 </a:t>
                </a:r>
                <a14:m>
                  <m:oMath xmlns:m="http://schemas.openxmlformats.org/officeDocument/2006/math">
                    <m:r>
                      <a:rPr lang="en-US" altLang="zh-CN" sz="2400" i="1">
                        <a:effectLst/>
                        <a:latin typeface="Cambria Math" panose="02040503050406030204" pitchFamily="18" charset="0"/>
                        <a:cs typeface="Times New Roman (正文 CS 字体)"/>
                      </a:rPr>
                      <m:t>𝑐</m:t>
                    </m:r>
                  </m:oMath>
                </a14:m>
                <a:r>
                  <a:rPr lang="en-US" altLang="zh-CN" sz="2400" dirty="0">
                    <a:effectLst/>
                    <a:latin typeface="+mn-ea"/>
                    <a:cs typeface="Times New Roman (正文 CS 字体)"/>
                  </a:rPr>
                  <a:t> </a:t>
                </a:r>
                <a:r>
                  <a:rPr lang="zh-CN" altLang="zh-CN" sz="2400" dirty="0">
                    <a:effectLst/>
                    <a:latin typeface="+mn-ea"/>
                    <a:cs typeface="Times New Roman (正文 CS 字体)"/>
                  </a:rPr>
                  <a:t>将发生变化。</a:t>
                </a:r>
              </a:p>
              <a:p>
                <a:pPr indent="304800"/>
                <a:r>
                  <a:rPr lang="zh-CN" altLang="zh-CN" sz="2400" dirty="0">
                    <a:effectLst/>
                    <a:latin typeface="+mn-ea"/>
                    <a:cs typeface="Times New Roman (正文 CS 字体)"/>
                  </a:rPr>
                  <a:t>由于液体高度变化率与液体流量差 </a:t>
                </a:r>
                <a14:m>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𝑄</m:t>
                        </m:r>
                      </m:e>
                      <m:sub>
                        <m:r>
                          <a:rPr lang="en-US" altLang="zh-CN" sz="2400" i="1">
                            <a:effectLst/>
                            <a:latin typeface="Cambria Math" panose="02040503050406030204" pitchFamily="18" charset="0"/>
                            <a:cs typeface="Times New Roman (正文 CS 字体)"/>
                          </a:rPr>
                          <m:t>1</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𝑄</m:t>
                        </m:r>
                      </m:e>
                      <m:sub>
                        <m:r>
                          <a:rPr lang="en-US" altLang="zh-CN" sz="2400" i="1">
                            <a:effectLst/>
                            <a:latin typeface="Cambria Math" panose="02040503050406030204" pitchFamily="18" charset="0"/>
                            <a:cs typeface="Times New Roman (正文 CS 字体)"/>
                          </a:rPr>
                          <m:t>2</m:t>
                        </m:r>
                      </m:sub>
                    </m:sSub>
                  </m:oMath>
                </a14:m>
                <a:r>
                  <a:rPr lang="en-US" altLang="zh-CN" sz="2400" dirty="0">
                    <a:effectLst/>
                    <a:latin typeface="+mn-ea"/>
                    <a:cs typeface="Times New Roman (正文 CS 字体)"/>
                  </a:rPr>
                  <a:t> </a:t>
                </a:r>
                <a:r>
                  <a:rPr lang="zh-CN" altLang="zh-CN" sz="2400" dirty="0">
                    <a:effectLst/>
                    <a:latin typeface="+mn-ea"/>
                    <a:cs typeface="Times New Roman (正文 CS 字体)"/>
                  </a:rPr>
                  <a:t>成正比，所以有</a:t>
                </a:r>
              </a:p>
              <a:p>
                <a:pPr indent="304800"/>
                <a14:m>
                  <m:oMathPara xmlns:m="http://schemas.openxmlformats.org/officeDocument/2006/math">
                    <m:oMathParaPr>
                      <m:jc m:val="centerGroup"/>
                    </m:oMathParaPr>
                    <m:oMath xmlns:m="http://schemas.openxmlformats.org/officeDocument/2006/math">
                      <m:r>
                        <a:rPr lang="en-US" altLang="zh-CN" sz="2400" i="1">
                          <a:effectLst/>
                          <a:latin typeface="Cambria Math" panose="02040503050406030204" pitchFamily="18" charset="0"/>
                          <a:cs typeface="Times New Roman (正文 CS 字体)"/>
                        </a:rPr>
                        <m:t>𝐹</m:t>
                      </m:r>
                      <m:f>
                        <m:fPr>
                          <m:ctrlPr>
                            <a:rPr lang="zh-CN" altLang="zh-CN" sz="2400" i="1">
                              <a:effectLst/>
                              <a:latin typeface="Cambria Math" panose="02040503050406030204" pitchFamily="18" charset="0"/>
                              <a:cs typeface="Times New Roman (正文 CS 字体)"/>
                            </a:rPr>
                          </m:ctrlPr>
                        </m:fPr>
                        <m:num>
                          <m:r>
                            <m:rPr>
                              <m:sty m:val="p"/>
                            </m:rPr>
                            <a:rPr lang="en-US" altLang="zh-CN" sz="2400">
                              <a:effectLst/>
                              <a:latin typeface="Cambria Math" panose="02040503050406030204" pitchFamily="18" charset="0"/>
                              <a:cs typeface="Times New Roman (正文 CS 字体)"/>
                            </a:rPr>
                            <m:t>d</m:t>
                          </m:r>
                          <m:r>
                            <a:rPr lang="en-US" altLang="zh-CN" sz="2400" i="1">
                              <a:effectLst/>
                              <a:latin typeface="Cambria Math" panose="02040503050406030204" pitchFamily="18" charset="0"/>
                              <a:cs typeface="Times New Roman (正文 CS 字体)"/>
                            </a:rPr>
                            <m:t>𝑐</m:t>
                          </m:r>
                        </m:num>
                        <m:den>
                          <m:r>
                            <m:rPr>
                              <m:sty m:val="p"/>
                            </m:rPr>
                            <a:rPr lang="en-US" altLang="zh-CN" sz="2400">
                              <a:effectLst/>
                              <a:latin typeface="Cambria Math" panose="02040503050406030204" pitchFamily="18" charset="0"/>
                              <a:cs typeface="Times New Roman (正文 CS 字体)"/>
                            </a:rPr>
                            <m:t>d</m:t>
                          </m:r>
                          <m:r>
                            <a:rPr lang="en-US" altLang="zh-CN" sz="2400" i="1">
                              <a:effectLst/>
                              <a:latin typeface="Cambria Math" panose="02040503050406030204" pitchFamily="18" charset="0"/>
                              <a:cs typeface="Times New Roman (正文 CS 字体)"/>
                            </a:rPr>
                            <m:t>𝑡</m:t>
                          </m:r>
                        </m:den>
                      </m:f>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𝑄</m:t>
                          </m:r>
                        </m:e>
                        <m:sub>
                          <m:r>
                            <a:rPr lang="en-US" altLang="zh-CN" sz="2400" i="1">
                              <a:effectLst/>
                              <a:latin typeface="Cambria Math" panose="02040503050406030204" pitchFamily="18" charset="0"/>
                              <a:cs typeface="Times New Roman (正文 CS 字体)"/>
                            </a:rPr>
                            <m:t>1</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𝑄</m:t>
                          </m:r>
                        </m:e>
                        <m:sub>
                          <m:r>
                            <a:rPr lang="en-US" altLang="zh-CN" sz="2400" i="1">
                              <a:effectLst/>
                              <a:latin typeface="Cambria Math" panose="02040503050406030204" pitchFamily="18" charset="0"/>
                              <a:cs typeface="Times New Roman (正文 CS 字体)"/>
                            </a:rPr>
                            <m:t>2</m:t>
                          </m:r>
                        </m:sub>
                      </m:sSub>
                    </m:oMath>
                  </m:oMathPara>
                </a14:m>
                <a:endParaRPr lang="zh-CN" altLang="zh-CN" sz="2400" dirty="0">
                  <a:effectLst/>
                  <a:latin typeface="+mn-ea"/>
                  <a:cs typeface="Times New Roman (正文 CS 字体)"/>
                </a:endParaRPr>
              </a:p>
              <a:p>
                <a:pPr indent="304800"/>
                <a:r>
                  <a:rPr lang="zh-CN" altLang="zh-CN" sz="2400" dirty="0">
                    <a:effectLst/>
                    <a:latin typeface="+mn-ea"/>
                    <a:cs typeface="Times New Roman (正文 CS 字体)"/>
                  </a:rPr>
                  <a:t>则以液位为输出量的微分方程式为</a:t>
                </a:r>
              </a:p>
              <a:p>
                <a:pPr indent="304800"/>
                <a14:m>
                  <m:oMathPara xmlns:m="http://schemas.openxmlformats.org/officeDocument/2006/math">
                    <m:oMathParaPr>
                      <m:jc m:val="centerGroup"/>
                    </m:oMathParaPr>
                    <m:oMath xmlns:m="http://schemas.openxmlformats.org/officeDocument/2006/math">
                      <m:f>
                        <m:fPr>
                          <m:ctrlPr>
                            <a:rPr lang="zh-CN" altLang="zh-CN" sz="2400" i="1">
                              <a:effectLst/>
                              <a:latin typeface="Cambria Math" panose="02040503050406030204" pitchFamily="18" charset="0"/>
                              <a:cs typeface="Times New Roman (正文 CS 字体)"/>
                            </a:rPr>
                          </m:ctrlPr>
                        </m:fPr>
                        <m:num>
                          <m:r>
                            <m:rPr>
                              <m:sty m:val="p"/>
                            </m:rPr>
                            <a:rPr lang="en-US" altLang="zh-CN" sz="2400">
                              <a:effectLst/>
                              <a:latin typeface="Cambria Math" panose="02040503050406030204" pitchFamily="18" charset="0"/>
                              <a:cs typeface="Times New Roman (正文 CS 字体)"/>
                            </a:rPr>
                            <m:t>d</m:t>
                          </m:r>
                          <m:r>
                            <a:rPr lang="en-US" altLang="zh-CN" sz="2400" i="1">
                              <a:effectLst/>
                              <a:latin typeface="Cambria Math" panose="02040503050406030204" pitchFamily="18" charset="0"/>
                              <a:cs typeface="Times New Roman (正文 CS 字体)"/>
                            </a:rPr>
                            <m:t>𝑐</m:t>
                          </m:r>
                        </m:num>
                        <m:den>
                          <m:r>
                            <m:rPr>
                              <m:sty m:val="p"/>
                            </m:rPr>
                            <a:rPr lang="en-US" altLang="zh-CN" sz="2400">
                              <a:effectLst/>
                              <a:latin typeface="Cambria Math" panose="02040503050406030204" pitchFamily="18" charset="0"/>
                              <a:cs typeface="Times New Roman (正文 CS 字体)"/>
                            </a:rPr>
                            <m:t>d</m:t>
                          </m:r>
                          <m:r>
                            <a:rPr lang="en-US" altLang="zh-CN" sz="2400" i="1">
                              <a:effectLst/>
                              <a:latin typeface="Cambria Math" panose="02040503050406030204" pitchFamily="18" charset="0"/>
                              <a:cs typeface="Times New Roman (正文 CS 字体)"/>
                            </a:rPr>
                            <m:t>𝑡</m:t>
                          </m:r>
                        </m:den>
                      </m:f>
                      <m:r>
                        <a:rPr lang="en-US" altLang="zh-CN" sz="2400" i="1">
                          <a:effectLst/>
                          <a:latin typeface="Cambria Math" panose="02040503050406030204" pitchFamily="18" charset="0"/>
                          <a:cs typeface="Times New Roman (正文 CS 字体)"/>
                        </a:rPr>
                        <m:t>=</m:t>
                      </m:r>
                      <m:f>
                        <m:fPr>
                          <m:ctrlPr>
                            <a:rPr lang="zh-CN" altLang="zh-CN" sz="2400" i="1">
                              <a:effectLst/>
                              <a:latin typeface="Cambria Math" panose="02040503050406030204" pitchFamily="18" charset="0"/>
                              <a:cs typeface="Times New Roman (正文 CS 字体)"/>
                            </a:rPr>
                          </m:ctrlPr>
                        </m:fPr>
                        <m:num>
                          <m:r>
                            <a:rPr lang="en-US" altLang="zh-CN" sz="2400" i="1">
                              <a:effectLst/>
                              <a:latin typeface="Cambria Math" panose="02040503050406030204" pitchFamily="18" charset="0"/>
                              <a:cs typeface="Times New Roman (正文 CS 字体)"/>
                            </a:rPr>
                            <m:t>1</m:t>
                          </m:r>
                        </m:num>
                        <m:den>
                          <m:r>
                            <a:rPr lang="en-US" altLang="zh-CN" sz="2400" i="1">
                              <a:effectLst/>
                              <a:latin typeface="Cambria Math" panose="02040503050406030204" pitchFamily="18" charset="0"/>
                              <a:cs typeface="Times New Roman (正文 CS 字体)"/>
                            </a:rPr>
                            <m:t>𝐹</m:t>
                          </m:r>
                        </m:den>
                      </m:f>
                      <m:d>
                        <m:dPr>
                          <m:ctrlPr>
                            <a:rPr lang="zh-CN" altLang="zh-CN" sz="2400" i="1">
                              <a:effectLst/>
                              <a:latin typeface="Cambria Math" panose="02040503050406030204" pitchFamily="18" charset="0"/>
                              <a:cs typeface="Times New Roman (正文 CS 字体)"/>
                            </a:rPr>
                          </m:ctrlPr>
                        </m:dPr>
                        <m:e>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𝑄</m:t>
                              </m:r>
                            </m:e>
                            <m:sub>
                              <m:r>
                                <a:rPr lang="en-US" altLang="zh-CN" sz="2400" i="1">
                                  <a:effectLst/>
                                  <a:latin typeface="Cambria Math" panose="02040503050406030204" pitchFamily="18" charset="0"/>
                                  <a:cs typeface="Times New Roman (正文 CS 字体)"/>
                                </a:rPr>
                                <m:t>1</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𝑄</m:t>
                              </m:r>
                            </m:e>
                            <m:sub>
                              <m:r>
                                <a:rPr lang="en-US" altLang="zh-CN" sz="2400" i="1">
                                  <a:effectLst/>
                                  <a:latin typeface="Cambria Math" panose="02040503050406030204" pitchFamily="18" charset="0"/>
                                  <a:cs typeface="Times New Roman (正文 CS 字体)"/>
                                </a:rPr>
                                <m:t>2</m:t>
                              </m:r>
                            </m:sub>
                          </m:sSub>
                        </m:e>
                      </m:d>
                    </m:oMath>
                  </m:oMathPara>
                </a14:m>
                <a:endParaRPr lang="zh-CN" altLang="zh-CN" sz="2400" dirty="0">
                  <a:effectLst/>
                  <a:latin typeface="+mn-ea"/>
                  <a:cs typeface="Times New Roman (正文 CS 字体)"/>
                </a:endParaRPr>
              </a:p>
            </p:txBody>
          </p:sp>
        </mc:Choice>
        <mc:Fallback xmlns="">
          <p:sp>
            <p:nvSpPr>
              <p:cNvPr id="6" name="文本框 5">
                <a:extLst>
                  <a:ext uri="{FF2B5EF4-FFF2-40B4-BE49-F238E27FC236}">
                    <a16:creationId xmlns:a16="http://schemas.microsoft.com/office/drawing/2014/main" id="{6B12639C-30EE-1DF3-DE12-DAA6AC5A1F4B}"/>
                  </a:ext>
                </a:extLst>
              </p:cNvPr>
              <p:cNvSpPr txBox="1">
                <a:spLocks noRot="1" noChangeAspect="1" noMove="1" noResize="1" noEditPoints="1" noAdjustHandles="1" noChangeArrowheads="1" noChangeShapeType="1" noTextEdit="1"/>
              </p:cNvSpPr>
              <p:nvPr/>
            </p:nvSpPr>
            <p:spPr>
              <a:xfrm>
                <a:off x="6328183" y="2348880"/>
                <a:ext cx="5862230" cy="3341684"/>
              </a:xfrm>
              <a:prstGeom prst="rect">
                <a:avLst/>
              </a:prstGeom>
              <a:blipFill>
                <a:blip r:embed="rId4"/>
                <a:stretch>
                  <a:fillRect l="-648" t="-1515" b="-11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5FA7571B-C32B-95A7-E0F3-6C8B45167605}"/>
                  </a:ext>
                </a:extLst>
              </p:cNvPr>
              <p:cNvSpPr txBox="1"/>
              <p:nvPr/>
            </p:nvSpPr>
            <p:spPr>
              <a:xfrm>
                <a:off x="478582" y="992329"/>
                <a:ext cx="11233248" cy="830997"/>
              </a:xfrm>
              <a:prstGeom prst="rect">
                <a:avLst/>
              </a:prstGeom>
              <a:noFill/>
            </p:spPr>
            <p:txBody>
              <a:bodyPr wrap="square">
                <a:spAutoFit/>
              </a:bodyPr>
              <a:lstStyle/>
              <a:p>
                <a:pPr indent="304800"/>
                <a:r>
                  <a:rPr lang="zh-CN" altLang="zh-CN" sz="2400" dirty="0">
                    <a:effectLst/>
                    <a:latin typeface="+mn-ea"/>
                    <a:cs typeface="Times New Roman (正文 CS 字体)"/>
                  </a:rPr>
                  <a:t>在下图的液位自动控制系统中，设容器横截面积为</a:t>
                </a:r>
                <a14:m>
                  <m:oMath xmlns:m="http://schemas.openxmlformats.org/officeDocument/2006/math">
                    <m:r>
                      <a:rPr lang="en-US" altLang="zh-CN" sz="2400" i="1">
                        <a:effectLst/>
                        <a:latin typeface="Cambria Math" panose="02040503050406030204" pitchFamily="18" charset="0"/>
                        <a:cs typeface="Times New Roman (正文 CS 字体)"/>
                      </a:rPr>
                      <m:t>𝐹</m:t>
                    </m:r>
                  </m:oMath>
                </a14:m>
                <a:r>
                  <a:rPr lang="zh-CN" altLang="zh-CN" sz="2400" dirty="0">
                    <a:effectLst/>
                    <a:latin typeface="+mn-ea"/>
                    <a:cs typeface="Times New Roman (正文 CS 字体)"/>
                  </a:rPr>
                  <a:t>，希望液位为</a:t>
                </a:r>
                <a14:m>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𝑐</m:t>
                        </m:r>
                      </m:e>
                      <m:sub>
                        <m:r>
                          <a:rPr lang="en-US" altLang="zh-CN" sz="2400" i="1">
                            <a:effectLst/>
                            <a:latin typeface="Cambria Math" panose="02040503050406030204" pitchFamily="18" charset="0"/>
                            <a:cs typeface="Times New Roman (正文 CS 字体)"/>
                          </a:rPr>
                          <m:t>0</m:t>
                        </m:r>
                      </m:sub>
                    </m:sSub>
                  </m:oMath>
                </a14:m>
                <a:r>
                  <a:rPr lang="zh-CN" altLang="zh-CN" sz="2400" dirty="0">
                    <a:effectLst/>
                    <a:latin typeface="+mn-ea"/>
                    <a:cs typeface="Times New Roman (正文 CS 字体)"/>
                  </a:rPr>
                  <a:t>。若液位高度变化率与液体流量差</a:t>
                </a:r>
                <a14:m>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𝑄</m:t>
                        </m:r>
                      </m:e>
                      <m:sub>
                        <m:r>
                          <a:rPr lang="en-US" altLang="zh-CN" sz="2400" i="1">
                            <a:effectLst/>
                            <a:latin typeface="Cambria Math" panose="02040503050406030204" pitchFamily="18" charset="0"/>
                            <a:cs typeface="Times New Roman (正文 CS 字体)"/>
                          </a:rPr>
                          <m:t>1</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𝑄</m:t>
                        </m:r>
                      </m:e>
                      <m:sub>
                        <m:r>
                          <a:rPr lang="en-US" altLang="zh-CN" sz="2400" i="1">
                            <a:effectLst/>
                            <a:latin typeface="Cambria Math" panose="02040503050406030204" pitchFamily="18" charset="0"/>
                            <a:cs typeface="Times New Roman (正文 CS 字体)"/>
                          </a:rPr>
                          <m:t>2</m:t>
                        </m:r>
                      </m:sub>
                    </m:sSub>
                  </m:oMath>
                </a14:m>
                <a:r>
                  <a:rPr lang="zh-CN" altLang="zh-CN" sz="2400" dirty="0">
                    <a:effectLst/>
                    <a:latin typeface="+mn-ea"/>
                    <a:cs typeface="Times New Roman (正文 CS 字体)"/>
                  </a:rPr>
                  <a:t>成正比，试列写以液位为输出量的微分方程式。</a:t>
                </a:r>
              </a:p>
            </p:txBody>
          </p:sp>
        </mc:Choice>
        <mc:Fallback xmlns="">
          <p:sp>
            <p:nvSpPr>
              <p:cNvPr id="8" name="文本框 7">
                <a:extLst>
                  <a:ext uri="{FF2B5EF4-FFF2-40B4-BE49-F238E27FC236}">
                    <a16:creationId xmlns:a16="http://schemas.microsoft.com/office/drawing/2014/main" id="{5FA7571B-C32B-95A7-E0F3-6C8B45167605}"/>
                  </a:ext>
                </a:extLst>
              </p:cNvPr>
              <p:cNvSpPr txBox="1">
                <a:spLocks noRot="1" noChangeAspect="1" noMove="1" noResize="1" noEditPoints="1" noAdjustHandles="1" noChangeArrowheads="1" noChangeShapeType="1" noTextEdit="1"/>
              </p:cNvSpPr>
              <p:nvPr/>
            </p:nvSpPr>
            <p:spPr>
              <a:xfrm>
                <a:off x="478582" y="992329"/>
                <a:ext cx="11233248" cy="830997"/>
              </a:xfrm>
              <a:prstGeom prst="rect">
                <a:avLst/>
              </a:prstGeom>
              <a:blipFill>
                <a:blip r:embed="rId5"/>
                <a:stretch>
                  <a:fillRect l="-790" t="-6061" b="-16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4517684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2AEC3-F59B-77E2-A9FA-5E0F5541F8A0}"/>
            </a:ext>
          </a:extLst>
        </p:cNvPr>
        <p:cNvGrpSpPr/>
        <p:nvPr/>
      </p:nvGrpSpPr>
      <p:grpSpPr>
        <a:xfrm>
          <a:off x="0" y="0"/>
          <a:ext cx="0" cy="0"/>
          <a:chOff x="0" y="0"/>
          <a:chExt cx="0" cy="0"/>
        </a:xfrm>
      </p:grpSpPr>
      <p:sp>
        <p:nvSpPr>
          <p:cNvPr id="45" name="标题">
            <a:extLst>
              <a:ext uri="{FF2B5EF4-FFF2-40B4-BE49-F238E27FC236}">
                <a16:creationId xmlns:a16="http://schemas.microsoft.com/office/drawing/2014/main" id="{F596E34D-0065-1A34-25A1-06D596526FB9}"/>
              </a:ext>
            </a:extLst>
          </p:cNvPr>
          <p:cNvSpPr txBox="1"/>
          <p:nvPr/>
        </p:nvSpPr>
        <p:spPr>
          <a:xfrm>
            <a:off x="614452" y="332656"/>
            <a:ext cx="4261118"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非线性方程线性化</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29A34688-4EAE-ED7D-2D42-03D444D42199}"/>
                  </a:ext>
                </a:extLst>
              </p:cNvPr>
              <p:cNvSpPr txBox="1"/>
              <p:nvPr/>
            </p:nvSpPr>
            <p:spPr>
              <a:xfrm>
                <a:off x="406574" y="1050047"/>
                <a:ext cx="11521280" cy="5202450"/>
              </a:xfrm>
              <a:prstGeom prst="rect">
                <a:avLst/>
              </a:prstGeom>
              <a:noFill/>
            </p:spPr>
            <p:txBody>
              <a:bodyPr wrap="square">
                <a:spAutoFit/>
              </a:bodyPr>
              <a:lstStyle/>
              <a:p>
                <a:pPr indent="304800"/>
                <a:r>
                  <a:rPr lang="zh-CN" altLang="zh-CN" sz="2400" dirty="0">
                    <a:effectLst/>
                    <a:latin typeface="+mn-ea"/>
                    <a:cs typeface="Times New Roman (正文 CS 字体)"/>
                  </a:rPr>
                  <a:t>设晶闸管三相桥式全控整流电路的输</a:t>
                </a:r>
                <a:r>
                  <a:rPr lang="zh-CN" altLang="en-US" sz="2400" dirty="0">
                    <a:latin typeface="+mn-ea"/>
                    <a:cs typeface="Times New Roman (正文 CS 字体)"/>
                  </a:rPr>
                  <a:t>入</a:t>
                </a:r>
                <a:r>
                  <a:rPr lang="zh-CN" altLang="zh-CN" sz="2400" dirty="0">
                    <a:effectLst/>
                    <a:latin typeface="+mn-ea"/>
                    <a:cs typeface="Times New Roman (正文 CS 字体)"/>
                  </a:rPr>
                  <a:t>量为控制角</a:t>
                </a:r>
                <a14:m>
                  <m:oMath xmlns:m="http://schemas.openxmlformats.org/officeDocument/2006/math">
                    <m:r>
                      <a:rPr lang="en-US" altLang="zh-CN" sz="2400" i="1">
                        <a:effectLst/>
                        <a:latin typeface="Cambria Math" panose="02040503050406030204" pitchFamily="18" charset="0"/>
                        <a:cs typeface="Times New Roman (正文 CS 字体)"/>
                      </a:rPr>
                      <m:t>𝛼</m:t>
                    </m:r>
                  </m:oMath>
                </a14:m>
                <a:r>
                  <a:rPr lang="zh-CN" altLang="zh-CN" sz="2400" dirty="0">
                    <a:effectLst/>
                    <a:latin typeface="+mn-ea"/>
                    <a:cs typeface="Times New Roman (正文 CS 字体)"/>
                  </a:rPr>
                  <a:t>，输出量为空载整流电流</a:t>
                </a:r>
                <a14:m>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𝑒</m:t>
                        </m:r>
                      </m:e>
                      <m:sub>
                        <m:r>
                          <a:rPr lang="en-US" altLang="zh-CN" sz="2400" i="1">
                            <a:effectLst/>
                            <a:latin typeface="Cambria Math" panose="02040503050406030204" pitchFamily="18" charset="0"/>
                            <a:cs typeface="Times New Roman (正文 CS 字体)"/>
                          </a:rPr>
                          <m:t>𝑑</m:t>
                        </m:r>
                      </m:sub>
                    </m:sSub>
                  </m:oMath>
                </a14:m>
                <a:r>
                  <a:rPr lang="zh-CN" altLang="zh-CN" sz="2400" dirty="0">
                    <a:effectLst/>
                    <a:latin typeface="+mn-ea"/>
                    <a:cs typeface="Times New Roman (正文 CS 字体)"/>
                  </a:rPr>
                  <a:t>，其间的关系为</a:t>
                </a:r>
              </a:p>
              <a:p>
                <a:pPr indent="304800"/>
                <a14:m>
                  <m:oMathPara xmlns:m="http://schemas.openxmlformats.org/officeDocument/2006/math">
                    <m:oMathParaPr>
                      <m:jc m:val="centerGroup"/>
                    </m:oMathParaPr>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𝑒</m:t>
                          </m:r>
                        </m:e>
                        <m:sub>
                          <m:r>
                            <a:rPr lang="en-US" altLang="zh-CN" sz="2400" i="1">
                              <a:effectLst/>
                              <a:latin typeface="Cambria Math" panose="02040503050406030204" pitchFamily="18" charset="0"/>
                              <a:cs typeface="Times New Roman (正文 CS 字体)"/>
                            </a:rPr>
                            <m:t>𝑑</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𝐸</m:t>
                          </m:r>
                        </m:e>
                        <m: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𝑑</m:t>
                              </m:r>
                            </m:e>
                            <m:sub>
                              <m:r>
                                <a:rPr lang="en-US" altLang="zh-CN" sz="2400" i="1">
                                  <a:effectLst/>
                                  <a:latin typeface="Cambria Math" panose="02040503050406030204" pitchFamily="18" charset="0"/>
                                  <a:cs typeface="Times New Roman (正文 CS 字体)"/>
                                </a:rPr>
                                <m:t>0</m:t>
                              </m:r>
                            </m:sub>
                          </m:sSub>
                        </m:sub>
                      </m:sSub>
                      <m:func>
                        <m:funcPr>
                          <m:ctrlPr>
                            <a:rPr lang="zh-CN" altLang="zh-CN" sz="2400" i="1">
                              <a:effectLst/>
                              <a:latin typeface="Cambria Math" panose="02040503050406030204" pitchFamily="18" charset="0"/>
                              <a:cs typeface="Times New Roman (正文 CS 字体)"/>
                            </a:rPr>
                          </m:ctrlPr>
                        </m:funcPr>
                        <m:fName>
                          <m:r>
                            <m:rPr>
                              <m:sty m:val="p"/>
                            </m:rPr>
                            <a:rPr lang="en-US" altLang="zh-CN" sz="2400">
                              <a:effectLst/>
                              <a:latin typeface="Cambria Math" panose="02040503050406030204" pitchFamily="18" charset="0"/>
                              <a:cs typeface="Times New Roman (正文 CS 字体)"/>
                            </a:rPr>
                            <m:t>cos</m:t>
                          </m:r>
                        </m:fName>
                        <m:e>
                          <m:r>
                            <a:rPr lang="en-US" altLang="zh-CN" sz="2400" i="1">
                              <a:effectLst/>
                              <a:latin typeface="Cambria Math" panose="02040503050406030204" pitchFamily="18" charset="0"/>
                              <a:cs typeface="Times New Roman (正文 CS 字体)"/>
                            </a:rPr>
                            <m:t>𝛼</m:t>
                          </m:r>
                        </m:e>
                      </m:func>
                    </m:oMath>
                  </m:oMathPara>
                </a14:m>
                <a:endParaRPr lang="zh-CN" altLang="zh-CN" sz="2400" dirty="0">
                  <a:effectLst/>
                  <a:latin typeface="+mn-ea"/>
                  <a:cs typeface="Times New Roman (正文 CS 字体)"/>
                </a:endParaRPr>
              </a:p>
              <a:p>
                <a:pPr indent="304800"/>
                <a:r>
                  <a:rPr lang="zh-CN" altLang="zh-CN" sz="2400" dirty="0">
                    <a:effectLst/>
                    <a:latin typeface="+mn-ea"/>
                    <a:cs typeface="Times New Roman (正文 CS 字体)"/>
                  </a:rPr>
                  <a:t>式中</a:t>
                </a:r>
                <a14:m>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𝐸</m:t>
                        </m:r>
                      </m:e>
                      <m: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𝑑</m:t>
                            </m:r>
                          </m:e>
                          <m:sub>
                            <m:r>
                              <a:rPr lang="en-US" altLang="zh-CN" sz="2400" i="1">
                                <a:effectLst/>
                                <a:latin typeface="Cambria Math" panose="02040503050406030204" pitchFamily="18" charset="0"/>
                                <a:cs typeface="Times New Roman (正文 CS 字体)"/>
                              </a:rPr>
                              <m:t>0</m:t>
                            </m:r>
                          </m:sub>
                        </m:sSub>
                      </m:sub>
                    </m:sSub>
                  </m:oMath>
                </a14:m>
                <a:r>
                  <a:rPr lang="zh-CN" altLang="zh-CN" sz="2400" dirty="0">
                    <a:effectLst/>
                    <a:latin typeface="+mn-ea"/>
                    <a:cs typeface="Times New Roman (正文 CS 字体)"/>
                  </a:rPr>
                  <a:t>是整流电压的理想空载值，试推导其线性化方程式。</a:t>
                </a:r>
              </a:p>
              <a:p>
                <a:pPr indent="310515"/>
                <a:r>
                  <a:rPr lang="zh-CN" altLang="zh-CN" sz="2400" b="1" dirty="0">
                    <a:effectLst/>
                    <a:latin typeface="+mn-ea"/>
                    <a:cs typeface="Times New Roman (正文 CS 字体)"/>
                  </a:rPr>
                  <a:t>解</a:t>
                </a:r>
                <a:r>
                  <a:rPr lang="zh-CN" altLang="zh-CN" sz="2400" dirty="0">
                    <a:effectLst/>
                    <a:latin typeface="+mn-ea"/>
                    <a:cs typeface="Times New Roman (正文 CS 字体)"/>
                  </a:rPr>
                  <a:t> 本题考查电路非线性微分方程的线性化，具体做法是，对非线性微分方程在其平衡点附近用泰勒级数展开并取前面的线性项，得到等效的线性化方程。</a:t>
                </a:r>
              </a:p>
              <a:p>
                <a:pPr indent="304800"/>
                <a:r>
                  <a:rPr lang="zh-CN" altLang="zh-CN" sz="2400" dirty="0">
                    <a:effectLst/>
                    <a:latin typeface="+mn-ea"/>
                    <a:cs typeface="Times New Roman (正文 CS 字体)"/>
                  </a:rPr>
                  <a:t>在 </a:t>
                </a:r>
                <a14:m>
                  <m:oMath xmlns:m="http://schemas.openxmlformats.org/officeDocument/2006/math">
                    <m:r>
                      <m:rPr>
                        <m:sty m:val="p"/>
                      </m:rPr>
                      <a:rPr lang="en-US" altLang="zh-CN" sz="2400">
                        <a:effectLst/>
                        <a:latin typeface="Cambria Math" panose="02040503050406030204" pitchFamily="18" charset="0"/>
                        <a:cs typeface="Times New Roman (正文 CS 字体)"/>
                      </a:rPr>
                      <m:t>α</m:t>
                    </m:r>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m:rPr>
                            <m:sty m:val="p"/>
                          </m:rPr>
                          <a:rPr lang="en-US" altLang="zh-CN" sz="2400">
                            <a:effectLst/>
                            <a:latin typeface="Cambria Math" panose="02040503050406030204" pitchFamily="18" charset="0"/>
                            <a:cs typeface="Times New Roman (正文 CS 字体)"/>
                          </a:rPr>
                          <m:t>α</m:t>
                        </m:r>
                      </m:e>
                      <m:sub>
                        <m:r>
                          <a:rPr lang="en-US" altLang="zh-CN" sz="2400" i="1">
                            <a:effectLst/>
                            <a:latin typeface="Cambria Math" panose="02040503050406030204" pitchFamily="18" charset="0"/>
                            <a:cs typeface="Times New Roman (正文 CS 字体)"/>
                          </a:rPr>
                          <m:t>0</m:t>
                        </m:r>
                      </m:sub>
                    </m:sSub>
                  </m:oMath>
                </a14:m>
                <a:r>
                  <a:rPr lang="en-US" altLang="zh-CN" sz="2400" dirty="0">
                    <a:effectLst/>
                    <a:latin typeface="+mn-ea"/>
                    <a:cs typeface="Times New Roman (正文 CS 字体)"/>
                  </a:rPr>
                  <a:t> </a:t>
                </a:r>
                <a:r>
                  <a:rPr lang="zh-CN" altLang="zh-CN" sz="2400" dirty="0">
                    <a:effectLst/>
                    <a:latin typeface="+mn-ea"/>
                    <a:cs typeface="Times New Roman (正文 CS 字体)"/>
                  </a:rPr>
                  <a:t>处对</a:t>
                </a:r>
                <a14:m>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𝑒</m:t>
                        </m:r>
                      </m:e>
                      <m:sub>
                        <m:r>
                          <a:rPr lang="en-US" altLang="zh-CN" sz="2400" i="1">
                            <a:effectLst/>
                            <a:latin typeface="Cambria Math" panose="02040503050406030204" pitchFamily="18" charset="0"/>
                            <a:cs typeface="Times New Roman (正文 CS 字体)"/>
                          </a:rPr>
                          <m:t>𝑑</m:t>
                        </m:r>
                      </m:sub>
                    </m:sSub>
                  </m:oMath>
                </a14:m>
                <a:r>
                  <a:rPr lang="zh-CN" altLang="zh-CN" sz="2400" dirty="0">
                    <a:effectLst/>
                    <a:latin typeface="+mn-ea"/>
                    <a:cs typeface="Times New Roman (正文 CS 字体)"/>
                  </a:rPr>
                  <a:t>进行泰勒展开，然后取其一次项近似可得</a:t>
                </a:r>
              </a:p>
              <a:p>
                <a:pPr indent="304800"/>
                <a:r>
                  <a:rPr lang="en-US" altLang="zh-CN" sz="2400" dirty="0">
                    <a:effectLst/>
                    <a:latin typeface="+mn-ea"/>
                    <a:cs typeface="Times New Roman (正文 CS 字体)"/>
                  </a:rPr>
                  <a:t> </a:t>
                </a:r>
                <a:endParaRPr lang="zh-CN" altLang="zh-CN" sz="2400" dirty="0">
                  <a:effectLst/>
                  <a:latin typeface="+mn-ea"/>
                  <a:cs typeface="Times New Roman (正文 CS 字体)"/>
                </a:endParaRPr>
              </a:p>
              <a:p>
                <a:pPr indent="304800"/>
                <a14:m>
                  <m:oMathPara xmlns:m="http://schemas.openxmlformats.org/officeDocument/2006/math">
                    <m:oMathParaPr>
                      <m:jc m:val="centerGroup"/>
                    </m:oMathParaPr>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𝑒</m:t>
                          </m:r>
                        </m:e>
                        <m:sub>
                          <m:r>
                            <a:rPr lang="en-US" altLang="zh-CN" sz="2400" i="1">
                              <a:effectLst/>
                              <a:latin typeface="Cambria Math" panose="02040503050406030204" pitchFamily="18" charset="0"/>
                              <a:cs typeface="Times New Roman (正文 CS 字体)"/>
                            </a:rPr>
                            <m:t>𝑑</m:t>
                          </m:r>
                        </m:sub>
                      </m:sSub>
                      <m:r>
                        <m:rPr>
                          <m:aln/>
                        </m:rPr>
                        <a:rPr lang="zh-CN" altLang="zh-CN" sz="2400">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d>
                            <m:dPr>
                              <m:begChr m:val=""/>
                              <m:endChr m:val="|"/>
                              <m:ctrlPr>
                                <a:rPr lang="zh-CN" altLang="zh-CN" sz="2400" i="1">
                                  <a:effectLst/>
                                  <a:latin typeface="Cambria Math" panose="02040503050406030204" pitchFamily="18" charset="0"/>
                                  <a:cs typeface="Times New Roman (正文 CS 字体)"/>
                                </a:rPr>
                              </m:ctrlPr>
                            </m:dPr>
                            <m:e>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𝑒</m:t>
                                  </m:r>
                                </m:e>
                                <m:sub>
                                  <m:r>
                                    <a:rPr lang="en-US" altLang="zh-CN" sz="2400" i="1">
                                      <a:effectLst/>
                                      <a:latin typeface="Cambria Math" panose="02040503050406030204" pitchFamily="18" charset="0"/>
                                      <a:cs typeface="Times New Roman (正文 CS 字体)"/>
                                    </a:rPr>
                                    <m:t>𝑑</m:t>
                                  </m:r>
                                </m:sub>
                              </m:sSub>
                            </m:e>
                          </m:d>
                        </m:e>
                        <m:sub>
                          <m:r>
                            <m:rPr>
                              <m:sty m:val="p"/>
                            </m:rPr>
                            <a:rPr lang="en-US" altLang="zh-CN" sz="2400">
                              <a:effectLst/>
                              <a:latin typeface="Cambria Math" panose="02040503050406030204" pitchFamily="18" charset="0"/>
                              <a:cs typeface="Times New Roman (正文 CS 字体)"/>
                            </a:rPr>
                            <m:t>α</m:t>
                          </m:r>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m:rPr>
                                  <m:sty m:val="p"/>
                                </m:rPr>
                                <a:rPr lang="en-US" altLang="zh-CN" sz="2400">
                                  <a:effectLst/>
                                  <a:latin typeface="Cambria Math" panose="02040503050406030204" pitchFamily="18" charset="0"/>
                                  <a:cs typeface="Times New Roman (正文 CS 字体)"/>
                                </a:rPr>
                                <m:t>α</m:t>
                              </m:r>
                            </m:e>
                            <m:sub>
                              <m:r>
                                <a:rPr lang="en-US" altLang="zh-CN" sz="2400" i="1">
                                  <a:effectLst/>
                                  <a:latin typeface="Cambria Math" panose="02040503050406030204" pitchFamily="18" charset="0"/>
                                  <a:cs typeface="Times New Roman (正文 CS 字体)"/>
                                </a:rPr>
                                <m:t>0</m:t>
                              </m:r>
                            </m:sub>
                          </m:sSub>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d>
                            <m:dPr>
                              <m:begChr m:val=""/>
                              <m:endChr m:val="|"/>
                              <m:ctrlPr>
                                <a:rPr lang="zh-CN" altLang="zh-CN" sz="2400" i="1">
                                  <a:effectLst/>
                                  <a:latin typeface="Cambria Math" panose="02040503050406030204" pitchFamily="18" charset="0"/>
                                  <a:cs typeface="Times New Roman (正文 CS 字体)"/>
                                </a:rPr>
                              </m:ctrlPr>
                            </m:dPr>
                            <m:e>
                              <m:sSub>
                                <m:sSubPr>
                                  <m:ctrlPr>
                                    <a:rPr lang="zh-CN" altLang="zh-CN" sz="2400" i="1">
                                      <a:effectLst/>
                                      <a:latin typeface="Cambria Math" panose="02040503050406030204" pitchFamily="18" charset="0"/>
                                      <a:cs typeface="Times New Roman (正文 CS 字体)"/>
                                    </a:rPr>
                                  </m:ctrlPr>
                                </m:sSubPr>
                                <m:e>
                                  <m:acc>
                                    <m:accPr>
                                      <m:chr m:val="̇"/>
                                      <m:ctrlPr>
                                        <a:rPr lang="zh-CN" altLang="zh-CN" sz="2400" i="1">
                                          <a:effectLst/>
                                          <a:latin typeface="Cambria Math" panose="02040503050406030204" pitchFamily="18" charset="0"/>
                                          <a:cs typeface="Times New Roman (正文 CS 字体)"/>
                                        </a:rPr>
                                      </m:ctrlPr>
                                    </m:accPr>
                                    <m:e>
                                      <m:r>
                                        <a:rPr lang="en-US" altLang="zh-CN" sz="2400" i="1">
                                          <a:effectLst/>
                                          <a:latin typeface="Cambria Math" panose="02040503050406030204" pitchFamily="18" charset="0"/>
                                          <a:cs typeface="Times New Roman (正文 CS 字体)"/>
                                        </a:rPr>
                                        <m:t>𝑒</m:t>
                                      </m:r>
                                    </m:e>
                                  </m:acc>
                                </m:e>
                                <m:sub>
                                  <m:r>
                                    <a:rPr lang="en-US" altLang="zh-CN" sz="2400" i="1">
                                      <a:effectLst/>
                                      <a:latin typeface="Cambria Math" panose="02040503050406030204" pitchFamily="18" charset="0"/>
                                      <a:cs typeface="Times New Roman (正文 CS 字体)"/>
                                    </a:rPr>
                                    <m:t>𝑑</m:t>
                                  </m:r>
                                </m:sub>
                              </m:sSub>
                            </m:e>
                          </m:d>
                        </m:e>
                        <m:sub>
                          <m:r>
                            <m:rPr>
                              <m:sty m:val="p"/>
                            </m:rPr>
                            <a:rPr lang="en-US" altLang="zh-CN" sz="2400">
                              <a:effectLst/>
                              <a:latin typeface="Cambria Math" panose="02040503050406030204" pitchFamily="18" charset="0"/>
                              <a:cs typeface="Times New Roman (正文 CS 字体)"/>
                            </a:rPr>
                            <m:t>α</m:t>
                          </m:r>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m:rPr>
                                  <m:sty m:val="p"/>
                                </m:rPr>
                                <a:rPr lang="en-US" altLang="zh-CN" sz="2400">
                                  <a:effectLst/>
                                  <a:latin typeface="Cambria Math" panose="02040503050406030204" pitchFamily="18" charset="0"/>
                                  <a:cs typeface="Times New Roman (正文 CS 字体)"/>
                                </a:rPr>
                                <m:t>α</m:t>
                              </m:r>
                            </m:e>
                            <m:sub>
                              <m:r>
                                <a:rPr lang="en-US" altLang="zh-CN" sz="2400" i="1">
                                  <a:effectLst/>
                                  <a:latin typeface="Cambria Math" panose="02040503050406030204" pitchFamily="18" charset="0"/>
                                  <a:cs typeface="Times New Roman (正文 CS 字体)"/>
                                </a:rPr>
                                <m:t>0</m:t>
                              </m:r>
                            </m:sub>
                          </m:sSub>
                        </m:sub>
                      </m:sSub>
                      <m:d>
                        <m:dPr>
                          <m:ctrlPr>
                            <a:rPr lang="zh-CN" altLang="zh-CN" sz="2400" i="1">
                              <a:effectLst/>
                              <a:latin typeface="Cambria Math" panose="02040503050406030204" pitchFamily="18" charset="0"/>
                              <a:cs typeface="Times New Roman (正文 CS 字体)"/>
                            </a:rPr>
                          </m:ctrlPr>
                        </m:dPr>
                        <m:e>
                          <m:r>
                            <m:rPr>
                              <m:sty m:val="p"/>
                            </m:rPr>
                            <a:rPr lang="en-US" altLang="zh-CN" sz="2400">
                              <a:effectLst/>
                              <a:latin typeface="Cambria Math" panose="02040503050406030204" pitchFamily="18" charset="0"/>
                              <a:cs typeface="Times New Roman (正文 CS 字体)"/>
                            </a:rPr>
                            <m:t>α</m:t>
                          </m:r>
                          <m:r>
                            <a:rPr lang="en-US" altLang="zh-CN" sz="2400" i="1">
                              <a:effectLst/>
                              <a:latin typeface="Cambria Math" panose="02040503050406030204" pitchFamily="18" charset="0"/>
                              <a:cs typeface="Times New Roman (正文 CS 字体)"/>
                            </a:rPr>
                            <m:t>− </m:t>
                          </m:r>
                          <m:sSub>
                            <m:sSubPr>
                              <m:ctrlPr>
                                <a:rPr lang="zh-CN" altLang="zh-CN" sz="2400" i="1">
                                  <a:effectLst/>
                                  <a:latin typeface="Cambria Math" panose="02040503050406030204" pitchFamily="18" charset="0"/>
                                  <a:cs typeface="Times New Roman (正文 CS 字体)"/>
                                </a:rPr>
                              </m:ctrlPr>
                            </m:sSubPr>
                            <m:e>
                              <m:r>
                                <m:rPr>
                                  <m:sty m:val="p"/>
                                </m:rPr>
                                <a:rPr lang="en-US" altLang="zh-CN" sz="2400">
                                  <a:effectLst/>
                                  <a:latin typeface="Cambria Math" panose="02040503050406030204" pitchFamily="18" charset="0"/>
                                  <a:cs typeface="Times New Roman (正文 CS 字体)"/>
                                </a:rPr>
                                <m:t>α</m:t>
                              </m:r>
                            </m:e>
                            <m:sub>
                              <m:r>
                                <a:rPr lang="en-US" altLang="zh-CN" sz="2400" i="1">
                                  <a:effectLst/>
                                  <a:latin typeface="Cambria Math" panose="02040503050406030204" pitchFamily="18" charset="0"/>
                                  <a:cs typeface="Times New Roman (正文 CS 字体)"/>
                                </a:rPr>
                                <m:t>0</m:t>
                              </m:r>
                            </m:sub>
                          </m:sSub>
                        </m:e>
                      </m:d>
                    </m:oMath>
                    <m:oMath xmlns:m="http://schemas.openxmlformats.org/officeDocument/2006/math">
                      <m:r>
                        <m:rPr>
                          <m:aln/>
                        </m:rP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d>
                            <m:dPr>
                              <m:begChr m:val=""/>
                              <m:endChr m:val="|"/>
                              <m:ctrlPr>
                                <a:rPr lang="zh-CN" altLang="zh-CN" sz="2400" i="1">
                                  <a:effectLst/>
                                  <a:latin typeface="Cambria Math" panose="02040503050406030204" pitchFamily="18" charset="0"/>
                                  <a:cs typeface="Times New Roman (正文 CS 字体)"/>
                                </a:rPr>
                              </m:ctrlPr>
                            </m:dPr>
                            <m:e>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𝑒</m:t>
                                  </m:r>
                                </m:e>
                                <m:sub>
                                  <m:r>
                                    <a:rPr lang="en-US" altLang="zh-CN" sz="2400" i="1">
                                      <a:effectLst/>
                                      <a:latin typeface="Cambria Math" panose="02040503050406030204" pitchFamily="18" charset="0"/>
                                      <a:cs typeface="Times New Roman (正文 CS 字体)"/>
                                    </a:rPr>
                                    <m:t>𝑑</m:t>
                                  </m:r>
                                </m:sub>
                              </m:sSub>
                            </m:e>
                          </m:d>
                        </m:e>
                        <m:sub>
                          <m:r>
                            <m:rPr>
                              <m:sty m:val="p"/>
                            </m:rPr>
                            <a:rPr lang="en-US" altLang="zh-CN" sz="2400">
                              <a:effectLst/>
                              <a:latin typeface="Cambria Math" panose="02040503050406030204" pitchFamily="18" charset="0"/>
                              <a:cs typeface="Times New Roman (正文 CS 字体)"/>
                            </a:rPr>
                            <m:t>α</m:t>
                          </m:r>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m:rPr>
                                  <m:sty m:val="p"/>
                                </m:rPr>
                                <a:rPr lang="en-US" altLang="zh-CN" sz="2400">
                                  <a:effectLst/>
                                  <a:latin typeface="Cambria Math" panose="02040503050406030204" pitchFamily="18" charset="0"/>
                                  <a:cs typeface="Times New Roman (正文 CS 字体)"/>
                                </a:rPr>
                                <m:t>α</m:t>
                              </m:r>
                            </m:e>
                            <m:sub>
                              <m:r>
                                <a:rPr lang="en-US" altLang="zh-CN" sz="2400" i="1">
                                  <a:effectLst/>
                                  <a:latin typeface="Cambria Math" panose="02040503050406030204" pitchFamily="18" charset="0"/>
                                  <a:cs typeface="Times New Roman (正文 CS 字体)"/>
                                </a:rPr>
                                <m:t>0</m:t>
                              </m:r>
                            </m:sub>
                          </m:sSub>
                        </m:sub>
                      </m:sSub>
                      <m:r>
                        <a:rPr lang="en-US" altLang="zh-CN" sz="2400" i="1">
                          <a:effectLst/>
                          <a:latin typeface="Cambria Math" panose="02040503050406030204" pitchFamily="18" charset="0"/>
                          <a:cs typeface="Times New Roman (正文 CS 字体)"/>
                        </a:rPr>
                        <m:t>–</m:t>
                      </m:r>
                      <m:d>
                        <m:dPr>
                          <m:begChr m:val="["/>
                          <m:endChr m:val="]"/>
                          <m:ctrlPr>
                            <a:rPr lang="zh-CN" altLang="zh-CN" sz="2400" i="1">
                              <a:effectLst/>
                              <a:latin typeface="Cambria Math" panose="02040503050406030204" pitchFamily="18" charset="0"/>
                              <a:cs typeface="Times New Roman (正文 CS 字体)"/>
                            </a:rPr>
                          </m:ctrlPr>
                        </m:dPr>
                        <m:e>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𝐸</m:t>
                              </m:r>
                            </m:e>
                            <m: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𝑑</m:t>
                                  </m:r>
                                </m:e>
                                <m:sub>
                                  <m:r>
                                    <a:rPr lang="en-US" altLang="zh-CN" sz="2400" i="1">
                                      <a:effectLst/>
                                      <a:latin typeface="Cambria Math" panose="02040503050406030204" pitchFamily="18" charset="0"/>
                                      <a:cs typeface="Times New Roman (正文 CS 字体)"/>
                                    </a:rPr>
                                    <m:t>0</m:t>
                                  </m:r>
                                </m:sub>
                              </m:sSub>
                            </m:sub>
                          </m:sSub>
                          <m:func>
                            <m:funcPr>
                              <m:ctrlPr>
                                <a:rPr lang="zh-CN" altLang="zh-CN" sz="2400" i="1">
                                  <a:effectLst/>
                                  <a:latin typeface="Cambria Math" panose="02040503050406030204" pitchFamily="18" charset="0"/>
                                  <a:cs typeface="Times New Roman (正文 CS 字体)"/>
                                </a:rPr>
                              </m:ctrlPr>
                            </m:funcPr>
                            <m:fName>
                              <m:r>
                                <m:rPr>
                                  <m:sty m:val="p"/>
                                </m:rPr>
                                <a:rPr lang="en-US" altLang="zh-CN" sz="2400">
                                  <a:effectLst/>
                                  <a:latin typeface="Cambria Math" panose="02040503050406030204" pitchFamily="18" charset="0"/>
                                  <a:cs typeface="Times New Roman (正文 CS 字体)"/>
                                </a:rPr>
                                <m:t>sin</m:t>
                              </m:r>
                            </m:fName>
                            <m:e>
                              <m:sSub>
                                <m:sSubPr>
                                  <m:ctrlPr>
                                    <a:rPr lang="zh-CN" altLang="zh-CN" sz="2400" i="1">
                                      <a:effectLst/>
                                      <a:latin typeface="Cambria Math" panose="02040503050406030204" pitchFamily="18" charset="0"/>
                                      <a:cs typeface="Times New Roman (正文 CS 字体)"/>
                                    </a:rPr>
                                  </m:ctrlPr>
                                </m:sSubPr>
                                <m:e>
                                  <m:r>
                                    <m:rPr>
                                      <m:sty m:val="p"/>
                                    </m:rPr>
                                    <a:rPr lang="en-US" altLang="zh-CN" sz="2400">
                                      <a:effectLst/>
                                      <a:latin typeface="Cambria Math" panose="02040503050406030204" pitchFamily="18" charset="0"/>
                                      <a:cs typeface="Times New Roman (正文 CS 字体)"/>
                                    </a:rPr>
                                    <m:t>α</m:t>
                                  </m:r>
                                </m:e>
                                <m:sub>
                                  <m:r>
                                    <a:rPr lang="en-US" altLang="zh-CN" sz="2400" i="1">
                                      <a:effectLst/>
                                      <a:latin typeface="Cambria Math" panose="02040503050406030204" pitchFamily="18" charset="0"/>
                                      <a:cs typeface="Times New Roman (正文 CS 字体)"/>
                                    </a:rPr>
                                    <m:t>0</m:t>
                                  </m:r>
                                </m:sub>
                              </m:sSub>
                            </m:e>
                          </m:func>
                        </m:e>
                      </m:d>
                      <m:d>
                        <m:dPr>
                          <m:ctrlPr>
                            <a:rPr lang="zh-CN" altLang="zh-CN" sz="2400" i="1">
                              <a:effectLst/>
                              <a:latin typeface="Cambria Math" panose="02040503050406030204" pitchFamily="18" charset="0"/>
                              <a:cs typeface="Times New Roman (正文 CS 字体)"/>
                            </a:rPr>
                          </m:ctrlPr>
                        </m:dPr>
                        <m:e>
                          <m:r>
                            <m:rPr>
                              <m:sty m:val="p"/>
                            </m:rPr>
                            <a:rPr lang="en-US" altLang="zh-CN" sz="2400">
                              <a:effectLst/>
                              <a:latin typeface="Cambria Math" panose="02040503050406030204" pitchFamily="18" charset="0"/>
                              <a:cs typeface="Times New Roman (正文 CS 字体)"/>
                            </a:rPr>
                            <m:t>α</m:t>
                          </m:r>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m:rPr>
                                  <m:sty m:val="p"/>
                                </m:rPr>
                                <a:rPr lang="en-US" altLang="zh-CN" sz="2400">
                                  <a:effectLst/>
                                  <a:latin typeface="Cambria Math" panose="02040503050406030204" pitchFamily="18" charset="0"/>
                                  <a:cs typeface="Times New Roman (正文 CS 字体)"/>
                                </a:rPr>
                                <m:t>α</m:t>
                              </m:r>
                            </m:e>
                            <m:sub>
                              <m:r>
                                <a:rPr lang="en-US" altLang="zh-CN" sz="2400" i="1">
                                  <a:effectLst/>
                                  <a:latin typeface="Cambria Math" panose="02040503050406030204" pitchFamily="18" charset="0"/>
                                  <a:cs typeface="Times New Roman (正文 CS 字体)"/>
                                </a:rPr>
                                <m:t>0</m:t>
                              </m:r>
                            </m:sub>
                          </m:sSub>
                        </m:e>
                      </m:d>
                    </m:oMath>
                  </m:oMathPara>
                </a14:m>
                <a:endParaRPr lang="zh-CN" altLang="zh-CN" sz="2400" dirty="0">
                  <a:effectLst/>
                  <a:latin typeface="+mn-ea"/>
                  <a:cs typeface="Times New Roman (正文 CS 字体)"/>
                </a:endParaRPr>
              </a:p>
              <a:p>
                <a:pPr indent="304800"/>
                <a:r>
                  <a:rPr lang="zh-CN" altLang="zh-CN" sz="2400" dirty="0">
                    <a:effectLst/>
                    <a:latin typeface="+mn-ea"/>
                    <a:cs typeface="Times New Roman (正文 CS 字体)"/>
                  </a:rPr>
                  <a:t>由上式可得全控整流电路的线性化方程为</a:t>
                </a:r>
              </a:p>
              <a:p>
                <a:pPr indent="304800"/>
                <a14:m>
                  <m:oMathPara xmlns:m="http://schemas.openxmlformats.org/officeDocument/2006/math">
                    <m:oMathParaPr>
                      <m:jc m:val="centerGroup"/>
                    </m:oMathParaPr>
                    <m:oMath xmlns:m="http://schemas.openxmlformats.org/officeDocument/2006/math">
                      <m:r>
                        <m:rPr>
                          <m:sty m:val="p"/>
                        </m:rPr>
                        <a:rPr lang="zh-CN" altLang="zh-CN" sz="2400">
                          <a:effectLst/>
                          <a:latin typeface="Cambria Math" panose="02040503050406030204" pitchFamily="18" charset="0"/>
                          <a:cs typeface="Times New Roman (正文 CS 字体)"/>
                        </a:rPr>
                        <m:t>Δ</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𝑒</m:t>
                          </m:r>
                        </m:e>
                        <m:sub>
                          <m:r>
                            <a:rPr lang="en-US" altLang="zh-CN" sz="2400" i="1">
                              <a:effectLst/>
                              <a:latin typeface="Cambria Math" panose="02040503050406030204" pitchFamily="18" charset="0"/>
                              <a:cs typeface="Times New Roman (正文 CS 字体)"/>
                            </a:rPr>
                            <m:t>𝑑</m:t>
                          </m:r>
                        </m:sub>
                      </m:sSub>
                      <m:r>
                        <a:rPr lang="en-US" altLang="zh-CN" sz="2400" i="1">
                          <a:effectLst/>
                          <a:latin typeface="Cambria Math" panose="02040503050406030204" pitchFamily="18" charset="0"/>
                          <a:cs typeface="Times New Roman (正文 CS 字体)"/>
                        </a:rPr>
                        <m:t>=−</m:t>
                      </m:r>
                      <m:d>
                        <m:dPr>
                          <m:begChr m:val="["/>
                          <m:endChr m:val="]"/>
                          <m:ctrlPr>
                            <a:rPr lang="zh-CN" altLang="zh-CN" sz="2400" i="1">
                              <a:effectLst/>
                              <a:latin typeface="Cambria Math" panose="02040503050406030204" pitchFamily="18" charset="0"/>
                              <a:cs typeface="Times New Roman (正文 CS 字体)"/>
                            </a:rPr>
                          </m:ctrlPr>
                        </m:dPr>
                        <m:e>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𝐸</m:t>
                              </m:r>
                            </m:e>
                            <m: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𝑑</m:t>
                                  </m:r>
                                </m:e>
                                <m:sub>
                                  <m:r>
                                    <a:rPr lang="en-US" altLang="zh-CN" sz="2400" i="1">
                                      <a:effectLst/>
                                      <a:latin typeface="Cambria Math" panose="02040503050406030204" pitchFamily="18" charset="0"/>
                                      <a:cs typeface="Times New Roman (正文 CS 字体)"/>
                                    </a:rPr>
                                    <m:t>0</m:t>
                                  </m:r>
                                </m:sub>
                              </m:sSub>
                            </m:sub>
                          </m:sSub>
                          <m:func>
                            <m:funcPr>
                              <m:ctrlPr>
                                <a:rPr lang="zh-CN" altLang="zh-CN" sz="2400" i="1">
                                  <a:effectLst/>
                                  <a:latin typeface="Cambria Math" panose="02040503050406030204" pitchFamily="18" charset="0"/>
                                  <a:cs typeface="Times New Roman (正文 CS 字体)"/>
                                </a:rPr>
                              </m:ctrlPr>
                            </m:funcPr>
                            <m:fName>
                              <m:r>
                                <m:rPr>
                                  <m:sty m:val="p"/>
                                </m:rPr>
                                <a:rPr lang="en-US" altLang="zh-CN" sz="2400">
                                  <a:effectLst/>
                                  <a:latin typeface="Cambria Math" panose="02040503050406030204" pitchFamily="18" charset="0"/>
                                  <a:cs typeface="Times New Roman (正文 CS 字体)"/>
                                </a:rPr>
                                <m:t>sin</m:t>
                              </m:r>
                            </m:fName>
                            <m:e>
                              <m:sSub>
                                <m:sSubPr>
                                  <m:ctrlPr>
                                    <a:rPr lang="zh-CN" altLang="zh-CN" sz="2400" i="1">
                                      <a:effectLst/>
                                      <a:latin typeface="Cambria Math" panose="02040503050406030204" pitchFamily="18" charset="0"/>
                                      <a:cs typeface="Times New Roman (正文 CS 字体)"/>
                                    </a:rPr>
                                  </m:ctrlPr>
                                </m:sSubPr>
                                <m:e>
                                  <m:r>
                                    <m:rPr>
                                      <m:sty m:val="p"/>
                                    </m:rPr>
                                    <a:rPr lang="en-US" altLang="zh-CN" sz="2400">
                                      <a:effectLst/>
                                      <a:latin typeface="Cambria Math" panose="02040503050406030204" pitchFamily="18" charset="0"/>
                                      <a:cs typeface="Times New Roman (正文 CS 字体)"/>
                                    </a:rPr>
                                    <m:t>α</m:t>
                                  </m:r>
                                </m:e>
                                <m:sub>
                                  <m:r>
                                    <a:rPr lang="en-US" altLang="zh-CN" sz="2400" i="1">
                                      <a:effectLst/>
                                      <a:latin typeface="Cambria Math" panose="02040503050406030204" pitchFamily="18" charset="0"/>
                                      <a:cs typeface="Times New Roman (正文 CS 字体)"/>
                                    </a:rPr>
                                    <m:t>0</m:t>
                                  </m:r>
                                </m:sub>
                              </m:sSub>
                            </m:e>
                          </m:func>
                        </m:e>
                      </m:d>
                      <m:r>
                        <a:rPr lang="en-US" altLang="zh-CN" sz="2400" i="1">
                          <a:effectLst/>
                          <a:latin typeface="Cambria Math" panose="02040503050406030204" pitchFamily="18" charset="0"/>
                          <a:cs typeface="Times New Roman (正文 CS 字体)"/>
                        </a:rPr>
                        <m:t>𝛥</m:t>
                      </m:r>
                      <m:r>
                        <m:rPr>
                          <m:sty m:val="p"/>
                        </m:rPr>
                        <a:rPr lang="en-US" altLang="zh-CN" sz="2400">
                          <a:effectLst/>
                          <a:latin typeface="Cambria Math" panose="02040503050406030204" pitchFamily="18" charset="0"/>
                          <a:cs typeface="Times New Roman (正文 CS 字体)"/>
                        </a:rPr>
                        <m:t>α</m:t>
                      </m:r>
                    </m:oMath>
                  </m:oMathPara>
                </a14:m>
                <a:endParaRPr lang="zh-CN" altLang="zh-CN" sz="2400" dirty="0">
                  <a:effectLst/>
                  <a:latin typeface="+mn-ea"/>
                  <a:cs typeface="Times New Roman (正文 CS 字体)"/>
                </a:endParaRPr>
              </a:p>
            </p:txBody>
          </p:sp>
        </mc:Choice>
        <mc:Fallback xmlns="">
          <p:sp>
            <p:nvSpPr>
              <p:cNvPr id="3" name="文本框 2">
                <a:extLst>
                  <a:ext uri="{FF2B5EF4-FFF2-40B4-BE49-F238E27FC236}">
                    <a16:creationId xmlns:a16="http://schemas.microsoft.com/office/drawing/2014/main" id="{29A34688-4EAE-ED7D-2D42-03D444D42199}"/>
                  </a:ext>
                </a:extLst>
              </p:cNvPr>
              <p:cNvSpPr txBox="1">
                <a:spLocks noRot="1" noChangeAspect="1" noMove="1" noResize="1" noEditPoints="1" noAdjustHandles="1" noChangeArrowheads="1" noChangeShapeType="1" noTextEdit="1"/>
              </p:cNvSpPr>
              <p:nvPr/>
            </p:nvSpPr>
            <p:spPr>
              <a:xfrm>
                <a:off x="406574" y="1050047"/>
                <a:ext cx="11521280" cy="5202450"/>
              </a:xfrm>
              <a:prstGeom prst="rect">
                <a:avLst/>
              </a:prstGeom>
              <a:blipFill>
                <a:blip r:embed="rId3"/>
                <a:stretch>
                  <a:fillRect l="-881" t="-973" b="-1435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2136392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D2A61-9EAE-C3D4-06F3-F90DF80382A4}"/>
            </a:ext>
          </a:extLst>
        </p:cNvPr>
        <p:cNvGrpSpPr/>
        <p:nvPr/>
      </p:nvGrpSpPr>
      <p:grpSpPr>
        <a:xfrm>
          <a:off x="0" y="0"/>
          <a:ext cx="0" cy="0"/>
          <a:chOff x="0" y="0"/>
          <a:chExt cx="0" cy="0"/>
        </a:xfrm>
      </p:grpSpPr>
      <p:sp>
        <p:nvSpPr>
          <p:cNvPr id="45" name="标题">
            <a:extLst>
              <a:ext uri="{FF2B5EF4-FFF2-40B4-BE49-F238E27FC236}">
                <a16:creationId xmlns:a16="http://schemas.microsoft.com/office/drawing/2014/main" id="{0453FBCB-FBB8-DF63-1F49-7867F1941B23}"/>
              </a:ext>
            </a:extLst>
          </p:cNvPr>
          <p:cNvSpPr txBox="1"/>
          <p:nvPr/>
        </p:nvSpPr>
        <p:spPr>
          <a:xfrm>
            <a:off x="614452" y="332656"/>
            <a:ext cx="4261118"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位置随动系统建模</a:t>
            </a:r>
          </a:p>
        </p:txBody>
      </p:sp>
      <p:pic>
        <p:nvPicPr>
          <p:cNvPr id="5121" name="图片 1">
            <a:extLst>
              <a:ext uri="{FF2B5EF4-FFF2-40B4-BE49-F238E27FC236}">
                <a16:creationId xmlns:a16="http://schemas.microsoft.com/office/drawing/2014/main" id="{C49399CD-94B0-EA66-90F3-B421044A91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0750" y="2983201"/>
            <a:ext cx="7632848" cy="354214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91CD079-4813-39C4-9E07-10D18ECD1942}"/>
                  </a:ext>
                </a:extLst>
              </p:cNvPr>
              <p:cNvSpPr txBox="1"/>
              <p:nvPr/>
            </p:nvSpPr>
            <p:spPr>
              <a:xfrm>
                <a:off x="910630" y="1044209"/>
                <a:ext cx="10778088" cy="1938992"/>
              </a:xfrm>
              <a:prstGeom prst="rect">
                <a:avLst/>
              </a:prstGeom>
              <a:noFill/>
            </p:spPr>
            <p:txBody>
              <a:bodyPr wrap="square">
                <a:spAutoFit/>
              </a:bodyPr>
              <a:lstStyle/>
              <a:p>
                <a:pPr indent="304800"/>
                <a:r>
                  <a:rPr lang="zh-CN" altLang="zh-CN" sz="2400" dirty="0">
                    <a:effectLst/>
                    <a:latin typeface="+mn-ea"/>
                    <a:cs typeface="Times New Roman (正文 CS 字体)"/>
                  </a:rPr>
                  <a:t>某位置随动系统原理方框图如下所示。已知电位器最大工作角度</a:t>
                </a:r>
                <a14:m>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𝜃</m:t>
                        </m:r>
                      </m:e>
                      <m:sub>
                        <m:r>
                          <m:rPr>
                            <m:sty m:val="p"/>
                          </m:rPr>
                          <a:rPr lang="en-US" altLang="zh-CN" sz="2400">
                            <a:effectLst/>
                            <a:latin typeface="Cambria Math" panose="02040503050406030204" pitchFamily="18" charset="0"/>
                            <a:cs typeface="Times New Roman (正文 CS 字体)"/>
                          </a:rPr>
                          <m:t>max</m:t>
                        </m:r>
                      </m:sub>
                    </m:sSub>
                    <m:r>
                      <a:rPr lang="en-US" altLang="zh-CN" sz="2400" i="1">
                        <a:effectLst/>
                        <a:latin typeface="Cambria Math" panose="02040503050406030204" pitchFamily="18" charset="0"/>
                        <a:cs typeface="Times New Roman (正文 CS 字体)"/>
                      </a:rPr>
                      <m:t>=330°</m:t>
                    </m:r>
                  </m:oMath>
                </a14:m>
                <a:r>
                  <a:rPr lang="zh-CN" altLang="zh-CN" sz="2400" dirty="0">
                    <a:effectLst/>
                    <a:latin typeface="+mn-ea"/>
                    <a:cs typeface="Times New Roman (正文 CS 字体)"/>
                  </a:rPr>
                  <a:t>，功率放大器功放系数为</a:t>
                </a:r>
                <a14:m>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3</m:t>
                        </m:r>
                      </m:sub>
                    </m:sSub>
                  </m:oMath>
                </a14:m>
                <a:r>
                  <a:rPr lang="zh-CN" altLang="zh-CN" sz="2400" dirty="0">
                    <a:effectLst/>
                    <a:latin typeface="+mn-ea"/>
                    <a:cs typeface="Times New Roman (正文 CS 字体)"/>
                  </a:rPr>
                  <a:t>，要求：</a:t>
                </a:r>
              </a:p>
              <a:p>
                <a:pPr indent="304800"/>
                <a:r>
                  <a:rPr lang="zh-CN" altLang="zh-CN" sz="2400" dirty="0">
                    <a:effectLst/>
                    <a:latin typeface="+mn-ea"/>
                    <a:cs typeface="Times New Roman (正文 CS 字体)"/>
                  </a:rPr>
                  <a:t>（</a:t>
                </a:r>
                <a:r>
                  <a:rPr lang="en-US" altLang="zh-CN" sz="2400" dirty="0">
                    <a:effectLst/>
                    <a:latin typeface="+mn-ea"/>
                    <a:cs typeface="Times New Roman (正文 CS 字体)"/>
                  </a:rPr>
                  <a:t>1</a:t>
                </a:r>
                <a:r>
                  <a:rPr lang="zh-CN" altLang="zh-CN" sz="2400" dirty="0">
                    <a:effectLst/>
                    <a:latin typeface="+mn-ea"/>
                    <a:cs typeface="Times New Roman (正文 CS 字体)"/>
                  </a:rPr>
                  <a:t>）分别求出电位器传递系数</a:t>
                </a:r>
                <a14:m>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0</m:t>
                        </m:r>
                      </m:sub>
                    </m:sSub>
                  </m:oMath>
                </a14:m>
                <a:r>
                  <a:rPr lang="zh-CN" altLang="zh-CN" sz="2400" dirty="0">
                    <a:effectLst/>
                    <a:latin typeface="+mn-ea"/>
                    <a:cs typeface="Times New Roman (正文 CS 字体)"/>
                  </a:rPr>
                  <a:t>，第一级和第二级放大器系数</a:t>
                </a:r>
                <a14:m>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1</m:t>
                        </m:r>
                      </m:sub>
                    </m:sSub>
                  </m:oMath>
                </a14:m>
                <a:r>
                  <a:rPr lang="zh-CN" altLang="zh-CN" sz="2400" dirty="0">
                    <a:effectLst/>
                    <a:latin typeface="+mn-ea"/>
                    <a:cs typeface="Times New Roman (正文 CS 字体)"/>
                  </a:rPr>
                  <a:t>和</a:t>
                </a:r>
                <a14:m>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2</m:t>
                        </m:r>
                      </m:sub>
                    </m:sSub>
                  </m:oMath>
                </a14:m>
                <a:r>
                  <a:rPr lang="zh-CN" altLang="zh-CN" sz="2400" dirty="0">
                    <a:effectLst/>
                    <a:latin typeface="+mn-ea"/>
                    <a:cs typeface="Times New Roman (正文 CS 字体)"/>
                  </a:rPr>
                  <a:t>；</a:t>
                </a:r>
              </a:p>
              <a:p>
                <a:pPr indent="304800"/>
                <a:r>
                  <a:rPr lang="zh-CN" altLang="zh-CN" sz="2400" dirty="0">
                    <a:effectLst/>
                    <a:latin typeface="+mn-ea"/>
                    <a:cs typeface="Times New Roman (正文 CS 字体)"/>
                  </a:rPr>
                  <a:t>（</a:t>
                </a:r>
                <a:r>
                  <a:rPr lang="en-US" altLang="zh-CN" sz="2400" dirty="0">
                    <a:effectLst/>
                    <a:latin typeface="+mn-ea"/>
                    <a:cs typeface="Times New Roman (正文 CS 字体)"/>
                  </a:rPr>
                  <a:t>2</a:t>
                </a:r>
                <a:r>
                  <a:rPr lang="zh-CN" altLang="zh-CN" sz="2400" dirty="0">
                    <a:effectLst/>
                    <a:latin typeface="+mn-ea"/>
                    <a:cs typeface="Times New Roman (正文 CS 字体)"/>
                  </a:rPr>
                  <a:t>）画出系统结构图；</a:t>
                </a:r>
              </a:p>
              <a:p>
                <a:pPr indent="304800"/>
                <a:r>
                  <a:rPr lang="zh-CN" altLang="zh-CN" sz="2400" dirty="0">
                    <a:effectLst/>
                    <a:latin typeface="+mn-ea"/>
                    <a:cs typeface="Times New Roman (正文 CS 字体)"/>
                  </a:rPr>
                  <a:t>（</a:t>
                </a:r>
                <a:r>
                  <a:rPr lang="en-US" altLang="zh-CN" sz="2400" dirty="0">
                    <a:effectLst/>
                    <a:latin typeface="+mn-ea"/>
                    <a:cs typeface="Times New Roman (正文 CS 字体)"/>
                  </a:rPr>
                  <a:t>3</a:t>
                </a:r>
                <a:r>
                  <a:rPr lang="zh-CN" altLang="zh-CN" sz="2400" dirty="0">
                    <a:effectLst/>
                    <a:latin typeface="+mn-ea"/>
                    <a:cs typeface="Times New Roman (正文 CS 字体)"/>
                  </a:rPr>
                  <a:t>）简化结构图，求系统传递函数</a:t>
                </a:r>
                <a14:m>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𝛩</m:t>
                        </m:r>
                      </m:e>
                      <m:sub>
                        <m:r>
                          <a:rPr lang="en-US" altLang="zh-CN" sz="2400" i="1">
                            <a:effectLst/>
                            <a:latin typeface="Cambria Math" panose="02040503050406030204" pitchFamily="18" charset="0"/>
                            <a:cs typeface="Times New Roman (正文 CS 字体)"/>
                          </a:rPr>
                          <m:t>𝑜</m:t>
                        </m:r>
                      </m:sub>
                    </m:sSub>
                    <m:d>
                      <m:dPr>
                        <m:ctrlPr>
                          <a:rPr lang="zh-CN" altLang="zh-CN" sz="2400" i="1">
                            <a:effectLst/>
                            <a:latin typeface="Cambria Math" panose="02040503050406030204" pitchFamily="18" charset="0"/>
                            <a:cs typeface="Times New Roman (正文 CS 字体)"/>
                          </a:rPr>
                        </m:ctrlPr>
                      </m:dPr>
                      <m:e>
                        <m:r>
                          <a:rPr lang="en-US" altLang="zh-CN" sz="2400" i="1">
                            <a:effectLst/>
                            <a:latin typeface="Cambria Math" panose="02040503050406030204" pitchFamily="18" charset="0"/>
                            <a:cs typeface="Times New Roman (正文 CS 字体)"/>
                          </a:rPr>
                          <m:t>𝑠</m:t>
                        </m:r>
                      </m:e>
                    </m:d>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𝛩</m:t>
                        </m:r>
                      </m:e>
                      <m:sub>
                        <m:r>
                          <a:rPr lang="en-US" altLang="zh-CN" sz="2400" i="1">
                            <a:effectLst/>
                            <a:latin typeface="Cambria Math" panose="02040503050406030204" pitchFamily="18" charset="0"/>
                            <a:cs typeface="Times New Roman (正文 CS 字体)"/>
                          </a:rPr>
                          <m:t>𝑖</m:t>
                        </m:r>
                      </m:sub>
                    </m:sSub>
                    <m:d>
                      <m:dPr>
                        <m:ctrlPr>
                          <a:rPr lang="zh-CN" altLang="zh-CN" sz="2400" i="1">
                            <a:effectLst/>
                            <a:latin typeface="Cambria Math" panose="02040503050406030204" pitchFamily="18" charset="0"/>
                            <a:cs typeface="Times New Roman (正文 CS 字体)"/>
                          </a:rPr>
                        </m:ctrlPr>
                      </m:dPr>
                      <m:e>
                        <m:r>
                          <a:rPr lang="en-US" altLang="zh-CN" sz="2400" i="1">
                            <a:effectLst/>
                            <a:latin typeface="Cambria Math" panose="02040503050406030204" pitchFamily="18" charset="0"/>
                            <a:cs typeface="Times New Roman (正文 CS 字体)"/>
                          </a:rPr>
                          <m:t>𝑠</m:t>
                        </m:r>
                      </m:e>
                    </m:d>
                  </m:oMath>
                </a14:m>
                <a:r>
                  <a:rPr lang="zh-CN" altLang="zh-CN" sz="2400" dirty="0">
                    <a:effectLst/>
                    <a:latin typeface="+mn-ea"/>
                    <a:cs typeface="Times New Roman (正文 CS 字体)"/>
                  </a:rPr>
                  <a:t>。</a:t>
                </a:r>
              </a:p>
            </p:txBody>
          </p:sp>
        </mc:Choice>
        <mc:Fallback xmlns="">
          <p:sp>
            <p:nvSpPr>
              <p:cNvPr id="6" name="文本框 5">
                <a:extLst>
                  <a:ext uri="{FF2B5EF4-FFF2-40B4-BE49-F238E27FC236}">
                    <a16:creationId xmlns:a16="http://schemas.microsoft.com/office/drawing/2014/main" id="{091CD079-4813-39C4-9E07-10D18ECD1942}"/>
                  </a:ext>
                </a:extLst>
              </p:cNvPr>
              <p:cNvSpPr txBox="1">
                <a:spLocks noRot="1" noChangeAspect="1" noMove="1" noResize="1" noEditPoints="1" noAdjustHandles="1" noChangeArrowheads="1" noChangeShapeType="1" noTextEdit="1"/>
              </p:cNvSpPr>
              <p:nvPr/>
            </p:nvSpPr>
            <p:spPr>
              <a:xfrm>
                <a:off x="910630" y="1044209"/>
                <a:ext cx="10778088" cy="1938992"/>
              </a:xfrm>
              <a:prstGeom prst="rect">
                <a:avLst/>
              </a:prstGeom>
              <a:blipFill>
                <a:blip r:embed="rId4"/>
                <a:stretch>
                  <a:fillRect l="-824" t="-2614" r="-3647" b="-653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44822591"/>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BAF4DE-E025-70C9-4DAB-1DEECD0EC23D}"/>
            </a:ext>
          </a:extLst>
        </p:cNvPr>
        <p:cNvGrpSpPr/>
        <p:nvPr/>
      </p:nvGrpSpPr>
      <p:grpSpPr>
        <a:xfrm>
          <a:off x="0" y="0"/>
          <a:ext cx="0" cy="0"/>
          <a:chOff x="0" y="0"/>
          <a:chExt cx="0" cy="0"/>
        </a:xfrm>
      </p:grpSpPr>
      <p:sp>
        <p:nvSpPr>
          <p:cNvPr id="45" name="标题">
            <a:extLst>
              <a:ext uri="{FF2B5EF4-FFF2-40B4-BE49-F238E27FC236}">
                <a16:creationId xmlns:a16="http://schemas.microsoft.com/office/drawing/2014/main" id="{C29248B7-B925-6270-26C3-98A7782D400E}"/>
              </a:ext>
            </a:extLst>
          </p:cNvPr>
          <p:cNvSpPr txBox="1"/>
          <p:nvPr/>
        </p:nvSpPr>
        <p:spPr>
          <a:xfrm>
            <a:off x="614452" y="332656"/>
            <a:ext cx="4261118"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位置随动系统建模</a:t>
            </a:r>
          </a:p>
        </p:txBody>
      </p:sp>
      <p:pic>
        <p:nvPicPr>
          <p:cNvPr id="5121" name="图片 1">
            <a:extLst>
              <a:ext uri="{FF2B5EF4-FFF2-40B4-BE49-F238E27FC236}">
                <a16:creationId xmlns:a16="http://schemas.microsoft.com/office/drawing/2014/main" id="{2D80AF9E-895A-84B7-1950-8B0194F6D6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14686" y="980728"/>
            <a:ext cx="7632848" cy="3542143"/>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BC10EDCF-AA02-7736-E110-1BCF4C0CBAD3}"/>
                  </a:ext>
                </a:extLst>
              </p:cNvPr>
              <p:cNvSpPr txBox="1"/>
              <p:nvPr/>
            </p:nvSpPr>
            <p:spPr>
              <a:xfrm>
                <a:off x="2350790" y="4647723"/>
                <a:ext cx="7248128" cy="2130711"/>
              </a:xfrm>
              <a:prstGeom prst="rect">
                <a:avLst/>
              </a:prstGeom>
              <a:noFill/>
            </p:spPr>
            <p:txBody>
              <a:bodyPr wrap="square">
                <a:spAutoFit/>
              </a:bodyPr>
              <a:lstStyle/>
              <a:p>
                <a:pPr indent="304800"/>
                <a:r>
                  <a:rPr lang="en-US" altLang="zh-CN" sz="2400" dirty="0">
                    <a:effectLst/>
                    <a:latin typeface="Times New Roman" panose="02020603050405020304" pitchFamily="18" charset="0"/>
                    <a:ea typeface="宋体" panose="02010600030101010101" pitchFamily="2" charset="-122"/>
                    <a:cs typeface="Times New Roman (正文 CS 字体)"/>
                  </a:rPr>
                  <a:t>(1) </a:t>
                </a:r>
                <a:r>
                  <a:rPr lang="zh-CN" altLang="zh-CN" sz="2400" dirty="0">
                    <a:effectLst/>
                    <a:latin typeface="Times New Roman" panose="02020603050405020304" pitchFamily="18" charset="0"/>
                    <a:ea typeface="宋体" panose="02010600030101010101" pitchFamily="2" charset="-122"/>
                    <a:cs typeface="Times New Roman (正文 CS 字体)"/>
                  </a:rPr>
                  <a:t>求</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cs typeface="Times New Roman (正文 CS 字体)"/>
                          </a:rPr>
                        </m:ctrlPr>
                      </m:sSubPr>
                      <m:e>
                        <m:r>
                          <a:rPr lang="en-US" altLang="zh-CN" sz="2400" i="1">
                            <a:effectLst/>
                            <a:latin typeface="Cambria Math" panose="02040503050406030204" pitchFamily="18" charset="0"/>
                            <a:ea typeface="宋体" panose="02010600030101010101" pitchFamily="2" charset="-122"/>
                            <a:cs typeface="Times New Roman (正文 CS 字体)"/>
                          </a:rPr>
                          <m:t>𝐾</m:t>
                        </m:r>
                      </m:e>
                      <m:sub>
                        <m:r>
                          <a:rPr lang="en-US" altLang="zh-CN" sz="2400" i="1">
                            <a:effectLst/>
                            <a:latin typeface="Cambria Math" panose="02040503050406030204" pitchFamily="18" charset="0"/>
                            <a:ea typeface="宋体" panose="02010600030101010101" pitchFamily="2" charset="-122"/>
                            <a:cs typeface="Times New Roman (正文 CS 字体)"/>
                          </a:rPr>
                          <m:t>0</m:t>
                        </m:r>
                      </m:sub>
                    </m:sSub>
                    <m:r>
                      <a:rPr lang="en-US" altLang="zh-CN" sz="2400" i="1">
                        <a:effectLst/>
                        <a:latin typeface="Cambria Math" panose="02040503050406030204" pitchFamily="18" charset="0"/>
                        <a:ea typeface="宋体" panose="02010600030101010101" pitchFamily="2" charset="-122"/>
                        <a:cs typeface="Times New Roman (正文 CS 字体)"/>
                      </a:rPr>
                      <m:t>, </m:t>
                    </m:r>
                    <m:sSub>
                      <m:sSubPr>
                        <m:ctrlPr>
                          <a:rPr lang="zh-CN" altLang="zh-CN" sz="2400" i="1">
                            <a:effectLst/>
                            <a:latin typeface="Cambria Math" panose="02040503050406030204" pitchFamily="18" charset="0"/>
                            <a:ea typeface="Cambria Math" panose="02040503050406030204" pitchFamily="18" charset="0"/>
                            <a:cs typeface="Times New Roman (正文 CS 字体)"/>
                          </a:rPr>
                        </m:ctrlPr>
                      </m:sSubPr>
                      <m:e>
                        <m:r>
                          <a:rPr lang="en-US" altLang="zh-CN" sz="2400" i="1">
                            <a:effectLst/>
                            <a:latin typeface="Cambria Math" panose="02040503050406030204" pitchFamily="18" charset="0"/>
                            <a:ea typeface="宋体" panose="02010600030101010101" pitchFamily="2" charset="-122"/>
                            <a:cs typeface="Times New Roman (正文 CS 字体)"/>
                          </a:rPr>
                          <m:t>𝐾</m:t>
                        </m:r>
                      </m:e>
                      <m:sub>
                        <m:r>
                          <a:rPr lang="en-US" altLang="zh-CN" sz="2400" i="1">
                            <a:effectLst/>
                            <a:latin typeface="Cambria Math" panose="02040503050406030204" pitchFamily="18" charset="0"/>
                            <a:ea typeface="宋体" panose="02010600030101010101" pitchFamily="2" charset="-122"/>
                            <a:cs typeface="Times New Roman (正文 CS 字体)"/>
                          </a:rPr>
                          <m:t>1</m:t>
                        </m:r>
                      </m:sub>
                    </m:sSub>
                  </m:oMath>
                </a14:m>
                <a:r>
                  <a:rPr lang="zh-CN" altLang="zh-CN" sz="2400" dirty="0">
                    <a:effectLst/>
                    <a:latin typeface="Times New Roman" panose="02020603050405020304" pitchFamily="18" charset="0"/>
                    <a:ea typeface="宋体" panose="02010600030101010101" pitchFamily="2" charset="-122"/>
                    <a:cs typeface="Times New Roman (正文 CS 字体)"/>
                  </a:rPr>
                  <a:t>和</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cs typeface="Times New Roman (正文 CS 字体)"/>
                          </a:rPr>
                        </m:ctrlPr>
                      </m:sSubPr>
                      <m:e>
                        <m:r>
                          <a:rPr lang="en-US" altLang="zh-CN" sz="2400" i="1">
                            <a:effectLst/>
                            <a:latin typeface="Cambria Math" panose="02040503050406030204" pitchFamily="18" charset="0"/>
                            <a:ea typeface="宋体" panose="02010600030101010101" pitchFamily="2" charset="-122"/>
                            <a:cs typeface="Times New Roman (正文 CS 字体)"/>
                          </a:rPr>
                          <m:t>𝐾</m:t>
                        </m:r>
                      </m:e>
                      <m:sub>
                        <m:r>
                          <a:rPr lang="en-US" altLang="zh-CN" sz="2400" i="1">
                            <a:effectLst/>
                            <a:latin typeface="Cambria Math" panose="02040503050406030204" pitchFamily="18" charset="0"/>
                            <a:ea typeface="宋体" panose="02010600030101010101" pitchFamily="2" charset="-122"/>
                            <a:cs typeface="Times New Roman (正文 CS 字体)"/>
                          </a:rPr>
                          <m:t>2</m:t>
                        </m:r>
                      </m:sub>
                    </m:sSub>
                  </m:oMath>
                </a14:m>
                <a:r>
                  <a:rPr lang="zh-CN" altLang="zh-CN" sz="2400" dirty="0">
                    <a:effectLst/>
                    <a:latin typeface="Times New Roman" panose="02020603050405020304" pitchFamily="18" charset="0"/>
                    <a:ea typeface="宋体" panose="02010600030101010101" pitchFamily="2" charset="-122"/>
                    <a:cs typeface="Times New Roman (正文 CS 字体)"/>
                  </a:rPr>
                  <a:t>。</a:t>
                </a:r>
              </a:p>
              <a:p>
                <a:pPr indent="304800"/>
                <a14:m>
                  <m:oMathPara xmlns:m="http://schemas.openxmlformats.org/officeDocument/2006/math">
                    <m:oMathParaPr>
                      <m:jc m:val="centerGroup"/>
                    </m:oMathParaPr>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cs typeface="Times New Roman (正文 CS 字体)"/>
                            </a:rPr>
                          </m:ctrlPr>
                        </m:sSubPr>
                        <m:e>
                          <m:r>
                            <a:rPr lang="en-US" altLang="zh-CN" sz="2400" i="1">
                              <a:effectLst/>
                              <a:latin typeface="Cambria Math" panose="02040503050406030204" pitchFamily="18" charset="0"/>
                              <a:ea typeface="宋体" panose="02010600030101010101" pitchFamily="2" charset="-122"/>
                              <a:cs typeface="Times New Roman (正文 CS 字体)"/>
                            </a:rPr>
                            <m:t>𝐾</m:t>
                          </m:r>
                        </m:e>
                        <m:sub>
                          <m:r>
                            <a:rPr lang="en-US" altLang="zh-CN" sz="2400" i="1">
                              <a:effectLst/>
                              <a:latin typeface="Cambria Math" panose="02040503050406030204" pitchFamily="18" charset="0"/>
                              <a:ea typeface="宋体" panose="02010600030101010101" pitchFamily="2" charset="-122"/>
                              <a:cs typeface="Times New Roman (正文 CS 字体)"/>
                            </a:rPr>
                            <m:t>0</m:t>
                          </m:r>
                        </m:sub>
                      </m:sSub>
                      <m:r>
                        <a:rPr lang="en-US" altLang="zh-CN" sz="2400" i="1">
                          <a:effectLst/>
                          <a:latin typeface="Cambria Math" panose="02040503050406030204" pitchFamily="18" charset="0"/>
                          <a:ea typeface="宋体" panose="02010600030101010101" pitchFamily="2" charset="-122"/>
                          <a:cs typeface="Times New Roman (正文 CS 字体)"/>
                        </a:rPr>
                        <m:t>=</m:t>
                      </m:r>
                      <m:f>
                        <m:fPr>
                          <m:ctrlPr>
                            <a:rPr lang="zh-CN" altLang="zh-CN" sz="2400" i="1">
                              <a:effectLst/>
                              <a:latin typeface="Cambria Math" panose="02040503050406030204" pitchFamily="18" charset="0"/>
                              <a:ea typeface="Cambria Math" panose="02040503050406030204" pitchFamily="18" charset="0"/>
                              <a:cs typeface="Times New Roman (正文 CS 字体)"/>
                            </a:rPr>
                          </m:ctrlPr>
                        </m:fPr>
                        <m:num>
                          <m:r>
                            <a:rPr lang="en-US" altLang="zh-CN" sz="2400" i="1">
                              <a:effectLst/>
                              <a:latin typeface="Cambria Math" panose="02040503050406030204" pitchFamily="18" charset="0"/>
                              <a:ea typeface="宋体" panose="02010600030101010101" pitchFamily="2" charset="-122"/>
                              <a:cs typeface="Times New Roman (正文 CS 字体)"/>
                            </a:rPr>
                            <m:t>𝐸</m:t>
                          </m:r>
                        </m:num>
                        <m:den>
                          <m:sSub>
                            <m:sSubPr>
                              <m:ctrlPr>
                                <a:rPr lang="zh-CN" altLang="zh-CN" sz="2400" i="1">
                                  <a:effectLst/>
                                  <a:latin typeface="Cambria Math" panose="02040503050406030204" pitchFamily="18" charset="0"/>
                                  <a:ea typeface="Cambria Math" panose="02040503050406030204" pitchFamily="18" charset="0"/>
                                  <a:cs typeface="Times New Roman (正文 CS 字体)"/>
                                </a:rPr>
                              </m:ctrlPr>
                            </m:sSubPr>
                            <m:e>
                              <m:r>
                                <m:rPr>
                                  <m:sty m:val="p"/>
                                </m:rPr>
                                <a:rPr lang="en-US" altLang="zh-CN" sz="2400">
                                  <a:effectLst/>
                                  <a:latin typeface="Cambria Math" panose="02040503050406030204" pitchFamily="18" charset="0"/>
                                  <a:ea typeface="宋体" panose="02010600030101010101" pitchFamily="2" charset="-122"/>
                                  <a:cs typeface="Times New Roman (正文 CS 字体)"/>
                                </a:rPr>
                                <m:t>θ</m:t>
                              </m:r>
                            </m:e>
                            <m:sub>
                              <m:r>
                                <a:rPr lang="en-US" altLang="zh-CN" sz="2400" i="1">
                                  <a:effectLst/>
                                  <a:latin typeface="Cambria Math" panose="02040503050406030204" pitchFamily="18" charset="0"/>
                                  <a:ea typeface="宋体" panose="02010600030101010101" pitchFamily="2" charset="-122"/>
                                  <a:cs typeface="Times New Roman (正文 CS 字体)"/>
                                </a:rPr>
                                <m:t>𝑚</m:t>
                              </m:r>
                            </m:sub>
                          </m:sSub>
                        </m:den>
                      </m:f>
                      <m:r>
                        <a:rPr lang="en-US" altLang="zh-CN" sz="2400" i="1">
                          <a:effectLst/>
                          <a:latin typeface="Cambria Math" panose="02040503050406030204" pitchFamily="18" charset="0"/>
                          <a:ea typeface="宋体" panose="02010600030101010101" pitchFamily="2" charset="-122"/>
                          <a:cs typeface="Times New Roman (正文 CS 字体)"/>
                        </a:rPr>
                        <m:t>=</m:t>
                      </m:r>
                      <m:f>
                        <m:fPr>
                          <m:ctrlPr>
                            <a:rPr lang="zh-CN" altLang="zh-CN" sz="2400" i="1">
                              <a:effectLst/>
                              <a:latin typeface="Cambria Math" panose="02040503050406030204" pitchFamily="18" charset="0"/>
                              <a:ea typeface="Cambria Math" panose="02040503050406030204" pitchFamily="18" charset="0"/>
                              <a:cs typeface="Times New Roman (正文 CS 字体)"/>
                            </a:rPr>
                          </m:ctrlPr>
                        </m:fPr>
                        <m:num>
                          <m:r>
                            <a:rPr lang="en-US" altLang="zh-CN" sz="2400" i="1">
                              <a:effectLst/>
                              <a:latin typeface="Cambria Math" panose="02040503050406030204" pitchFamily="18" charset="0"/>
                              <a:ea typeface="宋体" panose="02010600030101010101" pitchFamily="2" charset="-122"/>
                              <a:cs typeface="Times New Roman (正文 CS 字体)"/>
                            </a:rPr>
                            <m:t>30</m:t>
                          </m:r>
                        </m:num>
                        <m:den>
                          <m:r>
                            <a:rPr lang="en-US" altLang="zh-CN" sz="2400" i="1">
                              <a:effectLst/>
                              <a:latin typeface="Cambria Math" panose="02040503050406030204" pitchFamily="18" charset="0"/>
                              <a:ea typeface="宋体" panose="02010600030101010101" pitchFamily="2" charset="-122"/>
                              <a:cs typeface="Times New Roman (正文 CS 字体)"/>
                            </a:rPr>
                            <m:t>330°</m:t>
                          </m:r>
                          <m:r>
                            <a:rPr lang="zh-CN" altLang="zh-CN" sz="2400">
                              <a:effectLst/>
                              <a:latin typeface="Cambria Math" panose="02040503050406030204" pitchFamily="18" charset="0"/>
                              <a:ea typeface="宋体" panose="02010600030101010101" pitchFamily="2" charset="-122"/>
                              <a:cs typeface="Times New Roman (正文 CS 字体)"/>
                            </a:rPr>
                            <m:t>×</m:t>
                          </m:r>
                          <m:f>
                            <m:fPr>
                              <m:ctrlPr>
                                <a:rPr lang="zh-CN" altLang="zh-CN" sz="2400" i="1">
                                  <a:effectLst/>
                                  <a:latin typeface="Cambria Math" panose="02040503050406030204" pitchFamily="18" charset="0"/>
                                  <a:ea typeface="Cambria Math" panose="02040503050406030204" pitchFamily="18" charset="0"/>
                                  <a:cs typeface="Times New Roman (正文 CS 字体)"/>
                                </a:rPr>
                              </m:ctrlPr>
                            </m:fPr>
                            <m:num>
                              <m:r>
                                <m:rPr>
                                  <m:sty m:val="p"/>
                                </m:rPr>
                                <a:rPr lang="en-US" altLang="zh-CN" sz="2400">
                                  <a:effectLst/>
                                  <a:latin typeface="Cambria Math" panose="02040503050406030204" pitchFamily="18" charset="0"/>
                                  <a:ea typeface="宋体" panose="02010600030101010101" pitchFamily="2" charset="-122"/>
                                  <a:cs typeface="Times New Roman (正文 CS 字体)"/>
                                </a:rPr>
                                <m:t>π</m:t>
                              </m:r>
                            </m:num>
                            <m:den>
                              <m:r>
                                <a:rPr lang="en-US" altLang="zh-CN" sz="2400" i="1">
                                  <a:effectLst/>
                                  <a:latin typeface="Cambria Math" panose="02040503050406030204" pitchFamily="18" charset="0"/>
                                  <a:ea typeface="宋体" panose="02010600030101010101" pitchFamily="2" charset="-122"/>
                                  <a:cs typeface="Times New Roman (正文 CS 字体)"/>
                                </a:rPr>
                                <m:t>180°</m:t>
                              </m:r>
                            </m:den>
                          </m:f>
                        </m:den>
                      </m:f>
                      <m:r>
                        <a:rPr lang="en-US" altLang="zh-CN" sz="2400" i="1">
                          <a:effectLst/>
                          <a:latin typeface="Cambria Math" panose="02040503050406030204" pitchFamily="18" charset="0"/>
                          <a:ea typeface="宋体" panose="02010600030101010101" pitchFamily="2" charset="-122"/>
                          <a:cs typeface="Times New Roman (正文 CS 字体)"/>
                        </a:rPr>
                        <m:t>=</m:t>
                      </m:r>
                      <m:f>
                        <m:fPr>
                          <m:ctrlPr>
                            <a:rPr lang="zh-CN" altLang="zh-CN" sz="2400" i="1">
                              <a:effectLst/>
                              <a:latin typeface="Cambria Math" panose="02040503050406030204" pitchFamily="18" charset="0"/>
                              <a:ea typeface="Cambria Math" panose="02040503050406030204" pitchFamily="18" charset="0"/>
                              <a:cs typeface="Times New Roman (正文 CS 字体)"/>
                            </a:rPr>
                          </m:ctrlPr>
                        </m:fPr>
                        <m:num>
                          <m:r>
                            <a:rPr lang="en-US" altLang="zh-CN" sz="2400" i="1">
                              <a:effectLst/>
                              <a:latin typeface="Cambria Math" panose="02040503050406030204" pitchFamily="18" charset="0"/>
                              <a:ea typeface="宋体" panose="02010600030101010101" pitchFamily="2" charset="-122"/>
                              <a:cs typeface="Times New Roman (正文 CS 字体)"/>
                            </a:rPr>
                            <m:t>180</m:t>
                          </m:r>
                        </m:num>
                        <m:den>
                          <m:r>
                            <a:rPr lang="en-US" altLang="zh-CN" sz="2400" i="1">
                              <a:effectLst/>
                              <a:latin typeface="Cambria Math" panose="02040503050406030204" pitchFamily="18" charset="0"/>
                              <a:ea typeface="宋体" panose="02010600030101010101" pitchFamily="2" charset="-122"/>
                              <a:cs typeface="Times New Roman (正文 CS 字体)"/>
                            </a:rPr>
                            <m:t>11</m:t>
                          </m:r>
                          <m:r>
                            <m:rPr>
                              <m:sty m:val="p"/>
                            </m:rPr>
                            <a:rPr lang="en-US" altLang="zh-CN" sz="2400">
                              <a:effectLst/>
                              <a:latin typeface="Cambria Math" panose="02040503050406030204" pitchFamily="18" charset="0"/>
                              <a:ea typeface="宋体" panose="02010600030101010101" pitchFamily="2" charset="-122"/>
                              <a:cs typeface="Times New Roman (正文 CS 字体)"/>
                            </a:rPr>
                            <m:t>π</m:t>
                          </m:r>
                        </m:den>
                      </m:f>
                      <m:r>
                        <a:rPr lang="en-US" altLang="zh-CN" sz="2400" i="1">
                          <a:effectLst/>
                          <a:latin typeface="Cambria Math" panose="02040503050406030204" pitchFamily="18" charset="0"/>
                          <a:ea typeface="宋体" panose="02010600030101010101" pitchFamily="2" charset="-122"/>
                          <a:cs typeface="Times New Roman (正文 CS 字体)"/>
                        </a:rPr>
                        <m:t>=5.21</m:t>
                      </m:r>
                      <m:d>
                        <m:dPr>
                          <m:ctrlPr>
                            <a:rPr lang="zh-CN" altLang="zh-CN" sz="2400" i="1">
                              <a:effectLst/>
                              <a:latin typeface="Cambria Math" panose="02040503050406030204" pitchFamily="18" charset="0"/>
                              <a:ea typeface="Cambria Math" panose="02040503050406030204" pitchFamily="18" charset="0"/>
                              <a:cs typeface="Times New Roman (正文 CS 字体)"/>
                            </a:rPr>
                          </m:ctrlPr>
                        </m:dPr>
                        <m:e>
                          <m:r>
                            <a:rPr lang="en-US" altLang="zh-CN" sz="2400" i="1">
                              <a:effectLst/>
                              <a:latin typeface="Cambria Math" panose="02040503050406030204" pitchFamily="18" charset="0"/>
                              <a:ea typeface="宋体" panose="02010600030101010101" pitchFamily="2" charset="-122"/>
                              <a:cs typeface="Times New Roman (正文 CS 字体)"/>
                            </a:rPr>
                            <m:t>𝑉</m:t>
                          </m:r>
                          <m:r>
                            <m:rPr>
                              <m:lit/>
                            </m:rPr>
                            <a:rPr lang="en-US" altLang="zh-CN" sz="2400" i="1">
                              <a:effectLst/>
                              <a:latin typeface="Cambria Math" panose="02040503050406030204" pitchFamily="18" charset="0"/>
                              <a:ea typeface="宋体" panose="02010600030101010101" pitchFamily="2" charset="-122"/>
                              <a:cs typeface="Times New Roman (正文 CS 字体)"/>
                            </a:rPr>
                            <m:t>/</m:t>
                          </m:r>
                          <m:r>
                            <m:rPr>
                              <m:nor/>
                            </m:rPr>
                            <a:rPr lang="en-US" altLang="zh-CN" sz="2400">
                              <a:effectLst/>
                              <a:latin typeface="Cambria Math" panose="02040503050406030204" pitchFamily="18" charset="0"/>
                              <a:ea typeface="宋体" panose="02010600030101010101" pitchFamily="2" charset="-122"/>
                              <a:cs typeface="Times New Roman (正文 CS 字体)"/>
                            </a:rPr>
                            <m:t>rad</m:t>
                          </m:r>
                        </m:e>
                      </m:d>
                    </m:oMath>
                  </m:oMathPara>
                </a14:m>
                <a:endParaRPr lang="zh-CN" altLang="zh-CN" sz="2400" dirty="0">
                  <a:effectLst/>
                  <a:latin typeface="Times New Roman" panose="02020603050405020304" pitchFamily="18" charset="0"/>
                  <a:ea typeface="宋体" panose="02010600030101010101" pitchFamily="2" charset="-122"/>
                  <a:cs typeface="Times New Roman (正文 CS 字体)"/>
                </a:endParaRPr>
              </a:p>
              <a:p>
                <a:pPr indent="304800"/>
                <a14:m>
                  <m:oMathPara xmlns:m="http://schemas.openxmlformats.org/officeDocument/2006/math">
                    <m:oMathParaPr>
                      <m:jc m:val="centerGroup"/>
                    </m:oMathParaPr>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cs typeface="Times New Roman (正文 CS 字体)"/>
                            </a:rPr>
                          </m:ctrlPr>
                        </m:sSubPr>
                        <m:e>
                          <m:r>
                            <a:rPr lang="en-US" altLang="zh-CN" sz="2400" i="1">
                              <a:effectLst/>
                              <a:latin typeface="Cambria Math" panose="02040503050406030204" pitchFamily="18" charset="0"/>
                              <a:ea typeface="宋体" panose="02010600030101010101" pitchFamily="2" charset="-122"/>
                              <a:cs typeface="Times New Roman (正文 CS 字体)"/>
                            </a:rPr>
                            <m:t>𝐾</m:t>
                          </m:r>
                        </m:e>
                        <m:sub>
                          <m:r>
                            <a:rPr lang="en-US" altLang="zh-CN" sz="2400" i="1">
                              <a:effectLst/>
                              <a:latin typeface="Cambria Math" panose="02040503050406030204" pitchFamily="18" charset="0"/>
                              <a:ea typeface="宋体" panose="02010600030101010101" pitchFamily="2" charset="-122"/>
                              <a:cs typeface="Times New Roman (正文 CS 字体)"/>
                            </a:rPr>
                            <m:t>1</m:t>
                          </m:r>
                        </m:sub>
                      </m:sSub>
                      <m:r>
                        <a:rPr lang="en-US" altLang="zh-CN" sz="2400" i="1">
                          <a:effectLst/>
                          <a:latin typeface="Cambria Math" panose="02040503050406030204" pitchFamily="18" charset="0"/>
                          <a:ea typeface="宋体" panose="02010600030101010101" pitchFamily="2" charset="-122"/>
                          <a:cs typeface="Times New Roman (正文 CS 字体)"/>
                        </a:rPr>
                        <m:t>=</m:t>
                      </m:r>
                      <m:f>
                        <m:fPr>
                          <m:ctrlPr>
                            <a:rPr lang="zh-CN" altLang="zh-CN" sz="2400" i="1">
                              <a:effectLst/>
                              <a:latin typeface="Cambria Math" panose="02040503050406030204" pitchFamily="18" charset="0"/>
                              <a:ea typeface="Cambria Math" panose="02040503050406030204" pitchFamily="18" charset="0"/>
                              <a:cs typeface="Times New Roman (正文 CS 字体)"/>
                            </a:rPr>
                          </m:ctrlPr>
                        </m:fPr>
                        <m:num>
                          <m:r>
                            <a:rPr lang="en-US" altLang="zh-CN" sz="2400" i="1">
                              <a:effectLst/>
                              <a:latin typeface="Cambria Math" panose="02040503050406030204" pitchFamily="18" charset="0"/>
                              <a:ea typeface="宋体" panose="02010600030101010101" pitchFamily="2" charset="-122"/>
                              <a:cs typeface="Times New Roman (正文 CS 字体)"/>
                            </a:rPr>
                            <m:t>30</m:t>
                          </m:r>
                          <m:r>
                            <a:rPr lang="zh-CN" altLang="zh-CN" sz="2400">
                              <a:effectLst/>
                              <a:latin typeface="Cambria Math" panose="02040503050406030204" pitchFamily="18" charset="0"/>
                              <a:ea typeface="宋体" panose="02010600030101010101" pitchFamily="2" charset="-122"/>
                              <a:cs typeface="Times New Roman (正文 CS 字体)"/>
                            </a:rPr>
                            <m:t>×</m:t>
                          </m:r>
                          <m:sSup>
                            <m:sSupPr>
                              <m:ctrlPr>
                                <a:rPr lang="zh-CN" altLang="zh-CN" sz="2400" i="1">
                                  <a:effectLst/>
                                  <a:latin typeface="Cambria Math" panose="02040503050406030204" pitchFamily="18" charset="0"/>
                                  <a:ea typeface="Cambria Math" panose="02040503050406030204" pitchFamily="18" charset="0"/>
                                  <a:cs typeface="Times New Roman (正文 CS 字体)"/>
                                </a:rPr>
                              </m:ctrlPr>
                            </m:sSupPr>
                            <m:e>
                              <m:r>
                                <a:rPr lang="en-US" altLang="zh-CN" sz="2400" i="1">
                                  <a:effectLst/>
                                  <a:latin typeface="Cambria Math" panose="02040503050406030204" pitchFamily="18" charset="0"/>
                                  <a:ea typeface="宋体" panose="02010600030101010101" pitchFamily="2" charset="-122"/>
                                  <a:cs typeface="Times New Roman (正文 CS 字体)"/>
                                </a:rPr>
                                <m:t>10</m:t>
                              </m:r>
                            </m:e>
                            <m:sup>
                              <m:r>
                                <a:rPr lang="en-US" altLang="zh-CN" sz="2400" i="1">
                                  <a:effectLst/>
                                  <a:latin typeface="Cambria Math" panose="02040503050406030204" pitchFamily="18" charset="0"/>
                                  <a:ea typeface="宋体" panose="02010600030101010101" pitchFamily="2" charset="-122"/>
                                  <a:cs typeface="Times New Roman (正文 CS 字体)"/>
                                </a:rPr>
                                <m:t>3</m:t>
                              </m:r>
                            </m:sup>
                          </m:sSup>
                        </m:num>
                        <m:den>
                          <m:r>
                            <a:rPr lang="en-US" altLang="zh-CN" sz="2400" i="1">
                              <a:effectLst/>
                              <a:latin typeface="Cambria Math" panose="02040503050406030204" pitchFamily="18" charset="0"/>
                              <a:ea typeface="宋体" panose="02010600030101010101" pitchFamily="2" charset="-122"/>
                              <a:cs typeface="Times New Roman (正文 CS 字体)"/>
                            </a:rPr>
                            <m:t>10</m:t>
                          </m:r>
                          <m:r>
                            <a:rPr lang="zh-CN" altLang="zh-CN" sz="2400">
                              <a:effectLst/>
                              <a:latin typeface="Cambria Math" panose="02040503050406030204" pitchFamily="18" charset="0"/>
                              <a:ea typeface="宋体" panose="02010600030101010101" pitchFamily="2" charset="-122"/>
                              <a:cs typeface="Times New Roman (正文 CS 字体)"/>
                            </a:rPr>
                            <m:t>×</m:t>
                          </m:r>
                          <m:sSup>
                            <m:sSupPr>
                              <m:ctrlPr>
                                <a:rPr lang="zh-CN" altLang="zh-CN" sz="2400" i="1">
                                  <a:effectLst/>
                                  <a:latin typeface="Cambria Math" panose="02040503050406030204" pitchFamily="18" charset="0"/>
                                  <a:ea typeface="Cambria Math" panose="02040503050406030204" pitchFamily="18" charset="0"/>
                                  <a:cs typeface="Times New Roman (正文 CS 字体)"/>
                                </a:rPr>
                              </m:ctrlPr>
                            </m:sSupPr>
                            <m:e>
                              <m:r>
                                <a:rPr lang="en-US" altLang="zh-CN" sz="2400" i="1">
                                  <a:effectLst/>
                                  <a:latin typeface="Cambria Math" panose="02040503050406030204" pitchFamily="18" charset="0"/>
                                  <a:ea typeface="宋体" panose="02010600030101010101" pitchFamily="2" charset="-122"/>
                                  <a:cs typeface="Times New Roman (正文 CS 字体)"/>
                                </a:rPr>
                                <m:t>10</m:t>
                              </m:r>
                            </m:e>
                            <m:sup>
                              <m:r>
                                <a:rPr lang="en-US" altLang="zh-CN" sz="2400" i="1">
                                  <a:effectLst/>
                                  <a:latin typeface="Cambria Math" panose="02040503050406030204" pitchFamily="18" charset="0"/>
                                  <a:ea typeface="宋体" panose="02010600030101010101" pitchFamily="2" charset="-122"/>
                                  <a:cs typeface="Times New Roman (正文 CS 字体)"/>
                                </a:rPr>
                                <m:t>3</m:t>
                              </m:r>
                            </m:sup>
                          </m:sSup>
                        </m:den>
                      </m:f>
                      <m:r>
                        <a:rPr lang="en-US" altLang="zh-CN" sz="2400" i="1">
                          <a:effectLst/>
                          <a:latin typeface="Cambria Math" panose="02040503050406030204" pitchFamily="18" charset="0"/>
                          <a:ea typeface="宋体" panose="02010600030101010101" pitchFamily="2" charset="-122"/>
                          <a:cs typeface="Times New Roman (正文 CS 字体)"/>
                        </a:rPr>
                        <m:t>=3,</m:t>
                      </m:r>
                      <m:sSub>
                        <m:sSubPr>
                          <m:ctrlPr>
                            <a:rPr lang="zh-CN" altLang="zh-CN" sz="2400" i="1">
                              <a:effectLst/>
                              <a:latin typeface="Cambria Math" panose="02040503050406030204" pitchFamily="18" charset="0"/>
                              <a:ea typeface="Cambria Math" panose="02040503050406030204" pitchFamily="18" charset="0"/>
                              <a:cs typeface="Times New Roman (正文 CS 字体)"/>
                            </a:rPr>
                          </m:ctrlPr>
                        </m:sSubPr>
                        <m:e>
                          <m:r>
                            <a:rPr lang="en-US" altLang="zh-CN" sz="2400" i="1">
                              <a:effectLst/>
                              <a:latin typeface="Cambria Math" panose="02040503050406030204" pitchFamily="18" charset="0"/>
                              <a:ea typeface="宋体" panose="02010600030101010101" pitchFamily="2" charset="-122"/>
                              <a:cs typeface="Times New Roman (正文 CS 字体)"/>
                            </a:rPr>
                            <m:t>𝐾</m:t>
                          </m:r>
                        </m:e>
                        <m:sub>
                          <m:r>
                            <a:rPr lang="en-US" altLang="zh-CN" sz="2400" i="1">
                              <a:effectLst/>
                              <a:latin typeface="Cambria Math" panose="02040503050406030204" pitchFamily="18" charset="0"/>
                              <a:ea typeface="宋体" panose="02010600030101010101" pitchFamily="2" charset="-122"/>
                              <a:cs typeface="Times New Roman (正文 CS 字体)"/>
                            </a:rPr>
                            <m:t>2</m:t>
                          </m:r>
                        </m:sub>
                      </m:sSub>
                      <m:r>
                        <a:rPr lang="en-US" altLang="zh-CN" sz="2400" i="1">
                          <a:effectLst/>
                          <a:latin typeface="Cambria Math" panose="02040503050406030204" pitchFamily="18" charset="0"/>
                          <a:ea typeface="宋体" panose="02010600030101010101" pitchFamily="2" charset="-122"/>
                          <a:cs typeface="Times New Roman (正文 CS 字体)"/>
                        </a:rPr>
                        <m:t>=</m:t>
                      </m:r>
                      <m:f>
                        <m:fPr>
                          <m:ctrlPr>
                            <a:rPr lang="zh-CN" altLang="zh-CN" sz="2400" i="1">
                              <a:effectLst/>
                              <a:latin typeface="Cambria Math" panose="02040503050406030204" pitchFamily="18" charset="0"/>
                              <a:ea typeface="Cambria Math" panose="02040503050406030204" pitchFamily="18" charset="0"/>
                              <a:cs typeface="Times New Roman (正文 CS 字体)"/>
                            </a:rPr>
                          </m:ctrlPr>
                        </m:fPr>
                        <m:num>
                          <m:r>
                            <a:rPr lang="en-US" altLang="zh-CN" sz="2400" i="1">
                              <a:effectLst/>
                              <a:latin typeface="Cambria Math" panose="02040503050406030204" pitchFamily="18" charset="0"/>
                              <a:ea typeface="宋体" panose="02010600030101010101" pitchFamily="2" charset="-122"/>
                              <a:cs typeface="Times New Roman (正文 CS 字体)"/>
                            </a:rPr>
                            <m:t>20</m:t>
                          </m:r>
                          <m:r>
                            <a:rPr lang="zh-CN" altLang="zh-CN" sz="2400">
                              <a:effectLst/>
                              <a:latin typeface="Cambria Math" panose="02040503050406030204" pitchFamily="18" charset="0"/>
                              <a:ea typeface="宋体" panose="02010600030101010101" pitchFamily="2" charset="-122"/>
                              <a:cs typeface="Times New Roman (正文 CS 字体)"/>
                            </a:rPr>
                            <m:t>×</m:t>
                          </m:r>
                          <m:sSup>
                            <m:sSupPr>
                              <m:ctrlPr>
                                <a:rPr lang="zh-CN" altLang="zh-CN" sz="2400" i="1">
                                  <a:effectLst/>
                                  <a:latin typeface="Cambria Math" panose="02040503050406030204" pitchFamily="18" charset="0"/>
                                  <a:ea typeface="Cambria Math" panose="02040503050406030204" pitchFamily="18" charset="0"/>
                                  <a:cs typeface="Times New Roman (正文 CS 字体)"/>
                                </a:rPr>
                              </m:ctrlPr>
                            </m:sSupPr>
                            <m:e>
                              <m:r>
                                <a:rPr lang="en-US" altLang="zh-CN" sz="2400" i="1">
                                  <a:effectLst/>
                                  <a:latin typeface="Cambria Math" panose="02040503050406030204" pitchFamily="18" charset="0"/>
                                  <a:ea typeface="宋体" panose="02010600030101010101" pitchFamily="2" charset="-122"/>
                                  <a:cs typeface="Times New Roman (正文 CS 字体)"/>
                                </a:rPr>
                                <m:t>10</m:t>
                              </m:r>
                            </m:e>
                            <m:sup>
                              <m:r>
                                <a:rPr lang="en-US" altLang="zh-CN" sz="2400" i="1">
                                  <a:effectLst/>
                                  <a:latin typeface="Cambria Math" panose="02040503050406030204" pitchFamily="18" charset="0"/>
                                  <a:ea typeface="宋体" panose="02010600030101010101" pitchFamily="2" charset="-122"/>
                                  <a:cs typeface="Times New Roman (正文 CS 字体)"/>
                                </a:rPr>
                                <m:t>3</m:t>
                              </m:r>
                            </m:sup>
                          </m:sSup>
                        </m:num>
                        <m:den>
                          <m:r>
                            <a:rPr lang="en-US" altLang="zh-CN" sz="2400" i="1">
                              <a:effectLst/>
                              <a:latin typeface="Cambria Math" panose="02040503050406030204" pitchFamily="18" charset="0"/>
                              <a:ea typeface="宋体" panose="02010600030101010101" pitchFamily="2" charset="-122"/>
                              <a:cs typeface="Times New Roman (正文 CS 字体)"/>
                            </a:rPr>
                            <m:t>10</m:t>
                          </m:r>
                          <m:r>
                            <a:rPr lang="zh-CN" altLang="zh-CN" sz="2400">
                              <a:effectLst/>
                              <a:latin typeface="Cambria Math" panose="02040503050406030204" pitchFamily="18" charset="0"/>
                              <a:ea typeface="宋体" panose="02010600030101010101" pitchFamily="2" charset="-122"/>
                              <a:cs typeface="Times New Roman (正文 CS 字体)"/>
                            </a:rPr>
                            <m:t>×</m:t>
                          </m:r>
                          <m:sSup>
                            <m:sSupPr>
                              <m:ctrlPr>
                                <a:rPr lang="zh-CN" altLang="zh-CN" sz="2400" i="1">
                                  <a:effectLst/>
                                  <a:latin typeface="Cambria Math" panose="02040503050406030204" pitchFamily="18" charset="0"/>
                                  <a:ea typeface="Cambria Math" panose="02040503050406030204" pitchFamily="18" charset="0"/>
                                  <a:cs typeface="Times New Roman (正文 CS 字体)"/>
                                </a:rPr>
                              </m:ctrlPr>
                            </m:sSupPr>
                            <m:e>
                              <m:r>
                                <a:rPr lang="en-US" altLang="zh-CN" sz="2400" i="1">
                                  <a:effectLst/>
                                  <a:latin typeface="Cambria Math" panose="02040503050406030204" pitchFamily="18" charset="0"/>
                                  <a:ea typeface="宋体" panose="02010600030101010101" pitchFamily="2" charset="-122"/>
                                  <a:cs typeface="Times New Roman (正文 CS 字体)"/>
                                </a:rPr>
                                <m:t>10</m:t>
                              </m:r>
                            </m:e>
                            <m:sup>
                              <m:r>
                                <a:rPr lang="en-US" altLang="zh-CN" sz="2400" i="1">
                                  <a:effectLst/>
                                  <a:latin typeface="Cambria Math" panose="02040503050406030204" pitchFamily="18" charset="0"/>
                                  <a:ea typeface="宋体" panose="02010600030101010101" pitchFamily="2" charset="-122"/>
                                  <a:cs typeface="Times New Roman (正文 CS 字体)"/>
                                </a:rPr>
                                <m:t>3</m:t>
                              </m:r>
                            </m:sup>
                          </m:sSup>
                        </m:den>
                      </m:f>
                      <m:r>
                        <a:rPr lang="en-US" altLang="zh-CN" sz="2400" i="1">
                          <a:effectLst/>
                          <a:latin typeface="Cambria Math" panose="02040503050406030204" pitchFamily="18" charset="0"/>
                          <a:ea typeface="宋体" panose="02010600030101010101" pitchFamily="2" charset="-122"/>
                          <a:cs typeface="Times New Roman (正文 CS 字体)"/>
                        </a:rPr>
                        <m:t>=2</m:t>
                      </m:r>
                    </m:oMath>
                  </m:oMathPara>
                </a14:m>
                <a:endParaRPr lang="zh-CN" altLang="zh-CN" sz="2400" dirty="0">
                  <a:effectLst/>
                  <a:latin typeface="Times New Roman" panose="02020603050405020304" pitchFamily="18" charset="0"/>
                  <a:ea typeface="宋体" panose="02010600030101010101" pitchFamily="2" charset="-122"/>
                  <a:cs typeface="Times New Roman (正文 CS 字体)"/>
                </a:endParaRPr>
              </a:p>
            </p:txBody>
          </p:sp>
        </mc:Choice>
        <mc:Fallback xmlns="">
          <p:sp>
            <p:nvSpPr>
              <p:cNvPr id="4" name="文本框 3">
                <a:extLst>
                  <a:ext uri="{FF2B5EF4-FFF2-40B4-BE49-F238E27FC236}">
                    <a16:creationId xmlns:a16="http://schemas.microsoft.com/office/drawing/2014/main" id="{BC10EDCF-AA02-7736-E110-1BCF4C0CBAD3}"/>
                  </a:ext>
                </a:extLst>
              </p:cNvPr>
              <p:cNvSpPr txBox="1">
                <a:spLocks noRot="1" noChangeAspect="1" noMove="1" noResize="1" noEditPoints="1" noAdjustHandles="1" noChangeArrowheads="1" noChangeShapeType="1" noTextEdit="1"/>
              </p:cNvSpPr>
              <p:nvPr/>
            </p:nvSpPr>
            <p:spPr>
              <a:xfrm>
                <a:off x="2350790" y="4647723"/>
                <a:ext cx="7248128" cy="2130711"/>
              </a:xfrm>
              <a:prstGeom prst="rect">
                <a:avLst/>
              </a:prstGeom>
              <a:blipFill>
                <a:blip r:embed="rId4"/>
                <a:stretch>
                  <a:fillRect t="-2959" b="-177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9265985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985883-CB7B-FC27-F6A4-F4371375BAF5}"/>
            </a:ext>
          </a:extLst>
        </p:cNvPr>
        <p:cNvGrpSpPr/>
        <p:nvPr/>
      </p:nvGrpSpPr>
      <p:grpSpPr>
        <a:xfrm>
          <a:off x="0" y="0"/>
          <a:ext cx="0" cy="0"/>
          <a:chOff x="0" y="0"/>
          <a:chExt cx="0" cy="0"/>
        </a:xfrm>
      </p:grpSpPr>
      <p:sp>
        <p:nvSpPr>
          <p:cNvPr id="45" name="标题">
            <a:extLst>
              <a:ext uri="{FF2B5EF4-FFF2-40B4-BE49-F238E27FC236}">
                <a16:creationId xmlns:a16="http://schemas.microsoft.com/office/drawing/2014/main" id="{3D83242A-3C8B-C7E0-83C6-46A81DDF4723}"/>
              </a:ext>
            </a:extLst>
          </p:cNvPr>
          <p:cNvSpPr txBox="1"/>
          <p:nvPr/>
        </p:nvSpPr>
        <p:spPr>
          <a:xfrm>
            <a:off x="614452" y="332656"/>
            <a:ext cx="4261118"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位置随动系统建模</a:t>
            </a:r>
          </a:p>
        </p:txBody>
      </p:sp>
      <p:pic>
        <p:nvPicPr>
          <p:cNvPr id="5121" name="图片 1">
            <a:extLst>
              <a:ext uri="{FF2B5EF4-FFF2-40B4-BE49-F238E27FC236}">
                <a16:creationId xmlns:a16="http://schemas.microsoft.com/office/drawing/2014/main" id="{859B6512-3997-1A30-4E48-C504556CDC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116" y="1340768"/>
            <a:ext cx="5620469" cy="2608267"/>
          </a:xfrm>
          <a:prstGeom prst="rect">
            <a:avLst/>
          </a:prstGeom>
          <a:noFill/>
          <a:extLst>
            <a:ext uri="{909E8E84-426E-40DD-AFC4-6F175D3DCCD1}">
              <a14:hiddenFill xmlns:a14="http://schemas.microsoft.com/office/drawing/2010/main">
                <a:solidFill>
                  <a:srgbClr val="FFFFFF"/>
                </a:solidFill>
              </a14:hiddenFill>
            </a:ext>
          </a:extLst>
        </p:spPr>
      </p:pic>
      <p:pic>
        <p:nvPicPr>
          <p:cNvPr id="7169" name="图片 1">
            <a:extLst>
              <a:ext uri="{FF2B5EF4-FFF2-40B4-BE49-F238E27FC236}">
                <a16:creationId xmlns:a16="http://schemas.microsoft.com/office/drawing/2014/main" id="{34B86BD0-FDFD-766E-E71F-DADE006DC0F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54431" y="4550061"/>
            <a:ext cx="7272808" cy="195326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C171C9AC-6F14-48EA-6461-8FE4416BFEDA}"/>
                  </a:ext>
                </a:extLst>
              </p:cNvPr>
              <p:cNvSpPr txBox="1"/>
              <p:nvPr/>
            </p:nvSpPr>
            <p:spPr>
              <a:xfrm>
                <a:off x="6144344" y="332656"/>
                <a:ext cx="5813953" cy="4225580"/>
              </a:xfrm>
              <a:prstGeom prst="rect">
                <a:avLst/>
              </a:prstGeom>
              <a:noFill/>
            </p:spPr>
            <p:txBody>
              <a:bodyPr wrap="square">
                <a:spAutoFit/>
              </a:bodyPr>
              <a:lstStyle/>
              <a:p>
                <a:pPr indent="304800"/>
                <a:r>
                  <a:rPr lang="en-US" altLang="zh-CN" sz="2400" dirty="0">
                    <a:effectLst/>
                    <a:latin typeface="+mn-ea"/>
                    <a:cs typeface="Times New Roman (正文 CS 字体)"/>
                  </a:rPr>
                  <a:t>(2) </a:t>
                </a:r>
                <a:r>
                  <a:rPr lang="zh-CN" altLang="zh-CN" sz="2400" dirty="0">
                    <a:effectLst/>
                    <a:latin typeface="+mn-ea"/>
                    <a:cs typeface="Times New Roman (正文 CS 字体)"/>
                  </a:rPr>
                  <a:t>系统结构图。假设电动机的时间常数为</a:t>
                </a:r>
                <a14:m>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𝑇</m:t>
                        </m:r>
                      </m:e>
                      <m:sub>
                        <m:r>
                          <a:rPr lang="en-US" altLang="zh-CN" sz="2400" i="1">
                            <a:effectLst/>
                            <a:latin typeface="Cambria Math" panose="02040503050406030204" pitchFamily="18" charset="0"/>
                            <a:cs typeface="Times New Roman (正文 CS 字体)"/>
                          </a:rPr>
                          <m:t>𝑚</m:t>
                        </m:r>
                      </m:sub>
                    </m:sSub>
                  </m:oMath>
                </a14:m>
                <a:r>
                  <a:rPr lang="zh-CN" altLang="zh-CN" sz="2400" dirty="0">
                    <a:effectLst/>
                    <a:latin typeface="+mn-ea"/>
                    <a:cs typeface="Times New Roman (正文 CS 字体)"/>
                  </a:rPr>
                  <a:t>，可得直流电动机的传递函数（忽略电枢电感的影响）</a:t>
                </a:r>
              </a:p>
              <a:p>
                <a:pPr indent="304800"/>
                <a14:m>
                  <m:oMathPara xmlns:m="http://schemas.openxmlformats.org/officeDocument/2006/math">
                    <m:oMathParaPr>
                      <m:jc m:val="centerGroup"/>
                    </m:oMathParaPr>
                    <m:oMath xmlns:m="http://schemas.openxmlformats.org/officeDocument/2006/math">
                      <m:f>
                        <m:fPr>
                          <m:ctrlPr>
                            <a:rPr lang="zh-CN" altLang="zh-CN" sz="2400" i="1">
                              <a:effectLst/>
                              <a:latin typeface="Cambria Math" panose="02040503050406030204" pitchFamily="18" charset="0"/>
                              <a:cs typeface="Times New Roman (正文 CS 字体)"/>
                            </a:rPr>
                          </m:ctrlPr>
                        </m:fPr>
                        <m:num>
                          <m:r>
                            <a:rPr lang="en-US" altLang="zh-CN" sz="2400" i="1">
                              <a:effectLst/>
                              <a:latin typeface="Cambria Math" panose="02040503050406030204" pitchFamily="18" charset="0"/>
                              <a:cs typeface="Times New Roman (正文 CS 字体)"/>
                            </a:rPr>
                            <m:t>𝛺</m:t>
                          </m:r>
                          <m:d>
                            <m:dPr>
                              <m:ctrlPr>
                                <a:rPr lang="zh-CN" altLang="zh-CN" sz="2400" i="1">
                                  <a:effectLst/>
                                  <a:latin typeface="Cambria Math" panose="02040503050406030204" pitchFamily="18" charset="0"/>
                                  <a:cs typeface="Times New Roman (正文 CS 字体)"/>
                                </a:rPr>
                              </m:ctrlPr>
                            </m:dPr>
                            <m:e>
                              <m:r>
                                <a:rPr lang="en-US" altLang="zh-CN" sz="2400" i="1">
                                  <a:effectLst/>
                                  <a:latin typeface="Cambria Math" panose="02040503050406030204" pitchFamily="18" charset="0"/>
                                  <a:cs typeface="Times New Roman (正文 CS 字体)"/>
                                </a:rPr>
                                <m:t>𝑠</m:t>
                              </m:r>
                            </m:e>
                          </m:d>
                        </m:num>
                        <m:den>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𝑈</m:t>
                              </m:r>
                            </m:e>
                            <m:sub>
                              <m:r>
                                <a:rPr lang="en-US" altLang="zh-CN" sz="2400" i="1">
                                  <a:effectLst/>
                                  <a:latin typeface="Cambria Math" panose="02040503050406030204" pitchFamily="18" charset="0"/>
                                  <a:cs typeface="Times New Roman (正文 CS 字体)"/>
                                </a:rPr>
                                <m:t>𝑎</m:t>
                              </m:r>
                            </m:sub>
                          </m:sSub>
                          <m:d>
                            <m:dPr>
                              <m:ctrlPr>
                                <a:rPr lang="zh-CN" altLang="zh-CN" sz="2400" i="1">
                                  <a:effectLst/>
                                  <a:latin typeface="Cambria Math" panose="02040503050406030204" pitchFamily="18" charset="0"/>
                                  <a:cs typeface="Times New Roman (正文 CS 字体)"/>
                                </a:rPr>
                              </m:ctrlPr>
                            </m:dPr>
                            <m:e>
                              <m:r>
                                <a:rPr lang="en-US" altLang="zh-CN" sz="2400" i="1">
                                  <a:effectLst/>
                                  <a:latin typeface="Cambria Math" panose="02040503050406030204" pitchFamily="18" charset="0"/>
                                  <a:cs typeface="Times New Roman (正文 CS 字体)"/>
                                </a:rPr>
                                <m:t>𝑠</m:t>
                              </m:r>
                            </m:e>
                          </m:d>
                        </m:den>
                      </m:f>
                      <m:r>
                        <a:rPr lang="en-US" altLang="zh-CN" sz="2400" i="1">
                          <a:effectLst/>
                          <a:latin typeface="Cambria Math" panose="02040503050406030204" pitchFamily="18" charset="0"/>
                          <a:cs typeface="Times New Roman (正文 CS 字体)"/>
                        </a:rPr>
                        <m:t>=</m:t>
                      </m:r>
                      <m:f>
                        <m:fPr>
                          <m:ctrlPr>
                            <a:rPr lang="zh-CN" altLang="zh-CN" sz="2400" i="1">
                              <a:effectLst/>
                              <a:latin typeface="Cambria Math" panose="02040503050406030204" pitchFamily="18" charset="0"/>
                              <a:cs typeface="Times New Roman (正文 CS 字体)"/>
                            </a:rPr>
                          </m:ctrlPr>
                        </m:fPr>
                        <m:num>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𝑚</m:t>
                              </m:r>
                            </m:sub>
                          </m:sSub>
                        </m:num>
                        <m:den>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𝑇</m:t>
                              </m:r>
                            </m:e>
                            <m:sub>
                              <m:r>
                                <a:rPr lang="en-US" altLang="zh-CN" sz="2400" i="1">
                                  <a:effectLst/>
                                  <a:latin typeface="Cambria Math" panose="02040503050406030204" pitchFamily="18" charset="0"/>
                                  <a:cs typeface="Times New Roman (正文 CS 字体)"/>
                                </a:rPr>
                                <m:t>𝑚</m:t>
                              </m:r>
                            </m:sub>
                          </m:sSub>
                          <m:r>
                            <a:rPr lang="en-US" altLang="zh-CN" sz="2400" i="1">
                              <a:effectLst/>
                              <a:latin typeface="Cambria Math" panose="02040503050406030204" pitchFamily="18" charset="0"/>
                              <a:cs typeface="Times New Roman (正文 CS 字体)"/>
                            </a:rPr>
                            <m:t>𝑠</m:t>
                          </m:r>
                          <m:r>
                            <a:rPr lang="en-US" altLang="zh-CN" sz="2400" i="1">
                              <a:effectLst/>
                              <a:latin typeface="Cambria Math" panose="02040503050406030204" pitchFamily="18" charset="0"/>
                              <a:cs typeface="Times New Roman (正文 CS 字体)"/>
                            </a:rPr>
                            <m:t>+1</m:t>
                          </m:r>
                        </m:den>
                      </m:f>
                    </m:oMath>
                  </m:oMathPara>
                </a14:m>
                <a:endParaRPr lang="zh-CN" altLang="zh-CN" sz="2400" dirty="0">
                  <a:effectLst/>
                  <a:latin typeface="+mn-ea"/>
                  <a:cs typeface="Times New Roman (正文 CS 字体)"/>
                </a:endParaRPr>
              </a:p>
              <a:p>
                <a:pPr indent="304800"/>
                <a:r>
                  <a:rPr lang="zh-CN" altLang="zh-CN" sz="2400" dirty="0">
                    <a:effectLst/>
                    <a:latin typeface="+mn-ea"/>
                    <a:cs typeface="Times New Roman (正文 CS 字体)"/>
                  </a:rPr>
                  <a:t>其中 </a:t>
                </a:r>
                <a14:m>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𝑚</m:t>
                        </m:r>
                      </m:sub>
                    </m:sSub>
                  </m:oMath>
                </a14:m>
                <a:r>
                  <a:rPr lang="zh-CN" altLang="zh-CN" sz="2400" dirty="0">
                    <a:effectLst/>
                    <a:latin typeface="+mn-ea"/>
                    <a:cs typeface="Times New Roman (正文 CS 字体)"/>
                  </a:rPr>
                  <a:t>为直流电动机的传递系数。假设测速发电机的斜率为</a:t>
                </a:r>
                <a14:m>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𝑡</m:t>
                        </m:r>
                      </m:sub>
                    </m:sSub>
                  </m:oMath>
                </a14:m>
                <a:r>
                  <a:rPr lang="zh-CN" altLang="zh-CN" sz="2400" dirty="0">
                    <a:effectLst/>
                    <a:latin typeface="+mn-ea"/>
                    <a:cs typeface="Times New Roman (正文 CS 字体)"/>
                  </a:rPr>
                  <a:t>，则其传递函数为</a:t>
                </a:r>
              </a:p>
              <a:p>
                <a:pPr indent="304800"/>
                <a14:m>
                  <m:oMathPara xmlns:m="http://schemas.openxmlformats.org/officeDocument/2006/math">
                    <m:oMathParaPr>
                      <m:jc m:val="centerGroup"/>
                    </m:oMathParaPr>
                    <m:oMath xmlns:m="http://schemas.openxmlformats.org/officeDocument/2006/math">
                      <m:f>
                        <m:fPr>
                          <m:ctrlPr>
                            <a:rPr lang="zh-CN" altLang="zh-CN" sz="2400" i="1">
                              <a:effectLst/>
                              <a:latin typeface="Cambria Math" panose="02040503050406030204" pitchFamily="18" charset="0"/>
                              <a:cs typeface="Times New Roman (正文 CS 字体)"/>
                            </a:rPr>
                          </m:ctrlPr>
                        </m:fPr>
                        <m:num>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𝑈</m:t>
                              </m:r>
                            </m:e>
                            <m:sub>
                              <m:r>
                                <a:rPr lang="en-US" altLang="zh-CN" sz="2400" i="1">
                                  <a:effectLst/>
                                  <a:latin typeface="Cambria Math" panose="02040503050406030204" pitchFamily="18" charset="0"/>
                                  <a:cs typeface="Times New Roman (正文 CS 字体)"/>
                                </a:rPr>
                                <m:t>𝑡</m:t>
                              </m:r>
                            </m:sub>
                          </m:sSub>
                          <m:d>
                            <m:dPr>
                              <m:ctrlPr>
                                <a:rPr lang="zh-CN" altLang="zh-CN" sz="2400" i="1">
                                  <a:effectLst/>
                                  <a:latin typeface="Cambria Math" panose="02040503050406030204" pitchFamily="18" charset="0"/>
                                  <a:cs typeface="Times New Roman (正文 CS 字体)"/>
                                </a:rPr>
                              </m:ctrlPr>
                            </m:dPr>
                            <m:e>
                              <m:r>
                                <a:rPr lang="en-US" altLang="zh-CN" sz="2400" i="1">
                                  <a:effectLst/>
                                  <a:latin typeface="Cambria Math" panose="02040503050406030204" pitchFamily="18" charset="0"/>
                                  <a:cs typeface="Times New Roman (正文 CS 字体)"/>
                                </a:rPr>
                                <m:t>𝑠</m:t>
                              </m:r>
                            </m:e>
                          </m:d>
                        </m:num>
                        <m:den>
                          <m:r>
                            <a:rPr lang="en-US" altLang="zh-CN" sz="2400" i="1">
                              <a:effectLst/>
                              <a:latin typeface="Cambria Math" panose="02040503050406030204" pitchFamily="18" charset="0"/>
                              <a:cs typeface="Times New Roman (正文 CS 字体)"/>
                            </a:rPr>
                            <m:t>𝛺</m:t>
                          </m:r>
                          <m:d>
                            <m:dPr>
                              <m:ctrlPr>
                                <a:rPr lang="zh-CN" altLang="zh-CN" sz="2400" i="1">
                                  <a:effectLst/>
                                  <a:latin typeface="Cambria Math" panose="02040503050406030204" pitchFamily="18" charset="0"/>
                                  <a:cs typeface="Times New Roman (正文 CS 字体)"/>
                                </a:rPr>
                              </m:ctrlPr>
                            </m:dPr>
                            <m:e>
                              <m:r>
                                <a:rPr lang="en-US" altLang="zh-CN" sz="2400" i="1">
                                  <a:effectLst/>
                                  <a:latin typeface="Cambria Math" panose="02040503050406030204" pitchFamily="18" charset="0"/>
                                  <a:cs typeface="Times New Roman (正文 CS 字体)"/>
                                </a:rPr>
                                <m:t>𝑠</m:t>
                              </m:r>
                            </m:e>
                          </m:d>
                        </m:den>
                      </m:f>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𝑡</m:t>
                          </m:r>
                        </m:sub>
                      </m:sSub>
                    </m:oMath>
                  </m:oMathPara>
                </a14:m>
                <a:endParaRPr lang="zh-CN" altLang="zh-CN" sz="2400" dirty="0">
                  <a:effectLst/>
                  <a:latin typeface="+mn-ea"/>
                  <a:cs typeface="Times New Roman (正文 CS 字体)"/>
                </a:endParaRPr>
              </a:p>
              <a:p>
                <a:pPr indent="304800"/>
                <a:r>
                  <a:rPr lang="zh-CN" altLang="zh-CN" sz="2400" dirty="0">
                    <a:effectLst/>
                    <a:latin typeface="+mn-ea"/>
                    <a:cs typeface="Times New Roman (正文 CS 字体)"/>
                  </a:rPr>
                  <a:t>由此可见，系统的结构如下图所示。</a:t>
                </a:r>
              </a:p>
            </p:txBody>
          </p:sp>
        </mc:Choice>
        <mc:Fallback xmlns="">
          <p:sp>
            <p:nvSpPr>
              <p:cNvPr id="5" name="文本框 4">
                <a:extLst>
                  <a:ext uri="{FF2B5EF4-FFF2-40B4-BE49-F238E27FC236}">
                    <a16:creationId xmlns:a16="http://schemas.microsoft.com/office/drawing/2014/main" id="{C171C9AC-6F14-48EA-6461-8FE4416BFEDA}"/>
                  </a:ext>
                </a:extLst>
              </p:cNvPr>
              <p:cNvSpPr txBox="1">
                <a:spLocks noRot="1" noChangeAspect="1" noMove="1" noResize="1" noEditPoints="1" noAdjustHandles="1" noChangeArrowheads="1" noChangeShapeType="1" noTextEdit="1"/>
              </p:cNvSpPr>
              <p:nvPr/>
            </p:nvSpPr>
            <p:spPr>
              <a:xfrm>
                <a:off x="6144344" y="332656"/>
                <a:ext cx="5813953" cy="4225580"/>
              </a:xfrm>
              <a:prstGeom prst="rect">
                <a:avLst/>
              </a:prstGeom>
              <a:blipFill>
                <a:blip r:embed="rId5"/>
                <a:stretch>
                  <a:fillRect l="-1525" t="-1198" b="-23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71259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BE563-209E-919A-130D-41C7230D2648}"/>
            </a:ext>
          </a:extLst>
        </p:cNvPr>
        <p:cNvGrpSpPr/>
        <p:nvPr/>
      </p:nvGrpSpPr>
      <p:grpSpPr>
        <a:xfrm>
          <a:off x="0" y="0"/>
          <a:ext cx="0" cy="0"/>
          <a:chOff x="0" y="0"/>
          <a:chExt cx="0" cy="0"/>
        </a:xfrm>
      </p:grpSpPr>
      <p:sp>
        <p:nvSpPr>
          <p:cNvPr id="45" name="标题">
            <a:extLst>
              <a:ext uri="{FF2B5EF4-FFF2-40B4-BE49-F238E27FC236}">
                <a16:creationId xmlns:a16="http://schemas.microsoft.com/office/drawing/2014/main" id="{3E3EDAEE-1819-88B3-D572-20FFB8F81CC7}"/>
              </a:ext>
            </a:extLst>
          </p:cNvPr>
          <p:cNvSpPr txBox="1"/>
          <p:nvPr/>
        </p:nvSpPr>
        <p:spPr>
          <a:xfrm>
            <a:off x="614452" y="332656"/>
            <a:ext cx="4261118"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位置随动系统建模</a:t>
            </a:r>
          </a:p>
        </p:txBody>
      </p:sp>
      <p:pic>
        <p:nvPicPr>
          <p:cNvPr id="2" name="图片 1">
            <a:extLst>
              <a:ext uri="{FF2B5EF4-FFF2-40B4-BE49-F238E27FC236}">
                <a16:creationId xmlns:a16="http://schemas.microsoft.com/office/drawing/2014/main" id="{C55C6C3F-4B52-A063-2F5B-F6ED709061DD}"/>
              </a:ext>
            </a:extLst>
          </p:cNvPr>
          <p:cNvPicPr>
            <a:picLocks noChangeAspect="1"/>
          </p:cNvPicPr>
          <p:nvPr/>
        </p:nvPicPr>
        <p:blipFill>
          <a:blip r:embed="rId3"/>
          <a:stretch>
            <a:fillRect/>
          </a:stretch>
        </p:blipFill>
        <p:spPr>
          <a:xfrm>
            <a:off x="1612569" y="1647037"/>
            <a:ext cx="8965273" cy="1512168"/>
          </a:xfrm>
          <a:prstGeom prst="rect">
            <a:avLst/>
          </a:prstGeom>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6A9826A7-D83A-0C9F-5824-813ADD7997A4}"/>
                  </a:ext>
                </a:extLst>
              </p:cNvPr>
              <p:cNvSpPr txBox="1"/>
              <p:nvPr/>
            </p:nvSpPr>
            <p:spPr>
              <a:xfrm>
                <a:off x="309093" y="3697695"/>
                <a:ext cx="11881320" cy="1819537"/>
              </a:xfrm>
              <a:prstGeom prst="rect">
                <a:avLst/>
              </a:prstGeom>
              <a:noFill/>
            </p:spPr>
            <p:txBody>
              <a:bodyPr wrap="square">
                <a:spAutoFit/>
              </a:bodyPr>
              <a:lstStyle/>
              <a:p>
                <a:pPr indent="304800"/>
                <a:r>
                  <a:rPr lang="zh-CN" altLang="zh-CN" sz="2400" dirty="0">
                    <a:effectLst/>
                    <a:latin typeface="+mn-ea"/>
                    <a:cs typeface="Times New Roman (正文 CS 字体)"/>
                  </a:rPr>
                  <a:t>由简化的结构图可得系统的传递函数为</a:t>
                </a:r>
              </a:p>
              <a:p>
                <a:pPr indent="304800"/>
                <a14:m>
                  <m:oMathPara xmlns:m="http://schemas.openxmlformats.org/officeDocument/2006/math">
                    <m:oMathParaPr>
                      <m:jc m:val="centerGroup"/>
                    </m:oMathParaPr>
                    <m:oMath xmlns:m="http://schemas.openxmlformats.org/officeDocument/2006/math">
                      <m:f>
                        <m:fPr>
                          <m:ctrlPr>
                            <a:rPr lang="zh-CN" altLang="zh-CN" sz="2400" i="1">
                              <a:effectLst/>
                              <a:latin typeface="Cambria Math" panose="02040503050406030204" pitchFamily="18" charset="0"/>
                              <a:cs typeface="Times New Roman (正文 CS 字体)"/>
                            </a:rPr>
                          </m:ctrlPr>
                        </m:fPr>
                        <m:num>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𝛩</m:t>
                              </m:r>
                            </m:e>
                            <m:sub>
                              <m:r>
                                <a:rPr lang="en-US" altLang="zh-CN" sz="2400" i="1">
                                  <a:effectLst/>
                                  <a:latin typeface="Cambria Math" panose="02040503050406030204" pitchFamily="18" charset="0"/>
                                  <a:cs typeface="Times New Roman (正文 CS 字体)"/>
                                </a:rPr>
                                <m:t>𝑜</m:t>
                              </m:r>
                            </m:sub>
                          </m:sSub>
                          <m:d>
                            <m:dPr>
                              <m:ctrlPr>
                                <a:rPr lang="zh-CN" altLang="zh-CN" sz="2400" i="1">
                                  <a:effectLst/>
                                  <a:latin typeface="Cambria Math" panose="02040503050406030204" pitchFamily="18" charset="0"/>
                                  <a:cs typeface="Times New Roman (正文 CS 字体)"/>
                                </a:rPr>
                              </m:ctrlPr>
                            </m:dPr>
                            <m:e>
                              <m:r>
                                <a:rPr lang="en-US" altLang="zh-CN" sz="2400" i="1">
                                  <a:effectLst/>
                                  <a:latin typeface="Cambria Math" panose="02040503050406030204" pitchFamily="18" charset="0"/>
                                  <a:cs typeface="Times New Roman (正文 CS 字体)"/>
                                </a:rPr>
                                <m:t>𝑠</m:t>
                              </m:r>
                            </m:e>
                          </m:d>
                        </m:num>
                        <m:den>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𝛩</m:t>
                              </m:r>
                            </m:e>
                            <m:sub>
                              <m:r>
                                <a:rPr lang="en-US" altLang="zh-CN" sz="2400" i="1">
                                  <a:effectLst/>
                                  <a:latin typeface="Cambria Math" panose="02040503050406030204" pitchFamily="18" charset="0"/>
                                  <a:cs typeface="Times New Roman (正文 CS 字体)"/>
                                </a:rPr>
                                <m:t>𝑖</m:t>
                              </m:r>
                            </m:sub>
                          </m:sSub>
                          <m:d>
                            <m:dPr>
                              <m:ctrlPr>
                                <a:rPr lang="zh-CN" altLang="zh-CN" sz="2400" i="1">
                                  <a:effectLst/>
                                  <a:latin typeface="Cambria Math" panose="02040503050406030204" pitchFamily="18" charset="0"/>
                                  <a:cs typeface="Times New Roman (正文 CS 字体)"/>
                                </a:rPr>
                              </m:ctrlPr>
                            </m:dPr>
                            <m:e>
                              <m:r>
                                <a:rPr lang="en-US" altLang="zh-CN" sz="2400" i="1">
                                  <a:effectLst/>
                                  <a:latin typeface="Cambria Math" panose="02040503050406030204" pitchFamily="18" charset="0"/>
                                  <a:cs typeface="Times New Roman (正文 CS 字体)"/>
                                </a:rPr>
                                <m:t>𝑠</m:t>
                              </m:r>
                            </m:e>
                          </m:d>
                        </m:den>
                      </m:f>
                      <m:r>
                        <a:rPr lang="en-US" altLang="zh-CN" sz="2400" i="1">
                          <a:effectLst/>
                          <a:latin typeface="Cambria Math" panose="02040503050406030204" pitchFamily="18" charset="0"/>
                          <a:cs typeface="Times New Roman (正文 CS 字体)"/>
                        </a:rPr>
                        <m:t>=</m:t>
                      </m:r>
                      <m:f>
                        <m:fPr>
                          <m:ctrlPr>
                            <a:rPr lang="zh-CN" altLang="zh-CN" sz="2400" i="1">
                              <a:effectLst/>
                              <a:latin typeface="Cambria Math" panose="02040503050406030204" pitchFamily="18" charset="0"/>
                              <a:cs typeface="Times New Roman (正文 CS 字体)"/>
                            </a:rPr>
                          </m:ctrlPr>
                        </m:fPr>
                        <m:num>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0</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1</m:t>
                              </m:r>
                            </m:sub>
                          </m:sSub>
                          <m:r>
                            <a:rPr lang="en-US" altLang="zh-CN" sz="2400">
                              <a:effectLst/>
                              <a:latin typeface="Cambria Math" panose="02040503050406030204" pitchFamily="18" charset="0"/>
                              <a:cs typeface="Cambria Math" panose="02040503050406030204" pitchFamily="18" charset="0"/>
                            </a:rPr>
                            <m:t>⋅</m:t>
                          </m:r>
                          <m:f>
                            <m:fPr>
                              <m:ctrlPr>
                                <a:rPr lang="zh-CN" altLang="zh-CN" sz="2400" i="1">
                                  <a:effectLst/>
                                  <a:latin typeface="Cambria Math" panose="02040503050406030204" pitchFamily="18" charset="0"/>
                                  <a:cs typeface="Times New Roman (正文 CS 字体)"/>
                                </a:rPr>
                              </m:ctrlPr>
                            </m:fPr>
                            <m:num>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2</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3</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𝑚</m:t>
                                  </m:r>
                                </m:sub>
                              </m:sSub>
                            </m:num>
                            <m:den>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𝑇</m:t>
                                  </m:r>
                                </m:e>
                                <m:sub>
                                  <m:r>
                                    <a:rPr lang="en-US" altLang="zh-CN" sz="2400" i="1">
                                      <a:effectLst/>
                                      <a:latin typeface="Cambria Math" panose="02040503050406030204" pitchFamily="18" charset="0"/>
                                      <a:cs typeface="Times New Roman (正文 CS 字体)"/>
                                    </a:rPr>
                                    <m:t>𝑚</m:t>
                                  </m:r>
                                </m:sub>
                              </m:sSub>
                              <m:r>
                                <a:rPr lang="en-US" altLang="zh-CN" sz="2400" i="1">
                                  <a:effectLst/>
                                  <a:latin typeface="Cambria Math" panose="02040503050406030204" pitchFamily="18" charset="0"/>
                                  <a:cs typeface="Times New Roman (正文 CS 字体)"/>
                                </a:rPr>
                                <m:t>𝑠</m:t>
                              </m:r>
                              <m:r>
                                <a:rPr lang="en-US" altLang="zh-CN" sz="2400" i="1">
                                  <a:effectLst/>
                                  <a:latin typeface="Cambria Math" panose="02040503050406030204" pitchFamily="18" charset="0"/>
                                  <a:cs typeface="Times New Roman (正文 CS 字体)"/>
                                </a:rPr>
                                <m:t>+1+</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2</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3</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𝑚</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𝑡</m:t>
                                  </m:r>
                                </m:sub>
                              </m:sSub>
                            </m:den>
                          </m:f>
                          <m:r>
                            <a:rPr lang="en-US" altLang="zh-CN" sz="2400">
                              <a:effectLst/>
                              <a:latin typeface="Cambria Math" panose="02040503050406030204" pitchFamily="18" charset="0"/>
                              <a:cs typeface="Cambria Math" panose="02040503050406030204" pitchFamily="18" charset="0"/>
                            </a:rPr>
                            <m:t>⋅</m:t>
                          </m:r>
                          <m:f>
                            <m:fPr>
                              <m:ctrlPr>
                                <a:rPr lang="zh-CN" altLang="zh-CN" sz="2400" i="1">
                                  <a:effectLst/>
                                  <a:latin typeface="Cambria Math" panose="02040503050406030204" pitchFamily="18" charset="0"/>
                                  <a:cs typeface="Times New Roman (正文 CS 字体)"/>
                                </a:rPr>
                              </m:ctrlPr>
                            </m:fPr>
                            <m:num>
                              <m:r>
                                <a:rPr lang="en-US" altLang="zh-CN" sz="2400" i="1">
                                  <a:effectLst/>
                                  <a:latin typeface="Cambria Math" panose="02040503050406030204" pitchFamily="18" charset="0"/>
                                  <a:cs typeface="Times New Roman (正文 CS 字体)"/>
                                </a:rPr>
                                <m:t>1</m:t>
                              </m:r>
                            </m:num>
                            <m:den>
                              <m:r>
                                <a:rPr lang="en-US" altLang="zh-CN" sz="2400" i="1">
                                  <a:effectLst/>
                                  <a:latin typeface="Cambria Math" panose="02040503050406030204" pitchFamily="18" charset="0"/>
                                  <a:cs typeface="Times New Roman (正文 CS 字体)"/>
                                </a:rPr>
                                <m:t>𝑠</m:t>
                              </m:r>
                            </m:den>
                          </m:f>
                        </m:num>
                        <m:den>
                          <m:r>
                            <a:rPr lang="en-US" altLang="zh-CN" sz="2400" i="1">
                              <a:effectLst/>
                              <a:latin typeface="Cambria Math" panose="02040503050406030204" pitchFamily="18" charset="0"/>
                              <a:cs typeface="Times New Roman (正文 CS 字体)"/>
                            </a:rPr>
                            <m:t>1+</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0</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1</m:t>
                              </m:r>
                            </m:sub>
                          </m:sSub>
                          <m:r>
                            <a:rPr lang="en-US" altLang="zh-CN" sz="2400">
                              <a:effectLst/>
                              <a:latin typeface="Cambria Math" panose="02040503050406030204" pitchFamily="18" charset="0"/>
                              <a:cs typeface="Cambria Math" panose="02040503050406030204" pitchFamily="18" charset="0"/>
                            </a:rPr>
                            <m:t>⋅</m:t>
                          </m:r>
                          <m:f>
                            <m:fPr>
                              <m:ctrlPr>
                                <a:rPr lang="zh-CN" altLang="zh-CN" sz="2400" i="1">
                                  <a:effectLst/>
                                  <a:latin typeface="Cambria Math" panose="02040503050406030204" pitchFamily="18" charset="0"/>
                                  <a:cs typeface="Times New Roman (正文 CS 字体)"/>
                                </a:rPr>
                              </m:ctrlPr>
                            </m:fPr>
                            <m:num>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2</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3</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𝑚</m:t>
                                  </m:r>
                                </m:sub>
                              </m:sSub>
                            </m:num>
                            <m:den>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𝑇</m:t>
                                  </m:r>
                                </m:e>
                                <m:sub>
                                  <m:r>
                                    <a:rPr lang="en-US" altLang="zh-CN" sz="2400" i="1">
                                      <a:effectLst/>
                                      <a:latin typeface="Cambria Math" panose="02040503050406030204" pitchFamily="18" charset="0"/>
                                      <a:cs typeface="Times New Roman (正文 CS 字体)"/>
                                    </a:rPr>
                                    <m:t>𝑚</m:t>
                                  </m:r>
                                </m:sub>
                              </m:sSub>
                              <m:r>
                                <a:rPr lang="en-US" altLang="zh-CN" sz="2400" i="1">
                                  <a:effectLst/>
                                  <a:latin typeface="Cambria Math" panose="02040503050406030204" pitchFamily="18" charset="0"/>
                                  <a:cs typeface="Times New Roman (正文 CS 字体)"/>
                                </a:rPr>
                                <m:t>𝑠</m:t>
                              </m:r>
                              <m:r>
                                <a:rPr lang="en-US" altLang="zh-CN" sz="2400" i="1">
                                  <a:effectLst/>
                                  <a:latin typeface="Cambria Math" panose="02040503050406030204" pitchFamily="18" charset="0"/>
                                  <a:cs typeface="Times New Roman (正文 CS 字体)"/>
                                </a:rPr>
                                <m:t>+1+</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2</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3</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𝑚</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𝑡</m:t>
                                  </m:r>
                                </m:sub>
                              </m:sSub>
                            </m:den>
                          </m:f>
                          <m:r>
                            <a:rPr lang="en-US" altLang="zh-CN" sz="2400">
                              <a:effectLst/>
                              <a:latin typeface="Cambria Math" panose="02040503050406030204" pitchFamily="18" charset="0"/>
                              <a:cs typeface="Cambria Math" panose="02040503050406030204" pitchFamily="18" charset="0"/>
                            </a:rPr>
                            <m:t>⋅</m:t>
                          </m:r>
                          <m:f>
                            <m:fPr>
                              <m:ctrlPr>
                                <a:rPr lang="zh-CN" altLang="zh-CN" sz="2400" i="1">
                                  <a:effectLst/>
                                  <a:latin typeface="Cambria Math" panose="02040503050406030204" pitchFamily="18" charset="0"/>
                                  <a:cs typeface="Times New Roman (正文 CS 字体)"/>
                                </a:rPr>
                              </m:ctrlPr>
                            </m:fPr>
                            <m:num>
                              <m:r>
                                <a:rPr lang="en-US" altLang="zh-CN" sz="2400" i="1">
                                  <a:effectLst/>
                                  <a:latin typeface="Cambria Math" panose="02040503050406030204" pitchFamily="18" charset="0"/>
                                  <a:cs typeface="Times New Roman (正文 CS 字体)"/>
                                </a:rPr>
                                <m:t>1</m:t>
                              </m:r>
                            </m:num>
                            <m:den>
                              <m:r>
                                <a:rPr lang="en-US" altLang="zh-CN" sz="2400" i="1">
                                  <a:effectLst/>
                                  <a:latin typeface="Cambria Math" panose="02040503050406030204" pitchFamily="18" charset="0"/>
                                  <a:cs typeface="Times New Roman (正文 CS 字体)"/>
                                </a:rPr>
                                <m:t>𝑠</m:t>
                              </m:r>
                            </m:den>
                          </m:f>
                        </m:den>
                      </m:f>
                      <m:r>
                        <a:rPr lang="en-US" altLang="zh-CN" sz="2400" i="1">
                          <a:effectLst/>
                          <a:latin typeface="Cambria Math" panose="02040503050406030204" pitchFamily="18" charset="0"/>
                          <a:cs typeface="Times New Roman (正文 CS 字体)"/>
                        </a:rPr>
                        <m:t>=</m:t>
                      </m:r>
                      <m:f>
                        <m:fPr>
                          <m:ctrlPr>
                            <a:rPr lang="zh-CN" altLang="zh-CN" sz="2400" i="1">
                              <a:effectLst/>
                              <a:latin typeface="Cambria Math" panose="02040503050406030204" pitchFamily="18" charset="0"/>
                              <a:cs typeface="Times New Roman (正文 CS 字体)"/>
                            </a:rPr>
                          </m:ctrlPr>
                        </m:fPr>
                        <m:num>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0</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1</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2</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3</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𝑚</m:t>
                              </m:r>
                            </m:sub>
                          </m:sSub>
                        </m:num>
                        <m:den>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𝑇</m:t>
                              </m:r>
                            </m:e>
                            <m:sub>
                              <m:r>
                                <a:rPr lang="en-US" altLang="zh-CN" sz="2400" i="1">
                                  <a:effectLst/>
                                  <a:latin typeface="Cambria Math" panose="02040503050406030204" pitchFamily="18" charset="0"/>
                                  <a:cs typeface="Times New Roman (正文 CS 字体)"/>
                                </a:rPr>
                                <m:t>𝑚</m:t>
                              </m:r>
                            </m:sub>
                          </m:sSub>
                          <m:sSup>
                            <m:sSupPr>
                              <m:ctrlPr>
                                <a:rPr lang="zh-CN" altLang="zh-CN" sz="2400" i="1">
                                  <a:effectLst/>
                                  <a:latin typeface="Cambria Math" panose="02040503050406030204" pitchFamily="18" charset="0"/>
                                  <a:cs typeface="Times New Roman (正文 CS 字体)"/>
                                </a:rPr>
                              </m:ctrlPr>
                            </m:sSupPr>
                            <m:e>
                              <m:r>
                                <a:rPr lang="en-US" altLang="zh-CN" sz="2400" i="1">
                                  <a:effectLst/>
                                  <a:latin typeface="Cambria Math" panose="02040503050406030204" pitchFamily="18" charset="0"/>
                                  <a:cs typeface="Times New Roman (正文 CS 字体)"/>
                                </a:rPr>
                                <m:t>𝑠</m:t>
                              </m:r>
                            </m:e>
                            <m:sup>
                              <m:r>
                                <a:rPr lang="en-US" altLang="zh-CN" sz="2400" i="1">
                                  <a:effectLst/>
                                  <a:latin typeface="Cambria Math" panose="02040503050406030204" pitchFamily="18" charset="0"/>
                                  <a:cs typeface="Times New Roman (正文 CS 字体)"/>
                                </a:rPr>
                                <m:t>2</m:t>
                              </m:r>
                            </m:sup>
                          </m:sSup>
                          <m:r>
                            <a:rPr lang="en-US" altLang="zh-CN" sz="2400" i="1">
                              <a:effectLst/>
                              <a:latin typeface="Cambria Math" panose="02040503050406030204" pitchFamily="18" charset="0"/>
                              <a:cs typeface="Times New Roman (正文 CS 字体)"/>
                            </a:rPr>
                            <m:t>+</m:t>
                          </m:r>
                          <m:d>
                            <m:dPr>
                              <m:ctrlPr>
                                <a:rPr lang="zh-CN" altLang="zh-CN" sz="2400" i="1">
                                  <a:effectLst/>
                                  <a:latin typeface="Cambria Math" panose="02040503050406030204" pitchFamily="18" charset="0"/>
                                  <a:cs typeface="Times New Roman (正文 CS 字体)"/>
                                </a:rPr>
                              </m:ctrlPr>
                            </m:dPr>
                            <m:e>
                              <m:r>
                                <a:rPr lang="en-US" altLang="zh-CN" sz="2400" i="1">
                                  <a:effectLst/>
                                  <a:latin typeface="Cambria Math" panose="02040503050406030204" pitchFamily="18" charset="0"/>
                                  <a:cs typeface="Times New Roman (正文 CS 字体)"/>
                                </a:rPr>
                                <m:t>1+</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2</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3</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𝑚</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𝑡</m:t>
                                  </m:r>
                                </m:sub>
                              </m:sSub>
                            </m:e>
                          </m:d>
                          <m:r>
                            <a:rPr lang="en-US" altLang="zh-CN" sz="2400" i="1">
                              <a:effectLst/>
                              <a:latin typeface="Cambria Math" panose="02040503050406030204" pitchFamily="18" charset="0"/>
                              <a:cs typeface="Times New Roman (正文 CS 字体)"/>
                            </a:rPr>
                            <m:t>𝑠</m:t>
                          </m:r>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0</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1</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2</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3</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𝐾</m:t>
                              </m:r>
                            </m:e>
                            <m:sub>
                              <m:r>
                                <a:rPr lang="en-US" altLang="zh-CN" sz="2400" i="1">
                                  <a:effectLst/>
                                  <a:latin typeface="Cambria Math" panose="02040503050406030204" pitchFamily="18" charset="0"/>
                                  <a:cs typeface="Times New Roman (正文 CS 字体)"/>
                                </a:rPr>
                                <m:t>𝑚</m:t>
                              </m:r>
                            </m:sub>
                          </m:sSub>
                        </m:den>
                      </m:f>
                    </m:oMath>
                  </m:oMathPara>
                </a14:m>
                <a:endParaRPr lang="zh-CN" altLang="zh-CN" sz="2400" dirty="0">
                  <a:effectLst/>
                  <a:latin typeface="+mn-ea"/>
                  <a:cs typeface="Times New Roman (正文 CS 字体)"/>
                </a:endParaRPr>
              </a:p>
            </p:txBody>
          </p:sp>
        </mc:Choice>
        <mc:Fallback xmlns="">
          <p:sp>
            <p:nvSpPr>
              <p:cNvPr id="4" name="文本框 3">
                <a:extLst>
                  <a:ext uri="{FF2B5EF4-FFF2-40B4-BE49-F238E27FC236}">
                    <a16:creationId xmlns:a16="http://schemas.microsoft.com/office/drawing/2014/main" id="{6A9826A7-D83A-0C9F-5824-813ADD7997A4}"/>
                  </a:ext>
                </a:extLst>
              </p:cNvPr>
              <p:cNvSpPr txBox="1">
                <a:spLocks noRot="1" noChangeAspect="1" noMove="1" noResize="1" noEditPoints="1" noAdjustHandles="1" noChangeArrowheads="1" noChangeShapeType="1" noTextEdit="1"/>
              </p:cNvSpPr>
              <p:nvPr/>
            </p:nvSpPr>
            <p:spPr>
              <a:xfrm>
                <a:off x="309093" y="3697695"/>
                <a:ext cx="11881320" cy="1819537"/>
              </a:xfrm>
              <a:prstGeom prst="rect">
                <a:avLst/>
              </a:prstGeom>
              <a:blipFill>
                <a:blip r:embed="rId4"/>
                <a:stretch>
                  <a:fillRect t="-2778" b="-69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0578009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730E0-1F2A-A1B1-1CE1-FEE98073500C}"/>
            </a:ext>
          </a:extLst>
        </p:cNvPr>
        <p:cNvGrpSpPr/>
        <p:nvPr/>
      </p:nvGrpSpPr>
      <p:grpSpPr>
        <a:xfrm>
          <a:off x="0" y="0"/>
          <a:ext cx="0" cy="0"/>
          <a:chOff x="0" y="0"/>
          <a:chExt cx="0" cy="0"/>
        </a:xfrm>
      </p:grpSpPr>
      <p:sp>
        <p:nvSpPr>
          <p:cNvPr id="45" name="标题">
            <a:extLst>
              <a:ext uri="{FF2B5EF4-FFF2-40B4-BE49-F238E27FC236}">
                <a16:creationId xmlns:a16="http://schemas.microsoft.com/office/drawing/2014/main" id="{3B1A12F8-D8C5-925B-7D12-2D6A27743EC8}"/>
              </a:ext>
            </a:extLst>
          </p:cNvPr>
          <p:cNvSpPr txBox="1"/>
          <p:nvPr/>
        </p:nvSpPr>
        <p:spPr>
          <a:xfrm>
            <a:off x="614452" y="332656"/>
            <a:ext cx="4261118"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梅森公式应用</a:t>
            </a:r>
          </a:p>
        </p:txBody>
      </p:sp>
      <p:pic>
        <p:nvPicPr>
          <p:cNvPr id="3" name="图片 2">
            <a:extLst>
              <a:ext uri="{FF2B5EF4-FFF2-40B4-BE49-F238E27FC236}">
                <a16:creationId xmlns:a16="http://schemas.microsoft.com/office/drawing/2014/main" id="{A3C1C6B0-8F53-67FC-252B-5E065F81A465}"/>
              </a:ext>
            </a:extLst>
          </p:cNvPr>
          <p:cNvPicPr>
            <a:picLocks noChangeAspect="1"/>
          </p:cNvPicPr>
          <p:nvPr/>
        </p:nvPicPr>
        <p:blipFill>
          <a:blip r:embed="rId3"/>
          <a:stretch>
            <a:fillRect/>
          </a:stretch>
        </p:blipFill>
        <p:spPr>
          <a:xfrm>
            <a:off x="3063807" y="1118634"/>
            <a:ext cx="6062796" cy="1988495"/>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A5EE1D41-57B8-5214-9454-F090CEA60970}"/>
                  </a:ext>
                </a:extLst>
              </p:cNvPr>
              <p:cNvSpPr txBox="1"/>
              <p:nvPr/>
            </p:nvSpPr>
            <p:spPr>
              <a:xfrm>
                <a:off x="1143744" y="3369887"/>
                <a:ext cx="9902923" cy="3088474"/>
              </a:xfrm>
              <a:prstGeom prst="rect">
                <a:avLst/>
              </a:prstGeom>
              <a:noFill/>
            </p:spPr>
            <p:txBody>
              <a:bodyPr wrap="square">
                <a:spAutoFit/>
              </a:bodyPr>
              <a:lstStyle/>
              <a:p>
                <a:pPr indent="304800"/>
                <a:r>
                  <a:rPr lang="zh-CN" altLang="zh-CN" sz="2400" dirty="0">
                    <a:effectLst/>
                    <a:latin typeface="+mn-ea"/>
                    <a:cs typeface="Times New Roman (正文 CS 字体)"/>
                  </a:rPr>
                  <a:t>存在两条前向通道，三个单独回路，无不接触回路，即</a:t>
                </a:r>
              </a:p>
              <a:p>
                <a:pPr indent="304800"/>
                <a14:m>
                  <m:oMathPara xmlns:m="http://schemas.openxmlformats.org/officeDocument/2006/math">
                    <m:oMathParaPr>
                      <m:jc m:val="centerGroup"/>
                    </m:oMathParaPr>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1</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3</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𝐻</m:t>
                          </m:r>
                        </m:e>
                        <m:sub>
                          <m:r>
                            <a:rPr lang="en-US" altLang="zh-CN" sz="2400" i="1">
                              <a:effectLst/>
                              <a:latin typeface="Cambria Math" panose="02040503050406030204" pitchFamily="18" charset="0"/>
                              <a:cs typeface="Times New Roman (正文 CS 字体)"/>
                            </a:rPr>
                            <m:t>1</m:t>
                          </m:r>
                        </m:sub>
                      </m:sSub>
                      <m:r>
                        <a:rPr lang="en-US" altLang="zh-CN" sz="2400" i="1">
                          <a:effectLst/>
                          <a:latin typeface="Cambria Math" panose="02040503050406030204" pitchFamily="18" charset="0"/>
                          <a:cs typeface="Times New Roman (正文 CS 字体)"/>
                        </a:rPr>
                        <m:t>, </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2</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2</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3</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𝐻</m:t>
                          </m:r>
                        </m:e>
                        <m:sub>
                          <m:r>
                            <a:rPr lang="en-US" altLang="zh-CN" sz="2400" i="1">
                              <a:effectLst/>
                              <a:latin typeface="Cambria Math" panose="02040503050406030204" pitchFamily="18" charset="0"/>
                              <a:cs typeface="Times New Roman (正文 CS 字体)"/>
                            </a:rPr>
                            <m:t>2</m:t>
                          </m:r>
                        </m:sub>
                      </m:sSub>
                      <m:r>
                        <a:rPr lang="en-US" altLang="zh-CN" sz="2400" i="1">
                          <a:effectLst/>
                          <a:latin typeface="Cambria Math" panose="02040503050406030204" pitchFamily="18" charset="0"/>
                          <a:cs typeface="Times New Roman (正文 CS 字体)"/>
                        </a:rPr>
                        <m:t>, </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3</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3</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4</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𝐻</m:t>
                          </m:r>
                        </m:e>
                        <m:sub>
                          <m:r>
                            <a:rPr lang="en-US" altLang="zh-CN" sz="2400" i="1">
                              <a:effectLst/>
                              <a:latin typeface="Cambria Math" panose="02040503050406030204" pitchFamily="18" charset="0"/>
                              <a:cs typeface="Times New Roman (正文 CS 字体)"/>
                            </a:rPr>
                            <m:t>3</m:t>
                          </m:r>
                        </m:sub>
                      </m:sSub>
                    </m:oMath>
                  </m:oMathPara>
                </a14:m>
                <a:endParaRPr lang="zh-CN" altLang="zh-CN" sz="2400" dirty="0">
                  <a:effectLst/>
                  <a:latin typeface="+mn-ea"/>
                  <a:cs typeface="Times New Roman (正文 CS 字体)"/>
                </a:endParaRPr>
              </a:p>
              <a:p>
                <a:pPr indent="304800"/>
                <a14:m>
                  <m:oMathPara xmlns:m="http://schemas.openxmlformats.org/officeDocument/2006/math">
                    <m:oMathParaPr>
                      <m:jc m:val="centerGroup"/>
                    </m:oMathParaPr>
                    <m:oMath xmlns:m="http://schemas.openxmlformats.org/officeDocument/2006/math">
                      <m:r>
                        <m:rPr>
                          <m:sty m:val="p"/>
                        </m:rPr>
                        <a:rPr lang="en-US" altLang="zh-CN" sz="2400">
                          <a:effectLst/>
                          <a:latin typeface="Cambria Math" panose="02040503050406030204" pitchFamily="18" charset="0"/>
                          <a:cs typeface="Times New Roman (正文 CS 字体)"/>
                        </a:rPr>
                        <m:t>Δ</m:t>
                      </m:r>
                      <m:r>
                        <a:rPr lang="en-US" altLang="zh-CN" sz="2400" i="1">
                          <a:effectLst/>
                          <a:latin typeface="Cambria Math" panose="02040503050406030204" pitchFamily="18" charset="0"/>
                          <a:cs typeface="Times New Roman (正文 CS 字体)"/>
                        </a:rPr>
                        <m:t>=1−</m:t>
                      </m:r>
                      <m:d>
                        <m:dPr>
                          <m:ctrlPr>
                            <a:rPr lang="zh-CN" altLang="zh-CN" sz="2400" i="1">
                              <a:effectLst/>
                              <a:latin typeface="Cambria Math" panose="02040503050406030204" pitchFamily="18" charset="0"/>
                              <a:cs typeface="Times New Roman (正文 CS 字体)"/>
                            </a:rPr>
                          </m:ctrlPr>
                        </m:dPr>
                        <m:e>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1</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2</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3</m:t>
                              </m:r>
                            </m:sub>
                          </m:sSub>
                        </m:e>
                      </m:d>
                      <m:r>
                        <a:rPr lang="en-US" altLang="zh-CN" sz="2400" i="1">
                          <a:effectLst/>
                          <a:latin typeface="Cambria Math" panose="02040503050406030204" pitchFamily="18" charset="0"/>
                          <a:cs typeface="Times New Roman (正文 CS 字体)"/>
                        </a:rPr>
                        <m:t>=1+</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3</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𝐻</m:t>
                          </m:r>
                        </m:e>
                        <m:sub>
                          <m:r>
                            <a:rPr lang="en-US" altLang="zh-CN" sz="2400" i="1">
                              <a:effectLst/>
                              <a:latin typeface="Cambria Math" panose="02040503050406030204" pitchFamily="18" charset="0"/>
                              <a:cs typeface="Times New Roman (正文 CS 字体)"/>
                            </a:rPr>
                            <m:t>1</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2</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3</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𝐻</m:t>
                          </m:r>
                        </m:e>
                        <m:sub>
                          <m:r>
                            <a:rPr lang="en-US" altLang="zh-CN" sz="2400" i="1">
                              <a:effectLst/>
                              <a:latin typeface="Cambria Math" panose="02040503050406030204" pitchFamily="18" charset="0"/>
                              <a:cs typeface="Times New Roman (正文 CS 字体)"/>
                            </a:rPr>
                            <m:t>2</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3</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4</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𝐻</m:t>
                          </m:r>
                        </m:e>
                        <m:sub>
                          <m:r>
                            <a:rPr lang="en-US" altLang="zh-CN" sz="2400" i="1">
                              <a:effectLst/>
                              <a:latin typeface="Cambria Math" panose="02040503050406030204" pitchFamily="18" charset="0"/>
                              <a:cs typeface="Times New Roman (正文 CS 字体)"/>
                            </a:rPr>
                            <m:t>3</m:t>
                          </m:r>
                        </m:sub>
                      </m:sSub>
                    </m:oMath>
                  </m:oMathPara>
                </a14:m>
                <a:endParaRPr lang="zh-CN" altLang="zh-CN" sz="2400" dirty="0">
                  <a:effectLst/>
                  <a:latin typeface="+mn-ea"/>
                  <a:cs typeface="Times New Roman (正文 CS 字体)"/>
                </a:endParaRPr>
              </a:p>
              <a:p>
                <a:pPr indent="304800"/>
                <a14:m>
                  <m:oMathPara xmlns:m="http://schemas.openxmlformats.org/officeDocument/2006/math">
                    <m:oMathParaPr>
                      <m:jc m:val="centerGroup"/>
                    </m:oMathParaPr>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𝑝</m:t>
                          </m:r>
                        </m:e>
                        <m:sub>
                          <m:r>
                            <a:rPr lang="en-US" altLang="zh-CN" sz="2400" i="1">
                              <a:effectLst/>
                              <a:latin typeface="Cambria Math" panose="02040503050406030204" pitchFamily="18" charset="0"/>
                              <a:cs typeface="Times New Roman (正文 CS 字体)"/>
                            </a:rPr>
                            <m:t>1</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1</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2</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3</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4</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5</m:t>
                          </m:r>
                        </m:sub>
                      </m:sSub>
                      <m:r>
                        <a:rPr lang="en-US" altLang="zh-CN" sz="2400" i="1">
                          <a:effectLst/>
                          <a:latin typeface="Cambria Math" panose="02040503050406030204" pitchFamily="18" charset="0"/>
                          <a:cs typeface="Times New Roman (正文 CS 字体)"/>
                        </a:rPr>
                        <m:t>, </m:t>
                      </m:r>
                      <m:sSub>
                        <m:sSubPr>
                          <m:ctrlPr>
                            <a:rPr lang="zh-CN" altLang="zh-CN" sz="2400" i="1">
                              <a:effectLst/>
                              <a:latin typeface="Cambria Math" panose="02040503050406030204" pitchFamily="18" charset="0"/>
                              <a:cs typeface="Times New Roman (正文 CS 字体)"/>
                            </a:rPr>
                          </m:ctrlPr>
                        </m:sSubPr>
                        <m:e>
                          <m:r>
                            <m:rPr>
                              <m:sty m:val="p"/>
                            </m:rPr>
                            <a:rPr lang="en-US" altLang="zh-CN" sz="2400">
                              <a:effectLst/>
                              <a:latin typeface="Cambria Math" panose="02040503050406030204" pitchFamily="18" charset="0"/>
                              <a:cs typeface="Times New Roman (正文 CS 字体)"/>
                            </a:rPr>
                            <m:t>Δ</m:t>
                          </m:r>
                        </m:e>
                        <m:sub>
                          <m:r>
                            <a:rPr lang="en-US" altLang="zh-CN" sz="2400" i="1">
                              <a:effectLst/>
                              <a:latin typeface="Cambria Math" panose="02040503050406030204" pitchFamily="18" charset="0"/>
                              <a:cs typeface="Times New Roman (正文 CS 字体)"/>
                            </a:rPr>
                            <m:t>1</m:t>
                          </m:r>
                        </m:sub>
                      </m:sSub>
                      <m:r>
                        <a:rPr lang="en-US" altLang="zh-CN" sz="2400" i="1">
                          <a:effectLst/>
                          <a:latin typeface="Cambria Math" panose="02040503050406030204" pitchFamily="18" charset="0"/>
                          <a:cs typeface="Times New Roman (正文 CS 字体)"/>
                        </a:rPr>
                        <m:t>=1</m:t>
                      </m:r>
                    </m:oMath>
                  </m:oMathPara>
                </a14:m>
                <a:endParaRPr lang="zh-CN" altLang="zh-CN" sz="2400" dirty="0">
                  <a:effectLst/>
                  <a:latin typeface="+mn-ea"/>
                  <a:cs typeface="Times New Roman (正文 CS 字体)"/>
                </a:endParaRPr>
              </a:p>
              <a:p>
                <a:pPr indent="304800"/>
                <a14:m>
                  <m:oMathPara xmlns:m="http://schemas.openxmlformats.org/officeDocument/2006/math">
                    <m:oMathParaPr>
                      <m:jc m:val="centerGroup"/>
                    </m:oMathParaPr>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𝑝</m:t>
                          </m:r>
                        </m:e>
                        <m:sub>
                          <m:r>
                            <a:rPr lang="en-US" altLang="zh-CN" sz="2400" i="1">
                              <a:effectLst/>
                              <a:latin typeface="Cambria Math" panose="02040503050406030204" pitchFamily="18" charset="0"/>
                              <a:cs typeface="Times New Roman (正文 CS 字体)"/>
                            </a:rPr>
                            <m:t>2</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6</m:t>
                          </m:r>
                        </m:sub>
                      </m:sSub>
                      <m:r>
                        <a:rPr lang="en-US" altLang="zh-CN" sz="2400" i="1">
                          <a:effectLst/>
                          <a:latin typeface="Cambria Math" panose="02040503050406030204" pitchFamily="18" charset="0"/>
                          <a:cs typeface="Times New Roman (正文 CS 字体)"/>
                        </a:rPr>
                        <m:t>, </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1</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2</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3</m:t>
                          </m:r>
                        </m:sub>
                      </m:sSub>
                      <m:r>
                        <a:rPr lang="zh-CN" altLang="zh-CN" sz="2400">
                          <a:effectLst/>
                          <a:latin typeface="Cambria Math" panose="02040503050406030204" pitchFamily="18" charset="0"/>
                          <a:cs typeface="Times New Roman (正文 CS 字体)"/>
                        </a:rPr>
                        <m:t>与</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𝑝</m:t>
                          </m:r>
                        </m:e>
                        <m:sub>
                          <m:r>
                            <a:rPr lang="en-US" altLang="zh-CN" sz="2400" i="1">
                              <a:effectLst/>
                              <a:latin typeface="Cambria Math" panose="02040503050406030204" pitchFamily="18" charset="0"/>
                              <a:cs typeface="Times New Roman (正文 CS 字体)"/>
                            </a:rPr>
                            <m:t>2</m:t>
                          </m:r>
                        </m:sub>
                      </m:sSub>
                      <m:r>
                        <a:rPr lang="zh-CN" altLang="zh-CN" sz="2400">
                          <a:effectLst/>
                          <a:latin typeface="Cambria Math" panose="02040503050406030204" pitchFamily="18" charset="0"/>
                          <a:cs typeface="Times New Roman (正文 CS 字体)"/>
                        </a:rPr>
                        <m:t>均互不接触</m:t>
                      </m:r>
                      <m:r>
                        <a:rPr lang="en-US" altLang="zh-CN" sz="2400" i="1">
                          <a:effectLst/>
                          <a:latin typeface="Cambria Math" panose="02040503050406030204" pitchFamily="18" charset="0"/>
                          <a:cs typeface="Times New Roman (正文 CS 字体)"/>
                        </a:rPr>
                        <m:t>, </m:t>
                      </m:r>
                      <m:sSub>
                        <m:sSubPr>
                          <m:ctrlPr>
                            <a:rPr lang="zh-CN" altLang="zh-CN" sz="2400" i="1">
                              <a:effectLst/>
                              <a:latin typeface="Cambria Math" panose="02040503050406030204" pitchFamily="18" charset="0"/>
                              <a:cs typeface="Times New Roman (正文 CS 字体)"/>
                            </a:rPr>
                          </m:ctrlPr>
                        </m:sSubPr>
                        <m:e>
                          <m:r>
                            <m:rPr>
                              <m:sty m:val="p"/>
                            </m:rPr>
                            <a:rPr lang="en-US" altLang="zh-CN" sz="2400">
                              <a:effectLst/>
                              <a:latin typeface="Cambria Math" panose="02040503050406030204" pitchFamily="18" charset="0"/>
                              <a:cs typeface="Times New Roman (正文 CS 字体)"/>
                            </a:rPr>
                            <m:t>Δ</m:t>
                          </m:r>
                        </m:e>
                        <m:sub>
                          <m:r>
                            <a:rPr lang="en-US" altLang="zh-CN" sz="2400" i="1">
                              <a:effectLst/>
                              <a:latin typeface="Cambria Math" panose="02040503050406030204" pitchFamily="18" charset="0"/>
                              <a:cs typeface="Times New Roman (正文 CS 字体)"/>
                            </a:rPr>
                            <m:t>2</m:t>
                          </m:r>
                        </m:sub>
                      </m:sSub>
                      <m:r>
                        <a:rPr lang="en-US" altLang="zh-CN" sz="2400" i="1">
                          <a:effectLst/>
                          <a:latin typeface="Cambria Math" panose="02040503050406030204" pitchFamily="18" charset="0"/>
                          <a:cs typeface="Times New Roman (正文 CS 字体)"/>
                        </a:rPr>
                        <m:t>=</m:t>
                      </m:r>
                      <m:r>
                        <m:rPr>
                          <m:sty m:val="p"/>
                        </m:rPr>
                        <a:rPr lang="en-US" altLang="zh-CN" sz="2400">
                          <a:effectLst/>
                          <a:latin typeface="Cambria Math" panose="02040503050406030204" pitchFamily="18" charset="0"/>
                          <a:cs typeface="Times New Roman (正文 CS 字体)"/>
                        </a:rPr>
                        <m:t>Δ</m:t>
                      </m:r>
                    </m:oMath>
                  </m:oMathPara>
                </a14:m>
                <a:endParaRPr lang="zh-CN" altLang="zh-CN" sz="2400" dirty="0">
                  <a:effectLst/>
                  <a:latin typeface="+mn-ea"/>
                  <a:cs typeface="Times New Roman (正文 CS 字体)"/>
                </a:endParaRPr>
              </a:p>
              <a:p>
                <a:pPr indent="304800"/>
                <a:r>
                  <a:rPr lang="zh-CN" altLang="zh-CN" sz="2400" dirty="0">
                    <a:effectLst/>
                    <a:latin typeface="+mn-ea"/>
                    <a:cs typeface="Times New Roman (正文 CS 字体)"/>
                  </a:rPr>
                  <a:t>由梅森增益公式可得系统的传递函数为</a:t>
                </a:r>
              </a:p>
              <a:p>
                <a:pPr indent="304800"/>
                <a14:m>
                  <m:oMathPara xmlns:m="http://schemas.openxmlformats.org/officeDocument/2006/math">
                    <m:oMathParaPr>
                      <m:jc m:val="centerGroup"/>
                    </m:oMathParaPr>
                    <m:oMath xmlns:m="http://schemas.openxmlformats.org/officeDocument/2006/math">
                      <m:f>
                        <m:fPr>
                          <m:ctrlPr>
                            <a:rPr lang="zh-CN" altLang="zh-CN" sz="2400" i="1">
                              <a:effectLst/>
                              <a:latin typeface="Cambria Math" panose="02040503050406030204" pitchFamily="18" charset="0"/>
                              <a:cs typeface="Times New Roman (正文 CS 字体)"/>
                            </a:rPr>
                          </m:ctrlPr>
                        </m:fPr>
                        <m:num>
                          <m:r>
                            <a:rPr lang="en-US" altLang="zh-CN" sz="2400" i="1">
                              <a:effectLst/>
                              <a:latin typeface="Cambria Math" panose="02040503050406030204" pitchFamily="18" charset="0"/>
                              <a:cs typeface="Times New Roman (正文 CS 字体)"/>
                            </a:rPr>
                            <m:t>𝐶</m:t>
                          </m:r>
                          <m:d>
                            <m:dPr>
                              <m:ctrlPr>
                                <a:rPr lang="zh-CN" altLang="zh-CN" sz="2400" i="1">
                                  <a:effectLst/>
                                  <a:latin typeface="Cambria Math" panose="02040503050406030204" pitchFamily="18" charset="0"/>
                                  <a:cs typeface="Times New Roman (正文 CS 字体)"/>
                                </a:rPr>
                              </m:ctrlPr>
                            </m:dPr>
                            <m:e>
                              <m:r>
                                <a:rPr lang="en-US" altLang="zh-CN" sz="2400" i="1">
                                  <a:effectLst/>
                                  <a:latin typeface="Cambria Math" panose="02040503050406030204" pitchFamily="18" charset="0"/>
                                  <a:cs typeface="Times New Roman (正文 CS 字体)"/>
                                </a:rPr>
                                <m:t>𝑠</m:t>
                              </m:r>
                            </m:e>
                          </m:d>
                        </m:num>
                        <m:den>
                          <m:r>
                            <a:rPr lang="en-US" altLang="zh-CN" sz="2400" i="1">
                              <a:effectLst/>
                              <a:latin typeface="Cambria Math" panose="02040503050406030204" pitchFamily="18" charset="0"/>
                              <a:cs typeface="Times New Roman (正文 CS 字体)"/>
                            </a:rPr>
                            <m:t>𝑅</m:t>
                          </m:r>
                          <m:d>
                            <m:dPr>
                              <m:ctrlPr>
                                <a:rPr lang="zh-CN" altLang="zh-CN" sz="2400" i="1">
                                  <a:effectLst/>
                                  <a:latin typeface="Cambria Math" panose="02040503050406030204" pitchFamily="18" charset="0"/>
                                  <a:cs typeface="Times New Roman (正文 CS 字体)"/>
                                </a:rPr>
                              </m:ctrlPr>
                            </m:dPr>
                            <m:e>
                              <m:r>
                                <a:rPr lang="en-US" altLang="zh-CN" sz="2400" i="1">
                                  <a:effectLst/>
                                  <a:latin typeface="Cambria Math" panose="02040503050406030204" pitchFamily="18" charset="0"/>
                                  <a:cs typeface="Times New Roman (正文 CS 字体)"/>
                                </a:rPr>
                                <m:t>𝑠</m:t>
                              </m:r>
                            </m:e>
                          </m:d>
                        </m:den>
                      </m:f>
                      <m:r>
                        <a:rPr lang="en-US" altLang="zh-CN" sz="2400" i="1">
                          <a:effectLst/>
                          <a:latin typeface="Cambria Math" panose="02040503050406030204" pitchFamily="18" charset="0"/>
                          <a:cs typeface="Times New Roman (正文 CS 字体)"/>
                        </a:rPr>
                        <m:t>=</m:t>
                      </m:r>
                      <m:f>
                        <m:fPr>
                          <m:ctrlPr>
                            <a:rPr lang="zh-CN" altLang="zh-CN" sz="2400" i="1">
                              <a:effectLst/>
                              <a:latin typeface="Cambria Math" panose="02040503050406030204" pitchFamily="18" charset="0"/>
                              <a:cs typeface="Times New Roman (正文 CS 字体)"/>
                            </a:rPr>
                          </m:ctrlPr>
                        </m:fPr>
                        <m:num>
                          <m:nary>
                            <m:naryPr>
                              <m:chr m:val="∑"/>
                              <m:subHide m:val="on"/>
                              <m:supHide m:val="on"/>
                              <m:ctrlPr>
                                <a:rPr lang="zh-CN" altLang="zh-CN" sz="2400" i="1">
                                  <a:effectLst/>
                                  <a:latin typeface="Cambria Math" panose="02040503050406030204" pitchFamily="18" charset="0"/>
                                  <a:cs typeface="Times New Roman (正文 CS 字体)"/>
                                </a:rPr>
                              </m:ctrlPr>
                            </m:naryPr>
                            <m:sub/>
                            <m:sup/>
                            <m:e>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𝑝</m:t>
                                  </m:r>
                                </m:e>
                                <m:sub>
                                  <m:r>
                                    <a:rPr lang="en-US" altLang="zh-CN" sz="2400" i="1">
                                      <a:effectLst/>
                                      <a:latin typeface="Cambria Math" panose="02040503050406030204" pitchFamily="18" charset="0"/>
                                      <a:cs typeface="Times New Roman (正文 CS 字体)"/>
                                    </a:rPr>
                                    <m:t>𝑖</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𝛥</m:t>
                                  </m:r>
                                </m:e>
                                <m:sub>
                                  <m:r>
                                    <a:rPr lang="en-US" altLang="zh-CN" sz="2400" i="1">
                                      <a:effectLst/>
                                      <a:latin typeface="Cambria Math" panose="02040503050406030204" pitchFamily="18" charset="0"/>
                                      <a:cs typeface="Times New Roman (正文 CS 字体)"/>
                                    </a:rPr>
                                    <m:t>𝑖</m:t>
                                  </m:r>
                                </m:sub>
                              </m:sSub>
                            </m:e>
                          </m:nary>
                        </m:num>
                        <m:den>
                          <m:r>
                            <a:rPr lang="en-US" altLang="zh-CN" sz="2400" i="1">
                              <a:effectLst/>
                              <a:latin typeface="Cambria Math" panose="02040503050406030204" pitchFamily="18" charset="0"/>
                              <a:cs typeface="Times New Roman (正文 CS 字体)"/>
                            </a:rPr>
                            <m:t>𝛥</m:t>
                          </m:r>
                        </m:den>
                      </m:f>
                      <m:r>
                        <a:rPr lang="en-US" altLang="zh-CN" sz="2400" i="1">
                          <a:effectLst/>
                          <a:latin typeface="Cambria Math" panose="02040503050406030204" pitchFamily="18" charset="0"/>
                          <a:cs typeface="Times New Roman (正文 CS 字体)"/>
                        </a:rPr>
                        <m:t>=</m:t>
                      </m:r>
                      <m:f>
                        <m:fPr>
                          <m:ctrlPr>
                            <a:rPr lang="zh-CN" altLang="zh-CN" sz="2400" i="1">
                              <a:effectLst/>
                              <a:latin typeface="Cambria Math" panose="02040503050406030204" pitchFamily="18" charset="0"/>
                              <a:cs typeface="Times New Roman (正文 CS 字体)"/>
                            </a:rPr>
                          </m:ctrlPr>
                        </m:fPr>
                        <m:num>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1</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2</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3</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4</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5</m:t>
                              </m:r>
                            </m:sub>
                          </m:sSub>
                        </m:num>
                        <m:den>
                          <m:r>
                            <a:rPr lang="en-US" altLang="zh-CN" sz="2400" i="1">
                              <a:effectLst/>
                              <a:latin typeface="Cambria Math" panose="02040503050406030204" pitchFamily="18" charset="0"/>
                              <a:cs typeface="Times New Roman (正文 CS 字体)"/>
                            </a:rPr>
                            <m:t>1+</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3</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𝐻</m:t>
                              </m:r>
                            </m:e>
                            <m:sub>
                              <m:r>
                                <a:rPr lang="en-US" altLang="zh-CN" sz="2400" i="1">
                                  <a:effectLst/>
                                  <a:latin typeface="Cambria Math" panose="02040503050406030204" pitchFamily="18" charset="0"/>
                                  <a:cs typeface="Times New Roman (正文 CS 字体)"/>
                                </a:rPr>
                                <m:t>1</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2</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3</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𝐻</m:t>
                              </m:r>
                            </m:e>
                            <m:sub>
                              <m:r>
                                <a:rPr lang="en-US" altLang="zh-CN" sz="2400" i="1">
                                  <a:effectLst/>
                                  <a:latin typeface="Cambria Math" panose="02040503050406030204" pitchFamily="18" charset="0"/>
                                  <a:cs typeface="Times New Roman (正文 CS 字体)"/>
                                </a:rPr>
                                <m:t>2</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3</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4</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𝐻</m:t>
                              </m:r>
                            </m:e>
                            <m:sub>
                              <m:r>
                                <a:rPr lang="en-US" altLang="zh-CN" sz="2400" i="1">
                                  <a:effectLst/>
                                  <a:latin typeface="Cambria Math" panose="02040503050406030204" pitchFamily="18" charset="0"/>
                                  <a:cs typeface="Times New Roman (正文 CS 字体)"/>
                                </a:rPr>
                                <m:t>3</m:t>
                              </m:r>
                            </m:sub>
                          </m:sSub>
                        </m:den>
                      </m:f>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𝐺</m:t>
                          </m:r>
                        </m:e>
                        <m:sub>
                          <m:r>
                            <a:rPr lang="en-US" altLang="zh-CN" sz="2400" i="1">
                              <a:effectLst/>
                              <a:latin typeface="Cambria Math" panose="02040503050406030204" pitchFamily="18" charset="0"/>
                              <a:cs typeface="Times New Roman (正文 CS 字体)"/>
                            </a:rPr>
                            <m:t>6</m:t>
                          </m:r>
                        </m:sub>
                      </m:sSub>
                    </m:oMath>
                  </m:oMathPara>
                </a14:m>
                <a:endParaRPr lang="zh-CN" altLang="zh-CN" sz="2400" dirty="0">
                  <a:effectLst/>
                  <a:latin typeface="+mn-ea"/>
                  <a:cs typeface="Times New Roman (正文 CS 字体)"/>
                </a:endParaRPr>
              </a:p>
            </p:txBody>
          </p:sp>
        </mc:Choice>
        <mc:Fallback xmlns="">
          <p:sp>
            <p:nvSpPr>
              <p:cNvPr id="6" name="文本框 5">
                <a:extLst>
                  <a:ext uri="{FF2B5EF4-FFF2-40B4-BE49-F238E27FC236}">
                    <a16:creationId xmlns:a16="http://schemas.microsoft.com/office/drawing/2014/main" id="{A5EE1D41-57B8-5214-9454-F090CEA60970}"/>
                  </a:ext>
                </a:extLst>
              </p:cNvPr>
              <p:cNvSpPr txBox="1">
                <a:spLocks noRot="1" noChangeAspect="1" noMove="1" noResize="1" noEditPoints="1" noAdjustHandles="1" noChangeArrowheads="1" noChangeShapeType="1" noTextEdit="1"/>
              </p:cNvSpPr>
              <p:nvPr/>
            </p:nvSpPr>
            <p:spPr>
              <a:xfrm>
                <a:off x="1143744" y="3369887"/>
                <a:ext cx="9902923" cy="3088474"/>
              </a:xfrm>
              <a:prstGeom prst="rect">
                <a:avLst/>
              </a:prstGeom>
              <a:blipFill>
                <a:blip r:embed="rId4"/>
                <a:stretch>
                  <a:fillRect t="-1639" b="-1475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3405016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747A9-C7C3-0735-2E9C-B61287226070}"/>
            </a:ext>
          </a:extLst>
        </p:cNvPr>
        <p:cNvGrpSpPr/>
        <p:nvPr/>
      </p:nvGrpSpPr>
      <p:grpSpPr>
        <a:xfrm>
          <a:off x="0" y="0"/>
          <a:ext cx="0" cy="0"/>
          <a:chOff x="0" y="0"/>
          <a:chExt cx="0" cy="0"/>
        </a:xfrm>
      </p:grpSpPr>
      <p:sp>
        <p:nvSpPr>
          <p:cNvPr id="45" name="标题">
            <a:extLst>
              <a:ext uri="{FF2B5EF4-FFF2-40B4-BE49-F238E27FC236}">
                <a16:creationId xmlns:a16="http://schemas.microsoft.com/office/drawing/2014/main" id="{B07F81EE-4ACF-515B-D16E-088C624E1B3D}"/>
              </a:ext>
            </a:extLst>
          </p:cNvPr>
          <p:cNvSpPr txBox="1"/>
          <p:nvPr/>
        </p:nvSpPr>
        <p:spPr>
          <a:xfrm>
            <a:off x="614452" y="332656"/>
            <a:ext cx="4261118" cy="523220"/>
          </a:xfrm>
          <a:prstGeom prst="rect">
            <a:avLst/>
          </a:prstGeom>
          <a:noFill/>
        </p:spPr>
        <p:txBody>
          <a:bodyPr wrap="square"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梅森公式应用</a:t>
            </a:r>
          </a:p>
        </p:txBody>
      </p:sp>
      <p:pic>
        <p:nvPicPr>
          <p:cNvPr id="2" name="图片 1">
            <a:extLst>
              <a:ext uri="{FF2B5EF4-FFF2-40B4-BE49-F238E27FC236}">
                <a16:creationId xmlns:a16="http://schemas.microsoft.com/office/drawing/2014/main" id="{D77484AA-E7EA-592C-39EF-164AA1206256}"/>
              </a:ext>
            </a:extLst>
          </p:cNvPr>
          <p:cNvPicPr>
            <a:picLocks noChangeAspect="1"/>
          </p:cNvPicPr>
          <p:nvPr/>
        </p:nvPicPr>
        <p:blipFill>
          <a:blip r:embed="rId3"/>
          <a:stretch>
            <a:fillRect/>
          </a:stretch>
        </p:blipFill>
        <p:spPr>
          <a:xfrm>
            <a:off x="5447134" y="332656"/>
            <a:ext cx="6110552" cy="2786145"/>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A75DE778-7B2C-440E-A4CD-4C790EB2F53C}"/>
                  </a:ext>
                </a:extLst>
              </p:cNvPr>
              <p:cNvSpPr txBox="1"/>
              <p:nvPr/>
            </p:nvSpPr>
            <p:spPr>
              <a:xfrm>
                <a:off x="838622" y="3212976"/>
                <a:ext cx="11207774" cy="3450304"/>
              </a:xfrm>
              <a:prstGeom prst="rect">
                <a:avLst/>
              </a:prstGeom>
              <a:noFill/>
            </p:spPr>
            <p:txBody>
              <a:bodyPr wrap="square">
                <a:spAutoFit/>
              </a:bodyPr>
              <a:lstStyle/>
              <a:p>
                <a:pPr indent="304800"/>
                <a:r>
                  <a:rPr lang="zh-CN" altLang="zh-CN" sz="2400" dirty="0">
                    <a:effectLst/>
                    <a:latin typeface="+mn-ea"/>
                    <a:cs typeface="Times New Roman (正文 CS 字体)"/>
                  </a:rPr>
                  <a:t>其存在两条前向通道，三个单独回路，两对互不接触回路，即</a:t>
                </a:r>
              </a:p>
              <a:p>
                <a:pPr indent="304800"/>
                <a14:m>
                  <m:oMathPara xmlns:m="http://schemas.openxmlformats.org/officeDocument/2006/math">
                    <m:oMathParaPr>
                      <m:jc m:val="centerGroup"/>
                    </m:oMathParaPr>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1</m:t>
                          </m:r>
                        </m:sub>
                      </m:sSub>
                      <m:r>
                        <a:rPr lang="en-US" altLang="zh-CN" sz="2400" i="1">
                          <a:effectLst/>
                          <a:latin typeface="Cambria Math" panose="02040503050406030204" pitchFamily="18" charset="0"/>
                          <a:cs typeface="Times New Roman (正文 CS 字体)"/>
                        </a:rPr>
                        <m:t>=−0.5, </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2</m:t>
                          </m:r>
                        </m:sub>
                      </m:sSub>
                      <m:r>
                        <a:rPr lang="en-US" altLang="zh-CN" sz="2400" i="1">
                          <a:effectLst/>
                          <a:latin typeface="Cambria Math" panose="02040503050406030204" pitchFamily="18" charset="0"/>
                          <a:cs typeface="Times New Roman (正文 CS 字体)"/>
                        </a:rPr>
                        <m:t>=−1×10, </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3</m:t>
                          </m:r>
                        </m:sub>
                      </m:sSub>
                      <m:r>
                        <a:rPr lang="en-US" altLang="zh-CN" sz="2400" i="1">
                          <a:effectLst/>
                          <a:latin typeface="Cambria Math" panose="02040503050406030204" pitchFamily="18" charset="0"/>
                          <a:cs typeface="Times New Roman (正文 CS 字体)"/>
                        </a:rPr>
                        <m:t>=−1×2</m:t>
                      </m:r>
                    </m:oMath>
                  </m:oMathPara>
                </a14:m>
                <a:endParaRPr lang="zh-CN" altLang="zh-CN" sz="2400" dirty="0">
                  <a:effectLst/>
                  <a:latin typeface="+mn-ea"/>
                  <a:cs typeface="Times New Roman (正文 CS 字体)"/>
                </a:endParaRPr>
              </a:p>
              <a:p>
                <a:pPr indent="304800"/>
                <a14:m>
                  <m:oMathPara xmlns:m="http://schemas.openxmlformats.org/officeDocument/2006/math">
                    <m:oMathParaPr>
                      <m:jc m:val="centerGroup"/>
                    </m:oMathParaPr>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1</m:t>
                          </m:r>
                        </m:sub>
                      </m:sSub>
                      <m:r>
                        <a:rPr lang="zh-CN" altLang="zh-CN" sz="2400">
                          <a:effectLst/>
                          <a:latin typeface="Cambria Math" panose="02040503050406030204" pitchFamily="18" charset="0"/>
                          <a:cs typeface="Times New Roman (正文 CS 字体)"/>
                        </a:rPr>
                        <m:t>与</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2</m:t>
                          </m:r>
                        </m:sub>
                      </m:sSub>
                      <m:r>
                        <a:rPr lang="zh-CN" altLang="zh-CN" sz="2400">
                          <a:effectLst/>
                          <a:latin typeface="Cambria Math" panose="02040503050406030204" pitchFamily="18" charset="0"/>
                          <a:cs typeface="Times New Roman (正文 CS 字体)"/>
                        </a:rPr>
                        <m:t>不接触，</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1</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2</m:t>
                          </m:r>
                        </m:sub>
                      </m:sSub>
                      <m:r>
                        <a:rPr lang="en-US" altLang="zh-CN" sz="2400" i="1">
                          <a:effectLst/>
                          <a:latin typeface="Cambria Math" panose="02040503050406030204" pitchFamily="18" charset="0"/>
                          <a:cs typeface="Times New Roman (正文 CS 字体)"/>
                        </a:rPr>
                        <m:t>=5</m:t>
                      </m:r>
                      <m:r>
                        <a:rPr lang="zh-CN"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1</m:t>
                          </m:r>
                        </m:sub>
                      </m:sSub>
                      <m:r>
                        <a:rPr lang="zh-CN" altLang="zh-CN" sz="2400">
                          <a:effectLst/>
                          <a:latin typeface="Cambria Math" panose="02040503050406030204" pitchFamily="18" charset="0"/>
                          <a:cs typeface="Times New Roman (正文 CS 字体)"/>
                        </a:rPr>
                        <m:t>与</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3</m:t>
                          </m:r>
                        </m:sub>
                      </m:sSub>
                      <m:r>
                        <a:rPr lang="zh-CN" altLang="zh-CN" sz="2400">
                          <a:effectLst/>
                          <a:latin typeface="Cambria Math" panose="02040503050406030204" pitchFamily="18" charset="0"/>
                          <a:cs typeface="Times New Roman (正文 CS 字体)"/>
                        </a:rPr>
                        <m:t>不接触，</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1</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3</m:t>
                          </m:r>
                        </m:sub>
                      </m:sSub>
                      <m:r>
                        <a:rPr lang="en-US" altLang="zh-CN" sz="2400" i="1">
                          <a:effectLst/>
                          <a:latin typeface="Cambria Math" panose="02040503050406030204" pitchFamily="18" charset="0"/>
                          <a:cs typeface="Times New Roman (正文 CS 字体)"/>
                        </a:rPr>
                        <m:t>=1</m:t>
                      </m:r>
                    </m:oMath>
                  </m:oMathPara>
                </a14:m>
                <a:endParaRPr lang="zh-CN" altLang="zh-CN" sz="2400" dirty="0">
                  <a:effectLst/>
                  <a:latin typeface="+mn-ea"/>
                  <a:cs typeface="Times New Roman (正文 CS 字体)"/>
                </a:endParaRPr>
              </a:p>
              <a:p>
                <a:pPr indent="304800"/>
                <a14:m>
                  <m:oMathPara xmlns:m="http://schemas.openxmlformats.org/officeDocument/2006/math">
                    <m:oMathParaPr>
                      <m:jc m:val="centerGroup"/>
                    </m:oMathParaPr>
                    <m:oMath xmlns:m="http://schemas.openxmlformats.org/officeDocument/2006/math">
                      <m:r>
                        <m:rPr>
                          <m:sty m:val="p"/>
                        </m:rPr>
                        <a:rPr lang="en-US" altLang="zh-CN" sz="2400">
                          <a:effectLst/>
                          <a:latin typeface="Cambria Math" panose="02040503050406030204" pitchFamily="18" charset="0"/>
                          <a:cs typeface="Times New Roman (正文 CS 字体)"/>
                        </a:rPr>
                        <m:t>Δ</m:t>
                      </m:r>
                      <m:r>
                        <a:rPr lang="en-US" altLang="zh-CN" sz="2400" i="1">
                          <a:effectLst/>
                          <a:latin typeface="Cambria Math" panose="02040503050406030204" pitchFamily="18" charset="0"/>
                          <a:cs typeface="Times New Roman (正文 CS 字体)"/>
                        </a:rPr>
                        <m:t>=1−</m:t>
                      </m:r>
                      <m:d>
                        <m:dPr>
                          <m:ctrlPr>
                            <a:rPr lang="zh-CN" altLang="zh-CN" sz="2400" i="1">
                              <a:effectLst/>
                              <a:latin typeface="Cambria Math" panose="02040503050406030204" pitchFamily="18" charset="0"/>
                              <a:cs typeface="Times New Roman (正文 CS 字体)"/>
                            </a:rPr>
                          </m:ctrlPr>
                        </m:dPr>
                        <m:e>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1</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2</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3</m:t>
                              </m:r>
                            </m:sub>
                          </m:sSub>
                        </m:e>
                      </m:d>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1</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2</m:t>
                          </m:r>
                        </m:sub>
                      </m:sSub>
                      <m:r>
                        <a:rPr lang="en-US"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1</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3</m:t>
                          </m:r>
                        </m:sub>
                      </m:sSub>
                      <m:r>
                        <a:rPr lang="en-US" altLang="zh-CN" sz="2400" i="1">
                          <a:effectLst/>
                          <a:latin typeface="Cambria Math" panose="02040503050406030204" pitchFamily="18" charset="0"/>
                          <a:cs typeface="Times New Roman (正文 CS 字体)"/>
                        </a:rPr>
                        <m:t>=1+0.5+10+2+5+1=19.5</m:t>
                      </m:r>
                    </m:oMath>
                  </m:oMathPara>
                </a14:m>
                <a:endParaRPr lang="zh-CN" altLang="zh-CN" sz="2400" dirty="0">
                  <a:effectLst/>
                  <a:latin typeface="+mn-ea"/>
                  <a:cs typeface="Times New Roman (正文 CS 字体)"/>
                </a:endParaRPr>
              </a:p>
              <a:p>
                <a:pPr indent="304800"/>
                <a14:m>
                  <m:oMathPara xmlns:m="http://schemas.openxmlformats.org/officeDocument/2006/math">
                    <m:oMathParaPr>
                      <m:jc m:val="centerGroup"/>
                    </m:oMathParaPr>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𝑝</m:t>
                          </m:r>
                        </m:e>
                        <m:sub>
                          <m:r>
                            <a:rPr lang="en-US" altLang="zh-CN" sz="2400" i="1">
                              <a:effectLst/>
                              <a:latin typeface="Cambria Math" panose="02040503050406030204" pitchFamily="18" charset="0"/>
                              <a:cs typeface="Times New Roman (正文 CS 字体)"/>
                            </a:rPr>
                            <m:t>1</m:t>
                          </m:r>
                        </m:sub>
                      </m:sSub>
                      <m:r>
                        <a:rPr lang="en-US" altLang="zh-CN" sz="2400" i="1">
                          <a:effectLst/>
                          <a:latin typeface="Cambria Math" panose="02040503050406030204" pitchFamily="18" charset="0"/>
                          <a:cs typeface="Times New Roman (正文 CS 字体)"/>
                        </a:rPr>
                        <m:t>=5×10=50, </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1</m:t>
                          </m:r>
                        </m:sub>
                      </m:sSub>
                      <m:r>
                        <a:rPr lang="zh-CN" altLang="zh-CN" sz="2400">
                          <a:effectLst/>
                          <a:latin typeface="Cambria Math" panose="02040503050406030204" pitchFamily="18" charset="0"/>
                          <a:cs typeface="Times New Roman (正文 CS 字体)"/>
                        </a:rPr>
                        <m:t>与</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𝑝</m:t>
                          </m:r>
                        </m:e>
                        <m:sub>
                          <m:r>
                            <a:rPr lang="en-US" altLang="zh-CN" sz="2400" i="1">
                              <a:effectLst/>
                              <a:latin typeface="Cambria Math" panose="02040503050406030204" pitchFamily="18" charset="0"/>
                              <a:cs typeface="Times New Roman (正文 CS 字体)"/>
                            </a:rPr>
                            <m:t>1</m:t>
                          </m:r>
                        </m:sub>
                      </m:sSub>
                      <m:r>
                        <a:rPr lang="zh-CN" altLang="zh-CN" sz="2400">
                          <a:effectLst/>
                          <a:latin typeface="Cambria Math" panose="02040503050406030204" pitchFamily="18" charset="0"/>
                          <a:cs typeface="Times New Roman (正文 CS 字体)"/>
                        </a:rPr>
                        <m:t>不接触</m:t>
                      </m:r>
                      <m:r>
                        <a:rPr lang="zh-CN"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m:rPr>
                              <m:sty m:val="p"/>
                            </m:rPr>
                            <a:rPr lang="en-US" altLang="zh-CN" sz="2400">
                              <a:effectLst/>
                              <a:latin typeface="Cambria Math" panose="02040503050406030204" pitchFamily="18" charset="0"/>
                              <a:cs typeface="Times New Roman (正文 CS 字体)"/>
                            </a:rPr>
                            <m:t>Δ</m:t>
                          </m:r>
                        </m:e>
                        <m:sub>
                          <m:r>
                            <a:rPr lang="en-US" altLang="zh-CN" sz="2400" i="1">
                              <a:effectLst/>
                              <a:latin typeface="Cambria Math" panose="02040503050406030204" pitchFamily="18" charset="0"/>
                              <a:cs typeface="Times New Roman (正文 CS 字体)"/>
                            </a:rPr>
                            <m:t>1</m:t>
                          </m:r>
                        </m:sub>
                      </m:sSub>
                      <m:r>
                        <a:rPr lang="en-US" altLang="zh-CN" sz="2400" i="1">
                          <a:effectLst/>
                          <a:latin typeface="Cambria Math" panose="02040503050406030204" pitchFamily="18" charset="0"/>
                          <a:cs typeface="Times New Roman (正文 CS 字体)"/>
                        </a:rPr>
                        <m:t>=1+0.5=1.5</m:t>
                      </m:r>
                    </m:oMath>
                  </m:oMathPara>
                </a14:m>
                <a:endParaRPr lang="zh-CN" altLang="zh-CN" sz="2400" dirty="0">
                  <a:effectLst/>
                  <a:latin typeface="+mn-ea"/>
                  <a:cs typeface="Times New Roman (正文 CS 字体)"/>
                </a:endParaRPr>
              </a:p>
              <a:p>
                <a:pPr indent="304800"/>
                <a14:m>
                  <m:oMathPara xmlns:m="http://schemas.openxmlformats.org/officeDocument/2006/math">
                    <m:oMathParaPr>
                      <m:jc m:val="centerGroup"/>
                    </m:oMathParaPr>
                    <m:oMath xmlns:m="http://schemas.openxmlformats.org/officeDocument/2006/math">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𝑝</m:t>
                          </m:r>
                        </m:e>
                        <m:sub>
                          <m:r>
                            <a:rPr lang="en-US" altLang="zh-CN" sz="2400" i="1">
                              <a:effectLst/>
                              <a:latin typeface="Cambria Math" panose="02040503050406030204" pitchFamily="18" charset="0"/>
                              <a:cs typeface="Times New Roman (正文 CS 字体)"/>
                            </a:rPr>
                            <m:t>2</m:t>
                          </m:r>
                        </m:sub>
                      </m:sSub>
                      <m:r>
                        <a:rPr lang="en-US" altLang="zh-CN" sz="2400" i="1">
                          <a:effectLst/>
                          <a:latin typeface="Cambria Math" panose="02040503050406030204" pitchFamily="18" charset="0"/>
                          <a:cs typeface="Times New Roman (正文 CS 字体)"/>
                        </a:rPr>
                        <m:t>=2×10=20, </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𝐿</m:t>
                          </m:r>
                        </m:e>
                        <m:sub>
                          <m:r>
                            <a:rPr lang="en-US" altLang="zh-CN" sz="2400" i="1">
                              <a:effectLst/>
                              <a:latin typeface="Cambria Math" panose="02040503050406030204" pitchFamily="18" charset="0"/>
                              <a:cs typeface="Times New Roman (正文 CS 字体)"/>
                            </a:rPr>
                            <m:t>2</m:t>
                          </m:r>
                        </m:sub>
                      </m:sSub>
                      <m:r>
                        <a:rPr lang="zh-CN" altLang="zh-CN" sz="2400">
                          <a:effectLst/>
                          <a:latin typeface="Cambria Math" panose="02040503050406030204" pitchFamily="18" charset="0"/>
                          <a:cs typeface="Times New Roman (正文 CS 字体)"/>
                        </a:rPr>
                        <m:t>与</m:t>
                      </m:r>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𝑝</m:t>
                          </m:r>
                        </m:e>
                        <m:sub>
                          <m:r>
                            <a:rPr lang="en-US" altLang="zh-CN" sz="2400" i="1">
                              <a:effectLst/>
                              <a:latin typeface="Cambria Math" panose="02040503050406030204" pitchFamily="18" charset="0"/>
                              <a:cs typeface="Times New Roman (正文 CS 字体)"/>
                            </a:rPr>
                            <m:t>2</m:t>
                          </m:r>
                        </m:sub>
                      </m:sSub>
                      <m:r>
                        <a:rPr lang="zh-CN" altLang="zh-CN" sz="2400">
                          <a:effectLst/>
                          <a:latin typeface="Cambria Math" panose="02040503050406030204" pitchFamily="18" charset="0"/>
                          <a:cs typeface="Times New Roman (正文 CS 字体)"/>
                        </a:rPr>
                        <m:t>不接触</m:t>
                      </m:r>
                      <m:r>
                        <a:rPr lang="zh-CN" altLang="zh-CN" sz="2400" i="1">
                          <a:effectLst/>
                          <a:latin typeface="Cambria Math" panose="02040503050406030204" pitchFamily="18" charset="0"/>
                          <a:cs typeface="Times New Roman (正文 CS 字体)"/>
                        </a:rPr>
                        <m:t>，</m:t>
                      </m:r>
                      <m:sSub>
                        <m:sSubPr>
                          <m:ctrlPr>
                            <a:rPr lang="zh-CN" altLang="zh-CN" sz="2400" i="1">
                              <a:effectLst/>
                              <a:latin typeface="Cambria Math" panose="02040503050406030204" pitchFamily="18" charset="0"/>
                              <a:cs typeface="Times New Roman (正文 CS 字体)"/>
                            </a:rPr>
                          </m:ctrlPr>
                        </m:sSubPr>
                        <m:e>
                          <m:r>
                            <m:rPr>
                              <m:sty m:val="p"/>
                            </m:rPr>
                            <a:rPr lang="en-US" altLang="zh-CN" sz="2400">
                              <a:effectLst/>
                              <a:latin typeface="Cambria Math" panose="02040503050406030204" pitchFamily="18" charset="0"/>
                              <a:cs typeface="Times New Roman (正文 CS 字体)"/>
                            </a:rPr>
                            <m:t>Δ</m:t>
                          </m:r>
                        </m:e>
                        <m:sub>
                          <m:r>
                            <a:rPr lang="en-US" altLang="zh-CN" sz="2400" i="1">
                              <a:effectLst/>
                              <a:latin typeface="Cambria Math" panose="02040503050406030204" pitchFamily="18" charset="0"/>
                              <a:cs typeface="Times New Roman (正文 CS 字体)"/>
                            </a:rPr>
                            <m:t>2</m:t>
                          </m:r>
                        </m:sub>
                      </m:sSub>
                      <m:r>
                        <a:rPr lang="en-US" altLang="zh-CN" sz="2400" i="1">
                          <a:effectLst/>
                          <a:latin typeface="Cambria Math" panose="02040503050406030204" pitchFamily="18" charset="0"/>
                          <a:cs typeface="Times New Roman (正文 CS 字体)"/>
                        </a:rPr>
                        <m:t>=1+10=11</m:t>
                      </m:r>
                    </m:oMath>
                  </m:oMathPara>
                </a14:m>
                <a:endParaRPr lang="zh-CN" altLang="zh-CN" sz="2400" dirty="0">
                  <a:effectLst/>
                  <a:latin typeface="+mn-ea"/>
                  <a:cs typeface="Times New Roman (正文 CS 字体)"/>
                </a:endParaRPr>
              </a:p>
              <a:p>
                <a:pPr indent="304800"/>
                <a:r>
                  <a:rPr lang="zh-CN" altLang="zh-CN" sz="2400" dirty="0">
                    <a:effectLst/>
                    <a:latin typeface="+mn-ea"/>
                    <a:cs typeface="Times New Roman (正文 CS 字体)"/>
                  </a:rPr>
                  <a:t>由梅森增益公式可得系统的传递函数为</a:t>
                </a:r>
              </a:p>
              <a:p>
                <a:pPr indent="304800"/>
                <a14:m>
                  <m:oMathPara xmlns:m="http://schemas.openxmlformats.org/officeDocument/2006/math">
                    <m:oMathParaPr>
                      <m:jc m:val="centerGroup"/>
                    </m:oMathParaPr>
                    <m:oMath xmlns:m="http://schemas.openxmlformats.org/officeDocument/2006/math">
                      <m:f>
                        <m:fPr>
                          <m:ctrlPr>
                            <a:rPr lang="zh-CN" altLang="zh-CN" sz="2400" i="1">
                              <a:effectLst/>
                              <a:latin typeface="Cambria Math" panose="02040503050406030204" pitchFamily="18" charset="0"/>
                              <a:cs typeface="Times New Roman (正文 CS 字体)"/>
                            </a:rPr>
                          </m:ctrlPr>
                        </m:fPr>
                        <m:num>
                          <m:r>
                            <a:rPr lang="en-US" altLang="zh-CN" sz="2400" i="1">
                              <a:effectLst/>
                              <a:latin typeface="Cambria Math" panose="02040503050406030204" pitchFamily="18" charset="0"/>
                              <a:cs typeface="Times New Roman (正文 CS 字体)"/>
                            </a:rPr>
                            <m:t>𝐶</m:t>
                          </m:r>
                          <m:d>
                            <m:dPr>
                              <m:ctrlPr>
                                <a:rPr lang="zh-CN" altLang="zh-CN" sz="2400" i="1">
                                  <a:effectLst/>
                                  <a:latin typeface="Cambria Math" panose="02040503050406030204" pitchFamily="18" charset="0"/>
                                  <a:cs typeface="Times New Roman (正文 CS 字体)"/>
                                </a:rPr>
                              </m:ctrlPr>
                            </m:dPr>
                            <m:e>
                              <m:r>
                                <a:rPr lang="en-US" altLang="zh-CN" sz="2400" i="1">
                                  <a:effectLst/>
                                  <a:latin typeface="Cambria Math" panose="02040503050406030204" pitchFamily="18" charset="0"/>
                                  <a:cs typeface="Times New Roman (正文 CS 字体)"/>
                                </a:rPr>
                                <m:t>𝑠</m:t>
                              </m:r>
                            </m:e>
                          </m:d>
                        </m:num>
                        <m:den>
                          <m:r>
                            <a:rPr lang="en-US" altLang="zh-CN" sz="2400" i="1">
                              <a:effectLst/>
                              <a:latin typeface="Cambria Math" panose="02040503050406030204" pitchFamily="18" charset="0"/>
                              <a:cs typeface="Times New Roman (正文 CS 字体)"/>
                            </a:rPr>
                            <m:t>𝑅</m:t>
                          </m:r>
                          <m:d>
                            <m:dPr>
                              <m:ctrlPr>
                                <a:rPr lang="zh-CN" altLang="zh-CN" sz="2400" i="1">
                                  <a:effectLst/>
                                  <a:latin typeface="Cambria Math" panose="02040503050406030204" pitchFamily="18" charset="0"/>
                                  <a:cs typeface="Times New Roman (正文 CS 字体)"/>
                                </a:rPr>
                              </m:ctrlPr>
                            </m:dPr>
                            <m:e>
                              <m:r>
                                <a:rPr lang="en-US" altLang="zh-CN" sz="2400" i="1">
                                  <a:effectLst/>
                                  <a:latin typeface="Cambria Math" panose="02040503050406030204" pitchFamily="18" charset="0"/>
                                  <a:cs typeface="Times New Roman (正文 CS 字体)"/>
                                </a:rPr>
                                <m:t>𝑠</m:t>
                              </m:r>
                            </m:e>
                          </m:d>
                        </m:den>
                      </m:f>
                      <m:r>
                        <a:rPr lang="en-US" altLang="zh-CN" sz="2400" i="1">
                          <a:effectLst/>
                          <a:latin typeface="Cambria Math" panose="02040503050406030204" pitchFamily="18" charset="0"/>
                          <a:cs typeface="Times New Roman (正文 CS 字体)"/>
                        </a:rPr>
                        <m:t>=</m:t>
                      </m:r>
                      <m:f>
                        <m:fPr>
                          <m:ctrlPr>
                            <a:rPr lang="zh-CN" altLang="zh-CN" sz="2400" i="1">
                              <a:effectLst/>
                              <a:latin typeface="Cambria Math" panose="02040503050406030204" pitchFamily="18" charset="0"/>
                              <a:cs typeface="Times New Roman (正文 CS 字体)"/>
                            </a:rPr>
                          </m:ctrlPr>
                        </m:fPr>
                        <m:num>
                          <m:nary>
                            <m:naryPr>
                              <m:chr m:val="∑"/>
                              <m:subHide m:val="on"/>
                              <m:supHide m:val="on"/>
                              <m:ctrlPr>
                                <a:rPr lang="zh-CN" altLang="zh-CN" sz="2400" i="1">
                                  <a:effectLst/>
                                  <a:latin typeface="Cambria Math" panose="02040503050406030204" pitchFamily="18" charset="0"/>
                                  <a:cs typeface="Times New Roman (正文 CS 字体)"/>
                                </a:rPr>
                              </m:ctrlPr>
                            </m:naryPr>
                            <m:sub/>
                            <m:sup/>
                            <m:e>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𝑝</m:t>
                                  </m:r>
                                </m:e>
                                <m:sub>
                                  <m:r>
                                    <a:rPr lang="en-US" altLang="zh-CN" sz="2400" i="1">
                                      <a:effectLst/>
                                      <a:latin typeface="Cambria Math" panose="02040503050406030204" pitchFamily="18" charset="0"/>
                                      <a:cs typeface="Times New Roman (正文 CS 字体)"/>
                                    </a:rPr>
                                    <m:t>𝑖</m:t>
                                  </m:r>
                                </m:sub>
                              </m:sSub>
                              <m:sSub>
                                <m:sSubPr>
                                  <m:ctrlPr>
                                    <a:rPr lang="zh-CN" altLang="zh-CN" sz="2400" i="1">
                                      <a:effectLst/>
                                      <a:latin typeface="Cambria Math" panose="02040503050406030204" pitchFamily="18" charset="0"/>
                                      <a:cs typeface="Times New Roman (正文 CS 字体)"/>
                                    </a:rPr>
                                  </m:ctrlPr>
                                </m:sSubPr>
                                <m:e>
                                  <m:r>
                                    <a:rPr lang="en-US" altLang="zh-CN" sz="2400" i="1">
                                      <a:effectLst/>
                                      <a:latin typeface="Cambria Math" panose="02040503050406030204" pitchFamily="18" charset="0"/>
                                      <a:cs typeface="Times New Roman (正文 CS 字体)"/>
                                    </a:rPr>
                                    <m:t>𝛥</m:t>
                                  </m:r>
                                </m:e>
                                <m:sub>
                                  <m:r>
                                    <a:rPr lang="en-US" altLang="zh-CN" sz="2400" i="1">
                                      <a:effectLst/>
                                      <a:latin typeface="Cambria Math" panose="02040503050406030204" pitchFamily="18" charset="0"/>
                                      <a:cs typeface="Times New Roman (正文 CS 字体)"/>
                                    </a:rPr>
                                    <m:t>𝑖</m:t>
                                  </m:r>
                                </m:sub>
                              </m:sSub>
                            </m:e>
                          </m:nary>
                        </m:num>
                        <m:den>
                          <m:r>
                            <a:rPr lang="en-US" altLang="zh-CN" sz="2400" i="1">
                              <a:effectLst/>
                              <a:latin typeface="Cambria Math" panose="02040503050406030204" pitchFamily="18" charset="0"/>
                              <a:cs typeface="Times New Roman (正文 CS 字体)"/>
                            </a:rPr>
                            <m:t>𝛥</m:t>
                          </m:r>
                        </m:den>
                      </m:f>
                      <m:r>
                        <a:rPr lang="en-US" altLang="zh-CN" sz="2400" i="1">
                          <a:effectLst/>
                          <a:latin typeface="Cambria Math" panose="02040503050406030204" pitchFamily="18" charset="0"/>
                          <a:cs typeface="Times New Roman (正文 CS 字体)"/>
                        </a:rPr>
                        <m:t>=</m:t>
                      </m:r>
                      <m:f>
                        <m:fPr>
                          <m:ctrlPr>
                            <a:rPr lang="zh-CN" altLang="zh-CN" sz="2400" i="1">
                              <a:effectLst/>
                              <a:latin typeface="Cambria Math" panose="02040503050406030204" pitchFamily="18" charset="0"/>
                              <a:cs typeface="Times New Roman (正文 CS 字体)"/>
                            </a:rPr>
                          </m:ctrlPr>
                        </m:fPr>
                        <m:num>
                          <m:r>
                            <a:rPr lang="en-US" altLang="zh-CN" sz="2400" i="1">
                              <a:effectLst/>
                              <a:latin typeface="Cambria Math" panose="02040503050406030204" pitchFamily="18" charset="0"/>
                              <a:cs typeface="Times New Roman (正文 CS 字体)"/>
                            </a:rPr>
                            <m:t>5×1.5+20×11</m:t>
                          </m:r>
                        </m:num>
                        <m:den>
                          <m:r>
                            <a:rPr lang="en-US" altLang="zh-CN" sz="2400" i="1">
                              <a:effectLst/>
                              <a:latin typeface="Cambria Math" panose="02040503050406030204" pitchFamily="18" charset="0"/>
                              <a:cs typeface="Times New Roman (正文 CS 字体)"/>
                            </a:rPr>
                            <m:t>19.5</m:t>
                          </m:r>
                        </m:den>
                      </m:f>
                      <m:r>
                        <a:rPr lang="en-US" altLang="zh-CN" sz="2400" i="1">
                          <a:effectLst/>
                          <a:latin typeface="Cambria Math" panose="02040503050406030204" pitchFamily="18" charset="0"/>
                          <a:cs typeface="Times New Roman (正文 CS 字体)"/>
                        </a:rPr>
                        <m:t>=15.128</m:t>
                      </m:r>
                    </m:oMath>
                  </m:oMathPara>
                </a14:m>
                <a:endParaRPr lang="zh-CN" altLang="zh-CN" sz="2400" dirty="0">
                  <a:effectLst/>
                  <a:latin typeface="+mn-ea"/>
                  <a:cs typeface="Times New Roman (正文 CS 字体)"/>
                </a:endParaRPr>
              </a:p>
            </p:txBody>
          </p:sp>
        </mc:Choice>
        <mc:Fallback xmlns="">
          <p:sp>
            <p:nvSpPr>
              <p:cNvPr id="5" name="文本框 4">
                <a:extLst>
                  <a:ext uri="{FF2B5EF4-FFF2-40B4-BE49-F238E27FC236}">
                    <a16:creationId xmlns:a16="http://schemas.microsoft.com/office/drawing/2014/main" id="{A75DE778-7B2C-440E-A4CD-4C790EB2F53C}"/>
                  </a:ext>
                </a:extLst>
              </p:cNvPr>
              <p:cNvSpPr txBox="1">
                <a:spLocks noRot="1" noChangeAspect="1" noMove="1" noResize="1" noEditPoints="1" noAdjustHandles="1" noChangeArrowheads="1" noChangeShapeType="1" noTextEdit="1"/>
              </p:cNvSpPr>
              <p:nvPr/>
            </p:nvSpPr>
            <p:spPr>
              <a:xfrm>
                <a:off x="838622" y="3212976"/>
                <a:ext cx="11207774" cy="3450304"/>
              </a:xfrm>
              <a:prstGeom prst="rect">
                <a:avLst/>
              </a:prstGeom>
              <a:blipFill>
                <a:blip r:embed="rId4"/>
                <a:stretch>
                  <a:fillRect t="-1099" b="-1355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1418051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withEffect">
                                  <p:stCondLst>
                                    <p:cond delay="0"/>
                                  </p:stCondLst>
                                  <p:iterate type="lt">
                                    <p:tmPct val="10000"/>
                                  </p:iterate>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p:tgtEl>
                                          <p:spTgt spid="45"/>
                                        </p:tgtEl>
                                        <p:attrNameLst>
                                          <p:attrName>ppt_x</p:attrName>
                                        </p:attrNameLst>
                                      </p:cBhvr>
                                      <p:tavLst>
                                        <p:tav tm="0">
                                          <p:val>
                                            <p:strVal val="#ppt_x-#ppt_w*1.125000"/>
                                          </p:val>
                                        </p:tav>
                                        <p:tav tm="100000">
                                          <p:val>
                                            <p:strVal val="#ppt_x"/>
                                          </p:val>
                                        </p:tav>
                                      </p:tavLst>
                                    </p:anim>
                                    <p:animEffect transition="in" filter="wipe(right)">
                                      <p:cBhvr>
                                        <p:cTn id="8"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信息化教学设计"/>
</p:tagLst>
</file>

<file path=ppt/theme/theme1.xml><?xml version="1.0" encoding="utf-8"?>
<a:theme xmlns:a="http://schemas.openxmlformats.org/drawingml/2006/main" name="Office 主题​​">
  <a:themeElements>
    <a:clrScheme name="自定义 222">
      <a:dk1>
        <a:srgbClr val="000000"/>
      </a:dk1>
      <a:lt1>
        <a:srgbClr val="FFFFFF"/>
      </a:lt1>
      <a:dk2>
        <a:srgbClr val="768395"/>
      </a:dk2>
      <a:lt2>
        <a:srgbClr val="F0F0F0"/>
      </a:lt2>
      <a:accent1>
        <a:srgbClr val="2980B9"/>
      </a:accent1>
      <a:accent2>
        <a:srgbClr val="159F84"/>
      </a:accent2>
      <a:accent3>
        <a:srgbClr val="9BBB59"/>
      </a:accent3>
      <a:accent4>
        <a:srgbClr val="F29B11"/>
      </a:accent4>
      <a:accent5>
        <a:srgbClr val="BF382A"/>
      </a:accent5>
      <a:accent6>
        <a:srgbClr val="A7459D"/>
      </a:accent6>
      <a:hlink>
        <a:srgbClr val="2980B9"/>
      </a:hlink>
      <a:folHlink>
        <a:srgbClr val="BFBFBF"/>
      </a:folHlink>
    </a:clrScheme>
    <a:fontScheme name="自定义 1">
      <a:majorFont>
        <a:latin typeface="Calibri"/>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tailEnd type="triangle"/>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淘宝店：章瑾图文</Template>
  <TotalTime>22918</TotalTime>
  <Words>930</Words>
  <Application>Microsoft Macintosh PowerPoint</Application>
  <PresentationFormat>自定义</PresentationFormat>
  <Paragraphs>68</Paragraphs>
  <Slides>11</Slides>
  <Notes>11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11</vt:i4>
      </vt:variant>
    </vt:vector>
  </HeadingPairs>
  <TitlesOfParts>
    <vt:vector size="20" baseType="lpstr">
      <vt:lpstr>等线</vt:lpstr>
      <vt:lpstr>汉仪菱心体简</vt:lpstr>
      <vt:lpstr>微软雅黑</vt:lpstr>
      <vt:lpstr>Arial</vt:lpstr>
      <vt:lpstr>Calibri</vt:lpstr>
      <vt:lpstr>Cambria Math</vt:lpstr>
      <vt:lpstr>Gill Sans Ultra Bold</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subject/>
  <dc:creator>章瑾图文</dc:creator>
  <cp:keywords/>
  <dc:description/>
  <cp:lastModifiedBy>Yong-Wei Zhang</cp:lastModifiedBy>
  <cp:revision>576</cp:revision>
  <dcterms:created xsi:type="dcterms:W3CDTF">2012-09-21T08:06:35Z</dcterms:created>
  <dcterms:modified xsi:type="dcterms:W3CDTF">2026-03-26T04:26:31Z</dcterms:modified>
  <cp:category/>
</cp:coreProperties>
</file>