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53" r:id="rId2"/>
    <p:sldId id="510" r:id="rId3"/>
    <p:sldId id="543" r:id="rId4"/>
    <p:sldId id="511" r:id="rId5"/>
    <p:sldId id="536" r:id="rId6"/>
    <p:sldId id="538" r:id="rId7"/>
    <p:sldId id="535" r:id="rId8"/>
    <p:sldId id="539" r:id="rId9"/>
    <p:sldId id="537" r:id="rId10"/>
    <p:sldId id="530" r:id="rId11"/>
    <p:sldId id="531" r:id="rId12"/>
    <p:sldId id="475" r:id="rId13"/>
    <p:sldId id="541" r:id="rId14"/>
    <p:sldId id="542" r:id="rId15"/>
    <p:sldId id="522" r:id="rId16"/>
    <p:sldId id="514" r:id="rId17"/>
    <p:sldId id="533" r:id="rId18"/>
    <p:sldId id="534" r:id="rId19"/>
    <p:sldId id="460" r:id="rId20"/>
    <p:sldId id="515" r:id="rId21"/>
    <p:sldId id="523" r:id="rId22"/>
    <p:sldId id="516" r:id="rId23"/>
    <p:sldId id="524" r:id="rId24"/>
    <p:sldId id="517" r:id="rId25"/>
    <p:sldId id="525" r:id="rId26"/>
    <p:sldId id="526" r:id="rId27"/>
    <p:sldId id="527" r:id="rId28"/>
    <p:sldId id="528" r:id="rId29"/>
    <p:sldId id="512" r:id="rId30"/>
    <p:sldId id="513" r:id="rId31"/>
    <p:sldId id="529" r:id="rId32"/>
    <p:sldId id="518" r:id="rId33"/>
    <p:sldId id="519" r:id="rId34"/>
    <p:sldId id="540" r:id="rId35"/>
  </p:sldIdLst>
  <p:sldSz cx="12190413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799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2980B9"/>
    <a:srgbClr val="F29B11"/>
    <a:srgbClr val="768395"/>
    <a:srgbClr val="1C1C1C"/>
    <a:srgbClr val="9BBB5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28" autoAdjust="0"/>
    <p:restoredTop sz="92482" autoAdjust="0"/>
  </p:normalViewPr>
  <p:slideViewPr>
    <p:cSldViewPr>
      <p:cViewPr varScale="1">
        <p:scale>
          <a:sx n="95" d="100"/>
          <a:sy n="95" d="100"/>
        </p:scale>
        <p:origin x="296" y="472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799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2025/4/30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001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刚才太快了，我们换慢一点的动作。</a:t>
            </a:r>
            <a:endParaRPr kumimoji="1" lang="en-US" altLang="zh-CN" dirty="0"/>
          </a:p>
          <a:p>
            <a:r>
              <a:rPr kumimoji="1" lang="zh-CN" altLang="en-US" dirty="0"/>
              <a:t>大家和我一样，举起右手臂</a:t>
            </a:r>
            <a:r>
              <a:rPr kumimoji="1" lang="en-US" altLang="zh-CN" dirty="0"/>
              <a:t>(</a:t>
            </a:r>
            <a:r>
              <a:rPr kumimoji="1" lang="zh-CN" altLang="en-US" dirty="0"/>
              <a:t>我举起左手臂</a:t>
            </a:r>
            <a:r>
              <a:rPr kumimoji="1" lang="en-US" altLang="zh-CN" dirty="0"/>
              <a:t>)</a:t>
            </a:r>
            <a:r>
              <a:rPr kumimoji="1" lang="zh-CN" altLang="en-US" dirty="0"/>
              <a:t>，现在，请仔细观察我手臂的动作，并尝试模仿动作。</a:t>
            </a:r>
            <a:br>
              <a:rPr kumimoji="1" lang="en-US" altLang="zh-CN" dirty="0"/>
            </a:br>
            <a:r>
              <a:rPr kumimoji="1" lang="zh-CN" altLang="en-US" dirty="0"/>
              <a:t>（频率由慢变快）</a:t>
            </a:r>
            <a:endParaRPr kumimoji="1" lang="en-US" altLang="zh-CN" dirty="0"/>
          </a:p>
          <a:p>
            <a:r>
              <a:rPr kumimoji="1" lang="zh-CN" altLang="en-US" dirty="0"/>
              <a:t>我们发现，当频率比较低的时候，大家都可以跟得上我的动作，但是频率高了以后，就逐渐没有办法跟随了。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467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622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869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663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538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099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474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29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dirty="0"/>
                  <a:t>定义一：输出响应的幅值比上输入信号的幅值，输出响应的相角减去输入信号的相角。定义二：幅值比和相角差可以看做是一个复数的幅值和相角，该复数就是将</a:t>
                </a:r>
                <a:r>
                  <a:rPr kumimoji="1" lang="en-US" altLang="zh-CN" dirty="0"/>
                  <a:t>s</a:t>
                </a:r>
                <a:r>
                  <a:rPr kumimoji="1" lang="zh-CN" altLang="en-US" dirty="0"/>
                  <a:t>直接替换为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kumimoji="1" lang="zh-CN" altLang="en-US" dirty="0"/>
                  <a:t>之后得到的。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zh-CN" altLang="en-US" dirty="0"/>
                  <a:t>定义一：输出响应的幅值比上输入信号的幅值，输出响应的相角减去输入信号的相角。定义二：幅值比和相角差可以看做是一个复数的幅值和相角，该复数就是将</a:t>
                </a:r>
                <a:r>
                  <a:rPr kumimoji="1" lang="en-US" altLang="zh-CN" dirty="0"/>
                  <a:t>s</a:t>
                </a:r>
                <a:r>
                  <a:rPr kumimoji="1" lang="zh-CN" altLang="en-US" dirty="0"/>
                  <a:t>直接替换为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𝑗</a:t>
                </a:r>
                <a:r>
                  <a:rPr lang="en-US" altLang="zh-CN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𝜔</a:t>
                </a:r>
                <a:r>
                  <a:rPr kumimoji="1" lang="zh-CN" altLang="en-US" dirty="0"/>
                  <a:t>之后得到的。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178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309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42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342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00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0826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310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913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3906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7237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279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130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40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53741847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file:////Applications/StartQuickTimeMovieRecodring.app" TargetMode="Externa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0.png"/><Relationship Id="rId11" Type="http://schemas.openxmlformats.org/officeDocument/2006/relationships/image" Target="../media/image15.emf"/><Relationship Id="rId5" Type="http://schemas.openxmlformats.org/officeDocument/2006/relationships/image" Target="../media/image510.png"/><Relationship Id="rId10" Type="http://schemas.openxmlformats.org/officeDocument/2006/relationships/image" Target="../media/image14.emf"/><Relationship Id="rId9" Type="http://schemas.openxmlformats.org/officeDocument/2006/relationships/image" Target="../media/image9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0.png"/><Relationship Id="rId11" Type="http://schemas.openxmlformats.org/officeDocument/2006/relationships/image" Target="../media/image15.emf"/><Relationship Id="rId5" Type="http://schemas.openxmlformats.org/officeDocument/2006/relationships/image" Target="../media/image510.png"/><Relationship Id="rId10" Type="http://schemas.openxmlformats.org/officeDocument/2006/relationships/image" Target="../media/image14.emf"/><Relationship Id="rId9" Type="http://schemas.openxmlformats.org/officeDocument/2006/relationships/image" Target="../media/image9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0.png"/><Relationship Id="rId3" Type="http://schemas.openxmlformats.org/officeDocument/2006/relationships/image" Target="../media/image11.png"/><Relationship Id="rId7" Type="http://schemas.openxmlformats.org/officeDocument/2006/relationships/image" Target="../media/image71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00.png"/><Relationship Id="rId5" Type="http://schemas.openxmlformats.org/officeDocument/2006/relationships/image" Target="../media/image5100.png"/><Relationship Id="rId4" Type="http://schemas.openxmlformats.org/officeDocument/2006/relationships/image" Target="../media/image16.png"/><Relationship Id="rId9" Type="http://schemas.openxmlformats.org/officeDocument/2006/relationships/image" Target="../media/image9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0.png"/><Relationship Id="rId3" Type="http://schemas.openxmlformats.org/officeDocument/2006/relationships/image" Target="../media/image11.png"/><Relationship Id="rId7" Type="http://schemas.openxmlformats.org/officeDocument/2006/relationships/image" Target="../media/image71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00.png"/><Relationship Id="rId5" Type="http://schemas.openxmlformats.org/officeDocument/2006/relationships/image" Target="../media/image5100.png"/><Relationship Id="rId4" Type="http://schemas.openxmlformats.org/officeDocument/2006/relationships/image" Target="../media/image16.png"/><Relationship Id="rId9" Type="http://schemas.openxmlformats.org/officeDocument/2006/relationships/image" Target="../media/image9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image" Target="../media/image19.png"/><Relationship Id="rId3" Type="http://schemas.openxmlformats.org/officeDocument/2006/relationships/image" Target="../media/image410.png"/><Relationship Id="rId7" Type="http://schemas.openxmlformats.org/officeDocument/2006/relationships/image" Target="../media/image810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0.png"/><Relationship Id="rId11" Type="http://schemas.openxmlformats.org/officeDocument/2006/relationships/image" Target="../media/image17.png"/><Relationship Id="rId5" Type="http://schemas.openxmlformats.org/officeDocument/2006/relationships/image" Target="../media/image610.png"/><Relationship Id="rId10" Type="http://schemas.openxmlformats.org/officeDocument/2006/relationships/image" Target="../media/image1610.png"/><Relationship Id="rId4" Type="http://schemas.openxmlformats.org/officeDocument/2006/relationships/image" Target="../media/image5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image" Target="../media/image18.emf"/><Relationship Id="rId7" Type="http://schemas.openxmlformats.org/officeDocument/2006/relationships/image" Target="../media/image810.png"/><Relationship Id="rId12" Type="http://schemas.openxmlformats.org/officeDocument/2006/relationships/image" Target="../media/image2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0.png"/><Relationship Id="rId11" Type="http://schemas.openxmlformats.org/officeDocument/2006/relationships/image" Target="../media/image231.png"/><Relationship Id="rId5" Type="http://schemas.openxmlformats.org/officeDocument/2006/relationships/image" Target="../media/image610.png"/><Relationship Id="rId15" Type="http://schemas.openxmlformats.org/officeDocument/2006/relationships/image" Target="../media/image30.png"/><Relationship Id="rId10" Type="http://schemas.openxmlformats.org/officeDocument/2006/relationships/image" Target="../media/image221.png"/><Relationship Id="rId4" Type="http://schemas.openxmlformats.org/officeDocument/2006/relationships/image" Target="../media/image510.png"/><Relationship Id="rId9" Type="http://schemas.openxmlformats.org/officeDocument/2006/relationships/image" Target="../media/image211.png"/><Relationship Id="rId1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12" Type="http://schemas.openxmlformats.org/officeDocument/2006/relationships/image" Target="../media/image30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00.png"/><Relationship Id="rId11" Type="http://schemas.openxmlformats.org/officeDocument/2006/relationships/image" Target="../media/image290.png"/><Relationship Id="rId5" Type="http://schemas.openxmlformats.org/officeDocument/2006/relationships/image" Target="../media/image230.png"/><Relationship Id="rId15" Type="http://schemas.openxmlformats.org/officeDocument/2006/relationships/image" Target="../media/image33.png"/><Relationship Id="rId10" Type="http://schemas.openxmlformats.org/officeDocument/2006/relationships/image" Target="../media/image280.png"/><Relationship Id="rId19" Type="http://schemas.openxmlformats.org/officeDocument/2006/relationships/image" Target="../media/image37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Relationship Id="rId1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8" Type="http://schemas.openxmlformats.org/officeDocument/2006/relationships/image" Target="NULL"/><Relationship Id="rId3" Type="http://schemas.openxmlformats.org/officeDocument/2006/relationships/image" Target="../media/image39.png"/><Relationship Id="rId21" Type="http://schemas.openxmlformats.org/officeDocument/2006/relationships/image" Target="NULL"/><Relationship Id="rId25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20" Type="http://schemas.openxmlformats.org/officeDocument/2006/relationships/image" Target="NULL"/><Relationship Id="rId1" Type="http://schemas.openxmlformats.org/officeDocument/2006/relationships/slideLayout" Target="../slideLayouts/slideLayout8.xml"/><Relationship Id="rId24" Type="http://schemas.openxmlformats.org/officeDocument/2006/relationships/image" Target="../media/image44.png"/><Relationship Id="rId23" Type="http://schemas.openxmlformats.org/officeDocument/2006/relationships/image" Target="../media/image43.png"/><Relationship Id="rId19" Type="http://schemas.openxmlformats.org/officeDocument/2006/relationships/image" Target="../media/image41.png"/><Relationship Id="rId4" Type="http://schemas.openxmlformats.org/officeDocument/2006/relationships/image" Target="../media/image40.png"/><Relationship Id="rId22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70.png"/><Relationship Id="rId4" Type="http://schemas.openxmlformats.org/officeDocument/2006/relationships/image" Target="../media/image460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34" Type="http://schemas.openxmlformats.org/officeDocument/2006/relationships/image" Target="../media/image8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8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134.png"/><Relationship Id="rId3" Type="http://schemas.openxmlformats.org/officeDocument/2006/relationships/image" Target="../media/image111.png"/><Relationship Id="rId21" Type="http://schemas.openxmlformats.org/officeDocument/2006/relationships/image" Target="../media/image12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29" Type="http://schemas.openxmlformats.org/officeDocument/2006/relationships/image" Target="../media/image1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28" Type="http://schemas.openxmlformats.org/officeDocument/2006/relationships/image" Target="../media/image136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Relationship Id="rId27" Type="http://schemas.openxmlformats.org/officeDocument/2006/relationships/image" Target="../media/image1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152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10" Type="http://schemas.openxmlformats.org/officeDocument/2006/relationships/image" Target="../media/image145.png"/><Relationship Id="rId19" Type="http://schemas.openxmlformats.org/officeDocument/2006/relationships/image" Target="../media/image153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3" Type="http://schemas.openxmlformats.org/officeDocument/2006/relationships/image" Target="../media/image154.png"/><Relationship Id="rId7" Type="http://schemas.openxmlformats.org/officeDocument/2006/relationships/image" Target="../media/image93.png"/><Relationship Id="rId12" Type="http://schemas.openxmlformats.org/officeDocument/2006/relationships/image" Target="../media/image1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6.png"/><Relationship Id="rId11" Type="http://schemas.openxmlformats.org/officeDocument/2006/relationships/image" Target="../media/image160.png"/><Relationship Id="rId5" Type="http://schemas.openxmlformats.org/officeDocument/2006/relationships/image" Target="../media/image156.png"/><Relationship Id="rId10" Type="http://schemas.openxmlformats.org/officeDocument/2006/relationships/image" Target="../media/image159.png"/><Relationship Id="rId4" Type="http://schemas.openxmlformats.org/officeDocument/2006/relationships/image" Target="../media/image155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1.png"/><Relationship Id="rId3" Type="http://schemas.openxmlformats.org/officeDocument/2006/relationships/image" Target="../media/image164.png"/><Relationship Id="rId7" Type="http://schemas.openxmlformats.org/officeDocument/2006/relationships/image" Target="../media/image166.png"/><Relationship Id="rId12" Type="http://schemas.openxmlformats.org/officeDocument/2006/relationships/image" Target="../media/image1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5.png"/><Relationship Id="rId11" Type="http://schemas.openxmlformats.org/officeDocument/2006/relationships/image" Target="../media/image169.png"/><Relationship Id="rId5" Type="http://schemas.openxmlformats.org/officeDocument/2006/relationships/image" Target="../media/image68.png"/><Relationship Id="rId10" Type="http://schemas.openxmlformats.org/officeDocument/2006/relationships/image" Target="../media/image168.png"/><Relationship Id="rId4" Type="http://schemas.openxmlformats.org/officeDocument/2006/relationships/image" Target="../media/image155.png"/><Relationship Id="rId9" Type="http://schemas.openxmlformats.org/officeDocument/2006/relationships/image" Target="../media/image15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3" Type="http://schemas.openxmlformats.org/officeDocument/2006/relationships/image" Target="../media/image164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5" Type="http://schemas.openxmlformats.org/officeDocument/2006/relationships/image" Target="../media/image68.png"/><Relationship Id="rId10" Type="http://schemas.openxmlformats.org/officeDocument/2006/relationships/image" Target="../media/image177.png"/><Relationship Id="rId4" Type="http://schemas.openxmlformats.org/officeDocument/2006/relationships/image" Target="../media/image172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3" Type="http://schemas.openxmlformats.org/officeDocument/2006/relationships/image" Target="../media/image182.png"/><Relationship Id="rId7" Type="http://schemas.openxmlformats.org/officeDocument/2006/relationships/image" Target="../media/image185.png"/><Relationship Id="rId12" Type="http://schemas.openxmlformats.org/officeDocument/2006/relationships/image" Target="../media/image140.png"/><Relationship Id="rId17" Type="http://schemas.openxmlformats.org/officeDocument/2006/relationships/image" Target="../media/image192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9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4.png"/><Relationship Id="rId11" Type="http://schemas.openxmlformats.org/officeDocument/2006/relationships/image" Target="../media/image187.png"/><Relationship Id="rId5" Type="http://schemas.openxmlformats.org/officeDocument/2006/relationships/image" Target="../media/image68.png"/><Relationship Id="rId15" Type="http://schemas.openxmlformats.org/officeDocument/2006/relationships/image" Target="../media/image190.png"/><Relationship Id="rId10" Type="http://schemas.openxmlformats.org/officeDocument/2006/relationships/image" Target="../media/image186.png"/><Relationship Id="rId19" Type="http://schemas.openxmlformats.org/officeDocument/2006/relationships/image" Target="../media/image194.png"/><Relationship Id="rId4" Type="http://schemas.openxmlformats.org/officeDocument/2006/relationships/image" Target="../media/image183.png"/><Relationship Id="rId9" Type="http://schemas.openxmlformats.org/officeDocument/2006/relationships/image" Target="../media/image150.png"/><Relationship Id="rId14" Type="http://schemas.openxmlformats.org/officeDocument/2006/relationships/image" Target="../media/image18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9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04.png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CA8C8BC-3DD2-EBB9-2496-DDEE2C9A3E71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2B29812-ACE9-C972-80E7-D0AC1A6D28CB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19E8B761-E999-CFBE-5238-DE2B2B4F0A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3BDAC169-D09A-9AA9-8679-CDC7D2519934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8F136963-DED5-AFA5-AB8A-B80E405ED6C0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7F204016-FBF0-ED13-DD93-1F8A73E9BB14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E78E1315-83FE-08B6-4912-00902E62460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2C9BA19-808F-A351-FAC7-172E7F377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F51AE5D6-7472-18CF-E7AB-FA429C914FCE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72CDC7BE-2F48-B55B-1AF5-30107222D856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已生成图片">
            <a:extLst>
              <a:ext uri="{FF2B5EF4-FFF2-40B4-BE49-F238E27FC236}">
                <a16:creationId xmlns:a16="http://schemas.microsoft.com/office/drawing/2014/main" id="{7EC14AA9-B656-36F6-AFE4-E9BCE7C17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已生成图片">
            <a:extLst>
              <a:ext uri="{FF2B5EF4-FFF2-40B4-BE49-F238E27FC236}">
                <a16:creationId xmlns:a16="http://schemas.microsoft.com/office/drawing/2014/main" id="{B6786B9D-C76A-F670-2DAE-43740A7D5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246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360184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能复述频率响应的含义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掌握典型环节的对数幅频特性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能求解频率响应的时域表达式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能够运用仿真验证频率响应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8136336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5166" y="448084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6">
            <a:extLst>
              <a:ext uri="{FF2B5EF4-FFF2-40B4-BE49-F238E27FC236}">
                <a16:creationId xmlns:a16="http://schemas.microsoft.com/office/drawing/2014/main" id="{A3693CC2-F08E-5E37-CAED-51A7F84C92C6}"/>
              </a:ext>
            </a:extLst>
          </p:cNvPr>
          <p:cNvSpPr/>
          <p:nvPr/>
        </p:nvSpPr>
        <p:spPr bwMode="auto">
          <a:xfrm>
            <a:off x="335896" y="1287433"/>
            <a:ext cx="5916052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playbacktrim1">
            <a:hlinkClick r:id="" action="ppaction://media"/>
            <a:extLst>
              <a:ext uri="{FF2B5EF4-FFF2-40B4-BE49-F238E27FC236}">
                <a16:creationId xmlns:a16="http://schemas.microsoft.com/office/drawing/2014/main" id="{7728477A-0858-826E-547D-1A1F67306C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5389" y="-7542"/>
            <a:ext cx="12231275" cy="687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65657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484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Workout Power Sticker by Positive Programming">
            <a:extLst>
              <a:ext uri="{FF2B5EF4-FFF2-40B4-BE49-F238E27FC236}">
                <a16:creationId xmlns:a16="http://schemas.microsoft.com/office/drawing/2014/main" id="{1668288F-D269-7A95-CB29-2C9674BBD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918" y="2035712"/>
            <a:ext cx="4776985" cy="278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76226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图片包含 图表&#10;&#10;描述已自动生成">
            <a:extLst>
              <a:ext uri="{FF2B5EF4-FFF2-40B4-BE49-F238E27FC236}">
                <a16:creationId xmlns:a16="http://schemas.microsoft.com/office/drawing/2014/main" id="{B49A0FC5-9573-76D1-E37F-6A3936EDF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37" y="2291170"/>
            <a:ext cx="3129280" cy="2346960"/>
          </a:xfrm>
          <a:prstGeom prst="rect">
            <a:avLst/>
          </a:prstGeom>
        </p:spPr>
      </p:pic>
      <p:pic>
        <p:nvPicPr>
          <p:cNvPr id="3" name="图片 2" descr="桌子上摆放着黑色的机器&#10;&#10;中度可信度描述已自动生成">
            <a:extLst>
              <a:ext uri="{FF2B5EF4-FFF2-40B4-BE49-F238E27FC236}">
                <a16:creationId xmlns:a16="http://schemas.microsoft.com/office/drawing/2014/main" id="{4CEBD142-6405-9433-C007-E62BD898F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714" b="91873" l="9738" r="89888">
                        <a14:foregroundMark x1="39326" y1="9717" x2="54494" y2="10777"/>
                        <a14:foregroundMark x1="54494" y1="10777" x2="62172" y2="10424"/>
                        <a14:foregroundMark x1="32397" y1="28622" x2="47940" y2="28622"/>
                        <a14:foregroundMark x1="47940" y1="28622" x2="61985" y2="27915"/>
                        <a14:foregroundMark x1="61985" y1="27915" x2="62172" y2="27915"/>
                        <a14:foregroundMark x1="22285" y1="52473" x2="70225" y2="51060"/>
                        <a14:foregroundMark x1="70225" y1="51060" x2="77715" y2="51060"/>
                        <a14:foregroundMark x1="24719" y1="47173" x2="31648" y2="57597"/>
                        <a14:foregroundMark x1="33146" y1="49117" x2="30337" y2="52827"/>
                        <a14:foregroundMark x1="47191" y1="10424" x2="59363" y2="10777"/>
                        <a14:foregroundMark x1="26217" y1="54417" x2="26217" y2="59364"/>
                        <a14:foregroundMark x1="29026" y1="53710" x2="26779" y2="58657"/>
                        <a14:foregroundMark x1="53184" y1="14664" x2="48315" y2="36219"/>
                        <a14:foregroundMark x1="23408" y1="22792" x2="48502" y2="23675"/>
                        <a14:foregroundMark x1="48502" y1="23675" x2="63858" y2="22438"/>
                        <a14:foregroundMark x1="63858" y1="22438" x2="75655" y2="23145"/>
                        <a14:foregroundMark x1="76592" y1="19788" x2="58052" y2="25618"/>
                        <a14:foregroundMark x1="58052" y1="25618" x2="24532" y2="20495"/>
                        <a14:foregroundMark x1="35581" y1="63604" x2="56367" y2="69081"/>
                        <a14:foregroundMark x1="56367" y1="69081" x2="65169" y2="74558"/>
                        <a14:foregroundMark x1="21723" y1="90989" x2="68727" y2="91873"/>
                        <a14:foregroundMark x1="68727" y1="91873" x2="79026" y2="91519"/>
                        <a14:foregroundMark x1="46255" y1="7774" x2="59738" y2="7774"/>
                        <a14:foregroundMark x1="44195" y1="7774" x2="42135" y2="8127"/>
                        <a14:foregroundMark x1="42135" y1="7774" x2="39700" y2="8127"/>
                        <a14:foregroundMark x1="58989" y1="7420" x2="58989" y2="7420"/>
                        <a14:foregroundMark x1="56180" y1="8127" x2="62172" y2="7420"/>
                        <a14:foregroundMark x1="40262" y1="7067" x2="38015" y2="8481"/>
                        <a14:foregroundMark x1="60112" y1="6714" x2="64981" y2="8657"/>
                        <a14:foregroundMark x1="61049" y1="7067" x2="65918" y2="10071"/>
                        <a14:foregroundMark x1="62734" y1="7420" x2="65918" y2="86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756" y="1631950"/>
            <a:ext cx="3390900" cy="3594100"/>
          </a:xfrm>
          <a:prstGeom prst="rect">
            <a:avLst/>
          </a:prstGeom>
        </p:spPr>
      </p:pic>
      <p:sp>
        <p:nvSpPr>
          <p:cNvPr id="4" name="问号">
            <a:extLst>
              <a:ext uri="{FF2B5EF4-FFF2-40B4-BE49-F238E27FC236}">
                <a16:creationId xmlns:a16="http://schemas.microsoft.com/office/drawing/2014/main" id="{6B10C626-6ADF-4939-0CB3-51EB77F0B08A}"/>
              </a:ext>
            </a:extLst>
          </p:cNvPr>
          <p:cNvSpPr txBox="1"/>
          <p:nvPr/>
        </p:nvSpPr>
        <p:spPr>
          <a:xfrm>
            <a:off x="9047534" y="2924944"/>
            <a:ext cx="860323" cy="881063"/>
          </a:xfrm>
          <a:prstGeom prst="roundRect">
            <a:avLst>
              <a:gd name="adj" fmla="val 22661"/>
            </a:avLst>
          </a:prstGeom>
          <a:solidFill>
            <a:srgbClr val="F29B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chemeClr val="bg1"/>
                </a:solidFill>
              </a:rPr>
              <a:t>？</a:t>
            </a:r>
          </a:p>
        </p:txBody>
      </p:sp>
      <p:pic>
        <p:nvPicPr>
          <p:cNvPr id="1026" name="Picture 2" descr="适用于Mac 的QuickTime Player 使用手册- 官方Apple 支持(中国)">
            <a:hlinkClick r:id="rId6" action="ppaction://program"/>
            <a:extLst>
              <a:ext uri="{FF2B5EF4-FFF2-40B4-BE49-F238E27FC236}">
                <a16:creationId xmlns:a16="http://schemas.microsoft.com/office/drawing/2014/main" id="{F901E0CE-3DD4-7C4D-30ED-23ECB3593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702" y="5589240"/>
            <a:ext cx="883816" cy="88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89341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RC电路">
            <a:extLst>
              <a:ext uri="{FF2B5EF4-FFF2-40B4-BE49-F238E27FC236}">
                <a16:creationId xmlns:a16="http://schemas.microsoft.com/office/drawing/2014/main" id="{F547FBE7-FE48-5085-B50E-C397A69A5839}"/>
              </a:ext>
            </a:extLst>
          </p:cNvPr>
          <p:cNvGrpSpPr/>
          <p:nvPr/>
        </p:nvGrpSpPr>
        <p:grpSpPr>
          <a:xfrm>
            <a:off x="4446554" y="2420888"/>
            <a:ext cx="3298892" cy="1674703"/>
            <a:chOff x="7688170" y="1033572"/>
            <a:chExt cx="3298892" cy="1674703"/>
          </a:xfrm>
        </p:grpSpPr>
        <p:sp>
          <p:nvSpPr>
            <p:cNvPr id="32" name="电阻">
              <a:extLst>
                <a:ext uri="{FF2B5EF4-FFF2-40B4-BE49-F238E27FC236}">
                  <a16:creationId xmlns:a16="http://schemas.microsoft.com/office/drawing/2014/main" id="{4BD60BC2-B045-BD1E-88A8-B394D2855498}"/>
                </a:ext>
              </a:extLst>
            </p:cNvPr>
            <p:cNvSpPr/>
            <p:nvPr/>
          </p:nvSpPr>
          <p:spPr>
            <a:xfrm>
              <a:off x="8975526" y="1556792"/>
              <a:ext cx="689174" cy="17675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31000">
                  <a:schemeClr val="bg1"/>
                </a:gs>
                <a:gs pos="3500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3" name="电容">
              <a:extLst>
                <a:ext uri="{FF2B5EF4-FFF2-40B4-BE49-F238E27FC236}">
                  <a16:creationId xmlns:a16="http://schemas.microsoft.com/office/drawing/2014/main" id="{99D05A61-5277-9DD2-4D6D-BE9BD3A6A0C2}"/>
                </a:ext>
              </a:extLst>
            </p:cNvPr>
            <p:cNvGrpSpPr/>
            <p:nvPr/>
          </p:nvGrpSpPr>
          <p:grpSpPr>
            <a:xfrm>
              <a:off x="9956080" y="2155692"/>
              <a:ext cx="432048" cy="100803"/>
              <a:chOff x="10343678" y="2276872"/>
              <a:chExt cx="432272" cy="144016"/>
            </a:xfrm>
          </p:grpSpPr>
          <p:cxnSp>
            <p:nvCxnSpPr>
              <p:cNvPr id="48" name="正极">
                <a:extLst>
                  <a:ext uri="{FF2B5EF4-FFF2-40B4-BE49-F238E27FC236}">
                    <a16:creationId xmlns:a16="http://schemas.microsoft.com/office/drawing/2014/main" id="{4DA24854-AE9E-7AA2-6071-86A903C2F18E}"/>
                  </a:ext>
                </a:extLst>
              </p:cNvPr>
              <p:cNvCxnSpPr/>
              <p:nvPr/>
            </p:nvCxnSpPr>
            <p:spPr>
              <a:xfrm>
                <a:off x="10343678" y="2276872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负极">
                <a:extLst>
                  <a:ext uri="{FF2B5EF4-FFF2-40B4-BE49-F238E27FC236}">
                    <a16:creationId xmlns:a16="http://schemas.microsoft.com/office/drawing/2014/main" id="{6D3E1E27-8DE4-6469-0BEC-09127A0024CE}"/>
                  </a:ext>
                </a:extLst>
              </p:cNvPr>
              <p:cNvCxnSpPr/>
              <p:nvPr/>
            </p:nvCxnSpPr>
            <p:spPr>
              <a:xfrm>
                <a:off x="10343678" y="2420888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uline">
              <a:extLst>
                <a:ext uri="{FF2B5EF4-FFF2-40B4-BE49-F238E27FC236}">
                  <a16:creationId xmlns:a16="http://schemas.microsoft.com/office/drawing/2014/main" id="{37F3B4F7-0C8C-6B4A-EF88-06ADDFEF6EDD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9664700" y="1645171"/>
              <a:ext cx="895226" cy="6688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line">
              <a:extLst>
                <a:ext uri="{FF2B5EF4-FFF2-40B4-BE49-F238E27FC236}">
                  <a16:creationId xmlns:a16="http://schemas.microsoft.com/office/drawing/2014/main" id="{6663E2E1-F6B7-0089-1CD2-D97549C2D1C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438" y="2708275"/>
              <a:ext cx="2376488" cy="0"/>
            </a:xfrm>
            <a:prstGeom prst="line">
              <a:avLst/>
            </a:prstGeom>
            <a:ln w="38100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urline">
              <a:extLst>
                <a:ext uri="{FF2B5EF4-FFF2-40B4-BE49-F238E27FC236}">
                  <a16:creationId xmlns:a16="http://schemas.microsoft.com/office/drawing/2014/main" id="{50E60103-DCD2-60CE-9E52-1BF8874A79CF}"/>
                </a:ext>
              </a:extLst>
            </p:cNvPr>
            <p:cNvCxnSpPr/>
            <p:nvPr/>
          </p:nvCxnSpPr>
          <p:spPr>
            <a:xfrm>
              <a:off x="8183438" y="1844824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ucline">
              <a:extLst>
                <a:ext uri="{FF2B5EF4-FFF2-40B4-BE49-F238E27FC236}">
                  <a16:creationId xmlns:a16="http://schemas.microsoft.com/office/drawing/2014/main" id="{E16EAA73-FAC0-DB4A-CCA9-F60D0B09B06B}"/>
                </a:ext>
              </a:extLst>
            </p:cNvPr>
            <p:cNvCxnSpPr/>
            <p:nvPr/>
          </p:nvCxnSpPr>
          <p:spPr>
            <a:xfrm>
              <a:off x="10559926" y="1821287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line2">
              <a:extLst>
                <a:ext uri="{FF2B5EF4-FFF2-40B4-BE49-F238E27FC236}">
                  <a16:creationId xmlns:a16="http://schemas.microsoft.com/office/drawing/2014/main" id="{3DB9657D-65E8-CF27-5604-61FAB0CB34F7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1640461"/>
              <a:ext cx="0" cy="5152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line1">
              <a:extLst>
                <a:ext uri="{FF2B5EF4-FFF2-40B4-BE49-F238E27FC236}">
                  <a16:creationId xmlns:a16="http://schemas.microsoft.com/office/drawing/2014/main" id="{7FBD0D35-6B34-30B5-8E0D-91464C7C367C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2256495"/>
              <a:ext cx="0" cy="45178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i">
                  <a:extLst>
                    <a:ext uri="{FF2B5EF4-FFF2-40B4-BE49-F238E27FC236}">
                      <a16:creationId xmlns:a16="http://schemas.microsoft.com/office/drawing/2014/main" id="{FE2DB082-16AE-2DC3-291E-D0BA9666ACDA}"/>
                    </a:ext>
                  </a:extLst>
                </p:cNvPr>
                <p:cNvSpPr txBox="1"/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i">
                  <a:extLst>
                    <a:ext uri="{FF2B5EF4-FFF2-40B4-BE49-F238E27FC236}">
                      <a16:creationId xmlns:a16="http://schemas.microsoft.com/office/drawing/2014/main" id="{4F2A3C35-FC2E-86D6-5CC0-1234BB1F6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1DCD103F-2D18-36B5-ACFE-F66976391D86}"/>
                </a:ext>
              </a:extLst>
            </p:cNvPr>
            <p:cNvGrpSpPr/>
            <p:nvPr/>
          </p:nvGrpSpPr>
          <p:grpSpPr>
            <a:xfrm>
              <a:off x="8183438" y="1645171"/>
              <a:ext cx="792088" cy="0"/>
              <a:chOff x="8183438" y="1645171"/>
              <a:chExt cx="792088" cy="0"/>
            </a:xfrm>
          </p:grpSpPr>
          <p:cxnSp>
            <p:nvCxnSpPr>
              <p:cNvPr id="46" name="uline3">
                <a:extLst>
                  <a:ext uri="{FF2B5EF4-FFF2-40B4-BE49-F238E27FC236}">
                    <a16:creationId xmlns:a16="http://schemas.microsoft.com/office/drawing/2014/main" id="{3BF31F63-F1A9-5E97-B990-97B370B2A3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83438" y="1645171"/>
                <a:ext cx="431925" cy="0"/>
              </a:xfrm>
              <a:prstGeom prst="line">
                <a:avLst/>
              </a:prstGeom>
              <a:ln w="38100">
                <a:headEnd type="triangl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uline2">
                <a:extLst>
                  <a:ext uri="{FF2B5EF4-FFF2-40B4-BE49-F238E27FC236}">
                    <a16:creationId xmlns:a16="http://schemas.microsoft.com/office/drawing/2014/main" id="{52B0A6C0-68D6-6E94-9CB6-01884455581E}"/>
                  </a:ext>
                </a:extLst>
              </p:cNvPr>
              <p:cNvCxnSpPr>
                <a:cxnSpLocks/>
                <a:stCxn id="32" idx="1"/>
              </p:cNvCxnSpPr>
              <p:nvPr/>
            </p:nvCxnSpPr>
            <p:spPr>
              <a:xfrm flipH="1">
                <a:off x="8549691" y="1645171"/>
                <a:ext cx="425835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">
                  <a:extLst>
                    <a:ext uri="{FF2B5EF4-FFF2-40B4-BE49-F238E27FC236}">
                      <a16:creationId xmlns:a16="http://schemas.microsoft.com/office/drawing/2014/main" id="{37EFCCA2-029B-38CB-3508-BEFD2F3B161C}"/>
                    </a:ext>
                  </a:extLst>
                </p:cNvPr>
                <p:cNvSpPr txBox="1"/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R">
                  <a:extLst>
                    <a:ext uri="{FF2B5EF4-FFF2-40B4-BE49-F238E27FC236}">
                      <a16:creationId xmlns:a16="http://schemas.microsoft.com/office/drawing/2014/main" id="{78941D0A-5A2A-847B-43F2-979582E26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">
                  <a:extLst>
                    <a:ext uri="{FF2B5EF4-FFF2-40B4-BE49-F238E27FC236}">
                      <a16:creationId xmlns:a16="http://schemas.microsoft.com/office/drawing/2014/main" id="{D4C77C71-BE81-3A65-6345-EC9E471CBD35}"/>
                    </a:ext>
                  </a:extLst>
                </p:cNvPr>
                <p:cNvSpPr txBox="1"/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C">
                  <a:extLst>
                    <a:ext uri="{FF2B5EF4-FFF2-40B4-BE49-F238E27FC236}">
                      <a16:creationId xmlns:a16="http://schemas.microsoft.com/office/drawing/2014/main" id="{1DF7B0FD-BA4D-5704-2BE3-668D46634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blipFill>
                  <a:blip r:embed="rId7"/>
                  <a:stretch>
                    <a:fillRect l="-9677" r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ur">
                  <a:extLst>
                    <a:ext uri="{FF2B5EF4-FFF2-40B4-BE49-F238E27FC236}">
                      <a16:creationId xmlns:a16="http://schemas.microsoft.com/office/drawing/2014/main" id="{0EFBB699-DE25-2A19-243B-E63C13BD6C4C}"/>
                    </a:ext>
                  </a:extLst>
                </p:cNvPr>
                <p:cNvSpPr txBox="1"/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ur">
                  <a:extLst>
                    <a:ext uri="{FF2B5EF4-FFF2-40B4-BE49-F238E27FC236}">
                      <a16:creationId xmlns:a16="http://schemas.microsoft.com/office/drawing/2014/main" id="{66A5E279-782F-ECC9-EE8D-9F774D1AE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uc">
                  <a:extLst>
                    <a:ext uri="{FF2B5EF4-FFF2-40B4-BE49-F238E27FC236}">
                      <a16:creationId xmlns:a16="http://schemas.microsoft.com/office/drawing/2014/main" id="{F25CA1C5-B257-27AF-9514-E382E9ABB500}"/>
                    </a:ext>
                  </a:extLst>
                </p:cNvPr>
                <p:cNvSpPr txBox="1"/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uc">
                  <a:extLst>
                    <a:ext uri="{FF2B5EF4-FFF2-40B4-BE49-F238E27FC236}">
                      <a16:creationId xmlns:a16="http://schemas.microsoft.com/office/drawing/2014/main" id="{F4D82222-AB5C-E402-1E23-C1856C2BB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blipFill>
                  <a:blip r:embed="rId9"/>
                  <a:stretch>
                    <a:fillRect r="-290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E6D0CBE7-4791-BE0A-772C-6BBAFE8A02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008" y="2281852"/>
            <a:ext cx="3358748" cy="251906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81CB57A-D9DB-EE96-C928-90BCA92CC8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5262" y="2276872"/>
            <a:ext cx="3358737" cy="2519053"/>
          </a:xfrm>
          <a:prstGeom prst="rect">
            <a:avLst/>
          </a:prstGeom>
        </p:spPr>
      </p:pic>
      <p:sp>
        <p:nvSpPr>
          <p:cNvPr id="4" name="问号">
            <a:extLst>
              <a:ext uri="{FF2B5EF4-FFF2-40B4-BE49-F238E27FC236}">
                <a16:creationId xmlns:a16="http://schemas.microsoft.com/office/drawing/2014/main" id="{CA566AF9-F660-8256-9368-0A969404B139}"/>
              </a:ext>
            </a:extLst>
          </p:cNvPr>
          <p:cNvSpPr txBox="1"/>
          <p:nvPr/>
        </p:nvSpPr>
        <p:spPr>
          <a:xfrm>
            <a:off x="9047534" y="2924944"/>
            <a:ext cx="860323" cy="881063"/>
          </a:xfrm>
          <a:prstGeom prst="roundRect">
            <a:avLst>
              <a:gd name="adj" fmla="val 22661"/>
            </a:avLst>
          </a:prstGeom>
          <a:solidFill>
            <a:srgbClr val="F29B1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chemeClr val="bg1"/>
                </a:solidFill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86794481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RC电路">
            <a:extLst>
              <a:ext uri="{FF2B5EF4-FFF2-40B4-BE49-F238E27FC236}">
                <a16:creationId xmlns:a16="http://schemas.microsoft.com/office/drawing/2014/main" id="{F547FBE7-FE48-5085-B50E-C397A69A5839}"/>
              </a:ext>
            </a:extLst>
          </p:cNvPr>
          <p:cNvGrpSpPr/>
          <p:nvPr/>
        </p:nvGrpSpPr>
        <p:grpSpPr>
          <a:xfrm>
            <a:off x="4446554" y="962209"/>
            <a:ext cx="3298892" cy="1674703"/>
            <a:chOff x="7688170" y="1033572"/>
            <a:chExt cx="3298892" cy="1674703"/>
          </a:xfrm>
        </p:grpSpPr>
        <p:sp>
          <p:nvSpPr>
            <p:cNvPr id="32" name="电阻">
              <a:extLst>
                <a:ext uri="{FF2B5EF4-FFF2-40B4-BE49-F238E27FC236}">
                  <a16:creationId xmlns:a16="http://schemas.microsoft.com/office/drawing/2014/main" id="{4BD60BC2-B045-BD1E-88A8-B394D2855498}"/>
                </a:ext>
              </a:extLst>
            </p:cNvPr>
            <p:cNvSpPr/>
            <p:nvPr/>
          </p:nvSpPr>
          <p:spPr>
            <a:xfrm>
              <a:off x="8975526" y="1556792"/>
              <a:ext cx="689174" cy="17675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31000">
                  <a:schemeClr val="bg1"/>
                </a:gs>
                <a:gs pos="3500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3" name="电容">
              <a:extLst>
                <a:ext uri="{FF2B5EF4-FFF2-40B4-BE49-F238E27FC236}">
                  <a16:creationId xmlns:a16="http://schemas.microsoft.com/office/drawing/2014/main" id="{99D05A61-5277-9DD2-4D6D-BE9BD3A6A0C2}"/>
                </a:ext>
              </a:extLst>
            </p:cNvPr>
            <p:cNvGrpSpPr/>
            <p:nvPr/>
          </p:nvGrpSpPr>
          <p:grpSpPr>
            <a:xfrm>
              <a:off x="9956080" y="2155692"/>
              <a:ext cx="432048" cy="100803"/>
              <a:chOff x="10343678" y="2276872"/>
              <a:chExt cx="432272" cy="144016"/>
            </a:xfrm>
          </p:grpSpPr>
          <p:cxnSp>
            <p:nvCxnSpPr>
              <p:cNvPr id="48" name="正极">
                <a:extLst>
                  <a:ext uri="{FF2B5EF4-FFF2-40B4-BE49-F238E27FC236}">
                    <a16:creationId xmlns:a16="http://schemas.microsoft.com/office/drawing/2014/main" id="{4DA24854-AE9E-7AA2-6071-86A903C2F18E}"/>
                  </a:ext>
                </a:extLst>
              </p:cNvPr>
              <p:cNvCxnSpPr/>
              <p:nvPr/>
            </p:nvCxnSpPr>
            <p:spPr>
              <a:xfrm>
                <a:off x="10343678" y="2276872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负极">
                <a:extLst>
                  <a:ext uri="{FF2B5EF4-FFF2-40B4-BE49-F238E27FC236}">
                    <a16:creationId xmlns:a16="http://schemas.microsoft.com/office/drawing/2014/main" id="{6D3E1E27-8DE4-6469-0BEC-09127A0024CE}"/>
                  </a:ext>
                </a:extLst>
              </p:cNvPr>
              <p:cNvCxnSpPr/>
              <p:nvPr/>
            </p:nvCxnSpPr>
            <p:spPr>
              <a:xfrm>
                <a:off x="10343678" y="2420888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uline">
              <a:extLst>
                <a:ext uri="{FF2B5EF4-FFF2-40B4-BE49-F238E27FC236}">
                  <a16:creationId xmlns:a16="http://schemas.microsoft.com/office/drawing/2014/main" id="{37F3B4F7-0C8C-6B4A-EF88-06ADDFEF6EDD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9664700" y="1645171"/>
              <a:ext cx="895226" cy="6688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line">
              <a:extLst>
                <a:ext uri="{FF2B5EF4-FFF2-40B4-BE49-F238E27FC236}">
                  <a16:creationId xmlns:a16="http://schemas.microsoft.com/office/drawing/2014/main" id="{6663E2E1-F6B7-0089-1CD2-D97549C2D1C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438" y="2708275"/>
              <a:ext cx="2376488" cy="0"/>
            </a:xfrm>
            <a:prstGeom prst="line">
              <a:avLst/>
            </a:prstGeom>
            <a:ln w="38100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urline">
              <a:extLst>
                <a:ext uri="{FF2B5EF4-FFF2-40B4-BE49-F238E27FC236}">
                  <a16:creationId xmlns:a16="http://schemas.microsoft.com/office/drawing/2014/main" id="{50E60103-DCD2-60CE-9E52-1BF8874A79CF}"/>
                </a:ext>
              </a:extLst>
            </p:cNvPr>
            <p:cNvCxnSpPr/>
            <p:nvPr/>
          </p:nvCxnSpPr>
          <p:spPr>
            <a:xfrm>
              <a:off x="8183438" y="1844824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ucline">
              <a:extLst>
                <a:ext uri="{FF2B5EF4-FFF2-40B4-BE49-F238E27FC236}">
                  <a16:creationId xmlns:a16="http://schemas.microsoft.com/office/drawing/2014/main" id="{E16EAA73-FAC0-DB4A-CCA9-F60D0B09B06B}"/>
                </a:ext>
              </a:extLst>
            </p:cNvPr>
            <p:cNvCxnSpPr/>
            <p:nvPr/>
          </p:nvCxnSpPr>
          <p:spPr>
            <a:xfrm>
              <a:off x="10559926" y="1821287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line2">
              <a:extLst>
                <a:ext uri="{FF2B5EF4-FFF2-40B4-BE49-F238E27FC236}">
                  <a16:creationId xmlns:a16="http://schemas.microsoft.com/office/drawing/2014/main" id="{3DB9657D-65E8-CF27-5604-61FAB0CB34F7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1640461"/>
              <a:ext cx="0" cy="5152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line1">
              <a:extLst>
                <a:ext uri="{FF2B5EF4-FFF2-40B4-BE49-F238E27FC236}">
                  <a16:creationId xmlns:a16="http://schemas.microsoft.com/office/drawing/2014/main" id="{7FBD0D35-6B34-30B5-8E0D-91464C7C367C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2256495"/>
              <a:ext cx="0" cy="45178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i">
                  <a:extLst>
                    <a:ext uri="{FF2B5EF4-FFF2-40B4-BE49-F238E27FC236}">
                      <a16:creationId xmlns:a16="http://schemas.microsoft.com/office/drawing/2014/main" id="{FE2DB082-16AE-2DC3-291E-D0BA9666ACDA}"/>
                    </a:ext>
                  </a:extLst>
                </p:cNvPr>
                <p:cNvSpPr txBox="1"/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i">
                  <a:extLst>
                    <a:ext uri="{FF2B5EF4-FFF2-40B4-BE49-F238E27FC236}">
                      <a16:creationId xmlns:a16="http://schemas.microsoft.com/office/drawing/2014/main" id="{4F2A3C35-FC2E-86D6-5CC0-1234BB1F6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1DCD103F-2D18-36B5-ACFE-F66976391D86}"/>
                </a:ext>
              </a:extLst>
            </p:cNvPr>
            <p:cNvGrpSpPr/>
            <p:nvPr/>
          </p:nvGrpSpPr>
          <p:grpSpPr>
            <a:xfrm>
              <a:off x="8183438" y="1645171"/>
              <a:ext cx="792088" cy="0"/>
              <a:chOff x="8183438" y="1645171"/>
              <a:chExt cx="792088" cy="0"/>
            </a:xfrm>
          </p:grpSpPr>
          <p:cxnSp>
            <p:nvCxnSpPr>
              <p:cNvPr id="46" name="uline3">
                <a:extLst>
                  <a:ext uri="{FF2B5EF4-FFF2-40B4-BE49-F238E27FC236}">
                    <a16:creationId xmlns:a16="http://schemas.microsoft.com/office/drawing/2014/main" id="{3BF31F63-F1A9-5E97-B990-97B370B2A3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83438" y="1645171"/>
                <a:ext cx="431925" cy="0"/>
              </a:xfrm>
              <a:prstGeom prst="line">
                <a:avLst/>
              </a:prstGeom>
              <a:ln w="38100">
                <a:headEnd type="triangl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uline2">
                <a:extLst>
                  <a:ext uri="{FF2B5EF4-FFF2-40B4-BE49-F238E27FC236}">
                    <a16:creationId xmlns:a16="http://schemas.microsoft.com/office/drawing/2014/main" id="{52B0A6C0-68D6-6E94-9CB6-01884455581E}"/>
                  </a:ext>
                </a:extLst>
              </p:cNvPr>
              <p:cNvCxnSpPr>
                <a:cxnSpLocks/>
                <a:stCxn id="32" idx="1"/>
              </p:cNvCxnSpPr>
              <p:nvPr/>
            </p:nvCxnSpPr>
            <p:spPr>
              <a:xfrm flipH="1">
                <a:off x="8549691" y="1645171"/>
                <a:ext cx="425835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">
                  <a:extLst>
                    <a:ext uri="{FF2B5EF4-FFF2-40B4-BE49-F238E27FC236}">
                      <a16:creationId xmlns:a16="http://schemas.microsoft.com/office/drawing/2014/main" id="{37EFCCA2-029B-38CB-3508-BEFD2F3B161C}"/>
                    </a:ext>
                  </a:extLst>
                </p:cNvPr>
                <p:cNvSpPr txBox="1"/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R">
                  <a:extLst>
                    <a:ext uri="{FF2B5EF4-FFF2-40B4-BE49-F238E27FC236}">
                      <a16:creationId xmlns:a16="http://schemas.microsoft.com/office/drawing/2014/main" id="{78941D0A-5A2A-847B-43F2-979582E26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">
                  <a:extLst>
                    <a:ext uri="{FF2B5EF4-FFF2-40B4-BE49-F238E27FC236}">
                      <a16:creationId xmlns:a16="http://schemas.microsoft.com/office/drawing/2014/main" id="{D4C77C71-BE81-3A65-6345-EC9E471CBD35}"/>
                    </a:ext>
                  </a:extLst>
                </p:cNvPr>
                <p:cNvSpPr txBox="1"/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C">
                  <a:extLst>
                    <a:ext uri="{FF2B5EF4-FFF2-40B4-BE49-F238E27FC236}">
                      <a16:creationId xmlns:a16="http://schemas.microsoft.com/office/drawing/2014/main" id="{1DF7B0FD-BA4D-5704-2BE3-668D46634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blipFill>
                  <a:blip r:embed="rId7"/>
                  <a:stretch>
                    <a:fillRect l="-9677" r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ur">
                  <a:extLst>
                    <a:ext uri="{FF2B5EF4-FFF2-40B4-BE49-F238E27FC236}">
                      <a16:creationId xmlns:a16="http://schemas.microsoft.com/office/drawing/2014/main" id="{0EFBB699-DE25-2A19-243B-E63C13BD6C4C}"/>
                    </a:ext>
                  </a:extLst>
                </p:cNvPr>
                <p:cNvSpPr txBox="1"/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ur">
                  <a:extLst>
                    <a:ext uri="{FF2B5EF4-FFF2-40B4-BE49-F238E27FC236}">
                      <a16:creationId xmlns:a16="http://schemas.microsoft.com/office/drawing/2014/main" id="{66A5E279-782F-ECC9-EE8D-9F774D1AE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uc">
                  <a:extLst>
                    <a:ext uri="{FF2B5EF4-FFF2-40B4-BE49-F238E27FC236}">
                      <a16:creationId xmlns:a16="http://schemas.microsoft.com/office/drawing/2014/main" id="{F25CA1C5-B257-27AF-9514-E382E9ABB500}"/>
                    </a:ext>
                  </a:extLst>
                </p:cNvPr>
                <p:cNvSpPr txBox="1"/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uc">
                  <a:extLst>
                    <a:ext uri="{FF2B5EF4-FFF2-40B4-BE49-F238E27FC236}">
                      <a16:creationId xmlns:a16="http://schemas.microsoft.com/office/drawing/2014/main" id="{F4D82222-AB5C-E402-1E23-C1856C2BB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blipFill>
                  <a:blip r:embed="rId9"/>
                  <a:stretch>
                    <a:fillRect r="-290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E6D0CBE7-4791-BE0A-772C-6BBAFE8A02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5006" y="3646243"/>
            <a:ext cx="3358748" cy="251906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81CB57A-D9DB-EE96-C928-90BCA92CC8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5006" y="3643719"/>
            <a:ext cx="3358737" cy="251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96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图片包含 图表&#10;&#10;描述已自动生成">
            <a:extLst>
              <a:ext uri="{FF2B5EF4-FFF2-40B4-BE49-F238E27FC236}">
                <a16:creationId xmlns:a16="http://schemas.microsoft.com/office/drawing/2014/main" id="{B49A0FC5-9573-76D1-E37F-6A3936EDF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37" y="2291170"/>
            <a:ext cx="3129280" cy="2346960"/>
          </a:xfrm>
          <a:prstGeom prst="rect">
            <a:avLst/>
          </a:prstGeom>
        </p:spPr>
      </p:pic>
      <p:pic>
        <p:nvPicPr>
          <p:cNvPr id="30" name="图片 29" descr="图片包含 箭头&#10;&#10;描述已自动生成">
            <a:extLst>
              <a:ext uri="{FF2B5EF4-FFF2-40B4-BE49-F238E27FC236}">
                <a16:creationId xmlns:a16="http://schemas.microsoft.com/office/drawing/2014/main" id="{FE0B35D9-2515-8433-30C7-21A3C37CC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254" y="2281852"/>
            <a:ext cx="3129280" cy="2346960"/>
          </a:xfrm>
          <a:prstGeom prst="rect">
            <a:avLst/>
          </a:prstGeom>
        </p:spPr>
      </p:pic>
      <p:grpSp>
        <p:nvGrpSpPr>
          <p:cNvPr id="31" name="RC电路">
            <a:extLst>
              <a:ext uri="{FF2B5EF4-FFF2-40B4-BE49-F238E27FC236}">
                <a16:creationId xmlns:a16="http://schemas.microsoft.com/office/drawing/2014/main" id="{F547FBE7-FE48-5085-B50E-C397A69A5839}"/>
              </a:ext>
            </a:extLst>
          </p:cNvPr>
          <p:cNvGrpSpPr/>
          <p:nvPr/>
        </p:nvGrpSpPr>
        <p:grpSpPr>
          <a:xfrm>
            <a:off x="4446554" y="2420888"/>
            <a:ext cx="3298892" cy="1674703"/>
            <a:chOff x="7688170" y="1033572"/>
            <a:chExt cx="3298892" cy="1674703"/>
          </a:xfrm>
        </p:grpSpPr>
        <p:sp>
          <p:nvSpPr>
            <p:cNvPr id="32" name="电阻">
              <a:extLst>
                <a:ext uri="{FF2B5EF4-FFF2-40B4-BE49-F238E27FC236}">
                  <a16:creationId xmlns:a16="http://schemas.microsoft.com/office/drawing/2014/main" id="{4BD60BC2-B045-BD1E-88A8-B394D2855498}"/>
                </a:ext>
              </a:extLst>
            </p:cNvPr>
            <p:cNvSpPr/>
            <p:nvPr/>
          </p:nvSpPr>
          <p:spPr>
            <a:xfrm>
              <a:off x="8975526" y="1556792"/>
              <a:ext cx="689174" cy="17675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31000">
                  <a:schemeClr val="bg1"/>
                </a:gs>
                <a:gs pos="3500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3" name="电容">
              <a:extLst>
                <a:ext uri="{FF2B5EF4-FFF2-40B4-BE49-F238E27FC236}">
                  <a16:creationId xmlns:a16="http://schemas.microsoft.com/office/drawing/2014/main" id="{99D05A61-5277-9DD2-4D6D-BE9BD3A6A0C2}"/>
                </a:ext>
              </a:extLst>
            </p:cNvPr>
            <p:cNvGrpSpPr/>
            <p:nvPr/>
          </p:nvGrpSpPr>
          <p:grpSpPr>
            <a:xfrm>
              <a:off x="9956080" y="2155692"/>
              <a:ext cx="432048" cy="100803"/>
              <a:chOff x="10343678" y="2276872"/>
              <a:chExt cx="432272" cy="144016"/>
            </a:xfrm>
          </p:grpSpPr>
          <p:cxnSp>
            <p:nvCxnSpPr>
              <p:cNvPr id="48" name="正极">
                <a:extLst>
                  <a:ext uri="{FF2B5EF4-FFF2-40B4-BE49-F238E27FC236}">
                    <a16:creationId xmlns:a16="http://schemas.microsoft.com/office/drawing/2014/main" id="{4DA24854-AE9E-7AA2-6071-86A903C2F18E}"/>
                  </a:ext>
                </a:extLst>
              </p:cNvPr>
              <p:cNvCxnSpPr/>
              <p:nvPr/>
            </p:nvCxnSpPr>
            <p:spPr>
              <a:xfrm>
                <a:off x="10343678" y="2276872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负极">
                <a:extLst>
                  <a:ext uri="{FF2B5EF4-FFF2-40B4-BE49-F238E27FC236}">
                    <a16:creationId xmlns:a16="http://schemas.microsoft.com/office/drawing/2014/main" id="{6D3E1E27-8DE4-6469-0BEC-09127A0024CE}"/>
                  </a:ext>
                </a:extLst>
              </p:cNvPr>
              <p:cNvCxnSpPr/>
              <p:nvPr/>
            </p:nvCxnSpPr>
            <p:spPr>
              <a:xfrm>
                <a:off x="10343678" y="2420888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uline">
              <a:extLst>
                <a:ext uri="{FF2B5EF4-FFF2-40B4-BE49-F238E27FC236}">
                  <a16:creationId xmlns:a16="http://schemas.microsoft.com/office/drawing/2014/main" id="{37F3B4F7-0C8C-6B4A-EF88-06ADDFEF6EDD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9664700" y="1645171"/>
              <a:ext cx="895226" cy="6688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line">
              <a:extLst>
                <a:ext uri="{FF2B5EF4-FFF2-40B4-BE49-F238E27FC236}">
                  <a16:creationId xmlns:a16="http://schemas.microsoft.com/office/drawing/2014/main" id="{6663E2E1-F6B7-0089-1CD2-D97549C2D1C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438" y="2708275"/>
              <a:ext cx="2376488" cy="0"/>
            </a:xfrm>
            <a:prstGeom prst="line">
              <a:avLst/>
            </a:prstGeom>
            <a:ln w="38100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urline">
              <a:extLst>
                <a:ext uri="{FF2B5EF4-FFF2-40B4-BE49-F238E27FC236}">
                  <a16:creationId xmlns:a16="http://schemas.microsoft.com/office/drawing/2014/main" id="{50E60103-DCD2-60CE-9E52-1BF8874A79CF}"/>
                </a:ext>
              </a:extLst>
            </p:cNvPr>
            <p:cNvCxnSpPr/>
            <p:nvPr/>
          </p:nvCxnSpPr>
          <p:spPr>
            <a:xfrm>
              <a:off x="8183438" y="1844824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ucline">
              <a:extLst>
                <a:ext uri="{FF2B5EF4-FFF2-40B4-BE49-F238E27FC236}">
                  <a16:creationId xmlns:a16="http://schemas.microsoft.com/office/drawing/2014/main" id="{E16EAA73-FAC0-DB4A-CCA9-F60D0B09B06B}"/>
                </a:ext>
              </a:extLst>
            </p:cNvPr>
            <p:cNvCxnSpPr/>
            <p:nvPr/>
          </p:nvCxnSpPr>
          <p:spPr>
            <a:xfrm>
              <a:off x="10559926" y="1821287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line2">
              <a:extLst>
                <a:ext uri="{FF2B5EF4-FFF2-40B4-BE49-F238E27FC236}">
                  <a16:creationId xmlns:a16="http://schemas.microsoft.com/office/drawing/2014/main" id="{3DB9657D-65E8-CF27-5604-61FAB0CB34F7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1640461"/>
              <a:ext cx="0" cy="5152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line1">
              <a:extLst>
                <a:ext uri="{FF2B5EF4-FFF2-40B4-BE49-F238E27FC236}">
                  <a16:creationId xmlns:a16="http://schemas.microsoft.com/office/drawing/2014/main" id="{7FBD0D35-6B34-30B5-8E0D-91464C7C367C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2256495"/>
              <a:ext cx="0" cy="45178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i">
                  <a:extLst>
                    <a:ext uri="{FF2B5EF4-FFF2-40B4-BE49-F238E27FC236}">
                      <a16:creationId xmlns:a16="http://schemas.microsoft.com/office/drawing/2014/main" id="{FE2DB082-16AE-2DC3-291E-D0BA9666ACDA}"/>
                    </a:ext>
                  </a:extLst>
                </p:cNvPr>
                <p:cNvSpPr txBox="1"/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i">
                  <a:extLst>
                    <a:ext uri="{FF2B5EF4-FFF2-40B4-BE49-F238E27FC236}">
                      <a16:creationId xmlns:a16="http://schemas.microsoft.com/office/drawing/2014/main" id="{4F2A3C35-FC2E-86D6-5CC0-1234BB1F6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1DCD103F-2D18-36B5-ACFE-F66976391D86}"/>
                </a:ext>
              </a:extLst>
            </p:cNvPr>
            <p:cNvGrpSpPr/>
            <p:nvPr/>
          </p:nvGrpSpPr>
          <p:grpSpPr>
            <a:xfrm>
              <a:off x="8183438" y="1645171"/>
              <a:ext cx="792088" cy="0"/>
              <a:chOff x="8183438" y="1645171"/>
              <a:chExt cx="792088" cy="0"/>
            </a:xfrm>
          </p:grpSpPr>
          <p:cxnSp>
            <p:nvCxnSpPr>
              <p:cNvPr id="46" name="uline3">
                <a:extLst>
                  <a:ext uri="{FF2B5EF4-FFF2-40B4-BE49-F238E27FC236}">
                    <a16:creationId xmlns:a16="http://schemas.microsoft.com/office/drawing/2014/main" id="{3BF31F63-F1A9-5E97-B990-97B370B2A3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83438" y="1645171"/>
                <a:ext cx="431925" cy="0"/>
              </a:xfrm>
              <a:prstGeom prst="line">
                <a:avLst/>
              </a:prstGeom>
              <a:ln w="38100">
                <a:headEnd type="triangl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uline2">
                <a:extLst>
                  <a:ext uri="{FF2B5EF4-FFF2-40B4-BE49-F238E27FC236}">
                    <a16:creationId xmlns:a16="http://schemas.microsoft.com/office/drawing/2014/main" id="{52B0A6C0-68D6-6E94-9CB6-01884455581E}"/>
                  </a:ext>
                </a:extLst>
              </p:cNvPr>
              <p:cNvCxnSpPr>
                <a:cxnSpLocks/>
                <a:stCxn id="32" idx="1"/>
              </p:cNvCxnSpPr>
              <p:nvPr/>
            </p:nvCxnSpPr>
            <p:spPr>
              <a:xfrm flipH="1">
                <a:off x="8549691" y="1645171"/>
                <a:ext cx="425835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">
                  <a:extLst>
                    <a:ext uri="{FF2B5EF4-FFF2-40B4-BE49-F238E27FC236}">
                      <a16:creationId xmlns:a16="http://schemas.microsoft.com/office/drawing/2014/main" id="{37EFCCA2-029B-38CB-3508-BEFD2F3B161C}"/>
                    </a:ext>
                  </a:extLst>
                </p:cNvPr>
                <p:cNvSpPr txBox="1"/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R">
                  <a:extLst>
                    <a:ext uri="{FF2B5EF4-FFF2-40B4-BE49-F238E27FC236}">
                      <a16:creationId xmlns:a16="http://schemas.microsoft.com/office/drawing/2014/main" id="{78941D0A-5A2A-847B-43F2-979582E26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">
                  <a:extLst>
                    <a:ext uri="{FF2B5EF4-FFF2-40B4-BE49-F238E27FC236}">
                      <a16:creationId xmlns:a16="http://schemas.microsoft.com/office/drawing/2014/main" id="{D4C77C71-BE81-3A65-6345-EC9E471CBD35}"/>
                    </a:ext>
                  </a:extLst>
                </p:cNvPr>
                <p:cNvSpPr txBox="1"/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C">
                  <a:extLst>
                    <a:ext uri="{FF2B5EF4-FFF2-40B4-BE49-F238E27FC236}">
                      <a16:creationId xmlns:a16="http://schemas.microsoft.com/office/drawing/2014/main" id="{1DF7B0FD-BA4D-5704-2BE3-668D46634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blipFill>
                  <a:blip r:embed="rId7"/>
                  <a:stretch>
                    <a:fillRect l="-9677" r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ur">
                  <a:extLst>
                    <a:ext uri="{FF2B5EF4-FFF2-40B4-BE49-F238E27FC236}">
                      <a16:creationId xmlns:a16="http://schemas.microsoft.com/office/drawing/2014/main" id="{0EFBB699-DE25-2A19-243B-E63C13BD6C4C}"/>
                    </a:ext>
                  </a:extLst>
                </p:cNvPr>
                <p:cNvSpPr txBox="1"/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ur">
                  <a:extLst>
                    <a:ext uri="{FF2B5EF4-FFF2-40B4-BE49-F238E27FC236}">
                      <a16:creationId xmlns:a16="http://schemas.microsoft.com/office/drawing/2014/main" id="{66A5E279-782F-ECC9-EE8D-9F774D1AE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uc">
                  <a:extLst>
                    <a:ext uri="{FF2B5EF4-FFF2-40B4-BE49-F238E27FC236}">
                      <a16:creationId xmlns:a16="http://schemas.microsoft.com/office/drawing/2014/main" id="{F25CA1C5-B257-27AF-9514-E382E9ABB500}"/>
                    </a:ext>
                  </a:extLst>
                </p:cNvPr>
                <p:cNvSpPr txBox="1"/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uc">
                  <a:extLst>
                    <a:ext uri="{FF2B5EF4-FFF2-40B4-BE49-F238E27FC236}">
                      <a16:creationId xmlns:a16="http://schemas.microsoft.com/office/drawing/2014/main" id="{F4D82222-AB5C-E402-1E23-C1856C2BB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blipFill>
                  <a:blip r:embed="rId9"/>
                  <a:stretch>
                    <a:fillRect r="-290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642466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图片包含 图表&#10;&#10;描述已自动生成">
            <a:extLst>
              <a:ext uri="{FF2B5EF4-FFF2-40B4-BE49-F238E27FC236}">
                <a16:creationId xmlns:a16="http://schemas.microsoft.com/office/drawing/2014/main" id="{B49A0FC5-9573-76D1-E37F-6A3936EDF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426" y="3789040"/>
            <a:ext cx="3129280" cy="2346960"/>
          </a:xfrm>
          <a:prstGeom prst="rect">
            <a:avLst/>
          </a:prstGeom>
        </p:spPr>
      </p:pic>
      <p:pic>
        <p:nvPicPr>
          <p:cNvPr id="30" name="图片 29" descr="图片包含 箭头&#10;&#10;描述已自动生成">
            <a:extLst>
              <a:ext uri="{FF2B5EF4-FFF2-40B4-BE49-F238E27FC236}">
                <a16:creationId xmlns:a16="http://schemas.microsoft.com/office/drawing/2014/main" id="{FE0B35D9-2515-8433-30C7-21A3C37CC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426" y="3788763"/>
            <a:ext cx="3129280" cy="2346960"/>
          </a:xfrm>
          <a:prstGeom prst="rect">
            <a:avLst/>
          </a:prstGeom>
        </p:spPr>
      </p:pic>
      <p:grpSp>
        <p:nvGrpSpPr>
          <p:cNvPr id="31" name="RC电路">
            <a:extLst>
              <a:ext uri="{FF2B5EF4-FFF2-40B4-BE49-F238E27FC236}">
                <a16:creationId xmlns:a16="http://schemas.microsoft.com/office/drawing/2014/main" id="{F547FBE7-FE48-5085-B50E-C397A69A5839}"/>
              </a:ext>
            </a:extLst>
          </p:cNvPr>
          <p:cNvGrpSpPr/>
          <p:nvPr/>
        </p:nvGrpSpPr>
        <p:grpSpPr>
          <a:xfrm>
            <a:off x="4446554" y="908720"/>
            <a:ext cx="3298892" cy="1674703"/>
            <a:chOff x="7688170" y="1033572"/>
            <a:chExt cx="3298892" cy="1674703"/>
          </a:xfrm>
        </p:grpSpPr>
        <p:sp>
          <p:nvSpPr>
            <p:cNvPr id="32" name="电阻">
              <a:extLst>
                <a:ext uri="{FF2B5EF4-FFF2-40B4-BE49-F238E27FC236}">
                  <a16:creationId xmlns:a16="http://schemas.microsoft.com/office/drawing/2014/main" id="{4BD60BC2-B045-BD1E-88A8-B394D2855498}"/>
                </a:ext>
              </a:extLst>
            </p:cNvPr>
            <p:cNvSpPr/>
            <p:nvPr/>
          </p:nvSpPr>
          <p:spPr>
            <a:xfrm>
              <a:off x="8975526" y="1556792"/>
              <a:ext cx="689174" cy="17675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31000">
                  <a:schemeClr val="bg1"/>
                </a:gs>
                <a:gs pos="3500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3" name="电容">
              <a:extLst>
                <a:ext uri="{FF2B5EF4-FFF2-40B4-BE49-F238E27FC236}">
                  <a16:creationId xmlns:a16="http://schemas.microsoft.com/office/drawing/2014/main" id="{99D05A61-5277-9DD2-4D6D-BE9BD3A6A0C2}"/>
                </a:ext>
              </a:extLst>
            </p:cNvPr>
            <p:cNvGrpSpPr/>
            <p:nvPr/>
          </p:nvGrpSpPr>
          <p:grpSpPr>
            <a:xfrm>
              <a:off x="9956080" y="2155692"/>
              <a:ext cx="432048" cy="100803"/>
              <a:chOff x="10343678" y="2276872"/>
              <a:chExt cx="432272" cy="144016"/>
            </a:xfrm>
          </p:grpSpPr>
          <p:cxnSp>
            <p:nvCxnSpPr>
              <p:cNvPr id="48" name="正极">
                <a:extLst>
                  <a:ext uri="{FF2B5EF4-FFF2-40B4-BE49-F238E27FC236}">
                    <a16:creationId xmlns:a16="http://schemas.microsoft.com/office/drawing/2014/main" id="{4DA24854-AE9E-7AA2-6071-86A903C2F18E}"/>
                  </a:ext>
                </a:extLst>
              </p:cNvPr>
              <p:cNvCxnSpPr/>
              <p:nvPr/>
            </p:nvCxnSpPr>
            <p:spPr>
              <a:xfrm>
                <a:off x="10343678" y="2276872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负极">
                <a:extLst>
                  <a:ext uri="{FF2B5EF4-FFF2-40B4-BE49-F238E27FC236}">
                    <a16:creationId xmlns:a16="http://schemas.microsoft.com/office/drawing/2014/main" id="{6D3E1E27-8DE4-6469-0BEC-09127A0024CE}"/>
                  </a:ext>
                </a:extLst>
              </p:cNvPr>
              <p:cNvCxnSpPr/>
              <p:nvPr/>
            </p:nvCxnSpPr>
            <p:spPr>
              <a:xfrm>
                <a:off x="10343678" y="2420888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uline">
              <a:extLst>
                <a:ext uri="{FF2B5EF4-FFF2-40B4-BE49-F238E27FC236}">
                  <a16:creationId xmlns:a16="http://schemas.microsoft.com/office/drawing/2014/main" id="{37F3B4F7-0C8C-6B4A-EF88-06ADDFEF6EDD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9664700" y="1645171"/>
              <a:ext cx="895226" cy="6688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line">
              <a:extLst>
                <a:ext uri="{FF2B5EF4-FFF2-40B4-BE49-F238E27FC236}">
                  <a16:creationId xmlns:a16="http://schemas.microsoft.com/office/drawing/2014/main" id="{6663E2E1-F6B7-0089-1CD2-D97549C2D1C0}"/>
                </a:ext>
              </a:extLst>
            </p:cNvPr>
            <p:cNvCxnSpPr>
              <a:cxnSpLocks/>
            </p:cNvCxnSpPr>
            <p:nvPr/>
          </p:nvCxnSpPr>
          <p:spPr>
            <a:xfrm>
              <a:off x="8183438" y="2708275"/>
              <a:ext cx="2376488" cy="0"/>
            </a:xfrm>
            <a:prstGeom prst="line">
              <a:avLst/>
            </a:prstGeom>
            <a:ln w="38100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urline">
              <a:extLst>
                <a:ext uri="{FF2B5EF4-FFF2-40B4-BE49-F238E27FC236}">
                  <a16:creationId xmlns:a16="http://schemas.microsoft.com/office/drawing/2014/main" id="{50E60103-DCD2-60CE-9E52-1BF8874A79CF}"/>
                </a:ext>
              </a:extLst>
            </p:cNvPr>
            <p:cNvCxnSpPr/>
            <p:nvPr/>
          </p:nvCxnSpPr>
          <p:spPr>
            <a:xfrm>
              <a:off x="8183438" y="1844824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ucline">
              <a:extLst>
                <a:ext uri="{FF2B5EF4-FFF2-40B4-BE49-F238E27FC236}">
                  <a16:creationId xmlns:a16="http://schemas.microsoft.com/office/drawing/2014/main" id="{E16EAA73-FAC0-DB4A-CCA9-F60D0B09B06B}"/>
                </a:ext>
              </a:extLst>
            </p:cNvPr>
            <p:cNvCxnSpPr/>
            <p:nvPr/>
          </p:nvCxnSpPr>
          <p:spPr>
            <a:xfrm>
              <a:off x="10559926" y="1821287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line2">
              <a:extLst>
                <a:ext uri="{FF2B5EF4-FFF2-40B4-BE49-F238E27FC236}">
                  <a16:creationId xmlns:a16="http://schemas.microsoft.com/office/drawing/2014/main" id="{3DB9657D-65E8-CF27-5604-61FAB0CB34F7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1640461"/>
              <a:ext cx="0" cy="5152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line1">
              <a:extLst>
                <a:ext uri="{FF2B5EF4-FFF2-40B4-BE49-F238E27FC236}">
                  <a16:creationId xmlns:a16="http://schemas.microsoft.com/office/drawing/2014/main" id="{7FBD0D35-6B34-30B5-8E0D-91464C7C367C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2256495"/>
              <a:ext cx="0" cy="45178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i">
                  <a:extLst>
                    <a:ext uri="{FF2B5EF4-FFF2-40B4-BE49-F238E27FC236}">
                      <a16:creationId xmlns:a16="http://schemas.microsoft.com/office/drawing/2014/main" id="{FE2DB082-16AE-2DC3-291E-D0BA9666ACDA}"/>
                    </a:ext>
                  </a:extLst>
                </p:cNvPr>
                <p:cNvSpPr txBox="1"/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i">
                  <a:extLst>
                    <a:ext uri="{FF2B5EF4-FFF2-40B4-BE49-F238E27FC236}">
                      <a16:creationId xmlns:a16="http://schemas.microsoft.com/office/drawing/2014/main" id="{4F2A3C35-FC2E-86D6-5CC0-1234BB1F6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1DCD103F-2D18-36B5-ACFE-F66976391D86}"/>
                </a:ext>
              </a:extLst>
            </p:cNvPr>
            <p:cNvGrpSpPr/>
            <p:nvPr/>
          </p:nvGrpSpPr>
          <p:grpSpPr>
            <a:xfrm>
              <a:off x="8183438" y="1645171"/>
              <a:ext cx="792088" cy="0"/>
              <a:chOff x="8183438" y="1645171"/>
              <a:chExt cx="792088" cy="0"/>
            </a:xfrm>
          </p:grpSpPr>
          <p:cxnSp>
            <p:nvCxnSpPr>
              <p:cNvPr id="46" name="uline3">
                <a:extLst>
                  <a:ext uri="{FF2B5EF4-FFF2-40B4-BE49-F238E27FC236}">
                    <a16:creationId xmlns:a16="http://schemas.microsoft.com/office/drawing/2014/main" id="{3BF31F63-F1A9-5E97-B990-97B370B2A3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83438" y="1645171"/>
                <a:ext cx="431925" cy="0"/>
              </a:xfrm>
              <a:prstGeom prst="line">
                <a:avLst/>
              </a:prstGeom>
              <a:ln w="38100">
                <a:headEnd type="triangl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uline2">
                <a:extLst>
                  <a:ext uri="{FF2B5EF4-FFF2-40B4-BE49-F238E27FC236}">
                    <a16:creationId xmlns:a16="http://schemas.microsoft.com/office/drawing/2014/main" id="{52B0A6C0-68D6-6E94-9CB6-01884455581E}"/>
                  </a:ext>
                </a:extLst>
              </p:cNvPr>
              <p:cNvCxnSpPr>
                <a:cxnSpLocks/>
                <a:stCxn id="32" idx="1"/>
              </p:cNvCxnSpPr>
              <p:nvPr/>
            </p:nvCxnSpPr>
            <p:spPr>
              <a:xfrm flipH="1">
                <a:off x="8549691" y="1645171"/>
                <a:ext cx="425835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">
                  <a:extLst>
                    <a:ext uri="{FF2B5EF4-FFF2-40B4-BE49-F238E27FC236}">
                      <a16:creationId xmlns:a16="http://schemas.microsoft.com/office/drawing/2014/main" id="{37EFCCA2-029B-38CB-3508-BEFD2F3B161C}"/>
                    </a:ext>
                  </a:extLst>
                </p:cNvPr>
                <p:cNvSpPr txBox="1"/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R">
                  <a:extLst>
                    <a:ext uri="{FF2B5EF4-FFF2-40B4-BE49-F238E27FC236}">
                      <a16:creationId xmlns:a16="http://schemas.microsoft.com/office/drawing/2014/main" id="{78941D0A-5A2A-847B-43F2-979582E26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">
                  <a:extLst>
                    <a:ext uri="{FF2B5EF4-FFF2-40B4-BE49-F238E27FC236}">
                      <a16:creationId xmlns:a16="http://schemas.microsoft.com/office/drawing/2014/main" id="{D4C77C71-BE81-3A65-6345-EC9E471CBD35}"/>
                    </a:ext>
                  </a:extLst>
                </p:cNvPr>
                <p:cNvSpPr txBox="1"/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C">
                  <a:extLst>
                    <a:ext uri="{FF2B5EF4-FFF2-40B4-BE49-F238E27FC236}">
                      <a16:creationId xmlns:a16="http://schemas.microsoft.com/office/drawing/2014/main" id="{1DF7B0FD-BA4D-5704-2BE3-668D46634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blipFill>
                  <a:blip r:embed="rId7"/>
                  <a:stretch>
                    <a:fillRect l="-9677" r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ur">
                  <a:extLst>
                    <a:ext uri="{FF2B5EF4-FFF2-40B4-BE49-F238E27FC236}">
                      <a16:creationId xmlns:a16="http://schemas.microsoft.com/office/drawing/2014/main" id="{0EFBB699-DE25-2A19-243B-E63C13BD6C4C}"/>
                    </a:ext>
                  </a:extLst>
                </p:cNvPr>
                <p:cNvSpPr txBox="1"/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ur">
                  <a:extLst>
                    <a:ext uri="{FF2B5EF4-FFF2-40B4-BE49-F238E27FC236}">
                      <a16:creationId xmlns:a16="http://schemas.microsoft.com/office/drawing/2014/main" id="{66A5E279-782F-ECC9-EE8D-9F774D1AE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uc">
                  <a:extLst>
                    <a:ext uri="{FF2B5EF4-FFF2-40B4-BE49-F238E27FC236}">
                      <a16:creationId xmlns:a16="http://schemas.microsoft.com/office/drawing/2014/main" id="{F25CA1C5-B257-27AF-9514-E382E9ABB500}"/>
                    </a:ext>
                  </a:extLst>
                </p:cNvPr>
                <p:cNvSpPr txBox="1"/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uc">
                  <a:extLst>
                    <a:ext uri="{FF2B5EF4-FFF2-40B4-BE49-F238E27FC236}">
                      <a16:creationId xmlns:a16="http://schemas.microsoft.com/office/drawing/2014/main" id="{F4D82222-AB5C-E402-1E23-C1856C2BB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blipFill>
                  <a:blip r:embed="rId9"/>
                  <a:stretch>
                    <a:fillRect r="-290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09034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83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正弦信号作用下的响应</a:t>
            </a:r>
          </a:p>
        </p:txBody>
      </p:sp>
      <p:grpSp>
        <p:nvGrpSpPr>
          <p:cNvPr id="15" name="问题">
            <a:extLst>
              <a:ext uri="{FF2B5EF4-FFF2-40B4-BE49-F238E27FC236}">
                <a16:creationId xmlns:a16="http://schemas.microsoft.com/office/drawing/2014/main" id="{9CB83DE1-B101-BF77-7FDA-83E74B711CE2}"/>
              </a:ext>
            </a:extLst>
          </p:cNvPr>
          <p:cNvGrpSpPr/>
          <p:nvPr/>
        </p:nvGrpSpPr>
        <p:grpSpPr>
          <a:xfrm>
            <a:off x="341871" y="965064"/>
            <a:ext cx="7632848" cy="881063"/>
            <a:chOff x="5348307" y="5538470"/>
            <a:chExt cx="7632848" cy="881063"/>
          </a:xfrm>
        </p:grpSpPr>
        <p:sp>
          <p:nvSpPr>
            <p:cNvPr id="16" name="问号">
              <a:extLst>
                <a:ext uri="{FF2B5EF4-FFF2-40B4-BE49-F238E27FC236}">
                  <a16:creationId xmlns:a16="http://schemas.microsoft.com/office/drawing/2014/main" id="{AAB96B49-133E-4289-6D2C-C5D9D2118D31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">
                  <a:extLst>
                    <a:ext uri="{FF2B5EF4-FFF2-40B4-BE49-F238E27FC236}">
                      <a16:creationId xmlns:a16="http://schemas.microsoft.com/office/drawing/2014/main" id="{0D8C7454-2869-576F-CD14-1FAB02E1BB99}"/>
                    </a:ext>
                  </a:extLst>
                </p:cNvPr>
                <p:cNvSpPr txBox="1"/>
                <p:nvPr/>
              </p:nvSpPr>
              <p:spPr>
                <a:xfrm>
                  <a:off x="6306265" y="5726958"/>
                  <a:ext cx="667489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输入信号为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𝐴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时，求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𝑡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)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？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8" name="文本">
                  <a:extLst>
                    <a:ext uri="{FF2B5EF4-FFF2-40B4-BE49-F238E27FC236}">
                      <a16:creationId xmlns:a16="http://schemas.microsoft.com/office/drawing/2014/main" id="{0D8C7454-2869-576F-CD14-1FAB02E1B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265" y="5726958"/>
                  <a:ext cx="6674890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1901" t="-11905" r="-1711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RC电路">
            <a:extLst>
              <a:ext uri="{FF2B5EF4-FFF2-40B4-BE49-F238E27FC236}">
                <a16:creationId xmlns:a16="http://schemas.microsoft.com/office/drawing/2014/main" id="{FDFB11FF-8D43-BAE5-B698-7288ACE360C6}"/>
              </a:ext>
            </a:extLst>
          </p:cNvPr>
          <p:cNvGrpSpPr/>
          <p:nvPr/>
        </p:nvGrpSpPr>
        <p:grpSpPr>
          <a:xfrm>
            <a:off x="8277069" y="109192"/>
            <a:ext cx="3298892" cy="1674703"/>
            <a:chOff x="7688170" y="1033572"/>
            <a:chExt cx="3298892" cy="1674703"/>
          </a:xfrm>
        </p:grpSpPr>
        <p:sp>
          <p:nvSpPr>
            <p:cNvPr id="5" name="电阻">
              <a:extLst>
                <a:ext uri="{FF2B5EF4-FFF2-40B4-BE49-F238E27FC236}">
                  <a16:creationId xmlns:a16="http://schemas.microsoft.com/office/drawing/2014/main" id="{0B675926-8DF5-D283-A18D-732DDE399D3F}"/>
                </a:ext>
              </a:extLst>
            </p:cNvPr>
            <p:cNvSpPr/>
            <p:nvPr/>
          </p:nvSpPr>
          <p:spPr>
            <a:xfrm>
              <a:off x="8975526" y="1556792"/>
              <a:ext cx="689174" cy="17675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31000">
                  <a:schemeClr val="bg1"/>
                </a:gs>
                <a:gs pos="3500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8" name="电容">
              <a:extLst>
                <a:ext uri="{FF2B5EF4-FFF2-40B4-BE49-F238E27FC236}">
                  <a16:creationId xmlns:a16="http://schemas.microsoft.com/office/drawing/2014/main" id="{2F12D895-99EF-908F-8903-88E58D95608E}"/>
                </a:ext>
              </a:extLst>
            </p:cNvPr>
            <p:cNvGrpSpPr/>
            <p:nvPr/>
          </p:nvGrpSpPr>
          <p:grpSpPr>
            <a:xfrm>
              <a:off x="9956080" y="2155692"/>
              <a:ext cx="432048" cy="100803"/>
              <a:chOff x="10343678" y="2276872"/>
              <a:chExt cx="432272" cy="144016"/>
            </a:xfrm>
          </p:grpSpPr>
          <p:cxnSp>
            <p:nvCxnSpPr>
              <p:cNvPr id="7" name="正极">
                <a:extLst>
                  <a:ext uri="{FF2B5EF4-FFF2-40B4-BE49-F238E27FC236}">
                    <a16:creationId xmlns:a16="http://schemas.microsoft.com/office/drawing/2014/main" id="{F569B61A-E39A-4FFB-8385-CE7C067115F0}"/>
                  </a:ext>
                </a:extLst>
              </p:cNvPr>
              <p:cNvCxnSpPr/>
              <p:nvPr/>
            </p:nvCxnSpPr>
            <p:spPr>
              <a:xfrm>
                <a:off x="10343678" y="2276872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负极">
                <a:extLst>
                  <a:ext uri="{FF2B5EF4-FFF2-40B4-BE49-F238E27FC236}">
                    <a16:creationId xmlns:a16="http://schemas.microsoft.com/office/drawing/2014/main" id="{B179C6A4-9266-F3EB-54AB-D2E23E1FA9BE}"/>
                  </a:ext>
                </a:extLst>
              </p:cNvPr>
              <p:cNvCxnSpPr/>
              <p:nvPr/>
            </p:nvCxnSpPr>
            <p:spPr>
              <a:xfrm>
                <a:off x="10343678" y="2420888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uline">
              <a:extLst>
                <a:ext uri="{FF2B5EF4-FFF2-40B4-BE49-F238E27FC236}">
                  <a16:creationId xmlns:a16="http://schemas.microsoft.com/office/drawing/2014/main" id="{41132632-C86B-8B9C-C762-F3818C210E81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9664700" y="1645171"/>
              <a:ext cx="895226" cy="6688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bline">
              <a:extLst>
                <a:ext uri="{FF2B5EF4-FFF2-40B4-BE49-F238E27FC236}">
                  <a16:creationId xmlns:a16="http://schemas.microsoft.com/office/drawing/2014/main" id="{560DA8A2-86A8-F994-9145-62C2E993372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438" y="2708275"/>
              <a:ext cx="2376488" cy="0"/>
            </a:xfrm>
            <a:prstGeom prst="line">
              <a:avLst/>
            </a:prstGeom>
            <a:ln w="38100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urline">
              <a:extLst>
                <a:ext uri="{FF2B5EF4-FFF2-40B4-BE49-F238E27FC236}">
                  <a16:creationId xmlns:a16="http://schemas.microsoft.com/office/drawing/2014/main" id="{DE3184EB-2551-E03B-3C36-3AC4F602438E}"/>
                </a:ext>
              </a:extLst>
            </p:cNvPr>
            <p:cNvCxnSpPr/>
            <p:nvPr/>
          </p:nvCxnSpPr>
          <p:spPr>
            <a:xfrm>
              <a:off x="8183438" y="1844824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ucline">
              <a:extLst>
                <a:ext uri="{FF2B5EF4-FFF2-40B4-BE49-F238E27FC236}">
                  <a16:creationId xmlns:a16="http://schemas.microsoft.com/office/drawing/2014/main" id="{7531281A-BCB7-8EC0-B5CF-84E50779E27A}"/>
                </a:ext>
              </a:extLst>
            </p:cNvPr>
            <p:cNvCxnSpPr/>
            <p:nvPr/>
          </p:nvCxnSpPr>
          <p:spPr>
            <a:xfrm>
              <a:off x="10559926" y="1821287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line2">
              <a:extLst>
                <a:ext uri="{FF2B5EF4-FFF2-40B4-BE49-F238E27FC236}">
                  <a16:creationId xmlns:a16="http://schemas.microsoft.com/office/drawing/2014/main" id="{D406D421-8FD8-B559-1D27-C0CE11358AF3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1640461"/>
              <a:ext cx="0" cy="5152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line1">
              <a:extLst>
                <a:ext uri="{FF2B5EF4-FFF2-40B4-BE49-F238E27FC236}">
                  <a16:creationId xmlns:a16="http://schemas.microsoft.com/office/drawing/2014/main" id="{79FA7F94-4070-E504-7B0E-3005363D2E1B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2256495"/>
              <a:ext cx="0" cy="45178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i">
                  <a:extLst>
                    <a:ext uri="{FF2B5EF4-FFF2-40B4-BE49-F238E27FC236}">
                      <a16:creationId xmlns:a16="http://schemas.microsoft.com/office/drawing/2014/main" id="{4F2A3C35-FC2E-86D6-5CC0-1234BB1F6964}"/>
                    </a:ext>
                  </a:extLst>
                </p:cNvPr>
                <p:cNvSpPr txBox="1"/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i">
                  <a:extLst>
                    <a:ext uri="{FF2B5EF4-FFF2-40B4-BE49-F238E27FC236}">
                      <a16:creationId xmlns:a16="http://schemas.microsoft.com/office/drawing/2014/main" id="{4F2A3C35-FC2E-86D6-5CC0-1234BB1F6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8F0C916B-94DA-6775-BEE7-47CEE9518331}"/>
                </a:ext>
              </a:extLst>
            </p:cNvPr>
            <p:cNvGrpSpPr/>
            <p:nvPr/>
          </p:nvGrpSpPr>
          <p:grpSpPr>
            <a:xfrm>
              <a:off x="8183438" y="1645171"/>
              <a:ext cx="792088" cy="0"/>
              <a:chOff x="8183438" y="1645171"/>
              <a:chExt cx="792088" cy="0"/>
            </a:xfrm>
          </p:grpSpPr>
          <p:cxnSp>
            <p:nvCxnSpPr>
              <p:cNvPr id="77" name="uline3">
                <a:extLst>
                  <a:ext uri="{FF2B5EF4-FFF2-40B4-BE49-F238E27FC236}">
                    <a16:creationId xmlns:a16="http://schemas.microsoft.com/office/drawing/2014/main" id="{ACA59D73-817D-D085-4EB5-3ADB21231A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83438" y="1645171"/>
                <a:ext cx="431925" cy="0"/>
              </a:xfrm>
              <a:prstGeom prst="line">
                <a:avLst/>
              </a:prstGeom>
              <a:ln w="38100">
                <a:headEnd type="triangl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uline2">
                <a:extLst>
                  <a:ext uri="{FF2B5EF4-FFF2-40B4-BE49-F238E27FC236}">
                    <a16:creationId xmlns:a16="http://schemas.microsoft.com/office/drawing/2014/main" id="{0A6C1F72-4F8A-57D6-B79E-1E21FE8B23B6}"/>
                  </a:ext>
                </a:extLst>
              </p:cNvPr>
              <p:cNvCxnSpPr>
                <a:cxnSpLocks/>
                <a:stCxn id="5" idx="1"/>
              </p:cNvCxnSpPr>
              <p:nvPr/>
            </p:nvCxnSpPr>
            <p:spPr>
              <a:xfrm flipH="1">
                <a:off x="8549691" y="1645171"/>
                <a:ext cx="425835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">
                  <a:extLst>
                    <a:ext uri="{FF2B5EF4-FFF2-40B4-BE49-F238E27FC236}">
                      <a16:creationId xmlns:a16="http://schemas.microsoft.com/office/drawing/2014/main" id="{78941D0A-5A2A-847B-43F2-979582E26D71}"/>
                    </a:ext>
                  </a:extLst>
                </p:cNvPr>
                <p:cNvSpPr txBox="1"/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R">
                  <a:extLst>
                    <a:ext uri="{FF2B5EF4-FFF2-40B4-BE49-F238E27FC236}">
                      <a16:creationId xmlns:a16="http://schemas.microsoft.com/office/drawing/2014/main" id="{78941D0A-5A2A-847B-43F2-979582E26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C">
                  <a:extLst>
                    <a:ext uri="{FF2B5EF4-FFF2-40B4-BE49-F238E27FC236}">
                      <a16:creationId xmlns:a16="http://schemas.microsoft.com/office/drawing/2014/main" id="{1DF7B0FD-BA4D-5704-2BE3-668D4663420D}"/>
                    </a:ext>
                  </a:extLst>
                </p:cNvPr>
                <p:cNvSpPr txBox="1"/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C">
                  <a:extLst>
                    <a:ext uri="{FF2B5EF4-FFF2-40B4-BE49-F238E27FC236}">
                      <a16:creationId xmlns:a16="http://schemas.microsoft.com/office/drawing/2014/main" id="{1DF7B0FD-BA4D-5704-2BE3-668D46634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blipFill>
                  <a:blip r:embed="rId6"/>
                  <a:stretch>
                    <a:fillRect l="-9677" r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ur">
                  <a:extLst>
                    <a:ext uri="{FF2B5EF4-FFF2-40B4-BE49-F238E27FC236}">
                      <a16:creationId xmlns:a16="http://schemas.microsoft.com/office/drawing/2014/main" id="{66A5E279-782F-ECC9-EE8D-9F774D1AEC0C}"/>
                    </a:ext>
                  </a:extLst>
                </p:cNvPr>
                <p:cNvSpPr txBox="1"/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ur">
                  <a:extLst>
                    <a:ext uri="{FF2B5EF4-FFF2-40B4-BE49-F238E27FC236}">
                      <a16:creationId xmlns:a16="http://schemas.microsoft.com/office/drawing/2014/main" id="{66A5E279-782F-ECC9-EE8D-9F774D1AE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uc">
                  <a:extLst>
                    <a:ext uri="{FF2B5EF4-FFF2-40B4-BE49-F238E27FC236}">
                      <a16:creationId xmlns:a16="http://schemas.microsoft.com/office/drawing/2014/main" id="{F4D82222-AB5C-E402-1E23-C1856C2BB2BE}"/>
                    </a:ext>
                  </a:extLst>
                </p:cNvPr>
                <p:cNvSpPr txBox="1"/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uc">
                  <a:extLst>
                    <a:ext uri="{FF2B5EF4-FFF2-40B4-BE49-F238E27FC236}">
                      <a16:creationId xmlns:a16="http://schemas.microsoft.com/office/drawing/2014/main" id="{F4D82222-AB5C-E402-1E23-C1856C2BB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90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输入信号">
                <a:extLst>
                  <a:ext uri="{FF2B5EF4-FFF2-40B4-BE49-F238E27FC236}">
                    <a16:creationId xmlns:a16="http://schemas.microsoft.com/office/drawing/2014/main" id="{6F0646B9-CE81-377B-ED82-16F84B3E8C87}"/>
                  </a:ext>
                </a:extLst>
              </p:cNvPr>
              <p:cNvSpPr txBox="1"/>
              <p:nvPr/>
            </p:nvSpPr>
            <p:spPr>
              <a:xfrm>
                <a:off x="323960" y="1988840"/>
                <a:ext cx="7464873" cy="832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𝐶𝑅𝑠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groupChr>
                      <m:groupChrPr>
                        <m:chr m:val="⇒"/>
                        <m:vertJc m:val="bot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𝐶𝑅</m:t>
                        </m:r>
                      </m:e>
                    </m:groupCh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+1/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88" name="输入信号">
                <a:extLst>
                  <a:ext uri="{FF2B5EF4-FFF2-40B4-BE49-F238E27FC236}">
                    <a16:creationId xmlns:a16="http://schemas.microsoft.com/office/drawing/2014/main" id="{6F0646B9-CE81-377B-ED82-16F84B3E8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60" y="1988840"/>
                <a:ext cx="7464873" cy="832344"/>
              </a:xfrm>
              <a:prstGeom prst="rect">
                <a:avLst/>
              </a:prstGeom>
              <a:blipFill>
                <a:blip r:embed="rId9"/>
                <a:stretch>
                  <a:fillRect l="-340" b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输入信号">
                <a:extLst>
                  <a:ext uri="{FF2B5EF4-FFF2-40B4-BE49-F238E27FC236}">
                    <a16:creationId xmlns:a16="http://schemas.microsoft.com/office/drawing/2014/main" id="{1F4BD484-F7B4-AB75-9E7F-947E3AD6717D}"/>
                  </a:ext>
                </a:extLst>
              </p:cNvPr>
              <p:cNvSpPr txBox="1"/>
              <p:nvPr/>
            </p:nvSpPr>
            <p:spPr>
              <a:xfrm>
                <a:off x="213350" y="2899310"/>
                <a:ext cx="8222878" cy="961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+1/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groupChr>
                      <m:groupChrPr>
                        <m:chr m:val="⇒"/>
                        <m:vertJc m:val="bot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部</m:t>
                        </m:r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分分式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分解</m:t>
                        </m:r>
                      </m:e>
                    </m:groupCh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89" name="输入信号">
                <a:extLst>
                  <a:ext uri="{FF2B5EF4-FFF2-40B4-BE49-F238E27FC236}">
                    <a16:creationId xmlns:a16="http://schemas.microsoft.com/office/drawing/2014/main" id="{1F4BD484-F7B4-AB75-9E7F-947E3AD67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50" y="2899310"/>
                <a:ext cx="8222878" cy="961738"/>
              </a:xfrm>
              <a:prstGeom prst="rect">
                <a:avLst/>
              </a:prstGeom>
              <a:blipFill>
                <a:blip r:embed="rId10"/>
                <a:stretch>
                  <a:fillRect l="-308" b="-7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输入信号">
                <a:extLst>
                  <a:ext uri="{FF2B5EF4-FFF2-40B4-BE49-F238E27FC236}">
                    <a16:creationId xmlns:a16="http://schemas.microsoft.com/office/drawing/2014/main" id="{D89A9567-CE1D-D5BC-108E-268E9CB8669A}"/>
                  </a:ext>
                </a:extLst>
              </p:cNvPr>
              <p:cNvSpPr txBox="1"/>
              <p:nvPr/>
            </p:nvSpPr>
            <p:spPr>
              <a:xfrm>
                <a:off x="205214" y="4147872"/>
                <a:ext cx="5284460" cy="810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→−1/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>
          <p:sp>
            <p:nvSpPr>
              <p:cNvPr id="90" name="输入信号">
                <a:extLst>
                  <a:ext uri="{FF2B5EF4-FFF2-40B4-BE49-F238E27FC236}">
                    <a16:creationId xmlns:a16="http://schemas.microsoft.com/office/drawing/2014/main" id="{D89A9567-CE1D-D5BC-108E-268E9CB86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14" y="4147872"/>
                <a:ext cx="5284460" cy="810928"/>
              </a:xfrm>
              <a:prstGeom prst="rect">
                <a:avLst/>
              </a:prstGeom>
              <a:blipFill>
                <a:blip r:embed="rId11"/>
                <a:stretch>
                  <a:fillRect l="-719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输入信号">
                <a:extLst>
                  <a:ext uri="{FF2B5EF4-FFF2-40B4-BE49-F238E27FC236}">
                    <a16:creationId xmlns:a16="http://schemas.microsoft.com/office/drawing/2014/main" id="{238E7105-D254-D571-9623-51B1857CA62D}"/>
                  </a:ext>
                </a:extLst>
              </p:cNvPr>
              <p:cNvSpPr txBox="1"/>
              <p:nvPr/>
            </p:nvSpPr>
            <p:spPr>
              <a:xfrm>
                <a:off x="4943078" y="4162813"/>
                <a:ext cx="2630503" cy="706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1" name="输入信号">
                <a:extLst>
                  <a:ext uri="{FF2B5EF4-FFF2-40B4-BE49-F238E27FC236}">
                    <a16:creationId xmlns:a16="http://schemas.microsoft.com/office/drawing/2014/main" id="{238E7105-D254-D571-9623-51B1857CA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078" y="4162813"/>
                <a:ext cx="2630503" cy="706347"/>
              </a:xfrm>
              <a:prstGeom prst="rect">
                <a:avLst/>
              </a:prstGeom>
              <a:blipFill>
                <a:blip r:embed="rId12"/>
                <a:stretch>
                  <a:fillRect l="-1442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输入信号">
                <a:extLst>
                  <a:ext uri="{FF2B5EF4-FFF2-40B4-BE49-F238E27FC236}">
                    <a16:creationId xmlns:a16="http://schemas.microsoft.com/office/drawing/2014/main" id="{D961D4CF-787D-2452-86AF-0F7FA59551B1}"/>
                  </a:ext>
                </a:extLst>
              </p:cNvPr>
              <p:cNvSpPr txBox="1"/>
              <p:nvPr/>
            </p:nvSpPr>
            <p:spPr>
              <a:xfrm>
                <a:off x="7497151" y="4162813"/>
                <a:ext cx="2630503" cy="706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2" name="输入信号">
                <a:extLst>
                  <a:ext uri="{FF2B5EF4-FFF2-40B4-BE49-F238E27FC236}">
                    <a16:creationId xmlns:a16="http://schemas.microsoft.com/office/drawing/2014/main" id="{D961D4CF-787D-2452-86AF-0F7FA595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151" y="4162813"/>
                <a:ext cx="2630503" cy="706347"/>
              </a:xfrm>
              <a:prstGeom prst="rect">
                <a:avLst/>
              </a:prstGeom>
              <a:blipFill>
                <a:blip r:embed="rId13"/>
                <a:stretch>
                  <a:fillRect l="-962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输入信号">
                <a:extLst>
                  <a:ext uri="{FF2B5EF4-FFF2-40B4-BE49-F238E27FC236}">
                    <a16:creationId xmlns:a16="http://schemas.microsoft.com/office/drawing/2014/main" id="{E546F147-35B8-4853-CEEC-22876110ADCB}"/>
                  </a:ext>
                </a:extLst>
              </p:cNvPr>
              <p:cNvSpPr txBox="1"/>
              <p:nvPr/>
            </p:nvSpPr>
            <p:spPr>
              <a:xfrm>
                <a:off x="213350" y="5229200"/>
                <a:ext cx="10547653" cy="767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3" name="输入信号">
                <a:extLst>
                  <a:ext uri="{FF2B5EF4-FFF2-40B4-BE49-F238E27FC236}">
                    <a16:creationId xmlns:a16="http://schemas.microsoft.com/office/drawing/2014/main" id="{E546F147-35B8-4853-CEEC-22876110A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50" y="5229200"/>
                <a:ext cx="10547653" cy="767069"/>
              </a:xfrm>
              <a:prstGeom prst="rect">
                <a:avLst/>
              </a:prstGeom>
              <a:blipFill>
                <a:blip r:embed="rId14"/>
                <a:stretch>
                  <a:fillRect l="-240" t="-11290" b="-935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60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88" grpId="0"/>
      <p:bldP spid="89" grpId="0"/>
      <p:bldP spid="90" grpId="0"/>
      <p:bldP spid="91" grpId="0"/>
      <p:bldP spid="92" grpId="0"/>
      <p:bldP spid="9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83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正弦信号作用下的响应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输入信号">
                <a:extLst>
                  <a:ext uri="{FF2B5EF4-FFF2-40B4-BE49-F238E27FC236}">
                    <a16:creationId xmlns:a16="http://schemas.microsoft.com/office/drawing/2014/main" id="{E546F147-35B8-4853-CEEC-22876110ADCB}"/>
                  </a:ext>
                </a:extLst>
              </p:cNvPr>
              <p:cNvSpPr txBox="1"/>
              <p:nvPr/>
            </p:nvSpPr>
            <p:spPr>
              <a:xfrm>
                <a:off x="427473" y="1166203"/>
                <a:ext cx="10547653" cy="767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3" name="输入信号">
                <a:extLst>
                  <a:ext uri="{FF2B5EF4-FFF2-40B4-BE49-F238E27FC236}">
                    <a16:creationId xmlns:a16="http://schemas.microsoft.com/office/drawing/2014/main" id="{E546F147-35B8-4853-CEEC-22876110A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73" y="1166203"/>
                <a:ext cx="10547653" cy="767069"/>
              </a:xfrm>
              <a:prstGeom prst="rect">
                <a:avLst/>
              </a:prstGeom>
              <a:blipFill>
                <a:blip r:embed="rId3"/>
                <a:stretch>
                  <a:fillRect l="-240" t="-11290" b="-935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输入信号">
                <a:extLst>
                  <a:ext uri="{FF2B5EF4-FFF2-40B4-BE49-F238E27FC236}">
                    <a16:creationId xmlns:a16="http://schemas.microsoft.com/office/drawing/2014/main" id="{D2D9EF59-0414-4AF8-42E3-16865D2E822D}"/>
                  </a:ext>
                </a:extLst>
              </p:cNvPr>
              <p:cNvSpPr txBox="1"/>
              <p:nvPr/>
            </p:nvSpPr>
            <p:spPr>
              <a:xfrm>
                <a:off x="292415" y="3429000"/>
                <a:ext cx="9808734" cy="725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unc>
                          <m:funcPr>
                            <m:ctrlP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m:rPr>
                                <m:nor/>
                              </m:rPr>
                              <a:rPr lang="zh-CN" altLang="en-US" sz="2800" dirty="0"/>
                              <m:t> </m:t>
                            </m:r>
                          </m:e>
                        </m:func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unc>
                          <m:funcPr>
                            <m:ctrlP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m:rPr>
                                <m:nor/>
                              </m:rPr>
                              <a:rPr lang="zh-CN" altLang="en-US" sz="2800" dirty="0"/>
                              <m:t> 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4" name="输入信号">
                <a:extLst>
                  <a:ext uri="{FF2B5EF4-FFF2-40B4-BE49-F238E27FC236}">
                    <a16:creationId xmlns:a16="http://schemas.microsoft.com/office/drawing/2014/main" id="{D2D9EF59-0414-4AF8-42E3-16865D2E8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15" y="3429000"/>
                <a:ext cx="9808734" cy="72513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输入信号">
                <a:extLst>
                  <a:ext uri="{FF2B5EF4-FFF2-40B4-BE49-F238E27FC236}">
                    <a16:creationId xmlns:a16="http://schemas.microsoft.com/office/drawing/2014/main" id="{0082219B-7BAC-0EFA-E761-6C9681794143}"/>
                  </a:ext>
                </a:extLst>
              </p:cNvPr>
              <p:cNvSpPr txBox="1"/>
              <p:nvPr/>
            </p:nvSpPr>
            <p:spPr>
              <a:xfrm>
                <a:off x="292415" y="5682186"/>
                <a:ext cx="8143813" cy="725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func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5" name="输入信号">
                <a:extLst>
                  <a:ext uri="{FF2B5EF4-FFF2-40B4-BE49-F238E27FC236}">
                    <a16:creationId xmlns:a16="http://schemas.microsoft.com/office/drawing/2014/main" id="{0082219B-7BAC-0EFA-E761-6C9681794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15" y="5682186"/>
                <a:ext cx="8143813" cy="725135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DAD00538-B1DE-A54E-7C52-F840DCE2F77D}"/>
              </a:ext>
            </a:extLst>
          </p:cNvPr>
          <p:cNvGrpSpPr/>
          <p:nvPr/>
        </p:nvGrpSpPr>
        <p:grpSpPr>
          <a:xfrm>
            <a:off x="8453804" y="5745191"/>
            <a:ext cx="3248630" cy="599123"/>
            <a:chOff x="8327331" y="5644792"/>
            <a:chExt cx="3248630" cy="599123"/>
          </a:xfrm>
        </p:grpSpPr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6964F528-5FF8-340C-C9A0-4DFA6978DCCB}"/>
                </a:ext>
              </a:extLst>
            </p:cNvPr>
            <p:cNvSpPr txBox="1"/>
            <p:nvPr/>
          </p:nvSpPr>
          <p:spPr>
            <a:xfrm>
              <a:off x="8719970" y="5644792"/>
              <a:ext cx="2855991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dirty="0">
                  <a:solidFill>
                    <a:schemeClr val="bg1"/>
                  </a:solidFill>
                </a:rPr>
                <a:t>指数衰减</a:t>
              </a:r>
              <a:r>
                <a:rPr kumimoji="1" lang="en-US" altLang="zh-CN" sz="2800" dirty="0">
                  <a:solidFill>
                    <a:schemeClr val="bg1"/>
                  </a:solidFill>
                </a:rPr>
                <a:t>+</a:t>
              </a:r>
              <a:r>
                <a:rPr kumimoji="1" lang="zh-CN" altLang="en-US" sz="2800" dirty="0">
                  <a:solidFill>
                    <a:schemeClr val="bg1"/>
                  </a:solidFill>
                </a:rPr>
                <a:t>正弦</a:t>
              </a:r>
            </a:p>
          </p:txBody>
        </p:sp>
        <p:sp>
          <p:nvSpPr>
            <p:cNvPr id="103" name="燕尾形 102">
              <a:extLst>
                <a:ext uri="{FF2B5EF4-FFF2-40B4-BE49-F238E27FC236}">
                  <a16:creationId xmlns:a16="http://schemas.microsoft.com/office/drawing/2014/main" id="{C79F4C04-813E-B9F8-ADAC-E71933FA512C}"/>
                </a:ext>
              </a:extLst>
            </p:cNvPr>
            <p:cNvSpPr/>
            <p:nvPr/>
          </p:nvSpPr>
          <p:spPr>
            <a:xfrm>
              <a:off x="8327331" y="5745766"/>
              <a:ext cx="288032" cy="397173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7EFB0E4-92D4-E4B6-109B-E0BE2D54B915}"/>
              </a:ext>
            </a:extLst>
          </p:cNvPr>
          <p:cNvGrpSpPr/>
          <p:nvPr/>
        </p:nvGrpSpPr>
        <p:grpSpPr>
          <a:xfrm>
            <a:off x="9210012" y="2020990"/>
            <a:ext cx="2714135" cy="1545326"/>
            <a:chOff x="9020635" y="2791608"/>
            <a:chExt cx="2714135" cy="1545326"/>
          </a:xfrm>
        </p:grpSpPr>
        <p:sp>
          <p:nvSpPr>
            <p:cNvPr id="96" name="三角形 95">
              <a:extLst>
                <a:ext uri="{FF2B5EF4-FFF2-40B4-BE49-F238E27FC236}">
                  <a16:creationId xmlns:a16="http://schemas.microsoft.com/office/drawing/2014/main" id="{ABAB5FE4-EB5B-A92E-276A-231496EFE92D}"/>
                </a:ext>
              </a:extLst>
            </p:cNvPr>
            <p:cNvSpPr/>
            <p:nvPr/>
          </p:nvSpPr>
          <p:spPr>
            <a:xfrm>
              <a:off x="9722544" y="3088431"/>
              <a:ext cx="1333874" cy="706347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E6985C43-2D8D-8DD0-8AA4-F84042048F60}"/>
                    </a:ext>
                  </a:extLst>
                </p:cNvPr>
                <p:cNvSpPr txBox="1"/>
                <p:nvPr/>
              </p:nvSpPr>
              <p:spPr>
                <a:xfrm>
                  <a:off x="9020635" y="2791608"/>
                  <a:ext cx="1444019" cy="6260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E6985C43-2D8D-8DD0-8AA4-F84042048F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0635" y="2791608"/>
                  <a:ext cx="1444019" cy="626069"/>
                </a:xfrm>
                <a:prstGeom prst="rect">
                  <a:avLst/>
                </a:prstGeom>
                <a:blipFill>
                  <a:blip r:embed="rId6"/>
                  <a:stretch>
                    <a:fillRect r="-295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A84C071B-0268-663E-589A-A387E2041C69}"/>
                    </a:ext>
                  </a:extLst>
                </p:cNvPr>
                <p:cNvSpPr txBox="1"/>
                <p:nvPr/>
              </p:nvSpPr>
              <p:spPr>
                <a:xfrm>
                  <a:off x="10267103" y="3813714"/>
                  <a:ext cx="41531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A84C071B-0268-663E-589A-A387E2041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7103" y="3813714"/>
                  <a:ext cx="415319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3030" r="-6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2E8A820E-C549-B5AA-8998-80B4D46E9322}"/>
                    </a:ext>
                  </a:extLst>
                </p:cNvPr>
                <p:cNvSpPr txBox="1"/>
                <p:nvPr/>
              </p:nvSpPr>
              <p:spPr>
                <a:xfrm>
                  <a:off x="11004698" y="3187642"/>
                  <a:ext cx="73007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2E8A820E-C549-B5AA-8998-80B4D46E9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4698" y="3187642"/>
                  <a:ext cx="730072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弧 2">
              <a:extLst>
                <a:ext uri="{FF2B5EF4-FFF2-40B4-BE49-F238E27FC236}">
                  <a16:creationId xmlns:a16="http://schemas.microsoft.com/office/drawing/2014/main" id="{665864B0-9E81-2E46-4471-8CCD2FA1160C}"/>
                </a:ext>
              </a:extLst>
            </p:cNvPr>
            <p:cNvSpPr/>
            <p:nvPr/>
          </p:nvSpPr>
          <p:spPr>
            <a:xfrm>
              <a:off x="9556441" y="3348537"/>
              <a:ext cx="891581" cy="891581"/>
            </a:xfrm>
            <a:prstGeom prst="arc">
              <a:avLst>
                <a:gd name="adj1" fmla="val 19046077"/>
                <a:gd name="adj2" fmla="val 0"/>
              </a:avLst>
            </a:prstGeom>
            <a:ln w="25400">
              <a:headEnd type="triangle"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CC65095-2B88-10DF-DB70-816425BBEF0C}"/>
                    </a:ext>
                  </a:extLst>
                </p:cNvPr>
                <p:cNvSpPr txBox="1"/>
                <p:nvPr/>
              </p:nvSpPr>
              <p:spPr>
                <a:xfrm>
                  <a:off x="9992630" y="3385834"/>
                  <a:ext cx="392375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7CC65095-2B88-10DF-DB70-816425BBEF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2630" y="3385834"/>
                  <a:ext cx="392375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输入信号">
                <a:extLst>
                  <a:ext uri="{FF2B5EF4-FFF2-40B4-BE49-F238E27FC236}">
                    <a16:creationId xmlns:a16="http://schemas.microsoft.com/office/drawing/2014/main" id="{9105CAC4-35D0-097C-BF51-B4ED88D5C5D4}"/>
                  </a:ext>
                </a:extLst>
              </p:cNvPr>
              <p:cNvSpPr txBox="1"/>
              <p:nvPr/>
            </p:nvSpPr>
            <p:spPr>
              <a:xfrm>
                <a:off x="614452" y="4575182"/>
                <a:ext cx="10871798" cy="640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积化和差：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func>
                    <m:func>
                      <m:func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func>
                    <m:func>
                      <m:func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输入信号">
                <a:extLst>
                  <a:ext uri="{FF2B5EF4-FFF2-40B4-BE49-F238E27FC236}">
                    <a16:creationId xmlns:a16="http://schemas.microsoft.com/office/drawing/2014/main" id="{9105CAC4-35D0-097C-BF51-B4ED88D5C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4575182"/>
                <a:ext cx="10871798" cy="640753"/>
              </a:xfrm>
              <a:prstGeom prst="rect">
                <a:avLst/>
              </a:prstGeom>
              <a:blipFill>
                <a:blip r:embed="rId10"/>
                <a:stretch>
                  <a:fillRect l="-933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589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83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正弦信号作用下的响应</a:t>
            </a:r>
          </a:p>
        </p:txBody>
      </p:sp>
      <p:grpSp>
        <p:nvGrpSpPr>
          <p:cNvPr id="87" name="RC电路">
            <a:extLst>
              <a:ext uri="{FF2B5EF4-FFF2-40B4-BE49-F238E27FC236}">
                <a16:creationId xmlns:a16="http://schemas.microsoft.com/office/drawing/2014/main" id="{FDFB11FF-8D43-BAE5-B698-7288ACE360C6}"/>
              </a:ext>
            </a:extLst>
          </p:cNvPr>
          <p:cNvGrpSpPr/>
          <p:nvPr/>
        </p:nvGrpSpPr>
        <p:grpSpPr>
          <a:xfrm>
            <a:off x="8277069" y="109192"/>
            <a:ext cx="3298892" cy="1674703"/>
            <a:chOff x="7688170" y="1033572"/>
            <a:chExt cx="3298892" cy="1674703"/>
          </a:xfrm>
        </p:grpSpPr>
        <p:sp>
          <p:nvSpPr>
            <p:cNvPr id="5" name="电阻">
              <a:extLst>
                <a:ext uri="{FF2B5EF4-FFF2-40B4-BE49-F238E27FC236}">
                  <a16:creationId xmlns:a16="http://schemas.microsoft.com/office/drawing/2014/main" id="{0B675926-8DF5-D283-A18D-732DDE399D3F}"/>
                </a:ext>
              </a:extLst>
            </p:cNvPr>
            <p:cNvSpPr/>
            <p:nvPr/>
          </p:nvSpPr>
          <p:spPr>
            <a:xfrm>
              <a:off x="8975526" y="1556792"/>
              <a:ext cx="689174" cy="176758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31000">
                  <a:schemeClr val="bg1"/>
                </a:gs>
                <a:gs pos="3500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8" name="电容">
              <a:extLst>
                <a:ext uri="{FF2B5EF4-FFF2-40B4-BE49-F238E27FC236}">
                  <a16:creationId xmlns:a16="http://schemas.microsoft.com/office/drawing/2014/main" id="{2F12D895-99EF-908F-8903-88E58D95608E}"/>
                </a:ext>
              </a:extLst>
            </p:cNvPr>
            <p:cNvGrpSpPr/>
            <p:nvPr/>
          </p:nvGrpSpPr>
          <p:grpSpPr>
            <a:xfrm>
              <a:off x="9956080" y="2155692"/>
              <a:ext cx="432048" cy="100803"/>
              <a:chOff x="10343678" y="2276872"/>
              <a:chExt cx="432272" cy="144016"/>
            </a:xfrm>
          </p:grpSpPr>
          <p:cxnSp>
            <p:nvCxnSpPr>
              <p:cNvPr id="7" name="正极">
                <a:extLst>
                  <a:ext uri="{FF2B5EF4-FFF2-40B4-BE49-F238E27FC236}">
                    <a16:creationId xmlns:a16="http://schemas.microsoft.com/office/drawing/2014/main" id="{F569B61A-E39A-4FFB-8385-CE7C067115F0}"/>
                  </a:ext>
                </a:extLst>
              </p:cNvPr>
              <p:cNvCxnSpPr/>
              <p:nvPr/>
            </p:nvCxnSpPr>
            <p:spPr>
              <a:xfrm>
                <a:off x="10343678" y="2276872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负极">
                <a:extLst>
                  <a:ext uri="{FF2B5EF4-FFF2-40B4-BE49-F238E27FC236}">
                    <a16:creationId xmlns:a16="http://schemas.microsoft.com/office/drawing/2014/main" id="{B179C6A4-9266-F3EB-54AB-D2E23E1FA9BE}"/>
                  </a:ext>
                </a:extLst>
              </p:cNvPr>
              <p:cNvCxnSpPr/>
              <p:nvPr/>
            </p:nvCxnSpPr>
            <p:spPr>
              <a:xfrm>
                <a:off x="10343678" y="2420888"/>
                <a:ext cx="432272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uline">
              <a:extLst>
                <a:ext uri="{FF2B5EF4-FFF2-40B4-BE49-F238E27FC236}">
                  <a16:creationId xmlns:a16="http://schemas.microsoft.com/office/drawing/2014/main" id="{41132632-C86B-8B9C-C762-F3818C210E81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9664700" y="1645171"/>
              <a:ext cx="895226" cy="6688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bline">
              <a:extLst>
                <a:ext uri="{FF2B5EF4-FFF2-40B4-BE49-F238E27FC236}">
                  <a16:creationId xmlns:a16="http://schemas.microsoft.com/office/drawing/2014/main" id="{560DA8A2-86A8-F994-9145-62C2E993372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438" y="2708275"/>
              <a:ext cx="2376488" cy="0"/>
            </a:xfrm>
            <a:prstGeom prst="line">
              <a:avLst/>
            </a:prstGeom>
            <a:ln w="38100"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urline">
              <a:extLst>
                <a:ext uri="{FF2B5EF4-FFF2-40B4-BE49-F238E27FC236}">
                  <a16:creationId xmlns:a16="http://schemas.microsoft.com/office/drawing/2014/main" id="{DE3184EB-2551-E03B-3C36-3AC4F602438E}"/>
                </a:ext>
              </a:extLst>
            </p:cNvPr>
            <p:cNvCxnSpPr/>
            <p:nvPr/>
          </p:nvCxnSpPr>
          <p:spPr>
            <a:xfrm>
              <a:off x="8183438" y="1844824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ucline">
              <a:extLst>
                <a:ext uri="{FF2B5EF4-FFF2-40B4-BE49-F238E27FC236}">
                  <a16:creationId xmlns:a16="http://schemas.microsoft.com/office/drawing/2014/main" id="{7531281A-BCB7-8EC0-B5CF-84E50779E27A}"/>
                </a:ext>
              </a:extLst>
            </p:cNvPr>
            <p:cNvCxnSpPr/>
            <p:nvPr/>
          </p:nvCxnSpPr>
          <p:spPr>
            <a:xfrm>
              <a:off x="10559926" y="1821287"/>
              <a:ext cx="0" cy="6688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line2">
              <a:extLst>
                <a:ext uri="{FF2B5EF4-FFF2-40B4-BE49-F238E27FC236}">
                  <a16:creationId xmlns:a16="http://schemas.microsoft.com/office/drawing/2014/main" id="{D406D421-8FD8-B559-1D27-C0CE11358AF3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1640461"/>
              <a:ext cx="0" cy="5152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line1">
              <a:extLst>
                <a:ext uri="{FF2B5EF4-FFF2-40B4-BE49-F238E27FC236}">
                  <a16:creationId xmlns:a16="http://schemas.microsoft.com/office/drawing/2014/main" id="{79FA7F94-4070-E504-7B0E-3005363D2E1B}"/>
                </a:ext>
              </a:extLst>
            </p:cNvPr>
            <p:cNvCxnSpPr>
              <a:cxnSpLocks/>
            </p:cNvCxnSpPr>
            <p:nvPr/>
          </p:nvCxnSpPr>
          <p:spPr>
            <a:xfrm>
              <a:off x="10172104" y="2256495"/>
              <a:ext cx="0" cy="45178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i">
                  <a:extLst>
                    <a:ext uri="{FF2B5EF4-FFF2-40B4-BE49-F238E27FC236}">
                      <a16:creationId xmlns:a16="http://schemas.microsoft.com/office/drawing/2014/main" id="{4F2A3C35-FC2E-86D6-5CC0-1234BB1F6964}"/>
                    </a:ext>
                  </a:extLst>
                </p:cNvPr>
                <p:cNvSpPr txBox="1"/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𝑖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i">
                  <a:extLst>
                    <a:ext uri="{FF2B5EF4-FFF2-40B4-BE49-F238E27FC236}">
                      <a16:creationId xmlns:a16="http://schemas.microsoft.com/office/drawing/2014/main" id="{4F2A3C35-FC2E-86D6-5CC0-1234BB1F6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236" y="1090687"/>
                  <a:ext cx="38291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8F0C916B-94DA-6775-BEE7-47CEE9518331}"/>
                </a:ext>
              </a:extLst>
            </p:cNvPr>
            <p:cNvGrpSpPr/>
            <p:nvPr/>
          </p:nvGrpSpPr>
          <p:grpSpPr>
            <a:xfrm>
              <a:off x="8183438" y="1645171"/>
              <a:ext cx="792088" cy="0"/>
              <a:chOff x="8183438" y="1645171"/>
              <a:chExt cx="792088" cy="0"/>
            </a:xfrm>
          </p:grpSpPr>
          <p:cxnSp>
            <p:nvCxnSpPr>
              <p:cNvPr id="77" name="uline3">
                <a:extLst>
                  <a:ext uri="{FF2B5EF4-FFF2-40B4-BE49-F238E27FC236}">
                    <a16:creationId xmlns:a16="http://schemas.microsoft.com/office/drawing/2014/main" id="{ACA59D73-817D-D085-4EB5-3ADB21231A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83438" y="1645171"/>
                <a:ext cx="431925" cy="0"/>
              </a:xfrm>
              <a:prstGeom prst="line">
                <a:avLst/>
              </a:prstGeom>
              <a:ln w="38100">
                <a:headEnd type="triangle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uline2">
                <a:extLst>
                  <a:ext uri="{FF2B5EF4-FFF2-40B4-BE49-F238E27FC236}">
                    <a16:creationId xmlns:a16="http://schemas.microsoft.com/office/drawing/2014/main" id="{0A6C1F72-4F8A-57D6-B79E-1E21FE8B23B6}"/>
                  </a:ext>
                </a:extLst>
              </p:cNvPr>
              <p:cNvCxnSpPr>
                <a:cxnSpLocks/>
                <a:stCxn id="5" idx="1"/>
              </p:cNvCxnSpPr>
              <p:nvPr/>
            </p:nvCxnSpPr>
            <p:spPr>
              <a:xfrm flipH="1">
                <a:off x="8549691" y="1645171"/>
                <a:ext cx="425835" cy="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">
                  <a:extLst>
                    <a:ext uri="{FF2B5EF4-FFF2-40B4-BE49-F238E27FC236}">
                      <a16:creationId xmlns:a16="http://schemas.microsoft.com/office/drawing/2014/main" id="{78941D0A-5A2A-847B-43F2-979582E26D71}"/>
                    </a:ext>
                  </a:extLst>
                </p:cNvPr>
                <p:cNvSpPr txBox="1"/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3" name="R">
                  <a:extLst>
                    <a:ext uri="{FF2B5EF4-FFF2-40B4-BE49-F238E27FC236}">
                      <a16:creationId xmlns:a16="http://schemas.microsoft.com/office/drawing/2014/main" id="{78941D0A-5A2A-847B-43F2-979582E26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309" y="1033572"/>
                  <a:ext cx="382910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10000" r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C">
                  <a:extLst>
                    <a:ext uri="{FF2B5EF4-FFF2-40B4-BE49-F238E27FC236}">
                      <a16:creationId xmlns:a16="http://schemas.microsoft.com/office/drawing/2014/main" id="{1DF7B0FD-BA4D-5704-2BE3-668D4663420D}"/>
                    </a:ext>
                  </a:extLst>
                </p:cNvPr>
                <p:cNvSpPr txBox="1"/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4" name="C">
                  <a:extLst>
                    <a:ext uri="{FF2B5EF4-FFF2-40B4-BE49-F238E27FC236}">
                      <a16:creationId xmlns:a16="http://schemas.microsoft.com/office/drawing/2014/main" id="{1DF7B0FD-BA4D-5704-2BE3-668D466342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2315" y="1945624"/>
                  <a:ext cx="382910" cy="524695"/>
                </a:xfrm>
                <a:prstGeom prst="rect">
                  <a:avLst/>
                </a:prstGeom>
                <a:blipFill>
                  <a:blip r:embed="rId6"/>
                  <a:stretch>
                    <a:fillRect l="-9677" r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ur">
                  <a:extLst>
                    <a:ext uri="{FF2B5EF4-FFF2-40B4-BE49-F238E27FC236}">
                      <a16:creationId xmlns:a16="http://schemas.microsoft.com/office/drawing/2014/main" id="{66A5E279-782F-ECC9-EE8D-9F774D1AEC0C}"/>
                    </a:ext>
                  </a:extLst>
                </p:cNvPr>
                <p:cNvSpPr txBox="1"/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5" name="ur">
                  <a:extLst>
                    <a:ext uri="{FF2B5EF4-FFF2-40B4-BE49-F238E27FC236}">
                      <a16:creationId xmlns:a16="http://schemas.microsoft.com/office/drawing/2014/main" id="{66A5E279-782F-ECC9-EE8D-9F774D1AE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8170" y="1898076"/>
                  <a:ext cx="382910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uc">
                  <a:extLst>
                    <a:ext uri="{FF2B5EF4-FFF2-40B4-BE49-F238E27FC236}">
                      <a16:creationId xmlns:a16="http://schemas.microsoft.com/office/drawing/2014/main" id="{F4D82222-AB5C-E402-1E23-C1856C2BB2BE}"/>
                    </a:ext>
                  </a:extLst>
                </p:cNvPr>
                <p:cNvSpPr txBox="1"/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6" name="uc">
                  <a:extLst>
                    <a:ext uri="{FF2B5EF4-FFF2-40B4-BE49-F238E27FC236}">
                      <a16:creationId xmlns:a16="http://schemas.microsoft.com/office/drawing/2014/main" id="{F4D82222-AB5C-E402-1E23-C1856C2BB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4152" y="1917619"/>
                  <a:ext cx="382910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90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输入信号">
                <a:extLst>
                  <a:ext uri="{FF2B5EF4-FFF2-40B4-BE49-F238E27FC236}">
                    <a16:creationId xmlns:a16="http://schemas.microsoft.com/office/drawing/2014/main" id="{0082219B-7BAC-0EFA-E761-6C9681794143}"/>
                  </a:ext>
                </a:extLst>
              </p:cNvPr>
              <p:cNvSpPr txBox="1"/>
              <p:nvPr/>
            </p:nvSpPr>
            <p:spPr>
              <a:xfrm>
                <a:off x="1111857" y="1944270"/>
                <a:ext cx="7249810" cy="725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func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5" name="输入信号">
                <a:extLst>
                  <a:ext uri="{FF2B5EF4-FFF2-40B4-BE49-F238E27FC236}">
                    <a16:creationId xmlns:a16="http://schemas.microsoft.com/office/drawing/2014/main" id="{0082219B-7BAC-0EFA-E761-6C9681794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57" y="1944270"/>
                <a:ext cx="7249810" cy="725135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DAD00538-B1DE-A54E-7C52-F840DCE2F77D}"/>
              </a:ext>
            </a:extLst>
          </p:cNvPr>
          <p:cNvGrpSpPr/>
          <p:nvPr/>
        </p:nvGrpSpPr>
        <p:grpSpPr>
          <a:xfrm>
            <a:off x="8430910" y="2027517"/>
            <a:ext cx="3248630" cy="599123"/>
            <a:chOff x="8327331" y="5644792"/>
            <a:chExt cx="3248630" cy="599123"/>
          </a:xfrm>
        </p:grpSpPr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6964F528-5FF8-340C-C9A0-4DFA6978DCCB}"/>
                </a:ext>
              </a:extLst>
            </p:cNvPr>
            <p:cNvSpPr txBox="1"/>
            <p:nvPr/>
          </p:nvSpPr>
          <p:spPr>
            <a:xfrm>
              <a:off x="8719970" y="5644792"/>
              <a:ext cx="2855991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dirty="0">
                  <a:solidFill>
                    <a:schemeClr val="bg1"/>
                  </a:solidFill>
                </a:rPr>
                <a:t>指数衰减</a:t>
              </a:r>
              <a:r>
                <a:rPr kumimoji="1" lang="en-US" altLang="zh-CN" sz="2800" dirty="0">
                  <a:solidFill>
                    <a:schemeClr val="bg1"/>
                  </a:solidFill>
                </a:rPr>
                <a:t>+</a:t>
              </a:r>
              <a:r>
                <a:rPr kumimoji="1" lang="zh-CN" altLang="en-US" sz="2800" dirty="0">
                  <a:solidFill>
                    <a:schemeClr val="bg1"/>
                  </a:solidFill>
                </a:rPr>
                <a:t>正弦</a:t>
              </a:r>
            </a:p>
          </p:txBody>
        </p:sp>
        <p:sp>
          <p:nvSpPr>
            <p:cNvPr id="103" name="燕尾形 102">
              <a:extLst>
                <a:ext uri="{FF2B5EF4-FFF2-40B4-BE49-F238E27FC236}">
                  <a16:creationId xmlns:a16="http://schemas.microsoft.com/office/drawing/2014/main" id="{C79F4C04-813E-B9F8-ADAC-E71933FA512C}"/>
                </a:ext>
              </a:extLst>
            </p:cNvPr>
            <p:cNvSpPr/>
            <p:nvPr/>
          </p:nvSpPr>
          <p:spPr>
            <a:xfrm>
              <a:off x="8327331" y="5745766"/>
              <a:ext cx="288032" cy="397173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输入信号">
                <a:extLst>
                  <a:ext uri="{FF2B5EF4-FFF2-40B4-BE49-F238E27FC236}">
                    <a16:creationId xmlns:a16="http://schemas.microsoft.com/office/drawing/2014/main" id="{F196E916-CAE4-49A0-AB6D-A02C02090822}"/>
                  </a:ext>
                </a:extLst>
              </p:cNvPr>
              <p:cNvSpPr txBox="1"/>
              <p:nvPr/>
            </p:nvSpPr>
            <p:spPr>
              <a:xfrm>
                <a:off x="190550" y="2029384"/>
                <a:ext cx="96071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1" name="输入信号">
                <a:extLst>
                  <a:ext uri="{FF2B5EF4-FFF2-40B4-BE49-F238E27FC236}">
                    <a16:creationId xmlns:a16="http://schemas.microsoft.com/office/drawing/2014/main" id="{F196E916-CAE4-49A0-AB6D-A02C02090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" y="2029384"/>
                <a:ext cx="960716" cy="524695"/>
              </a:xfrm>
              <a:prstGeom prst="rect">
                <a:avLst/>
              </a:prstGeom>
              <a:blipFill>
                <a:blip r:embed="rId10"/>
                <a:stretch>
                  <a:fillRect r="-10390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输入信号">
                <a:extLst>
                  <a:ext uri="{FF2B5EF4-FFF2-40B4-BE49-F238E27FC236}">
                    <a16:creationId xmlns:a16="http://schemas.microsoft.com/office/drawing/2014/main" id="{464CD7ED-DF92-D591-3789-13448DA98325}"/>
                  </a:ext>
                </a:extLst>
              </p:cNvPr>
              <p:cNvSpPr txBox="1"/>
              <p:nvPr/>
            </p:nvSpPr>
            <p:spPr>
              <a:xfrm>
                <a:off x="1111857" y="2754519"/>
                <a:ext cx="3168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2" name="输入信号">
                <a:extLst>
                  <a:ext uri="{FF2B5EF4-FFF2-40B4-BE49-F238E27FC236}">
                    <a16:creationId xmlns:a16="http://schemas.microsoft.com/office/drawing/2014/main" id="{464CD7ED-DF92-D591-3789-13448DA98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57" y="2754519"/>
                <a:ext cx="3168352" cy="523220"/>
              </a:xfrm>
              <a:prstGeom prst="rect">
                <a:avLst/>
              </a:prstGeom>
              <a:blipFill>
                <a:blip r:embed="rId11"/>
                <a:stretch>
                  <a:fillRect l="-800" r="-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输入信号">
                <a:extLst>
                  <a:ext uri="{FF2B5EF4-FFF2-40B4-BE49-F238E27FC236}">
                    <a16:creationId xmlns:a16="http://schemas.microsoft.com/office/drawing/2014/main" id="{7BE963C0-BD0F-FE88-AC32-24FEAFF0808B}"/>
                  </a:ext>
                </a:extLst>
              </p:cNvPr>
              <p:cNvSpPr txBox="1"/>
              <p:nvPr/>
            </p:nvSpPr>
            <p:spPr>
              <a:xfrm>
                <a:off x="1111857" y="3386417"/>
                <a:ext cx="4191261" cy="725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−45°)</m:t>
                        </m:r>
                      </m:e>
                    </m:func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43" name="输入信号">
                <a:extLst>
                  <a:ext uri="{FF2B5EF4-FFF2-40B4-BE49-F238E27FC236}">
                    <a16:creationId xmlns:a16="http://schemas.microsoft.com/office/drawing/2014/main" id="{7BE963C0-BD0F-FE88-AC32-24FEAFF08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57" y="3386417"/>
                <a:ext cx="4191261" cy="7251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EAC173E0-C006-B371-CDB7-E52098F9215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0173" y="2850173"/>
            <a:ext cx="4707601" cy="3530701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5B5AE2EE-C068-FDA4-E67A-2D86B6D000EF}"/>
              </a:ext>
            </a:extLst>
          </p:cNvPr>
          <p:cNvGrpSpPr/>
          <p:nvPr/>
        </p:nvGrpSpPr>
        <p:grpSpPr>
          <a:xfrm>
            <a:off x="5722178" y="3501008"/>
            <a:ext cx="1093108" cy="1008112"/>
            <a:chOff x="5722178" y="3501008"/>
            <a:chExt cx="1093108" cy="1008112"/>
          </a:xfrm>
        </p:grpSpPr>
        <p:cxnSp>
          <p:nvCxnSpPr>
            <p:cNvPr id="4" name="直线箭头连接符 3">
              <a:extLst>
                <a:ext uri="{FF2B5EF4-FFF2-40B4-BE49-F238E27FC236}">
                  <a16:creationId xmlns:a16="http://schemas.microsoft.com/office/drawing/2014/main" id="{31855BD5-866B-6F64-9E45-CD330D6871D7}"/>
                </a:ext>
              </a:extLst>
            </p:cNvPr>
            <p:cNvCxnSpPr>
              <a:cxnSpLocks/>
            </p:cNvCxnSpPr>
            <p:nvPr/>
          </p:nvCxnSpPr>
          <p:spPr>
            <a:xfrm>
              <a:off x="6815286" y="3501008"/>
              <a:ext cx="0" cy="100811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输入信号">
                  <a:extLst>
                    <a:ext uri="{FF2B5EF4-FFF2-40B4-BE49-F238E27FC236}">
                      <a16:creationId xmlns:a16="http://schemas.microsoft.com/office/drawing/2014/main" id="{D16F2D74-D133-99BF-F26E-A6608B46F8AA}"/>
                    </a:ext>
                  </a:extLst>
                </p:cNvPr>
                <p:cNvSpPr txBox="1"/>
                <p:nvPr/>
              </p:nvSpPr>
              <p:spPr>
                <a:xfrm>
                  <a:off x="5722178" y="3729186"/>
                  <a:ext cx="106645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0.707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输入信号">
                  <a:extLst>
                    <a:ext uri="{FF2B5EF4-FFF2-40B4-BE49-F238E27FC236}">
                      <a16:creationId xmlns:a16="http://schemas.microsoft.com/office/drawing/2014/main" id="{D16F2D74-D133-99BF-F26E-A6608B46F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2178" y="3729186"/>
                  <a:ext cx="1066458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2353" r="-23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8146151-75DE-31D9-E512-06BFC14A301B}"/>
              </a:ext>
            </a:extLst>
          </p:cNvPr>
          <p:cNvGrpSpPr/>
          <p:nvPr/>
        </p:nvGrpSpPr>
        <p:grpSpPr>
          <a:xfrm>
            <a:off x="6918351" y="2576030"/>
            <a:ext cx="1161476" cy="871451"/>
            <a:chOff x="6918351" y="2576030"/>
            <a:chExt cx="1161476" cy="871451"/>
          </a:xfrm>
        </p:grpSpPr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0411A056-7D03-4D2C-D15A-DCB70852714E}"/>
                </a:ext>
              </a:extLst>
            </p:cNvPr>
            <p:cNvCxnSpPr/>
            <p:nvPr/>
          </p:nvCxnSpPr>
          <p:spPr>
            <a:xfrm>
              <a:off x="7290000" y="2576030"/>
              <a:ext cx="0" cy="536244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2249F734-67B8-B4E3-8AAF-94377FED3717}"/>
                </a:ext>
              </a:extLst>
            </p:cNvPr>
            <p:cNvCxnSpPr>
              <a:cxnSpLocks/>
            </p:cNvCxnSpPr>
            <p:nvPr/>
          </p:nvCxnSpPr>
          <p:spPr>
            <a:xfrm>
              <a:off x="7391350" y="2576030"/>
              <a:ext cx="0" cy="871451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40DC340E-A6D0-2814-61D8-2FA0F40C6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8351" y="2751299"/>
              <a:ext cx="371649" cy="0"/>
            </a:xfrm>
            <a:prstGeom prst="straightConnector1">
              <a:avLst/>
            </a:prstGeom>
            <a:ln w="3810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6894CD18-A7A5-B6BD-345B-801D67A89406}"/>
                </a:ext>
              </a:extLst>
            </p:cNvPr>
            <p:cNvCxnSpPr>
              <a:cxnSpLocks/>
            </p:cNvCxnSpPr>
            <p:nvPr/>
          </p:nvCxnSpPr>
          <p:spPr>
            <a:xfrm>
              <a:off x="7391350" y="2751299"/>
              <a:ext cx="432048" cy="0"/>
            </a:xfrm>
            <a:prstGeom prst="straightConnector1">
              <a:avLst/>
            </a:prstGeom>
            <a:ln w="3810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输入信号">
                  <a:extLst>
                    <a:ext uri="{FF2B5EF4-FFF2-40B4-BE49-F238E27FC236}">
                      <a16:creationId xmlns:a16="http://schemas.microsoft.com/office/drawing/2014/main" id="{1D2D235C-5D7C-7E5C-D4AD-EA8969D73599}"/>
                    </a:ext>
                  </a:extLst>
                </p:cNvPr>
                <p:cNvSpPr txBox="1"/>
                <p:nvPr/>
              </p:nvSpPr>
              <p:spPr>
                <a:xfrm>
                  <a:off x="7317586" y="2676075"/>
                  <a:ext cx="76224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45°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0" name="输入信号">
                  <a:extLst>
                    <a:ext uri="{FF2B5EF4-FFF2-40B4-BE49-F238E27FC236}">
                      <a16:creationId xmlns:a16="http://schemas.microsoft.com/office/drawing/2014/main" id="{1D2D235C-5D7C-7E5C-D4AD-EA8969D73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7586" y="2676075"/>
                  <a:ext cx="762241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1667" r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0490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614452" y="332656"/>
                <a:ext cx="46886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频率特性 </a:t>
                </a:r>
                <a14:m>
                  <m:oMath xmlns:m="http://schemas.openxmlformats.org/officeDocument/2006/math"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𝒋</m:t>
                    </m:r>
                    <m:r>
                      <a:rPr lang="el-GR" altLang="zh-CN" sz="28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𝝎</m:t>
                    </m:r>
                    <m:r>
                      <a:rPr lang="el-GR" altLang="zh-CN" sz="28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l-GR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的定义</a:t>
                </a: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332656"/>
                <a:ext cx="4688666" cy="523220"/>
              </a:xfrm>
              <a:prstGeom prst="rect">
                <a:avLst/>
              </a:prstGeom>
              <a:blipFill>
                <a:blip r:embed="rId3"/>
                <a:stretch>
                  <a:fillRect l="-2703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15E7351-8CC4-4796-915A-5FE1E88D6820}"/>
                  </a:ext>
                </a:extLst>
              </p:cNvPr>
              <p:cNvSpPr txBox="1"/>
              <p:nvPr/>
            </p:nvSpPr>
            <p:spPr>
              <a:xfrm>
                <a:off x="4592786" y="1228404"/>
                <a:ext cx="5760640" cy="725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func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15E7351-8CC4-4796-915A-5FE1E88D6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786" y="1228404"/>
                <a:ext cx="5760640" cy="725135"/>
              </a:xfrm>
              <a:prstGeom prst="rect">
                <a:avLst/>
              </a:prstGeom>
              <a:blipFill>
                <a:blip r:embed="rId4"/>
                <a:stretch>
                  <a:fillRect r="-220" b="-5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小标题1">
            <a:extLst>
              <a:ext uri="{FF2B5EF4-FFF2-40B4-BE49-F238E27FC236}">
                <a16:creationId xmlns:a16="http://schemas.microsoft.com/office/drawing/2014/main" id="{B5CAECC8-9771-04EA-4A29-EBF400ADFF6B}"/>
              </a:ext>
            </a:extLst>
          </p:cNvPr>
          <p:cNvSpPr/>
          <p:nvPr/>
        </p:nvSpPr>
        <p:spPr bwMode="auto">
          <a:xfrm>
            <a:off x="262558" y="1168068"/>
            <a:ext cx="3960440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正弦响应的稳态部分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3C00843-9F81-8D0F-5EB9-B7809E7C6820}"/>
              </a:ext>
            </a:extLst>
          </p:cNvPr>
          <p:cNvSpPr txBox="1"/>
          <p:nvPr/>
        </p:nvSpPr>
        <p:spPr>
          <a:xfrm>
            <a:off x="334963" y="1989138"/>
            <a:ext cx="1368152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定义一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F01783CF-232E-4E55-BDB8-09F3EDD596AD}"/>
                  </a:ext>
                </a:extLst>
              </p:cNvPr>
              <p:cNvSpPr txBox="1"/>
              <p:nvPr/>
            </p:nvSpPr>
            <p:spPr>
              <a:xfrm>
                <a:off x="1702718" y="2041406"/>
                <a:ext cx="43924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altLang="zh-CN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altLang="zh-CN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F01783CF-232E-4E55-BDB8-09F3EDD59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718" y="2041406"/>
                <a:ext cx="4392488" cy="523220"/>
              </a:xfrm>
              <a:prstGeom prst="rect">
                <a:avLst/>
              </a:prstGeom>
              <a:blipFill>
                <a:blip r:embed="rId5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1B6E3C9-4BD7-1296-DF55-207AB114B977}"/>
                  </a:ext>
                </a:extLst>
              </p:cNvPr>
              <p:cNvSpPr txBox="1"/>
              <p:nvPr/>
            </p:nvSpPr>
            <p:spPr>
              <a:xfrm>
                <a:off x="334963" y="2626212"/>
                <a:ext cx="6408712" cy="1467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p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             </m:t>
                            </m:r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zh-CN" alt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arctan</m:t>
                                </m:r>
                              </m:fName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1B6E3C9-4BD7-1296-DF55-207AB114B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626212"/>
                <a:ext cx="6408712" cy="1467966"/>
              </a:xfrm>
              <a:prstGeom prst="rect">
                <a:avLst/>
              </a:prstGeom>
              <a:blipFill>
                <a:blip r:embed="rId6"/>
                <a:stretch>
                  <a:fillRect l="-39406" t="-212821" r="-2772" b="-304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文本框 92">
            <a:extLst>
              <a:ext uri="{FF2B5EF4-FFF2-40B4-BE49-F238E27FC236}">
                <a16:creationId xmlns:a16="http://schemas.microsoft.com/office/drawing/2014/main" id="{7CC1F1D1-FA14-2468-7BE3-B129561E1217}"/>
              </a:ext>
            </a:extLst>
          </p:cNvPr>
          <p:cNvSpPr txBox="1"/>
          <p:nvPr/>
        </p:nvSpPr>
        <p:spPr>
          <a:xfrm>
            <a:off x="334963" y="4170081"/>
            <a:ext cx="1368152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定义二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00EB0D7D-CFF9-0534-ABC4-0D25197DA39B}"/>
                  </a:ext>
                </a:extLst>
              </p:cNvPr>
              <p:cNvSpPr txBox="1"/>
              <p:nvPr/>
            </p:nvSpPr>
            <p:spPr>
              <a:xfrm>
                <a:off x="1343075" y="4073259"/>
                <a:ext cx="4392488" cy="841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i="1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00EB0D7D-CFF9-0534-ABC4-0D25197DA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75" y="4073259"/>
                <a:ext cx="4392488" cy="841256"/>
              </a:xfrm>
              <a:prstGeom prst="rect">
                <a:avLst/>
              </a:prstGeom>
              <a:blipFill>
                <a:blip r:embed="rId7"/>
                <a:stretch>
                  <a:fillRect t="-159701" b="-2223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1E4F1F6-19A9-77DE-BA66-1AA9486F044F}"/>
                  </a:ext>
                </a:extLst>
              </p:cNvPr>
              <p:cNvSpPr txBox="1"/>
              <p:nvPr/>
            </p:nvSpPr>
            <p:spPr>
              <a:xfrm>
                <a:off x="491319" y="4845107"/>
                <a:ext cx="9623598" cy="773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F1E4F1F6-19A9-77DE-BA66-1AA9486F0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9" y="4845107"/>
                <a:ext cx="9623598" cy="773738"/>
              </a:xfrm>
              <a:prstGeom prst="rect">
                <a:avLst/>
              </a:prstGeom>
              <a:blipFill>
                <a:blip r:embed="rId8"/>
                <a:stretch>
                  <a:fillRect t="-72581" b="-1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文本框 95">
            <a:extLst>
              <a:ext uri="{FF2B5EF4-FFF2-40B4-BE49-F238E27FC236}">
                <a16:creationId xmlns:a16="http://schemas.microsoft.com/office/drawing/2014/main" id="{1E7CF69A-771C-DA0A-2653-27E01C0F6661}"/>
              </a:ext>
            </a:extLst>
          </p:cNvPr>
          <p:cNvSpPr txBox="1"/>
          <p:nvPr/>
        </p:nvSpPr>
        <p:spPr>
          <a:xfrm>
            <a:off x="334962" y="5661748"/>
            <a:ext cx="1439763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定义三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AE983C53-ACE0-847E-2DC9-FE9EBBA32B82}"/>
                  </a:ext>
                </a:extLst>
              </p:cNvPr>
              <p:cNvSpPr txBox="1"/>
              <p:nvPr/>
            </p:nvSpPr>
            <p:spPr>
              <a:xfrm>
                <a:off x="1919214" y="5618845"/>
                <a:ext cx="2591816" cy="778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E4486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800" i="1">
                        <a:solidFill>
                          <a:srgbClr val="E448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CN" altLang="en-US" sz="2800" dirty="0">
                    <a:solidFill>
                      <a:srgbClr val="E448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AE983C53-ACE0-847E-2DC9-FE9EBBA32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214" y="5618845"/>
                <a:ext cx="2591816" cy="778675"/>
              </a:xfrm>
              <a:prstGeom prst="rect">
                <a:avLst/>
              </a:prstGeom>
              <a:blipFill>
                <a:blip r:embed="rId9"/>
                <a:stretch>
                  <a:fillRect l="-1463" b="-8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三角关系">
            <a:extLst>
              <a:ext uri="{FF2B5EF4-FFF2-40B4-BE49-F238E27FC236}">
                <a16:creationId xmlns:a16="http://schemas.microsoft.com/office/drawing/2014/main" id="{7D9FABE0-B3F1-B10E-E81F-592BD8EDCC85}"/>
              </a:ext>
            </a:extLst>
          </p:cNvPr>
          <p:cNvGrpSpPr/>
          <p:nvPr/>
        </p:nvGrpSpPr>
        <p:grpSpPr>
          <a:xfrm>
            <a:off x="9143860" y="188640"/>
            <a:ext cx="2714135" cy="1507180"/>
            <a:chOff x="8988299" y="2296007"/>
            <a:chExt cx="2714135" cy="1507180"/>
          </a:xfrm>
        </p:grpSpPr>
        <p:sp>
          <p:nvSpPr>
            <p:cNvPr id="106" name="三角形 105">
              <a:extLst>
                <a:ext uri="{FF2B5EF4-FFF2-40B4-BE49-F238E27FC236}">
                  <a16:creationId xmlns:a16="http://schemas.microsoft.com/office/drawing/2014/main" id="{3283EA90-5AB0-0F46-E837-6CD57A51B7BA}"/>
                </a:ext>
              </a:extLst>
            </p:cNvPr>
            <p:cNvSpPr/>
            <p:nvPr/>
          </p:nvSpPr>
          <p:spPr>
            <a:xfrm>
              <a:off x="9690208" y="2592830"/>
              <a:ext cx="1333874" cy="706347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59A5403D-7F23-B59D-553B-A394AB50C1C5}"/>
                    </a:ext>
                  </a:extLst>
                </p:cNvPr>
                <p:cNvSpPr txBox="1"/>
                <p:nvPr/>
              </p:nvSpPr>
              <p:spPr>
                <a:xfrm>
                  <a:off x="8988299" y="2296007"/>
                  <a:ext cx="1444019" cy="6260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59A5403D-7F23-B59D-553B-A394AB50C1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299" y="2296007"/>
                  <a:ext cx="1444019" cy="626069"/>
                </a:xfrm>
                <a:prstGeom prst="rect">
                  <a:avLst/>
                </a:prstGeom>
                <a:blipFill>
                  <a:blip r:embed="rId10"/>
                  <a:stretch>
                    <a:fillRect r="-3070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D009FE8A-6B39-3959-A892-A47F427CCDC6}"/>
                    </a:ext>
                  </a:extLst>
                </p:cNvPr>
                <p:cNvSpPr txBox="1"/>
                <p:nvPr/>
              </p:nvSpPr>
              <p:spPr>
                <a:xfrm>
                  <a:off x="9528343" y="3279967"/>
                  <a:ext cx="144401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D009FE8A-6B39-3959-A892-A47F427CC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8343" y="3279967"/>
                  <a:ext cx="1444019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7B611168-A578-97EC-5B0A-111F1F20A90E}"/>
                    </a:ext>
                  </a:extLst>
                </p:cNvPr>
                <p:cNvSpPr txBox="1"/>
                <p:nvPr/>
              </p:nvSpPr>
              <p:spPr>
                <a:xfrm>
                  <a:off x="10972362" y="2692041"/>
                  <a:ext cx="73007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7B611168-A578-97EC-5B0A-111F1F20A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2362" y="2692041"/>
                  <a:ext cx="730072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输入信号">
                <a:extLst>
                  <a:ext uri="{FF2B5EF4-FFF2-40B4-BE49-F238E27FC236}">
                    <a16:creationId xmlns:a16="http://schemas.microsoft.com/office/drawing/2014/main" id="{DF3C046D-485C-1613-D6E6-B7B17ED856E9}"/>
                  </a:ext>
                </a:extLst>
              </p:cNvPr>
              <p:cNvSpPr txBox="1"/>
              <p:nvPr/>
            </p:nvSpPr>
            <p:spPr>
              <a:xfrm>
                <a:off x="4439022" y="788987"/>
                <a:ext cx="28180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𝑡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𝐴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0" name="输入信号">
                <a:extLst>
                  <a:ext uri="{FF2B5EF4-FFF2-40B4-BE49-F238E27FC236}">
                    <a16:creationId xmlns:a16="http://schemas.microsoft.com/office/drawing/2014/main" id="{DF3C046D-485C-1613-D6E6-B7B17ED85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022" y="788987"/>
                <a:ext cx="281806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幅频特性">
            <a:extLst>
              <a:ext uri="{FF2B5EF4-FFF2-40B4-BE49-F238E27FC236}">
                <a16:creationId xmlns:a16="http://schemas.microsoft.com/office/drawing/2014/main" id="{0D8BF027-4C75-50D9-4460-081793B285D8}"/>
              </a:ext>
            </a:extLst>
          </p:cNvPr>
          <p:cNvGrpSpPr/>
          <p:nvPr/>
        </p:nvGrpSpPr>
        <p:grpSpPr>
          <a:xfrm>
            <a:off x="7111206" y="1892806"/>
            <a:ext cx="4575809" cy="2952301"/>
            <a:chOff x="7294000" y="2178172"/>
            <a:chExt cx="4575809" cy="2952301"/>
          </a:xfrm>
        </p:grpSpPr>
        <p:cxnSp>
          <p:nvCxnSpPr>
            <p:cNvPr id="113" name="频率轴1">
              <a:extLst>
                <a:ext uri="{FF2B5EF4-FFF2-40B4-BE49-F238E27FC236}">
                  <a16:creationId xmlns:a16="http://schemas.microsoft.com/office/drawing/2014/main" id="{FB324C6E-2FE9-8463-B9F6-28BF577CD11F}"/>
                </a:ext>
              </a:extLst>
            </p:cNvPr>
            <p:cNvCxnSpPr>
              <a:cxnSpLocks/>
            </p:cNvCxnSpPr>
            <p:nvPr/>
          </p:nvCxnSpPr>
          <p:spPr>
            <a:xfrm>
              <a:off x="9328000" y="3439385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幅值轴">
              <a:extLst>
                <a:ext uri="{FF2B5EF4-FFF2-40B4-BE49-F238E27FC236}">
                  <a16:creationId xmlns:a16="http://schemas.microsoft.com/office/drawing/2014/main" id="{7D866107-A1EB-ABC7-721E-E3229AE01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6088" y="2288699"/>
              <a:ext cx="2149" cy="11593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频率轴2">
              <a:extLst>
                <a:ext uri="{FF2B5EF4-FFF2-40B4-BE49-F238E27FC236}">
                  <a16:creationId xmlns:a16="http://schemas.microsoft.com/office/drawing/2014/main" id="{FBB38D28-7969-6641-AD19-DECFC91A6F13}"/>
                </a:ext>
              </a:extLst>
            </p:cNvPr>
            <p:cNvCxnSpPr>
              <a:cxnSpLocks/>
            </p:cNvCxnSpPr>
            <p:nvPr/>
          </p:nvCxnSpPr>
          <p:spPr>
            <a:xfrm>
              <a:off x="9338237" y="4157340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相角轴">
              <a:extLst>
                <a:ext uri="{FF2B5EF4-FFF2-40B4-BE49-F238E27FC236}">
                  <a16:creationId xmlns:a16="http://schemas.microsoft.com/office/drawing/2014/main" id="{2A98B749-D738-C24C-25D9-06B34E1C5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8000" y="3717032"/>
              <a:ext cx="0" cy="12961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D5621104-D6FB-E7D7-F34F-D2B303515D4D}"/>
                    </a:ext>
                  </a:extLst>
                </p:cNvPr>
                <p:cNvSpPr txBox="1"/>
                <p:nvPr/>
              </p:nvSpPr>
              <p:spPr>
                <a:xfrm>
                  <a:off x="9389800" y="2178172"/>
                  <a:ext cx="130628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D5621104-D6FB-E7D7-F34F-D2B303515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9800" y="2178172"/>
                  <a:ext cx="1306289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4762" r="-7619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8714B584-0E85-BD94-64AF-5CCF8E4E4681}"/>
                    </a:ext>
                  </a:extLst>
                </p:cNvPr>
                <p:cNvSpPr txBox="1"/>
                <p:nvPr/>
              </p:nvSpPr>
              <p:spPr>
                <a:xfrm>
                  <a:off x="8943469" y="2456992"/>
                  <a:ext cx="3652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8714B584-0E85-BD94-64AF-5CCF8E4E4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3469" y="2456992"/>
                  <a:ext cx="365236" cy="523220"/>
                </a:xfrm>
                <a:prstGeom prst="rect">
                  <a:avLst/>
                </a:prstGeom>
                <a:blipFill>
                  <a:blip r:embed="rId15"/>
                  <a:stretch>
                    <a:fillRect l="-6667" r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9DAB653A-55D9-15EA-82FB-F0D862A7A43E}"/>
                    </a:ext>
                  </a:extLst>
                </p:cNvPr>
                <p:cNvSpPr txBox="1"/>
                <p:nvPr/>
              </p:nvSpPr>
              <p:spPr>
                <a:xfrm>
                  <a:off x="9389800" y="3634368"/>
                  <a:ext cx="108986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9DAB653A-55D9-15EA-82FB-F0D862A7A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9800" y="3634368"/>
                  <a:ext cx="1089868" cy="523220"/>
                </a:xfrm>
                <a:prstGeom prst="rect">
                  <a:avLst/>
                </a:prstGeom>
                <a:blipFill>
                  <a:blip r:embed="rId16"/>
                  <a:stretch>
                    <a:fillRect l="-1149" r="-12644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CD96765E-0F98-0255-3D82-6EB1934C3961}"/>
                    </a:ext>
                  </a:extLst>
                </p:cNvPr>
                <p:cNvSpPr txBox="1"/>
                <p:nvPr/>
              </p:nvSpPr>
              <p:spPr>
                <a:xfrm>
                  <a:off x="8961242" y="3167390"/>
                  <a:ext cx="3652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CD96765E-0F98-0255-3D82-6EB1934C3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1242" y="3167390"/>
                  <a:ext cx="365236" cy="523220"/>
                </a:xfrm>
                <a:prstGeom prst="rect">
                  <a:avLst/>
                </a:prstGeom>
                <a:blipFill>
                  <a:blip r:embed="rId17"/>
                  <a:stretch>
                    <a:fillRect l="-10345" r="-137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0CCC2028-F340-9D9D-7534-442525850FDE}"/>
                    </a:ext>
                  </a:extLst>
                </p:cNvPr>
                <p:cNvSpPr txBox="1"/>
                <p:nvPr/>
              </p:nvSpPr>
              <p:spPr>
                <a:xfrm>
                  <a:off x="8826314" y="3887774"/>
                  <a:ext cx="3652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0CCC2028-F340-9D9D-7534-442525850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6314" y="3887774"/>
                  <a:ext cx="365236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6667" r="-4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6C1A04BF-475D-53D7-0D2C-EC16EF1D0603}"/>
                    </a:ext>
                  </a:extLst>
                </p:cNvPr>
                <p:cNvSpPr txBox="1"/>
                <p:nvPr/>
              </p:nvSpPr>
              <p:spPr>
                <a:xfrm>
                  <a:off x="8358465" y="4607253"/>
                  <a:ext cx="83307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6C1A04BF-475D-53D7-0D2C-EC16EF1D0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8465" y="4607253"/>
                  <a:ext cx="833075" cy="523220"/>
                </a:xfrm>
                <a:prstGeom prst="rect">
                  <a:avLst/>
                </a:prstGeom>
                <a:blipFill>
                  <a:blip r:embed="rId19"/>
                  <a:stretch>
                    <a:fillRect r="-194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辅助线">
              <a:extLst>
                <a:ext uri="{FF2B5EF4-FFF2-40B4-BE49-F238E27FC236}">
                  <a16:creationId xmlns:a16="http://schemas.microsoft.com/office/drawing/2014/main" id="{D1893F86-D0F4-9131-0D63-119CBB473E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6088" y="4868863"/>
              <a:ext cx="2447750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幅频响应">
              <a:extLst>
                <a:ext uri="{FF2B5EF4-FFF2-40B4-BE49-F238E27FC236}">
                  <a16:creationId xmlns:a16="http://schemas.microsoft.com/office/drawing/2014/main" id="{01B09636-75A6-E07A-9206-D68717FF616D}"/>
                </a:ext>
              </a:extLst>
            </p:cNvPr>
            <p:cNvSpPr/>
            <p:nvPr/>
          </p:nvSpPr>
          <p:spPr>
            <a:xfrm flipV="1">
              <a:off x="9360288" y="2728054"/>
              <a:ext cx="2132671" cy="659682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617" h="1008941">
                  <a:moveTo>
                    <a:pt x="0" y="1008849"/>
                  </a:moveTo>
                  <a:cubicBezTo>
                    <a:pt x="394300" y="1020001"/>
                    <a:pt x="586383" y="21143"/>
                    <a:pt x="121961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5" name="相频响应">
              <a:extLst>
                <a:ext uri="{FF2B5EF4-FFF2-40B4-BE49-F238E27FC236}">
                  <a16:creationId xmlns:a16="http://schemas.microsoft.com/office/drawing/2014/main" id="{B06D5B99-99A0-F93C-1571-429243C85EF6}"/>
                </a:ext>
              </a:extLst>
            </p:cNvPr>
            <p:cNvSpPr/>
            <p:nvPr/>
          </p:nvSpPr>
          <p:spPr>
            <a:xfrm flipV="1">
              <a:off x="9362417" y="4190315"/>
              <a:ext cx="2132671" cy="659682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617" h="1008941">
                  <a:moveTo>
                    <a:pt x="0" y="1008849"/>
                  </a:moveTo>
                  <a:cubicBezTo>
                    <a:pt x="394300" y="1020001"/>
                    <a:pt x="586383" y="21143"/>
                    <a:pt x="121961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703A4168-59A9-76C0-7597-9837F4232C8D}"/>
                    </a:ext>
                  </a:extLst>
                </p:cNvPr>
                <p:cNvSpPr txBox="1"/>
                <p:nvPr/>
              </p:nvSpPr>
              <p:spPr>
                <a:xfrm>
                  <a:off x="11480927" y="2914443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703A4168-59A9-76C0-7597-9837F4232C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0927" y="2914443"/>
                  <a:ext cx="388882" cy="524695"/>
                </a:xfrm>
                <a:prstGeom prst="rect">
                  <a:avLst/>
                </a:prstGeom>
                <a:blipFill>
                  <a:blip r:embed="rId20"/>
                  <a:stretch>
                    <a:fillRect r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7E5FB565-5E0B-185F-95EF-88C990E8FDF3}"/>
                    </a:ext>
                  </a:extLst>
                </p:cNvPr>
                <p:cNvSpPr txBox="1"/>
                <p:nvPr/>
              </p:nvSpPr>
              <p:spPr>
                <a:xfrm>
                  <a:off x="11480927" y="3663743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7E5FB565-5E0B-185F-95EF-88C990E8F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0927" y="3663743"/>
                  <a:ext cx="388882" cy="524695"/>
                </a:xfrm>
                <a:prstGeom prst="rect">
                  <a:avLst/>
                </a:prstGeom>
                <a:blipFill>
                  <a:blip r:embed="rId20"/>
                  <a:stretch>
                    <a:fillRect r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文本">
              <a:extLst>
                <a:ext uri="{FF2B5EF4-FFF2-40B4-BE49-F238E27FC236}">
                  <a16:creationId xmlns:a16="http://schemas.microsoft.com/office/drawing/2014/main" id="{1846B60D-5478-DB12-776F-5E06217E2FAC}"/>
                </a:ext>
              </a:extLst>
            </p:cNvPr>
            <p:cNvSpPr txBox="1"/>
            <p:nvPr/>
          </p:nvSpPr>
          <p:spPr>
            <a:xfrm>
              <a:off x="7294000" y="2820004"/>
              <a:ext cx="164466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solidFill>
                    <a:srgbClr val="159F8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幅频特性</a:t>
              </a:r>
              <a:endParaRPr kumimoji="1" lang="en-US" altLang="zh-CN" sz="2800" dirty="0">
                <a:solidFill>
                  <a:srgbClr val="159F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9" name="文本">
              <a:extLst>
                <a:ext uri="{FF2B5EF4-FFF2-40B4-BE49-F238E27FC236}">
                  <a16:creationId xmlns:a16="http://schemas.microsoft.com/office/drawing/2014/main" id="{CCB7F838-DE24-025B-D5C6-9AB74062518C}"/>
                </a:ext>
              </a:extLst>
            </p:cNvPr>
            <p:cNvSpPr txBox="1"/>
            <p:nvPr/>
          </p:nvSpPr>
          <p:spPr>
            <a:xfrm>
              <a:off x="7307986" y="4258546"/>
              <a:ext cx="16532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solidFill>
                    <a:srgbClr val="159F84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相频特性</a:t>
              </a:r>
              <a:endParaRPr kumimoji="1" lang="en-US" altLang="zh-CN" sz="2800" dirty="0">
                <a:solidFill>
                  <a:srgbClr val="159F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1761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  <p:bldP spid="92" grpId="0"/>
      <p:bldP spid="93" grpId="0" animBg="1"/>
      <p:bldP spid="94" grpId="0"/>
      <p:bldP spid="95" grpId="0"/>
      <p:bldP spid="96" grpId="0" animBg="1"/>
      <p:bldP spid="9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/>
              <p:nvPr/>
            </p:nvSpPr>
            <p:spPr>
              <a:xfrm>
                <a:off x="351607" y="908720"/>
                <a:ext cx="3565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+30°)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7" name="增益范围">
                <a:extLst>
                  <a:ext uri="{FF2B5EF4-FFF2-40B4-BE49-F238E27FC236}">
                    <a16:creationId xmlns:a16="http://schemas.microsoft.com/office/drawing/2014/main" id="{0E045AB5-F8A3-5F05-09EE-81AD04203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07" y="908720"/>
                <a:ext cx="3565694" cy="523220"/>
              </a:xfrm>
              <a:prstGeom prst="rect">
                <a:avLst/>
              </a:prstGeom>
              <a:blipFill>
                <a:blip r:embed="rId3"/>
                <a:stretch>
                  <a:fillRect r="-212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求稳态频率响应</a:t>
            </a:r>
          </a:p>
        </p:txBody>
      </p:sp>
      <p:grpSp>
        <p:nvGrpSpPr>
          <p:cNvPr id="88" name="方框图">
            <a:extLst>
              <a:ext uri="{FF2B5EF4-FFF2-40B4-BE49-F238E27FC236}">
                <a16:creationId xmlns:a16="http://schemas.microsoft.com/office/drawing/2014/main" id="{ED47B278-7700-E14E-3BC4-56DEEB1F2056}"/>
              </a:ext>
            </a:extLst>
          </p:cNvPr>
          <p:cNvGrpSpPr/>
          <p:nvPr/>
        </p:nvGrpSpPr>
        <p:grpSpPr>
          <a:xfrm>
            <a:off x="7463358" y="341958"/>
            <a:ext cx="3480076" cy="959967"/>
            <a:chOff x="7610417" y="255413"/>
            <a:chExt cx="3480076" cy="9599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G">
                  <a:extLst>
                    <a:ext uri="{FF2B5EF4-FFF2-40B4-BE49-F238E27FC236}">
                      <a16:creationId xmlns:a16="http://schemas.microsoft.com/office/drawing/2014/main" id="{CF5CE779-7913-551E-D814-0EB2135B5FB9}"/>
                    </a:ext>
                  </a:extLst>
                </p:cNvPr>
                <p:cNvSpPr/>
                <p:nvPr/>
              </p:nvSpPr>
              <p:spPr>
                <a:xfrm>
                  <a:off x="9460498" y="388120"/>
                  <a:ext cx="520702" cy="792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9" name="G">
                  <a:extLst>
                    <a:ext uri="{FF2B5EF4-FFF2-40B4-BE49-F238E27FC236}">
                      <a16:creationId xmlns:a16="http://schemas.microsoft.com/office/drawing/2014/main" id="{CF5CE779-7913-551E-D814-0EB2135B5F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0498" y="388120"/>
                  <a:ext cx="520702" cy="792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输入">
              <a:extLst>
                <a:ext uri="{FF2B5EF4-FFF2-40B4-BE49-F238E27FC236}">
                  <a16:creationId xmlns:a16="http://schemas.microsoft.com/office/drawing/2014/main" id="{7CB4D240-A8C0-B306-F11D-1D1B296E5D7A}"/>
                </a:ext>
              </a:extLst>
            </p:cNvPr>
            <p:cNvCxnSpPr>
              <a:cxnSpLocks/>
              <a:endCxn id="94" idx="2"/>
            </p:cNvCxnSpPr>
            <p:nvPr/>
          </p:nvCxnSpPr>
          <p:spPr>
            <a:xfrm>
              <a:off x="7779249" y="783868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">
                  <a:extLst>
                    <a:ext uri="{FF2B5EF4-FFF2-40B4-BE49-F238E27FC236}">
                      <a16:creationId xmlns:a16="http://schemas.microsoft.com/office/drawing/2014/main" id="{467650EC-CF0D-7739-C11E-0C607E838E67}"/>
                    </a:ext>
                  </a:extLst>
                </p:cNvPr>
                <p:cNvSpPr txBox="1"/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54866875-A096-BF89-3E8D-61A75E5DE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417" y="260648"/>
                  <a:ext cx="936104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输出">
              <a:extLst>
                <a:ext uri="{FF2B5EF4-FFF2-40B4-BE49-F238E27FC236}">
                  <a16:creationId xmlns:a16="http://schemas.microsoft.com/office/drawing/2014/main" id="{2443AC93-6BC6-A76C-12C5-729A29604B80}"/>
                </a:ext>
              </a:extLst>
            </p:cNvPr>
            <p:cNvCxnSpPr>
              <a:cxnSpLocks/>
              <a:stCxn id="89" idx="3"/>
            </p:cNvCxnSpPr>
            <p:nvPr/>
          </p:nvCxnSpPr>
          <p:spPr>
            <a:xfrm flipV="1">
              <a:off x="9981200" y="783104"/>
              <a:ext cx="1109293" cy="1016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C">
                  <a:extLst>
                    <a:ext uri="{FF2B5EF4-FFF2-40B4-BE49-F238E27FC236}">
                      <a16:creationId xmlns:a16="http://schemas.microsoft.com/office/drawing/2014/main" id="{2F1F5A44-2C7D-BA43-E562-09063271B533}"/>
                    </a:ext>
                  </a:extLst>
                </p:cNvPr>
                <p:cNvSpPr txBox="1"/>
                <p:nvPr/>
              </p:nvSpPr>
              <p:spPr>
                <a:xfrm>
                  <a:off x="10038943" y="255413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C">
                  <a:extLst>
                    <a:ext uri="{FF2B5EF4-FFF2-40B4-BE49-F238E27FC236}">
                      <a16:creationId xmlns:a16="http://schemas.microsoft.com/office/drawing/2014/main" id="{2F1F5A44-2C7D-BA43-E562-09063271B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8943" y="255413"/>
                  <a:ext cx="936104" cy="523220"/>
                </a:xfrm>
                <a:prstGeom prst="rect">
                  <a:avLst/>
                </a:prstGeom>
                <a:blipFill>
                  <a:blip r:embed="rId19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sum">
              <a:extLst>
                <a:ext uri="{FF2B5EF4-FFF2-40B4-BE49-F238E27FC236}">
                  <a16:creationId xmlns:a16="http://schemas.microsoft.com/office/drawing/2014/main" id="{ABE124E2-8C78-C6BE-F1F5-FC5D7A5EDC60}"/>
                </a:ext>
              </a:extLst>
            </p:cNvPr>
            <p:cNvSpPr/>
            <p:nvPr/>
          </p:nvSpPr>
          <p:spPr>
            <a:xfrm>
              <a:off x="8377690" y="639868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负号">
                  <a:extLst>
                    <a:ext uri="{FF2B5EF4-FFF2-40B4-BE49-F238E27FC236}">
                      <a16:creationId xmlns:a16="http://schemas.microsoft.com/office/drawing/2014/main" id="{80184096-AAEB-6D27-688C-061F2E7E3C41}"/>
                    </a:ext>
                  </a:extLst>
                </p:cNvPr>
                <p:cNvSpPr txBox="1"/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负号">
                  <a:extLst>
                    <a:ext uri="{FF2B5EF4-FFF2-40B4-BE49-F238E27FC236}">
                      <a16:creationId xmlns:a16="http://schemas.microsoft.com/office/drawing/2014/main" id="{3A9651B8-A515-0198-592E-966743C6EA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061" y="692160"/>
                  <a:ext cx="244144" cy="523220"/>
                </a:xfrm>
                <a:prstGeom prst="rect">
                  <a:avLst/>
                </a:prstGeom>
                <a:blipFill>
                  <a:blip r:embed="rId20"/>
                  <a:stretch>
                    <a:fillRect l="-45000" r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反馈1">
              <a:extLst>
                <a:ext uri="{FF2B5EF4-FFF2-40B4-BE49-F238E27FC236}">
                  <a16:creationId xmlns:a16="http://schemas.microsoft.com/office/drawing/2014/main" id="{5E70F9BB-2DF7-E8EE-8E09-3526F98E0E98}"/>
                </a:ext>
              </a:extLst>
            </p:cNvPr>
            <p:cNvCxnSpPr>
              <a:cxnSpLocks/>
              <a:stCxn id="93" idx="2"/>
              <a:endCxn id="94" idx="4"/>
            </p:cNvCxnSpPr>
            <p:nvPr/>
          </p:nvCxnSpPr>
          <p:spPr>
            <a:xfrm rot="5400000">
              <a:off x="9439726" y="-139402"/>
              <a:ext cx="149235" cy="1985305"/>
            </a:xfrm>
            <a:prstGeom prst="bentConnector3">
              <a:avLst>
                <a:gd name="adj1" fmla="val 37657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E连接">
              <a:extLst>
                <a:ext uri="{FF2B5EF4-FFF2-40B4-BE49-F238E27FC236}">
                  <a16:creationId xmlns:a16="http://schemas.microsoft.com/office/drawing/2014/main" id="{2278F47F-5BF1-FE02-1DEE-86E7ADC89594}"/>
                </a:ext>
              </a:extLst>
            </p:cNvPr>
            <p:cNvCxnSpPr>
              <a:cxnSpLocks/>
              <a:stCxn id="94" idx="6"/>
              <a:endCxn id="89" idx="1"/>
            </p:cNvCxnSpPr>
            <p:nvPr/>
          </p:nvCxnSpPr>
          <p:spPr>
            <a:xfrm>
              <a:off x="8665690" y="783868"/>
              <a:ext cx="794808" cy="2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E">
                  <a:extLst>
                    <a:ext uri="{FF2B5EF4-FFF2-40B4-BE49-F238E27FC236}">
                      <a16:creationId xmlns:a16="http://schemas.microsoft.com/office/drawing/2014/main" id="{8216850B-B2B6-65DA-51B5-D86A7596F3FE}"/>
                    </a:ext>
                  </a:extLst>
                </p:cNvPr>
                <p:cNvSpPr txBox="1"/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E">
                  <a:extLst>
                    <a:ext uri="{FF2B5EF4-FFF2-40B4-BE49-F238E27FC236}">
                      <a16:creationId xmlns:a16="http://schemas.microsoft.com/office/drawing/2014/main" id="{0E31F24D-D360-D5D1-013B-8962F3896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791" y="266515"/>
                  <a:ext cx="936104" cy="523220"/>
                </a:xfrm>
                <a:prstGeom prst="rect">
                  <a:avLst/>
                </a:prstGeom>
                <a:blipFill>
                  <a:blip r:embed="rId21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增益范围">
                <a:extLst>
                  <a:ext uri="{FF2B5EF4-FFF2-40B4-BE49-F238E27FC236}">
                    <a16:creationId xmlns:a16="http://schemas.microsoft.com/office/drawing/2014/main" id="{21F376D1-1EAF-292F-65E3-942929CD7894}"/>
                  </a:ext>
                </a:extLst>
              </p:cNvPr>
              <p:cNvSpPr txBox="1"/>
              <p:nvPr/>
            </p:nvSpPr>
            <p:spPr>
              <a:xfrm>
                <a:off x="258485" y="1443564"/>
                <a:ext cx="5400600" cy="977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99" name="增益范围">
                <a:extLst>
                  <a:ext uri="{FF2B5EF4-FFF2-40B4-BE49-F238E27FC236}">
                    <a16:creationId xmlns:a16="http://schemas.microsoft.com/office/drawing/2014/main" id="{21F376D1-1EAF-292F-65E3-942929CD7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5" y="1443564"/>
                <a:ext cx="5400600" cy="977319"/>
              </a:xfrm>
              <a:prstGeom prst="rect">
                <a:avLst/>
              </a:prstGeom>
              <a:blipFill>
                <a:blip r:embed="rId22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增益范围">
                <a:extLst>
                  <a:ext uri="{FF2B5EF4-FFF2-40B4-BE49-F238E27FC236}">
                    <a16:creationId xmlns:a16="http://schemas.microsoft.com/office/drawing/2014/main" id="{13446E7E-058C-D2B6-2FAB-DEFE8F5D21F6}"/>
                  </a:ext>
                </a:extLst>
              </p:cNvPr>
              <p:cNvSpPr txBox="1"/>
              <p:nvPr/>
            </p:nvSpPr>
            <p:spPr>
              <a:xfrm>
                <a:off x="175148" y="2424848"/>
                <a:ext cx="8860380" cy="1459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l-GR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l-GR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l-GR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𝛷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en-US" altLang="zh-C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  <m:groupChr>
                              <m:groupChrPr>
                                <m:chr m:val="⇒"/>
                                <m:vertJc m:val="bot"/>
                                <m:ctrlPr>
                                  <a:rPr lang="el-GR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</m:groupCh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)|</m:t>
                                </m:r>
                              </m:num>
                              <m:den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)|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                     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r>
                              <a:rPr lang="el-GR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𝛷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func>
                              <m:funcPr>
                                <m:ctrlPr>
                                  <a:rPr lang="zh-CN" alt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arctan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func>
                            <m:groupChr>
                              <m:groupChrPr>
                                <m:chr m:val="⇒"/>
                                <m:vertJc m:val="bot"/>
                                <m:ctrlPr>
                                  <a:rPr lang="el-GR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=2</m:t>
                                </m:r>
                              </m:e>
                            </m:groupCh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−63.4°=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−30°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400" i="1" dirty="0"/>
                  <a:t> </a:t>
                </a:r>
              </a:p>
            </p:txBody>
          </p:sp>
        </mc:Choice>
        <mc:Fallback xmlns="">
          <p:sp>
            <p:nvSpPr>
              <p:cNvPr id="100" name="增益范围">
                <a:extLst>
                  <a:ext uri="{FF2B5EF4-FFF2-40B4-BE49-F238E27FC236}">
                    <a16:creationId xmlns:a16="http://schemas.microsoft.com/office/drawing/2014/main" id="{13446E7E-058C-D2B6-2FAB-DEFE8F5D2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48" y="2424848"/>
                <a:ext cx="8860380" cy="1459887"/>
              </a:xfrm>
              <a:prstGeom prst="rect">
                <a:avLst/>
              </a:prstGeom>
              <a:blipFill>
                <a:blip r:embed="rId23"/>
                <a:stretch>
                  <a:fillRect l="-28469" t="-217391" r="-3147" b="-31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增益范围">
                <a:extLst>
                  <a:ext uri="{FF2B5EF4-FFF2-40B4-BE49-F238E27FC236}">
                    <a16:creationId xmlns:a16="http://schemas.microsoft.com/office/drawing/2014/main" id="{51A422B6-1E7F-7F00-3406-E8B2E33EBCBB}"/>
                  </a:ext>
                </a:extLst>
              </p:cNvPr>
              <p:cNvSpPr txBox="1"/>
              <p:nvPr/>
            </p:nvSpPr>
            <p:spPr>
              <a:xfrm>
                <a:off x="175148" y="3901751"/>
                <a:ext cx="3497961" cy="1271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l-GR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l-GR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                           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=−63.4°+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30°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=−33.4°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400" i="1" dirty="0"/>
                  <a:t> </a:t>
                </a:r>
              </a:p>
            </p:txBody>
          </p:sp>
        </mc:Choice>
        <mc:Fallback xmlns="">
          <p:sp>
            <p:nvSpPr>
              <p:cNvPr id="101" name="增益范围">
                <a:extLst>
                  <a:ext uri="{FF2B5EF4-FFF2-40B4-BE49-F238E27FC236}">
                    <a16:creationId xmlns:a16="http://schemas.microsoft.com/office/drawing/2014/main" id="{51A422B6-1E7F-7F00-3406-E8B2E33EB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48" y="3901751"/>
                <a:ext cx="3497961" cy="1271438"/>
              </a:xfrm>
              <a:prstGeom prst="rect">
                <a:avLst/>
              </a:prstGeom>
              <a:blipFill>
                <a:blip r:embed="rId24"/>
                <a:stretch>
                  <a:fillRect l="-61011" t="-210891" r="-33574" b="-30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增益范围">
                <a:extLst>
                  <a:ext uri="{FF2B5EF4-FFF2-40B4-BE49-F238E27FC236}">
                    <a16:creationId xmlns:a16="http://schemas.microsoft.com/office/drawing/2014/main" id="{A84F70E5-3F8E-E93B-8EBA-0090AD725D6B}"/>
                  </a:ext>
                </a:extLst>
              </p:cNvPr>
              <p:cNvSpPr txBox="1"/>
              <p:nvPr/>
            </p:nvSpPr>
            <p:spPr>
              <a:xfrm>
                <a:off x="0" y="5210989"/>
                <a:ext cx="5400600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−33.4°)</m:t>
                          </m:r>
                        </m:e>
                      </m:func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02" name="增益范围">
                <a:extLst>
                  <a:ext uri="{FF2B5EF4-FFF2-40B4-BE49-F238E27FC236}">
                    <a16:creationId xmlns:a16="http://schemas.microsoft.com/office/drawing/2014/main" id="{A84F70E5-3F8E-E93B-8EBA-0090AD725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10989"/>
                <a:ext cx="5400600" cy="982320"/>
              </a:xfrm>
              <a:prstGeom prst="rect">
                <a:avLst/>
              </a:prstGeom>
              <a:blipFill>
                <a:blip r:embed="rId25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980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45" grpId="0"/>
      <p:bldP spid="99" grpId="0"/>
      <p:bldP spid="100" grpId="0"/>
      <p:bldP spid="101" grpId="0"/>
      <p:bldP spid="10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代码框">
            <a:extLst>
              <a:ext uri="{FF2B5EF4-FFF2-40B4-BE49-F238E27FC236}">
                <a16:creationId xmlns:a16="http://schemas.microsoft.com/office/drawing/2014/main" id="{4A88715F-B7C3-C13E-D246-E8FF3D564DC6}"/>
              </a:ext>
            </a:extLst>
          </p:cNvPr>
          <p:cNvGrpSpPr/>
          <p:nvPr/>
        </p:nvGrpSpPr>
        <p:grpSpPr>
          <a:xfrm>
            <a:off x="235858" y="891531"/>
            <a:ext cx="11691996" cy="5684504"/>
            <a:chOff x="2515563" y="3741795"/>
            <a:chExt cx="11691996" cy="5684504"/>
          </a:xfrm>
        </p:grpSpPr>
        <p:sp>
          <p:nvSpPr>
            <p:cNvPr id="3" name="代码">
              <a:extLst>
                <a:ext uri="{FF2B5EF4-FFF2-40B4-BE49-F238E27FC236}">
                  <a16:creationId xmlns:a16="http://schemas.microsoft.com/office/drawing/2014/main" id="{40BC701F-6E52-ADD5-B828-96DB21819CC5}"/>
                </a:ext>
              </a:extLst>
            </p:cNvPr>
            <p:cNvSpPr txBox="1"/>
            <p:nvPr/>
          </p:nvSpPr>
          <p:spPr>
            <a:xfrm>
              <a:off x="2515563" y="4101629"/>
              <a:ext cx="11691996" cy="532467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400" dirty="0">
                  <a:latin typeface="Menlo" panose="020B0609030804020204" pitchFamily="49" charset="0"/>
                </a:rPr>
                <a:t>t = </a:t>
              </a:r>
              <a:r>
                <a:rPr lang="en" altLang="zh-CN" sz="2400" dirty="0" err="1">
                  <a:latin typeface="Menlo" panose="020B0609030804020204" pitchFamily="49" charset="0"/>
                </a:rPr>
                <a:t>linspace</a:t>
              </a:r>
              <a:r>
                <a:rPr lang="en" altLang="zh-CN" sz="2400" dirty="0">
                  <a:latin typeface="Menlo" panose="020B0609030804020204" pitchFamily="49" charset="0"/>
                </a:rPr>
                <a:t>(0,30,1000); 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生成</a:t>
              </a:r>
              <a:r>
                <a:rPr lang="en-US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1000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个时间点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A = 3; 				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幅值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omega = 2; 			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频率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r = A*sin(omega*t+30/360*2*pi); 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输入正弦信号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G = </a:t>
              </a:r>
              <a:r>
                <a:rPr lang="en" altLang="zh-CN" sz="2400" dirty="0" err="1">
                  <a:latin typeface="Menlo" panose="020B0609030804020204" pitchFamily="49" charset="0"/>
                </a:rPr>
                <a:t>tf</a:t>
              </a:r>
              <a:r>
                <a:rPr lang="en" altLang="zh-CN" sz="2400" dirty="0">
                  <a:latin typeface="Menlo" panose="020B0609030804020204" pitchFamily="49" charset="0"/>
                </a:rPr>
                <a:t>(1,[1,0]); 		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开环传函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Phi = feedback(G,1); 	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单位负反馈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-US" altLang="zh-CN" sz="2400" dirty="0">
                  <a:latin typeface="Menlo" panose="020B0609030804020204" pitchFamily="49" charset="0"/>
                </a:rPr>
                <a:t>[</a:t>
              </a:r>
              <a:r>
                <a:rPr lang="en" altLang="zh-CN" sz="2400" dirty="0" err="1">
                  <a:latin typeface="Menlo" panose="020B0609030804020204" pitchFamily="49" charset="0"/>
                </a:rPr>
                <a:t>c,t</a:t>
              </a:r>
              <a:r>
                <a:rPr lang="en" altLang="zh-CN" sz="2400" dirty="0">
                  <a:latin typeface="Menlo" panose="020B0609030804020204" pitchFamily="49" charset="0"/>
                </a:rPr>
                <a:t>] = </a:t>
              </a:r>
              <a:r>
                <a:rPr lang="en" altLang="zh-CN" sz="2400" dirty="0" err="1">
                  <a:latin typeface="Menlo" panose="020B0609030804020204" pitchFamily="49" charset="0"/>
                </a:rPr>
                <a:t>lsim</a:t>
              </a:r>
              <a:r>
                <a:rPr lang="en" altLang="zh-CN" sz="2400" dirty="0">
                  <a:latin typeface="Menlo" panose="020B0609030804020204" pitchFamily="49" charset="0"/>
                </a:rPr>
                <a:t>(</a:t>
              </a:r>
              <a:r>
                <a:rPr lang="en" altLang="zh-CN" sz="2400" dirty="0" err="1">
                  <a:latin typeface="Menlo" panose="020B0609030804020204" pitchFamily="49" charset="0"/>
                </a:rPr>
                <a:t>Phi,r,t</a:t>
              </a:r>
              <a:r>
                <a:rPr lang="en" altLang="zh-CN" sz="2400" dirty="0">
                  <a:latin typeface="Menlo" panose="020B0609030804020204" pitchFamily="49" charset="0"/>
                </a:rPr>
                <a:t>); 	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时域响应仿真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plot(t,[</a:t>
              </a:r>
              <a:r>
                <a:rPr lang="en" altLang="zh-CN" sz="2400" dirty="0" err="1">
                  <a:latin typeface="Menlo" panose="020B0609030804020204" pitchFamily="49" charset="0"/>
                </a:rPr>
                <a:t>r',c</a:t>
              </a:r>
              <a:r>
                <a:rPr lang="en" altLang="zh-CN" sz="2400" dirty="0">
                  <a:latin typeface="Menlo" panose="020B0609030804020204" pitchFamily="49" charset="0"/>
                </a:rPr>
                <a:t>],</a:t>
              </a:r>
              <a:r>
                <a:rPr lang="en" altLang="zh-CN" sz="2400" dirty="0">
                  <a:solidFill>
                    <a:srgbClr val="AA04F9"/>
                  </a:solidFill>
                  <a:latin typeface="Menlo" panose="020B0609030804020204" pitchFamily="49" charset="0"/>
                </a:rPr>
                <a:t>'LineWidth'</a:t>
              </a:r>
              <a:r>
                <a:rPr lang="en" altLang="zh-CN" sz="2400" dirty="0">
                  <a:latin typeface="Menlo" panose="020B0609030804020204" pitchFamily="49" charset="0"/>
                </a:rPr>
                <a:t>,2); 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绘图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 err="1">
                  <a:latin typeface="Menlo" panose="020B0609030804020204" pitchFamily="49" charset="0"/>
                </a:rPr>
                <a:t>xlabel</a:t>
              </a:r>
              <a:r>
                <a:rPr lang="en" altLang="zh-CN" sz="2400" dirty="0">
                  <a:latin typeface="Menlo" panose="020B0609030804020204" pitchFamily="49" charset="0"/>
                </a:rPr>
                <a:t>(</a:t>
              </a:r>
              <a:r>
                <a:rPr lang="en" altLang="zh-CN" sz="2400" dirty="0">
                  <a:solidFill>
                    <a:srgbClr val="AA04F9"/>
                  </a:solidFill>
                  <a:latin typeface="Menlo" panose="020B0609030804020204" pitchFamily="49" charset="0"/>
                </a:rPr>
                <a:t>'Time (seconds)'</a:t>
              </a:r>
              <a:r>
                <a:rPr lang="en" altLang="zh-CN" sz="2400" dirty="0"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sz="2400" dirty="0" err="1">
                  <a:latin typeface="Menlo" panose="020B0609030804020204" pitchFamily="49" charset="0"/>
                </a:rPr>
                <a:t>ylabel</a:t>
              </a:r>
              <a:r>
                <a:rPr lang="en" altLang="zh-CN" sz="2400" dirty="0">
                  <a:latin typeface="Menlo" panose="020B0609030804020204" pitchFamily="49" charset="0"/>
                </a:rPr>
                <a:t>(</a:t>
              </a:r>
              <a:r>
                <a:rPr lang="en" altLang="zh-CN" sz="2400" dirty="0">
                  <a:solidFill>
                    <a:srgbClr val="AA04F9"/>
                  </a:solidFill>
                  <a:latin typeface="Menlo" panose="020B0609030804020204" pitchFamily="49" charset="0"/>
                </a:rPr>
                <a:t>'Amplitude'</a:t>
              </a:r>
              <a:r>
                <a:rPr lang="en" altLang="zh-CN" sz="2400" dirty="0"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legend({</a:t>
              </a:r>
              <a:r>
                <a:rPr lang="en" altLang="zh-CN" sz="2400" dirty="0">
                  <a:solidFill>
                    <a:srgbClr val="AA04F9"/>
                  </a:solidFill>
                  <a:latin typeface="Menlo" panose="020B0609030804020204" pitchFamily="49" charset="0"/>
                </a:rPr>
                <a:t>'</a:t>
              </a:r>
              <a:r>
                <a:rPr lang="en" altLang="zh-CN" sz="2400" dirty="0" err="1">
                  <a:solidFill>
                    <a:srgbClr val="AA04F9"/>
                  </a:solidFill>
                  <a:latin typeface="Menlo" panose="020B0609030804020204" pitchFamily="49" charset="0"/>
                </a:rPr>
                <a:t>r'</a:t>
              </a:r>
              <a:r>
                <a:rPr lang="en" altLang="zh-CN" sz="2400" dirty="0" err="1">
                  <a:latin typeface="Menlo" panose="020B0609030804020204" pitchFamily="49" charset="0"/>
                </a:rPr>
                <a:t>,</a:t>
              </a:r>
              <a:r>
                <a:rPr lang="en" altLang="zh-CN" sz="2400" dirty="0" err="1">
                  <a:solidFill>
                    <a:srgbClr val="AA04F9"/>
                  </a:solidFill>
                  <a:latin typeface="Menlo" panose="020B0609030804020204" pitchFamily="49" charset="0"/>
                </a:rPr>
                <a:t>'c</a:t>
              </a:r>
              <a:r>
                <a:rPr lang="en" altLang="zh-CN" sz="2400" dirty="0">
                  <a:solidFill>
                    <a:srgbClr val="AA04F9"/>
                  </a:solidFill>
                  <a:latin typeface="Menlo" panose="020B0609030804020204" pitchFamily="49" charset="0"/>
                </a:rPr>
                <a:t>'</a:t>
              </a:r>
              <a:r>
                <a:rPr lang="en" altLang="zh-CN" sz="2400" dirty="0">
                  <a:latin typeface="Menlo" panose="020B0609030804020204" pitchFamily="49" charset="0"/>
                </a:rPr>
                <a:t>})</a:t>
              </a: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grid</a:t>
              </a: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B2776BA7-E5BB-0C9E-8EBD-BAE6BC3A058B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7" name="标题">
            <a:extLst>
              <a:ext uri="{FF2B5EF4-FFF2-40B4-BE49-F238E27FC236}">
                <a16:creationId xmlns:a16="http://schemas.microsoft.com/office/drawing/2014/main" id="{7D6F127B-E810-914A-ACB6-107C957AB6B2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求稳态频率响应</a:t>
            </a:r>
          </a:p>
        </p:txBody>
      </p:sp>
    </p:spTree>
    <p:extLst>
      <p:ext uri="{BB962C8B-B14F-4D97-AF65-F5344CB8AC3E}">
        <p14:creationId xmlns:p14="http://schemas.microsoft.com/office/powerpoint/2010/main" val="3066607187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>
            <a:extLst>
              <a:ext uri="{FF2B5EF4-FFF2-40B4-BE49-F238E27FC236}">
                <a16:creationId xmlns:a16="http://schemas.microsoft.com/office/drawing/2014/main" id="{7D6F127B-E810-914A-ACB6-107C957AB6B2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求稳态频率响应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3576C0-AAB7-3140-436C-CB5D47F40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206" y="1524000"/>
            <a:ext cx="7112000" cy="5334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增益范围">
                <a:extLst>
                  <a:ext uri="{FF2B5EF4-FFF2-40B4-BE49-F238E27FC236}">
                    <a16:creationId xmlns:a16="http://schemas.microsoft.com/office/drawing/2014/main" id="{2879B031-DC5B-B2B0-D22B-1A6D9F69FBF0}"/>
                  </a:ext>
                </a:extLst>
              </p:cNvPr>
              <p:cNvSpPr txBox="1"/>
              <p:nvPr/>
            </p:nvSpPr>
            <p:spPr>
              <a:xfrm>
                <a:off x="6127998" y="777253"/>
                <a:ext cx="5400600" cy="982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−33.4°)</m:t>
                          </m:r>
                        </m:e>
                      </m:func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8" name="增益范围">
                <a:extLst>
                  <a:ext uri="{FF2B5EF4-FFF2-40B4-BE49-F238E27FC236}">
                    <a16:creationId xmlns:a16="http://schemas.microsoft.com/office/drawing/2014/main" id="{2879B031-DC5B-B2B0-D22B-1A6D9F69F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998" y="777253"/>
                <a:ext cx="5400600" cy="982320"/>
              </a:xfrm>
              <a:prstGeom prst="rect">
                <a:avLst/>
              </a:prstGeom>
              <a:blipFill>
                <a:blip r:embed="rId3"/>
                <a:stretch>
                  <a:fillRect b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增益范围">
                <a:extLst>
                  <a:ext uri="{FF2B5EF4-FFF2-40B4-BE49-F238E27FC236}">
                    <a16:creationId xmlns:a16="http://schemas.microsoft.com/office/drawing/2014/main" id="{2F53851C-6D18-7D9E-1416-AF27D6E0C4CF}"/>
                  </a:ext>
                </a:extLst>
              </p:cNvPr>
              <p:cNvSpPr txBox="1"/>
              <p:nvPr/>
            </p:nvSpPr>
            <p:spPr>
              <a:xfrm>
                <a:off x="1486694" y="1042531"/>
                <a:ext cx="3565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+30°)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增益范围">
                <a:extLst>
                  <a:ext uri="{FF2B5EF4-FFF2-40B4-BE49-F238E27FC236}">
                    <a16:creationId xmlns:a16="http://schemas.microsoft.com/office/drawing/2014/main" id="{2F53851C-6D18-7D9E-1416-AF27D6E0C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694" y="1042531"/>
                <a:ext cx="3565694" cy="523220"/>
              </a:xfrm>
              <a:prstGeom prst="rect">
                <a:avLst/>
              </a:prstGeom>
              <a:blipFill>
                <a:blip r:embed="rId4"/>
                <a:stretch>
                  <a:fillRect r="-213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75881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614452" y="332656"/>
                <a:ext cx="46886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频率特性 </a:t>
                </a:r>
                <a14:m>
                  <m:oMath xmlns:m="http://schemas.openxmlformats.org/officeDocument/2006/math"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𝒋</m:t>
                    </m:r>
                    <m:r>
                      <a:rPr lang="el-GR" altLang="zh-CN" sz="28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𝝎</m:t>
                    </m:r>
                    <m:r>
                      <a:rPr lang="el-GR" altLang="zh-CN" sz="28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l-GR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的定义</a:t>
                </a: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332656"/>
                <a:ext cx="4688666" cy="523220"/>
              </a:xfrm>
              <a:prstGeom prst="rect">
                <a:avLst/>
              </a:prstGeom>
              <a:blipFill>
                <a:blip r:embed="rId3"/>
                <a:stretch>
                  <a:fillRect l="-2703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文本框 89">
            <a:extLst>
              <a:ext uri="{FF2B5EF4-FFF2-40B4-BE49-F238E27FC236}">
                <a16:creationId xmlns:a16="http://schemas.microsoft.com/office/drawing/2014/main" id="{73C00843-9F81-8D0F-5EB9-B7809E7C6820}"/>
              </a:ext>
            </a:extLst>
          </p:cNvPr>
          <p:cNvSpPr txBox="1"/>
          <p:nvPr/>
        </p:nvSpPr>
        <p:spPr>
          <a:xfrm>
            <a:off x="343099" y="1022593"/>
            <a:ext cx="2987141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系统的频率特性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DF3C046D-485C-1613-D6E6-B7B17ED856E9}"/>
                  </a:ext>
                </a:extLst>
              </p:cNvPr>
              <p:cNvSpPr txBox="1"/>
              <p:nvPr/>
            </p:nvSpPr>
            <p:spPr>
              <a:xfrm>
                <a:off x="3463872" y="1074669"/>
                <a:ext cx="45449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DF3C046D-485C-1613-D6E6-B7B17ED85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872" y="1074669"/>
                <a:ext cx="4544970" cy="523220"/>
              </a:xfrm>
              <a:prstGeom prst="rect">
                <a:avLst/>
              </a:prstGeom>
              <a:blipFill>
                <a:blip r:embed="rId4"/>
                <a:stretch>
                  <a:fillRect l="-55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文本框 131">
            <a:extLst>
              <a:ext uri="{FF2B5EF4-FFF2-40B4-BE49-F238E27FC236}">
                <a16:creationId xmlns:a16="http://schemas.microsoft.com/office/drawing/2014/main" id="{432954FF-A963-74CD-544B-3C98FACC44C6}"/>
              </a:ext>
            </a:extLst>
          </p:cNvPr>
          <p:cNvSpPr txBox="1"/>
          <p:nvPr/>
        </p:nvSpPr>
        <p:spPr>
          <a:xfrm>
            <a:off x="357981" y="1788433"/>
            <a:ext cx="10849794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反映了在正弦信号作用下，系统的稳态响应与输入正弦信号的关系。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1534F14-E6FE-CA56-6A1D-5410357B5EFB}"/>
              </a:ext>
            </a:extLst>
          </p:cNvPr>
          <p:cNvGrpSpPr/>
          <p:nvPr/>
        </p:nvGrpSpPr>
        <p:grpSpPr>
          <a:xfrm>
            <a:off x="306289" y="2397853"/>
            <a:ext cx="10878468" cy="2012364"/>
            <a:chOff x="306289" y="2397853"/>
            <a:chExt cx="10878468" cy="2012364"/>
          </a:xfrm>
        </p:grpSpPr>
        <p:sp>
          <p:nvSpPr>
            <p:cNvPr id="89" name="小标题1">
              <a:extLst>
                <a:ext uri="{FF2B5EF4-FFF2-40B4-BE49-F238E27FC236}">
                  <a16:creationId xmlns:a16="http://schemas.microsoft.com/office/drawing/2014/main" id="{B5CAECC8-9771-04EA-4A29-EBF400ADFF6B}"/>
                </a:ext>
              </a:extLst>
            </p:cNvPr>
            <p:cNvSpPr/>
            <p:nvPr/>
          </p:nvSpPr>
          <p:spPr bwMode="auto">
            <a:xfrm>
              <a:off x="306289" y="2636912"/>
              <a:ext cx="303381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幅频特性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F01783CF-232E-4E55-BDB8-09F3EDD596AD}"/>
                    </a:ext>
                  </a:extLst>
                </p:cNvPr>
                <p:cNvSpPr txBox="1"/>
                <p:nvPr/>
              </p:nvSpPr>
              <p:spPr>
                <a:xfrm>
                  <a:off x="3899756" y="2397853"/>
                  <a:ext cx="4392488" cy="9101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|=</m:t>
                        </m:r>
                        <m:f>
                          <m:f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F01783CF-232E-4E55-BDB8-09F3EDD596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9756" y="2397853"/>
                  <a:ext cx="4392488" cy="910186"/>
                </a:xfrm>
                <a:prstGeom prst="rect">
                  <a:avLst/>
                </a:prstGeom>
                <a:blipFill>
                  <a:blip r:embed="rId5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3AD9FDD0-9223-501A-65F0-FE1361424EEF}"/>
                </a:ext>
              </a:extLst>
            </p:cNvPr>
            <p:cNvSpPr txBox="1"/>
            <p:nvPr/>
          </p:nvSpPr>
          <p:spPr>
            <a:xfrm>
              <a:off x="334963" y="3354609"/>
              <a:ext cx="10849794" cy="1055608"/>
            </a:xfrm>
            <a:prstGeom prst="flowChartAlternateProcess">
              <a:avLst/>
            </a:prstGeom>
            <a:noFill/>
            <a:ln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accent1"/>
                  </a:solidFill>
                </a:rPr>
                <a:t>反映系统在不同频率正弦信号作用下，稳态输出信号与输入信号</a:t>
              </a:r>
              <a:r>
                <a:rPr kumimoji="1" lang="zh-CN" altLang="en-US" sz="2800" dirty="0">
                  <a:solidFill>
                    <a:srgbClr val="159F84"/>
                  </a:solidFill>
                </a:rPr>
                <a:t>幅值的比值</a:t>
              </a:r>
              <a:r>
                <a:rPr kumimoji="1" lang="zh-CN" altLang="en-US" sz="2800" dirty="0">
                  <a:solidFill>
                    <a:schemeClr val="accent1"/>
                  </a:solidFill>
                </a:rPr>
                <a:t>，及系统的放大</a:t>
              </a:r>
              <a:r>
                <a:rPr kumimoji="1" lang="en-US" altLang="zh-CN" sz="2800" dirty="0">
                  <a:solidFill>
                    <a:schemeClr val="accent1"/>
                  </a:solidFill>
                </a:rPr>
                <a:t>(</a:t>
              </a:r>
              <a:r>
                <a:rPr kumimoji="1" lang="zh-CN" altLang="en-US" sz="2800" dirty="0">
                  <a:solidFill>
                    <a:schemeClr val="accent1"/>
                  </a:solidFill>
                </a:rPr>
                <a:t>或衰减</a:t>
              </a:r>
              <a:r>
                <a:rPr kumimoji="1" lang="en-US" altLang="zh-CN" sz="2800" dirty="0">
                  <a:solidFill>
                    <a:schemeClr val="accent1"/>
                  </a:solidFill>
                </a:rPr>
                <a:t>)</a:t>
              </a:r>
              <a:r>
                <a:rPr kumimoji="1" lang="zh-CN" altLang="en-US" sz="2800" dirty="0">
                  <a:solidFill>
                    <a:schemeClr val="accent1"/>
                  </a:solidFill>
                </a:rPr>
                <a:t>特性。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41B6E23-47C5-2B98-D8BB-579C9A211107}"/>
              </a:ext>
            </a:extLst>
          </p:cNvPr>
          <p:cNvGrpSpPr/>
          <p:nvPr/>
        </p:nvGrpSpPr>
        <p:grpSpPr>
          <a:xfrm>
            <a:off x="326083" y="4456787"/>
            <a:ext cx="10863858" cy="2173953"/>
            <a:chOff x="326083" y="4456787"/>
            <a:chExt cx="10863858" cy="2173953"/>
          </a:xfrm>
        </p:grpSpPr>
        <p:sp>
          <p:nvSpPr>
            <p:cNvPr id="134" name="小标题1">
              <a:extLst>
                <a:ext uri="{FF2B5EF4-FFF2-40B4-BE49-F238E27FC236}">
                  <a16:creationId xmlns:a16="http://schemas.microsoft.com/office/drawing/2014/main" id="{A94D4581-4375-739B-C6AC-8763F0953691}"/>
                </a:ext>
              </a:extLst>
            </p:cNvPr>
            <p:cNvSpPr/>
            <p:nvPr/>
          </p:nvSpPr>
          <p:spPr bwMode="auto">
            <a:xfrm>
              <a:off x="326083" y="4641652"/>
              <a:ext cx="303381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相频特性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40F62A82-DC9A-7331-2BE7-641160F86D7E}"/>
                    </a:ext>
                  </a:extLst>
                </p:cNvPr>
                <p:cNvSpPr txBox="1"/>
                <p:nvPr/>
              </p:nvSpPr>
              <p:spPr>
                <a:xfrm>
                  <a:off x="3574926" y="4456787"/>
                  <a:ext cx="6218939" cy="10511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zh-CN" alt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Im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]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Re</m:t>
                                    </m:r>
                                    <m:r>
                                      <a:rPr lang="en-US" altLang="zh-CN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]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40F62A82-DC9A-7331-2BE7-641160F86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4926" y="4456787"/>
                  <a:ext cx="6218939" cy="1051185"/>
                </a:xfrm>
                <a:prstGeom prst="rect">
                  <a:avLst/>
                </a:prstGeom>
                <a:blipFill>
                  <a:blip r:embed="rId6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40C4A8C4-3E08-9994-0454-88C0CAAAB3A5}"/>
                </a:ext>
              </a:extLst>
            </p:cNvPr>
            <p:cNvSpPr txBox="1"/>
            <p:nvPr/>
          </p:nvSpPr>
          <p:spPr>
            <a:xfrm>
              <a:off x="340147" y="5575132"/>
              <a:ext cx="10849794" cy="1055608"/>
            </a:xfrm>
            <a:prstGeom prst="flowChartAlternateProcess">
              <a:avLst/>
            </a:prstGeom>
            <a:noFill/>
            <a:ln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accent1"/>
                  </a:solidFill>
                </a:rPr>
                <a:t>反映系统在不同频率正弦信号作用下，稳态输出信号相对于输入信号的</a:t>
              </a:r>
              <a:r>
                <a:rPr kumimoji="1" lang="zh-CN" altLang="en-US" sz="2800" dirty="0">
                  <a:solidFill>
                    <a:srgbClr val="159F84"/>
                  </a:solidFill>
                </a:rPr>
                <a:t>相移</a:t>
              </a:r>
              <a:r>
                <a:rPr kumimoji="1" lang="zh-CN" altLang="en-US" sz="2800" dirty="0">
                  <a:solidFill>
                    <a:schemeClr val="accent1"/>
                  </a:solidFill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4685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614452" y="332656"/>
                <a:ext cx="46886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频率特性 </a:t>
                </a:r>
                <a14:m>
                  <m:oMath xmlns:m="http://schemas.openxmlformats.org/officeDocument/2006/math"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𝑮</m:t>
                    </m:r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𝒋</m:t>
                    </m:r>
                    <m:r>
                      <a:rPr lang="el-GR" altLang="zh-CN" sz="28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𝝎</m:t>
                    </m:r>
                    <m:r>
                      <a:rPr lang="el-GR" altLang="zh-CN" sz="28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 </m:t>
                    </m:r>
                  </m:oMath>
                </a14:m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的图解表示</a:t>
                </a: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52" y="332656"/>
                <a:ext cx="4688666" cy="523220"/>
              </a:xfrm>
              <a:prstGeom prst="rect">
                <a:avLst/>
              </a:prstGeom>
              <a:blipFill>
                <a:blip r:embed="rId3"/>
                <a:stretch>
                  <a:fillRect l="-2703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76BF3A5B-2BD3-5479-A944-F74B7AEC93D0}"/>
              </a:ext>
            </a:extLst>
          </p:cNvPr>
          <p:cNvGrpSpPr/>
          <p:nvPr/>
        </p:nvGrpSpPr>
        <p:grpSpPr>
          <a:xfrm>
            <a:off x="215542" y="903663"/>
            <a:ext cx="5196421" cy="2903886"/>
            <a:chOff x="215542" y="903663"/>
            <a:chExt cx="5196421" cy="2903886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46380F4D-099C-C7DE-BCE4-F829058248DA}"/>
                </a:ext>
              </a:extLst>
            </p:cNvPr>
            <p:cNvSpPr txBox="1"/>
            <p:nvPr/>
          </p:nvSpPr>
          <p:spPr>
            <a:xfrm>
              <a:off x="966906" y="903663"/>
              <a:ext cx="4068202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kumimoji="1" sz="2800">
                  <a:solidFill>
                    <a:schemeClr val="bg1"/>
                  </a:solidFill>
                </a:defRPr>
              </a:lvl1pPr>
            </a:lstStyle>
            <a:p>
              <a:r>
                <a:rPr lang="en-US" altLang="zh-CN" dirty="0"/>
                <a:t>I.</a:t>
              </a:r>
              <a:r>
                <a:rPr lang="zh-CN" altLang="en-US" dirty="0"/>
                <a:t> 频率特性</a:t>
              </a:r>
            </a:p>
          </p:txBody>
        </p:sp>
        <p:cxnSp>
          <p:nvCxnSpPr>
            <p:cNvPr id="80" name="频率轴1">
              <a:extLst>
                <a:ext uri="{FF2B5EF4-FFF2-40B4-BE49-F238E27FC236}">
                  <a16:creationId xmlns:a16="http://schemas.microsoft.com/office/drawing/2014/main" id="{26E944FD-9A2E-B9D9-FD07-D0244C1FEA1C}"/>
                </a:ext>
              </a:extLst>
            </p:cNvPr>
            <p:cNvCxnSpPr>
              <a:cxnSpLocks/>
            </p:cNvCxnSpPr>
            <p:nvPr/>
          </p:nvCxnSpPr>
          <p:spPr>
            <a:xfrm>
              <a:off x="2870154" y="2417362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幅值轴">
              <a:extLst>
                <a:ext uri="{FF2B5EF4-FFF2-40B4-BE49-F238E27FC236}">
                  <a16:creationId xmlns:a16="http://schemas.microsoft.com/office/drawing/2014/main" id="{73999F84-0498-DBFA-81D0-059A4251C2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8242" y="1486670"/>
              <a:ext cx="2149" cy="9377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频率轴2">
              <a:extLst>
                <a:ext uri="{FF2B5EF4-FFF2-40B4-BE49-F238E27FC236}">
                  <a16:creationId xmlns:a16="http://schemas.microsoft.com/office/drawing/2014/main" id="{B86BF13D-03C5-48A5-AF43-588556BE1DBC}"/>
                </a:ext>
              </a:extLst>
            </p:cNvPr>
            <p:cNvCxnSpPr>
              <a:cxnSpLocks/>
            </p:cNvCxnSpPr>
            <p:nvPr/>
          </p:nvCxnSpPr>
          <p:spPr>
            <a:xfrm>
              <a:off x="2880391" y="2939836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相角轴">
              <a:extLst>
                <a:ext uri="{FF2B5EF4-FFF2-40B4-BE49-F238E27FC236}">
                  <a16:creationId xmlns:a16="http://schemas.microsoft.com/office/drawing/2014/main" id="{D61E2190-CC1D-B91D-1D4D-DE47E0BB5C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0154" y="2583708"/>
              <a:ext cx="0" cy="104834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2D5CF618-D225-9A53-9268-E8B4BB518EE5}"/>
                    </a:ext>
                  </a:extLst>
                </p:cNvPr>
                <p:cNvSpPr txBox="1"/>
                <p:nvPr/>
              </p:nvSpPr>
              <p:spPr>
                <a:xfrm>
                  <a:off x="2931954" y="1397273"/>
                  <a:ext cx="1306289" cy="4231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2D5CF618-D225-9A53-9268-E8B4BB518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954" y="1397273"/>
                  <a:ext cx="1306289" cy="423189"/>
                </a:xfrm>
                <a:prstGeom prst="rect">
                  <a:avLst/>
                </a:prstGeom>
                <a:blipFill>
                  <a:blip r:embed="rId4"/>
                  <a:stretch>
                    <a:fillRect l="-5769" r="-8654" b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DDA304C7-D10A-F937-2A2A-40055D37B4D8}"/>
                    </a:ext>
                  </a:extLst>
                </p:cNvPr>
                <p:cNvSpPr txBox="1"/>
                <p:nvPr/>
              </p:nvSpPr>
              <p:spPr>
                <a:xfrm>
                  <a:off x="2485623" y="1622787"/>
                  <a:ext cx="365236" cy="4231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DDA304C7-D10A-F937-2A2A-40055D37B4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623" y="1622787"/>
                  <a:ext cx="365236" cy="423189"/>
                </a:xfrm>
                <a:prstGeom prst="rect">
                  <a:avLst/>
                </a:prstGeom>
                <a:blipFill>
                  <a:blip r:embed="rId5"/>
                  <a:stretch>
                    <a:fillRect l="-10000" r="-13333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5C900616-2BDE-A789-AE1C-22C08199F16D}"/>
                    </a:ext>
                  </a:extLst>
                </p:cNvPr>
                <p:cNvSpPr txBox="1"/>
                <p:nvPr/>
              </p:nvSpPr>
              <p:spPr>
                <a:xfrm>
                  <a:off x="2931954" y="2516848"/>
                  <a:ext cx="1089868" cy="4231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5C900616-2BDE-A789-AE1C-22C08199F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954" y="2516848"/>
                  <a:ext cx="1089868" cy="423189"/>
                </a:xfrm>
                <a:prstGeom prst="rect">
                  <a:avLst/>
                </a:prstGeom>
                <a:blipFill>
                  <a:blip r:embed="rId6"/>
                  <a:stretch>
                    <a:fillRect l="-1149" r="-12644" b="-441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2F899C6-B38E-8629-69B8-A92B4D291F6A}"/>
                    </a:ext>
                  </a:extLst>
                </p:cNvPr>
                <p:cNvSpPr txBox="1"/>
                <p:nvPr/>
              </p:nvSpPr>
              <p:spPr>
                <a:xfrm>
                  <a:off x="2503396" y="2197369"/>
                  <a:ext cx="365236" cy="4231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2F899C6-B38E-8629-69B8-A92B4D291F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3396" y="2197369"/>
                  <a:ext cx="365236" cy="423189"/>
                </a:xfrm>
                <a:prstGeom prst="rect">
                  <a:avLst/>
                </a:prstGeom>
                <a:blipFill>
                  <a:blip r:embed="rId7"/>
                  <a:stretch>
                    <a:fillRect l="-10000" r="-10000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6C1A015-3194-4EE9-6CC0-23BAB0DDABB5}"/>
                    </a:ext>
                  </a:extLst>
                </p:cNvPr>
                <p:cNvSpPr txBox="1"/>
                <p:nvPr/>
              </p:nvSpPr>
              <p:spPr>
                <a:xfrm>
                  <a:off x="2368468" y="2721807"/>
                  <a:ext cx="365236" cy="4231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06C1A015-3194-4EE9-6CC0-23BAB0DDAB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8468" y="2721807"/>
                  <a:ext cx="365236" cy="423189"/>
                </a:xfrm>
                <a:prstGeom prst="rect">
                  <a:avLst/>
                </a:prstGeom>
                <a:blipFill>
                  <a:blip r:embed="rId8"/>
                  <a:stretch>
                    <a:fillRect l="-10000" r="-46667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05AE7B84-A81F-6AE3-9F72-58C74F5779CB}"/>
                    </a:ext>
                  </a:extLst>
                </p:cNvPr>
                <p:cNvSpPr txBox="1"/>
                <p:nvPr/>
              </p:nvSpPr>
              <p:spPr>
                <a:xfrm>
                  <a:off x="1900619" y="3303732"/>
                  <a:ext cx="833075" cy="4231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05AE7B84-A81F-6AE3-9F72-58C74F5779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0619" y="3303732"/>
                  <a:ext cx="833075" cy="423189"/>
                </a:xfrm>
                <a:prstGeom prst="rect">
                  <a:avLst/>
                </a:prstGeom>
                <a:blipFill>
                  <a:blip r:embed="rId9"/>
                  <a:stretch>
                    <a:fillRect r="-19403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辅助线">
              <a:extLst>
                <a:ext uri="{FF2B5EF4-FFF2-40B4-BE49-F238E27FC236}">
                  <a16:creationId xmlns:a16="http://schemas.microsoft.com/office/drawing/2014/main" id="{70FBA4B2-C305-90D2-C50D-556AB3C743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8242" y="3515327"/>
              <a:ext cx="2447750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幅频响应">
              <a:extLst>
                <a:ext uri="{FF2B5EF4-FFF2-40B4-BE49-F238E27FC236}">
                  <a16:creationId xmlns:a16="http://schemas.microsoft.com/office/drawing/2014/main" id="{655116C9-9888-BB61-96A4-FE486958A3AD}"/>
                </a:ext>
              </a:extLst>
            </p:cNvPr>
            <p:cNvSpPr/>
            <p:nvPr/>
          </p:nvSpPr>
          <p:spPr>
            <a:xfrm flipV="1">
              <a:off x="2902442" y="1842026"/>
              <a:ext cx="2132671" cy="533561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617" h="1008941">
                  <a:moveTo>
                    <a:pt x="0" y="1008849"/>
                  </a:moveTo>
                  <a:cubicBezTo>
                    <a:pt x="394300" y="1020001"/>
                    <a:pt x="586383" y="21143"/>
                    <a:pt x="121961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5" name="相频响应">
              <a:extLst>
                <a:ext uri="{FF2B5EF4-FFF2-40B4-BE49-F238E27FC236}">
                  <a16:creationId xmlns:a16="http://schemas.microsoft.com/office/drawing/2014/main" id="{CE4CF8A0-1117-CA72-C7C4-2E93EB0715F2}"/>
                </a:ext>
              </a:extLst>
            </p:cNvPr>
            <p:cNvSpPr/>
            <p:nvPr/>
          </p:nvSpPr>
          <p:spPr>
            <a:xfrm flipV="1">
              <a:off x="2904571" y="2966507"/>
              <a:ext cx="2132671" cy="533561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617" h="1008941">
                  <a:moveTo>
                    <a:pt x="0" y="1008849"/>
                  </a:moveTo>
                  <a:cubicBezTo>
                    <a:pt x="394300" y="1020001"/>
                    <a:pt x="586383" y="21143"/>
                    <a:pt x="121961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728163E4-E141-4A93-CD72-D828AB247E98}"/>
                    </a:ext>
                  </a:extLst>
                </p:cNvPr>
                <p:cNvSpPr txBox="1"/>
                <p:nvPr/>
              </p:nvSpPr>
              <p:spPr>
                <a:xfrm>
                  <a:off x="5023081" y="1992781"/>
                  <a:ext cx="388882" cy="4243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728163E4-E141-4A93-CD72-D828AB247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3081" y="1992781"/>
                  <a:ext cx="388882" cy="424382"/>
                </a:xfrm>
                <a:prstGeom prst="rect">
                  <a:avLst/>
                </a:prstGeom>
                <a:blipFill>
                  <a:blip r:embed="rId10"/>
                  <a:stretch>
                    <a:fillRect r="-9375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90F9848C-2052-48F2-4A03-035404F83B53}"/>
                    </a:ext>
                  </a:extLst>
                </p:cNvPr>
                <p:cNvSpPr txBox="1"/>
                <p:nvPr/>
              </p:nvSpPr>
              <p:spPr>
                <a:xfrm>
                  <a:off x="5023081" y="2540607"/>
                  <a:ext cx="388882" cy="4243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90F9848C-2052-48F2-4A03-035404F83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3081" y="2540607"/>
                  <a:ext cx="388882" cy="424382"/>
                </a:xfrm>
                <a:prstGeom prst="rect">
                  <a:avLst/>
                </a:prstGeom>
                <a:blipFill>
                  <a:blip r:embed="rId11"/>
                  <a:stretch>
                    <a:fillRect r="-9375" b="-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">
                  <a:extLst>
                    <a:ext uri="{FF2B5EF4-FFF2-40B4-BE49-F238E27FC236}">
                      <a16:creationId xmlns:a16="http://schemas.microsoft.com/office/drawing/2014/main" id="{4D9C1A39-F4BC-5C29-6B06-49B30CDC1F21}"/>
                    </a:ext>
                  </a:extLst>
                </p:cNvPr>
                <p:cNvSpPr txBox="1"/>
                <p:nvPr/>
              </p:nvSpPr>
              <p:spPr>
                <a:xfrm>
                  <a:off x="215542" y="1845260"/>
                  <a:ext cx="2114209" cy="8972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solidFill>
                        <a:srgbClr val="159F8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幅频</a:t>
                  </a:r>
                  <a14:m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a14:m>
                  <a:endParaRPr lang="zh-CN" altLang="en-US" sz="2800" dirty="0"/>
                </a:p>
                <a:p>
                  <a:endParaRPr kumimoji="1" lang="en-US" altLang="zh-CN" sz="2800" dirty="0">
                    <a:solidFill>
                      <a:srgbClr val="159F8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8" name="文本">
                  <a:extLst>
                    <a:ext uri="{FF2B5EF4-FFF2-40B4-BE49-F238E27FC236}">
                      <a16:creationId xmlns:a16="http://schemas.microsoft.com/office/drawing/2014/main" id="{4D9C1A39-F4BC-5C29-6B06-49B30CDC1F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542" y="1845260"/>
                  <a:ext cx="2114209" cy="897242"/>
                </a:xfrm>
                <a:prstGeom prst="rect">
                  <a:avLst/>
                </a:prstGeom>
                <a:blipFill>
                  <a:blip r:embed="rId12"/>
                  <a:stretch>
                    <a:fillRect l="-5952" t="-8333" r="-5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">
                  <a:extLst>
                    <a:ext uri="{FF2B5EF4-FFF2-40B4-BE49-F238E27FC236}">
                      <a16:creationId xmlns:a16="http://schemas.microsoft.com/office/drawing/2014/main" id="{9CB05FB9-F471-2D2D-A0DC-47A2C025A333}"/>
                    </a:ext>
                  </a:extLst>
                </p:cNvPr>
                <p:cNvSpPr txBox="1"/>
                <p:nvPr/>
              </p:nvSpPr>
              <p:spPr>
                <a:xfrm>
                  <a:off x="218623" y="2910307"/>
                  <a:ext cx="2114208" cy="8972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solidFill>
                        <a:srgbClr val="159F8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相频</a:t>
                  </a:r>
                  <a14:m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a14:m>
                  <a:endParaRPr lang="zh-CN" altLang="en-US" sz="2800" dirty="0"/>
                </a:p>
                <a:p>
                  <a:endParaRPr kumimoji="1" lang="en-US" altLang="zh-CN" sz="2800" dirty="0">
                    <a:solidFill>
                      <a:srgbClr val="159F8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9" name="文本">
                  <a:extLst>
                    <a:ext uri="{FF2B5EF4-FFF2-40B4-BE49-F238E27FC236}">
                      <a16:creationId xmlns:a16="http://schemas.microsoft.com/office/drawing/2014/main" id="{9CB05FB9-F471-2D2D-A0DC-47A2C025A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623" y="2910307"/>
                  <a:ext cx="2114208" cy="897242"/>
                </a:xfrm>
                <a:prstGeom prst="rect">
                  <a:avLst/>
                </a:prstGeom>
                <a:blipFill>
                  <a:blip r:embed="rId13"/>
                  <a:stretch>
                    <a:fillRect l="-5988" t="-69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9B12C10-7D03-012A-9DEB-4841324941D5}"/>
              </a:ext>
            </a:extLst>
          </p:cNvPr>
          <p:cNvGrpSpPr/>
          <p:nvPr/>
        </p:nvGrpSpPr>
        <p:grpSpPr>
          <a:xfrm>
            <a:off x="7000156" y="903663"/>
            <a:ext cx="4859259" cy="2911282"/>
            <a:chOff x="7008097" y="669290"/>
            <a:chExt cx="4859259" cy="2911282"/>
          </a:xfrm>
        </p:grpSpPr>
        <p:cxnSp>
          <p:nvCxnSpPr>
            <p:cNvPr id="100" name="频率轴2">
              <a:extLst>
                <a:ext uri="{FF2B5EF4-FFF2-40B4-BE49-F238E27FC236}">
                  <a16:creationId xmlns:a16="http://schemas.microsoft.com/office/drawing/2014/main" id="{79429B77-B0AF-3CE6-2E8E-855AC6F1B196}"/>
                </a:ext>
              </a:extLst>
            </p:cNvPr>
            <p:cNvCxnSpPr>
              <a:cxnSpLocks/>
            </p:cNvCxnSpPr>
            <p:nvPr/>
          </p:nvCxnSpPr>
          <p:spPr>
            <a:xfrm>
              <a:off x="7900988" y="1992046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相角轴">
              <a:extLst>
                <a:ext uri="{FF2B5EF4-FFF2-40B4-BE49-F238E27FC236}">
                  <a16:creationId xmlns:a16="http://schemas.microsoft.com/office/drawing/2014/main" id="{B4F7F5BD-975F-BA24-C7E6-9C7B0BF41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4638" y="1616061"/>
              <a:ext cx="0" cy="196451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242CAE78-53FD-3685-7961-A4FE05B4B7F1}"/>
                    </a:ext>
                  </a:extLst>
                </p:cNvPr>
                <p:cNvSpPr txBox="1"/>
                <p:nvPr/>
              </p:nvSpPr>
              <p:spPr>
                <a:xfrm>
                  <a:off x="7993682" y="1242338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242CAE78-53FD-3685-7961-A4FE05B4B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3682" y="1242338"/>
                  <a:ext cx="388882" cy="524695"/>
                </a:xfrm>
                <a:prstGeom prst="rect">
                  <a:avLst/>
                </a:prstGeom>
                <a:blipFill>
                  <a:blip r:embed="rId14"/>
                  <a:stretch>
                    <a:fillRect l="-6250" r="-3125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F499BF6-8580-00A3-2B00-DEE3400F7BC2}"/>
                    </a:ext>
                  </a:extLst>
                </p:cNvPr>
                <p:cNvSpPr txBox="1"/>
                <p:nvPr/>
              </p:nvSpPr>
              <p:spPr>
                <a:xfrm>
                  <a:off x="10127653" y="2057828"/>
                  <a:ext cx="115212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9F499BF6-8580-00A3-2B00-DEE3400F7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7653" y="2057828"/>
                  <a:ext cx="1152121" cy="523220"/>
                </a:xfrm>
                <a:prstGeom prst="rect">
                  <a:avLst/>
                </a:prstGeom>
                <a:blipFill>
                  <a:blip r:embed="rId15"/>
                  <a:stretch>
                    <a:fillRect r="-1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375AF1BC-A2FD-8DD4-839A-4E9686DD3A59}"/>
                    </a:ext>
                  </a:extLst>
                </p:cNvPr>
                <p:cNvSpPr txBox="1"/>
                <p:nvPr/>
              </p:nvSpPr>
              <p:spPr>
                <a:xfrm>
                  <a:off x="7823398" y="1548094"/>
                  <a:ext cx="12968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375AF1BC-A2FD-8DD4-839A-4E9686DD3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3398" y="1548094"/>
                  <a:ext cx="1296887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B396123-1018-1148-8186-DB1B91F2BFFA}"/>
                    </a:ext>
                  </a:extLst>
                </p:cNvPr>
                <p:cNvSpPr txBox="1"/>
                <p:nvPr/>
              </p:nvSpPr>
              <p:spPr>
                <a:xfrm>
                  <a:off x="7405639" y="1782768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B396123-1018-1148-8186-DB1B91F2BF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5639" y="1782768"/>
                  <a:ext cx="388882" cy="524695"/>
                </a:xfrm>
                <a:prstGeom prst="rect">
                  <a:avLst/>
                </a:prstGeom>
                <a:blipFill>
                  <a:blip r:embed="rId17"/>
                  <a:stretch>
                    <a:fillRect l="-6452" r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7F8DBABF-F2C6-9975-0251-FDE0DF6C080D}"/>
                    </a:ext>
                  </a:extLst>
                </p:cNvPr>
                <p:cNvSpPr txBox="1"/>
                <p:nvPr/>
              </p:nvSpPr>
              <p:spPr>
                <a:xfrm>
                  <a:off x="9681926" y="2761093"/>
                  <a:ext cx="130628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7F8DBABF-F2C6-9975-0251-FDE0DF6C0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926" y="2761093"/>
                  <a:ext cx="1306289" cy="523220"/>
                </a:xfrm>
                <a:prstGeom prst="rect">
                  <a:avLst/>
                </a:prstGeom>
                <a:blipFill>
                  <a:blip r:embed="rId18"/>
                  <a:stretch>
                    <a:fillRect l="-5769" r="-8654"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1C0E4B1A-81A0-0AF9-C675-A1CB5FB63AEE}"/>
                    </a:ext>
                  </a:extLst>
                </p:cNvPr>
                <p:cNvSpPr txBox="1"/>
                <p:nvPr/>
              </p:nvSpPr>
              <p:spPr>
                <a:xfrm>
                  <a:off x="8593743" y="1943189"/>
                  <a:ext cx="108986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1C0E4B1A-81A0-0AF9-C675-A1CB5FB63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3743" y="1943189"/>
                  <a:ext cx="1089868" cy="523220"/>
                </a:xfrm>
                <a:prstGeom prst="rect">
                  <a:avLst/>
                </a:prstGeom>
                <a:blipFill>
                  <a:blip r:embed="rId19"/>
                  <a:stretch>
                    <a:fillRect l="-1149" r="-12644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幅频响应">
              <a:extLst>
                <a:ext uri="{FF2B5EF4-FFF2-40B4-BE49-F238E27FC236}">
                  <a16:creationId xmlns:a16="http://schemas.microsoft.com/office/drawing/2014/main" id="{0BA68F38-385B-5A31-7E0C-886799749204}"/>
                </a:ext>
              </a:extLst>
            </p:cNvPr>
            <p:cNvSpPr/>
            <p:nvPr/>
          </p:nvSpPr>
          <p:spPr>
            <a:xfrm flipV="1">
              <a:off x="7909327" y="1986388"/>
              <a:ext cx="2164583" cy="1084672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1230511"/>
                <a:gd name="connsiteY0" fmla="*/ 0 h 914466"/>
                <a:gd name="connsiteX1" fmla="*/ 1230511 w 1230511"/>
                <a:gd name="connsiteY1" fmla="*/ 914110 h 914466"/>
                <a:gd name="connsiteX0" fmla="*/ 0 w 1230511"/>
                <a:gd name="connsiteY0" fmla="*/ 289875 h 1203985"/>
                <a:gd name="connsiteX1" fmla="*/ 1230511 w 1230511"/>
                <a:gd name="connsiteY1" fmla="*/ 1203985 h 1203985"/>
                <a:gd name="connsiteX0" fmla="*/ 0 w 1241405"/>
                <a:gd name="connsiteY0" fmla="*/ 885059 h 886249"/>
                <a:gd name="connsiteX1" fmla="*/ 1241405 w 1241405"/>
                <a:gd name="connsiteY1" fmla="*/ 886249 h 886249"/>
                <a:gd name="connsiteX0" fmla="*/ 92 w 1241497"/>
                <a:gd name="connsiteY0" fmla="*/ 1568692 h 1569882"/>
                <a:gd name="connsiteX1" fmla="*/ 1241497 w 1241497"/>
                <a:gd name="connsiteY1" fmla="*/ 1569882 h 1569882"/>
                <a:gd name="connsiteX0" fmla="*/ 92 w 1241497"/>
                <a:gd name="connsiteY0" fmla="*/ 1637104 h 1638294"/>
                <a:gd name="connsiteX1" fmla="*/ 1241497 w 1241497"/>
                <a:gd name="connsiteY1" fmla="*/ 1638294 h 1638294"/>
                <a:gd name="connsiteX0" fmla="*/ 92 w 1237866"/>
                <a:gd name="connsiteY0" fmla="*/ 1627430 h 1648044"/>
                <a:gd name="connsiteX1" fmla="*/ 1237866 w 1237866"/>
                <a:gd name="connsiteY1" fmla="*/ 1648044 h 1648044"/>
                <a:gd name="connsiteX0" fmla="*/ 92 w 1237866"/>
                <a:gd name="connsiteY0" fmla="*/ 1638321 h 1658935"/>
                <a:gd name="connsiteX1" fmla="*/ 1237866 w 1237866"/>
                <a:gd name="connsiteY1" fmla="*/ 1658935 h 1658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7866" h="1658935">
                  <a:moveTo>
                    <a:pt x="92" y="1638321"/>
                  </a:moveTo>
                  <a:cubicBezTo>
                    <a:pt x="-12324" y="-545417"/>
                    <a:pt x="1236494" y="-553662"/>
                    <a:pt x="1237866" y="1658935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BBFD3758-6849-F288-55FD-1CB3E84C2432}"/>
                </a:ext>
              </a:extLst>
            </p:cNvPr>
            <p:cNvCxnSpPr>
              <a:stCxn id="110" idx="0"/>
            </p:cNvCxnSpPr>
            <p:nvPr/>
          </p:nvCxnSpPr>
          <p:spPr>
            <a:xfrm>
              <a:off x="7909488" y="1999866"/>
              <a:ext cx="1642102" cy="9191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弧 10">
              <a:extLst>
                <a:ext uri="{FF2B5EF4-FFF2-40B4-BE49-F238E27FC236}">
                  <a16:creationId xmlns:a16="http://schemas.microsoft.com/office/drawing/2014/main" id="{03BCAF73-13FF-AAC6-A295-0450ED6BD44E}"/>
                </a:ext>
              </a:extLst>
            </p:cNvPr>
            <p:cNvSpPr/>
            <p:nvPr/>
          </p:nvSpPr>
          <p:spPr>
            <a:xfrm>
              <a:off x="7604317" y="1521158"/>
              <a:ext cx="1011046" cy="1011046"/>
            </a:xfrm>
            <a:prstGeom prst="arc">
              <a:avLst>
                <a:gd name="adj1" fmla="val 21435046"/>
                <a:gd name="adj2" fmla="val 234919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719992AD-DB7D-9286-D926-B13B022893E8}"/>
                </a:ext>
              </a:extLst>
            </p:cNvPr>
            <p:cNvSpPr txBox="1"/>
            <p:nvPr/>
          </p:nvSpPr>
          <p:spPr>
            <a:xfrm>
              <a:off x="7008097" y="669290"/>
              <a:ext cx="4859259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</a:rPr>
                <a:t>II.</a:t>
              </a:r>
              <a:r>
                <a:rPr kumimoji="1" lang="zh-CN" altLang="en-US" sz="2800" dirty="0">
                  <a:solidFill>
                    <a:schemeClr val="bg1"/>
                  </a:solidFill>
                </a:rPr>
                <a:t> 幅相特性</a:t>
              </a:r>
              <a:r>
                <a:rPr kumimoji="1" lang="en-US" altLang="zh-CN" sz="2800" dirty="0">
                  <a:solidFill>
                    <a:schemeClr val="bg1"/>
                  </a:solidFill>
                </a:rPr>
                <a:t>(Nyquist)</a:t>
              </a:r>
              <a:r>
                <a:rPr kumimoji="1" lang="zh-CN" altLang="en-US" sz="2800" dirty="0">
                  <a:solidFill>
                    <a:schemeClr val="bg1"/>
                  </a:solidFill>
                </a:rPr>
                <a:t>、极坐标</a:t>
              </a:r>
            </a:p>
          </p:txBody>
        </p: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D33CAE46-37D8-E42B-27EE-2F7E154186D6}"/>
              </a:ext>
            </a:extLst>
          </p:cNvPr>
          <p:cNvGrpSpPr/>
          <p:nvPr/>
        </p:nvGrpSpPr>
        <p:grpSpPr>
          <a:xfrm>
            <a:off x="34592" y="3826721"/>
            <a:ext cx="6113931" cy="2959471"/>
            <a:chOff x="-726796" y="755025"/>
            <a:chExt cx="6113931" cy="3073087"/>
          </a:xfrm>
        </p:grpSpPr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59E90AE7-B37E-30DB-8219-010401F098AF}"/>
                </a:ext>
              </a:extLst>
            </p:cNvPr>
            <p:cNvSpPr txBox="1"/>
            <p:nvPr/>
          </p:nvSpPr>
          <p:spPr>
            <a:xfrm>
              <a:off x="205517" y="755025"/>
              <a:ext cx="4005747" cy="622124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</a:rPr>
                <a:t>III.</a:t>
              </a:r>
              <a:r>
                <a:rPr kumimoji="1" lang="zh-CN" altLang="en-US" sz="2800" dirty="0">
                  <a:solidFill>
                    <a:schemeClr val="bg1"/>
                  </a:solidFill>
                </a:rPr>
                <a:t> 对数频率特性</a:t>
              </a:r>
              <a:r>
                <a:rPr kumimoji="1" lang="en-US" altLang="zh-CN" sz="2800" dirty="0">
                  <a:solidFill>
                    <a:schemeClr val="bg1"/>
                  </a:solidFill>
                </a:rPr>
                <a:t>(Bode)</a:t>
              </a:r>
              <a:endParaRPr kumimoji="1" lang="zh-CN" alt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152" name="频率轴1">
              <a:extLst>
                <a:ext uri="{FF2B5EF4-FFF2-40B4-BE49-F238E27FC236}">
                  <a16:creationId xmlns:a16="http://schemas.microsoft.com/office/drawing/2014/main" id="{CD99A690-2B26-9409-131B-AA969B1C3B7F}"/>
                </a:ext>
              </a:extLst>
            </p:cNvPr>
            <p:cNvCxnSpPr>
              <a:cxnSpLocks/>
            </p:cNvCxnSpPr>
            <p:nvPr/>
          </p:nvCxnSpPr>
          <p:spPr>
            <a:xfrm>
              <a:off x="2867377" y="1837176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幅值轴">
              <a:extLst>
                <a:ext uri="{FF2B5EF4-FFF2-40B4-BE49-F238E27FC236}">
                  <a16:creationId xmlns:a16="http://schemas.microsoft.com/office/drawing/2014/main" id="{E0888A03-148F-F689-3984-DC0D474EB7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3414" y="1445880"/>
              <a:ext cx="2149" cy="99714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频率轴2">
              <a:extLst>
                <a:ext uri="{FF2B5EF4-FFF2-40B4-BE49-F238E27FC236}">
                  <a16:creationId xmlns:a16="http://schemas.microsoft.com/office/drawing/2014/main" id="{39F19425-459E-AF24-71ED-84C251CB8254}"/>
                </a:ext>
              </a:extLst>
            </p:cNvPr>
            <p:cNvCxnSpPr>
              <a:cxnSpLocks/>
            </p:cNvCxnSpPr>
            <p:nvPr/>
          </p:nvCxnSpPr>
          <p:spPr>
            <a:xfrm>
              <a:off x="2855563" y="2991144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相角轴">
              <a:extLst>
                <a:ext uri="{FF2B5EF4-FFF2-40B4-BE49-F238E27FC236}">
                  <a16:creationId xmlns:a16="http://schemas.microsoft.com/office/drawing/2014/main" id="{7F363DE0-4C27-24C7-9757-58BB399DC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5326" y="2612445"/>
              <a:ext cx="0" cy="11147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92046B03-D1D4-BFB0-649B-C6875215988F}"/>
                    </a:ext>
                  </a:extLst>
                </p:cNvPr>
                <p:cNvSpPr txBox="1"/>
                <p:nvPr/>
              </p:nvSpPr>
              <p:spPr>
                <a:xfrm>
                  <a:off x="2907126" y="1350818"/>
                  <a:ext cx="1489753" cy="5433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800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92046B03-D1D4-BFB0-649B-C68752159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126" y="1350818"/>
                  <a:ext cx="1489753" cy="543307"/>
                </a:xfrm>
                <a:prstGeom prst="rect">
                  <a:avLst/>
                </a:prstGeom>
                <a:blipFill>
                  <a:blip r:embed="rId20"/>
                  <a:stretch>
                    <a:fillRect l="-1681" t="-11905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4402F1AE-C6B6-37AF-4722-3CFFCBC66126}"/>
                    </a:ext>
                  </a:extLst>
                </p:cNvPr>
                <p:cNvSpPr txBox="1"/>
                <p:nvPr/>
              </p:nvSpPr>
              <p:spPr>
                <a:xfrm>
                  <a:off x="2460795" y="1590624"/>
                  <a:ext cx="365236" cy="4500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4402F1AE-C6B6-37AF-4722-3CFFCBC66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0795" y="1590624"/>
                  <a:ext cx="365236" cy="450009"/>
                </a:xfrm>
                <a:prstGeom prst="rect">
                  <a:avLst/>
                </a:prstGeom>
                <a:blipFill>
                  <a:blip r:embed="rId21"/>
                  <a:stretch>
                    <a:fillRect l="-6667" r="-13333"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700BB7D-A09F-E3A7-66DE-942DE4FFB0A1}"/>
                    </a:ext>
                  </a:extLst>
                </p:cNvPr>
                <p:cNvSpPr txBox="1"/>
                <p:nvPr/>
              </p:nvSpPr>
              <p:spPr>
                <a:xfrm>
                  <a:off x="2907126" y="2541348"/>
                  <a:ext cx="1089868" cy="5433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700BB7D-A09F-E3A7-66DE-942DE4FFB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126" y="2541348"/>
                  <a:ext cx="1089868" cy="543307"/>
                </a:xfrm>
                <a:prstGeom prst="rect">
                  <a:avLst/>
                </a:prstGeom>
                <a:blipFill>
                  <a:blip r:embed="rId22"/>
                  <a:stretch>
                    <a:fillRect l="-1149" r="-3448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FB5350FA-24DA-074B-FEE2-858612756669}"/>
                    </a:ext>
                  </a:extLst>
                </p:cNvPr>
                <p:cNvSpPr txBox="1"/>
                <p:nvPr/>
              </p:nvSpPr>
              <p:spPr>
                <a:xfrm>
                  <a:off x="2275447" y="2190550"/>
                  <a:ext cx="365236" cy="5433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FB5350FA-24DA-074B-FEE2-858612756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447" y="2190550"/>
                  <a:ext cx="365236" cy="543307"/>
                </a:xfrm>
                <a:prstGeom prst="rect">
                  <a:avLst/>
                </a:prstGeom>
                <a:blipFill>
                  <a:blip r:embed="rId23"/>
                  <a:stretch>
                    <a:fillRect l="-10345" r="-689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F7AE7A46-EAD5-2BDF-AD5A-F757034C9C88}"/>
                    </a:ext>
                  </a:extLst>
                </p:cNvPr>
                <p:cNvSpPr txBox="1"/>
                <p:nvPr/>
              </p:nvSpPr>
              <p:spPr>
                <a:xfrm>
                  <a:off x="2343640" y="2759297"/>
                  <a:ext cx="365236" cy="4500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F7AE7A46-EAD5-2BDF-AD5A-F757034C9C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3640" y="2759297"/>
                  <a:ext cx="365236" cy="450009"/>
                </a:xfrm>
                <a:prstGeom prst="rect">
                  <a:avLst/>
                </a:prstGeom>
                <a:blipFill>
                  <a:blip r:embed="rId8"/>
                  <a:stretch>
                    <a:fillRect l="-10000" r="-46667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086AE276-13F6-7538-E914-84ABB53CEAF2}"/>
                    </a:ext>
                  </a:extLst>
                </p:cNvPr>
                <p:cNvSpPr txBox="1"/>
                <p:nvPr/>
              </p:nvSpPr>
              <p:spPr>
                <a:xfrm>
                  <a:off x="1875791" y="3378103"/>
                  <a:ext cx="833075" cy="4500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086AE276-13F6-7538-E914-84ABB53CE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5791" y="3378103"/>
                  <a:ext cx="833075" cy="450009"/>
                </a:xfrm>
                <a:prstGeom prst="rect">
                  <a:avLst/>
                </a:prstGeom>
                <a:blipFill>
                  <a:blip r:embed="rId24"/>
                  <a:stretch>
                    <a:fillRect r="-20896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辅助线">
              <a:extLst>
                <a:ext uri="{FF2B5EF4-FFF2-40B4-BE49-F238E27FC236}">
                  <a16:creationId xmlns:a16="http://schemas.microsoft.com/office/drawing/2014/main" id="{EC2F03A9-DD1D-0D89-7D50-885CC2FCE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3414" y="3603108"/>
              <a:ext cx="2447750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幅频响应">
              <a:extLst>
                <a:ext uri="{FF2B5EF4-FFF2-40B4-BE49-F238E27FC236}">
                  <a16:creationId xmlns:a16="http://schemas.microsoft.com/office/drawing/2014/main" id="{2711F565-EAE3-95D4-EB45-4A912C885511}"/>
                </a:ext>
              </a:extLst>
            </p:cNvPr>
            <p:cNvSpPr/>
            <p:nvPr/>
          </p:nvSpPr>
          <p:spPr>
            <a:xfrm flipV="1">
              <a:off x="2877614" y="1845417"/>
              <a:ext cx="2132671" cy="545718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1219617"/>
                <a:gd name="connsiteY0" fmla="*/ 1008849 h 1008849"/>
                <a:gd name="connsiteX1" fmla="*/ 711495 w 1219617"/>
                <a:gd name="connsiteY1" fmla="*/ 255175 h 1008849"/>
                <a:gd name="connsiteX2" fmla="*/ 1219617 w 1219617"/>
                <a:gd name="connsiteY2" fmla="*/ 0 h 1008849"/>
                <a:gd name="connsiteX0" fmla="*/ 0 w 1219617"/>
                <a:gd name="connsiteY0" fmla="*/ 1008849 h 1166836"/>
                <a:gd name="connsiteX1" fmla="*/ 588028 w 1219617"/>
                <a:gd name="connsiteY1" fmla="*/ 970427 h 1166836"/>
                <a:gd name="connsiteX2" fmla="*/ 1219617 w 1219617"/>
                <a:gd name="connsiteY2" fmla="*/ 0 h 1166836"/>
                <a:gd name="connsiteX0" fmla="*/ 0 w 1219617"/>
                <a:gd name="connsiteY0" fmla="*/ 1008849 h 1008849"/>
                <a:gd name="connsiteX1" fmla="*/ 588028 w 1219617"/>
                <a:gd name="connsiteY1" fmla="*/ 970427 h 1008849"/>
                <a:gd name="connsiteX2" fmla="*/ 1219617 w 1219617"/>
                <a:gd name="connsiteY2" fmla="*/ 0 h 1008849"/>
                <a:gd name="connsiteX0" fmla="*/ 0 w 1219617"/>
                <a:gd name="connsiteY0" fmla="*/ 1008849 h 1008849"/>
                <a:gd name="connsiteX1" fmla="*/ 588028 w 1219617"/>
                <a:gd name="connsiteY1" fmla="*/ 970427 h 1008849"/>
                <a:gd name="connsiteX2" fmla="*/ 1219617 w 1219617"/>
                <a:gd name="connsiteY2" fmla="*/ 0 h 1008849"/>
                <a:gd name="connsiteX0" fmla="*/ 0 w 1219617"/>
                <a:gd name="connsiteY0" fmla="*/ 1008849 h 1008849"/>
                <a:gd name="connsiteX1" fmla="*/ 588028 w 1219617"/>
                <a:gd name="connsiteY1" fmla="*/ 970427 h 1008849"/>
                <a:gd name="connsiteX2" fmla="*/ 1219617 w 1219617"/>
                <a:gd name="connsiteY2" fmla="*/ 0 h 1008849"/>
                <a:gd name="connsiteX0" fmla="*/ 0 w 1219617"/>
                <a:gd name="connsiteY0" fmla="*/ 961947 h 970427"/>
                <a:gd name="connsiteX1" fmla="*/ 588028 w 1219617"/>
                <a:gd name="connsiteY1" fmla="*/ 970427 h 970427"/>
                <a:gd name="connsiteX2" fmla="*/ 1219617 w 1219617"/>
                <a:gd name="connsiteY2" fmla="*/ 0 h 970427"/>
                <a:gd name="connsiteX0" fmla="*/ 0 w 1219617"/>
                <a:gd name="connsiteY0" fmla="*/ 961947 h 970427"/>
                <a:gd name="connsiteX1" fmla="*/ 588028 w 1219617"/>
                <a:gd name="connsiteY1" fmla="*/ 970427 h 970427"/>
                <a:gd name="connsiteX2" fmla="*/ 1219617 w 1219617"/>
                <a:gd name="connsiteY2" fmla="*/ 0 h 970427"/>
                <a:gd name="connsiteX0" fmla="*/ 0 w 1219617"/>
                <a:gd name="connsiteY0" fmla="*/ 961947 h 970427"/>
                <a:gd name="connsiteX1" fmla="*/ 588028 w 1219617"/>
                <a:gd name="connsiteY1" fmla="*/ 970427 h 970427"/>
                <a:gd name="connsiteX2" fmla="*/ 1219617 w 1219617"/>
                <a:gd name="connsiteY2" fmla="*/ 0 h 970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9617" h="970427">
                  <a:moveTo>
                    <a:pt x="0" y="961947"/>
                  </a:moveTo>
                  <a:lnTo>
                    <a:pt x="588028" y="970427"/>
                  </a:lnTo>
                  <a:cubicBezTo>
                    <a:pt x="909959" y="445456"/>
                    <a:pt x="891420" y="478435"/>
                    <a:pt x="121961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64" name="相频响应">
              <a:extLst>
                <a:ext uri="{FF2B5EF4-FFF2-40B4-BE49-F238E27FC236}">
                  <a16:creationId xmlns:a16="http://schemas.microsoft.com/office/drawing/2014/main" id="{5D59CD5E-AB33-2385-5D85-949E012D906D}"/>
                </a:ext>
              </a:extLst>
            </p:cNvPr>
            <p:cNvSpPr/>
            <p:nvPr/>
          </p:nvSpPr>
          <p:spPr>
            <a:xfrm flipV="1">
              <a:off x="2879743" y="3019505"/>
              <a:ext cx="2132671" cy="567377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617" h="1008941">
                  <a:moveTo>
                    <a:pt x="0" y="1008849"/>
                  </a:moveTo>
                  <a:cubicBezTo>
                    <a:pt x="394300" y="1020001"/>
                    <a:pt x="586383" y="21143"/>
                    <a:pt x="121961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DB329DF-971C-2B48-6C1F-BABC261F5766}"/>
                    </a:ext>
                  </a:extLst>
                </p:cNvPr>
                <p:cNvSpPr txBox="1"/>
                <p:nvPr/>
              </p:nvSpPr>
              <p:spPr>
                <a:xfrm>
                  <a:off x="4998253" y="1984067"/>
                  <a:ext cx="388882" cy="4512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EDB329DF-971C-2B48-6C1F-BABC261F57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8253" y="1984067"/>
                  <a:ext cx="388882" cy="451278"/>
                </a:xfrm>
                <a:prstGeom prst="rect">
                  <a:avLst/>
                </a:prstGeom>
                <a:blipFill>
                  <a:blip r:embed="rId25"/>
                  <a:stretch>
                    <a:fillRect r="-9375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46874FD-1879-D2D8-1D96-BD514B9D7541}"/>
                    </a:ext>
                  </a:extLst>
                </p:cNvPr>
                <p:cNvSpPr txBox="1"/>
                <p:nvPr/>
              </p:nvSpPr>
              <p:spPr>
                <a:xfrm>
                  <a:off x="4998253" y="2566613"/>
                  <a:ext cx="388882" cy="4512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46874FD-1879-D2D8-1D96-BD514B9D75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8253" y="2566613"/>
                  <a:ext cx="388882" cy="451278"/>
                </a:xfrm>
                <a:prstGeom prst="rect">
                  <a:avLst/>
                </a:prstGeom>
                <a:blipFill>
                  <a:blip r:embed="rId25"/>
                  <a:stretch>
                    <a:fillRect r="-9375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">
                  <a:extLst>
                    <a:ext uri="{FF2B5EF4-FFF2-40B4-BE49-F238E27FC236}">
                      <a16:creationId xmlns:a16="http://schemas.microsoft.com/office/drawing/2014/main" id="{3CACCFCE-E1E1-EA4D-A0BE-4FA41EDDA87A}"/>
                    </a:ext>
                  </a:extLst>
                </p:cNvPr>
                <p:cNvSpPr txBox="1"/>
                <p:nvPr/>
              </p:nvSpPr>
              <p:spPr>
                <a:xfrm>
                  <a:off x="-708071" y="1750627"/>
                  <a:ext cx="3310215" cy="9907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solidFill>
                        <a:srgbClr val="159F8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对数幅频</a:t>
                  </a:r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a14:m>
                  <a:endParaRPr lang="en-US" altLang="zh-CN" sz="2800" b="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=20</m:t>
                        </m:r>
                        <m:func>
                          <m:funcPr>
                            <m:ctrlPr>
                              <a:rPr lang="zh-CN" alt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  <a:endParaRPr kumimoji="1" lang="en-US" altLang="zh-CN" sz="2800" dirty="0">
                    <a:solidFill>
                      <a:srgbClr val="159F8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7" name="文本">
                  <a:extLst>
                    <a:ext uri="{FF2B5EF4-FFF2-40B4-BE49-F238E27FC236}">
                      <a16:creationId xmlns:a16="http://schemas.microsoft.com/office/drawing/2014/main" id="{3CACCFCE-E1E1-EA4D-A0BE-4FA41EDDA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08071" y="1750627"/>
                  <a:ext cx="3310215" cy="990736"/>
                </a:xfrm>
                <a:prstGeom prst="rect">
                  <a:avLst/>
                </a:prstGeom>
                <a:blipFill>
                  <a:blip r:embed="rId26"/>
                  <a:stretch>
                    <a:fillRect l="-3831" t="-7792" b="-103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">
                  <a:extLst>
                    <a:ext uri="{FF2B5EF4-FFF2-40B4-BE49-F238E27FC236}">
                      <a16:creationId xmlns:a16="http://schemas.microsoft.com/office/drawing/2014/main" id="{559B14FF-A94E-368D-ACE8-5B1EC092C865}"/>
                    </a:ext>
                  </a:extLst>
                </p:cNvPr>
                <p:cNvSpPr txBox="1"/>
                <p:nvPr/>
              </p:nvSpPr>
              <p:spPr>
                <a:xfrm>
                  <a:off x="-726796" y="2811116"/>
                  <a:ext cx="2662138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solidFill>
                        <a:srgbClr val="159F84"/>
                      </a:solidFill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对数相频</a:t>
                  </a:r>
                  <a:endParaRPr kumimoji="1" lang="en-US" altLang="zh-CN" sz="2800" dirty="0">
                    <a:solidFill>
                      <a:srgbClr val="159F8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文本">
                  <a:extLst>
                    <a:ext uri="{FF2B5EF4-FFF2-40B4-BE49-F238E27FC236}">
                      <a16:creationId xmlns:a16="http://schemas.microsoft.com/office/drawing/2014/main" id="{559B14FF-A94E-368D-ACE8-5B1EC092C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6796" y="2811116"/>
                  <a:ext cx="2662138" cy="954107"/>
                </a:xfrm>
                <a:prstGeom prst="rect">
                  <a:avLst/>
                </a:prstGeom>
                <a:blipFill>
                  <a:blip r:embed="rId27"/>
                  <a:stretch>
                    <a:fillRect l="-4739" t="-6849" b="-136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6D4C3AC-AA39-4D49-645B-94EC35B732C3}"/>
              </a:ext>
            </a:extLst>
          </p:cNvPr>
          <p:cNvGrpSpPr/>
          <p:nvPr/>
        </p:nvGrpSpPr>
        <p:grpSpPr>
          <a:xfrm>
            <a:off x="7008096" y="3859498"/>
            <a:ext cx="4859259" cy="3015100"/>
            <a:chOff x="7008096" y="3859498"/>
            <a:chExt cx="4859259" cy="3015100"/>
          </a:xfrm>
        </p:grpSpPr>
        <p:cxnSp>
          <p:nvCxnSpPr>
            <p:cNvPr id="170" name="相角轴">
              <a:extLst>
                <a:ext uri="{FF2B5EF4-FFF2-40B4-BE49-F238E27FC236}">
                  <a16:creationId xmlns:a16="http://schemas.microsoft.com/office/drawing/2014/main" id="{AFAE7961-2B7D-350F-3DEE-F44A97196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6219" y="4632841"/>
              <a:ext cx="0" cy="16758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频率轴2">
              <a:extLst>
                <a:ext uri="{FF2B5EF4-FFF2-40B4-BE49-F238E27FC236}">
                  <a16:creationId xmlns:a16="http://schemas.microsoft.com/office/drawing/2014/main" id="{6874F4B8-1936-63C5-B910-84E4B6F4B2B3}"/>
                </a:ext>
              </a:extLst>
            </p:cNvPr>
            <p:cNvCxnSpPr>
              <a:cxnSpLocks/>
            </p:cNvCxnSpPr>
            <p:nvPr/>
          </p:nvCxnSpPr>
          <p:spPr>
            <a:xfrm>
              <a:off x="8460379" y="6308725"/>
              <a:ext cx="25197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B0EDA8CB-90F7-5283-5D96-1D913142D63A}"/>
                    </a:ext>
                  </a:extLst>
                </p:cNvPr>
                <p:cNvSpPr txBox="1"/>
                <p:nvPr/>
              </p:nvSpPr>
              <p:spPr>
                <a:xfrm>
                  <a:off x="8116555" y="4617173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B0EDA8CB-90F7-5283-5D96-1D913142D6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6555" y="4617173"/>
                  <a:ext cx="388882" cy="524695"/>
                </a:xfrm>
                <a:prstGeom prst="rect">
                  <a:avLst/>
                </a:prstGeom>
                <a:blipFill>
                  <a:blip r:embed="rId28"/>
                  <a:stretch>
                    <a:fillRect l="-6250" r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4472ED1B-227E-EC01-6892-6D1505988A93}"/>
                </a:ext>
              </a:extLst>
            </p:cNvPr>
            <p:cNvSpPr txBox="1"/>
            <p:nvPr/>
          </p:nvSpPr>
          <p:spPr>
            <a:xfrm>
              <a:off x="7008096" y="3859498"/>
              <a:ext cx="4859259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</a:rPr>
                <a:t>IV.</a:t>
              </a:r>
              <a:r>
                <a:rPr kumimoji="1" lang="zh-CN" altLang="en-US" sz="2800" dirty="0">
                  <a:solidFill>
                    <a:schemeClr val="bg1"/>
                  </a:solidFill>
                </a:rPr>
                <a:t> 对数幅相特性</a:t>
              </a:r>
              <a:r>
                <a:rPr kumimoji="1" lang="en-US" altLang="zh-CN" sz="2800" dirty="0">
                  <a:solidFill>
                    <a:schemeClr val="bg1"/>
                  </a:solidFill>
                </a:rPr>
                <a:t>(Nichols)</a:t>
              </a:r>
              <a:endParaRPr kumimoji="1" lang="zh-CN" alt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174" name="辅助线">
              <a:extLst>
                <a:ext uri="{FF2B5EF4-FFF2-40B4-BE49-F238E27FC236}">
                  <a16:creationId xmlns:a16="http://schemas.microsoft.com/office/drawing/2014/main" id="{ECD8702A-EDD0-6D34-66DD-B70ED4CCA2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0379" y="4878769"/>
              <a:ext cx="2195112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辅助线">
              <a:extLst>
                <a:ext uri="{FF2B5EF4-FFF2-40B4-BE49-F238E27FC236}">
                  <a16:creationId xmlns:a16="http://schemas.microsoft.com/office/drawing/2014/main" id="{D6393A29-8247-4FDC-6326-CA99EFCC3F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5491" y="4893515"/>
              <a:ext cx="0" cy="1429956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B9B20B1D-0280-519D-FB16-991BBD3466EA}"/>
                    </a:ext>
                  </a:extLst>
                </p:cNvPr>
                <p:cNvSpPr txBox="1"/>
                <p:nvPr/>
              </p:nvSpPr>
              <p:spPr>
                <a:xfrm>
                  <a:off x="7691988" y="5327240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B9B20B1D-0280-519D-FB16-991BBD346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1988" y="5327240"/>
                  <a:ext cx="388882" cy="524695"/>
                </a:xfrm>
                <a:prstGeom prst="rect">
                  <a:avLst/>
                </a:prstGeom>
                <a:blipFill>
                  <a:blip r:embed="rId29"/>
                  <a:stretch>
                    <a:fillRect r="-11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B42369FB-4B86-F602-8381-589E23C6C1FD}"/>
                    </a:ext>
                  </a:extLst>
                </p:cNvPr>
                <p:cNvSpPr txBox="1"/>
                <p:nvPr/>
              </p:nvSpPr>
              <p:spPr>
                <a:xfrm>
                  <a:off x="7679382" y="6044811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−40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B42369FB-4B86-F602-8381-589E23C6C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382" y="6044811"/>
                  <a:ext cx="388882" cy="524695"/>
                </a:xfrm>
                <a:prstGeom prst="rect">
                  <a:avLst/>
                </a:prstGeom>
                <a:blipFill>
                  <a:blip r:embed="rId30"/>
                  <a:stretch>
                    <a:fillRect r="-11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0ABC178A-ABFA-AEC1-3406-7A760991013D}"/>
                    </a:ext>
                  </a:extLst>
                </p:cNvPr>
                <p:cNvSpPr txBox="1"/>
                <p:nvPr/>
              </p:nvSpPr>
              <p:spPr>
                <a:xfrm>
                  <a:off x="8043036" y="6349903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−180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0ABC178A-ABFA-AEC1-3406-7A7609910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3036" y="6349903"/>
                  <a:ext cx="388882" cy="524695"/>
                </a:xfrm>
                <a:prstGeom prst="rect">
                  <a:avLst/>
                </a:prstGeom>
                <a:blipFill>
                  <a:blip r:embed="rId31"/>
                  <a:stretch>
                    <a:fillRect r="-20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58782D1A-1D73-4578-3F44-884443AF0D94}"/>
                    </a:ext>
                  </a:extLst>
                </p:cNvPr>
                <p:cNvSpPr txBox="1"/>
                <p:nvPr/>
              </p:nvSpPr>
              <p:spPr>
                <a:xfrm>
                  <a:off x="9175324" y="6333305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58782D1A-1D73-4578-3F44-884443AF0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5324" y="6333305"/>
                  <a:ext cx="388882" cy="524695"/>
                </a:xfrm>
                <a:prstGeom prst="rect">
                  <a:avLst/>
                </a:prstGeom>
                <a:blipFill>
                  <a:blip r:embed="rId32"/>
                  <a:stretch>
                    <a:fillRect r="-15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C465A910-EC3C-D05B-8CB8-75A8354656F2}"/>
                    </a:ext>
                  </a:extLst>
                </p:cNvPr>
                <p:cNvSpPr txBox="1"/>
                <p:nvPr/>
              </p:nvSpPr>
              <p:spPr>
                <a:xfrm>
                  <a:off x="10346584" y="6323374"/>
                  <a:ext cx="3888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C465A910-EC3C-D05B-8CB8-75A8354656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6584" y="6323374"/>
                  <a:ext cx="388882" cy="524695"/>
                </a:xfrm>
                <a:prstGeom prst="rect">
                  <a:avLst/>
                </a:prstGeom>
                <a:blipFill>
                  <a:blip r:embed="rId33"/>
                  <a:stretch>
                    <a:fillRect l="-6250" r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1" name="幅频响应">
              <a:extLst>
                <a:ext uri="{FF2B5EF4-FFF2-40B4-BE49-F238E27FC236}">
                  <a16:creationId xmlns:a16="http://schemas.microsoft.com/office/drawing/2014/main" id="{C617FA0D-1FDE-FD5C-B467-5B6892441E45}"/>
                </a:ext>
              </a:extLst>
            </p:cNvPr>
            <p:cNvSpPr/>
            <p:nvPr/>
          </p:nvSpPr>
          <p:spPr>
            <a:xfrm flipV="1">
              <a:off x="9499148" y="4896586"/>
              <a:ext cx="1186521" cy="1409450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721458"/>
                <a:gd name="connsiteY0" fmla="*/ 2172188 h 2172188"/>
                <a:gd name="connsiteX1" fmla="*/ 721458 w 721458"/>
                <a:gd name="connsiteY1" fmla="*/ 0 h 21721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0 w 886558"/>
                <a:gd name="connsiteY0" fmla="*/ 2108688 h 2108688"/>
                <a:gd name="connsiteX1" fmla="*/ 886558 w 886558"/>
                <a:gd name="connsiteY1" fmla="*/ 0 h 2108688"/>
                <a:gd name="connsiteX0" fmla="*/ 115 w 886673"/>
                <a:gd name="connsiteY0" fmla="*/ 2108688 h 2108688"/>
                <a:gd name="connsiteX1" fmla="*/ 886673 w 886673"/>
                <a:gd name="connsiteY1" fmla="*/ 0 h 2108688"/>
                <a:gd name="connsiteX0" fmla="*/ 117 w 886675"/>
                <a:gd name="connsiteY0" fmla="*/ 2108688 h 2108688"/>
                <a:gd name="connsiteX1" fmla="*/ 886675 w 886675"/>
                <a:gd name="connsiteY1" fmla="*/ 0 h 2108688"/>
                <a:gd name="connsiteX0" fmla="*/ 188597 w 188597"/>
                <a:gd name="connsiteY0" fmla="*/ 1375957 h 1375957"/>
                <a:gd name="connsiteX1" fmla="*/ 15420 w 188597"/>
                <a:gd name="connsiteY1" fmla="*/ 0 h 1375957"/>
                <a:gd name="connsiteX0" fmla="*/ 179891 w 301071"/>
                <a:gd name="connsiteY0" fmla="*/ 1375957 h 1585789"/>
                <a:gd name="connsiteX1" fmla="*/ 6714 w 301071"/>
                <a:gd name="connsiteY1" fmla="*/ 0 h 1585789"/>
                <a:gd name="connsiteX0" fmla="*/ 0 w 1219617"/>
                <a:gd name="connsiteY0" fmla="*/ 1067120 h 1383642"/>
                <a:gd name="connsiteX1" fmla="*/ 1219617 w 1219617"/>
                <a:gd name="connsiteY1" fmla="*/ 0 h 1383642"/>
                <a:gd name="connsiteX0" fmla="*/ 0 w 1219617"/>
                <a:gd name="connsiteY0" fmla="*/ 1067120 h 1144709"/>
                <a:gd name="connsiteX1" fmla="*/ 1219617 w 1219617"/>
                <a:gd name="connsiteY1" fmla="*/ 0 h 1144709"/>
                <a:gd name="connsiteX0" fmla="*/ 0 w 1219617"/>
                <a:gd name="connsiteY0" fmla="*/ 1067120 h 1106481"/>
                <a:gd name="connsiteX1" fmla="*/ 1219617 w 1219617"/>
                <a:gd name="connsiteY1" fmla="*/ 0 h 1106481"/>
                <a:gd name="connsiteX0" fmla="*/ 0 w 1219617"/>
                <a:gd name="connsiteY0" fmla="*/ 1067120 h 1067360"/>
                <a:gd name="connsiteX1" fmla="*/ 1219617 w 1219617"/>
                <a:gd name="connsiteY1" fmla="*/ 0 h 1067360"/>
                <a:gd name="connsiteX0" fmla="*/ 0 w 1219617"/>
                <a:gd name="connsiteY0" fmla="*/ 1067120 h 1067215"/>
                <a:gd name="connsiteX1" fmla="*/ 1219617 w 1219617"/>
                <a:gd name="connsiteY1" fmla="*/ 0 h 1067215"/>
                <a:gd name="connsiteX0" fmla="*/ 0 w 1219617"/>
                <a:gd name="connsiteY0" fmla="*/ 1008849 h 1008950"/>
                <a:gd name="connsiteX1" fmla="*/ 1219617 w 1219617"/>
                <a:gd name="connsiteY1" fmla="*/ 0 h 1008950"/>
                <a:gd name="connsiteX0" fmla="*/ 0 w 1219617"/>
                <a:gd name="connsiteY0" fmla="*/ 1008849 h 1008941"/>
                <a:gd name="connsiteX1" fmla="*/ 1219617 w 1219617"/>
                <a:gd name="connsiteY1" fmla="*/ 0 h 1008941"/>
                <a:gd name="connsiteX0" fmla="*/ 0 w 500601"/>
                <a:gd name="connsiteY0" fmla="*/ 0 h 1160639"/>
                <a:gd name="connsiteX1" fmla="*/ 500601 w 500601"/>
                <a:gd name="connsiteY1" fmla="*/ 1160356 h 1160639"/>
                <a:gd name="connsiteX0" fmla="*/ 2663 w 503264"/>
                <a:gd name="connsiteY0" fmla="*/ 0 h 1210159"/>
                <a:gd name="connsiteX1" fmla="*/ 503264 w 503264"/>
                <a:gd name="connsiteY1" fmla="*/ 1160356 h 1210159"/>
                <a:gd name="connsiteX0" fmla="*/ 0 w 678539"/>
                <a:gd name="connsiteY0" fmla="*/ 0 h 2602888"/>
                <a:gd name="connsiteX1" fmla="*/ 678539 w 678539"/>
                <a:gd name="connsiteY1" fmla="*/ 2602585 h 2602888"/>
                <a:gd name="connsiteX0" fmla="*/ 0 w 678539"/>
                <a:gd name="connsiteY0" fmla="*/ 0 h 2602585"/>
                <a:gd name="connsiteX1" fmla="*/ 678539 w 678539"/>
                <a:gd name="connsiteY1" fmla="*/ 2602585 h 2602585"/>
                <a:gd name="connsiteX0" fmla="*/ 0 w 678539"/>
                <a:gd name="connsiteY0" fmla="*/ 0 h 2602585"/>
                <a:gd name="connsiteX1" fmla="*/ 678539 w 678539"/>
                <a:gd name="connsiteY1" fmla="*/ 2602585 h 2602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8539" h="2602585">
                  <a:moveTo>
                    <a:pt x="0" y="0"/>
                  </a:moveTo>
                  <a:cubicBezTo>
                    <a:pt x="20267" y="1535458"/>
                    <a:pt x="288608" y="2189887"/>
                    <a:pt x="678539" y="2602585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8BBAFCD6-EAC9-8F96-965E-14464834D0E1}"/>
                    </a:ext>
                  </a:extLst>
                </p:cNvPr>
                <p:cNvSpPr txBox="1"/>
                <p:nvPr/>
              </p:nvSpPr>
              <p:spPr>
                <a:xfrm>
                  <a:off x="8490908" y="4386998"/>
                  <a:ext cx="157024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800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8BBAFCD6-EAC9-8F96-965E-14464834D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0908" y="4386998"/>
                  <a:ext cx="1570248" cy="523220"/>
                </a:xfrm>
                <a:prstGeom prst="rect">
                  <a:avLst/>
                </a:prstGeom>
                <a:blipFill>
                  <a:blip r:embed="rId34"/>
                  <a:stretch>
                    <a:fillRect l="-1613" t="-11905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6470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微分方程">
            <a:extLst>
              <a:ext uri="{FF2B5EF4-FFF2-40B4-BE49-F238E27FC236}">
                <a16:creationId xmlns:a16="http://schemas.microsoft.com/office/drawing/2014/main" id="{0C1B1648-A55F-2772-3F38-CB47C074A2AF}"/>
              </a:ext>
            </a:extLst>
          </p:cNvPr>
          <p:cNvSpPr txBox="1"/>
          <p:nvPr/>
        </p:nvSpPr>
        <p:spPr>
          <a:xfrm>
            <a:off x="5021014" y="5232921"/>
            <a:ext cx="2175972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微分方程</a:t>
            </a:r>
          </a:p>
        </p:txBody>
      </p:sp>
      <p:sp>
        <p:nvSpPr>
          <p:cNvPr id="73" name="频率特性">
            <a:extLst>
              <a:ext uri="{FF2B5EF4-FFF2-40B4-BE49-F238E27FC236}">
                <a16:creationId xmlns:a16="http://schemas.microsoft.com/office/drawing/2014/main" id="{5CECEBD5-66F5-7DC8-8D4F-B1688292373F}"/>
              </a:ext>
            </a:extLst>
          </p:cNvPr>
          <p:cNvSpPr txBox="1"/>
          <p:nvPr/>
        </p:nvSpPr>
        <p:spPr>
          <a:xfrm>
            <a:off x="7257924" y="2317381"/>
            <a:ext cx="2175972" cy="599123"/>
          </a:xfrm>
          <a:prstGeom prst="roundRect">
            <a:avLst>
              <a:gd name="adj" fmla="val 22661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频率特性</a:t>
            </a:r>
          </a:p>
        </p:txBody>
      </p:sp>
      <p:sp>
        <p:nvSpPr>
          <p:cNvPr id="74" name="传递函数">
            <a:extLst>
              <a:ext uri="{FF2B5EF4-FFF2-40B4-BE49-F238E27FC236}">
                <a16:creationId xmlns:a16="http://schemas.microsoft.com/office/drawing/2014/main" id="{16D06173-DE28-760A-C57C-57AC35DB45E0}"/>
              </a:ext>
            </a:extLst>
          </p:cNvPr>
          <p:cNvSpPr txBox="1"/>
          <p:nvPr/>
        </p:nvSpPr>
        <p:spPr>
          <a:xfrm>
            <a:off x="2756517" y="2336207"/>
            <a:ext cx="2175972" cy="599123"/>
          </a:xfrm>
          <a:prstGeom prst="roundRect">
            <a:avLst>
              <a:gd name="adj" fmla="val 22661"/>
            </a:avLst>
          </a:prstGeom>
          <a:solidFill>
            <a:srgbClr val="159F8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传递函数</a:t>
            </a:r>
          </a:p>
        </p:txBody>
      </p:sp>
      <p:sp>
        <p:nvSpPr>
          <p:cNvPr id="3" name="到频率">
            <a:extLst>
              <a:ext uri="{FF2B5EF4-FFF2-40B4-BE49-F238E27FC236}">
                <a16:creationId xmlns:a16="http://schemas.microsoft.com/office/drawing/2014/main" id="{C01738BF-7544-1453-CAB9-A4B915C5293D}"/>
              </a:ext>
            </a:extLst>
          </p:cNvPr>
          <p:cNvSpPr/>
          <p:nvPr/>
        </p:nvSpPr>
        <p:spPr>
          <a:xfrm rot="3592944">
            <a:off x="6636436" y="2872654"/>
            <a:ext cx="727100" cy="854732"/>
          </a:xfrm>
          <a:prstGeom prst="up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到传函">
            <a:extLst>
              <a:ext uri="{FF2B5EF4-FFF2-40B4-BE49-F238E27FC236}">
                <a16:creationId xmlns:a16="http://schemas.microsoft.com/office/drawing/2014/main" id="{D2B4A686-2E69-6B62-2952-ED9C6B23769C}"/>
              </a:ext>
            </a:extLst>
          </p:cNvPr>
          <p:cNvSpPr/>
          <p:nvPr/>
        </p:nvSpPr>
        <p:spPr>
          <a:xfrm rot="18055173">
            <a:off x="4828463" y="2870086"/>
            <a:ext cx="727100" cy="854732"/>
          </a:xfrm>
          <a:prstGeom prst="up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到微分">
            <a:extLst>
              <a:ext uri="{FF2B5EF4-FFF2-40B4-BE49-F238E27FC236}">
                <a16:creationId xmlns:a16="http://schemas.microsoft.com/office/drawing/2014/main" id="{D43C5F9D-9355-1329-DAD8-D6C1370F8D83}"/>
              </a:ext>
            </a:extLst>
          </p:cNvPr>
          <p:cNvSpPr/>
          <p:nvPr/>
        </p:nvSpPr>
        <p:spPr>
          <a:xfrm rot="10800000">
            <a:off x="5745451" y="4373822"/>
            <a:ext cx="727100" cy="854732"/>
          </a:xfrm>
          <a:prstGeom prst="upArrow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系统">
            <a:extLst>
              <a:ext uri="{FF2B5EF4-FFF2-40B4-BE49-F238E27FC236}">
                <a16:creationId xmlns:a16="http://schemas.microsoft.com/office/drawing/2014/main" id="{FFEE1836-F04D-308F-C2C9-5E2F01CE90A3}"/>
              </a:ext>
            </a:extLst>
          </p:cNvPr>
          <p:cNvSpPr/>
          <p:nvPr/>
        </p:nvSpPr>
        <p:spPr>
          <a:xfrm>
            <a:off x="5048120" y="2568295"/>
            <a:ext cx="2094411" cy="1805527"/>
          </a:xfrm>
          <a:prstGeom prst="triangle">
            <a:avLst/>
          </a:prstGeom>
          <a:solidFill>
            <a:srgbClr val="2980B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zh-CN" altLang="en-US" sz="2800" dirty="0"/>
              <a:t>系统</a:t>
            </a:r>
          </a:p>
        </p:txBody>
      </p:sp>
      <p:sp>
        <p:nvSpPr>
          <p:cNvPr id="6" name="sjw">
            <a:extLst>
              <a:ext uri="{FF2B5EF4-FFF2-40B4-BE49-F238E27FC236}">
                <a16:creationId xmlns:a16="http://schemas.microsoft.com/office/drawing/2014/main" id="{A74C650D-59BF-9AB5-A623-51FA1D3CE22D}"/>
              </a:ext>
            </a:extLst>
          </p:cNvPr>
          <p:cNvSpPr/>
          <p:nvPr/>
        </p:nvSpPr>
        <p:spPr>
          <a:xfrm>
            <a:off x="4489399" y="1649451"/>
            <a:ext cx="3311370" cy="1139040"/>
          </a:xfrm>
          <a:prstGeom prst="arc">
            <a:avLst>
              <a:gd name="adj1" fmla="val 11487818"/>
              <a:gd name="adj2" fmla="val 20947221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ds">
            <a:extLst>
              <a:ext uri="{FF2B5EF4-FFF2-40B4-BE49-F238E27FC236}">
                <a16:creationId xmlns:a16="http://schemas.microsoft.com/office/drawing/2014/main" id="{789BAEDC-3FC7-9782-7527-0819159472DA}"/>
              </a:ext>
            </a:extLst>
          </p:cNvPr>
          <p:cNvSpPr/>
          <p:nvPr/>
        </p:nvSpPr>
        <p:spPr>
          <a:xfrm rot="14723636">
            <a:off x="2938071" y="3637289"/>
            <a:ext cx="3311370" cy="1139040"/>
          </a:xfrm>
          <a:prstGeom prst="arc">
            <a:avLst>
              <a:gd name="adj1" fmla="val 11487818"/>
              <a:gd name="adj2" fmla="val 20947221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jd">
            <a:extLst>
              <a:ext uri="{FF2B5EF4-FFF2-40B4-BE49-F238E27FC236}">
                <a16:creationId xmlns:a16="http://schemas.microsoft.com/office/drawing/2014/main" id="{FEC2C903-5499-598A-BFED-C7965ECD34B2}"/>
              </a:ext>
            </a:extLst>
          </p:cNvPr>
          <p:cNvSpPr/>
          <p:nvPr/>
        </p:nvSpPr>
        <p:spPr>
          <a:xfrm rot="6876364" flipH="1">
            <a:off x="6006282" y="3615940"/>
            <a:ext cx="3311370" cy="1139040"/>
          </a:xfrm>
          <a:prstGeom prst="arc">
            <a:avLst>
              <a:gd name="adj1" fmla="val 11487818"/>
              <a:gd name="adj2" fmla="val 20947221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Gs">
                <a:extLst>
                  <a:ext uri="{FF2B5EF4-FFF2-40B4-BE49-F238E27FC236}">
                    <a16:creationId xmlns:a16="http://schemas.microsoft.com/office/drawing/2014/main" id="{26247EB7-0989-37FD-78F7-A5F1D073465A}"/>
                  </a:ext>
                </a:extLst>
              </p:cNvPr>
              <p:cNvSpPr txBox="1"/>
              <p:nvPr/>
            </p:nvSpPr>
            <p:spPr>
              <a:xfrm>
                <a:off x="1652795" y="2374158"/>
                <a:ext cx="11046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Gs">
                <a:extLst>
                  <a:ext uri="{FF2B5EF4-FFF2-40B4-BE49-F238E27FC236}">
                    <a16:creationId xmlns:a16="http://schemas.microsoft.com/office/drawing/2014/main" id="{26247EB7-0989-37FD-78F7-A5F1D073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95" y="2374158"/>
                <a:ext cx="1104609" cy="523220"/>
              </a:xfrm>
              <a:prstGeom prst="rect">
                <a:avLst/>
              </a:prstGeom>
              <a:blipFill>
                <a:blip r:embed="rId3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sd">
                <a:extLst>
                  <a:ext uri="{FF2B5EF4-FFF2-40B4-BE49-F238E27FC236}">
                    <a16:creationId xmlns:a16="http://schemas.microsoft.com/office/drawing/2014/main" id="{BBEAD27C-33E1-FE99-0E08-1206569F5BEF}"/>
                  </a:ext>
                </a:extLst>
              </p:cNvPr>
              <p:cNvSpPr txBox="1"/>
              <p:nvPr/>
            </p:nvSpPr>
            <p:spPr>
              <a:xfrm>
                <a:off x="2655501" y="3797430"/>
                <a:ext cx="1306289" cy="944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sd">
                <a:extLst>
                  <a:ext uri="{FF2B5EF4-FFF2-40B4-BE49-F238E27FC236}">
                    <a16:creationId xmlns:a16="http://schemas.microsoft.com/office/drawing/2014/main" id="{BBEAD27C-33E1-FE99-0E08-1206569F5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501" y="3797430"/>
                <a:ext cx="1306289" cy="944169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Gjw">
                <a:extLst>
                  <a:ext uri="{FF2B5EF4-FFF2-40B4-BE49-F238E27FC236}">
                    <a16:creationId xmlns:a16="http://schemas.microsoft.com/office/drawing/2014/main" id="{6030AD7A-03E7-DDE6-4B65-D1ACE1D5096A}"/>
                  </a:ext>
                </a:extLst>
              </p:cNvPr>
              <p:cNvSpPr txBox="1"/>
              <p:nvPr/>
            </p:nvSpPr>
            <p:spPr>
              <a:xfrm>
                <a:off x="9522985" y="2355332"/>
                <a:ext cx="13062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Gjw">
                <a:extLst>
                  <a:ext uri="{FF2B5EF4-FFF2-40B4-BE49-F238E27FC236}">
                    <a16:creationId xmlns:a16="http://schemas.microsoft.com/office/drawing/2014/main" id="{6030AD7A-03E7-DDE6-4B65-D1ACE1D50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2985" y="2355332"/>
                <a:ext cx="1306289" cy="52322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djw">
                <a:extLst>
                  <a:ext uri="{FF2B5EF4-FFF2-40B4-BE49-F238E27FC236}">
                    <a16:creationId xmlns:a16="http://schemas.microsoft.com/office/drawing/2014/main" id="{39483589-5533-5C20-EE76-5963BB515726}"/>
                  </a:ext>
                </a:extLst>
              </p:cNvPr>
              <p:cNvSpPr txBox="1"/>
              <p:nvPr/>
            </p:nvSpPr>
            <p:spPr>
              <a:xfrm>
                <a:off x="8256211" y="3814229"/>
                <a:ext cx="1499767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djw">
                <a:extLst>
                  <a:ext uri="{FF2B5EF4-FFF2-40B4-BE49-F238E27FC236}">
                    <a16:creationId xmlns:a16="http://schemas.microsoft.com/office/drawing/2014/main" id="{39483589-5533-5C20-EE76-5963BB515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11" y="3814229"/>
                <a:ext cx="1499767" cy="910570"/>
              </a:xfrm>
              <a:prstGeom prst="rect">
                <a:avLst/>
              </a:prstGeom>
              <a:blipFill>
                <a:blip r:embed="rId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sjw">
                <a:extLst>
                  <a:ext uri="{FF2B5EF4-FFF2-40B4-BE49-F238E27FC236}">
                    <a16:creationId xmlns:a16="http://schemas.microsoft.com/office/drawing/2014/main" id="{0A10F237-4473-17A6-2841-95C521257662}"/>
                  </a:ext>
                </a:extLst>
              </p:cNvPr>
              <p:cNvSpPr txBox="1"/>
              <p:nvPr/>
            </p:nvSpPr>
            <p:spPr>
              <a:xfrm>
                <a:off x="5421923" y="1074253"/>
                <a:ext cx="14997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sjw">
                <a:extLst>
                  <a:ext uri="{FF2B5EF4-FFF2-40B4-BE49-F238E27FC236}">
                    <a16:creationId xmlns:a16="http://schemas.microsoft.com/office/drawing/2014/main" id="{0A10F237-4473-17A6-2841-95C521257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923" y="1074253"/>
                <a:ext cx="1499767" cy="52322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系统模型间的关系</a:t>
            </a:r>
          </a:p>
        </p:txBody>
      </p:sp>
    </p:spTree>
    <p:extLst>
      <p:ext uri="{BB962C8B-B14F-4D97-AF65-F5344CB8AC3E}">
        <p14:creationId xmlns:p14="http://schemas.microsoft.com/office/powerpoint/2010/main" val="4229445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3" grpId="0" animBg="1"/>
      <p:bldP spid="70" grpId="0" animBg="1"/>
      <p:bldP spid="71" grpId="0" animBg="1"/>
      <p:bldP spid="6" grpId="0" animBg="1"/>
      <p:bldP spid="78" grpId="0" animBg="1"/>
      <p:bldP spid="79" grpId="0" animBg="1"/>
      <p:bldP spid="81" grpId="0"/>
      <p:bldP spid="83" grpId="0"/>
      <p:bldP spid="85" grpId="0"/>
      <p:bldP spid="106" grpId="0"/>
      <p:bldP spid="113" grpId="0"/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78539" y="352651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对数频率特性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D92FF8B-4005-C1EA-F4FC-F16D6DC5EF35}"/>
              </a:ext>
            </a:extLst>
          </p:cNvPr>
          <p:cNvGrpSpPr/>
          <p:nvPr/>
        </p:nvGrpSpPr>
        <p:grpSpPr>
          <a:xfrm>
            <a:off x="621046" y="1007428"/>
            <a:ext cx="10706565" cy="5655581"/>
            <a:chOff x="621046" y="1007428"/>
            <a:chExt cx="10706565" cy="5655581"/>
          </a:xfrm>
        </p:grpSpPr>
        <p:cxnSp>
          <p:nvCxnSpPr>
            <p:cNvPr id="73" name="辅助线">
              <a:extLst>
                <a:ext uri="{FF2B5EF4-FFF2-40B4-BE49-F238E27FC236}">
                  <a16:creationId xmlns:a16="http://schemas.microsoft.com/office/drawing/2014/main" id="{30D7CC57-6838-56A8-BC08-A571349AC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辅助线">
              <a:extLst>
                <a:ext uri="{FF2B5EF4-FFF2-40B4-BE49-F238E27FC236}">
                  <a16:creationId xmlns:a16="http://schemas.microsoft.com/office/drawing/2014/main" id="{8BB83D2A-053C-6B38-2E01-57FB83881A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辅助线">
              <a:extLst>
                <a:ext uri="{FF2B5EF4-FFF2-40B4-BE49-F238E27FC236}">
                  <a16:creationId xmlns:a16="http://schemas.microsoft.com/office/drawing/2014/main" id="{888B89FC-7611-9478-0646-5784FA2A2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辅助线">
              <a:extLst>
                <a:ext uri="{FF2B5EF4-FFF2-40B4-BE49-F238E27FC236}">
                  <a16:creationId xmlns:a16="http://schemas.microsoft.com/office/drawing/2014/main" id="{8F753CBC-EDAA-B136-82FB-3DB2835EA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辅助线">
              <a:extLst>
                <a:ext uri="{FF2B5EF4-FFF2-40B4-BE49-F238E27FC236}">
                  <a16:creationId xmlns:a16="http://schemas.microsoft.com/office/drawing/2014/main" id="{399CF523-2EE8-7443-886C-453A938FF8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辅助线">
              <a:extLst>
                <a:ext uri="{FF2B5EF4-FFF2-40B4-BE49-F238E27FC236}">
                  <a16:creationId xmlns:a16="http://schemas.microsoft.com/office/drawing/2014/main" id="{5AFF6ED4-7B33-719A-5D6A-02C1695B4F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辅助线">
              <a:extLst>
                <a:ext uri="{FF2B5EF4-FFF2-40B4-BE49-F238E27FC236}">
                  <a16:creationId xmlns:a16="http://schemas.microsoft.com/office/drawing/2014/main" id="{7836E824-580A-BD2F-233A-FE0864455E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辅助线">
              <a:extLst>
                <a:ext uri="{FF2B5EF4-FFF2-40B4-BE49-F238E27FC236}">
                  <a16:creationId xmlns:a16="http://schemas.microsoft.com/office/drawing/2014/main" id="{C2328E2D-E647-BFA0-93F6-7C396981E6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辅助线">
              <a:extLst>
                <a:ext uri="{FF2B5EF4-FFF2-40B4-BE49-F238E27FC236}">
                  <a16:creationId xmlns:a16="http://schemas.microsoft.com/office/drawing/2014/main" id="{A1BE9427-3275-218C-6752-601983E8E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辅助线">
              <a:extLst>
                <a:ext uri="{FF2B5EF4-FFF2-40B4-BE49-F238E27FC236}">
                  <a16:creationId xmlns:a16="http://schemas.microsoft.com/office/drawing/2014/main" id="{1374DF28-1A42-287C-804A-67ABA7F17D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D3C10D9-71AC-143E-6677-1651C0F2005B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97" name="辅助线">
                <a:extLst>
                  <a:ext uri="{FF2B5EF4-FFF2-40B4-BE49-F238E27FC236}">
                    <a16:creationId xmlns:a16="http://schemas.microsoft.com/office/drawing/2014/main" id="{8C13FCC0-AC4A-7057-DE32-452A03897C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辅助线">
                <a:extLst>
                  <a:ext uri="{FF2B5EF4-FFF2-40B4-BE49-F238E27FC236}">
                    <a16:creationId xmlns:a16="http://schemas.microsoft.com/office/drawing/2014/main" id="{8EACE3CA-D50D-EDCA-E0C9-694C12E44C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辅助线">
                <a:extLst>
                  <a:ext uri="{FF2B5EF4-FFF2-40B4-BE49-F238E27FC236}">
                    <a16:creationId xmlns:a16="http://schemas.microsoft.com/office/drawing/2014/main" id="{30879D73-C8D5-C058-72D3-577F07197F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辅助线">
                <a:extLst>
                  <a:ext uri="{FF2B5EF4-FFF2-40B4-BE49-F238E27FC236}">
                    <a16:creationId xmlns:a16="http://schemas.microsoft.com/office/drawing/2014/main" id="{AE2DF094-EA72-8301-FCBC-31D5AE9CB0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14DC28C0-4189-991D-F44C-FEDC0A777ECA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04" name="辅助线">
                <a:extLst>
                  <a:ext uri="{FF2B5EF4-FFF2-40B4-BE49-F238E27FC236}">
                    <a16:creationId xmlns:a16="http://schemas.microsoft.com/office/drawing/2014/main" id="{439BE5B5-5F8B-38D9-7B7F-338CCE6062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辅助线">
                <a:extLst>
                  <a:ext uri="{FF2B5EF4-FFF2-40B4-BE49-F238E27FC236}">
                    <a16:creationId xmlns:a16="http://schemas.microsoft.com/office/drawing/2014/main" id="{122D67AA-AB86-EE2E-F2BA-BF76A330C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辅助线">
                <a:extLst>
                  <a:ext uri="{FF2B5EF4-FFF2-40B4-BE49-F238E27FC236}">
                    <a16:creationId xmlns:a16="http://schemas.microsoft.com/office/drawing/2014/main" id="{74B772F2-D591-BA00-3E78-D1311C8736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60F48A08-EE19-0F40-7135-B6392CAEB24B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25" name="辅助线">
                <a:extLst>
                  <a:ext uri="{FF2B5EF4-FFF2-40B4-BE49-F238E27FC236}">
                    <a16:creationId xmlns:a16="http://schemas.microsoft.com/office/drawing/2014/main" id="{72F9FFF5-7D66-4555-0A07-032CEC4FA2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辅助线">
                <a:extLst>
                  <a:ext uri="{FF2B5EF4-FFF2-40B4-BE49-F238E27FC236}">
                    <a16:creationId xmlns:a16="http://schemas.microsoft.com/office/drawing/2014/main" id="{13A65D4E-AB25-1033-577B-35767802F6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辅助线">
                <a:extLst>
                  <a:ext uri="{FF2B5EF4-FFF2-40B4-BE49-F238E27FC236}">
                    <a16:creationId xmlns:a16="http://schemas.microsoft.com/office/drawing/2014/main" id="{9D28B563-1799-5C82-0BF8-03CACD9B0A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10BC2831-F260-18DE-8C28-94A5E1392DC4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40" name="辅助线">
                <a:extLst>
                  <a:ext uri="{FF2B5EF4-FFF2-40B4-BE49-F238E27FC236}">
                    <a16:creationId xmlns:a16="http://schemas.microsoft.com/office/drawing/2014/main" id="{5F1C07FE-2D39-5E73-93A6-9148D5CAB5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辅助线">
                <a:extLst>
                  <a:ext uri="{FF2B5EF4-FFF2-40B4-BE49-F238E27FC236}">
                    <a16:creationId xmlns:a16="http://schemas.microsoft.com/office/drawing/2014/main" id="{6B8D994B-DE3D-5D08-58BF-A98ED2F6C3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辅助线">
                <a:extLst>
                  <a:ext uri="{FF2B5EF4-FFF2-40B4-BE49-F238E27FC236}">
                    <a16:creationId xmlns:a16="http://schemas.microsoft.com/office/drawing/2014/main" id="{860547D4-A44D-542A-3BC1-C2C03A20BF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C557735A-6A4A-CA2A-76A4-63EA469988E8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47" name="辅助线">
                <a:extLst>
                  <a:ext uri="{FF2B5EF4-FFF2-40B4-BE49-F238E27FC236}">
                    <a16:creationId xmlns:a16="http://schemas.microsoft.com/office/drawing/2014/main" id="{6A976905-3EB9-4564-ACF6-6404B210C5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辅助线">
                <a:extLst>
                  <a:ext uri="{FF2B5EF4-FFF2-40B4-BE49-F238E27FC236}">
                    <a16:creationId xmlns:a16="http://schemas.microsoft.com/office/drawing/2014/main" id="{D642C6D5-8DCE-1693-D0D2-5552E01907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辅助线">
                <a:extLst>
                  <a:ext uri="{FF2B5EF4-FFF2-40B4-BE49-F238E27FC236}">
                    <a16:creationId xmlns:a16="http://schemas.microsoft.com/office/drawing/2014/main" id="{EFF73F39-6FF4-BC95-52B8-4AD8FD90CF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98795972-9683-4591-F631-13C59B3437E0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52" name="辅助线">
                <a:extLst>
                  <a:ext uri="{FF2B5EF4-FFF2-40B4-BE49-F238E27FC236}">
                    <a16:creationId xmlns:a16="http://schemas.microsoft.com/office/drawing/2014/main" id="{E568D715-0C31-0EED-F656-D9E8B78647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辅助线">
                <a:extLst>
                  <a:ext uri="{FF2B5EF4-FFF2-40B4-BE49-F238E27FC236}">
                    <a16:creationId xmlns:a16="http://schemas.microsoft.com/office/drawing/2014/main" id="{1577631D-7780-D306-654B-5A60FC88AA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辅助线">
                <a:extLst>
                  <a:ext uri="{FF2B5EF4-FFF2-40B4-BE49-F238E27FC236}">
                    <a16:creationId xmlns:a16="http://schemas.microsoft.com/office/drawing/2014/main" id="{9093BEF7-004E-BA28-4091-7C2644228F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087D75E6-F2A5-0FE0-CE49-476387FDE4AF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157" name="辅助线">
                <a:extLst>
                  <a:ext uri="{FF2B5EF4-FFF2-40B4-BE49-F238E27FC236}">
                    <a16:creationId xmlns:a16="http://schemas.microsoft.com/office/drawing/2014/main" id="{49B83CCC-EA10-1C4B-03CA-D7E754D4BD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辅助线">
                <a:extLst>
                  <a:ext uri="{FF2B5EF4-FFF2-40B4-BE49-F238E27FC236}">
                    <a16:creationId xmlns:a16="http://schemas.microsoft.com/office/drawing/2014/main" id="{8944176D-B5B9-4C2D-5BD1-05692F8299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辅助线">
                <a:extLst>
                  <a:ext uri="{FF2B5EF4-FFF2-40B4-BE49-F238E27FC236}">
                    <a16:creationId xmlns:a16="http://schemas.microsoft.com/office/drawing/2014/main" id="{41179B2D-2DAE-B2FE-9CD6-C5CADCF82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598EA7AF-4030-9425-B5C0-7D590DC432E0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162" name="辅助线">
                <a:extLst>
                  <a:ext uri="{FF2B5EF4-FFF2-40B4-BE49-F238E27FC236}">
                    <a16:creationId xmlns:a16="http://schemas.microsoft.com/office/drawing/2014/main" id="{7A67189A-AF78-CFE7-E36E-8716F9A62B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辅助线">
                <a:extLst>
                  <a:ext uri="{FF2B5EF4-FFF2-40B4-BE49-F238E27FC236}">
                    <a16:creationId xmlns:a16="http://schemas.microsoft.com/office/drawing/2014/main" id="{5249DABC-BFCC-572C-EAD3-2AD51975CE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辅助线">
                <a:extLst>
                  <a:ext uri="{FF2B5EF4-FFF2-40B4-BE49-F238E27FC236}">
                    <a16:creationId xmlns:a16="http://schemas.microsoft.com/office/drawing/2014/main" id="{FE015975-A97B-AE32-555C-42EF4AB65E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F953502D-1038-38E4-12CE-697AF6C89E32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167" name="辅助线">
                <a:extLst>
                  <a:ext uri="{FF2B5EF4-FFF2-40B4-BE49-F238E27FC236}">
                    <a16:creationId xmlns:a16="http://schemas.microsoft.com/office/drawing/2014/main" id="{F7CD2E45-4509-084E-FCD5-696DD64AE3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辅助线">
                <a:extLst>
                  <a:ext uri="{FF2B5EF4-FFF2-40B4-BE49-F238E27FC236}">
                    <a16:creationId xmlns:a16="http://schemas.microsoft.com/office/drawing/2014/main" id="{9E33FD17-C6F3-FE8B-7FB9-EA658D1A8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辅助线">
                <a:extLst>
                  <a:ext uri="{FF2B5EF4-FFF2-40B4-BE49-F238E27FC236}">
                    <a16:creationId xmlns:a16="http://schemas.microsoft.com/office/drawing/2014/main" id="{F29DBABF-E67A-30E7-FB4D-7CE20F3DC8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/>
                <p:nvPr/>
              </p:nvSpPr>
              <p:spPr>
                <a:xfrm>
                  <a:off x="1488413" y="1050911"/>
                  <a:ext cx="140688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800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3" y="1050911"/>
                  <a:ext cx="1406887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2679" t="-11905" r="-2679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523220"/>
                </a:xfrm>
                <a:prstGeom prst="rect">
                  <a:avLst/>
                </a:prstGeom>
                <a:blipFill>
                  <a:blip r:embed="rId4"/>
                  <a:stretch>
                    <a:fillRect r="-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3571" r="-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5357" r="-339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5357" r="-339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5357" r="-339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523220"/>
                </a:xfrm>
                <a:prstGeom prst="rect">
                  <a:avLst/>
                </a:prstGeom>
                <a:blipFill>
                  <a:blip r:embed="rId10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523220"/>
                </a:xfrm>
                <a:prstGeom prst="rect">
                  <a:avLst/>
                </a:prstGeom>
                <a:blipFill>
                  <a:blip r:embed="rId11"/>
                  <a:stretch>
                    <a:fillRect r="-6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6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523220"/>
                </a:xfrm>
                <a:prstGeom prst="rect">
                  <a:avLst/>
                </a:prstGeom>
                <a:blipFill>
                  <a:blip r:embed="rId13"/>
                  <a:stretch>
                    <a:fillRect r="-7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/>
                <p:nvPr/>
              </p:nvSpPr>
              <p:spPr>
                <a:xfrm>
                  <a:off x="1162826" y="6139789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.1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89"/>
                  <a:ext cx="703715" cy="523220"/>
                </a:xfrm>
                <a:prstGeom prst="rect">
                  <a:avLst/>
                </a:prstGeom>
                <a:blipFill>
                  <a:blip r:embed="rId14"/>
                  <a:stretch>
                    <a:fillRect r="-17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/>
                <p:nvPr/>
              </p:nvSpPr>
              <p:spPr>
                <a:xfrm>
                  <a:off x="6914552" y="6129973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3"/>
                  <a:ext cx="703715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523220"/>
                </a:xfrm>
                <a:prstGeom prst="rect">
                  <a:avLst/>
                </a:prstGeom>
                <a:blipFill>
                  <a:blip r:embed="rId17"/>
                  <a:stretch>
                    <a:fillRect l="-5357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Gs">
                  <a:extLst>
                    <a:ext uri="{FF2B5EF4-FFF2-40B4-BE49-F238E27FC236}">
                      <a16:creationId xmlns:a16="http://schemas.microsoft.com/office/drawing/2014/main" id="{A87949AA-7D80-C7F5-825F-FEFA3D322CB9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Gs">
                  <a:extLst>
                    <a:ext uri="{FF2B5EF4-FFF2-40B4-BE49-F238E27FC236}">
                      <a16:creationId xmlns:a16="http://schemas.microsoft.com/office/drawing/2014/main" id="{A87949AA-7D80-C7F5-825F-FEFA3D322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523220"/>
                </a:xfrm>
                <a:prstGeom prst="rect">
                  <a:avLst/>
                </a:prstGeom>
                <a:blipFill>
                  <a:blip r:embed="rId23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523220"/>
                </a:xfrm>
                <a:prstGeom prst="rect">
                  <a:avLst/>
                </a:prstGeom>
                <a:blipFill>
                  <a:blip r:embed="rId24"/>
                  <a:stretch>
                    <a:fillRect r="-228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523220"/>
                </a:xfrm>
                <a:prstGeom prst="rect">
                  <a:avLst/>
                </a:prstGeom>
                <a:blipFill>
                  <a:blip r:embed="rId25"/>
                  <a:stretch>
                    <a:fillRect r="-228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523220"/>
                </a:xfrm>
                <a:prstGeom prst="rect">
                  <a:avLst/>
                </a:prstGeom>
                <a:blipFill>
                  <a:blip r:embed="rId26"/>
                  <a:stretch>
                    <a:fillRect r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523220"/>
                </a:xfrm>
                <a:prstGeom prst="rect">
                  <a:avLst/>
                </a:prstGeom>
                <a:blipFill>
                  <a:blip r:embed="rId27"/>
                  <a:stretch>
                    <a:fillRect l="-8772" r="-50877"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2657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78538" y="352651"/>
            <a:ext cx="5140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对数频率特性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D92FF8B-4005-C1EA-F4FC-F16D6DC5EF35}"/>
              </a:ext>
            </a:extLst>
          </p:cNvPr>
          <p:cNvGrpSpPr/>
          <p:nvPr/>
        </p:nvGrpSpPr>
        <p:grpSpPr>
          <a:xfrm>
            <a:off x="5370994" y="980728"/>
            <a:ext cx="6698295" cy="3008113"/>
            <a:chOff x="621046" y="1007428"/>
            <a:chExt cx="10706565" cy="5501693"/>
          </a:xfrm>
        </p:grpSpPr>
        <p:cxnSp>
          <p:nvCxnSpPr>
            <p:cNvPr id="73" name="辅助线">
              <a:extLst>
                <a:ext uri="{FF2B5EF4-FFF2-40B4-BE49-F238E27FC236}">
                  <a16:creationId xmlns:a16="http://schemas.microsoft.com/office/drawing/2014/main" id="{30D7CC57-6838-56A8-BC08-A571349AC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1628800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辅助线">
              <a:extLst>
                <a:ext uri="{FF2B5EF4-FFF2-40B4-BE49-F238E27FC236}">
                  <a16:creationId xmlns:a16="http://schemas.microsoft.com/office/drawing/2014/main" id="{8BB83D2A-053C-6B38-2E01-57FB83881A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13285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辅助线">
              <a:extLst>
                <a:ext uri="{FF2B5EF4-FFF2-40B4-BE49-F238E27FC236}">
                  <a16:creationId xmlns:a16="http://schemas.microsoft.com/office/drawing/2014/main" id="{888B89FC-7611-9478-0646-5784FA2A2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263691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辅助线">
              <a:extLst>
                <a:ext uri="{FF2B5EF4-FFF2-40B4-BE49-F238E27FC236}">
                  <a16:creationId xmlns:a16="http://schemas.microsoft.com/office/drawing/2014/main" id="{8F753CBC-EDAA-B136-82FB-3DB2835EA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14096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辅助线">
              <a:extLst>
                <a:ext uri="{FF2B5EF4-FFF2-40B4-BE49-F238E27FC236}">
                  <a16:creationId xmlns:a16="http://schemas.microsoft.com/office/drawing/2014/main" id="{399CF523-2EE8-7443-886C-453A938FF8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3645024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辅助线">
              <a:extLst>
                <a:ext uri="{FF2B5EF4-FFF2-40B4-BE49-F238E27FC236}">
                  <a16:creationId xmlns:a16="http://schemas.microsoft.com/office/drawing/2014/main" id="{5AFF6ED4-7B33-719A-5D6A-02C1695B4F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149080"/>
              <a:ext cx="972108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辅助线">
              <a:extLst>
                <a:ext uri="{FF2B5EF4-FFF2-40B4-BE49-F238E27FC236}">
                  <a16:creationId xmlns:a16="http://schemas.microsoft.com/office/drawing/2014/main" id="{7836E824-580A-BD2F-233A-FE0864455E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4653136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辅助线">
              <a:extLst>
                <a:ext uri="{FF2B5EF4-FFF2-40B4-BE49-F238E27FC236}">
                  <a16:creationId xmlns:a16="http://schemas.microsoft.com/office/drawing/2014/main" id="{C2328E2D-E647-BFA0-93F6-7C396981E6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157192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辅助线">
              <a:extLst>
                <a:ext uri="{FF2B5EF4-FFF2-40B4-BE49-F238E27FC236}">
                  <a16:creationId xmlns:a16="http://schemas.microsoft.com/office/drawing/2014/main" id="{A1BE9427-3275-218C-6752-601983E8E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5661248"/>
              <a:ext cx="8712968" cy="0"/>
            </a:xfrm>
            <a:prstGeom prst="straightConnector1">
              <a:avLst/>
            </a:prstGeom>
            <a:ln w="2540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辅助线">
              <a:extLst>
                <a:ext uri="{FF2B5EF4-FFF2-40B4-BE49-F238E27FC236}">
                  <a16:creationId xmlns:a16="http://schemas.microsoft.com/office/drawing/2014/main" id="{1374DF28-1A42-287C-804A-67ABA7F17D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6694" y="6165304"/>
              <a:ext cx="87129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D3C10D9-71AC-143E-6677-1651C0F2005B}"/>
                </a:ext>
              </a:extLst>
            </p:cNvPr>
            <p:cNvGrpSpPr/>
            <p:nvPr/>
          </p:nvGrpSpPr>
          <p:grpSpPr>
            <a:xfrm>
              <a:off x="1486694" y="1052736"/>
              <a:ext cx="8707412" cy="5112568"/>
              <a:chOff x="1486694" y="1052736"/>
              <a:chExt cx="8707412" cy="5112568"/>
            </a:xfrm>
          </p:grpSpPr>
          <p:cxnSp>
            <p:nvCxnSpPr>
              <p:cNvPr id="97" name="辅助线">
                <a:extLst>
                  <a:ext uri="{FF2B5EF4-FFF2-40B4-BE49-F238E27FC236}">
                    <a16:creationId xmlns:a16="http://schemas.microsoft.com/office/drawing/2014/main" id="{8C13FCC0-AC4A-7057-DE32-452A03897C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86694" y="1052736"/>
                <a:ext cx="0" cy="511256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辅助线">
                <a:extLst>
                  <a:ext uri="{FF2B5EF4-FFF2-40B4-BE49-F238E27FC236}">
                    <a16:creationId xmlns:a16="http://schemas.microsoft.com/office/drawing/2014/main" id="{8EACE3CA-D50D-EDCA-E0C9-694C12E44C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辅助线">
                <a:extLst>
                  <a:ext uri="{FF2B5EF4-FFF2-40B4-BE49-F238E27FC236}">
                    <a16:creationId xmlns:a16="http://schemas.microsoft.com/office/drawing/2014/main" id="{30879D73-C8D5-C058-72D3-577F07197F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辅助线">
                <a:extLst>
                  <a:ext uri="{FF2B5EF4-FFF2-40B4-BE49-F238E27FC236}">
                    <a16:creationId xmlns:a16="http://schemas.microsoft.com/office/drawing/2014/main" id="{AE2DF094-EA72-8301-FCBC-31D5AE9CB0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14DC28C0-4189-991D-F44C-FEDC0A777ECA}"/>
                </a:ext>
              </a:extLst>
            </p:cNvPr>
            <p:cNvGrpSpPr/>
            <p:nvPr/>
          </p:nvGrpSpPr>
          <p:grpSpPr>
            <a:xfrm>
              <a:off x="4306471" y="1628800"/>
              <a:ext cx="5804941" cy="4536504"/>
              <a:chOff x="4389165" y="1628800"/>
              <a:chExt cx="5804941" cy="4536504"/>
            </a:xfrm>
          </p:grpSpPr>
          <p:cxnSp>
            <p:nvCxnSpPr>
              <p:cNvPr id="104" name="辅助线">
                <a:extLst>
                  <a:ext uri="{FF2B5EF4-FFF2-40B4-BE49-F238E27FC236}">
                    <a16:creationId xmlns:a16="http://schemas.microsoft.com/office/drawing/2014/main" id="{439BE5B5-5F8B-38D9-7B7F-338CCE6062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辅助线">
                <a:extLst>
                  <a:ext uri="{FF2B5EF4-FFF2-40B4-BE49-F238E27FC236}">
                    <a16:creationId xmlns:a16="http://schemas.microsoft.com/office/drawing/2014/main" id="{122D67AA-AB86-EE2E-F2BA-BF76A330C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辅助线">
                <a:extLst>
                  <a:ext uri="{FF2B5EF4-FFF2-40B4-BE49-F238E27FC236}">
                    <a16:creationId xmlns:a16="http://schemas.microsoft.com/office/drawing/2014/main" id="{74B772F2-D591-BA00-3E78-D1311C8736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60F48A08-EE19-0F40-7135-B6392CAEB24B}"/>
                </a:ext>
              </a:extLst>
            </p:cNvPr>
            <p:cNvGrpSpPr/>
            <p:nvPr/>
          </p:nvGrpSpPr>
          <p:grpSpPr>
            <a:xfrm>
              <a:off x="4203727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25" name="辅助线">
                <a:extLst>
                  <a:ext uri="{FF2B5EF4-FFF2-40B4-BE49-F238E27FC236}">
                    <a16:creationId xmlns:a16="http://schemas.microsoft.com/office/drawing/2014/main" id="{72F9FFF5-7D66-4555-0A07-032CEC4FA2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辅助线">
                <a:extLst>
                  <a:ext uri="{FF2B5EF4-FFF2-40B4-BE49-F238E27FC236}">
                    <a16:creationId xmlns:a16="http://schemas.microsoft.com/office/drawing/2014/main" id="{13A65D4E-AB25-1033-577B-35767802F6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辅助线">
                <a:extLst>
                  <a:ext uri="{FF2B5EF4-FFF2-40B4-BE49-F238E27FC236}">
                    <a16:creationId xmlns:a16="http://schemas.microsoft.com/office/drawing/2014/main" id="{9D28B563-1799-5C82-0BF8-03CACD9B0A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10BC2831-F260-18DE-8C28-94A5E1392DC4}"/>
                </a:ext>
              </a:extLst>
            </p:cNvPr>
            <p:cNvGrpSpPr/>
            <p:nvPr/>
          </p:nvGrpSpPr>
          <p:grpSpPr>
            <a:xfrm>
              <a:off x="406022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40" name="辅助线">
                <a:extLst>
                  <a:ext uri="{FF2B5EF4-FFF2-40B4-BE49-F238E27FC236}">
                    <a16:creationId xmlns:a16="http://schemas.microsoft.com/office/drawing/2014/main" id="{5F1C07FE-2D39-5E73-93A6-9148D5CAB5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辅助线">
                <a:extLst>
                  <a:ext uri="{FF2B5EF4-FFF2-40B4-BE49-F238E27FC236}">
                    <a16:creationId xmlns:a16="http://schemas.microsoft.com/office/drawing/2014/main" id="{6B8D994B-DE3D-5D08-58BF-A98ED2F6C3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辅助线">
                <a:extLst>
                  <a:ext uri="{FF2B5EF4-FFF2-40B4-BE49-F238E27FC236}">
                    <a16:creationId xmlns:a16="http://schemas.microsoft.com/office/drawing/2014/main" id="{860547D4-A44D-542A-3BC1-C2C03A20BF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C557735A-6A4A-CA2A-76A4-63EA469988E8}"/>
                </a:ext>
              </a:extLst>
            </p:cNvPr>
            <p:cNvGrpSpPr/>
            <p:nvPr/>
          </p:nvGrpSpPr>
          <p:grpSpPr>
            <a:xfrm>
              <a:off x="3874789" y="1641500"/>
              <a:ext cx="5804941" cy="4536504"/>
              <a:chOff x="4389165" y="1628800"/>
              <a:chExt cx="5804941" cy="4536504"/>
            </a:xfrm>
          </p:grpSpPr>
          <p:cxnSp>
            <p:nvCxnSpPr>
              <p:cNvPr id="147" name="辅助线">
                <a:extLst>
                  <a:ext uri="{FF2B5EF4-FFF2-40B4-BE49-F238E27FC236}">
                    <a16:creationId xmlns:a16="http://schemas.microsoft.com/office/drawing/2014/main" id="{6A976905-3EB9-4564-ACF6-6404B210C5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辅助线">
                <a:extLst>
                  <a:ext uri="{FF2B5EF4-FFF2-40B4-BE49-F238E27FC236}">
                    <a16:creationId xmlns:a16="http://schemas.microsoft.com/office/drawing/2014/main" id="{D642C6D5-8DCE-1693-D0D2-5552E01907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辅助线">
                <a:extLst>
                  <a:ext uri="{FF2B5EF4-FFF2-40B4-BE49-F238E27FC236}">
                    <a16:creationId xmlns:a16="http://schemas.microsoft.com/office/drawing/2014/main" id="{EFF73F39-6FF4-BC95-52B8-4AD8FD90CF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98795972-9683-4591-F631-13C59B3437E0}"/>
                </a:ext>
              </a:extLst>
            </p:cNvPr>
            <p:cNvGrpSpPr/>
            <p:nvPr/>
          </p:nvGrpSpPr>
          <p:grpSpPr>
            <a:xfrm>
              <a:off x="3595967" y="1635150"/>
              <a:ext cx="5804941" cy="4536504"/>
              <a:chOff x="4389165" y="1628800"/>
              <a:chExt cx="5804941" cy="4536504"/>
            </a:xfrm>
          </p:grpSpPr>
          <p:cxnSp>
            <p:nvCxnSpPr>
              <p:cNvPr id="152" name="辅助线">
                <a:extLst>
                  <a:ext uri="{FF2B5EF4-FFF2-40B4-BE49-F238E27FC236}">
                    <a16:creationId xmlns:a16="http://schemas.microsoft.com/office/drawing/2014/main" id="{E568D715-0C31-0EED-F656-D9E8B78647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辅助线">
                <a:extLst>
                  <a:ext uri="{FF2B5EF4-FFF2-40B4-BE49-F238E27FC236}">
                    <a16:creationId xmlns:a16="http://schemas.microsoft.com/office/drawing/2014/main" id="{1577631D-7780-D306-654B-5A60FC88AA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辅助线">
                <a:extLst>
                  <a:ext uri="{FF2B5EF4-FFF2-40B4-BE49-F238E27FC236}">
                    <a16:creationId xmlns:a16="http://schemas.microsoft.com/office/drawing/2014/main" id="{9093BEF7-004E-BA28-4091-7C2644228F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087D75E6-F2A5-0FE0-CE49-476387FDE4AF}"/>
                </a:ext>
              </a:extLst>
            </p:cNvPr>
            <p:cNvGrpSpPr/>
            <p:nvPr/>
          </p:nvGrpSpPr>
          <p:grpSpPr>
            <a:xfrm>
              <a:off x="3233200" y="1635151"/>
              <a:ext cx="5804941" cy="4536504"/>
              <a:chOff x="4389165" y="1628800"/>
              <a:chExt cx="5804941" cy="4536504"/>
            </a:xfrm>
          </p:grpSpPr>
          <p:cxnSp>
            <p:nvCxnSpPr>
              <p:cNvPr id="157" name="辅助线">
                <a:extLst>
                  <a:ext uri="{FF2B5EF4-FFF2-40B4-BE49-F238E27FC236}">
                    <a16:creationId xmlns:a16="http://schemas.microsoft.com/office/drawing/2014/main" id="{49B83CCC-EA10-1C4B-03CA-D7E754D4BD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辅助线">
                <a:extLst>
                  <a:ext uri="{FF2B5EF4-FFF2-40B4-BE49-F238E27FC236}">
                    <a16:creationId xmlns:a16="http://schemas.microsoft.com/office/drawing/2014/main" id="{8944176D-B5B9-4C2D-5BD1-05692F8299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辅助线">
                <a:extLst>
                  <a:ext uri="{FF2B5EF4-FFF2-40B4-BE49-F238E27FC236}">
                    <a16:creationId xmlns:a16="http://schemas.microsoft.com/office/drawing/2014/main" id="{41179B2D-2DAE-B2FE-9CD6-C5CADCF82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598EA7AF-4030-9425-B5C0-7D590DC432E0}"/>
                </a:ext>
              </a:extLst>
            </p:cNvPr>
            <p:cNvGrpSpPr/>
            <p:nvPr/>
          </p:nvGrpSpPr>
          <p:grpSpPr>
            <a:xfrm>
              <a:off x="2808321" y="1622450"/>
              <a:ext cx="5804941" cy="4536504"/>
              <a:chOff x="4389165" y="1628800"/>
              <a:chExt cx="5804941" cy="4536504"/>
            </a:xfrm>
          </p:grpSpPr>
          <p:cxnSp>
            <p:nvCxnSpPr>
              <p:cNvPr id="162" name="辅助线">
                <a:extLst>
                  <a:ext uri="{FF2B5EF4-FFF2-40B4-BE49-F238E27FC236}">
                    <a16:creationId xmlns:a16="http://schemas.microsoft.com/office/drawing/2014/main" id="{7A67189A-AF78-CFE7-E36E-8716F9A62B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辅助线">
                <a:extLst>
                  <a:ext uri="{FF2B5EF4-FFF2-40B4-BE49-F238E27FC236}">
                    <a16:creationId xmlns:a16="http://schemas.microsoft.com/office/drawing/2014/main" id="{5249DABC-BFCC-572C-EAD3-2AD51975CE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辅助线">
                <a:extLst>
                  <a:ext uri="{FF2B5EF4-FFF2-40B4-BE49-F238E27FC236}">
                    <a16:creationId xmlns:a16="http://schemas.microsoft.com/office/drawing/2014/main" id="{FE015975-A97B-AE32-555C-42EF4AB65E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F953502D-1038-38E4-12CE-697AF6C89E32}"/>
                </a:ext>
              </a:extLst>
            </p:cNvPr>
            <p:cNvGrpSpPr/>
            <p:nvPr/>
          </p:nvGrpSpPr>
          <p:grpSpPr>
            <a:xfrm>
              <a:off x="2307198" y="1641501"/>
              <a:ext cx="5804941" cy="4536504"/>
              <a:chOff x="4389165" y="1628800"/>
              <a:chExt cx="5804941" cy="4536504"/>
            </a:xfrm>
          </p:grpSpPr>
          <p:cxnSp>
            <p:nvCxnSpPr>
              <p:cNvPr id="167" name="辅助线">
                <a:extLst>
                  <a:ext uri="{FF2B5EF4-FFF2-40B4-BE49-F238E27FC236}">
                    <a16:creationId xmlns:a16="http://schemas.microsoft.com/office/drawing/2014/main" id="{F7CD2E45-4509-084E-FCD5-696DD64AE3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89165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辅助线">
                <a:extLst>
                  <a:ext uri="{FF2B5EF4-FFF2-40B4-BE49-F238E27FC236}">
                    <a16:creationId xmlns:a16="http://schemas.microsoft.com/office/drawing/2014/main" id="{9E33FD17-C6F3-FE8B-7FB9-EA658D1A81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163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辅助线">
                <a:extLst>
                  <a:ext uri="{FF2B5EF4-FFF2-40B4-BE49-F238E27FC236}">
                    <a16:creationId xmlns:a16="http://schemas.microsoft.com/office/drawing/2014/main" id="{F29DBABF-E67A-30E7-FB4D-7CE20F3DC8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94106" y="1628800"/>
                <a:ext cx="0" cy="4536504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/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dirty="0">
                      <a:solidFill>
                        <a:schemeClr val="tx1"/>
                      </a:solidFill>
                    </a:rPr>
                    <a:t>dB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Gs">
                  <a:extLst>
                    <a:ext uri="{FF2B5EF4-FFF2-40B4-BE49-F238E27FC236}">
                      <a16:creationId xmlns:a16="http://schemas.microsoft.com/office/drawing/2014/main" id="{46C65E79-34D5-40DA-D2D2-2956FF9E8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412" y="1050911"/>
                  <a:ext cx="1549681" cy="675490"/>
                </a:xfrm>
                <a:prstGeom prst="rect">
                  <a:avLst/>
                </a:prstGeom>
                <a:blipFill>
                  <a:blip r:embed="rId3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/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Gs">
                  <a:extLst>
                    <a:ext uri="{FF2B5EF4-FFF2-40B4-BE49-F238E27FC236}">
                      <a16:creationId xmlns:a16="http://schemas.microsoft.com/office/drawing/2014/main" id="{A5F3EF99-3630-0BF0-DB3A-7C787EF66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67" y="3608279"/>
                  <a:ext cx="424844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8182" b="-6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/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2" name="Gs">
                  <a:extLst>
                    <a:ext uri="{FF2B5EF4-FFF2-40B4-BE49-F238E27FC236}">
                      <a16:creationId xmlns:a16="http://schemas.microsoft.com/office/drawing/2014/main" id="{AA1AF1CD-2EA4-F280-C3B3-8E2535C72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2497" y="3724861"/>
                  <a:ext cx="70371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/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3" name="Gs">
                  <a:extLst>
                    <a:ext uri="{FF2B5EF4-FFF2-40B4-BE49-F238E27FC236}">
                      <a16:creationId xmlns:a16="http://schemas.microsoft.com/office/drawing/2014/main" id="{64BB0861-23C0-0809-44B7-CD3ADE6F9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3990" y="3346669"/>
                  <a:ext cx="70371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667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/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Gs">
                  <a:extLst>
                    <a:ext uri="{FF2B5EF4-FFF2-40B4-BE49-F238E27FC236}">
                      <a16:creationId xmlns:a16="http://schemas.microsoft.com/office/drawing/2014/main" id="{31EFE428-3724-078C-5F13-EC0C8E83C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2865445"/>
                  <a:ext cx="703715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41667" b="-588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/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Gs">
                  <a:extLst>
                    <a:ext uri="{FF2B5EF4-FFF2-40B4-BE49-F238E27FC236}">
                      <a16:creationId xmlns:a16="http://schemas.microsoft.com/office/drawing/2014/main" id="{3DDED018-1863-90A1-03F8-1E0DE59AF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0530" y="2361389"/>
                  <a:ext cx="703715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4444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/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Gs">
                  <a:extLst>
                    <a:ext uri="{FF2B5EF4-FFF2-40B4-BE49-F238E27FC236}">
                      <a16:creationId xmlns:a16="http://schemas.microsoft.com/office/drawing/2014/main" id="{9CEEA585-E3E5-AF73-1BAF-A40F02E4D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7535" y="1857333"/>
                  <a:ext cx="70371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1667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/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Gs">
                  <a:extLst>
                    <a:ext uri="{FF2B5EF4-FFF2-40B4-BE49-F238E27FC236}">
                      <a16:creationId xmlns:a16="http://schemas.microsoft.com/office/drawing/2014/main" id="{CC2955E8-8814-2E7B-3272-87B582B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6429" y="4369187"/>
                  <a:ext cx="703715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2778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/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Gs">
                  <a:extLst>
                    <a:ext uri="{FF2B5EF4-FFF2-40B4-BE49-F238E27FC236}">
                      <a16:creationId xmlns:a16="http://schemas.microsoft.com/office/drawing/2014/main" id="{C5CEAD9A-E5B8-DE4B-FC77-D5600FF178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9" y="4871770"/>
                  <a:ext cx="703715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5714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/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Gs">
                  <a:extLst>
                    <a:ext uri="{FF2B5EF4-FFF2-40B4-BE49-F238E27FC236}">
                      <a16:creationId xmlns:a16="http://schemas.microsoft.com/office/drawing/2014/main" id="{DDC6D7DD-847A-07ED-58B2-591D58DD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759" y="5383649"/>
                  <a:ext cx="70371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8055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/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Gs">
                  <a:extLst>
                    <a:ext uri="{FF2B5EF4-FFF2-40B4-BE49-F238E27FC236}">
                      <a16:creationId xmlns:a16="http://schemas.microsoft.com/office/drawing/2014/main" id="{D82FD951-1A47-B9BA-5425-A22D445994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2168" y="5860717"/>
                  <a:ext cx="703715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85714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/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Gs">
                  <a:extLst>
                    <a:ext uri="{FF2B5EF4-FFF2-40B4-BE49-F238E27FC236}">
                      <a16:creationId xmlns:a16="http://schemas.microsoft.com/office/drawing/2014/main" id="{9FF3F21E-3E81-E5FA-0FD2-C2B49DF00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2826" y="6139789"/>
                  <a:ext cx="703715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5556"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/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Gs">
                  <a:extLst>
                    <a:ext uri="{FF2B5EF4-FFF2-40B4-BE49-F238E27FC236}">
                      <a16:creationId xmlns:a16="http://schemas.microsoft.com/office/drawing/2014/main" id="{38A57277-A4D4-76FC-9EC9-A226002A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532" y="6115013"/>
                  <a:ext cx="703715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/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Gs">
                  <a:extLst>
                    <a:ext uri="{FF2B5EF4-FFF2-40B4-BE49-F238E27FC236}">
                      <a16:creationId xmlns:a16="http://schemas.microsoft.com/office/drawing/2014/main" id="{5FF2F1F9-617E-7E56-A493-164265AED5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4552" y="6129973"/>
                  <a:ext cx="703715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/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Gs">
                  <a:extLst>
                    <a:ext uri="{FF2B5EF4-FFF2-40B4-BE49-F238E27FC236}">
                      <a16:creationId xmlns:a16="http://schemas.microsoft.com/office/drawing/2014/main" id="{BA014E11-6033-6173-B3C5-161F19234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042" y="6122327"/>
                  <a:ext cx="703715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5000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/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Gs">
                  <a:extLst>
                    <a:ext uri="{FF2B5EF4-FFF2-40B4-BE49-F238E27FC236}">
                      <a16:creationId xmlns:a16="http://schemas.microsoft.com/office/drawing/2014/main" id="{E0B6FB99-33E5-6D93-6D25-6122EF275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70" y="3890702"/>
                  <a:ext cx="703715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/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Gs">
                  <a:extLst>
                    <a:ext uri="{FF2B5EF4-FFF2-40B4-BE49-F238E27FC236}">
                      <a16:creationId xmlns:a16="http://schemas.microsoft.com/office/drawing/2014/main" id="{721F23C8-D06B-BCF1-334D-2B9798686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51" y="3389765"/>
                  <a:ext cx="703715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/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Gs">
                  <a:extLst>
                    <a:ext uri="{FF2B5EF4-FFF2-40B4-BE49-F238E27FC236}">
                      <a16:creationId xmlns:a16="http://schemas.microsoft.com/office/drawing/2014/main" id="{AD5FEE93-E6AE-1971-5C57-01128325C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248" y="2892060"/>
                  <a:ext cx="703715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Gs">
                  <a:extLst>
                    <a:ext uri="{FF2B5EF4-FFF2-40B4-BE49-F238E27FC236}">
                      <a16:creationId xmlns:a16="http://schemas.microsoft.com/office/drawing/2014/main" id="{A87949AA-7D80-C7F5-825F-FEFA3D322CB9}"/>
                    </a:ext>
                  </a:extLst>
                </p:cNvPr>
                <p:cNvSpPr txBox="1"/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Gs">
                  <a:extLst>
                    <a:ext uri="{FF2B5EF4-FFF2-40B4-BE49-F238E27FC236}">
                      <a16:creationId xmlns:a16="http://schemas.microsoft.com/office/drawing/2014/main" id="{A87949AA-7D80-C7F5-825F-FEFA3D322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845" y="2386303"/>
                  <a:ext cx="703715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/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Gs">
                  <a:extLst>
                    <a:ext uri="{FF2B5EF4-FFF2-40B4-BE49-F238E27FC236}">
                      <a16:creationId xmlns:a16="http://schemas.microsoft.com/office/drawing/2014/main" id="{B7329D5B-9A0E-0787-C7D4-E1E78A457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906" y="1875764"/>
                  <a:ext cx="703715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/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Gs">
                  <a:extLst>
                    <a:ext uri="{FF2B5EF4-FFF2-40B4-BE49-F238E27FC236}">
                      <a16:creationId xmlns:a16="http://schemas.microsoft.com/office/drawing/2014/main" id="{9DC94101-A208-99CA-28D8-1A0DEFD1E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4369517"/>
                  <a:ext cx="703715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34286" b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/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Gs">
                  <a:extLst>
                    <a:ext uri="{FF2B5EF4-FFF2-40B4-BE49-F238E27FC236}">
                      <a16:creationId xmlns:a16="http://schemas.microsoft.com/office/drawing/2014/main" id="{6E03AE20-887A-78C3-6239-65043CC95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4899576"/>
                  <a:ext cx="703715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/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Gs">
                  <a:extLst>
                    <a:ext uri="{FF2B5EF4-FFF2-40B4-BE49-F238E27FC236}">
                      <a16:creationId xmlns:a16="http://schemas.microsoft.com/office/drawing/2014/main" id="{CC0BAFAC-2A81-EB7E-EDA7-03A6AAE59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46" y="5897344"/>
                  <a:ext cx="703715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33333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/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Gs">
                  <a:extLst>
                    <a:ext uri="{FF2B5EF4-FFF2-40B4-BE49-F238E27FC236}">
                      <a16:creationId xmlns:a16="http://schemas.microsoft.com/office/drawing/2014/main" id="{3DF69D0C-B4E8-7CA0-4FE8-9D7FD1C4B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461" y="5411690"/>
                  <a:ext cx="703715" cy="369332"/>
                </a:xfrm>
                <a:prstGeom prst="rect">
                  <a:avLst/>
                </a:prstGeom>
                <a:blipFill>
                  <a:blip r:embed="rId26"/>
                  <a:stretch>
                    <a:fillRect r="-34286" b="-6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/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Gs">
                  <a:extLst>
                    <a:ext uri="{FF2B5EF4-FFF2-40B4-BE49-F238E27FC236}">
                      <a16:creationId xmlns:a16="http://schemas.microsoft.com/office/drawing/2014/main" id="{8088DA75-558D-59B1-80CF-352BDF7FB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98" y="1007428"/>
                  <a:ext cx="703715" cy="369332"/>
                </a:xfrm>
                <a:prstGeom prst="rect">
                  <a:avLst/>
                </a:prstGeom>
                <a:blipFill>
                  <a:blip r:embed="rId27"/>
                  <a:stretch>
                    <a:fillRect l="-2857" r="-65714" b="-10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6" name="小标题1">
            <a:extLst>
              <a:ext uri="{FF2B5EF4-FFF2-40B4-BE49-F238E27FC236}">
                <a16:creationId xmlns:a16="http://schemas.microsoft.com/office/drawing/2014/main" id="{E0FAD291-0F8C-853B-8E31-C6246C126EDB}"/>
              </a:ext>
            </a:extLst>
          </p:cNvPr>
          <p:cNvSpPr/>
          <p:nvPr/>
        </p:nvSpPr>
        <p:spPr bwMode="auto">
          <a:xfrm>
            <a:off x="297784" y="924546"/>
            <a:ext cx="1232120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横轴</a:t>
            </a:r>
          </a:p>
        </p:txBody>
      </p:sp>
      <p:sp>
        <p:nvSpPr>
          <p:cNvPr id="77" name="小标题1">
            <a:extLst>
              <a:ext uri="{FF2B5EF4-FFF2-40B4-BE49-F238E27FC236}">
                <a16:creationId xmlns:a16="http://schemas.microsoft.com/office/drawing/2014/main" id="{D05F4C51-AA91-BD38-AFFC-8ABDC8C68CAE}"/>
              </a:ext>
            </a:extLst>
          </p:cNvPr>
          <p:cNvSpPr/>
          <p:nvPr/>
        </p:nvSpPr>
        <p:spPr bwMode="auto">
          <a:xfrm>
            <a:off x="305942" y="2455311"/>
            <a:ext cx="1232120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纵轴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">
                <a:extLst>
                  <a:ext uri="{FF2B5EF4-FFF2-40B4-BE49-F238E27FC236}">
                    <a16:creationId xmlns:a16="http://schemas.microsoft.com/office/drawing/2014/main" id="{639238AF-3F80-3185-B16E-5FC6984B3C97}"/>
                  </a:ext>
                </a:extLst>
              </p:cNvPr>
              <p:cNvSpPr txBox="1"/>
              <p:nvPr/>
            </p:nvSpPr>
            <p:spPr>
              <a:xfrm>
                <a:off x="245312" y="1530557"/>
                <a:ext cx="667489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lg</m:t>
                    </m:r>
                    <m:r>
                      <a:rPr kumimoji="1" lang="en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⁡</m:t>
                    </m:r>
                    <m:r>
                      <a:rPr kumimoji="1" lang="el-GR" altLang="zh-CN" sz="28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𝜔</m:t>
                    </m:r>
                    <m:r>
                      <a:rPr kumimoji="1" lang="el-GR" altLang="zh-CN" sz="28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刻度，</a:t>
                </a:r>
                <a:r>
                  <a:rPr kumimoji="1" lang="en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dec “</a:t>
                </a:r>
                <a:r>
                  <a:rPr kumimoji="1" lang="zh-CN" altLang="en-US" sz="2800" dirty="0">
                    <a:solidFill>
                      <a:srgbClr val="159F8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十倍频程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”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按 </a:t>
                </a:r>
                <a14:m>
                  <m:oMath xmlns:m="http://schemas.openxmlformats.org/officeDocument/2006/math">
                    <m:r>
                      <a:rPr kumimoji="1" lang="el-GR" altLang="zh-CN" sz="28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𝜔</m:t>
                    </m:r>
                  </m:oMath>
                </a14:m>
                <a:r>
                  <a:rPr kumimoji="1" lang="el-GR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标定，等距等比</a:t>
                </a:r>
                <a:endPara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8" name="文本">
                <a:extLst>
                  <a:ext uri="{FF2B5EF4-FFF2-40B4-BE49-F238E27FC236}">
                    <a16:creationId xmlns:a16="http://schemas.microsoft.com/office/drawing/2014/main" id="{639238AF-3F80-3185-B16E-5FC6984B3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12" y="1530557"/>
                <a:ext cx="6674890" cy="954107"/>
              </a:xfrm>
              <a:prstGeom prst="rect">
                <a:avLst/>
              </a:prstGeom>
              <a:blipFill>
                <a:blip r:embed="rId28"/>
                <a:stretch>
                  <a:fillRect l="-1901" t="-6579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Gs">
                <a:extLst>
                  <a:ext uri="{FF2B5EF4-FFF2-40B4-BE49-F238E27FC236}">
                    <a16:creationId xmlns:a16="http://schemas.microsoft.com/office/drawing/2014/main" id="{4A4EC7BD-5DA5-9717-215D-BCCEB2091912}"/>
                  </a:ext>
                </a:extLst>
              </p:cNvPr>
              <p:cNvSpPr txBox="1"/>
              <p:nvPr/>
            </p:nvSpPr>
            <p:spPr>
              <a:xfrm>
                <a:off x="254703" y="3016109"/>
                <a:ext cx="490067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zh-CN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1" lang="el-GR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𝜔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)|</m:t>
                        </m:r>
                      </m:e>
                    </m:func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</a:rPr>
                  <a:t>dB</a:t>
                </a:r>
                <a:r>
                  <a:rPr lang="zh-CN" altLang="en-US" sz="2800" dirty="0"/>
                  <a:t>“分贝”</a:t>
                </a:r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Gs">
                <a:extLst>
                  <a:ext uri="{FF2B5EF4-FFF2-40B4-BE49-F238E27FC236}">
                    <a16:creationId xmlns:a16="http://schemas.microsoft.com/office/drawing/2014/main" id="{4A4EC7BD-5DA5-9717-215D-BCCEB2091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03" y="3016109"/>
                <a:ext cx="4900673" cy="523220"/>
              </a:xfrm>
              <a:prstGeom prst="rect">
                <a:avLst/>
              </a:prstGeom>
              <a:blipFill>
                <a:blip r:embed="rId29"/>
                <a:stretch>
                  <a:fillRect l="-775" t="-14286" r="-9819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文本框 79">
            <a:extLst>
              <a:ext uri="{FF2B5EF4-FFF2-40B4-BE49-F238E27FC236}">
                <a16:creationId xmlns:a16="http://schemas.microsoft.com/office/drawing/2014/main" id="{334C79B6-93F3-CF00-8058-36C5B053DEBE}"/>
              </a:ext>
            </a:extLst>
          </p:cNvPr>
          <p:cNvSpPr txBox="1"/>
          <p:nvPr/>
        </p:nvSpPr>
        <p:spPr>
          <a:xfrm>
            <a:off x="318330" y="3525257"/>
            <a:ext cx="1219732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特点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3D9A3B5-F9F9-D769-08BE-02C0DAABAD0B}"/>
              </a:ext>
            </a:extLst>
          </p:cNvPr>
          <p:cNvSpPr txBox="1"/>
          <p:nvPr/>
        </p:nvSpPr>
        <p:spPr>
          <a:xfrm>
            <a:off x="310741" y="4223394"/>
            <a:ext cx="9437881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幅值相乘 </a:t>
            </a:r>
            <a:r>
              <a:rPr kumimoji="1" lang="en-US" altLang="zh-CN" sz="2400" dirty="0">
                <a:solidFill>
                  <a:schemeClr val="accent1"/>
                </a:solidFill>
              </a:rPr>
              <a:t>= </a:t>
            </a:r>
            <a:r>
              <a:rPr kumimoji="1" lang="zh-CN" altLang="en-US" sz="2400" dirty="0">
                <a:solidFill>
                  <a:schemeClr val="accent1"/>
                </a:solidFill>
              </a:rPr>
              <a:t>对数相加，便于叠加作图</a:t>
            </a:r>
            <a:r>
              <a:rPr kumimoji="1" lang="en-US" altLang="zh-CN" sz="2400" dirty="0">
                <a:solidFill>
                  <a:schemeClr val="accent1"/>
                </a:solidFill>
              </a:rPr>
              <a:t>;</a:t>
            </a:r>
            <a:endParaRPr kumimoji="1"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43A9B35-20DC-9775-ABCD-3FF151E95DD9}"/>
              </a:ext>
            </a:extLst>
          </p:cNvPr>
          <p:cNvSpPr txBox="1"/>
          <p:nvPr/>
        </p:nvSpPr>
        <p:spPr>
          <a:xfrm>
            <a:off x="310741" y="4739733"/>
            <a:ext cx="9437881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可在大范围内表示频率特性</a:t>
            </a:r>
            <a:r>
              <a:rPr kumimoji="1" lang="en-US" altLang="zh-CN" sz="2400" dirty="0">
                <a:solidFill>
                  <a:schemeClr val="accent1"/>
                </a:solidFill>
              </a:rPr>
              <a:t>;</a:t>
            </a:r>
            <a:endParaRPr kumimoji="1"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0B94B89-506A-102C-390F-5AD6EE56A1D9}"/>
              </a:ext>
            </a:extLst>
          </p:cNvPr>
          <p:cNvSpPr txBox="1"/>
          <p:nvPr/>
        </p:nvSpPr>
        <p:spPr>
          <a:xfrm>
            <a:off x="310741" y="5247751"/>
            <a:ext cx="9437881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使各个频段</a:t>
            </a:r>
            <a:r>
              <a:rPr kumimoji="1" lang="en-US" altLang="zh-CN" sz="2400" dirty="0">
                <a:solidFill>
                  <a:schemeClr val="accent1"/>
                </a:solidFill>
              </a:rPr>
              <a:t>(</a:t>
            </a:r>
            <a:r>
              <a:rPr kumimoji="1" lang="zh-CN" altLang="en-US" sz="2400" dirty="0">
                <a:solidFill>
                  <a:schemeClr val="accent1"/>
                </a:solidFill>
              </a:rPr>
              <a:t>分别关系到系统各种性能</a:t>
            </a:r>
            <a:r>
              <a:rPr kumimoji="1" lang="en-US" altLang="zh-CN" sz="2400" dirty="0">
                <a:solidFill>
                  <a:schemeClr val="accent1"/>
                </a:solidFill>
              </a:rPr>
              <a:t>)</a:t>
            </a:r>
            <a:r>
              <a:rPr kumimoji="1" lang="zh-CN" altLang="en-US" sz="2400" dirty="0">
                <a:solidFill>
                  <a:schemeClr val="accent1"/>
                </a:solidFill>
              </a:rPr>
              <a:t>都可以得到同等重视</a:t>
            </a:r>
            <a:r>
              <a:rPr kumimoji="1" lang="en-US" altLang="zh-CN" sz="2400" dirty="0">
                <a:solidFill>
                  <a:schemeClr val="accent1"/>
                </a:solidFill>
              </a:rPr>
              <a:t>;</a:t>
            </a:r>
            <a:endParaRPr kumimoji="1"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BD27EC7F-17DD-5DF2-58EB-A8CA781ADD95}"/>
              </a:ext>
            </a:extLst>
          </p:cNvPr>
          <p:cNvSpPr txBox="1"/>
          <p:nvPr/>
        </p:nvSpPr>
        <p:spPr>
          <a:xfrm>
            <a:off x="310741" y="5760168"/>
            <a:ext cx="9437881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chemeClr val="accent1"/>
                </a:solidFill>
              </a:rPr>
              <a:t>(</a:t>
            </a:r>
            <a:r>
              <a:rPr kumimoji="1" lang="zh-CN" altLang="en-US" sz="2400" dirty="0">
                <a:solidFill>
                  <a:schemeClr val="accent1"/>
                </a:solidFill>
              </a:rPr>
              <a:t>非直线</a:t>
            </a:r>
            <a:r>
              <a:rPr kumimoji="1" lang="en-US" altLang="zh-CN" sz="2400" dirty="0">
                <a:solidFill>
                  <a:schemeClr val="accent1"/>
                </a:solidFill>
              </a:rPr>
              <a:t>)</a:t>
            </a:r>
            <a:r>
              <a:rPr kumimoji="1" lang="zh-CN" altLang="en-US" sz="2400" dirty="0">
                <a:solidFill>
                  <a:schemeClr val="accent1"/>
                </a:solidFill>
              </a:rPr>
              <a:t>特性曲线可以绘制渐近对数幅频特性，进一步简化绘制过程</a:t>
            </a:r>
            <a:r>
              <a:rPr kumimoji="1" lang="en-US" altLang="zh-CN" sz="2400" dirty="0">
                <a:solidFill>
                  <a:schemeClr val="accent1"/>
                </a:solidFill>
              </a:rPr>
              <a:t>;</a:t>
            </a:r>
            <a:endParaRPr kumimoji="1"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E0E3F29-A6A8-905E-8D3F-1828045F63D7}"/>
              </a:ext>
            </a:extLst>
          </p:cNvPr>
          <p:cNvSpPr txBox="1"/>
          <p:nvPr/>
        </p:nvSpPr>
        <p:spPr>
          <a:xfrm>
            <a:off x="310741" y="6257022"/>
            <a:ext cx="9437881" cy="51077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159F84"/>
                </a:solidFill>
              </a:rPr>
              <a:t>最小相位系统</a:t>
            </a:r>
            <a:r>
              <a:rPr kumimoji="1" lang="zh-CN" altLang="en-US" sz="2400" dirty="0">
                <a:solidFill>
                  <a:schemeClr val="accent1"/>
                </a:solidFill>
              </a:rPr>
              <a:t>，可由对数幅频特性曲线得到系统的传递函数。</a:t>
            </a:r>
          </a:p>
        </p:txBody>
      </p:sp>
    </p:spTree>
    <p:extLst>
      <p:ext uri="{BB962C8B-B14F-4D97-AF65-F5344CB8AC3E}">
        <p14:creationId xmlns:p14="http://schemas.microsoft.com/office/powerpoint/2010/main" val="4063828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/>
              <p:nvPr/>
            </p:nvSpPr>
            <p:spPr>
              <a:xfrm>
                <a:off x="577170" y="1635936"/>
                <a:ext cx="4418166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=20</m:t>
                              </m:r>
                              <m:func>
                                <m:funcPr>
                                  <m:ctrlP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800" dirty="0"/>
                                <m:t>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7" name="实轴轨迹">
                <a:extLst>
                  <a:ext uri="{FF2B5EF4-FFF2-40B4-BE49-F238E27FC236}">
                    <a16:creationId xmlns:a16="http://schemas.microsoft.com/office/drawing/2014/main" id="{33825DA9-7694-291C-94BE-A58767E0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70" y="1635936"/>
                <a:ext cx="4418166" cy="1053494"/>
              </a:xfrm>
              <a:prstGeom prst="rect">
                <a:avLst/>
              </a:prstGeom>
              <a:blipFill>
                <a:blip r:embed="rId3"/>
                <a:stretch>
                  <a:fillRect l="-573" t="-200000" r="-1433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34439" y="1028501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比例环节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5" name="步骤2">
            <a:extLst>
              <a:ext uri="{FF2B5EF4-FFF2-40B4-BE49-F238E27FC236}">
                <a16:creationId xmlns:a16="http://schemas.microsoft.com/office/drawing/2014/main" id="{A42A4B37-8B24-03D9-009F-D735AD88A73A}"/>
              </a:ext>
            </a:extLst>
          </p:cNvPr>
          <p:cNvGrpSpPr/>
          <p:nvPr/>
        </p:nvGrpSpPr>
        <p:grpSpPr>
          <a:xfrm>
            <a:off x="242952" y="2753674"/>
            <a:ext cx="2682119" cy="725177"/>
            <a:chOff x="4943078" y="1700704"/>
            <a:chExt cx="2682119" cy="725177"/>
          </a:xfrm>
        </p:grpSpPr>
        <p:sp>
          <p:nvSpPr>
            <p:cNvPr id="116" name="标题">
              <a:extLst>
                <a:ext uri="{FF2B5EF4-FFF2-40B4-BE49-F238E27FC236}">
                  <a16:creationId xmlns:a16="http://schemas.microsoft.com/office/drawing/2014/main" id="{655C2BCA-0C34-0A45-D4A1-7CA14EA990AA}"/>
                </a:ext>
              </a:extLst>
            </p:cNvPr>
            <p:cNvSpPr/>
            <p:nvPr/>
          </p:nvSpPr>
          <p:spPr bwMode="auto">
            <a:xfrm>
              <a:off x="5375127" y="1769619"/>
              <a:ext cx="2250070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微分环节</a:t>
              </a:r>
            </a:p>
          </p:txBody>
        </p:sp>
        <p:sp>
          <p:nvSpPr>
            <p:cNvPr id="117" name="序号">
              <a:extLst>
                <a:ext uri="{FF2B5EF4-FFF2-40B4-BE49-F238E27FC236}">
                  <a16:creationId xmlns:a16="http://schemas.microsoft.com/office/drawing/2014/main" id="{803D861C-6CE3-319B-9886-46B8720EC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典型环节的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cxnSp>
        <p:nvCxnSpPr>
          <p:cNvPr id="150" name="频率轴1">
            <a:extLst>
              <a:ext uri="{FF2B5EF4-FFF2-40B4-BE49-F238E27FC236}">
                <a16:creationId xmlns:a16="http://schemas.microsoft.com/office/drawing/2014/main" id="{C0587470-794D-FE13-07C4-35CAF04438B3}"/>
              </a:ext>
            </a:extLst>
          </p:cNvPr>
          <p:cNvCxnSpPr>
            <a:cxnSpLocks/>
          </p:cNvCxnSpPr>
          <p:nvPr/>
        </p:nvCxnSpPr>
        <p:spPr>
          <a:xfrm>
            <a:off x="7912317" y="4149725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幅值轴">
            <a:extLst>
              <a:ext uri="{FF2B5EF4-FFF2-40B4-BE49-F238E27FC236}">
                <a16:creationId xmlns:a16="http://schemas.microsoft.com/office/drawing/2014/main" id="{611FC131-5E7D-7152-BFBD-79FE7E676B49}"/>
              </a:ext>
            </a:extLst>
          </p:cNvPr>
          <p:cNvCxnSpPr>
            <a:cxnSpLocks/>
          </p:cNvCxnSpPr>
          <p:nvPr/>
        </p:nvCxnSpPr>
        <p:spPr>
          <a:xfrm flipH="1" flipV="1">
            <a:off x="7894638" y="3167854"/>
            <a:ext cx="3716" cy="15573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频率轴2">
            <a:extLst>
              <a:ext uri="{FF2B5EF4-FFF2-40B4-BE49-F238E27FC236}">
                <a16:creationId xmlns:a16="http://schemas.microsoft.com/office/drawing/2014/main" id="{E9F9B284-197F-7F8F-E413-92999E1423F4}"/>
              </a:ext>
            </a:extLst>
          </p:cNvPr>
          <p:cNvCxnSpPr>
            <a:cxnSpLocks/>
          </p:cNvCxnSpPr>
          <p:nvPr/>
        </p:nvCxnSpPr>
        <p:spPr>
          <a:xfrm>
            <a:off x="7888137" y="6303227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相角轴">
            <a:extLst>
              <a:ext uri="{FF2B5EF4-FFF2-40B4-BE49-F238E27FC236}">
                <a16:creationId xmlns:a16="http://schemas.microsoft.com/office/drawing/2014/main" id="{BD6B5A75-B6FB-18CB-9514-7D91A3473F85}"/>
              </a:ext>
            </a:extLst>
          </p:cNvPr>
          <p:cNvCxnSpPr>
            <a:cxnSpLocks/>
          </p:cNvCxnSpPr>
          <p:nvPr/>
        </p:nvCxnSpPr>
        <p:spPr>
          <a:xfrm flipV="1">
            <a:off x="7888137" y="4868863"/>
            <a:ext cx="6501" cy="1453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/>
              <p:nvPr/>
            </p:nvSpPr>
            <p:spPr>
              <a:xfrm>
                <a:off x="7862327" y="3126437"/>
                <a:ext cx="14897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2327" y="3126437"/>
                <a:ext cx="14897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/>
              <p:nvPr/>
            </p:nvSpPr>
            <p:spPr>
              <a:xfrm>
                <a:off x="7505735" y="3904352"/>
                <a:ext cx="36523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735" y="3904352"/>
                <a:ext cx="365236" cy="524695"/>
              </a:xfrm>
              <a:prstGeom prst="rect">
                <a:avLst/>
              </a:prstGeom>
              <a:blipFill>
                <a:blip r:embed="rId5"/>
                <a:stretch>
                  <a:fillRect l="-6667"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/>
              <p:nvPr/>
            </p:nvSpPr>
            <p:spPr>
              <a:xfrm>
                <a:off x="7894070" y="5053293"/>
                <a:ext cx="1089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070" y="5053293"/>
                <a:ext cx="1089868" cy="523220"/>
              </a:xfrm>
              <a:prstGeom prst="rect">
                <a:avLst/>
              </a:prstGeom>
              <a:blipFill>
                <a:blip r:embed="rId6"/>
                <a:stretch>
                  <a:fillRect l="-2299" r="-2299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/>
              <p:nvPr/>
            </p:nvSpPr>
            <p:spPr>
              <a:xfrm>
                <a:off x="7033321" y="4412066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321" y="4412066"/>
                <a:ext cx="365236" cy="523220"/>
              </a:xfrm>
              <a:prstGeom prst="rect">
                <a:avLst/>
              </a:prstGeom>
              <a:blipFill>
                <a:blip r:embed="rId7"/>
                <a:stretch>
                  <a:fillRect r="-1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/>
              <p:nvPr/>
            </p:nvSpPr>
            <p:spPr>
              <a:xfrm>
                <a:off x="7203345" y="5351968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345" y="5351968"/>
                <a:ext cx="365236" cy="523220"/>
              </a:xfrm>
              <a:prstGeom prst="rect">
                <a:avLst/>
              </a:prstGeom>
              <a:blipFill>
                <a:blip r:embed="rId8"/>
                <a:stretch>
                  <a:fillRect l="-10000" r="-9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/>
              <p:nvPr/>
            </p:nvSpPr>
            <p:spPr>
              <a:xfrm>
                <a:off x="10213454" y="3596318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454" y="3596318"/>
                <a:ext cx="388882" cy="434594"/>
              </a:xfrm>
              <a:prstGeom prst="rect">
                <a:avLst/>
              </a:prstGeom>
              <a:blipFill>
                <a:blip r:embed="rId9"/>
                <a:stretch>
                  <a:fillRect r="-12903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/>
              <p:nvPr/>
            </p:nvSpPr>
            <p:spPr>
              <a:xfrm>
                <a:off x="10213454" y="5782561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454" y="5782561"/>
                <a:ext cx="388882" cy="434594"/>
              </a:xfrm>
              <a:prstGeom prst="rect">
                <a:avLst/>
              </a:prstGeom>
              <a:blipFill>
                <a:blip r:embed="rId9"/>
                <a:stretch>
                  <a:fillRect r="-12903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实轴轨迹">
                <a:extLst>
                  <a:ext uri="{FF2B5EF4-FFF2-40B4-BE49-F238E27FC236}">
                    <a16:creationId xmlns:a16="http://schemas.microsoft.com/office/drawing/2014/main" id="{618371CC-08B7-4B79-04AB-1D6C091D8910}"/>
                  </a:ext>
                </a:extLst>
              </p:cNvPr>
              <p:cNvSpPr txBox="1"/>
              <p:nvPr/>
            </p:nvSpPr>
            <p:spPr>
              <a:xfrm>
                <a:off x="-202500" y="3467504"/>
                <a:ext cx="6238115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=20</m:t>
                              </m:r>
                              <m:func>
                                <m:funcPr>
                                  <m:ctrlP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800" dirty="0"/>
                                <m:t>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=90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7" name="实轴轨迹">
                <a:extLst>
                  <a:ext uri="{FF2B5EF4-FFF2-40B4-BE49-F238E27FC236}">
                    <a16:creationId xmlns:a16="http://schemas.microsoft.com/office/drawing/2014/main" id="{618371CC-08B7-4B79-04AB-1D6C091D8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500" y="3467504"/>
                <a:ext cx="6238115" cy="1053494"/>
              </a:xfrm>
              <a:prstGeom prst="rect">
                <a:avLst/>
              </a:prstGeom>
              <a:blipFill>
                <a:blip r:embed="rId10"/>
                <a:stretch>
                  <a:fillRect t="-201190" b="-29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CA5F63A0-FB5B-A04E-74AE-2B4318373C6A}"/>
                  </a:ext>
                </a:extLst>
              </p:cNvPr>
              <p:cNvSpPr txBox="1"/>
              <p:nvPr/>
            </p:nvSpPr>
            <p:spPr>
              <a:xfrm>
                <a:off x="355635" y="4673676"/>
                <a:ext cx="4680468" cy="919401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kumimoji="1" lang="en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l-GR" altLang="zh-CN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l-GR" altLang="zh-CN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是一条斜率为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+ 20</m:t>
                    </m:r>
                    <m:r>
                      <m:rPr>
                        <m:sty m:val="p"/>
                      </m:rPr>
                      <a:rPr kumimoji="1" lang="en" altLang="zh-CN" sz="240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kumimoji="1" lang="en-US" altLang="zh-CN" sz="240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kumimoji="1" lang="en" altLang="zh-CN" sz="240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kumimoji="1" lang="en" altLang="zh-CN" sz="2400" i="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dec</m:t>
                    </m:r>
                  </m:oMath>
                </a14:m>
                <a:r>
                  <a:rPr kumimoji="1" lang="zh-CN" altLang="en" sz="2400" dirty="0">
                    <a:solidFill>
                      <a:schemeClr val="accent1"/>
                    </a:solidFill>
                  </a:rPr>
                  <a:t>，</a:t>
                </a:r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(1,0) 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点的直线，记作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[+20]</m:t>
                    </m:r>
                  </m:oMath>
                </a14:m>
                <a:endParaRPr kumimoji="1" lang="zh-CN" alt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CA5F63A0-FB5B-A04E-74AE-2B4318373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35" y="4673676"/>
                <a:ext cx="4680468" cy="919401"/>
              </a:xfrm>
              <a:prstGeom prst="flowChartAlternateProcess">
                <a:avLst/>
              </a:prstGeom>
              <a:blipFill>
                <a:blip r:embed="rId11"/>
                <a:stretch>
                  <a:fillRect l="-538" r="-7258" b="-66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实轴轨迹">
                <a:extLst>
                  <a:ext uri="{FF2B5EF4-FFF2-40B4-BE49-F238E27FC236}">
                    <a16:creationId xmlns:a16="http://schemas.microsoft.com/office/drawing/2014/main" id="{88D7517E-F4CC-5729-69DC-CD9EC2A692B7}"/>
                  </a:ext>
                </a:extLst>
              </p:cNvPr>
              <p:cNvSpPr txBox="1"/>
              <p:nvPr/>
            </p:nvSpPr>
            <p:spPr>
              <a:xfrm>
                <a:off x="-25474" y="5661248"/>
                <a:ext cx="6238115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=20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func>
                                <m:funcPr>
                                  <m:ctrlP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800" dirty="0"/>
                                <m:t>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×90°</m:t>
                              </m:r>
                              <m:r>
                                <a:rPr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0" name="实轴轨迹">
                <a:extLst>
                  <a:ext uri="{FF2B5EF4-FFF2-40B4-BE49-F238E27FC236}">
                    <a16:creationId xmlns:a16="http://schemas.microsoft.com/office/drawing/2014/main" id="{88D7517E-F4CC-5729-69DC-CD9EC2A69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474" y="5661248"/>
                <a:ext cx="6238115" cy="1053494"/>
              </a:xfrm>
              <a:prstGeom prst="rect">
                <a:avLst/>
              </a:prstGeom>
              <a:blipFill>
                <a:blip r:embed="rId12"/>
                <a:stretch>
                  <a:fillRect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频率轴2">
            <a:extLst>
              <a:ext uri="{FF2B5EF4-FFF2-40B4-BE49-F238E27FC236}">
                <a16:creationId xmlns:a16="http://schemas.microsoft.com/office/drawing/2014/main" id="{0DBB871D-E004-DCEB-9CB5-CB0907B6DFD3}"/>
              </a:ext>
            </a:extLst>
          </p:cNvPr>
          <p:cNvCxnSpPr>
            <a:cxnSpLocks/>
          </p:cNvCxnSpPr>
          <p:nvPr/>
        </p:nvCxnSpPr>
        <p:spPr>
          <a:xfrm>
            <a:off x="7888137" y="1994086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相角轴">
            <a:extLst>
              <a:ext uri="{FF2B5EF4-FFF2-40B4-BE49-F238E27FC236}">
                <a16:creationId xmlns:a16="http://schemas.microsoft.com/office/drawing/2014/main" id="{C3A3D43A-F48B-8031-4B23-DFAC05DF45B0}"/>
              </a:ext>
            </a:extLst>
          </p:cNvPr>
          <p:cNvCxnSpPr>
            <a:cxnSpLocks/>
          </p:cNvCxnSpPr>
          <p:nvPr/>
        </p:nvCxnSpPr>
        <p:spPr>
          <a:xfrm flipV="1">
            <a:off x="7888137" y="910250"/>
            <a:ext cx="0" cy="16546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D976FAD8-8614-D28A-6FB0-2471A7EB238E}"/>
                  </a:ext>
                </a:extLst>
              </p:cNvPr>
              <p:cNvSpPr txBox="1"/>
              <p:nvPr/>
            </p:nvSpPr>
            <p:spPr>
              <a:xfrm>
                <a:off x="6680681" y="1006803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zh-CN" alt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D976FAD8-8614-D28A-6FB0-2471A7EB2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681" y="1006803"/>
                <a:ext cx="365236" cy="523220"/>
              </a:xfrm>
              <a:prstGeom prst="rect">
                <a:avLst/>
              </a:prstGeom>
              <a:blipFill>
                <a:blip r:embed="rId13"/>
                <a:stretch>
                  <a:fillRect l="-10345" r="-241379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0C7BB310-D29B-CCF3-7C79-E0B43BC56D90}"/>
                  </a:ext>
                </a:extLst>
              </p:cNvPr>
              <p:cNvSpPr txBox="1"/>
              <p:nvPr/>
            </p:nvSpPr>
            <p:spPr>
              <a:xfrm>
                <a:off x="7252252" y="1753678"/>
                <a:ext cx="833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0C7BB310-D29B-CCF3-7C79-E0B43BC56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252" y="1753678"/>
                <a:ext cx="83307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FF7B1067-64D4-2FA9-68DB-9A4B932A26E0}"/>
                  </a:ext>
                </a:extLst>
              </p:cNvPr>
              <p:cNvSpPr txBox="1"/>
              <p:nvPr/>
            </p:nvSpPr>
            <p:spPr>
              <a:xfrm>
                <a:off x="10237634" y="1463781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FF7B1067-64D4-2FA9-68DB-9A4B932A2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634" y="1463781"/>
                <a:ext cx="388882" cy="434594"/>
              </a:xfrm>
              <a:prstGeom prst="rect">
                <a:avLst/>
              </a:prstGeom>
              <a:blipFill>
                <a:blip r:embed="rId15"/>
                <a:stretch>
                  <a:fillRect r="-12500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B1896CB5-AEDE-3D5C-9921-3EF300599DE6}"/>
              </a:ext>
            </a:extLst>
          </p:cNvPr>
          <p:cNvCxnSpPr/>
          <p:nvPr/>
        </p:nvCxnSpPr>
        <p:spPr>
          <a:xfrm>
            <a:off x="7888137" y="1268413"/>
            <a:ext cx="2233016" cy="0"/>
          </a:xfrm>
          <a:prstGeom prst="line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9305AD9F-67DB-E165-5C5D-9678257B1773}"/>
                  </a:ext>
                </a:extLst>
              </p:cNvPr>
              <p:cNvSpPr txBox="1"/>
              <p:nvPr/>
            </p:nvSpPr>
            <p:spPr>
              <a:xfrm>
                <a:off x="7888137" y="1457211"/>
                <a:ext cx="1089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9305AD9F-67DB-E165-5C5D-9678257B1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137" y="1457211"/>
                <a:ext cx="1089868" cy="523220"/>
              </a:xfrm>
              <a:prstGeom prst="rect">
                <a:avLst/>
              </a:prstGeom>
              <a:blipFill>
                <a:blip r:embed="rId16"/>
                <a:stretch>
                  <a:fillRect l="-2299" r="-2299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AE214FF-A103-7EEC-3877-FCF6952AD6CB}"/>
                  </a:ext>
                </a:extLst>
              </p:cNvPr>
              <p:cNvSpPr txBox="1"/>
              <p:nvPr/>
            </p:nvSpPr>
            <p:spPr>
              <a:xfrm>
                <a:off x="7865911" y="743985"/>
                <a:ext cx="14897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6AE214FF-A103-7EEC-3877-FCF6952AD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911" y="743985"/>
                <a:ext cx="1489753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2C23B546-B053-B742-7595-3FEA0B90B523}"/>
              </a:ext>
            </a:extLst>
          </p:cNvPr>
          <p:cNvCxnSpPr/>
          <p:nvPr/>
        </p:nvCxnSpPr>
        <p:spPr>
          <a:xfrm>
            <a:off x="7894638" y="1994086"/>
            <a:ext cx="2233016" cy="0"/>
          </a:xfrm>
          <a:prstGeom prst="line">
            <a:avLst/>
          </a:prstGeom>
          <a:ln w="38100">
            <a:solidFill>
              <a:srgbClr val="159F8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701F4180-4441-13A3-E8AD-FA946332D793}"/>
              </a:ext>
            </a:extLst>
          </p:cNvPr>
          <p:cNvCxnSpPr>
            <a:cxnSpLocks/>
          </p:cNvCxnSpPr>
          <p:nvPr/>
        </p:nvCxnSpPr>
        <p:spPr>
          <a:xfrm flipV="1">
            <a:off x="7922554" y="3624129"/>
            <a:ext cx="2093256" cy="956999"/>
          </a:xfrm>
          <a:prstGeom prst="line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308989F-9666-CF36-4E85-F639F1A61BEE}"/>
                  </a:ext>
                </a:extLst>
              </p:cNvPr>
              <p:cNvSpPr txBox="1"/>
              <p:nvPr/>
            </p:nvSpPr>
            <p:spPr>
              <a:xfrm>
                <a:off x="8734156" y="4168053"/>
                <a:ext cx="365236" cy="433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308989F-9666-CF36-4E85-F639F1A61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156" y="4168053"/>
                <a:ext cx="365236" cy="433372"/>
              </a:xfrm>
              <a:prstGeom prst="rect">
                <a:avLst/>
              </a:prstGeom>
              <a:blipFill>
                <a:blip r:embed="rId18"/>
                <a:stretch>
                  <a:fillRect l="-10000" r="-10000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3C18C0E0-0BAC-FE1E-1087-5118581E5F98}"/>
                  </a:ext>
                </a:extLst>
              </p:cNvPr>
              <p:cNvSpPr txBox="1"/>
              <p:nvPr/>
            </p:nvSpPr>
            <p:spPr>
              <a:xfrm>
                <a:off x="7314579" y="3404939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3C18C0E0-0BAC-FE1E-1087-5118581E5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79" y="3404939"/>
                <a:ext cx="365236" cy="523220"/>
              </a:xfrm>
              <a:prstGeom prst="rect">
                <a:avLst/>
              </a:prstGeom>
              <a:blipFill>
                <a:blip r:embed="rId19"/>
                <a:stretch>
                  <a:fillRect l="-10345" r="-6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直线连接符 184">
            <a:extLst>
              <a:ext uri="{FF2B5EF4-FFF2-40B4-BE49-F238E27FC236}">
                <a16:creationId xmlns:a16="http://schemas.microsoft.com/office/drawing/2014/main" id="{9EF0AACD-81ED-ACC1-C424-87339F7B776D}"/>
              </a:ext>
            </a:extLst>
          </p:cNvPr>
          <p:cNvCxnSpPr>
            <a:cxnSpLocks/>
          </p:cNvCxnSpPr>
          <p:nvPr/>
        </p:nvCxnSpPr>
        <p:spPr>
          <a:xfrm flipV="1">
            <a:off x="7892304" y="5589588"/>
            <a:ext cx="2132938" cy="11474"/>
          </a:xfrm>
          <a:prstGeom prst="line">
            <a:avLst/>
          </a:prstGeom>
          <a:ln w="38100">
            <a:solidFill>
              <a:srgbClr val="159F8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459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34439" y="1028501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积分环节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典型环节的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cxnSp>
        <p:nvCxnSpPr>
          <p:cNvPr id="150" name="频率轴1">
            <a:extLst>
              <a:ext uri="{FF2B5EF4-FFF2-40B4-BE49-F238E27FC236}">
                <a16:creationId xmlns:a16="http://schemas.microsoft.com/office/drawing/2014/main" id="{C0587470-794D-FE13-07C4-35CAF04438B3}"/>
              </a:ext>
            </a:extLst>
          </p:cNvPr>
          <p:cNvCxnSpPr>
            <a:cxnSpLocks/>
          </p:cNvCxnSpPr>
          <p:nvPr/>
        </p:nvCxnSpPr>
        <p:spPr>
          <a:xfrm>
            <a:off x="7894638" y="1989138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幅值轴">
            <a:extLst>
              <a:ext uri="{FF2B5EF4-FFF2-40B4-BE49-F238E27FC236}">
                <a16:creationId xmlns:a16="http://schemas.microsoft.com/office/drawing/2014/main" id="{611FC131-5E7D-7152-BFBD-79FE7E676B49}"/>
              </a:ext>
            </a:extLst>
          </p:cNvPr>
          <p:cNvCxnSpPr>
            <a:cxnSpLocks/>
          </p:cNvCxnSpPr>
          <p:nvPr/>
        </p:nvCxnSpPr>
        <p:spPr>
          <a:xfrm flipH="1" flipV="1">
            <a:off x="7876959" y="1007267"/>
            <a:ext cx="3716" cy="15573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频率轴2">
            <a:extLst>
              <a:ext uri="{FF2B5EF4-FFF2-40B4-BE49-F238E27FC236}">
                <a16:creationId xmlns:a16="http://schemas.microsoft.com/office/drawing/2014/main" id="{E9F9B284-197F-7F8F-E413-92999E1423F4}"/>
              </a:ext>
            </a:extLst>
          </p:cNvPr>
          <p:cNvCxnSpPr>
            <a:cxnSpLocks/>
          </p:cNvCxnSpPr>
          <p:nvPr/>
        </p:nvCxnSpPr>
        <p:spPr>
          <a:xfrm>
            <a:off x="7894638" y="3420045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相角轴">
            <a:extLst>
              <a:ext uri="{FF2B5EF4-FFF2-40B4-BE49-F238E27FC236}">
                <a16:creationId xmlns:a16="http://schemas.microsoft.com/office/drawing/2014/main" id="{BD6B5A75-B6FB-18CB-9514-7D91A3473F85}"/>
              </a:ext>
            </a:extLst>
          </p:cNvPr>
          <p:cNvCxnSpPr>
            <a:cxnSpLocks/>
          </p:cNvCxnSpPr>
          <p:nvPr/>
        </p:nvCxnSpPr>
        <p:spPr>
          <a:xfrm flipV="1">
            <a:off x="7870458" y="2708276"/>
            <a:ext cx="6501" cy="1453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/>
              <p:nvPr/>
            </p:nvSpPr>
            <p:spPr>
              <a:xfrm>
                <a:off x="7844648" y="965850"/>
                <a:ext cx="14897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648" y="965850"/>
                <a:ext cx="148975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/>
              <p:nvPr/>
            </p:nvSpPr>
            <p:spPr>
              <a:xfrm>
                <a:off x="7488056" y="1743765"/>
                <a:ext cx="36523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056" y="1743765"/>
                <a:ext cx="365236" cy="524695"/>
              </a:xfrm>
              <a:prstGeom prst="rect">
                <a:avLst/>
              </a:prstGeom>
              <a:blipFill>
                <a:blip r:embed="rId4"/>
                <a:stretch>
                  <a:fillRect l="-6667"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/>
              <p:nvPr/>
            </p:nvSpPr>
            <p:spPr>
              <a:xfrm>
                <a:off x="7881722" y="3562739"/>
                <a:ext cx="1089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722" y="3562739"/>
                <a:ext cx="1089868" cy="523220"/>
              </a:xfrm>
              <a:prstGeom prst="rect">
                <a:avLst/>
              </a:prstGeom>
              <a:blipFill>
                <a:blip r:embed="rId5"/>
                <a:stretch>
                  <a:fillRect l="-2299" r="-2299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/>
              <p:nvPr/>
            </p:nvSpPr>
            <p:spPr>
              <a:xfrm>
                <a:off x="7015642" y="2251479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642" y="2251479"/>
                <a:ext cx="365236" cy="523220"/>
              </a:xfrm>
              <a:prstGeom prst="rect">
                <a:avLst/>
              </a:prstGeom>
              <a:blipFill>
                <a:blip r:embed="rId6"/>
                <a:stretch>
                  <a:fillRect r="-1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/>
              <p:nvPr/>
            </p:nvSpPr>
            <p:spPr>
              <a:xfrm>
                <a:off x="6964164" y="3876641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−90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164" y="3876641"/>
                <a:ext cx="365236" cy="523220"/>
              </a:xfrm>
              <a:prstGeom prst="rect">
                <a:avLst/>
              </a:prstGeom>
              <a:blipFill>
                <a:blip r:embed="rId7"/>
                <a:stretch>
                  <a:fillRect r="-175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/>
              <p:nvPr/>
            </p:nvSpPr>
            <p:spPr>
              <a:xfrm>
                <a:off x="10195775" y="1435731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775" y="1435731"/>
                <a:ext cx="388882" cy="434594"/>
              </a:xfrm>
              <a:prstGeom prst="rect">
                <a:avLst/>
              </a:prstGeom>
              <a:blipFill>
                <a:blip r:embed="rId8"/>
                <a:stretch>
                  <a:fillRect r="-12903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/>
              <p:nvPr/>
            </p:nvSpPr>
            <p:spPr>
              <a:xfrm>
                <a:off x="10195775" y="2892458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5775" y="2892458"/>
                <a:ext cx="388882" cy="434594"/>
              </a:xfrm>
              <a:prstGeom prst="rect">
                <a:avLst/>
              </a:prstGeom>
              <a:blipFill>
                <a:blip r:embed="rId9"/>
                <a:stretch>
                  <a:fillRect r="-12903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CA5F63A0-FB5B-A04E-74AE-2B4318373C6A}"/>
                  </a:ext>
                </a:extLst>
              </p:cNvPr>
              <p:cNvSpPr txBox="1"/>
              <p:nvPr/>
            </p:nvSpPr>
            <p:spPr>
              <a:xfrm>
                <a:off x="373308" y="2700757"/>
                <a:ext cx="4680468" cy="919401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kumimoji="1" lang="en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l-GR" altLang="zh-CN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l-GR" altLang="zh-CN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是一条斜率为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−20</m:t>
                    </m:r>
                    <m:r>
                      <m:rPr>
                        <m:sty m:val="p"/>
                      </m:rPr>
                      <a:rPr kumimoji="1" lang="en" altLang="zh-CN" sz="2400" i="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dB</m:t>
                    </m:r>
                    <m:r>
                      <a:rPr kumimoji="1" lang="en" altLang="zh-CN" sz="2400" i="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kumimoji="1" lang="en" altLang="zh-CN" sz="2400" i="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dec</m:t>
                    </m:r>
                  </m:oMath>
                </a14:m>
                <a:r>
                  <a:rPr kumimoji="1" lang="zh-CN" altLang="en" sz="2400" dirty="0">
                    <a:solidFill>
                      <a:schemeClr val="accent1"/>
                    </a:solidFill>
                  </a:rPr>
                  <a:t>， </a:t>
                </a:r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(1,0) 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点的直线，记作 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[−20]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CA5F63A0-FB5B-A04E-74AE-2B4318373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08" y="2700757"/>
                <a:ext cx="4680468" cy="919401"/>
              </a:xfrm>
              <a:prstGeom prst="flowChartAlternateProcess">
                <a:avLst/>
              </a:prstGeom>
              <a:blipFill>
                <a:blip r:embed="rId10"/>
                <a:stretch>
                  <a:fillRect l="-809" b="-6579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实轴轨迹">
                <a:extLst>
                  <a:ext uri="{FF2B5EF4-FFF2-40B4-BE49-F238E27FC236}">
                    <a16:creationId xmlns:a16="http://schemas.microsoft.com/office/drawing/2014/main" id="{88D7517E-F4CC-5729-69DC-CD9EC2A692B7}"/>
                  </a:ext>
                </a:extLst>
              </p:cNvPr>
              <p:cNvSpPr txBox="1"/>
              <p:nvPr/>
            </p:nvSpPr>
            <p:spPr>
              <a:xfrm>
                <a:off x="0" y="3717032"/>
                <a:ext cx="6238115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=−20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func>
                                <m:funcPr>
                                  <m:ctrlP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800" dirty="0"/>
                                <m:t>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×90°</m:t>
                              </m:r>
                              <m:r>
                                <a:rPr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0" name="实轴轨迹">
                <a:extLst>
                  <a:ext uri="{FF2B5EF4-FFF2-40B4-BE49-F238E27FC236}">
                    <a16:creationId xmlns:a16="http://schemas.microsoft.com/office/drawing/2014/main" id="{88D7517E-F4CC-5729-69DC-CD9EC2A69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17032"/>
                <a:ext cx="6238115" cy="1053494"/>
              </a:xfrm>
              <a:prstGeom prst="rect">
                <a:avLst/>
              </a:prstGeom>
              <a:blipFill>
                <a:blip r:embed="rId11"/>
                <a:stretch>
                  <a:fillRect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701F4180-4441-13A3-E8AD-FA946332D793}"/>
              </a:ext>
            </a:extLst>
          </p:cNvPr>
          <p:cNvCxnSpPr>
            <a:cxnSpLocks/>
          </p:cNvCxnSpPr>
          <p:nvPr/>
        </p:nvCxnSpPr>
        <p:spPr>
          <a:xfrm>
            <a:off x="7894638" y="1463542"/>
            <a:ext cx="2160587" cy="1101109"/>
          </a:xfrm>
          <a:prstGeom prst="line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308989F-9666-CF36-4E85-F639F1A61BEE}"/>
                  </a:ext>
                </a:extLst>
              </p:cNvPr>
              <p:cNvSpPr txBox="1"/>
              <p:nvPr/>
            </p:nvSpPr>
            <p:spPr>
              <a:xfrm>
                <a:off x="8716477" y="2007466"/>
                <a:ext cx="365236" cy="433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308989F-9666-CF36-4E85-F639F1A61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477" y="2007466"/>
                <a:ext cx="365236" cy="433372"/>
              </a:xfrm>
              <a:prstGeom prst="rect">
                <a:avLst/>
              </a:prstGeom>
              <a:blipFill>
                <a:blip r:embed="rId12"/>
                <a:stretch>
                  <a:fillRect l="-6667" r="-10000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3C18C0E0-0BAC-FE1E-1087-5118581E5F98}"/>
                  </a:ext>
                </a:extLst>
              </p:cNvPr>
              <p:cNvSpPr txBox="1"/>
              <p:nvPr/>
            </p:nvSpPr>
            <p:spPr>
              <a:xfrm>
                <a:off x="7296900" y="1244352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3C18C0E0-0BAC-FE1E-1087-5118581E5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900" y="1244352"/>
                <a:ext cx="365236" cy="523220"/>
              </a:xfrm>
              <a:prstGeom prst="rect">
                <a:avLst/>
              </a:prstGeom>
              <a:blipFill>
                <a:blip r:embed="rId13"/>
                <a:stretch>
                  <a:fillRect l="-6667" r="-6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直线连接符 184">
            <a:extLst>
              <a:ext uri="{FF2B5EF4-FFF2-40B4-BE49-F238E27FC236}">
                <a16:creationId xmlns:a16="http://schemas.microsoft.com/office/drawing/2014/main" id="{9EF0AACD-81ED-ACC1-C424-87339F7B776D}"/>
              </a:ext>
            </a:extLst>
          </p:cNvPr>
          <p:cNvCxnSpPr>
            <a:cxnSpLocks/>
          </p:cNvCxnSpPr>
          <p:nvPr/>
        </p:nvCxnSpPr>
        <p:spPr>
          <a:xfrm flipV="1">
            <a:off x="7855685" y="4138251"/>
            <a:ext cx="2132938" cy="11474"/>
          </a:xfrm>
          <a:prstGeom prst="line">
            <a:avLst/>
          </a:prstGeom>
          <a:ln w="38100">
            <a:solidFill>
              <a:srgbClr val="159F8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实轴轨迹">
                <a:extLst>
                  <a:ext uri="{FF2B5EF4-FFF2-40B4-BE49-F238E27FC236}">
                    <a16:creationId xmlns:a16="http://schemas.microsoft.com/office/drawing/2014/main" id="{6EA0372F-3AF0-E711-12C4-828F5BFBF2B3}"/>
                  </a:ext>
                </a:extLst>
              </p:cNvPr>
              <p:cNvSpPr txBox="1"/>
              <p:nvPr/>
            </p:nvSpPr>
            <p:spPr>
              <a:xfrm>
                <a:off x="-264548" y="1616417"/>
                <a:ext cx="6238115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=−20</m:t>
                              </m:r>
                              <m:func>
                                <m:funcPr>
                                  <m:ctrlP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800" dirty="0"/>
                                <m:t>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=−90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实轴轨迹">
                <a:extLst>
                  <a:ext uri="{FF2B5EF4-FFF2-40B4-BE49-F238E27FC236}">
                    <a16:creationId xmlns:a16="http://schemas.microsoft.com/office/drawing/2014/main" id="{6EA0372F-3AF0-E711-12C4-828F5BFB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4548" y="1616417"/>
                <a:ext cx="6238115" cy="1053494"/>
              </a:xfrm>
              <a:prstGeom prst="rect">
                <a:avLst/>
              </a:prstGeom>
              <a:blipFill>
                <a:blip r:embed="rId14"/>
                <a:stretch>
                  <a:fillRect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471185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34439" y="1028501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惯性环节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典型环节的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cxnSp>
        <p:nvCxnSpPr>
          <p:cNvPr id="150" name="频率轴1">
            <a:extLst>
              <a:ext uri="{FF2B5EF4-FFF2-40B4-BE49-F238E27FC236}">
                <a16:creationId xmlns:a16="http://schemas.microsoft.com/office/drawing/2014/main" id="{C0587470-794D-FE13-07C4-35CAF04438B3}"/>
              </a:ext>
            </a:extLst>
          </p:cNvPr>
          <p:cNvCxnSpPr>
            <a:cxnSpLocks/>
          </p:cNvCxnSpPr>
          <p:nvPr/>
        </p:nvCxnSpPr>
        <p:spPr>
          <a:xfrm>
            <a:off x="8608862" y="1268413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幅值轴">
            <a:extLst>
              <a:ext uri="{FF2B5EF4-FFF2-40B4-BE49-F238E27FC236}">
                <a16:creationId xmlns:a16="http://schemas.microsoft.com/office/drawing/2014/main" id="{611FC131-5E7D-7152-BFBD-79FE7E676B49}"/>
              </a:ext>
            </a:extLst>
          </p:cNvPr>
          <p:cNvCxnSpPr>
            <a:cxnSpLocks/>
          </p:cNvCxnSpPr>
          <p:nvPr/>
        </p:nvCxnSpPr>
        <p:spPr>
          <a:xfrm flipV="1">
            <a:off x="8615363" y="1028501"/>
            <a:ext cx="0" cy="1767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频率轴2">
            <a:extLst>
              <a:ext uri="{FF2B5EF4-FFF2-40B4-BE49-F238E27FC236}">
                <a16:creationId xmlns:a16="http://schemas.microsoft.com/office/drawing/2014/main" id="{E9F9B284-197F-7F8F-E413-92999E1423F4}"/>
              </a:ext>
            </a:extLst>
          </p:cNvPr>
          <p:cNvCxnSpPr>
            <a:cxnSpLocks/>
          </p:cNvCxnSpPr>
          <p:nvPr/>
        </p:nvCxnSpPr>
        <p:spPr>
          <a:xfrm>
            <a:off x="8633042" y="3441279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相角轴">
            <a:extLst>
              <a:ext uri="{FF2B5EF4-FFF2-40B4-BE49-F238E27FC236}">
                <a16:creationId xmlns:a16="http://schemas.microsoft.com/office/drawing/2014/main" id="{BD6B5A75-B6FB-18CB-9514-7D91A3473F85}"/>
              </a:ext>
            </a:extLst>
          </p:cNvPr>
          <p:cNvCxnSpPr>
            <a:cxnSpLocks/>
          </p:cNvCxnSpPr>
          <p:nvPr/>
        </p:nvCxnSpPr>
        <p:spPr>
          <a:xfrm flipV="1">
            <a:off x="8608862" y="3052677"/>
            <a:ext cx="0" cy="113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/>
              <p:nvPr/>
            </p:nvSpPr>
            <p:spPr>
              <a:xfrm>
                <a:off x="8598044" y="574196"/>
                <a:ext cx="14897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44" y="574196"/>
                <a:ext cx="148975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/>
              <p:nvPr/>
            </p:nvSpPr>
            <p:spPr>
              <a:xfrm>
                <a:off x="8238933" y="1029579"/>
                <a:ext cx="36523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933" y="1029579"/>
                <a:ext cx="365236" cy="524695"/>
              </a:xfrm>
              <a:prstGeom prst="rect">
                <a:avLst/>
              </a:prstGeom>
              <a:blipFill>
                <a:blip r:embed="rId4"/>
                <a:stretch>
                  <a:fillRect l="-6667"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/>
              <p:nvPr/>
            </p:nvSpPr>
            <p:spPr>
              <a:xfrm>
                <a:off x="8662564" y="2840328"/>
                <a:ext cx="1089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564" y="2840328"/>
                <a:ext cx="1089868" cy="523220"/>
              </a:xfrm>
              <a:prstGeom prst="rect">
                <a:avLst/>
              </a:prstGeom>
              <a:blipFill>
                <a:blip r:embed="rId5"/>
                <a:stretch>
                  <a:fillRect l="-2326" r="-348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/>
              <p:nvPr/>
            </p:nvSpPr>
            <p:spPr>
              <a:xfrm>
                <a:off x="7773899" y="1737150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899" y="1737150"/>
                <a:ext cx="365236" cy="523220"/>
              </a:xfrm>
              <a:prstGeom prst="rect">
                <a:avLst/>
              </a:prstGeom>
              <a:blipFill>
                <a:blip r:embed="rId6"/>
                <a:stretch>
                  <a:fillRect r="-141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/>
              <p:nvPr/>
            </p:nvSpPr>
            <p:spPr>
              <a:xfrm>
                <a:off x="7702568" y="3897875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−90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568" y="3897875"/>
                <a:ext cx="365236" cy="523220"/>
              </a:xfrm>
              <a:prstGeom prst="rect">
                <a:avLst/>
              </a:prstGeom>
              <a:blipFill>
                <a:blip r:embed="rId7"/>
                <a:stretch>
                  <a:fillRect r="-16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/>
              <p:nvPr/>
            </p:nvSpPr>
            <p:spPr>
              <a:xfrm>
                <a:off x="10934179" y="759453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179" y="759453"/>
                <a:ext cx="388882" cy="434594"/>
              </a:xfrm>
              <a:prstGeom prst="rect">
                <a:avLst/>
              </a:prstGeom>
              <a:blipFill>
                <a:blip r:embed="rId8"/>
                <a:stretch>
                  <a:fillRect r="-12903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/>
              <p:nvPr/>
            </p:nvSpPr>
            <p:spPr>
              <a:xfrm>
                <a:off x="10934179" y="2913692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4179" y="2913692"/>
                <a:ext cx="388882" cy="434594"/>
              </a:xfrm>
              <a:prstGeom prst="rect">
                <a:avLst/>
              </a:prstGeom>
              <a:blipFill>
                <a:blip r:embed="rId9"/>
                <a:stretch>
                  <a:fillRect r="-12903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文本框 167">
            <a:extLst>
              <a:ext uri="{FF2B5EF4-FFF2-40B4-BE49-F238E27FC236}">
                <a16:creationId xmlns:a16="http://schemas.microsoft.com/office/drawing/2014/main" id="{CA5F63A0-FB5B-A04E-74AE-2B4318373C6A}"/>
              </a:ext>
            </a:extLst>
          </p:cNvPr>
          <p:cNvSpPr txBox="1"/>
          <p:nvPr/>
        </p:nvSpPr>
        <p:spPr>
          <a:xfrm>
            <a:off x="7759800" y="5218077"/>
            <a:ext cx="4134235" cy="1328023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1"/>
                </a:solidFill>
              </a:rPr>
              <a:t>误差曲线对称于交接频 </a:t>
            </a:r>
            <a:endParaRPr kumimoji="1" lang="en-US" altLang="zh-CN" sz="2400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1"/>
                </a:solidFill>
              </a:rPr>
              <a:t>误差主要位于交接频率上下十倍频程范围内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308989F-9666-CF36-4E85-F639F1A61BEE}"/>
                  </a:ext>
                </a:extLst>
              </p:cNvPr>
              <p:cNvSpPr txBox="1"/>
              <p:nvPr/>
            </p:nvSpPr>
            <p:spPr>
              <a:xfrm>
                <a:off x="9295937" y="1334546"/>
                <a:ext cx="365236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308989F-9666-CF36-4E85-F639F1A61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937" y="1334546"/>
                <a:ext cx="365236" cy="898964"/>
              </a:xfrm>
              <a:prstGeom prst="rect">
                <a:avLst/>
              </a:prstGeom>
              <a:blipFill>
                <a:blip r:embed="rId10"/>
                <a:stretch>
                  <a:fillRect l="-6897" r="-17241" b="-7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实轴轨迹">
                <a:extLst>
                  <a:ext uri="{FF2B5EF4-FFF2-40B4-BE49-F238E27FC236}">
                    <a16:creationId xmlns:a16="http://schemas.microsoft.com/office/drawing/2014/main" id="{6EA0372F-3AF0-E711-12C4-828F5BFBF2B3}"/>
                  </a:ext>
                </a:extLst>
              </p:cNvPr>
              <p:cNvSpPr txBox="1"/>
              <p:nvPr/>
            </p:nvSpPr>
            <p:spPr>
              <a:xfrm>
                <a:off x="43671" y="1616416"/>
                <a:ext cx="744004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=−20</m:t>
                              </m:r>
                              <m:func>
                                <m:funcPr>
                                  <m:ctrlP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func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800" dirty="0"/>
                                <m:t>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unc>
                                <m:funcPr>
                                  <m:ctrlPr>
                                    <a:rPr lang="zh-CN" alt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dirty="0" smtClean="0">
                                      <a:latin typeface="Cambria Math" panose="02040503050406030204" pitchFamily="18" charset="0"/>
                                    </a:rPr>
                                    <m:t>arctan</m:t>
                                  </m:r>
                                </m:fNam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func>
                              <m:r>
                                <a:rPr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实轴轨迹">
                <a:extLst>
                  <a:ext uri="{FF2B5EF4-FFF2-40B4-BE49-F238E27FC236}">
                    <a16:creationId xmlns:a16="http://schemas.microsoft.com/office/drawing/2014/main" id="{6EA0372F-3AF0-E711-12C4-828F5BFB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1" y="1616416"/>
                <a:ext cx="7440048" cy="1211422"/>
              </a:xfrm>
              <a:prstGeom prst="rect">
                <a:avLst/>
              </a:prstGeom>
              <a:blipFill>
                <a:blip r:embed="rId11"/>
                <a:stretch>
                  <a:fillRect t="-208333" b="-2989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93642966-3C2F-B2E1-1DBD-3D4140EEBFA4}"/>
              </a:ext>
            </a:extLst>
          </p:cNvPr>
          <p:cNvSpPr txBox="1"/>
          <p:nvPr/>
        </p:nvSpPr>
        <p:spPr>
          <a:xfrm>
            <a:off x="318951" y="2753116"/>
            <a:ext cx="1789805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渐近线</a:t>
            </a:r>
          </a:p>
        </p:txBody>
      </p:sp>
      <p:sp>
        <p:nvSpPr>
          <p:cNvPr id="25" name="文本">
            <a:extLst>
              <a:ext uri="{FF2B5EF4-FFF2-40B4-BE49-F238E27FC236}">
                <a16:creationId xmlns:a16="http://schemas.microsoft.com/office/drawing/2014/main" id="{6B5ACA2E-4AAD-0E3C-655C-90771CEC8D68}"/>
              </a:ext>
            </a:extLst>
          </p:cNvPr>
          <p:cNvSpPr txBox="1"/>
          <p:nvPr/>
        </p:nvSpPr>
        <p:spPr>
          <a:xfrm>
            <a:off x="2384036" y="2739937"/>
            <a:ext cx="39257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惯性环节可由一组折线组成的渐近线近似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A9F47B6-85E6-506E-E779-E9376947D6CB}"/>
              </a:ext>
            </a:extLst>
          </p:cNvPr>
          <p:cNvSpPr txBox="1"/>
          <p:nvPr/>
        </p:nvSpPr>
        <p:spPr>
          <a:xfrm>
            <a:off x="309327" y="4135174"/>
            <a:ext cx="1761321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交接频率</a:t>
            </a:r>
          </a:p>
        </p:txBody>
      </p:sp>
      <p:sp>
        <p:nvSpPr>
          <p:cNvPr id="27" name="文本">
            <a:extLst>
              <a:ext uri="{FF2B5EF4-FFF2-40B4-BE49-F238E27FC236}">
                <a16:creationId xmlns:a16="http://schemas.microsoft.com/office/drawing/2014/main" id="{C82480BD-3928-7044-591D-1CB7D24ED6FA}"/>
              </a:ext>
            </a:extLst>
          </p:cNvPr>
          <p:cNvSpPr txBox="1"/>
          <p:nvPr/>
        </p:nvSpPr>
        <p:spPr>
          <a:xfrm>
            <a:off x="2376644" y="3877613"/>
            <a:ext cx="43124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渐近线各</a:t>
            </a:r>
            <a:r>
              <a:rPr kumimoji="1" lang="zh-CN" altLang="en-US" sz="2800" dirty="0">
                <a:solidFill>
                  <a:srgbClr val="159F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近似线段相交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的交点频率称为交接频率。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交接频率处误差最大可达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实轴轨迹">
                <a:extLst>
                  <a:ext uri="{FF2B5EF4-FFF2-40B4-BE49-F238E27FC236}">
                    <a16:creationId xmlns:a16="http://schemas.microsoft.com/office/drawing/2014/main" id="{AA7F3917-9B90-AD89-1E5A-0E53DEE57471}"/>
                  </a:ext>
                </a:extLst>
              </p:cNvPr>
              <p:cNvSpPr txBox="1"/>
              <p:nvPr/>
            </p:nvSpPr>
            <p:spPr>
              <a:xfrm>
                <a:off x="44291" y="5517232"/>
                <a:ext cx="7440048" cy="925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func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=−20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=−3(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实轴轨迹">
                <a:extLst>
                  <a:ext uri="{FF2B5EF4-FFF2-40B4-BE49-F238E27FC236}">
                    <a16:creationId xmlns:a16="http://schemas.microsoft.com/office/drawing/2014/main" id="{AA7F3917-9B90-AD89-1E5A-0E53DEE5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" y="5517232"/>
                <a:ext cx="7440048" cy="925959"/>
              </a:xfrm>
              <a:prstGeom prst="rect">
                <a:avLst/>
              </a:prstGeom>
              <a:blipFill>
                <a:blip r:embed="rId12"/>
                <a:stretch>
                  <a:fillRect t="-145946" b="-1918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幅频响应">
            <a:extLst>
              <a:ext uri="{FF2B5EF4-FFF2-40B4-BE49-F238E27FC236}">
                <a16:creationId xmlns:a16="http://schemas.microsoft.com/office/drawing/2014/main" id="{77D43CBE-78A2-6EC4-D704-0A965FA28C42}"/>
              </a:ext>
            </a:extLst>
          </p:cNvPr>
          <p:cNvSpPr/>
          <p:nvPr/>
        </p:nvSpPr>
        <p:spPr>
          <a:xfrm flipV="1">
            <a:off x="8621865" y="1262702"/>
            <a:ext cx="2154082" cy="53189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617" h="982152">
                <a:moveTo>
                  <a:pt x="0" y="961947"/>
                </a:moveTo>
                <a:lnTo>
                  <a:pt x="623981" y="982152"/>
                </a:lnTo>
                <a:cubicBezTo>
                  <a:pt x="945912" y="457181"/>
                  <a:pt x="891420" y="478435"/>
                  <a:pt x="121961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相频响应">
            <a:extLst>
              <a:ext uri="{FF2B5EF4-FFF2-40B4-BE49-F238E27FC236}">
                <a16:creationId xmlns:a16="http://schemas.microsoft.com/office/drawing/2014/main" id="{4DA6BFBF-81D5-8517-C3FC-F3EA0DB6F062}"/>
              </a:ext>
            </a:extLst>
          </p:cNvPr>
          <p:cNvSpPr/>
          <p:nvPr/>
        </p:nvSpPr>
        <p:spPr>
          <a:xfrm flipV="1">
            <a:off x="8629364" y="3479879"/>
            <a:ext cx="2158072" cy="64795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1219617 w 1219617"/>
              <a:gd name="connsiteY1" fmla="*/ 0 h 1008849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34143"/>
              <a:gd name="connsiteY0" fmla="*/ 1196456 h 1196456"/>
              <a:gd name="connsiteX1" fmla="*/ 1234143 w 1234143"/>
              <a:gd name="connsiteY1" fmla="*/ 0 h 119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4143" h="1196456">
                <a:moveTo>
                  <a:pt x="0" y="1196456"/>
                </a:moveTo>
                <a:cubicBezTo>
                  <a:pt x="619447" y="1184158"/>
                  <a:pt x="600909" y="21143"/>
                  <a:pt x="1234143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A9E73AE-9364-C58B-EA23-19B103D513C5}"/>
                  </a:ext>
                </a:extLst>
              </p:cNvPr>
              <p:cNvSpPr txBox="1"/>
              <p:nvPr/>
            </p:nvSpPr>
            <p:spPr>
              <a:xfrm>
                <a:off x="7779825" y="2372176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A9E73AE-9364-C58B-EA23-19B103D51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825" y="2372176"/>
                <a:ext cx="365236" cy="523220"/>
              </a:xfrm>
              <a:prstGeom prst="rect">
                <a:avLst/>
              </a:prstGeom>
              <a:blipFill>
                <a:blip r:embed="rId13"/>
                <a:stretch>
                  <a:fillRect r="-1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辅助线">
            <a:extLst>
              <a:ext uri="{FF2B5EF4-FFF2-40B4-BE49-F238E27FC236}">
                <a16:creationId xmlns:a16="http://schemas.microsoft.com/office/drawing/2014/main" id="{4D952E30-B33D-7E04-E504-51AF22E91072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9723937" y="1262702"/>
            <a:ext cx="0" cy="2917385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辅助线">
            <a:extLst>
              <a:ext uri="{FF2B5EF4-FFF2-40B4-BE49-F238E27FC236}">
                <a16:creationId xmlns:a16="http://schemas.microsoft.com/office/drawing/2014/main" id="{74BDB56A-761D-F7CD-AA7B-1D82493A1EEF}"/>
              </a:ext>
            </a:extLst>
          </p:cNvPr>
          <p:cNvCxnSpPr>
            <a:cxnSpLocks/>
          </p:cNvCxnSpPr>
          <p:nvPr/>
        </p:nvCxnSpPr>
        <p:spPr>
          <a:xfrm flipH="1">
            <a:off x="8598044" y="4180087"/>
            <a:ext cx="2447750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191680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34439" y="1028501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一阶微分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典型环节的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cxnSp>
        <p:nvCxnSpPr>
          <p:cNvPr id="150" name="频率轴1">
            <a:extLst>
              <a:ext uri="{FF2B5EF4-FFF2-40B4-BE49-F238E27FC236}">
                <a16:creationId xmlns:a16="http://schemas.microsoft.com/office/drawing/2014/main" id="{C0587470-794D-FE13-07C4-35CAF04438B3}"/>
              </a:ext>
            </a:extLst>
          </p:cNvPr>
          <p:cNvCxnSpPr>
            <a:cxnSpLocks/>
          </p:cNvCxnSpPr>
          <p:nvPr/>
        </p:nvCxnSpPr>
        <p:spPr>
          <a:xfrm>
            <a:off x="8629364" y="2719300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幅值轴">
            <a:extLst>
              <a:ext uri="{FF2B5EF4-FFF2-40B4-BE49-F238E27FC236}">
                <a16:creationId xmlns:a16="http://schemas.microsoft.com/office/drawing/2014/main" id="{611FC131-5E7D-7152-BFBD-79FE7E676B49}"/>
              </a:ext>
            </a:extLst>
          </p:cNvPr>
          <p:cNvCxnSpPr>
            <a:cxnSpLocks/>
          </p:cNvCxnSpPr>
          <p:nvPr/>
        </p:nvCxnSpPr>
        <p:spPr>
          <a:xfrm flipH="1" flipV="1">
            <a:off x="8628063" y="1023306"/>
            <a:ext cx="1301" cy="1703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频率轴2">
            <a:extLst>
              <a:ext uri="{FF2B5EF4-FFF2-40B4-BE49-F238E27FC236}">
                <a16:creationId xmlns:a16="http://schemas.microsoft.com/office/drawing/2014/main" id="{E9F9B284-197F-7F8F-E413-92999E1423F4}"/>
              </a:ext>
            </a:extLst>
          </p:cNvPr>
          <p:cNvCxnSpPr>
            <a:cxnSpLocks/>
          </p:cNvCxnSpPr>
          <p:nvPr/>
        </p:nvCxnSpPr>
        <p:spPr>
          <a:xfrm>
            <a:off x="8621865" y="4149725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相角轴">
            <a:extLst>
              <a:ext uri="{FF2B5EF4-FFF2-40B4-BE49-F238E27FC236}">
                <a16:creationId xmlns:a16="http://schemas.microsoft.com/office/drawing/2014/main" id="{BD6B5A75-B6FB-18CB-9514-7D91A3473F85}"/>
              </a:ext>
            </a:extLst>
          </p:cNvPr>
          <p:cNvCxnSpPr>
            <a:cxnSpLocks/>
          </p:cNvCxnSpPr>
          <p:nvPr/>
        </p:nvCxnSpPr>
        <p:spPr>
          <a:xfrm flipV="1">
            <a:off x="8608862" y="3052677"/>
            <a:ext cx="0" cy="113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/>
              <p:nvPr/>
            </p:nvSpPr>
            <p:spPr>
              <a:xfrm>
                <a:off x="8598044" y="574196"/>
                <a:ext cx="14897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44" y="574196"/>
                <a:ext cx="148975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/>
              <p:nvPr/>
            </p:nvSpPr>
            <p:spPr>
              <a:xfrm>
                <a:off x="8048688" y="1010104"/>
                <a:ext cx="36523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688" y="1010104"/>
                <a:ext cx="365236" cy="524695"/>
              </a:xfrm>
              <a:prstGeom prst="rect">
                <a:avLst/>
              </a:prstGeom>
              <a:blipFill>
                <a:blip r:embed="rId4"/>
                <a:stretch>
                  <a:fillRect l="-6667" r="-6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/>
              <p:nvPr/>
            </p:nvSpPr>
            <p:spPr>
              <a:xfrm>
                <a:off x="8662564" y="2840328"/>
                <a:ext cx="1089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564" y="2840328"/>
                <a:ext cx="1089868" cy="523220"/>
              </a:xfrm>
              <a:prstGeom prst="rect">
                <a:avLst/>
              </a:prstGeom>
              <a:blipFill>
                <a:blip r:embed="rId5"/>
                <a:stretch>
                  <a:fillRect l="-2326" r="-348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/>
              <p:nvPr/>
            </p:nvSpPr>
            <p:spPr>
              <a:xfrm>
                <a:off x="8056315" y="1772052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6315" y="1772052"/>
                <a:ext cx="365236" cy="523220"/>
              </a:xfrm>
              <a:prstGeom prst="rect">
                <a:avLst/>
              </a:prstGeom>
              <a:blipFill>
                <a:blip r:embed="rId6"/>
                <a:stretch>
                  <a:fillRect l="-10345" r="-68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/>
              <p:nvPr/>
            </p:nvSpPr>
            <p:spPr>
              <a:xfrm>
                <a:off x="7984875" y="3187906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875" y="3187906"/>
                <a:ext cx="365236" cy="523220"/>
              </a:xfrm>
              <a:prstGeom prst="rect">
                <a:avLst/>
              </a:prstGeom>
              <a:blipFill>
                <a:blip r:embed="rId7"/>
                <a:stretch>
                  <a:fillRect l="-6667" r="-10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/>
              <p:nvPr/>
            </p:nvSpPr>
            <p:spPr>
              <a:xfrm>
                <a:off x="10882673" y="2143352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673" y="2143352"/>
                <a:ext cx="388882" cy="434594"/>
              </a:xfrm>
              <a:prstGeom prst="rect">
                <a:avLst/>
              </a:prstGeom>
              <a:blipFill>
                <a:blip r:embed="rId8"/>
                <a:stretch>
                  <a:fillRect r="-12500"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/>
              <p:nvPr/>
            </p:nvSpPr>
            <p:spPr>
              <a:xfrm>
                <a:off x="10882673" y="3640764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673" y="3640764"/>
                <a:ext cx="388882" cy="434594"/>
              </a:xfrm>
              <a:prstGeom prst="rect">
                <a:avLst/>
              </a:prstGeom>
              <a:blipFill>
                <a:blip r:embed="rId9"/>
                <a:stretch>
                  <a:fillRect r="-12500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文本框 167">
            <a:extLst>
              <a:ext uri="{FF2B5EF4-FFF2-40B4-BE49-F238E27FC236}">
                <a16:creationId xmlns:a16="http://schemas.microsoft.com/office/drawing/2014/main" id="{CA5F63A0-FB5B-A04E-74AE-2B4318373C6A}"/>
              </a:ext>
            </a:extLst>
          </p:cNvPr>
          <p:cNvSpPr txBox="1"/>
          <p:nvPr/>
        </p:nvSpPr>
        <p:spPr>
          <a:xfrm>
            <a:off x="7822125" y="4992258"/>
            <a:ext cx="4134235" cy="1328023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1"/>
                </a:solidFill>
              </a:rPr>
              <a:t>误差曲线对称于交接频 </a:t>
            </a:r>
            <a:endParaRPr kumimoji="1" lang="en-US" altLang="zh-CN" sz="2400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1"/>
                </a:solidFill>
              </a:rPr>
              <a:t>误差主要位于交接频率上下十倍频程范围内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308989F-9666-CF36-4E85-F639F1A61BEE}"/>
                  </a:ext>
                </a:extLst>
              </p:cNvPr>
              <p:cNvSpPr txBox="1"/>
              <p:nvPr/>
            </p:nvSpPr>
            <p:spPr>
              <a:xfrm>
                <a:off x="8602029" y="1924010"/>
                <a:ext cx="19537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dec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1308989F-9666-CF36-4E85-F639F1A61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029" y="1924010"/>
                <a:ext cx="1953782" cy="523220"/>
              </a:xfrm>
              <a:prstGeom prst="rect">
                <a:avLst/>
              </a:prstGeom>
              <a:blipFill>
                <a:blip r:embed="rId10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实轴轨迹">
                <a:extLst>
                  <a:ext uri="{FF2B5EF4-FFF2-40B4-BE49-F238E27FC236}">
                    <a16:creationId xmlns:a16="http://schemas.microsoft.com/office/drawing/2014/main" id="{6EA0372F-3AF0-E711-12C4-828F5BFBF2B3}"/>
                  </a:ext>
                </a:extLst>
              </p:cNvPr>
              <p:cNvSpPr txBox="1"/>
              <p:nvPr/>
            </p:nvSpPr>
            <p:spPr>
              <a:xfrm>
                <a:off x="43671" y="1616416"/>
                <a:ext cx="7440048" cy="1211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=20</m:t>
                              </m:r>
                              <m:func>
                                <m:funcPr>
                                  <m:ctrlP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e>
                              </m:func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800" dirty="0"/>
                                <m:t>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zh-CN" altLang="en-US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dirty="0" smtClean="0">
                                      <a:latin typeface="Cambria Math" panose="02040503050406030204" pitchFamily="18" charset="0"/>
                                    </a:rPr>
                                    <m:t>arctan</m:t>
                                  </m:r>
                                </m:fNam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𝜔𝜏</m:t>
                                  </m:r>
                                  <m:r>
                                    <a:rPr lang="zh-CN" alt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   </m:t>
                                  </m:r>
                                </m:e>
                              </m:func>
                              <m:r>
                                <a:rPr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实轴轨迹">
                <a:extLst>
                  <a:ext uri="{FF2B5EF4-FFF2-40B4-BE49-F238E27FC236}">
                    <a16:creationId xmlns:a16="http://schemas.microsoft.com/office/drawing/2014/main" id="{6EA0372F-3AF0-E711-12C4-828F5BFB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1" y="1616416"/>
                <a:ext cx="7440048" cy="1211422"/>
              </a:xfrm>
              <a:prstGeom prst="rect">
                <a:avLst/>
              </a:prstGeom>
              <a:blipFill>
                <a:blip r:embed="rId11"/>
                <a:stretch>
                  <a:fillRect t="-208333" b="-2989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4A9F47B6-85E6-506E-E779-E9376947D6CB}"/>
              </a:ext>
            </a:extLst>
          </p:cNvPr>
          <p:cNvSpPr txBox="1"/>
          <p:nvPr/>
        </p:nvSpPr>
        <p:spPr>
          <a:xfrm>
            <a:off x="364628" y="3041641"/>
            <a:ext cx="1761321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交接频率</a:t>
            </a:r>
          </a:p>
        </p:txBody>
      </p:sp>
      <p:sp>
        <p:nvSpPr>
          <p:cNvPr id="27" name="文本">
            <a:extLst>
              <a:ext uri="{FF2B5EF4-FFF2-40B4-BE49-F238E27FC236}">
                <a16:creationId xmlns:a16="http://schemas.microsoft.com/office/drawing/2014/main" id="{C82480BD-3928-7044-591D-1CB7D24ED6FA}"/>
              </a:ext>
            </a:extLst>
          </p:cNvPr>
          <p:cNvSpPr txBox="1"/>
          <p:nvPr/>
        </p:nvSpPr>
        <p:spPr>
          <a:xfrm>
            <a:off x="320921" y="3886441"/>
            <a:ext cx="4312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交接频率处误差最大可达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实轴轨迹">
                <a:extLst>
                  <a:ext uri="{FF2B5EF4-FFF2-40B4-BE49-F238E27FC236}">
                    <a16:creationId xmlns:a16="http://schemas.microsoft.com/office/drawing/2014/main" id="{AA7F3917-9B90-AD89-1E5A-0E53DEE57471}"/>
                  </a:ext>
                </a:extLst>
              </p:cNvPr>
              <p:cNvSpPr txBox="1"/>
              <p:nvPr/>
            </p:nvSpPr>
            <p:spPr>
              <a:xfrm>
                <a:off x="-169490" y="4581128"/>
                <a:ext cx="7440048" cy="949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func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=3(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实轴轨迹">
                <a:extLst>
                  <a:ext uri="{FF2B5EF4-FFF2-40B4-BE49-F238E27FC236}">
                    <a16:creationId xmlns:a16="http://schemas.microsoft.com/office/drawing/2014/main" id="{AA7F3917-9B90-AD89-1E5A-0E53DEE5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9490" y="4581128"/>
                <a:ext cx="7440048" cy="949106"/>
              </a:xfrm>
              <a:prstGeom prst="rect">
                <a:avLst/>
              </a:prstGeom>
              <a:blipFill>
                <a:blip r:embed="rId12"/>
                <a:stretch>
                  <a:fillRect t="-142105" b="-18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幅频响应">
            <a:extLst>
              <a:ext uri="{FF2B5EF4-FFF2-40B4-BE49-F238E27FC236}">
                <a16:creationId xmlns:a16="http://schemas.microsoft.com/office/drawing/2014/main" id="{77D43CBE-78A2-6EC4-D704-0A965FA28C42}"/>
              </a:ext>
            </a:extLst>
          </p:cNvPr>
          <p:cNvSpPr/>
          <p:nvPr/>
        </p:nvSpPr>
        <p:spPr>
          <a:xfrm>
            <a:off x="8631359" y="2186514"/>
            <a:ext cx="2154082" cy="53189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617" h="982152">
                <a:moveTo>
                  <a:pt x="0" y="961947"/>
                </a:moveTo>
                <a:lnTo>
                  <a:pt x="623981" y="982152"/>
                </a:lnTo>
                <a:cubicBezTo>
                  <a:pt x="945912" y="457181"/>
                  <a:pt x="891420" y="478435"/>
                  <a:pt x="121961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相频响应">
            <a:extLst>
              <a:ext uri="{FF2B5EF4-FFF2-40B4-BE49-F238E27FC236}">
                <a16:creationId xmlns:a16="http://schemas.microsoft.com/office/drawing/2014/main" id="{4DA6BFBF-81D5-8517-C3FC-F3EA0DB6F062}"/>
              </a:ext>
            </a:extLst>
          </p:cNvPr>
          <p:cNvSpPr/>
          <p:nvPr/>
        </p:nvSpPr>
        <p:spPr>
          <a:xfrm>
            <a:off x="8629364" y="3479879"/>
            <a:ext cx="2158072" cy="64795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1219617 w 1219617"/>
              <a:gd name="connsiteY1" fmla="*/ 0 h 1008849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34143"/>
              <a:gd name="connsiteY0" fmla="*/ 1196456 h 1196456"/>
              <a:gd name="connsiteX1" fmla="*/ 1234143 w 1234143"/>
              <a:gd name="connsiteY1" fmla="*/ 0 h 119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34143" h="1196456">
                <a:moveTo>
                  <a:pt x="0" y="1196456"/>
                </a:moveTo>
                <a:cubicBezTo>
                  <a:pt x="619447" y="1184158"/>
                  <a:pt x="600909" y="21143"/>
                  <a:pt x="1234143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A9E73AE-9364-C58B-EA23-19B103D513C5}"/>
                  </a:ext>
                </a:extLst>
              </p:cNvPr>
              <p:cNvSpPr txBox="1"/>
              <p:nvPr/>
            </p:nvSpPr>
            <p:spPr>
              <a:xfrm>
                <a:off x="8201386" y="2446665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A9E73AE-9364-C58B-EA23-19B103D51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86" y="2446665"/>
                <a:ext cx="365236" cy="523220"/>
              </a:xfrm>
              <a:prstGeom prst="rect">
                <a:avLst/>
              </a:prstGeom>
              <a:blipFill>
                <a:blip r:embed="rId13"/>
                <a:stretch>
                  <a:fillRect l="-6667" r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辅助线">
            <a:extLst>
              <a:ext uri="{FF2B5EF4-FFF2-40B4-BE49-F238E27FC236}">
                <a16:creationId xmlns:a16="http://schemas.microsoft.com/office/drawing/2014/main" id="{4D952E30-B33D-7E04-E504-51AF22E91072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9733431" y="2718406"/>
            <a:ext cx="0" cy="1416768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辅助线">
            <a:extLst>
              <a:ext uri="{FF2B5EF4-FFF2-40B4-BE49-F238E27FC236}">
                <a16:creationId xmlns:a16="http://schemas.microsoft.com/office/drawing/2014/main" id="{74BDB56A-761D-F7CD-AA7B-1D82493A1EEF}"/>
              </a:ext>
            </a:extLst>
          </p:cNvPr>
          <p:cNvCxnSpPr>
            <a:cxnSpLocks/>
          </p:cNvCxnSpPr>
          <p:nvPr/>
        </p:nvCxnSpPr>
        <p:spPr>
          <a:xfrm flipH="1">
            <a:off x="8629364" y="3429000"/>
            <a:ext cx="2447750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幅频响应">
            <a:extLst>
              <a:ext uri="{FF2B5EF4-FFF2-40B4-BE49-F238E27FC236}">
                <a16:creationId xmlns:a16="http://schemas.microsoft.com/office/drawing/2014/main" id="{65F4706A-24CE-C85C-50EF-01E47A4A9EF7}"/>
              </a:ext>
            </a:extLst>
          </p:cNvPr>
          <p:cNvSpPr/>
          <p:nvPr/>
        </p:nvSpPr>
        <p:spPr>
          <a:xfrm>
            <a:off x="8608862" y="2179477"/>
            <a:ext cx="2154082" cy="52134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  <a:gd name="connsiteX0" fmla="*/ 0 w 1219617"/>
              <a:gd name="connsiteY0" fmla="*/ 961947 h 982217"/>
              <a:gd name="connsiteX1" fmla="*/ 623981 w 1219617"/>
              <a:gd name="connsiteY1" fmla="*/ 982152 h 982217"/>
              <a:gd name="connsiteX2" fmla="*/ 1219617 w 1219617"/>
              <a:gd name="connsiteY2" fmla="*/ 0 h 982217"/>
              <a:gd name="connsiteX0" fmla="*/ 0 w 1219617"/>
              <a:gd name="connsiteY0" fmla="*/ 961947 h 1012293"/>
              <a:gd name="connsiteX1" fmla="*/ 623981 w 1219617"/>
              <a:gd name="connsiteY1" fmla="*/ 982152 h 1012293"/>
              <a:gd name="connsiteX2" fmla="*/ 1219617 w 1219617"/>
              <a:gd name="connsiteY2" fmla="*/ 0 h 1012293"/>
              <a:gd name="connsiteX0" fmla="*/ 0 w 1219617"/>
              <a:gd name="connsiteY0" fmla="*/ 961947 h 973594"/>
              <a:gd name="connsiteX1" fmla="*/ 627576 w 1219617"/>
              <a:gd name="connsiteY1" fmla="*/ 923525 h 973594"/>
              <a:gd name="connsiteX2" fmla="*/ 1219617 w 1219617"/>
              <a:gd name="connsiteY2" fmla="*/ 0 h 973594"/>
              <a:gd name="connsiteX0" fmla="*/ 0 w 1219617"/>
              <a:gd name="connsiteY0" fmla="*/ 961947 h 982505"/>
              <a:gd name="connsiteX1" fmla="*/ 627576 w 1219617"/>
              <a:gd name="connsiteY1" fmla="*/ 923525 h 982505"/>
              <a:gd name="connsiteX2" fmla="*/ 1219617 w 1219617"/>
              <a:gd name="connsiteY2" fmla="*/ 0 h 982505"/>
              <a:gd name="connsiteX0" fmla="*/ 0 w 1219617"/>
              <a:gd name="connsiteY0" fmla="*/ 961947 h 966512"/>
              <a:gd name="connsiteX1" fmla="*/ 627576 w 1219617"/>
              <a:gd name="connsiteY1" fmla="*/ 923525 h 966512"/>
              <a:gd name="connsiteX2" fmla="*/ 1219617 w 1219617"/>
              <a:gd name="connsiteY2" fmla="*/ 0 h 966512"/>
              <a:gd name="connsiteX0" fmla="*/ 0 w 1219617"/>
              <a:gd name="connsiteY0" fmla="*/ 961947 h 962538"/>
              <a:gd name="connsiteX1" fmla="*/ 627576 w 1219617"/>
              <a:gd name="connsiteY1" fmla="*/ 864898 h 962538"/>
              <a:gd name="connsiteX2" fmla="*/ 1219617 w 1219617"/>
              <a:gd name="connsiteY2" fmla="*/ 0 h 962538"/>
              <a:gd name="connsiteX0" fmla="*/ 0 w 1219617"/>
              <a:gd name="connsiteY0" fmla="*/ 961947 h 965175"/>
              <a:gd name="connsiteX1" fmla="*/ 627576 w 1219617"/>
              <a:gd name="connsiteY1" fmla="*/ 864898 h 965175"/>
              <a:gd name="connsiteX2" fmla="*/ 1219617 w 1219617"/>
              <a:gd name="connsiteY2" fmla="*/ 0 h 965175"/>
              <a:gd name="connsiteX0" fmla="*/ 0 w 1219617"/>
              <a:gd name="connsiteY0" fmla="*/ 961947 h 962680"/>
              <a:gd name="connsiteX1" fmla="*/ 627576 w 1219617"/>
              <a:gd name="connsiteY1" fmla="*/ 864898 h 962680"/>
              <a:gd name="connsiteX2" fmla="*/ 1219617 w 1219617"/>
              <a:gd name="connsiteY2" fmla="*/ 0 h 962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617" h="962680">
                <a:moveTo>
                  <a:pt x="0" y="961947"/>
                </a:moveTo>
                <a:cubicBezTo>
                  <a:pt x="207994" y="968682"/>
                  <a:pt x="534631" y="928516"/>
                  <a:pt x="627576" y="864898"/>
                </a:cubicBezTo>
                <a:cubicBezTo>
                  <a:pt x="720521" y="801280"/>
                  <a:pt x="891420" y="478435"/>
                  <a:pt x="1219617" y="0"/>
                </a:cubicBezTo>
              </a:path>
            </a:pathLst>
          </a:custGeom>
          <a:noFill/>
          <a:ln w="38100">
            <a:solidFill>
              <a:schemeClr val="accent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93C014D-3EC2-C4E0-17EF-6E6DFF0B821C}"/>
                  </a:ext>
                </a:extLst>
              </p:cNvPr>
              <p:cNvSpPr txBox="1"/>
              <p:nvPr/>
            </p:nvSpPr>
            <p:spPr>
              <a:xfrm>
                <a:off x="2221186" y="3117544"/>
                <a:ext cx="1089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1/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93C014D-3EC2-C4E0-17EF-6E6DFF0B8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186" y="3117544"/>
                <a:ext cx="1089868" cy="523220"/>
              </a:xfrm>
              <a:prstGeom prst="rect">
                <a:avLst/>
              </a:prstGeom>
              <a:blipFill>
                <a:blip r:embed="rId1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474641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步骤1">
            <a:extLst>
              <a:ext uri="{FF2B5EF4-FFF2-40B4-BE49-F238E27FC236}">
                <a16:creationId xmlns:a16="http://schemas.microsoft.com/office/drawing/2014/main" id="{5C10AB70-CA96-476A-06A3-FE0EAC8F9C57}"/>
              </a:ext>
            </a:extLst>
          </p:cNvPr>
          <p:cNvGrpSpPr/>
          <p:nvPr/>
        </p:nvGrpSpPr>
        <p:grpSpPr>
          <a:xfrm>
            <a:off x="234439" y="1028501"/>
            <a:ext cx="2682119" cy="725177"/>
            <a:chOff x="4943078" y="1700704"/>
            <a:chExt cx="2682119" cy="725177"/>
          </a:xfrm>
        </p:grpSpPr>
        <p:sp>
          <p:nvSpPr>
            <p:cNvPr id="113" name="标题">
              <a:extLst>
                <a:ext uri="{FF2B5EF4-FFF2-40B4-BE49-F238E27FC236}">
                  <a16:creationId xmlns:a16="http://schemas.microsoft.com/office/drawing/2014/main" id="{DD9AFB52-E99F-9CAD-42A3-C74715A9A5B4}"/>
                </a:ext>
              </a:extLst>
            </p:cNvPr>
            <p:cNvSpPr/>
            <p:nvPr/>
          </p:nvSpPr>
          <p:spPr bwMode="auto">
            <a:xfrm>
              <a:off x="5375126" y="1769619"/>
              <a:ext cx="225007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震荡环节</a:t>
              </a:r>
            </a:p>
          </p:txBody>
        </p:sp>
        <p:sp>
          <p:nvSpPr>
            <p:cNvPr id="114" name="序号">
              <a:extLst>
                <a:ext uri="{FF2B5EF4-FFF2-40B4-BE49-F238E27FC236}">
                  <a16:creationId xmlns:a16="http://schemas.microsoft.com/office/drawing/2014/main" id="{AF26C346-1AF0-FF38-D177-72F9F43A6AF6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347437" y="349269"/>
            <a:ext cx="4688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典型环节的 </a:t>
            </a:r>
            <a:r>
              <a:rPr lang="en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Bode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</a:p>
        </p:txBody>
      </p:sp>
      <p:cxnSp>
        <p:nvCxnSpPr>
          <p:cNvPr id="150" name="频率轴1">
            <a:extLst>
              <a:ext uri="{FF2B5EF4-FFF2-40B4-BE49-F238E27FC236}">
                <a16:creationId xmlns:a16="http://schemas.microsoft.com/office/drawing/2014/main" id="{C0587470-794D-FE13-07C4-35CAF04438B3}"/>
              </a:ext>
            </a:extLst>
          </p:cNvPr>
          <p:cNvCxnSpPr>
            <a:cxnSpLocks/>
          </p:cNvCxnSpPr>
          <p:nvPr/>
        </p:nvCxnSpPr>
        <p:spPr>
          <a:xfrm>
            <a:off x="7924665" y="2704526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幅值轴">
            <a:extLst>
              <a:ext uri="{FF2B5EF4-FFF2-40B4-BE49-F238E27FC236}">
                <a16:creationId xmlns:a16="http://schemas.microsoft.com/office/drawing/2014/main" id="{611FC131-5E7D-7152-BFBD-79FE7E676B49}"/>
              </a:ext>
            </a:extLst>
          </p:cNvPr>
          <p:cNvCxnSpPr>
            <a:cxnSpLocks/>
          </p:cNvCxnSpPr>
          <p:nvPr/>
        </p:nvCxnSpPr>
        <p:spPr>
          <a:xfrm flipH="1" flipV="1">
            <a:off x="7913839" y="2472207"/>
            <a:ext cx="1301" cy="17035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频率轴2">
            <a:extLst>
              <a:ext uri="{FF2B5EF4-FFF2-40B4-BE49-F238E27FC236}">
                <a16:creationId xmlns:a16="http://schemas.microsoft.com/office/drawing/2014/main" id="{E9F9B284-197F-7F8F-E413-92999E1423F4}"/>
              </a:ext>
            </a:extLst>
          </p:cNvPr>
          <p:cNvCxnSpPr>
            <a:cxnSpLocks/>
          </p:cNvCxnSpPr>
          <p:nvPr/>
        </p:nvCxnSpPr>
        <p:spPr>
          <a:xfrm>
            <a:off x="7907641" y="4868863"/>
            <a:ext cx="25197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相角轴">
            <a:extLst>
              <a:ext uri="{FF2B5EF4-FFF2-40B4-BE49-F238E27FC236}">
                <a16:creationId xmlns:a16="http://schemas.microsoft.com/office/drawing/2014/main" id="{BD6B5A75-B6FB-18CB-9514-7D91A3473F85}"/>
              </a:ext>
            </a:extLst>
          </p:cNvPr>
          <p:cNvCxnSpPr>
            <a:cxnSpLocks/>
          </p:cNvCxnSpPr>
          <p:nvPr/>
        </p:nvCxnSpPr>
        <p:spPr>
          <a:xfrm flipV="1">
            <a:off x="7894638" y="4501578"/>
            <a:ext cx="0" cy="18797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/>
              <p:nvPr/>
            </p:nvSpPr>
            <p:spPr>
              <a:xfrm>
                <a:off x="7883820" y="2023097"/>
                <a:ext cx="14897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557A95DC-30FC-C006-DD5E-A9367712C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20" y="2023097"/>
                <a:ext cx="148975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/>
              <p:nvPr/>
            </p:nvSpPr>
            <p:spPr>
              <a:xfrm>
                <a:off x="7098376" y="3887377"/>
                <a:ext cx="365236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93753A8-F887-0DBF-5852-A3FB19A53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376" y="3887377"/>
                <a:ext cx="365236" cy="524695"/>
              </a:xfrm>
              <a:prstGeom prst="rect">
                <a:avLst/>
              </a:prstGeom>
              <a:blipFill>
                <a:blip r:embed="rId4"/>
                <a:stretch>
                  <a:fillRect r="-1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/>
              <p:nvPr/>
            </p:nvSpPr>
            <p:spPr>
              <a:xfrm>
                <a:off x="7948340" y="4289229"/>
                <a:ext cx="10898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DF0ADFF-DF7A-38A3-4813-0BE3C94BA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8340" y="4289229"/>
                <a:ext cx="1089868" cy="523220"/>
              </a:xfrm>
              <a:prstGeom prst="rect">
                <a:avLst/>
              </a:prstGeom>
              <a:blipFill>
                <a:blip r:embed="rId5"/>
                <a:stretch>
                  <a:fillRect l="-1149" r="-344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/>
              <p:nvPr/>
            </p:nvSpPr>
            <p:spPr>
              <a:xfrm>
                <a:off x="7088033" y="3167390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26052E71-B921-1732-B6BA-A9A7689C5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033" y="3167390"/>
                <a:ext cx="365236" cy="523220"/>
              </a:xfrm>
              <a:prstGeom prst="rect">
                <a:avLst/>
              </a:prstGeom>
              <a:blipFill>
                <a:blip r:embed="rId6"/>
                <a:stretch>
                  <a:fillRect r="-1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/>
              <p:nvPr/>
            </p:nvSpPr>
            <p:spPr>
              <a:xfrm>
                <a:off x="6961132" y="5325653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−90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CAE5CC4-FE08-8563-D9D5-20084C117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132" y="5325653"/>
                <a:ext cx="365236" cy="523220"/>
              </a:xfrm>
              <a:prstGeom prst="rect">
                <a:avLst/>
              </a:prstGeom>
              <a:blipFill>
                <a:blip r:embed="rId7"/>
                <a:stretch>
                  <a:fillRect r="-175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/>
              <p:nvPr/>
            </p:nvSpPr>
            <p:spPr>
              <a:xfrm>
                <a:off x="10232958" y="2170085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3393D4F-D1E7-52FC-07D6-68C75DD4D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958" y="2170085"/>
                <a:ext cx="388882" cy="434594"/>
              </a:xfrm>
              <a:prstGeom prst="rect">
                <a:avLst/>
              </a:prstGeom>
              <a:blipFill>
                <a:blip r:embed="rId8"/>
                <a:stretch>
                  <a:fillRect r="-12500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/>
              <p:nvPr/>
            </p:nvSpPr>
            <p:spPr>
              <a:xfrm>
                <a:off x="10224102" y="4348307"/>
                <a:ext cx="388882" cy="434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F9F73FB-CC84-A297-A36A-62212DD3F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4102" y="4348307"/>
                <a:ext cx="388882" cy="434594"/>
              </a:xfrm>
              <a:prstGeom prst="rect">
                <a:avLst/>
              </a:prstGeom>
              <a:blipFill>
                <a:blip r:embed="rId9"/>
                <a:stretch>
                  <a:fillRect r="-12500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实轴轨迹">
                <a:extLst>
                  <a:ext uri="{FF2B5EF4-FFF2-40B4-BE49-F238E27FC236}">
                    <a16:creationId xmlns:a16="http://schemas.microsoft.com/office/drawing/2014/main" id="{6EA0372F-3AF0-E711-12C4-828F5BFBF2B3}"/>
                  </a:ext>
                </a:extLst>
              </p:cNvPr>
              <p:cNvSpPr txBox="1"/>
              <p:nvPr/>
            </p:nvSpPr>
            <p:spPr>
              <a:xfrm>
                <a:off x="347438" y="1785868"/>
                <a:ext cx="5952530" cy="2968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brk m:alnAt="63"/>
                          </m:r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box>
                          <m:box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box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box>
                          <m:box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</m:den>
                    </m:f>
                  </m:oMath>
                </a14:m>
                <a:r>
                  <a:rPr lang="zh-CN" altLang="en-US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=−20</m:t>
                            </m:r>
                            <m:func>
                              <m:funcPr>
                                <m:ctrlPr>
                                  <a:rPr lang="zh-CN" alt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CN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63"/>
                                              </m:r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box>
                                              <m:boxPr>
                                                <m:ctrlP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lang="en-US" altLang="zh-CN" sz="28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p>
                                                      <m:sSupPr>
                                                        <m:ctrlP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pPr>
                                                      <m:e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p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</m:sup>
                                                    </m:sSup>
                                                  </m:num>
                                                  <m:den>
                                                    <m:sSubSup>
                                                      <m:sSubSupPr>
                                                        <m:ctrlP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</m:sup>
                                                    </m:sSubSup>
                                                  </m:den>
                                                </m:f>
                                              </m:e>
                                            </m:box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CN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𝜁</m:t>
                                            </m:r>
                                            <m:box>
                                              <m:boxPr>
                                                <m:ctrlP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lang="en-US" altLang="zh-CN" sz="28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altLang="zh-CN" sz="28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𝜔</m:t>
                                                    </m:r>
                                                  </m:num>
                                                  <m:den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sub>
                                                    </m:sSub>
                                                  </m:den>
                                                </m:f>
                                              </m:e>
                                            </m:box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func>
                          </m:e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800" dirty="0"/>
                              <m:t> 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zh-CN" altLang="en-US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800" b="0" i="0" dirty="0" smtClean="0">
                                    <a:latin typeface="Cambria Math" panose="02040503050406030204" pitchFamily="18" charset="0"/>
                                  </a:rPr>
                                  <m:t>arctan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lin"/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𝜁</m:t>
                                            </m:r>
                                            <m:box>
                                              <m:boxPr>
                                                <m:ctrlP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lang="en-US" altLang="zh-CN" sz="28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altLang="zh-CN" sz="28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𝜔</m:t>
                                                    </m:r>
                                                  </m:num>
                                                  <m:den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sub>
                                                    </m:sSub>
                                                  </m:den>
                                                </m:f>
                                              </m:e>
                                            </m:box>
                                          </m:e>
                                        </m:d>
                                      </m:num>
                                      <m:den>
                                        <m:d>
                                          <m:d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63"/>
                                              </m:r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box>
                                              <m:boxPr>
                                                <m:ctrlP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lang="en-US" altLang="zh-CN" sz="28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p>
                                                      <m:sSupPr>
                                                        <m:ctrlP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pPr>
                                                      <m:e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p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</m:sup>
                                                    </m:sSup>
                                                  </m:num>
                                                  <m:den>
                                                    <m:sSubSup>
                                                      <m:sSubSupPr>
                                                        <m:ctrlP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SupPr>
                                                      <m:e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𝜔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sub>
                                                      <m:sup>
                                                        <m:r>
                                                          <a:rPr lang="en-US" altLang="zh-CN" sz="28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2</m:t>
                                                        </m:r>
                                                      </m:sup>
                                                    </m:sSubSup>
                                                  </m:den>
                                                </m:f>
                                              </m:e>
                                            </m:box>
                                          </m:e>
                                        </m:d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zh-CN" altLang="en-US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7" name="实轴轨迹">
                <a:extLst>
                  <a:ext uri="{FF2B5EF4-FFF2-40B4-BE49-F238E27FC236}">
                    <a16:creationId xmlns:a16="http://schemas.microsoft.com/office/drawing/2014/main" id="{6EA0372F-3AF0-E711-12C4-828F5BFB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38" y="1785868"/>
                <a:ext cx="5952530" cy="2968698"/>
              </a:xfrm>
              <a:prstGeom prst="rect">
                <a:avLst/>
              </a:prstGeom>
              <a:blipFill>
                <a:blip r:embed="rId10"/>
                <a:stretch>
                  <a:fillRect l="-640" r="-1919" b="-35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实轴轨迹">
                <a:extLst>
                  <a:ext uri="{FF2B5EF4-FFF2-40B4-BE49-F238E27FC236}">
                    <a16:creationId xmlns:a16="http://schemas.microsoft.com/office/drawing/2014/main" id="{AA7F3917-9B90-AD89-1E5A-0E53DEE57471}"/>
                  </a:ext>
                </a:extLst>
              </p:cNvPr>
              <p:cNvSpPr txBox="1"/>
              <p:nvPr/>
            </p:nvSpPr>
            <p:spPr>
              <a:xfrm>
                <a:off x="183577" y="4614451"/>
                <a:ext cx="3624188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实轴轨迹">
                <a:extLst>
                  <a:ext uri="{FF2B5EF4-FFF2-40B4-BE49-F238E27FC236}">
                    <a16:creationId xmlns:a16="http://schemas.microsoft.com/office/drawing/2014/main" id="{AA7F3917-9B90-AD89-1E5A-0E53DEE5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77" y="4614451"/>
                <a:ext cx="3624188" cy="1053494"/>
              </a:xfrm>
              <a:prstGeom prst="rect">
                <a:avLst/>
              </a:prstGeom>
              <a:blipFill>
                <a:blip r:embed="rId11"/>
                <a:stretch>
                  <a:fillRect l="-5944" t="-201190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相频响应">
            <a:extLst>
              <a:ext uri="{FF2B5EF4-FFF2-40B4-BE49-F238E27FC236}">
                <a16:creationId xmlns:a16="http://schemas.microsoft.com/office/drawing/2014/main" id="{4DA6BFBF-81D5-8517-C3FC-F3EA0DB6F062}"/>
              </a:ext>
            </a:extLst>
          </p:cNvPr>
          <p:cNvSpPr/>
          <p:nvPr/>
        </p:nvSpPr>
        <p:spPr>
          <a:xfrm flipV="1">
            <a:off x="7915140" y="4928780"/>
            <a:ext cx="2126322" cy="134010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1219617 w 1219617"/>
              <a:gd name="connsiteY1" fmla="*/ 0 h 1008849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5986" h="2474528">
                <a:moveTo>
                  <a:pt x="0" y="2474528"/>
                </a:moveTo>
                <a:cubicBezTo>
                  <a:pt x="619447" y="2462230"/>
                  <a:pt x="622698" y="21143"/>
                  <a:pt x="1215986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A9E73AE-9364-C58B-EA23-19B103D513C5}"/>
                  </a:ext>
                </a:extLst>
              </p:cNvPr>
              <p:cNvSpPr txBox="1"/>
              <p:nvPr/>
            </p:nvSpPr>
            <p:spPr>
              <a:xfrm>
                <a:off x="7559760" y="2446665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A9E73AE-9364-C58B-EA23-19B103D51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60" y="2446665"/>
                <a:ext cx="365236" cy="523220"/>
              </a:xfrm>
              <a:prstGeom prst="rect">
                <a:avLst/>
              </a:prstGeom>
              <a:blipFill>
                <a:blip r:embed="rId12"/>
                <a:stretch>
                  <a:fillRect l="-10345" r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辅助线">
            <a:extLst>
              <a:ext uri="{FF2B5EF4-FFF2-40B4-BE49-F238E27FC236}">
                <a16:creationId xmlns:a16="http://schemas.microsoft.com/office/drawing/2014/main" id="{4D952E30-B33D-7E04-E504-51AF22E91072}"/>
              </a:ext>
            </a:extLst>
          </p:cNvPr>
          <p:cNvCxnSpPr>
            <a:cxnSpLocks/>
          </p:cNvCxnSpPr>
          <p:nvPr/>
        </p:nvCxnSpPr>
        <p:spPr>
          <a:xfrm flipV="1">
            <a:off x="10055225" y="4891957"/>
            <a:ext cx="0" cy="1416768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辅助线">
            <a:extLst>
              <a:ext uri="{FF2B5EF4-FFF2-40B4-BE49-F238E27FC236}">
                <a16:creationId xmlns:a16="http://schemas.microsoft.com/office/drawing/2014/main" id="{74BDB56A-761D-F7CD-AA7B-1D82493A1EEF}"/>
              </a:ext>
            </a:extLst>
          </p:cNvPr>
          <p:cNvCxnSpPr>
            <a:cxnSpLocks/>
          </p:cNvCxnSpPr>
          <p:nvPr/>
        </p:nvCxnSpPr>
        <p:spPr>
          <a:xfrm flipH="1">
            <a:off x="7883820" y="6308725"/>
            <a:ext cx="2171405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幅频响应">
            <a:extLst>
              <a:ext uri="{FF2B5EF4-FFF2-40B4-BE49-F238E27FC236}">
                <a16:creationId xmlns:a16="http://schemas.microsoft.com/office/drawing/2014/main" id="{65F4706A-24CE-C85C-50EF-01E47A4A9EF7}"/>
              </a:ext>
            </a:extLst>
          </p:cNvPr>
          <p:cNvSpPr/>
          <p:nvPr/>
        </p:nvSpPr>
        <p:spPr>
          <a:xfrm flipV="1">
            <a:off x="7934521" y="2530867"/>
            <a:ext cx="2135032" cy="157505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  <a:gd name="connsiteX0" fmla="*/ 0 w 1219617"/>
              <a:gd name="connsiteY0" fmla="*/ 961947 h 982217"/>
              <a:gd name="connsiteX1" fmla="*/ 623981 w 1219617"/>
              <a:gd name="connsiteY1" fmla="*/ 982152 h 982217"/>
              <a:gd name="connsiteX2" fmla="*/ 1219617 w 1219617"/>
              <a:gd name="connsiteY2" fmla="*/ 0 h 982217"/>
              <a:gd name="connsiteX0" fmla="*/ 0 w 1219617"/>
              <a:gd name="connsiteY0" fmla="*/ 961947 h 1012293"/>
              <a:gd name="connsiteX1" fmla="*/ 623981 w 1219617"/>
              <a:gd name="connsiteY1" fmla="*/ 982152 h 1012293"/>
              <a:gd name="connsiteX2" fmla="*/ 1219617 w 1219617"/>
              <a:gd name="connsiteY2" fmla="*/ 0 h 1012293"/>
              <a:gd name="connsiteX0" fmla="*/ 0 w 1219617"/>
              <a:gd name="connsiteY0" fmla="*/ 961947 h 973594"/>
              <a:gd name="connsiteX1" fmla="*/ 627576 w 1219617"/>
              <a:gd name="connsiteY1" fmla="*/ 923525 h 973594"/>
              <a:gd name="connsiteX2" fmla="*/ 1219617 w 1219617"/>
              <a:gd name="connsiteY2" fmla="*/ 0 h 973594"/>
              <a:gd name="connsiteX0" fmla="*/ 0 w 1219617"/>
              <a:gd name="connsiteY0" fmla="*/ 961947 h 982505"/>
              <a:gd name="connsiteX1" fmla="*/ 627576 w 1219617"/>
              <a:gd name="connsiteY1" fmla="*/ 923525 h 982505"/>
              <a:gd name="connsiteX2" fmla="*/ 1219617 w 1219617"/>
              <a:gd name="connsiteY2" fmla="*/ 0 h 982505"/>
              <a:gd name="connsiteX0" fmla="*/ 0 w 1219617"/>
              <a:gd name="connsiteY0" fmla="*/ 961947 h 966512"/>
              <a:gd name="connsiteX1" fmla="*/ 627576 w 1219617"/>
              <a:gd name="connsiteY1" fmla="*/ 923525 h 966512"/>
              <a:gd name="connsiteX2" fmla="*/ 1219617 w 1219617"/>
              <a:gd name="connsiteY2" fmla="*/ 0 h 966512"/>
              <a:gd name="connsiteX0" fmla="*/ 0 w 1219617"/>
              <a:gd name="connsiteY0" fmla="*/ 961947 h 962538"/>
              <a:gd name="connsiteX1" fmla="*/ 627576 w 1219617"/>
              <a:gd name="connsiteY1" fmla="*/ 864898 h 962538"/>
              <a:gd name="connsiteX2" fmla="*/ 1219617 w 1219617"/>
              <a:gd name="connsiteY2" fmla="*/ 0 h 962538"/>
              <a:gd name="connsiteX0" fmla="*/ 0 w 1219617"/>
              <a:gd name="connsiteY0" fmla="*/ 961947 h 965175"/>
              <a:gd name="connsiteX1" fmla="*/ 627576 w 1219617"/>
              <a:gd name="connsiteY1" fmla="*/ 864898 h 965175"/>
              <a:gd name="connsiteX2" fmla="*/ 1219617 w 1219617"/>
              <a:gd name="connsiteY2" fmla="*/ 0 h 965175"/>
              <a:gd name="connsiteX0" fmla="*/ 0 w 1219617"/>
              <a:gd name="connsiteY0" fmla="*/ 961947 h 962680"/>
              <a:gd name="connsiteX1" fmla="*/ 627576 w 1219617"/>
              <a:gd name="connsiteY1" fmla="*/ 864898 h 962680"/>
              <a:gd name="connsiteX2" fmla="*/ 1219617 w 1219617"/>
              <a:gd name="connsiteY2" fmla="*/ 0 h 962680"/>
              <a:gd name="connsiteX0" fmla="*/ 0 w 1208831"/>
              <a:gd name="connsiteY0" fmla="*/ 2580056 h 2704891"/>
              <a:gd name="connsiteX1" fmla="*/ 627576 w 1208831"/>
              <a:gd name="connsiteY1" fmla="*/ 2483007 h 2704891"/>
              <a:gd name="connsiteX2" fmla="*/ 1208831 w 1208831"/>
              <a:gd name="connsiteY2" fmla="*/ 0 h 2704891"/>
              <a:gd name="connsiteX0" fmla="*/ 0 w 1208831"/>
              <a:gd name="connsiteY0" fmla="*/ 2580056 h 2704889"/>
              <a:gd name="connsiteX1" fmla="*/ 627576 w 1208831"/>
              <a:gd name="connsiteY1" fmla="*/ 2483007 h 2704889"/>
              <a:gd name="connsiteX2" fmla="*/ 1208831 w 1208831"/>
              <a:gd name="connsiteY2" fmla="*/ 0 h 2704889"/>
              <a:gd name="connsiteX0" fmla="*/ 0 w 1208831"/>
              <a:gd name="connsiteY0" fmla="*/ 2580056 h 2957558"/>
              <a:gd name="connsiteX1" fmla="*/ 620385 w 1208831"/>
              <a:gd name="connsiteY1" fmla="*/ 2811319 h 2957558"/>
              <a:gd name="connsiteX2" fmla="*/ 1208831 w 1208831"/>
              <a:gd name="connsiteY2" fmla="*/ 0 h 2957558"/>
              <a:gd name="connsiteX0" fmla="*/ 0 w 1208831"/>
              <a:gd name="connsiteY0" fmla="*/ 2580056 h 2817429"/>
              <a:gd name="connsiteX1" fmla="*/ 620385 w 1208831"/>
              <a:gd name="connsiteY1" fmla="*/ 2811319 h 2817429"/>
              <a:gd name="connsiteX2" fmla="*/ 1208831 w 1208831"/>
              <a:gd name="connsiteY2" fmla="*/ 0 h 2817429"/>
              <a:gd name="connsiteX0" fmla="*/ 0 w 1208831"/>
              <a:gd name="connsiteY0" fmla="*/ 2580056 h 2813319"/>
              <a:gd name="connsiteX1" fmla="*/ 620385 w 1208831"/>
              <a:gd name="connsiteY1" fmla="*/ 2811319 h 2813319"/>
              <a:gd name="connsiteX2" fmla="*/ 1208831 w 1208831"/>
              <a:gd name="connsiteY2" fmla="*/ 0 h 2813319"/>
              <a:gd name="connsiteX0" fmla="*/ 0 w 1208831"/>
              <a:gd name="connsiteY0" fmla="*/ 2580056 h 2813975"/>
              <a:gd name="connsiteX1" fmla="*/ 620385 w 1208831"/>
              <a:gd name="connsiteY1" fmla="*/ 2811319 h 2813975"/>
              <a:gd name="connsiteX2" fmla="*/ 1208831 w 1208831"/>
              <a:gd name="connsiteY2" fmla="*/ 0 h 2813975"/>
              <a:gd name="connsiteX0" fmla="*/ 0 w 1208831"/>
              <a:gd name="connsiteY0" fmla="*/ 2580056 h 2811410"/>
              <a:gd name="connsiteX1" fmla="*/ 620385 w 1208831"/>
              <a:gd name="connsiteY1" fmla="*/ 2811319 h 2811410"/>
              <a:gd name="connsiteX2" fmla="*/ 1208831 w 1208831"/>
              <a:gd name="connsiteY2" fmla="*/ 0 h 2811410"/>
              <a:gd name="connsiteX0" fmla="*/ 0 w 1208831"/>
              <a:gd name="connsiteY0" fmla="*/ 2580056 h 2905212"/>
              <a:gd name="connsiteX1" fmla="*/ 627575 w 1208831"/>
              <a:gd name="connsiteY1" fmla="*/ 2905123 h 2905212"/>
              <a:gd name="connsiteX2" fmla="*/ 1208831 w 1208831"/>
              <a:gd name="connsiteY2" fmla="*/ 0 h 2905212"/>
              <a:gd name="connsiteX0" fmla="*/ 0 w 1208831"/>
              <a:gd name="connsiteY0" fmla="*/ 2580056 h 2908375"/>
              <a:gd name="connsiteX1" fmla="*/ 627575 w 1208831"/>
              <a:gd name="connsiteY1" fmla="*/ 2905123 h 2908375"/>
              <a:gd name="connsiteX2" fmla="*/ 1208831 w 1208831"/>
              <a:gd name="connsiteY2" fmla="*/ 0 h 2908375"/>
              <a:gd name="connsiteX0" fmla="*/ 0 w 1208831"/>
              <a:gd name="connsiteY0" fmla="*/ 2580056 h 2908377"/>
              <a:gd name="connsiteX1" fmla="*/ 627575 w 1208831"/>
              <a:gd name="connsiteY1" fmla="*/ 2905123 h 2908377"/>
              <a:gd name="connsiteX2" fmla="*/ 1208831 w 1208831"/>
              <a:gd name="connsiteY2" fmla="*/ 0 h 2908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8831" h="2908377">
                <a:moveTo>
                  <a:pt x="0" y="2580056"/>
                </a:moveTo>
                <a:cubicBezTo>
                  <a:pt x="207994" y="2586791"/>
                  <a:pt x="483628" y="2807486"/>
                  <a:pt x="627575" y="2905123"/>
                </a:cubicBezTo>
                <a:cubicBezTo>
                  <a:pt x="771522" y="3002760"/>
                  <a:pt x="988493" y="877099"/>
                  <a:pt x="1208831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C59E562-BCA1-0A0D-9EBD-80BF11D4F408}"/>
                  </a:ext>
                </a:extLst>
              </p:cNvPr>
              <p:cNvSpPr txBox="1"/>
              <p:nvPr/>
            </p:nvSpPr>
            <p:spPr>
              <a:xfrm>
                <a:off x="3088028" y="951332"/>
                <a:ext cx="5205806" cy="108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box>
                          <m:box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box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box>
                          <m:box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box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C59E562-BCA1-0A0D-9EBD-80BF11D4F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028" y="951332"/>
                <a:ext cx="5205806" cy="1087414"/>
              </a:xfrm>
              <a:prstGeom prst="rect">
                <a:avLst/>
              </a:prstGeom>
              <a:blipFill>
                <a:blip r:embed="rId13"/>
                <a:stretch>
                  <a:fillRect l="-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实轴轨迹">
                <a:extLst>
                  <a:ext uri="{FF2B5EF4-FFF2-40B4-BE49-F238E27FC236}">
                    <a16:creationId xmlns:a16="http://schemas.microsoft.com/office/drawing/2014/main" id="{C44BD6A8-6C45-BE93-5601-FE7659F66FA8}"/>
                  </a:ext>
                </a:extLst>
              </p:cNvPr>
              <p:cNvSpPr txBox="1"/>
              <p:nvPr/>
            </p:nvSpPr>
            <p:spPr>
              <a:xfrm>
                <a:off x="406574" y="5656269"/>
                <a:ext cx="5040560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−40</m:t>
                              </m:r>
                              <m:func>
                                <m:funcPr>
                                  <m:ctrlPr>
                                    <a:rPr lang="zh-CN" alt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lg</m:t>
                                  </m:r>
                                </m:fName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≈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180°</m:t>
                              </m:r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实轴轨迹">
                <a:extLst>
                  <a:ext uri="{FF2B5EF4-FFF2-40B4-BE49-F238E27FC236}">
                    <a16:creationId xmlns:a16="http://schemas.microsoft.com/office/drawing/2014/main" id="{C44BD6A8-6C45-BE93-5601-FE7659F66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4" y="5656269"/>
                <a:ext cx="5040560" cy="1053494"/>
              </a:xfrm>
              <a:prstGeom prst="rect">
                <a:avLst/>
              </a:prstGeom>
              <a:blipFill>
                <a:blip r:embed="rId14"/>
                <a:stretch>
                  <a:fillRect l="-9548" t="-201190" r="-754" b="-29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26E4EBF-BD81-BDA4-33D2-1FB58BA1F307}"/>
                  </a:ext>
                </a:extLst>
              </p:cNvPr>
              <p:cNvSpPr txBox="1"/>
              <p:nvPr/>
            </p:nvSpPr>
            <p:spPr>
              <a:xfrm>
                <a:off x="6743280" y="6068080"/>
                <a:ext cx="3652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26E4EBF-BD81-BDA4-33D2-1FB58BA1F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280" y="6068080"/>
                <a:ext cx="365236" cy="523220"/>
              </a:xfrm>
              <a:prstGeom prst="rect">
                <a:avLst/>
              </a:prstGeom>
              <a:blipFill>
                <a:blip r:embed="rId15"/>
                <a:stretch>
                  <a:fillRect r="-2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辅助线">
            <a:extLst>
              <a:ext uri="{FF2B5EF4-FFF2-40B4-BE49-F238E27FC236}">
                <a16:creationId xmlns:a16="http://schemas.microsoft.com/office/drawing/2014/main" id="{5B0228C7-B5BC-D758-5B9C-311BF3B5061D}"/>
              </a:ext>
            </a:extLst>
          </p:cNvPr>
          <p:cNvCxnSpPr>
            <a:cxnSpLocks/>
          </p:cNvCxnSpPr>
          <p:nvPr/>
        </p:nvCxnSpPr>
        <p:spPr>
          <a:xfrm flipV="1">
            <a:off x="9002037" y="4881204"/>
            <a:ext cx="0" cy="1416768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辅助线">
            <a:extLst>
              <a:ext uri="{FF2B5EF4-FFF2-40B4-BE49-F238E27FC236}">
                <a16:creationId xmlns:a16="http://schemas.microsoft.com/office/drawing/2014/main" id="{6CE8CEE4-243F-4460-3287-623644D5BFCC}"/>
              </a:ext>
            </a:extLst>
          </p:cNvPr>
          <p:cNvCxnSpPr>
            <a:cxnSpLocks/>
          </p:cNvCxnSpPr>
          <p:nvPr/>
        </p:nvCxnSpPr>
        <p:spPr>
          <a:xfrm flipH="1">
            <a:off x="7898148" y="5584088"/>
            <a:ext cx="2171405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辅助线">
            <a:extLst>
              <a:ext uri="{FF2B5EF4-FFF2-40B4-BE49-F238E27FC236}">
                <a16:creationId xmlns:a16="http://schemas.microsoft.com/office/drawing/2014/main" id="{EC28DA14-435E-3F16-F685-14023F7A274C}"/>
              </a:ext>
            </a:extLst>
          </p:cNvPr>
          <p:cNvCxnSpPr>
            <a:cxnSpLocks/>
          </p:cNvCxnSpPr>
          <p:nvPr/>
        </p:nvCxnSpPr>
        <p:spPr>
          <a:xfrm flipV="1">
            <a:off x="10081742" y="2736869"/>
            <a:ext cx="0" cy="1416768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辅助线">
            <a:extLst>
              <a:ext uri="{FF2B5EF4-FFF2-40B4-BE49-F238E27FC236}">
                <a16:creationId xmlns:a16="http://schemas.microsoft.com/office/drawing/2014/main" id="{ED4A848A-5D7B-BA91-E923-87DF601665E1}"/>
              </a:ext>
            </a:extLst>
          </p:cNvPr>
          <p:cNvCxnSpPr>
            <a:cxnSpLocks/>
          </p:cNvCxnSpPr>
          <p:nvPr/>
        </p:nvCxnSpPr>
        <p:spPr>
          <a:xfrm flipH="1">
            <a:off x="7910337" y="4153637"/>
            <a:ext cx="2171405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辅助线">
            <a:extLst>
              <a:ext uri="{FF2B5EF4-FFF2-40B4-BE49-F238E27FC236}">
                <a16:creationId xmlns:a16="http://schemas.microsoft.com/office/drawing/2014/main" id="{BF232FFB-606E-6143-BC09-9EB15B665A84}"/>
              </a:ext>
            </a:extLst>
          </p:cNvPr>
          <p:cNvCxnSpPr>
            <a:cxnSpLocks/>
          </p:cNvCxnSpPr>
          <p:nvPr/>
        </p:nvCxnSpPr>
        <p:spPr>
          <a:xfrm flipV="1">
            <a:off x="9028554" y="2726116"/>
            <a:ext cx="0" cy="1416768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辅助线">
            <a:extLst>
              <a:ext uri="{FF2B5EF4-FFF2-40B4-BE49-F238E27FC236}">
                <a16:creationId xmlns:a16="http://schemas.microsoft.com/office/drawing/2014/main" id="{B3308B38-C5E0-E841-CB16-D7CB48237446}"/>
              </a:ext>
            </a:extLst>
          </p:cNvPr>
          <p:cNvCxnSpPr>
            <a:cxnSpLocks/>
          </p:cNvCxnSpPr>
          <p:nvPr/>
        </p:nvCxnSpPr>
        <p:spPr>
          <a:xfrm flipH="1">
            <a:off x="7924665" y="3429000"/>
            <a:ext cx="2171405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幅频响应">
            <a:extLst>
              <a:ext uri="{FF2B5EF4-FFF2-40B4-BE49-F238E27FC236}">
                <a16:creationId xmlns:a16="http://schemas.microsoft.com/office/drawing/2014/main" id="{41C0FF4E-229C-B87A-2307-B254909857B3}"/>
              </a:ext>
            </a:extLst>
          </p:cNvPr>
          <p:cNvSpPr/>
          <p:nvPr/>
        </p:nvSpPr>
        <p:spPr>
          <a:xfrm flipV="1">
            <a:off x="7940616" y="2627342"/>
            <a:ext cx="2135032" cy="147858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  <a:gd name="connsiteX0" fmla="*/ 0 w 1219617"/>
              <a:gd name="connsiteY0" fmla="*/ 961947 h 982217"/>
              <a:gd name="connsiteX1" fmla="*/ 623981 w 1219617"/>
              <a:gd name="connsiteY1" fmla="*/ 982152 h 982217"/>
              <a:gd name="connsiteX2" fmla="*/ 1219617 w 1219617"/>
              <a:gd name="connsiteY2" fmla="*/ 0 h 982217"/>
              <a:gd name="connsiteX0" fmla="*/ 0 w 1219617"/>
              <a:gd name="connsiteY0" fmla="*/ 961947 h 1012293"/>
              <a:gd name="connsiteX1" fmla="*/ 623981 w 1219617"/>
              <a:gd name="connsiteY1" fmla="*/ 982152 h 1012293"/>
              <a:gd name="connsiteX2" fmla="*/ 1219617 w 1219617"/>
              <a:gd name="connsiteY2" fmla="*/ 0 h 1012293"/>
              <a:gd name="connsiteX0" fmla="*/ 0 w 1219617"/>
              <a:gd name="connsiteY0" fmla="*/ 961947 h 973594"/>
              <a:gd name="connsiteX1" fmla="*/ 627576 w 1219617"/>
              <a:gd name="connsiteY1" fmla="*/ 923525 h 973594"/>
              <a:gd name="connsiteX2" fmla="*/ 1219617 w 1219617"/>
              <a:gd name="connsiteY2" fmla="*/ 0 h 973594"/>
              <a:gd name="connsiteX0" fmla="*/ 0 w 1219617"/>
              <a:gd name="connsiteY0" fmla="*/ 961947 h 982505"/>
              <a:gd name="connsiteX1" fmla="*/ 627576 w 1219617"/>
              <a:gd name="connsiteY1" fmla="*/ 923525 h 982505"/>
              <a:gd name="connsiteX2" fmla="*/ 1219617 w 1219617"/>
              <a:gd name="connsiteY2" fmla="*/ 0 h 982505"/>
              <a:gd name="connsiteX0" fmla="*/ 0 w 1219617"/>
              <a:gd name="connsiteY0" fmla="*/ 961947 h 966512"/>
              <a:gd name="connsiteX1" fmla="*/ 627576 w 1219617"/>
              <a:gd name="connsiteY1" fmla="*/ 923525 h 966512"/>
              <a:gd name="connsiteX2" fmla="*/ 1219617 w 1219617"/>
              <a:gd name="connsiteY2" fmla="*/ 0 h 966512"/>
              <a:gd name="connsiteX0" fmla="*/ 0 w 1219617"/>
              <a:gd name="connsiteY0" fmla="*/ 961947 h 962538"/>
              <a:gd name="connsiteX1" fmla="*/ 627576 w 1219617"/>
              <a:gd name="connsiteY1" fmla="*/ 864898 h 962538"/>
              <a:gd name="connsiteX2" fmla="*/ 1219617 w 1219617"/>
              <a:gd name="connsiteY2" fmla="*/ 0 h 962538"/>
              <a:gd name="connsiteX0" fmla="*/ 0 w 1219617"/>
              <a:gd name="connsiteY0" fmla="*/ 961947 h 965175"/>
              <a:gd name="connsiteX1" fmla="*/ 627576 w 1219617"/>
              <a:gd name="connsiteY1" fmla="*/ 864898 h 965175"/>
              <a:gd name="connsiteX2" fmla="*/ 1219617 w 1219617"/>
              <a:gd name="connsiteY2" fmla="*/ 0 h 965175"/>
              <a:gd name="connsiteX0" fmla="*/ 0 w 1219617"/>
              <a:gd name="connsiteY0" fmla="*/ 961947 h 962680"/>
              <a:gd name="connsiteX1" fmla="*/ 627576 w 1219617"/>
              <a:gd name="connsiteY1" fmla="*/ 864898 h 962680"/>
              <a:gd name="connsiteX2" fmla="*/ 1219617 w 1219617"/>
              <a:gd name="connsiteY2" fmla="*/ 0 h 962680"/>
              <a:gd name="connsiteX0" fmla="*/ 0 w 1208831"/>
              <a:gd name="connsiteY0" fmla="*/ 2580056 h 2704891"/>
              <a:gd name="connsiteX1" fmla="*/ 627576 w 1208831"/>
              <a:gd name="connsiteY1" fmla="*/ 2483007 h 2704891"/>
              <a:gd name="connsiteX2" fmla="*/ 1208831 w 1208831"/>
              <a:gd name="connsiteY2" fmla="*/ 0 h 2704891"/>
              <a:gd name="connsiteX0" fmla="*/ 0 w 1208831"/>
              <a:gd name="connsiteY0" fmla="*/ 2580056 h 2704889"/>
              <a:gd name="connsiteX1" fmla="*/ 627576 w 1208831"/>
              <a:gd name="connsiteY1" fmla="*/ 2483007 h 2704889"/>
              <a:gd name="connsiteX2" fmla="*/ 1208831 w 1208831"/>
              <a:gd name="connsiteY2" fmla="*/ 0 h 2704889"/>
              <a:gd name="connsiteX0" fmla="*/ 0 w 1208831"/>
              <a:gd name="connsiteY0" fmla="*/ 2580056 h 2957558"/>
              <a:gd name="connsiteX1" fmla="*/ 620385 w 1208831"/>
              <a:gd name="connsiteY1" fmla="*/ 2811319 h 2957558"/>
              <a:gd name="connsiteX2" fmla="*/ 1208831 w 1208831"/>
              <a:gd name="connsiteY2" fmla="*/ 0 h 2957558"/>
              <a:gd name="connsiteX0" fmla="*/ 0 w 1208831"/>
              <a:gd name="connsiteY0" fmla="*/ 2580056 h 2817429"/>
              <a:gd name="connsiteX1" fmla="*/ 620385 w 1208831"/>
              <a:gd name="connsiteY1" fmla="*/ 2811319 h 2817429"/>
              <a:gd name="connsiteX2" fmla="*/ 1208831 w 1208831"/>
              <a:gd name="connsiteY2" fmla="*/ 0 h 2817429"/>
              <a:gd name="connsiteX0" fmla="*/ 0 w 1208831"/>
              <a:gd name="connsiteY0" fmla="*/ 2580056 h 2813319"/>
              <a:gd name="connsiteX1" fmla="*/ 620385 w 1208831"/>
              <a:gd name="connsiteY1" fmla="*/ 2811319 h 2813319"/>
              <a:gd name="connsiteX2" fmla="*/ 1208831 w 1208831"/>
              <a:gd name="connsiteY2" fmla="*/ 0 h 2813319"/>
              <a:gd name="connsiteX0" fmla="*/ 0 w 1208831"/>
              <a:gd name="connsiteY0" fmla="*/ 2580056 h 2813975"/>
              <a:gd name="connsiteX1" fmla="*/ 620385 w 1208831"/>
              <a:gd name="connsiteY1" fmla="*/ 2811319 h 2813975"/>
              <a:gd name="connsiteX2" fmla="*/ 1208831 w 1208831"/>
              <a:gd name="connsiteY2" fmla="*/ 0 h 2813975"/>
              <a:gd name="connsiteX0" fmla="*/ 0 w 1208831"/>
              <a:gd name="connsiteY0" fmla="*/ 2580056 h 2811410"/>
              <a:gd name="connsiteX1" fmla="*/ 620385 w 1208831"/>
              <a:gd name="connsiteY1" fmla="*/ 2811319 h 2811410"/>
              <a:gd name="connsiteX2" fmla="*/ 1208831 w 1208831"/>
              <a:gd name="connsiteY2" fmla="*/ 0 h 2811410"/>
              <a:gd name="connsiteX0" fmla="*/ 0 w 1208831"/>
              <a:gd name="connsiteY0" fmla="*/ 2580056 h 2905212"/>
              <a:gd name="connsiteX1" fmla="*/ 627575 w 1208831"/>
              <a:gd name="connsiteY1" fmla="*/ 2905123 h 2905212"/>
              <a:gd name="connsiteX2" fmla="*/ 1208831 w 1208831"/>
              <a:gd name="connsiteY2" fmla="*/ 0 h 2905212"/>
              <a:gd name="connsiteX0" fmla="*/ 0 w 1208831"/>
              <a:gd name="connsiteY0" fmla="*/ 2580056 h 2908375"/>
              <a:gd name="connsiteX1" fmla="*/ 627575 w 1208831"/>
              <a:gd name="connsiteY1" fmla="*/ 2905123 h 2908375"/>
              <a:gd name="connsiteX2" fmla="*/ 1208831 w 1208831"/>
              <a:gd name="connsiteY2" fmla="*/ 0 h 2908375"/>
              <a:gd name="connsiteX0" fmla="*/ 0 w 1208831"/>
              <a:gd name="connsiteY0" fmla="*/ 2580056 h 2908377"/>
              <a:gd name="connsiteX1" fmla="*/ 627575 w 1208831"/>
              <a:gd name="connsiteY1" fmla="*/ 2905123 h 2908377"/>
              <a:gd name="connsiteX2" fmla="*/ 1208831 w 1208831"/>
              <a:gd name="connsiteY2" fmla="*/ 0 h 2908377"/>
              <a:gd name="connsiteX0" fmla="*/ 0 w 1208831"/>
              <a:gd name="connsiteY0" fmla="*/ 2580056 h 2744481"/>
              <a:gd name="connsiteX1" fmla="*/ 609598 w 1208831"/>
              <a:gd name="connsiteY1" fmla="*/ 2740967 h 2744481"/>
              <a:gd name="connsiteX2" fmla="*/ 1208831 w 1208831"/>
              <a:gd name="connsiteY2" fmla="*/ 0 h 2744481"/>
              <a:gd name="connsiteX0" fmla="*/ 0 w 1208831"/>
              <a:gd name="connsiteY0" fmla="*/ 2580056 h 2741955"/>
              <a:gd name="connsiteX1" fmla="*/ 609598 w 1208831"/>
              <a:gd name="connsiteY1" fmla="*/ 2740967 h 2741955"/>
              <a:gd name="connsiteX2" fmla="*/ 1208831 w 1208831"/>
              <a:gd name="connsiteY2" fmla="*/ 0 h 2741955"/>
              <a:gd name="connsiteX0" fmla="*/ 0 w 1208831"/>
              <a:gd name="connsiteY0" fmla="*/ 2580056 h 2695077"/>
              <a:gd name="connsiteX1" fmla="*/ 606003 w 1208831"/>
              <a:gd name="connsiteY1" fmla="*/ 2694065 h 2695077"/>
              <a:gd name="connsiteX2" fmla="*/ 1208831 w 1208831"/>
              <a:gd name="connsiteY2" fmla="*/ 0 h 2695077"/>
              <a:gd name="connsiteX0" fmla="*/ 0 w 1208831"/>
              <a:gd name="connsiteY0" fmla="*/ 2580056 h 2730235"/>
              <a:gd name="connsiteX1" fmla="*/ 606003 w 1208831"/>
              <a:gd name="connsiteY1" fmla="*/ 2729241 h 2730235"/>
              <a:gd name="connsiteX2" fmla="*/ 1208831 w 1208831"/>
              <a:gd name="connsiteY2" fmla="*/ 0 h 273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8831" h="2730235">
                <a:moveTo>
                  <a:pt x="0" y="2580056"/>
                </a:moveTo>
                <a:cubicBezTo>
                  <a:pt x="207994" y="2586791"/>
                  <a:pt x="451270" y="2678506"/>
                  <a:pt x="606003" y="2729241"/>
                </a:cubicBezTo>
                <a:cubicBezTo>
                  <a:pt x="760736" y="2779976"/>
                  <a:pt x="988493" y="877099"/>
                  <a:pt x="1208831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幅频响应">
            <a:extLst>
              <a:ext uri="{FF2B5EF4-FFF2-40B4-BE49-F238E27FC236}">
                <a16:creationId xmlns:a16="http://schemas.microsoft.com/office/drawing/2014/main" id="{1C4DD0F0-32B2-88A5-6DA5-F717E7B2320E}"/>
              </a:ext>
            </a:extLst>
          </p:cNvPr>
          <p:cNvSpPr/>
          <p:nvPr/>
        </p:nvSpPr>
        <p:spPr>
          <a:xfrm flipV="1">
            <a:off x="7947780" y="2705382"/>
            <a:ext cx="2135032" cy="140054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  <a:gd name="connsiteX0" fmla="*/ 0 w 1219617"/>
              <a:gd name="connsiteY0" fmla="*/ 961947 h 982217"/>
              <a:gd name="connsiteX1" fmla="*/ 623981 w 1219617"/>
              <a:gd name="connsiteY1" fmla="*/ 982152 h 982217"/>
              <a:gd name="connsiteX2" fmla="*/ 1219617 w 1219617"/>
              <a:gd name="connsiteY2" fmla="*/ 0 h 982217"/>
              <a:gd name="connsiteX0" fmla="*/ 0 w 1219617"/>
              <a:gd name="connsiteY0" fmla="*/ 961947 h 1012293"/>
              <a:gd name="connsiteX1" fmla="*/ 623981 w 1219617"/>
              <a:gd name="connsiteY1" fmla="*/ 982152 h 1012293"/>
              <a:gd name="connsiteX2" fmla="*/ 1219617 w 1219617"/>
              <a:gd name="connsiteY2" fmla="*/ 0 h 1012293"/>
              <a:gd name="connsiteX0" fmla="*/ 0 w 1219617"/>
              <a:gd name="connsiteY0" fmla="*/ 961947 h 973594"/>
              <a:gd name="connsiteX1" fmla="*/ 627576 w 1219617"/>
              <a:gd name="connsiteY1" fmla="*/ 923525 h 973594"/>
              <a:gd name="connsiteX2" fmla="*/ 1219617 w 1219617"/>
              <a:gd name="connsiteY2" fmla="*/ 0 h 973594"/>
              <a:gd name="connsiteX0" fmla="*/ 0 w 1219617"/>
              <a:gd name="connsiteY0" fmla="*/ 961947 h 982505"/>
              <a:gd name="connsiteX1" fmla="*/ 627576 w 1219617"/>
              <a:gd name="connsiteY1" fmla="*/ 923525 h 982505"/>
              <a:gd name="connsiteX2" fmla="*/ 1219617 w 1219617"/>
              <a:gd name="connsiteY2" fmla="*/ 0 h 982505"/>
              <a:gd name="connsiteX0" fmla="*/ 0 w 1219617"/>
              <a:gd name="connsiteY0" fmla="*/ 961947 h 966512"/>
              <a:gd name="connsiteX1" fmla="*/ 627576 w 1219617"/>
              <a:gd name="connsiteY1" fmla="*/ 923525 h 966512"/>
              <a:gd name="connsiteX2" fmla="*/ 1219617 w 1219617"/>
              <a:gd name="connsiteY2" fmla="*/ 0 h 966512"/>
              <a:gd name="connsiteX0" fmla="*/ 0 w 1219617"/>
              <a:gd name="connsiteY0" fmla="*/ 961947 h 962538"/>
              <a:gd name="connsiteX1" fmla="*/ 627576 w 1219617"/>
              <a:gd name="connsiteY1" fmla="*/ 864898 h 962538"/>
              <a:gd name="connsiteX2" fmla="*/ 1219617 w 1219617"/>
              <a:gd name="connsiteY2" fmla="*/ 0 h 962538"/>
              <a:gd name="connsiteX0" fmla="*/ 0 w 1219617"/>
              <a:gd name="connsiteY0" fmla="*/ 961947 h 965175"/>
              <a:gd name="connsiteX1" fmla="*/ 627576 w 1219617"/>
              <a:gd name="connsiteY1" fmla="*/ 864898 h 965175"/>
              <a:gd name="connsiteX2" fmla="*/ 1219617 w 1219617"/>
              <a:gd name="connsiteY2" fmla="*/ 0 h 965175"/>
              <a:gd name="connsiteX0" fmla="*/ 0 w 1219617"/>
              <a:gd name="connsiteY0" fmla="*/ 961947 h 962680"/>
              <a:gd name="connsiteX1" fmla="*/ 627576 w 1219617"/>
              <a:gd name="connsiteY1" fmla="*/ 864898 h 962680"/>
              <a:gd name="connsiteX2" fmla="*/ 1219617 w 1219617"/>
              <a:gd name="connsiteY2" fmla="*/ 0 h 962680"/>
              <a:gd name="connsiteX0" fmla="*/ 0 w 1208831"/>
              <a:gd name="connsiteY0" fmla="*/ 2580056 h 2704891"/>
              <a:gd name="connsiteX1" fmla="*/ 627576 w 1208831"/>
              <a:gd name="connsiteY1" fmla="*/ 2483007 h 2704891"/>
              <a:gd name="connsiteX2" fmla="*/ 1208831 w 1208831"/>
              <a:gd name="connsiteY2" fmla="*/ 0 h 2704891"/>
              <a:gd name="connsiteX0" fmla="*/ 0 w 1208831"/>
              <a:gd name="connsiteY0" fmla="*/ 2580056 h 2704889"/>
              <a:gd name="connsiteX1" fmla="*/ 627576 w 1208831"/>
              <a:gd name="connsiteY1" fmla="*/ 2483007 h 2704889"/>
              <a:gd name="connsiteX2" fmla="*/ 1208831 w 1208831"/>
              <a:gd name="connsiteY2" fmla="*/ 0 h 2704889"/>
              <a:gd name="connsiteX0" fmla="*/ 0 w 1208831"/>
              <a:gd name="connsiteY0" fmla="*/ 2580056 h 2957558"/>
              <a:gd name="connsiteX1" fmla="*/ 620385 w 1208831"/>
              <a:gd name="connsiteY1" fmla="*/ 2811319 h 2957558"/>
              <a:gd name="connsiteX2" fmla="*/ 1208831 w 1208831"/>
              <a:gd name="connsiteY2" fmla="*/ 0 h 2957558"/>
              <a:gd name="connsiteX0" fmla="*/ 0 w 1208831"/>
              <a:gd name="connsiteY0" fmla="*/ 2580056 h 2817429"/>
              <a:gd name="connsiteX1" fmla="*/ 620385 w 1208831"/>
              <a:gd name="connsiteY1" fmla="*/ 2811319 h 2817429"/>
              <a:gd name="connsiteX2" fmla="*/ 1208831 w 1208831"/>
              <a:gd name="connsiteY2" fmla="*/ 0 h 2817429"/>
              <a:gd name="connsiteX0" fmla="*/ 0 w 1208831"/>
              <a:gd name="connsiteY0" fmla="*/ 2580056 h 2813319"/>
              <a:gd name="connsiteX1" fmla="*/ 620385 w 1208831"/>
              <a:gd name="connsiteY1" fmla="*/ 2811319 h 2813319"/>
              <a:gd name="connsiteX2" fmla="*/ 1208831 w 1208831"/>
              <a:gd name="connsiteY2" fmla="*/ 0 h 2813319"/>
              <a:gd name="connsiteX0" fmla="*/ 0 w 1208831"/>
              <a:gd name="connsiteY0" fmla="*/ 2580056 h 2813975"/>
              <a:gd name="connsiteX1" fmla="*/ 620385 w 1208831"/>
              <a:gd name="connsiteY1" fmla="*/ 2811319 h 2813975"/>
              <a:gd name="connsiteX2" fmla="*/ 1208831 w 1208831"/>
              <a:gd name="connsiteY2" fmla="*/ 0 h 2813975"/>
              <a:gd name="connsiteX0" fmla="*/ 0 w 1208831"/>
              <a:gd name="connsiteY0" fmla="*/ 2580056 h 2811410"/>
              <a:gd name="connsiteX1" fmla="*/ 620385 w 1208831"/>
              <a:gd name="connsiteY1" fmla="*/ 2811319 h 2811410"/>
              <a:gd name="connsiteX2" fmla="*/ 1208831 w 1208831"/>
              <a:gd name="connsiteY2" fmla="*/ 0 h 2811410"/>
              <a:gd name="connsiteX0" fmla="*/ 0 w 1208831"/>
              <a:gd name="connsiteY0" fmla="*/ 2580056 h 2905212"/>
              <a:gd name="connsiteX1" fmla="*/ 627575 w 1208831"/>
              <a:gd name="connsiteY1" fmla="*/ 2905123 h 2905212"/>
              <a:gd name="connsiteX2" fmla="*/ 1208831 w 1208831"/>
              <a:gd name="connsiteY2" fmla="*/ 0 h 2905212"/>
              <a:gd name="connsiteX0" fmla="*/ 0 w 1208831"/>
              <a:gd name="connsiteY0" fmla="*/ 2580056 h 2908375"/>
              <a:gd name="connsiteX1" fmla="*/ 627575 w 1208831"/>
              <a:gd name="connsiteY1" fmla="*/ 2905123 h 2908375"/>
              <a:gd name="connsiteX2" fmla="*/ 1208831 w 1208831"/>
              <a:gd name="connsiteY2" fmla="*/ 0 h 2908375"/>
              <a:gd name="connsiteX0" fmla="*/ 0 w 1208831"/>
              <a:gd name="connsiteY0" fmla="*/ 2580056 h 2908377"/>
              <a:gd name="connsiteX1" fmla="*/ 627575 w 1208831"/>
              <a:gd name="connsiteY1" fmla="*/ 2905123 h 2908377"/>
              <a:gd name="connsiteX2" fmla="*/ 1208831 w 1208831"/>
              <a:gd name="connsiteY2" fmla="*/ 0 h 2908377"/>
              <a:gd name="connsiteX0" fmla="*/ 0 w 1208831"/>
              <a:gd name="connsiteY0" fmla="*/ 2580056 h 2744481"/>
              <a:gd name="connsiteX1" fmla="*/ 609598 w 1208831"/>
              <a:gd name="connsiteY1" fmla="*/ 2740967 h 2744481"/>
              <a:gd name="connsiteX2" fmla="*/ 1208831 w 1208831"/>
              <a:gd name="connsiteY2" fmla="*/ 0 h 2744481"/>
              <a:gd name="connsiteX0" fmla="*/ 0 w 1208831"/>
              <a:gd name="connsiteY0" fmla="*/ 2580056 h 2741955"/>
              <a:gd name="connsiteX1" fmla="*/ 609598 w 1208831"/>
              <a:gd name="connsiteY1" fmla="*/ 2740967 h 2741955"/>
              <a:gd name="connsiteX2" fmla="*/ 1208831 w 1208831"/>
              <a:gd name="connsiteY2" fmla="*/ 0 h 2741955"/>
              <a:gd name="connsiteX0" fmla="*/ 0 w 1208831"/>
              <a:gd name="connsiteY0" fmla="*/ 2580056 h 2695077"/>
              <a:gd name="connsiteX1" fmla="*/ 606003 w 1208831"/>
              <a:gd name="connsiteY1" fmla="*/ 2694065 h 2695077"/>
              <a:gd name="connsiteX2" fmla="*/ 1208831 w 1208831"/>
              <a:gd name="connsiteY2" fmla="*/ 0 h 2695077"/>
              <a:gd name="connsiteX0" fmla="*/ 0 w 1208831"/>
              <a:gd name="connsiteY0" fmla="*/ 2580056 h 2730235"/>
              <a:gd name="connsiteX1" fmla="*/ 606003 w 1208831"/>
              <a:gd name="connsiteY1" fmla="*/ 2729241 h 2730235"/>
              <a:gd name="connsiteX2" fmla="*/ 1208831 w 1208831"/>
              <a:gd name="connsiteY2" fmla="*/ 0 h 2730235"/>
              <a:gd name="connsiteX0" fmla="*/ 0 w 1208831"/>
              <a:gd name="connsiteY0" fmla="*/ 2580056 h 2580286"/>
              <a:gd name="connsiteX1" fmla="*/ 602408 w 1208831"/>
              <a:gd name="connsiteY1" fmla="*/ 2494733 h 2580286"/>
              <a:gd name="connsiteX2" fmla="*/ 1208831 w 1208831"/>
              <a:gd name="connsiteY2" fmla="*/ 0 h 2580286"/>
              <a:gd name="connsiteX0" fmla="*/ 0 w 1208831"/>
              <a:gd name="connsiteY0" fmla="*/ 2580056 h 2586132"/>
              <a:gd name="connsiteX1" fmla="*/ 602408 w 1208831"/>
              <a:gd name="connsiteY1" fmla="*/ 2494733 h 2586132"/>
              <a:gd name="connsiteX2" fmla="*/ 1208831 w 1208831"/>
              <a:gd name="connsiteY2" fmla="*/ 0 h 2586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8831" h="2586132">
                <a:moveTo>
                  <a:pt x="0" y="2580056"/>
                </a:moveTo>
                <a:cubicBezTo>
                  <a:pt x="207994" y="2586791"/>
                  <a:pt x="404531" y="2608154"/>
                  <a:pt x="602408" y="2494733"/>
                </a:cubicBezTo>
                <a:cubicBezTo>
                  <a:pt x="800285" y="2381312"/>
                  <a:pt x="988493" y="877099"/>
                  <a:pt x="1208831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幅频响应">
            <a:extLst>
              <a:ext uri="{FF2B5EF4-FFF2-40B4-BE49-F238E27FC236}">
                <a16:creationId xmlns:a16="http://schemas.microsoft.com/office/drawing/2014/main" id="{B6E21E61-B3D5-D651-D66C-1E17F724B470}"/>
              </a:ext>
            </a:extLst>
          </p:cNvPr>
          <p:cNvSpPr/>
          <p:nvPr/>
        </p:nvSpPr>
        <p:spPr>
          <a:xfrm flipV="1">
            <a:off x="7935056" y="2709139"/>
            <a:ext cx="2135032" cy="139751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711495 w 1219617"/>
              <a:gd name="connsiteY1" fmla="*/ 255175 h 1008849"/>
              <a:gd name="connsiteX2" fmla="*/ 1219617 w 1219617"/>
              <a:gd name="connsiteY2" fmla="*/ 0 h 1008849"/>
              <a:gd name="connsiteX0" fmla="*/ 0 w 1219617"/>
              <a:gd name="connsiteY0" fmla="*/ 1008849 h 1166836"/>
              <a:gd name="connsiteX1" fmla="*/ 588028 w 1219617"/>
              <a:gd name="connsiteY1" fmla="*/ 970427 h 1166836"/>
              <a:gd name="connsiteX2" fmla="*/ 1219617 w 1219617"/>
              <a:gd name="connsiteY2" fmla="*/ 0 h 1166836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1008849 h 1008849"/>
              <a:gd name="connsiteX1" fmla="*/ 588028 w 1219617"/>
              <a:gd name="connsiteY1" fmla="*/ 970427 h 1008849"/>
              <a:gd name="connsiteX2" fmla="*/ 1219617 w 1219617"/>
              <a:gd name="connsiteY2" fmla="*/ 0 h 1008849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70427"/>
              <a:gd name="connsiteX1" fmla="*/ 588028 w 1219617"/>
              <a:gd name="connsiteY1" fmla="*/ 970427 h 970427"/>
              <a:gd name="connsiteX2" fmla="*/ 1219617 w 1219617"/>
              <a:gd name="connsiteY2" fmla="*/ 0 h 970427"/>
              <a:gd name="connsiteX0" fmla="*/ 0 w 1219617"/>
              <a:gd name="connsiteY0" fmla="*/ 961947 h 982152"/>
              <a:gd name="connsiteX1" fmla="*/ 623981 w 1219617"/>
              <a:gd name="connsiteY1" fmla="*/ 982152 h 982152"/>
              <a:gd name="connsiteX2" fmla="*/ 1219617 w 1219617"/>
              <a:gd name="connsiteY2" fmla="*/ 0 h 982152"/>
              <a:gd name="connsiteX0" fmla="*/ 0 w 1219617"/>
              <a:gd name="connsiteY0" fmla="*/ 961947 h 982217"/>
              <a:gd name="connsiteX1" fmla="*/ 623981 w 1219617"/>
              <a:gd name="connsiteY1" fmla="*/ 982152 h 982217"/>
              <a:gd name="connsiteX2" fmla="*/ 1219617 w 1219617"/>
              <a:gd name="connsiteY2" fmla="*/ 0 h 982217"/>
              <a:gd name="connsiteX0" fmla="*/ 0 w 1219617"/>
              <a:gd name="connsiteY0" fmla="*/ 961947 h 1012293"/>
              <a:gd name="connsiteX1" fmla="*/ 623981 w 1219617"/>
              <a:gd name="connsiteY1" fmla="*/ 982152 h 1012293"/>
              <a:gd name="connsiteX2" fmla="*/ 1219617 w 1219617"/>
              <a:gd name="connsiteY2" fmla="*/ 0 h 1012293"/>
              <a:gd name="connsiteX0" fmla="*/ 0 w 1219617"/>
              <a:gd name="connsiteY0" fmla="*/ 961947 h 973594"/>
              <a:gd name="connsiteX1" fmla="*/ 627576 w 1219617"/>
              <a:gd name="connsiteY1" fmla="*/ 923525 h 973594"/>
              <a:gd name="connsiteX2" fmla="*/ 1219617 w 1219617"/>
              <a:gd name="connsiteY2" fmla="*/ 0 h 973594"/>
              <a:gd name="connsiteX0" fmla="*/ 0 w 1219617"/>
              <a:gd name="connsiteY0" fmla="*/ 961947 h 982505"/>
              <a:gd name="connsiteX1" fmla="*/ 627576 w 1219617"/>
              <a:gd name="connsiteY1" fmla="*/ 923525 h 982505"/>
              <a:gd name="connsiteX2" fmla="*/ 1219617 w 1219617"/>
              <a:gd name="connsiteY2" fmla="*/ 0 h 982505"/>
              <a:gd name="connsiteX0" fmla="*/ 0 w 1219617"/>
              <a:gd name="connsiteY0" fmla="*/ 961947 h 966512"/>
              <a:gd name="connsiteX1" fmla="*/ 627576 w 1219617"/>
              <a:gd name="connsiteY1" fmla="*/ 923525 h 966512"/>
              <a:gd name="connsiteX2" fmla="*/ 1219617 w 1219617"/>
              <a:gd name="connsiteY2" fmla="*/ 0 h 966512"/>
              <a:gd name="connsiteX0" fmla="*/ 0 w 1219617"/>
              <a:gd name="connsiteY0" fmla="*/ 961947 h 962538"/>
              <a:gd name="connsiteX1" fmla="*/ 627576 w 1219617"/>
              <a:gd name="connsiteY1" fmla="*/ 864898 h 962538"/>
              <a:gd name="connsiteX2" fmla="*/ 1219617 w 1219617"/>
              <a:gd name="connsiteY2" fmla="*/ 0 h 962538"/>
              <a:gd name="connsiteX0" fmla="*/ 0 w 1219617"/>
              <a:gd name="connsiteY0" fmla="*/ 961947 h 965175"/>
              <a:gd name="connsiteX1" fmla="*/ 627576 w 1219617"/>
              <a:gd name="connsiteY1" fmla="*/ 864898 h 965175"/>
              <a:gd name="connsiteX2" fmla="*/ 1219617 w 1219617"/>
              <a:gd name="connsiteY2" fmla="*/ 0 h 965175"/>
              <a:gd name="connsiteX0" fmla="*/ 0 w 1219617"/>
              <a:gd name="connsiteY0" fmla="*/ 961947 h 962680"/>
              <a:gd name="connsiteX1" fmla="*/ 627576 w 1219617"/>
              <a:gd name="connsiteY1" fmla="*/ 864898 h 962680"/>
              <a:gd name="connsiteX2" fmla="*/ 1219617 w 1219617"/>
              <a:gd name="connsiteY2" fmla="*/ 0 h 962680"/>
              <a:gd name="connsiteX0" fmla="*/ 0 w 1208831"/>
              <a:gd name="connsiteY0" fmla="*/ 2580056 h 2704891"/>
              <a:gd name="connsiteX1" fmla="*/ 627576 w 1208831"/>
              <a:gd name="connsiteY1" fmla="*/ 2483007 h 2704891"/>
              <a:gd name="connsiteX2" fmla="*/ 1208831 w 1208831"/>
              <a:gd name="connsiteY2" fmla="*/ 0 h 2704891"/>
              <a:gd name="connsiteX0" fmla="*/ 0 w 1208831"/>
              <a:gd name="connsiteY0" fmla="*/ 2580056 h 2704889"/>
              <a:gd name="connsiteX1" fmla="*/ 627576 w 1208831"/>
              <a:gd name="connsiteY1" fmla="*/ 2483007 h 2704889"/>
              <a:gd name="connsiteX2" fmla="*/ 1208831 w 1208831"/>
              <a:gd name="connsiteY2" fmla="*/ 0 h 2704889"/>
              <a:gd name="connsiteX0" fmla="*/ 0 w 1208831"/>
              <a:gd name="connsiteY0" fmla="*/ 2580056 h 2957558"/>
              <a:gd name="connsiteX1" fmla="*/ 620385 w 1208831"/>
              <a:gd name="connsiteY1" fmla="*/ 2811319 h 2957558"/>
              <a:gd name="connsiteX2" fmla="*/ 1208831 w 1208831"/>
              <a:gd name="connsiteY2" fmla="*/ 0 h 2957558"/>
              <a:gd name="connsiteX0" fmla="*/ 0 w 1208831"/>
              <a:gd name="connsiteY0" fmla="*/ 2580056 h 2817429"/>
              <a:gd name="connsiteX1" fmla="*/ 620385 w 1208831"/>
              <a:gd name="connsiteY1" fmla="*/ 2811319 h 2817429"/>
              <a:gd name="connsiteX2" fmla="*/ 1208831 w 1208831"/>
              <a:gd name="connsiteY2" fmla="*/ 0 h 2817429"/>
              <a:gd name="connsiteX0" fmla="*/ 0 w 1208831"/>
              <a:gd name="connsiteY0" fmla="*/ 2580056 h 2813319"/>
              <a:gd name="connsiteX1" fmla="*/ 620385 w 1208831"/>
              <a:gd name="connsiteY1" fmla="*/ 2811319 h 2813319"/>
              <a:gd name="connsiteX2" fmla="*/ 1208831 w 1208831"/>
              <a:gd name="connsiteY2" fmla="*/ 0 h 2813319"/>
              <a:gd name="connsiteX0" fmla="*/ 0 w 1208831"/>
              <a:gd name="connsiteY0" fmla="*/ 2580056 h 2813975"/>
              <a:gd name="connsiteX1" fmla="*/ 620385 w 1208831"/>
              <a:gd name="connsiteY1" fmla="*/ 2811319 h 2813975"/>
              <a:gd name="connsiteX2" fmla="*/ 1208831 w 1208831"/>
              <a:gd name="connsiteY2" fmla="*/ 0 h 2813975"/>
              <a:gd name="connsiteX0" fmla="*/ 0 w 1208831"/>
              <a:gd name="connsiteY0" fmla="*/ 2580056 h 2811410"/>
              <a:gd name="connsiteX1" fmla="*/ 620385 w 1208831"/>
              <a:gd name="connsiteY1" fmla="*/ 2811319 h 2811410"/>
              <a:gd name="connsiteX2" fmla="*/ 1208831 w 1208831"/>
              <a:gd name="connsiteY2" fmla="*/ 0 h 2811410"/>
              <a:gd name="connsiteX0" fmla="*/ 0 w 1208831"/>
              <a:gd name="connsiteY0" fmla="*/ 2580056 h 2905212"/>
              <a:gd name="connsiteX1" fmla="*/ 627575 w 1208831"/>
              <a:gd name="connsiteY1" fmla="*/ 2905123 h 2905212"/>
              <a:gd name="connsiteX2" fmla="*/ 1208831 w 1208831"/>
              <a:gd name="connsiteY2" fmla="*/ 0 h 2905212"/>
              <a:gd name="connsiteX0" fmla="*/ 0 w 1208831"/>
              <a:gd name="connsiteY0" fmla="*/ 2580056 h 2908375"/>
              <a:gd name="connsiteX1" fmla="*/ 627575 w 1208831"/>
              <a:gd name="connsiteY1" fmla="*/ 2905123 h 2908375"/>
              <a:gd name="connsiteX2" fmla="*/ 1208831 w 1208831"/>
              <a:gd name="connsiteY2" fmla="*/ 0 h 2908375"/>
              <a:gd name="connsiteX0" fmla="*/ 0 w 1208831"/>
              <a:gd name="connsiteY0" fmla="*/ 2580056 h 2908377"/>
              <a:gd name="connsiteX1" fmla="*/ 627575 w 1208831"/>
              <a:gd name="connsiteY1" fmla="*/ 2905123 h 2908377"/>
              <a:gd name="connsiteX2" fmla="*/ 1208831 w 1208831"/>
              <a:gd name="connsiteY2" fmla="*/ 0 h 2908377"/>
              <a:gd name="connsiteX0" fmla="*/ 0 w 1208831"/>
              <a:gd name="connsiteY0" fmla="*/ 2580056 h 2744481"/>
              <a:gd name="connsiteX1" fmla="*/ 609598 w 1208831"/>
              <a:gd name="connsiteY1" fmla="*/ 2740967 h 2744481"/>
              <a:gd name="connsiteX2" fmla="*/ 1208831 w 1208831"/>
              <a:gd name="connsiteY2" fmla="*/ 0 h 2744481"/>
              <a:gd name="connsiteX0" fmla="*/ 0 w 1208831"/>
              <a:gd name="connsiteY0" fmla="*/ 2580056 h 2741955"/>
              <a:gd name="connsiteX1" fmla="*/ 609598 w 1208831"/>
              <a:gd name="connsiteY1" fmla="*/ 2740967 h 2741955"/>
              <a:gd name="connsiteX2" fmla="*/ 1208831 w 1208831"/>
              <a:gd name="connsiteY2" fmla="*/ 0 h 2741955"/>
              <a:gd name="connsiteX0" fmla="*/ 0 w 1208831"/>
              <a:gd name="connsiteY0" fmla="*/ 2580056 h 2695077"/>
              <a:gd name="connsiteX1" fmla="*/ 606003 w 1208831"/>
              <a:gd name="connsiteY1" fmla="*/ 2694065 h 2695077"/>
              <a:gd name="connsiteX2" fmla="*/ 1208831 w 1208831"/>
              <a:gd name="connsiteY2" fmla="*/ 0 h 2695077"/>
              <a:gd name="connsiteX0" fmla="*/ 0 w 1208831"/>
              <a:gd name="connsiteY0" fmla="*/ 2580056 h 2730235"/>
              <a:gd name="connsiteX1" fmla="*/ 606003 w 1208831"/>
              <a:gd name="connsiteY1" fmla="*/ 2729241 h 2730235"/>
              <a:gd name="connsiteX2" fmla="*/ 1208831 w 1208831"/>
              <a:gd name="connsiteY2" fmla="*/ 0 h 2730235"/>
              <a:gd name="connsiteX0" fmla="*/ 0 w 1208831"/>
              <a:gd name="connsiteY0" fmla="*/ 2580056 h 2580286"/>
              <a:gd name="connsiteX1" fmla="*/ 602408 w 1208831"/>
              <a:gd name="connsiteY1" fmla="*/ 2494733 h 2580286"/>
              <a:gd name="connsiteX2" fmla="*/ 1208831 w 1208831"/>
              <a:gd name="connsiteY2" fmla="*/ 0 h 2580286"/>
              <a:gd name="connsiteX0" fmla="*/ 0 w 1208831"/>
              <a:gd name="connsiteY0" fmla="*/ 2580056 h 2586132"/>
              <a:gd name="connsiteX1" fmla="*/ 602408 w 1208831"/>
              <a:gd name="connsiteY1" fmla="*/ 2494733 h 2586132"/>
              <a:gd name="connsiteX2" fmla="*/ 1208831 w 1208831"/>
              <a:gd name="connsiteY2" fmla="*/ 0 h 2586132"/>
              <a:gd name="connsiteX0" fmla="*/ 0 w 1208831"/>
              <a:gd name="connsiteY0" fmla="*/ 2580056 h 2580286"/>
              <a:gd name="connsiteX1" fmla="*/ 602408 w 1208831"/>
              <a:gd name="connsiteY1" fmla="*/ 2330577 h 2580286"/>
              <a:gd name="connsiteX2" fmla="*/ 1208831 w 1208831"/>
              <a:gd name="connsiteY2" fmla="*/ 0 h 2580286"/>
              <a:gd name="connsiteX0" fmla="*/ 0 w 1208831"/>
              <a:gd name="connsiteY0" fmla="*/ 2580056 h 2581257"/>
              <a:gd name="connsiteX1" fmla="*/ 602408 w 1208831"/>
              <a:gd name="connsiteY1" fmla="*/ 2330577 h 2581257"/>
              <a:gd name="connsiteX2" fmla="*/ 1208831 w 1208831"/>
              <a:gd name="connsiteY2" fmla="*/ 0 h 2581257"/>
              <a:gd name="connsiteX0" fmla="*/ 0 w 1208831"/>
              <a:gd name="connsiteY0" fmla="*/ 2580056 h 2580552"/>
              <a:gd name="connsiteX1" fmla="*/ 602408 w 1208831"/>
              <a:gd name="connsiteY1" fmla="*/ 2330577 h 2580552"/>
              <a:gd name="connsiteX2" fmla="*/ 1208831 w 1208831"/>
              <a:gd name="connsiteY2" fmla="*/ 0 h 2580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8831" h="2580552">
                <a:moveTo>
                  <a:pt x="0" y="2580056"/>
                </a:moveTo>
                <a:cubicBezTo>
                  <a:pt x="207994" y="2586791"/>
                  <a:pt x="422507" y="2526076"/>
                  <a:pt x="602408" y="2330577"/>
                </a:cubicBezTo>
                <a:cubicBezTo>
                  <a:pt x="782309" y="2135078"/>
                  <a:pt x="988493" y="877099"/>
                  <a:pt x="1208831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相频响应">
            <a:extLst>
              <a:ext uri="{FF2B5EF4-FFF2-40B4-BE49-F238E27FC236}">
                <a16:creationId xmlns:a16="http://schemas.microsoft.com/office/drawing/2014/main" id="{F8609976-D565-1DD9-6A88-A5E539EF65F9}"/>
              </a:ext>
            </a:extLst>
          </p:cNvPr>
          <p:cNvSpPr/>
          <p:nvPr/>
        </p:nvSpPr>
        <p:spPr>
          <a:xfrm flipV="1">
            <a:off x="7922022" y="4928760"/>
            <a:ext cx="2126322" cy="134015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1219617 w 1219617"/>
              <a:gd name="connsiteY1" fmla="*/ 0 h 1008849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65"/>
              <a:gd name="connsiteX1" fmla="*/ 1215986 w 1215986"/>
              <a:gd name="connsiteY1" fmla="*/ 0 h 2474565"/>
              <a:gd name="connsiteX0" fmla="*/ 0 w 1215986"/>
              <a:gd name="connsiteY0" fmla="*/ 2474585 h 2474622"/>
              <a:gd name="connsiteX1" fmla="*/ 1215986 w 1215986"/>
              <a:gd name="connsiteY1" fmla="*/ 57 h 247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5986" h="2474622">
                <a:moveTo>
                  <a:pt x="0" y="2474585"/>
                </a:moveTo>
                <a:cubicBezTo>
                  <a:pt x="1037057" y="2485738"/>
                  <a:pt x="186931" y="-13977"/>
                  <a:pt x="1215986" y="57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2" name="相频响应">
            <a:extLst>
              <a:ext uri="{FF2B5EF4-FFF2-40B4-BE49-F238E27FC236}">
                <a16:creationId xmlns:a16="http://schemas.microsoft.com/office/drawing/2014/main" id="{693AB501-8246-9E2F-60AE-E54BCF117880}"/>
              </a:ext>
            </a:extLst>
          </p:cNvPr>
          <p:cNvSpPr/>
          <p:nvPr/>
        </p:nvSpPr>
        <p:spPr>
          <a:xfrm flipV="1">
            <a:off x="7915140" y="4928780"/>
            <a:ext cx="2126322" cy="134010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1219617 w 1219617"/>
              <a:gd name="connsiteY1" fmla="*/ 0 h 1008849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5986" h="2474528">
                <a:moveTo>
                  <a:pt x="0" y="2474528"/>
                </a:moveTo>
                <a:cubicBezTo>
                  <a:pt x="408826" y="2462230"/>
                  <a:pt x="818793" y="9417"/>
                  <a:pt x="1215986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相频响应">
            <a:extLst>
              <a:ext uri="{FF2B5EF4-FFF2-40B4-BE49-F238E27FC236}">
                <a16:creationId xmlns:a16="http://schemas.microsoft.com/office/drawing/2014/main" id="{A3347732-1B68-A3AE-A13B-021B5643DA90}"/>
              </a:ext>
            </a:extLst>
          </p:cNvPr>
          <p:cNvSpPr/>
          <p:nvPr/>
        </p:nvSpPr>
        <p:spPr>
          <a:xfrm flipV="1">
            <a:off x="7915140" y="4928780"/>
            <a:ext cx="2126322" cy="134010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1219617"/>
              <a:gd name="connsiteY0" fmla="*/ 1008849 h 1008849"/>
              <a:gd name="connsiteX1" fmla="*/ 1219617 w 1219617"/>
              <a:gd name="connsiteY1" fmla="*/ 0 h 1008849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34143"/>
              <a:gd name="connsiteY0" fmla="*/ 1196456 h 1196456"/>
              <a:gd name="connsiteX1" fmla="*/ 1234143 w 1234143"/>
              <a:gd name="connsiteY1" fmla="*/ 0 h 1196456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  <a:gd name="connsiteX0" fmla="*/ 0 w 1215986"/>
              <a:gd name="connsiteY0" fmla="*/ 2474528 h 2474528"/>
              <a:gd name="connsiteX1" fmla="*/ 1215986 w 1215986"/>
              <a:gd name="connsiteY1" fmla="*/ 0 h 247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5986" h="2474528">
                <a:moveTo>
                  <a:pt x="0" y="2474528"/>
                </a:moveTo>
                <a:cubicBezTo>
                  <a:pt x="815542" y="2462230"/>
                  <a:pt x="404815" y="9417"/>
                  <a:pt x="1215986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E581B62-F414-77B0-A796-1830EDB846ED}"/>
                  </a:ext>
                </a:extLst>
              </p:cNvPr>
              <p:cNvSpPr txBox="1"/>
              <p:nvPr/>
            </p:nvSpPr>
            <p:spPr>
              <a:xfrm>
                <a:off x="10082812" y="3314779"/>
                <a:ext cx="15619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BE581B62-F414-77B0-A796-1830EDB84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2812" y="3314779"/>
                <a:ext cx="1561945" cy="523220"/>
              </a:xfrm>
              <a:prstGeom prst="rect">
                <a:avLst/>
              </a:prstGeom>
              <a:blipFill>
                <a:blip r:embed="rId16"/>
                <a:stretch>
                  <a:fillRect l="-1613" r="-806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辅助线">
            <a:extLst>
              <a:ext uri="{FF2B5EF4-FFF2-40B4-BE49-F238E27FC236}">
                <a16:creationId xmlns:a16="http://schemas.microsoft.com/office/drawing/2014/main" id="{23BD9A9D-7889-7611-CB05-430D2E31B9C9}"/>
              </a:ext>
            </a:extLst>
          </p:cNvPr>
          <p:cNvCxnSpPr>
            <a:cxnSpLocks/>
          </p:cNvCxnSpPr>
          <p:nvPr/>
        </p:nvCxnSpPr>
        <p:spPr>
          <a:xfrm flipH="1" flipV="1">
            <a:off x="9518124" y="3363598"/>
            <a:ext cx="705978" cy="1682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402AAD55-BA24-0B9D-3AC6-6F3017EF30E5}"/>
                  </a:ext>
                </a:extLst>
              </p:cNvPr>
              <p:cNvSpPr txBox="1"/>
              <p:nvPr/>
            </p:nvSpPr>
            <p:spPr>
              <a:xfrm>
                <a:off x="9994977" y="2911280"/>
                <a:ext cx="15619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402AAD55-BA24-0B9D-3AC6-6F3017EF3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977" y="2911280"/>
                <a:ext cx="1561945" cy="523220"/>
              </a:xfrm>
              <a:prstGeom prst="rect">
                <a:avLst/>
              </a:prstGeom>
              <a:blipFill>
                <a:blip r:embed="rId1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辅助线">
            <a:extLst>
              <a:ext uri="{FF2B5EF4-FFF2-40B4-BE49-F238E27FC236}">
                <a16:creationId xmlns:a16="http://schemas.microsoft.com/office/drawing/2014/main" id="{D5C4D2A3-3A65-FFCC-3887-316C3C6A2951}"/>
              </a:ext>
            </a:extLst>
          </p:cNvPr>
          <p:cNvCxnSpPr>
            <a:cxnSpLocks/>
          </p:cNvCxnSpPr>
          <p:nvPr/>
        </p:nvCxnSpPr>
        <p:spPr>
          <a:xfrm flipH="1" flipV="1">
            <a:off x="9184544" y="2852918"/>
            <a:ext cx="1048414" cy="28291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3C18E23-43F1-6DE9-6CAD-EE2A1777308C}"/>
                  </a:ext>
                </a:extLst>
              </p:cNvPr>
              <p:cNvSpPr txBox="1"/>
              <p:nvPr/>
            </p:nvSpPr>
            <p:spPr>
              <a:xfrm>
                <a:off x="9992354" y="1852744"/>
                <a:ext cx="15619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3C18E23-43F1-6DE9-6CAD-EE2A17773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354" y="1852744"/>
                <a:ext cx="1561945" cy="523220"/>
              </a:xfrm>
              <a:prstGeom prst="rect">
                <a:avLst/>
              </a:prstGeom>
              <a:blipFill>
                <a:blip r:embed="rId18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辅助线">
            <a:extLst>
              <a:ext uri="{FF2B5EF4-FFF2-40B4-BE49-F238E27FC236}">
                <a16:creationId xmlns:a16="http://schemas.microsoft.com/office/drawing/2014/main" id="{3F9F63A5-D5DE-F9B8-6B24-DCC667885F4B}"/>
              </a:ext>
            </a:extLst>
          </p:cNvPr>
          <p:cNvCxnSpPr>
            <a:cxnSpLocks/>
            <a:endCxn id="48" idx="1"/>
          </p:cNvCxnSpPr>
          <p:nvPr/>
        </p:nvCxnSpPr>
        <p:spPr>
          <a:xfrm flipH="1">
            <a:off x="9010936" y="2186644"/>
            <a:ext cx="1213166" cy="4412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7E73BFBD-9408-AF09-7AD4-9A0B7F2B62A3}"/>
                  </a:ext>
                </a:extLst>
              </p:cNvPr>
              <p:cNvSpPr txBox="1"/>
              <p:nvPr/>
            </p:nvSpPr>
            <p:spPr>
              <a:xfrm>
                <a:off x="9996122" y="1408270"/>
                <a:ext cx="15619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7E73BFBD-9408-AF09-7AD4-9A0B7F2B6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122" y="1408270"/>
                <a:ext cx="1561945" cy="523220"/>
              </a:xfrm>
              <a:prstGeom prst="rect">
                <a:avLst/>
              </a:prstGeom>
              <a:blipFill>
                <a:blip r:embed="rId19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辅助线">
            <a:extLst>
              <a:ext uri="{FF2B5EF4-FFF2-40B4-BE49-F238E27FC236}">
                <a16:creationId xmlns:a16="http://schemas.microsoft.com/office/drawing/2014/main" id="{45C7C2CF-1BA7-E223-EC2D-1B9CB42DFDBF}"/>
              </a:ext>
            </a:extLst>
          </p:cNvPr>
          <p:cNvCxnSpPr>
            <a:cxnSpLocks/>
            <a:endCxn id="39" idx="1"/>
          </p:cNvCxnSpPr>
          <p:nvPr/>
        </p:nvCxnSpPr>
        <p:spPr>
          <a:xfrm flipH="1">
            <a:off x="9042941" y="1781462"/>
            <a:ext cx="1181161" cy="7511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505882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859694" cy="725177"/>
            <a:chOff x="4943078" y="1700704"/>
            <a:chExt cx="2859694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411748" y="1726279"/>
              <a:ext cx="2391024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频率响应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865637" cy="725177"/>
            <a:chOff x="4943078" y="1700704"/>
            <a:chExt cx="2865637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239102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Bode</a:t>
              </a:r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图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907807" cy="725177"/>
            <a:chOff x="4943078" y="1700704"/>
            <a:chExt cx="2907807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2391024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en-US" altLang="zh-CN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10</a:t>
              </a:r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倍频程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865636" cy="725177"/>
            <a:chOff x="4943078" y="1700704"/>
            <a:chExt cx="2865636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239102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典型环节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388374" y="1056897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正弦响应的稳态部分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3388514" y="1880312"/>
            <a:ext cx="8106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频率取对数，幅值取对数后乘</a:t>
            </a:r>
            <a:r>
              <a:rPr lang="en-US" altLang="zh-CN" sz="2800" dirty="0"/>
              <a:t>20</a:t>
            </a:r>
            <a:r>
              <a:rPr lang="zh-CN" altLang="en-US" sz="2800" dirty="0"/>
              <a:t>得到频率响应图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388374" y="2703727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比例，积分，微分，惯性，一阶微分，振荡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388373" y="3414329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频率变化十倍在幅频特性上对应的范围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多视角分析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583038" y="5099056"/>
            <a:ext cx="311903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横看成岭侧成峰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268413"/>
            <a:ext cx="6194665" cy="1815882"/>
            <a:chOff x="5348307" y="5258277"/>
            <a:chExt cx="6194665" cy="1815882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7597" y="5258277"/>
              <a:ext cx="5235375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试分析不稳定系统是否也具有稳定的频率响应，如果没有，分析其具有的形态，并通过仿真验证你的分析。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">
                <a:extLst>
                  <a:ext uri="{FF2B5EF4-FFF2-40B4-BE49-F238E27FC236}">
                    <a16:creationId xmlns:a16="http://schemas.microsoft.com/office/drawing/2014/main" id="{52887392-6AAF-C47E-F7A0-2069B8A72C84}"/>
                  </a:ext>
                </a:extLst>
              </p:cNvPr>
              <p:cNvSpPr/>
              <p:nvPr/>
            </p:nvSpPr>
            <p:spPr>
              <a:xfrm>
                <a:off x="9181733" y="1637669"/>
                <a:ext cx="873491" cy="792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kumimoji="1" lang="zh-CN" altLang="en-US" sz="28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G">
                <a:extLst>
                  <a:ext uri="{FF2B5EF4-FFF2-40B4-BE49-F238E27FC236}">
                    <a16:creationId xmlns:a16="http://schemas.microsoft.com/office/drawing/2014/main" id="{52887392-6AAF-C47E-F7A0-2069B8A72C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733" y="1637669"/>
                <a:ext cx="873491" cy="79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输出">
            <a:extLst>
              <a:ext uri="{FF2B5EF4-FFF2-40B4-BE49-F238E27FC236}">
                <a16:creationId xmlns:a16="http://schemas.microsoft.com/office/drawing/2014/main" id="{7CE0D3CF-1FAE-6E68-5DD3-21318DA3150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10055224" y="2032653"/>
            <a:ext cx="756505" cy="101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连接">
            <a:extLst>
              <a:ext uri="{FF2B5EF4-FFF2-40B4-BE49-F238E27FC236}">
                <a16:creationId xmlns:a16="http://schemas.microsoft.com/office/drawing/2014/main" id="{F4F577B3-1805-34EB-9A34-53AE9572BBC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386926" y="2033417"/>
            <a:ext cx="794807" cy="25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Rake, H. (1979). Step response and frequency response methods. IFAC Proceedings Volumes, 12(8), 519-526.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Wang, W., Yao, W., Chen, C., Deng, X., &amp; Liu, Y. (2020). Fast and accurate frequency response estimation for large power system disturbances using second derivative of frequency data. IEEE Transactions on Power Systems, 35(3), 2483-2486.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02B2DF1-EBCC-42A1-AA28-7A3B4D953A4A}"/>
              </a:ext>
            </a:extLst>
          </p:cNvPr>
          <p:cNvGrpSpPr/>
          <p:nvPr/>
        </p:nvGrpSpPr>
        <p:grpSpPr>
          <a:xfrm>
            <a:off x="1054646" y="1275502"/>
            <a:ext cx="10344861" cy="3716729"/>
            <a:chOff x="1054646" y="1275502"/>
            <a:chExt cx="10344861" cy="3716729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800" dirty="0"/>
                <a:t>DR_CAN</a:t>
              </a:r>
              <a:r>
                <a:rPr lang="zh-CN" altLang="en-US" sz="2800" dirty="0"/>
                <a:t>频率响应</a:t>
              </a:r>
              <a:r>
                <a:rPr lang="en-US" altLang="zh-CN" sz="2800" dirty="0"/>
                <a:t>_</a:t>
              </a:r>
              <a:r>
                <a:rPr lang="zh-CN" altLang="en-US" sz="2800" dirty="0"/>
                <a:t>详细数学推导 </a:t>
              </a:r>
              <a:r>
                <a:rPr lang="en" altLang="zh-CN" sz="2800" dirty="0"/>
                <a:t>G(</a:t>
              </a:r>
              <a:r>
                <a:rPr lang="en" altLang="zh-CN" sz="2800" dirty="0" err="1"/>
                <a:t>jw</a:t>
              </a:r>
              <a:r>
                <a:rPr lang="en" altLang="zh-CN" sz="2800" dirty="0"/>
                <a:t>)</a:t>
              </a:r>
              <a:r>
                <a:rPr lang="zh-CN" altLang="en-US" sz="2800" dirty="0"/>
                <a:t>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/video/BV1Qb411W7i2?share_source=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图片包含 图示&#10;&#10;描述已自动生成">
              <a:extLst>
                <a:ext uri="{FF2B5EF4-FFF2-40B4-BE49-F238E27FC236}">
                  <a16:creationId xmlns:a16="http://schemas.microsoft.com/office/drawing/2014/main" id="{0D9AE2C3-575C-7AFC-8D9E-A1E79335B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4646" y="1437859"/>
              <a:ext cx="2120900" cy="1371600"/>
            </a:xfrm>
            <a:prstGeom prst="rect">
              <a:avLst/>
            </a:prstGeom>
          </p:spPr>
        </p:pic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63A465F8-39A3-F555-A865-38B95F73C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7846" y="3277731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FA7D3D7-6669-A958-4F08-09CDA6FDC4A3}"/>
              </a:ext>
            </a:extLst>
          </p:cNvPr>
          <p:cNvGrpSpPr/>
          <p:nvPr/>
        </p:nvGrpSpPr>
        <p:grpSpPr>
          <a:xfrm>
            <a:off x="4654550" y="3624179"/>
            <a:ext cx="7284020" cy="2870200"/>
            <a:chOff x="4654550" y="3624179"/>
            <a:chExt cx="7284020" cy="28702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088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089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4F9F8156-7FC8-8942-AE0C-9AC47BACC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1470" y="3624179"/>
              <a:ext cx="3467100" cy="2870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节段16">
            <a:extLst>
              <a:ext uri="{FF2B5EF4-FFF2-40B4-BE49-F238E27FC236}">
                <a16:creationId xmlns:a16="http://schemas.microsoft.com/office/drawing/2014/main" id="{48E7E0AE-4491-1679-5C49-C23C8819673A}"/>
              </a:ext>
            </a:extLst>
          </p:cNvPr>
          <p:cNvSpPr/>
          <p:nvPr/>
        </p:nvSpPr>
        <p:spPr bwMode="auto">
          <a:xfrm>
            <a:off x="335896" y="1287433"/>
            <a:ext cx="5916052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pic>
        <p:nvPicPr>
          <p:cNvPr id="1026" name="Picture 2" descr="animation standing GIF">
            <a:extLst>
              <a:ext uri="{FF2B5EF4-FFF2-40B4-BE49-F238E27FC236}">
                <a16:creationId xmlns:a16="http://schemas.microsoft.com/office/drawing/2014/main" id="{41C5300F-FA40-083B-C8A6-8389215A4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88" y="2802682"/>
            <a:ext cx="635000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playbacktrim2">
            <a:hlinkClick r:id="" action="ppaction://media"/>
            <a:extLst>
              <a:ext uri="{FF2B5EF4-FFF2-40B4-BE49-F238E27FC236}">
                <a16:creationId xmlns:a16="http://schemas.microsoft.com/office/drawing/2014/main" id="{7685B3C1-16CF-297C-96C5-9B8917924E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25474" y="-27384"/>
            <a:ext cx="12241924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5241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624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26119</TotalTime>
  <Words>2058</Words>
  <Application>Microsoft Macintosh PowerPoint</Application>
  <PresentationFormat>自定义</PresentationFormat>
  <Paragraphs>443</Paragraphs>
  <Slides>34</Slides>
  <Notes>30</Notes>
  <HiddenSlides>2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574</cp:revision>
  <dcterms:created xsi:type="dcterms:W3CDTF">2012-09-21T08:06:35Z</dcterms:created>
  <dcterms:modified xsi:type="dcterms:W3CDTF">2025-05-05T05:38:26Z</dcterms:modified>
  <cp:category/>
</cp:coreProperties>
</file>