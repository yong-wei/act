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3" r:id="rId2"/>
    <p:sldId id="522" r:id="rId3"/>
    <p:sldId id="523" r:id="rId4"/>
    <p:sldId id="489" r:id="rId5"/>
    <p:sldId id="460" r:id="rId6"/>
    <p:sldId id="532" r:id="rId7"/>
    <p:sldId id="533" r:id="rId8"/>
    <p:sldId id="534" r:id="rId9"/>
    <p:sldId id="535" r:id="rId10"/>
    <p:sldId id="536" r:id="rId11"/>
    <p:sldId id="537" r:id="rId12"/>
    <p:sldId id="512" r:id="rId13"/>
    <p:sldId id="525" r:id="rId14"/>
    <p:sldId id="526" r:id="rId15"/>
    <p:sldId id="527" r:id="rId16"/>
    <p:sldId id="528" r:id="rId17"/>
  </p:sldIdLst>
  <p:sldSz cx="12190413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4065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F29B11"/>
    <a:srgbClr val="768395"/>
    <a:srgbClr val="1C1C1C"/>
    <a:srgbClr val="9BBB59"/>
    <a:srgbClr val="2980B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6" autoAdjust="0"/>
    <p:restoredTop sz="92387" autoAdjust="0"/>
  </p:normalViewPr>
  <p:slideViewPr>
    <p:cSldViewPr>
      <p:cViewPr varScale="1">
        <p:scale>
          <a:sx n="112" d="100"/>
          <a:sy n="112" d="100"/>
        </p:scale>
        <p:origin x="952" y="192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4065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2024/4/12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59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267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64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7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66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2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84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193723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11" Type="http://schemas.openxmlformats.org/officeDocument/2006/relationships/image" Target="../media/image30.png"/><Relationship Id="rId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image" Target="../media/image15.emf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E4AE91-DB3C-3A0C-D594-BA9D49E734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D2CBF4-6B60-44E1-85DF-C4496B6C1A41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ECED2948-C3C1-76BB-BAE3-960F1C165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CCB85CD-D2CD-296A-D2A2-52CB181EDCB5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F8BA99C-8DC2-33FD-0C6D-5ABB949376B9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615F7FFA-8C50-96FC-2B6C-31C9D63EF5D8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6B9255-C649-20F8-6076-AD19ED4610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316ABD2A-858B-8017-501B-0515748A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CAD2B8AF-40FD-D89E-4294-770F4B06B865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05E25C6A-D2C8-A61D-7DCF-F9EFAACA4332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能熟练绘制根轨迹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能基于根轨迹分析参数稳定范围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能够将根轨迹增益转化为开环增益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能够使用根轨迹选择满足性能的参数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60960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29598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5">
            <a:extLst>
              <a:ext uri="{FF2B5EF4-FFF2-40B4-BE49-F238E27FC236}">
                <a16:creationId xmlns:a16="http://schemas.microsoft.com/office/drawing/2014/main" id="{5D2F4156-56CD-9EA3-40C7-AA4F4D3C886E}"/>
              </a:ext>
            </a:extLst>
          </p:cNvPr>
          <p:cNvSpPr/>
          <p:nvPr/>
        </p:nvSpPr>
        <p:spPr bwMode="auto">
          <a:xfrm>
            <a:off x="551399" y="12913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简化模型</a:t>
            </a:r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6EF28B3D-5822-CA5F-C3BC-68214702EE11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2147970" y="2229005"/>
            <a:ext cx="4372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2E1532E7-434F-346F-A106-0DA05C45C752}"/>
              </a:ext>
            </a:extLst>
          </p:cNvPr>
          <p:cNvSpPr/>
          <p:nvPr/>
        </p:nvSpPr>
        <p:spPr>
          <a:xfrm>
            <a:off x="1786492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F528F8D-21DE-ABE2-1F64-F16AC0163CC0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040025" y="2229005"/>
            <a:ext cx="74646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F86D3BF8-2D4A-C026-D00C-C6DE240C18DE}"/>
              </a:ext>
            </a:extLst>
          </p:cNvPr>
          <p:cNvCxnSpPr>
            <a:cxnSpLocks/>
            <a:stCxn id="19" idx="4"/>
            <a:endCxn id="3" idx="4"/>
          </p:cNvCxnSpPr>
          <p:nvPr/>
        </p:nvCxnSpPr>
        <p:spPr>
          <a:xfrm rot="5400000">
            <a:off x="6072308" y="-1788176"/>
            <a:ext cx="92844" cy="8302997"/>
          </a:xfrm>
          <a:prstGeom prst="bentConnector3">
            <a:avLst>
              <a:gd name="adj1" fmla="val 1013396"/>
            </a:avLst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/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blipFill>
                <a:blip r:embed="rId4"/>
                <a:stretch>
                  <a:fillRect r="-144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/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/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/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/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/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舵伺服系统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3.43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+2.14375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blipFill>
                <a:blip r:embed="rId9"/>
                <a:stretch>
                  <a:fillRect l="-505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/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+0.1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0DE08891-A89D-8D95-E9E7-93F674B78B7E}"/>
              </a:ext>
            </a:extLst>
          </p:cNvPr>
          <p:cNvSpPr/>
          <p:nvPr/>
        </p:nvSpPr>
        <p:spPr>
          <a:xfrm>
            <a:off x="7151614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F4BEB76-076C-7DEB-F137-040125DAF29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84480" y="2229005"/>
            <a:ext cx="427671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DC8A289-7830-18C2-EA94-1A7474CC4055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6684856" y="2229005"/>
            <a:ext cx="4667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03242FE-6F7A-9854-8A93-859C5478F90B}"/>
              </a:ext>
            </a:extLst>
          </p:cNvPr>
          <p:cNvCxnSpPr>
            <a:cxnSpLocks/>
            <a:stCxn id="14" idx="6"/>
            <a:endCxn id="13" idx="1"/>
          </p:cNvCxnSpPr>
          <p:nvPr/>
        </p:nvCxnSpPr>
        <p:spPr>
          <a:xfrm>
            <a:off x="7513092" y="2229005"/>
            <a:ext cx="466757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67A501E-94C5-149F-E8C5-A6CE7881261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9744125" y="2229005"/>
            <a:ext cx="11765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B25E6254-3697-8726-C9BC-301596DB01DF}"/>
              </a:ext>
            </a:extLst>
          </p:cNvPr>
          <p:cNvSpPr/>
          <p:nvPr/>
        </p:nvSpPr>
        <p:spPr>
          <a:xfrm>
            <a:off x="10182333" y="2141110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D0A6AE7-EE1B-2D6A-6923-D5D876C3942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332353" y="931589"/>
            <a:ext cx="0" cy="1116677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/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43E017D6-79DA-B9F4-EF31-C5B595E8EF16}"/>
              </a:ext>
            </a:extLst>
          </p:cNvPr>
          <p:cNvSpPr txBox="1"/>
          <p:nvPr/>
        </p:nvSpPr>
        <p:spPr>
          <a:xfrm>
            <a:off x="549095" y="103213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给定航向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DAFC27-0DEF-B207-4314-9BBBEF346533}"/>
              </a:ext>
            </a:extLst>
          </p:cNvPr>
          <p:cNvSpPr txBox="1"/>
          <p:nvPr/>
        </p:nvSpPr>
        <p:spPr>
          <a:xfrm>
            <a:off x="10182333" y="102826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期望方向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1CE50A-9BDC-DD4D-2FDB-7D9BB0686501}"/>
              </a:ext>
            </a:extLst>
          </p:cNvPr>
          <p:cNvSpPr txBox="1"/>
          <p:nvPr/>
        </p:nvSpPr>
        <p:spPr>
          <a:xfrm>
            <a:off x="6663400" y="2516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外部扰动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2EF68AFB-EE42-5804-1B36-AF7375645B85}"/>
                  </a:ext>
                </a:extLst>
              </p:cNvPr>
              <p:cNvSpPr/>
              <p:nvPr/>
            </p:nvSpPr>
            <p:spPr>
              <a:xfrm>
                <a:off x="2599801" y="1799786"/>
                <a:ext cx="1199252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放大器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2EF68AFB-EE42-5804-1B36-AF7375645B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801" y="1799786"/>
                <a:ext cx="1199252" cy="825702"/>
              </a:xfrm>
              <a:prstGeom prst="rect">
                <a:avLst/>
              </a:prstGeom>
              <a:blipFill>
                <a:blip r:embed="rId12"/>
                <a:stretch>
                  <a:fillRect t="-4348" r="-4082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28A7B36D-AA53-7950-D9AC-1A3E0DE34ECF}"/>
              </a:ext>
            </a:extLst>
          </p:cNvPr>
          <p:cNvSpPr txBox="1"/>
          <p:nvPr/>
        </p:nvSpPr>
        <p:spPr>
          <a:xfrm>
            <a:off x="1348408" y="3604547"/>
            <a:ext cx="10367937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分析比例控制器参数变化时航向控制系统的根轨迹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EE4364-4DE0-D319-3BA9-BB66B1062BE6}"/>
              </a:ext>
            </a:extLst>
          </p:cNvPr>
          <p:cNvSpPr txBox="1"/>
          <p:nvPr/>
        </p:nvSpPr>
        <p:spPr>
          <a:xfrm>
            <a:off x="1364878" y="4687201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分析主导极点在最佳阻尼比时的闭环极点，并选择控制器参数</a:t>
            </a:r>
          </a:p>
        </p:txBody>
      </p:sp>
      <p:sp>
        <p:nvSpPr>
          <p:cNvPr id="34" name="ï$ľiďê">
            <a:extLst>
              <a:ext uri="{FF2B5EF4-FFF2-40B4-BE49-F238E27FC236}">
                <a16:creationId xmlns:a16="http://schemas.microsoft.com/office/drawing/2014/main" id="{17BDCC0C-F643-E55B-D2C3-D9C7CD6D7E97}"/>
              </a:ext>
            </a:extLst>
          </p:cNvPr>
          <p:cNvSpPr/>
          <p:nvPr/>
        </p:nvSpPr>
        <p:spPr bwMode="auto">
          <a:xfrm>
            <a:off x="531696" y="350100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5" name="ï$ľiďê">
            <a:extLst>
              <a:ext uri="{FF2B5EF4-FFF2-40B4-BE49-F238E27FC236}">
                <a16:creationId xmlns:a16="http://schemas.microsoft.com/office/drawing/2014/main" id="{7479A594-7931-D309-384E-946938933F7B}"/>
              </a:ext>
            </a:extLst>
          </p:cNvPr>
          <p:cNvSpPr/>
          <p:nvPr/>
        </p:nvSpPr>
        <p:spPr bwMode="auto">
          <a:xfrm>
            <a:off x="523429" y="458109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04EC43-58EF-82CD-3740-41A4FF1F843F}"/>
              </a:ext>
            </a:extLst>
          </p:cNvPr>
          <p:cNvSpPr txBox="1"/>
          <p:nvPr/>
        </p:nvSpPr>
        <p:spPr>
          <a:xfrm>
            <a:off x="1364878" y="5781274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验证主导极点和实际系统表现的差异</a:t>
            </a:r>
          </a:p>
        </p:txBody>
      </p:sp>
      <p:sp>
        <p:nvSpPr>
          <p:cNvPr id="37" name="ï$ľiďê">
            <a:extLst>
              <a:ext uri="{FF2B5EF4-FFF2-40B4-BE49-F238E27FC236}">
                <a16:creationId xmlns:a16="http://schemas.microsoft.com/office/drawing/2014/main" id="{F8612BD4-1138-5D82-6B50-35F45A13E7A8}"/>
              </a:ext>
            </a:extLst>
          </p:cNvPr>
          <p:cNvSpPr/>
          <p:nvPr/>
        </p:nvSpPr>
        <p:spPr bwMode="auto">
          <a:xfrm>
            <a:off x="556322" y="5656151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556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96BF76-FE32-B261-5FAC-92847184CE29}"/>
                  </a:ext>
                </a:extLst>
              </p:cNvPr>
              <p:cNvSpPr txBox="1"/>
              <p:nvPr/>
            </p:nvSpPr>
            <p:spPr>
              <a:xfrm>
                <a:off x="-2698" y="1603937"/>
                <a:ext cx="6097904" cy="845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0.01715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+2.14375</m:t>
                              </m:r>
                            </m:e>
                          </m:d>
                        </m:den>
                      </m:f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96BF76-FE32-B261-5FAC-92847184C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98" y="1603937"/>
                <a:ext cx="6097904" cy="845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4C417CF-6F82-2CAB-C880-DFFCC6FDD493}"/>
              </a:ext>
            </a:extLst>
          </p:cNvPr>
          <p:cNvSpPr txBox="1"/>
          <p:nvPr/>
        </p:nvSpPr>
        <p:spPr>
          <a:xfrm>
            <a:off x="406845" y="105182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闭环特征方程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68E051-B514-160C-E162-22E6E9469F3B}"/>
              </a:ext>
            </a:extLst>
          </p:cNvPr>
          <p:cNvSpPr txBox="1"/>
          <p:nvPr/>
        </p:nvSpPr>
        <p:spPr>
          <a:xfrm>
            <a:off x="406845" y="26842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根轨迹方程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7A585C4-45CA-AD3F-4FD9-E97F7622D1DB}"/>
                  </a:ext>
                </a:extLst>
              </p:cNvPr>
              <p:cNvSpPr txBox="1"/>
              <p:nvPr/>
            </p:nvSpPr>
            <p:spPr>
              <a:xfrm>
                <a:off x="339937" y="3429000"/>
                <a:ext cx="4486413" cy="845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0.01715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+2.14375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7A585C4-45CA-AD3F-4FD9-E97F7622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37" y="3429000"/>
                <a:ext cx="4486413" cy="845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270AA76-74B9-8868-6851-04B401A74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781" y="1032132"/>
            <a:ext cx="5927695" cy="44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855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主导极点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C417CF-6F82-2CAB-C880-DFFCC6FDD493}"/>
                  </a:ext>
                </a:extLst>
              </p:cNvPr>
              <p:cNvSpPr txBox="1"/>
              <p:nvPr/>
            </p:nvSpPr>
            <p:spPr>
              <a:xfrm>
                <a:off x="406845" y="1051826"/>
                <a:ext cx="606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pc="65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𝜉</m:t>
                    </m:r>
                    <m:r>
                      <a:rPr lang="en-US" altLang="zh-CN" sz="2400" kern="100" spc="65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=0.707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effectLst/>
                  </a:rPr>
                  <a:t>，</a:t>
                </a:r>
                <a:r>
                  <a:rPr lang="zh-CN" altLang="zh-CN" sz="2400" dirty="0"/>
                  <a:t>闭环极点为</a:t>
                </a:r>
                <a14:m>
                  <m:oMath xmlns:m="http://schemas.openxmlformats.org/officeDocument/2006/math">
                    <m:r>
                      <a:rPr lang="en-US" altLang="zh-CN" sz="2400" i="1"/>
                      <m:t>−</m:t>
                    </m:r>
                    <m:r>
                      <a:rPr lang="en-US" altLang="zh-CN" sz="2400"/>
                      <m:t>0.0488</m:t>
                    </m:r>
                    <m:r>
                      <a:rPr lang="zh-CN" altLang="zh-CN" sz="2400"/>
                      <m:t>±</m:t>
                    </m:r>
                    <m:r>
                      <a:rPr lang="en-US" altLang="zh-CN" sz="2400" i="1"/>
                      <m:t>𝑗</m:t>
                    </m:r>
                    <m:r>
                      <a:rPr lang="en-US" altLang="zh-CN" sz="2400"/>
                      <m:t>0.04</m:t>
                    </m:r>
                    <m:r>
                      <a:rPr lang="en-US" altLang="zh-CN" sz="2400" i="1"/>
                      <m:t>95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</a:rPr>
                  <a:t> </a:t>
                </a:r>
                <a:endParaRPr kumimoji="1" lang="zh-CN" altLang="en-US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C417CF-6F82-2CAB-C880-DFFCC6FDD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45" y="1051826"/>
                <a:ext cx="6061146" cy="461665"/>
              </a:xfrm>
              <a:prstGeom prst="rect">
                <a:avLst/>
              </a:prstGeom>
              <a:blipFill>
                <a:blip r:embed="rId3"/>
                <a:stretch>
                  <a:fillRect l="-1046" t="-13514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68E051-B514-160C-E162-22E6E9469F3B}"/>
                  </a:ext>
                </a:extLst>
              </p:cNvPr>
              <p:cNvSpPr txBox="1"/>
              <p:nvPr/>
            </p:nvSpPr>
            <p:spPr>
              <a:xfrm>
                <a:off x="379039" y="2134761"/>
                <a:ext cx="44642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𝑘</m:t>
                    </m:r>
                    <m:r>
                      <a:rPr lang="en-US" altLang="zh-CN" sz="2400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=0.01715</m:t>
                    </m:r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𝐾</m:t>
                    </m:r>
                    <m:r>
                      <a:rPr lang="en-US" altLang="zh-CN" sz="2400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.0104</m:t>
                    </m:r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时系统稳定，此时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𝐾</m:t>
                    </m:r>
                    <m:r>
                      <a:rPr lang="en-US" altLang="zh-CN" sz="2400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=0</m:t>
                    </m:r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+mn-ea"/>
                        <a:cs typeface="Times New Roman (正文 CS 字体)"/>
                      </a:rPr>
                      <m:t>.6064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+mn-ea"/>
                  </a:rPr>
                  <a:t> </a:t>
                </a:r>
                <a:endParaRPr kumimoji="1" lang="zh-CN" altLang="en-US" sz="24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68E051-B514-160C-E162-22E6E9469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39" y="2134761"/>
                <a:ext cx="4464225" cy="830997"/>
              </a:xfrm>
              <a:prstGeom prst="rect">
                <a:avLst/>
              </a:prstGeom>
              <a:blipFill>
                <a:blip r:embed="rId4"/>
                <a:stretch>
                  <a:fillRect l="-1983" t="-606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A84D53A0-D804-AB28-ED85-6C247511F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723" y="1051826"/>
            <a:ext cx="6241907" cy="46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328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主导极点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C417CF-6F82-2CAB-C880-DFFCC6FDD493}"/>
                  </a:ext>
                </a:extLst>
              </p:cNvPr>
              <p:cNvSpPr txBox="1"/>
              <p:nvPr/>
            </p:nvSpPr>
            <p:spPr>
              <a:xfrm>
                <a:off x="376233" y="3433510"/>
                <a:ext cx="492688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化为尾一式后消去极点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比较原系统和使用主导极点近似系统的单位阶跃响应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C417CF-6F82-2CAB-C880-DFFCC6FDD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3" y="3433510"/>
                <a:ext cx="4926885" cy="1200329"/>
              </a:xfrm>
              <a:prstGeom prst="rect">
                <a:avLst/>
              </a:prstGeom>
              <a:blipFill>
                <a:blip r:embed="rId3"/>
                <a:stretch>
                  <a:fillRect l="-1799" t="-4211" b="-1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726481FF-423A-3221-3FD1-DDA056B4E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70" y="3094230"/>
            <a:ext cx="4708128" cy="3531096"/>
          </a:xfrm>
          <a:prstGeom prst="rect">
            <a:avLst/>
          </a:prstGeom>
        </p:spPr>
      </p:pic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7B7DE209-C315-CC86-F932-3CD8F7F3DA88}"/>
              </a:ext>
            </a:extLst>
          </p:cNvPr>
          <p:cNvCxnSpPr>
            <a:cxnSpLocks/>
            <a:stCxn id="6" idx="6"/>
            <a:endCxn id="11" idx="1"/>
          </p:cNvCxnSpPr>
          <p:nvPr/>
        </p:nvCxnSpPr>
        <p:spPr>
          <a:xfrm>
            <a:off x="2158817" y="1969563"/>
            <a:ext cx="4372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9E42CDA8-AA71-9DCA-B741-C2D7C2D89C80}"/>
              </a:ext>
            </a:extLst>
          </p:cNvPr>
          <p:cNvSpPr/>
          <p:nvPr/>
        </p:nvSpPr>
        <p:spPr>
          <a:xfrm>
            <a:off x="1797339" y="1788824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3FA501B-5161-686C-D1A9-86D3ADA95E60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1050872" y="1969563"/>
            <a:ext cx="74646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>
            <a:extLst>
              <a:ext uri="{FF2B5EF4-FFF2-40B4-BE49-F238E27FC236}">
                <a16:creationId xmlns:a16="http://schemas.microsoft.com/office/drawing/2014/main" id="{0D3B9154-FE12-3E00-EAAB-F1430382ED94}"/>
              </a:ext>
            </a:extLst>
          </p:cNvPr>
          <p:cNvCxnSpPr>
            <a:cxnSpLocks/>
            <a:stCxn id="24" idx="4"/>
            <a:endCxn id="6" idx="4"/>
          </p:cNvCxnSpPr>
          <p:nvPr/>
        </p:nvCxnSpPr>
        <p:spPr>
          <a:xfrm rot="5400000">
            <a:off x="6083155" y="-2047618"/>
            <a:ext cx="92844" cy="8302997"/>
          </a:xfrm>
          <a:prstGeom prst="bentConnector3">
            <a:avLst>
              <a:gd name="adj1" fmla="val 1013396"/>
            </a:avLst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A3656D8-7932-232E-C54C-DEEDF0F2F00A}"/>
                  </a:ext>
                </a:extLst>
              </p:cNvPr>
              <p:cNvSpPr/>
              <p:nvPr/>
            </p:nvSpPr>
            <p:spPr>
              <a:xfrm>
                <a:off x="2596075" y="1556712"/>
                <a:ext cx="1199252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放大器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A3656D8-7932-232E-C54C-DEEDF0F2F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075" y="1556712"/>
                <a:ext cx="1199252" cy="825702"/>
              </a:xfrm>
              <a:prstGeom prst="rect">
                <a:avLst/>
              </a:prstGeom>
              <a:blipFill>
                <a:blip r:embed="rId5"/>
                <a:stretch>
                  <a:fillRect t="-2857" r="-4082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A1F9D19-0A42-6162-9901-6D5124183DB2}"/>
                  </a:ext>
                </a:extLst>
              </p:cNvPr>
              <p:cNvSpPr txBox="1"/>
              <p:nvPr/>
            </p:nvSpPr>
            <p:spPr>
              <a:xfrm>
                <a:off x="9844609" y="1392278"/>
                <a:ext cx="8729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A1F9D19-0A42-6162-9901-6D5124183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609" y="1392278"/>
                <a:ext cx="872931" cy="461665"/>
              </a:xfrm>
              <a:prstGeom prst="rect">
                <a:avLst/>
              </a:prstGeom>
              <a:blipFill>
                <a:blip r:embed="rId6"/>
                <a:stretch>
                  <a:fillRect r="-1449"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93BC0-71D7-D6C6-5999-DEC71FFF5FFD}"/>
                  </a:ext>
                </a:extLst>
              </p:cNvPr>
              <p:cNvSpPr txBox="1"/>
              <p:nvPr/>
            </p:nvSpPr>
            <p:spPr>
              <a:xfrm>
                <a:off x="6902847" y="1260944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93BC0-71D7-D6C6-5999-DEC71FFF5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47" y="1260944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AEC53AD-183D-4A01-0FA8-7915E20C2703}"/>
                  </a:ext>
                </a:extLst>
              </p:cNvPr>
              <p:cNvSpPr txBox="1"/>
              <p:nvPr/>
            </p:nvSpPr>
            <p:spPr>
              <a:xfrm>
                <a:off x="7343200" y="651343"/>
                <a:ext cx="907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AEC53AD-183D-4A01-0FA8-7915E20C2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00" y="651343"/>
                <a:ext cx="90755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E2B8E3-67C6-415E-CCDC-862AF04D8810}"/>
                  </a:ext>
                </a:extLst>
              </p:cNvPr>
              <p:cNvSpPr txBox="1"/>
              <p:nvPr/>
            </p:nvSpPr>
            <p:spPr>
              <a:xfrm>
                <a:off x="2022000" y="2018465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E2B8E3-67C6-415E-CCDC-862AF04D8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00" y="2018465"/>
                <a:ext cx="50526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F6F398-5C2D-3D7A-2627-D2766B0F887F}"/>
                  </a:ext>
                </a:extLst>
              </p:cNvPr>
              <p:cNvSpPr txBox="1"/>
              <p:nvPr/>
            </p:nvSpPr>
            <p:spPr>
              <a:xfrm>
                <a:off x="935893" y="1400579"/>
                <a:ext cx="879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F6F398-5C2D-3D7A-2627-D2766B0F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93" y="1400579"/>
                <a:ext cx="879664" cy="461665"/>
              </a:xfrm>
              <a:prstGeom prst="rect">
                <a:avLst/>
              </a:prstGeom>
              <a:blipFill>
                <a:blip r:embed="rId10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20BAB1-F83B-11D8-C4FA-A288DF516A32}"/>
                  </a:ext>
                </a:extLst>
              </p:cNvPr>
              <p:cNvSpPr/>
              <p:nvPr/>
            </p:nvSpPr>
            <p:spPr>
              <a:xfrm>
                <a:off x="4222998" y="1345633"/>
                <a:ext cx="2472705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舵伺服系统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1.6</m:t>
                      </m:r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20BAB1-F83B-11D8-C4FA-A288DF516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998" y="1345633"/>
                <a:ext cx="2472705" cy="1247861"/>
              </a:xfrm>
              <a:prstGeom prst="rect">
                <a:avLst/>
              </a:prstGeom>
              <a:blipFill>
                <a:blip r:embed="rId11"/>
                <a:stretch>
                  <a:fillRect l="-2020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EA19B4B-7AF8-F46B-ECC2-95CBEDF201A0}"/>
                  </a:ext>
                </a:extLst>
              </p:cNvPr>
              <p:cNvSpPr/>
              <p:nvPr/>
            </p:nvSpPr>
            <p:spPr>
              <a:xfrm>
                <a:off x="7990696" y="1345633"/>
                <a:ext cx="1764276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-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+0.1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EA19B4B-7AF8-F46B-ECC2-95CBEDF20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696" y="1345633"/>
                <a:ext cx="1764276" cy="12478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102636A5-81EA-58DA-117E-6563EED3D399}"/>
              </a:ext>
            </a:extLst>
          </p:cNvPr>
          <p:cNvSpPr/>
          <p:nvPr/>
        </p:nvSpPr>
        <p:spPr>
          <a:xfrm>
            <a:off x="7162461" y="1788824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EEBB8FF-847B-23CB-2949-799BBE632725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3795327" y="1969563"/>
            <a:ext cx="427671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1AAC78B-03BB-6A75-9D91-77420FF0603E}"/>
              </a:ext>
            </a:extLst>
          </p:cNvPr>
          <p:cNvCxnSpPr>
            <a:cxnSpLocks/>
            <a:stCxn id="17" idx="3"/>
            <a:endCxn id="19" idx="2"/>
          </p:cNvCxnSpPr>
          <p:nvPr/>
        </p:nvCxnSpPr>
        <p:spPr>
          <a:xfrm flipV="1">
            <a:off x="6695703" y="1969563"/>
            <a:ext cx="4667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A179D86-CAC4-A319-B2CE-25C63418895C}"/>
              </a:ext>
            </a:extLst>
          </p:cNvPr>
          <p:cNvCxnSpPr>
            <a:cxnSpLocks/>
            <a:stCxn id="19" idx="6"/>
            <a:endCxn id="18" idx="1"/>
          </p:cNvCxnSpPr>
          <p:nvPr/>
        </p:nvCxnSpPr>
        <p:spPr>
          <a:xfrm>
            <a:off x="7523939" y="1969563"/>
            <a:ext cx="466757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3C436BB-529B-47AD-04A6-F6AD9298045B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9754972" y="1969563"/>
            <a:ext cx="11765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7F365B17-BC1F-93B2-A45C-FB0EF90660C1}"/>
              </a:ext>
            </a:extLst>
          </p:cNvPr>
          <p:cNvSpPr/>
          <p:nvPr/>
        </p:nvSpPr>
        <p:spPr>
          <a:xfrm>
            <a:off x="10193180" y="1881668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F1F8F990-89AE-B7A5-C922-1CBE5A0AC7E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343200" y="672147"/>
            <a:ext cx="0" cy="1116677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61B6E7-2783-2A81-6D87-BF1362A6A3D5}"/>
                  </a:ext>
                </a:extLst>
              </p:cNvPr>
              <p:cNvSpPr txBox="1"/>
              <p:nvPr/>
            </p:nvSpPr>
            <p:spPr>
              <a:xfrm>
                <a:off x="6674247" y="1540344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61B6E7-2783-2A81-6D87-BF1362A6A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247" y="1540344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0082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模拟转向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6394B8-95CF-41DB-3C7F-68689CB81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846" y="1124744"/>
            <a:ext cx="6839143" cy="513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229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模拟避障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3C5C1A-3ED3-EC1B-BC01-75AFF496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30" y="1196752"/>
            <a:ext cx="6480720" cy="48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45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分钟回转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E34967-6156-C26B-BEDB-0C7B3AB57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78" y="1123391"/>
            <a:ext cx="10096071" cy="47538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DAFF9F-CBBF-5A83-8B36-1B288AB65570}"/>
                  </a:ext>
                </a:extLst>
              </p:cNvPr>
              <p:cNvSpPr txBox="1"/>
              <p:nvPr/>
            </p:nvSpPr>
            <p:spPr>
              <a:xfrm>
                <a:off x="3855481" y="6063679"/>
                <a:ext cx="4176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仿真时间</a:t>
                </a:r>
                <a:r>
                  <a:rPr lang="en-US" altLang="zh-CN" sz="2400" kern="100" dirty="0">
                    <a:effectLst/>
                    <a:latin typeface="+mn-ea"/>
                    <a:cs typeface="Times New Roman (正文 CS 字体)"/>
                  </a:rPr>
                  <a:t>200s</a:t>
                </a:r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+mn-ea"/>
                        <a:cs typeface="Times New Roman (正文 CS 字体)"/>
                      </a:rPr>
                      <m:t>𝐾</m:t>
                    </m:r>
                    <m:r>
                      <a:rPr lang="en-US" altLang="zh-CN" sz="2400" i="1" kern="100">
                        <a:effectLst/>
                        <a:latin typeface="+mn-ea"/>
                        <a:cs typeface="Times New Roman (正文 CS 字体)"/>
                      </a:rPr>
                      <m:t>=0.6064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</a:rPr>
                  <a:t> </a:t>
                </a:r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DAFF9F-CBBF-5A83-8B36-1B288AB65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81" y="6063679"/>
                <a:ext cx="4176464" cy="461665"/>
              </a:xfrm>
              <a:prstGeom prst="rect">
                <a:avLst/>
              </a:prstGeom>
              <a:blipFill>
                <a:blip r:embed="rId4"/>
                <a:stretch>
                  <a:fillRect l="-2121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762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分钟回转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DAFF9F-CBBF-5A83-8B36-1B288AB65570}"/>
                  </a:ext>
                </a:extLst>
              </p:cNvPr>
              <p:cNvSpPr txBox="1"/>
              <p:nvPr/>
            </p:nvSpPr>
            <p:spPr>
              <a:xfrm>
                <a:off x="3855481" y="6063679"/>
                <a:ext cx="4176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仿真时间</a:t>
                </a:r>
                <a:r>
                  <a:rPr lang="en-US" altLang="zh-CN" sz="2400" kern="100" dirty="0">
                    <a:effectLst/>
                    <a:latin typeface="+mn-ea"/>
                    <a:cs typeface="Times New Roman (正文 CS 字体)"/>
                  </a:rPr>
                  <a:t>200s</a:t>
                </a:r>
                <a:r>
                  <a:rPr lang="zh-CN" altLang="zh-CN" sz="2400" kern="100" dirty="0">
                    <a:effectLst/>
                    <a:latin typeface="+mn-ea"/>
                    <a:cs typeface="Times New Roman (正文 CS 字体)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+mn-ea"/>
                        <a:cs typeface="Times New Roman (正文 CS 字体)"/>
                      </a:rPr>
                      <m:t>𝐾</m:t>
                    </m:r>
                    <m:r>
                      <a:rPr lang="en-US" altLang="zh-CN" sz="2400" i="1" kern="100">
                        <a:effectLst/>
                        <a:latin typeface="+mn-ea"/>
                        <a:cs typeface="Times New Roman (正文 CS 字体)"/>
                      </a:rPr>
                      <m:t>=</m:t>
                    </m:r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20</m:t>
                    </m:r>
                  </m:oMath>
                </a14:m>
                <a:r>
                  <a:rPr lang="zh-CN" altLang="zh-CN" sz="2400" dirty="0">
                    <a:effectLst/>
                    <a:latin typeface="+mn-ea"/>
                  </a:rPr>
                  <a:t> </a:t>
                </a:r>
                <a:endParaRPr lang="zh-CN" altLang="en-US" sz="2400" dirty="0">
                  <a:latin typeface="+mn-ea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BDAFF9F-CBBF-5A83-8B36-1B288AB65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81" y="6063679"/>
                <a:ext cx="4176464" cy="461665"/>
              </a:xfrm>
              <a:prstGeom prst="rect">
                <a:avLst/>
              </a:prstGeom>
              <a:blipFill>
                <a:blip r:embed="rId3"/>
                <a:stretch>
                  <a:fillRect l="-2121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029497B8-84E2-E00C-9306-1419BA0BC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213" y="1204636"/>
            <a:ext cx="9447999" cy="444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99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97684" cy="725177"/>
            <a:chOff x="4943078" y="1700704"/>
            <a:chExt cx="3297684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7" y="1739799"/>
              <a:ext cx="273794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根轨迹要点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585716" cy="725177"/>
            <a:chOff x="4943078" y="1700704"/>
            <a:chExt cx="358571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311110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参数稳定范围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597889" cy="725177"/>
            <a:chOff x="4943078" y="1700704"/>
            <a:chExt cx="359788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08110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选择极点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585716" cy="725177"/>
            <a:chOff x="4943078" y="1700704"/>
            <a:chExt cx="358571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1110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根轨迹增益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756440" y="865146"/>
            <a:ext cx="78912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起点、终点、实轴根轨迹、分离点，出射角，入射角，渐近线，虚轴交点，根之和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150990" y="1880312"/>
            <a:ext cx="7762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以虚轴为边界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169105" y="2703727"/>
            <a:ext cx="7762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应用时需化为开环增益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132127" y="3550762"/>
            <a:ext cx="669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应用主导极点选择，考虑阻尼和振荡频率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工程思维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图形化思考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207768" cy="1001329"/>
            <a:chOff x="5348307" y="5538470"/>
            <a:chExt cx="620776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分析例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中稳定情况下系统性能指标的范围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如性能指标不满足</a:t>
              </a:r>
              <a:r>
                <a:rPr kumimoji="1"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要求，考虑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可能的校正手段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8" name="坐标轴">
            <a:extLst>
              <a:ext uri="{FF2B5EF4-FFF2-40B4-BE49-F238E27FC236}">
                <a16:creationId xmlns:a16="http://schemas.microsoft.com/office/drawing/2014/main" id="{22787401-E8F4-A09E-0174-5AA1AFE2C9C8}"/>
              </a:ext>
            </a:extLst>
          </p:cNvPr>
          <p:cNvGrpSpPr/>
          <p:nvPr/>
        </p:nvGrpSpPr>
        <p:grpSpPr>
          <a:xfrm>
            <a:off x="7894638" y="863857"/>
            <a:ext cx="3958444" cy="4608512"/>
            <a:chOff x="7905396" y="1050948"/>
            <a:chExt cx="3958444" cy="4608512"/>
          </a:xfrm>
        </p:grpSpPr>
        <p:cxnSp>
          <p:nvCxnSpPr>
            <p:cNvPr id="89" name="x轴">
              <a:extLst>
                <a:ext uri="{FF2B5EF4-FFF2-40B4-BE49-F238E27FC236}">
                  <a16:creationId xmlns:a16="http://schemas.microsoft.com/office/drawing/2014/main" id="{739E69FE-39FF-A8BF-D672-5AE0D065F2C7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y轴">
              <a:extLst>
                <a:ext uri="{FF2B5EF4-FFF2-40B4-BE49-F238E27FC236}">
                  <a16:creationId xmlns:a16="http://schemas.microsoft.com/office/drawing/2014/main" id="{B9551C9A-D87F-6BA7-FC29-CCB2E46504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labelj">
                  <a:extLst>
                    <a:ext uri="{FF2B5EF4-FFF2-40B4-BE49-F238E27FC236}">
                      <a16:creationId xmlns:a16="http://schemas.microsoft.com/office/drawing/2014/main" id="{1D7B7621-654C-A930-C4DB-C09CBF49E570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label0">
                  <a:extLst>
                    <a:ext uri="{FF2B5EF4-FFF2-40B4-BE49-F238E27FC236}">
                      <a16:creationId xmlns:a16="http://schemas.microsoft.com/office/drawing/2014/main" id="{67169191-640A-4428-0792-984A3503644A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ytick1">
              <a:extLst>
                <a:ext uri="{FF2B5EF4-FFF2-40B4-BE49-F238E27FC236}">
                  <a16:creationId xmlns:a16="http://schemas.microsoft.com/office/drawing/2014/main" id="{D59A8701-2035-B094-7A3E-ECA7EF33693A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ytick-1">
              <a:extLst>
                <a:ext uri="{FF2B5EF4-FFF2-40B4-BE49-F238E27FC236}">
                  <a16:creationId xmlns:a16="http://schemas.microsoft.com/office/drawing/2014/main" id="{EECFEC1D-EAE3-E2C7-6095-C14099A70860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ytick-2">
              <a:extLst>
                <a:ext uri="{FF2B5EF4-FFF2-40B4-BE49-F238E27FC236}">
                  <a16:creationId xmlns:a16="http://schemas.microsoft.com/office/drawing/2014/main" id="{12AC0C8D-6945-4720-90A3-97CBCA4ED38F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ytick2">
              <a:extLst>
                <a:ext uri="{FF2B5EF4-FFF2-40B4-BE49-F238E27FC236}">
                  <a16:creationId xmlns:a16="http://schemas.microsoft.com/office/drawing/2014/main" id="{AD2A7926-6985-1E15-9CEE-83D95C1F63E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xtixk-1">
              <a:extLst>
                <a:ext uri="{FF2B5EF4-FFF2-40B4-BE49-F238E27FC236}">
                  <a16:creationId xmlns:a16="http://schemas.microsoft.com/office/drawing/2014/main" id="{7CDD0E4C-F31A-3A63-46B9-F81E374F3D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xtixk-2">
              <a:extLst>
                <a:ext uri="{FF2B5EF4-FFF2-40B4-BE49-F238E27FC236}">
                  <a16:creationId xmlns:a16="http://schemas.microsoft.com/office/drawing/2014/main" id="{2BFE4D54-57EC-7D7E-39F5-99E209BA27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xtixk1">
              <a:extLst>
                <a:ext uri="{FF2B5EF4-FFF2-40B4-BE49-F238E27FC236}">
                  <a16:creationId xmlns:a16="http://schemas.microsoft.com/office/drawing/2014/main" id="{04873409-7939-761E-DC64-629A5ABF2F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xtixk2">
              <a:extLst>
                <a:ext uri="{FF2B5EF4-FFF2-40B4-BE49-F238E27FC236}">
                  <a16:creationId xmlns:a16="http://schemas.microsoft.com/office/drawing/2014/main" id="{131E648B-D9EA-3A5D-51FD-734A5E55ABA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xlabel2">
                  <a:extLst>
                    <a:ext uri="{FF2B5EF4-FFF2-40B4-BE49-F238E27FC236}">
                      <a16:creationId xmlns:a16="http://schemas.microsoft.com/office/drawing/2014/main" id="{4CB318D2-763C-2184-3107-2A197AC45A16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xlabel1">
                  <a:extLst>
                    <a:ext uri="{FF2B5EF4-FFF2-40B4-BE49-F238E27FC236}">
                      <a16:creationId xmlns:a16="http://schemas.microsoft.com/office/drawing/2014/main" id="{E004BB8B-8B0E-A7A6-F8B9-F5D20D0CC4BC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xlabel-1">
                  <a:extLst>
                    <a:ext uri="{FF2B5EF4-FFF2-40B4-BE49-F238E27FC236}">
                      <a16:creationId xmlns:a16="http://schemas.microsoft.com/office/drawing/2014/main" id="{F1FBA96B-6C80-B3F8-A366-AC874253AF5D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xlabel-2">
                  <a:extLst>
                    <a:ext uri="{FF2B5EF4-FFF2-40B4-BE49-F238E27FC236}">
                      <a16:creationId xmlns:a16="http://schemas.microsoft.com/office/drawing/2014/main" id="{5588C4F0-C018-99C6-744F-5BEC6F6F29A7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ylabel2">
                  <a:extLst>
                    <a:ext uri="{FF2B5EF4-FFF2-40B4-BE49-F238E27FC236}">
                      <a16:creationId xmlns:a16="http://schemas.microsoft.com/office/drawing/2014/main" id="{F2F2CFB6-E5FF-A8E3-0AE0-AE278C146633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ylabel4">
                  <a:extLst>
                    <a:ext uri="{FF2B5EF4-FFF2-40B4-BE49-F238E27FC236}">
                      <a16:creationId xmlns:a16="http://schemas.microsoft.com/office/drawing/2014/main" id="{A45A8CC6-1928-B10A-DDAB-9506EEAE5A85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ylabel-2">
                  <a:extLst>
                    <a:ext uri="{FF2B5EF4-FFF2-40B4-BE49-F238E27FC236}">
                      <a16:creationId xmlns:a16="http://schemas.microsoft.com/office/drawing/2014/main" id="{CCF27ABA-88C5-43D7-08AC-335C57C03955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ylabel-4">
                  <a:extLst>
                    <a:ext uri="{FF2B5EF4-FFF2-40B4-BE49-F238E27FC236}">
                      <a16:creationId xmlns:a16="http://schemas.microsoft.com/office/drawing/2014/main" id="{F02DD065-5414-203C-05FC-9643A740E0CE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9" name="辅助线1">
            <a:extLst>
              <a:ext uri="{FF2B5EF4-FFF2-40B4-BE49-F238E27FC236}">
                <a16:creationId xmlns:a16="http://schemas.microsoft.com/office/drawing/2014/main" id="{60D7E0E2-24BB-7537-CF75-DC49E6997375}"/>
              </a:ext>
            </a:extLst>
          </p:cNvPr>
          <p:cNvCxnSpPr>
            <a:cxnSpLocks/>
          </p:cNvCxnSpPr>
          <p:nvPr/>
        </p:nvCxnSpPr>
        <p:spPr>
          <a:xfrm flipH="1" flipV="1">
            <a:off x="10057862" y="1999074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辅助线2">
            <a:extLst>
              <a:ext uri="{FF2B5EF4-FFF2-40B4-BE49-F238E27FC236}">
                <a16:creationId xmlns:a16="http://schemas.microsoft.com/office/drawing/2014/main" id="{56FE0968-F33A-08A1-37D7-A9852871813D}"/>
              </a:ext>
            </a:extLst>
          </p:cNvPr>
          <p:cNvCxnSpPr>
            <a:cxnSpLocks/>
            <a:stCxn id="114" idx="1"/>
          </p:cNvCxnSpPr>
          <p:nvPr/>
        </p:nvCxnSpPr>
        <p:spPr>
          <a:xfrm flipH="1" flipV="1">
            <a:off x="10071326" y="2000543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辅助线3">
            <a:extLst>
              <a:ext uri="{FF2B5EF4-FFF2-40B4-BE49-F238E27FC236}">
                <a16:creationId xmlns:a16="http://schemas.microsoft.com/office/drawing/2014/main" id="{14A17786-D909-8219-0C9A-935FBFC3FF5B}"/>
              </a:ext>
            </a:extLst>
          </p:cNvPr>
          <p:cNvCxnSpPr>
            <a:cxnSpLocks/>
            <a:stCxn id="117" idx="2"/>
          </p:cNvCxnSpPr>
          <p:nvPr/>
        </p:nvCxnSpPr>
        <p:spPr>
          <a:xfrm flipH="1" flipV="1">
            <a:off x="10061429" y="2000776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辅助线4">
            <a:extLst>
              <a:ext uri="{FF2B5EF4-FFF2-40B4-BE49-F238E27FC236}">
                <a16:creationId xmlns:a16="http://schemas.microsoft.com/office/drawing/2014/main" id="{066C8AF3-9713-D8C2-1335-D31B023C8FCE}"/>
              </a:ext>
            </a:extLst>
          </p:cNvPr>
          <p:cNvCxnSpPr>
            <a:cxnSpLocks/>
            <a:stCxn id="118" idx="2"/>
          </p:cNvCxnSpPr>
          <p:nvPr/>
        </p:nvCxnSpPr>
        <p:spPr>
          <a:xfrm flipH="1" flipV="1">
            <a:off x="10062248" y="1992943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零极点">
            <a:extLst>
              <a:ext uri="{FF2B5EF4-FFF2-40B4-BE49-F238E27FC236}">
                <a16:creationId xmlns:a16="http://schemas.microsoft.com/office/drawing/2014/main" id="{001584C6-E9E0-AB36-B74C-A34083511D4F}"/>
              </a:ext>
            </a:extLst>
          </p:cNvPr>
          <p:cNvGrpSpPr/>
          <p:nvPr/>
        </p:nvGrpSpPr>
        <p:grpSpPr>
          <a:xfrm>
            <a:off x="9913846" y="1850610"/>
            <a:ext cx="1456153" cy="2803304"/>
            <a:chOff x="9913846" y="2759569"/>
            <a:chExt cx="1456153" cy="2803304"/>
          </a:xfrm>
        </p:grpSpPr>
        <p:sp>
          <p:nvSpPr>
            <p:cNvPr id="114" name="零点">
              <a:extLst>
                <a:ext uri="{FF2B5EF4-FFF2-40B4-BE49-F238E27FC236}">
                  <a16:creationId xmlns:a16="http://schemas.microsoft.com/office/drawing/2014/main" id="{5D4A28C0-C8E5-2DB8-B40A-949772CE5819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极点3">
              <a:extLst>
                <a:ext uri="{FF2B5EF4-FFF2-40B4-BE49-F238E27FC236}">
                  <a16:creationId xmlns:a16="http://schemas.microsoft.com/office/drawing/2014/main" id="{48DFCEB3-E233-0678-06E2-BB1F5AB9C9A5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6" name="极点4">
              <a:extLst>
                <a:ext uri="{FF2B5EF4-FFF2-40B4-BE49-F238E27FC236}">
                  <a16:creationId xmlns:a16="http://schemas.microsoft.com/office/drawing/2014/main" id="{C30E4D99-3478-533B-CFE7-097D1DB224E4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7" name="极点1">
              <a:extLst>
                <a:ext uri="{FF2B5EF4-FFF2-40B4-BE49-F238E27FC236}">
                  <a16:creationId xmlns:a16="http://schemas.microsoft.com/office/drawing/2014/main" id="{2702E1D5-F9A5-0E2F-8826-EB28D42C9679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8" name="极点2">
              <a:extLst>
                <a:ext uri="{FF2B5EF4-FFF2-40B4-BE49-F238E27FC236}">
                  <a16:creationId xmlns:a16="http://schemas.microsoft.com/office/drawing/2014/main" id="{5F596FE7-301D-20DB-772F-5620F4B0CC45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19" name="渐近线1">
            <a:extLst>
              <a:ext uri="{FF2B5EF4-FFF2-40B4-BE49-F238E27FC236}">
                <a16:creationId xmlns:a16="http://schemas.microsoft.com/office/drawing/2014/main" id="{253E015F-50F3-5348-F051-3EF3C5B20AB2}"/>
              </a:ext>
            </a:extLst>
          </p:cNvPr>
          <p:cNvCxnSpPr>
            <a:cxnSpLocks/>
            <a:endCxn id="114" idx="6"/>
          </p:cNvCxnSpPr>
          <p:nvPr/>
        </p:nvCxnSpPr>
        <p:spPr>
          <a:xfrm flipH="1" flipV="1">
            <a:off x="10529093" y="3247586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渐近线2">
            <a:extLst>
              <a:ext uri="{FF2B5EF4-FFF2-40B4-BE49-F238E27FC236}">
                <a16:creationId xmlns:a16="http://schemas.microsoft.com/office/drawing/2014/main" id="{6AD32227-E6F7-8FC9-B37B-9F38712399A2}"/>
              </a:ext>
            </a:extLst>
          </p:cNvPr>
          <p:cNvCxnSpPr>
            <a:cxnSpLocks/>
            <a:endCxn id="114" idx="6"/>
          </p:cNvCxnSpPr>
          <p:nvPr/>
        </p:nvCxnSpPr>
        <p:spPr>
          <a:xfrm flipH="1">
            <a:off x="10529093" y="1797006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分离点">
            <a:extLst>
              <a:ext uri="{FF2B5EF4-FFF2-40B4-BE49-F238E27FC236}">
                <a16:creationId xmlns:a16="http://schemas.microsoft.com/office/drawing/2014/main" id="{30C5B4E7-C43B-F494-278B-0D725A408F0B}"/>
              </a:ext>
            </a:extLst>
          </p:cNvPr>
          <p:cNvGrpSpPr/>
          <p:nvPr/>
        </p:nvGrpSpPr>
        <p:grpSpPr>
          <a:xfrm>
            <a:off x="9489607" y="2625975"/>
            <a:ext cx="2034559" cy="670025"/>
            <a:chOff x="9489607" y="3534934"/>
            <a:chExt cx="2034559" cy="670025"/>
          </a:xfrm>
        </p:grpSpPr>
        <p:sp>
          <p:nvSpPr>
            <p:cNvPr id="122" name="分离点1">
              <a:extLst>
                <a:ext uri="{FF2B5EF4-FFF2-40B4-BE49-F238E27FC236}">
                  <a16:creationId xmlns:a16="http://schemas.microsoft.com/office/drawing/2014/main" id="{F0D7EE42-10E7-654F-20DC-0B56FD004E0C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分离点2">
              <a:extLst>
                <a:ext uri="{FF2B5EF4-FFF2-40B4-BE49-F238E27FC236}">
                  <a16:creationId xmlns:a16="http://schemas.microsoft.com/office/drawing/2014/main" id="{DEDC96AF-4622-D46F-DC7B-6045F70D9587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d1">
                  <a:extLst>
                    <a:ext uri="{FF2B5EF4-FFF2-40B4-BE49-F238E27FC236}">
                      <a16:creationId xmlns:a16="http://schemas.microsoft.com/office/drawing/2014/main" id="{7F8F6EE2-168E-F74F-1669-E62AE8C29C63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d2">
                  <a:extLst>
                    <a:ext uri="{FF2B5EF4-FFF2-40B4-BE49-F238E27FC236}">
                      <a16:creationId xmlns:a16="http://schemas.microsoft.com/office/drawing/2014/main" id="{6D39ADC6-FC6C-AEEA-9BFB-D997C973A222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出射角绘图">
            <a:extLst>
              <a:ext uri="{FF2B5EF4-FFF2-40B4-BE49-F238E27FC236}">
                <a16:creationId xmlns:a16="http://schemas.microsoft.com/office/drawing/2014/main" id="{839AC610-8BDF-6117-7805-A5328A17182B}"/>
              </a:ext>
            </a:extLst>
          </p:cNvPr>
          <p:cNvGrpSpPr/>
          <p:nvPr/>
        </p:nvGrpSpPr>
        <p:grpSpPr>
          <a:xfrm>
            <a:off x="8859983" y="1447871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出射角">
                  <a:extLst>
                    <a:ext uri="{FF2B5EF4-FFF2-40B4-BE49-F238E27FC236}">
                      <a16:creationId xmlns:a16="http://schemas.microsoft.com/office/drawing/2014/main" id="{F019206F-6846-15AF-5BC8-D31C56694A0F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8" name="量角器">
              <a:extLst>
                <a:ext uri="{FF2B5EF4-FFF2-40B4-BE49-F238E27FC236}">
                  <a16:creationId xmlns:a16="http://schemas.microsoft.com/office/drawing/2014/main" id="{D45918B7-55B0-666F-315D-3DC38E026B88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129" name="角度2">
                <a:extLst>
                  <a:ext uri="{FF2B5EF4-FFF2-40B4-BE49-F238E27FC236}">
                    <a16:creationId xmlns:a16="http://schemas.microsoft.com/office/drawing/2014/main" id="{4F118A60-557E-10F4-9032-36AD19F66BF6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角度1">
                <a:extLst>
                  <a:ext uri="{FF2B5EF4-FFF2-40B4-BE49-F238E27FC236}">
                    <a16:creationId xmlns:a16="http://schemas.microsoft.com/office/drawing/2014/main" id="{BC4DAC03-52F1-EA82-DB7B-79353F5D2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角度弧">
                <a:extLst>
                  <a:ext uri="{FF2B5EF4-FFF2-40B4-BE49-F238E27FC236}">
                    <a16:creationId xmlns:a16="http://schemas.microsoft.com/office/drawing/2014/main" id="{6909735B-9554-0E48-CC09-B6263E64CF7C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36" name="虚轴交点组合">
            <a:extLst>
              <a:ext uri="{FF2B5EF4-FFF2-40B4-BE49-F238E27FC236}">
                <a16:creationId xmlns:a16="http://schemas.microsoft.com/office/drawing/2014/main" id="{1652419C-62F9-2D65-6510-3CAE96F25EF2}"/>
              </a:ext>
            </a:extLst>
          </p:cNvPr>
          <p:cNvGrpSpPr/>
          <p:nvPr/>
        </p:nvGrpSpPr>
        <p:grpSpPr>
          <a:xfrm>
            <a:off x="10722508" y="2225222"/>
            <a:ext cx="103533" cy="2026601"/>
            <a:chOff x="10722508" y="3134181"/>
            <a:chExt cx="103533" cy="2026601"/>
          </a:xfrm>
        </p:grpSpPr>
        <p:sp>
          <p:nvSpPr>
            <p:cNvPr id="137" name="虚轴交点2">
              <a:extLst>
                <a:ext uri="{FF2B5EF4-FFF2-40B4-BE49-F238E27FC236}">
                  <a16:creationId xmlns:a16="http://schemas.microsoft.com/office/drawing/2014/main" id="{AA7E22F2-4470-D144-54B8-330690FC8CF8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虚轴交点1">
              <a:extLst>
                <a:ext uri="{FF2B5EF4-FFF2-40B4-BE49-F238E27FC236}">
                  <a16:creationId xmlns:a16="http://schemas.microsoft.com/office/drawing/2014/main" id="{7CA514C8-0F08-234F-E3E7-EA0F3A610DA4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虚轴交点2">
              <a:extLst>
                <a:ext uri="{FF2B5EF4-FFF2-40B4-BE49-F238E27FC236}">
                  <a16:creationId xmlns:a16="http://schemas.microsoft.com/office/drawing/2014/main" id="{975C02A9-A608-40A2-2120-D77764818956}"/>
                </a:ext>
              </a:extLst>
            </p:cNvPr>
            <p:cNvSpPr/>
            <p:nvPr/>
          </p:nvSpPr>
          <p:spPr>
            <a:xfrm>
              <a:off x="10728048" y="506908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0" name="虚轴交点2">
              <a:extLst>
                <a:ext uri="{FF2B5EF4-FFF2-40B4-BE49-F238E27FC236}">
                  <a16:creationId xmlns:a16="http://schemas.microsoft.com/office/drawing/2014/main" id="{8F317F52-EDFE-81BE-A7AD-427D6365C02F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41" name="实轴根轨迹2">
            <a:extLst>
              <a:ext uri="{FF2B5EF4-FFF2-40B4-BE49-F238E27FC236}">
                <a16:creationId xmlns:a16="http://schemas.microsoft.com/office/drawing/2014/main" id="{22E5CFB4-050E-97A0-89B3-6945B24A00F7}"/>
              </a:ext>
            </a:extLst>
          </p:cNvPr>
          <p:cNvCxnSpPr>
            <a:cxnSpLocks/>
          </p:cNvCxnSpPr>
          <p:nvPr/>
        </p:nvCxnSpPr>
        <p:spPr>
          <a:xfrm flipH="1" flipV="1">
            <a:off x="7212856" y="3234393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1">
            <a:extLst>
              <a:ext uri="{FF2B5EF4-FFF2-40B4-BE49-F238E27FC236}">
                <a16:creationId xmlns:a16="http://schemas.microsoft.com/office/drawing/2014/main" id="{1D75F521-72F2-5DD3-66F3-3410D31CD785}"/>
              </a:ext>
            </a:extLst>
          </p:cNvPr>
          <p:cNvCxnSpPr>
            <a:cxnSpLocks/>
          </p:cNvCxnSpPr>
          <p:nvPr/>
        </p:nvCxnSpPr>
        <p:spPr>
          <a:xfrm flipH="1">
            <a:off x="10783097" y="3240766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根轨迹1">
            <a:extLst>
              <a:ext uri="{FF2B5EF4-FFF2-40B4-BE49-F238E27FC236}">
                <a16:creationId xmlns:a16="http://schemas.microsoft.com/office/drawing/2014/main" id="{8874DF2B-F4BD-C79F-1DE0-E41C8AB6A414}"/>
              </a:ext>
            </a:extLst>
          </p:cNvPr>
          <p:cNvSpPr/>
          <p:nvPr/>
        </p:nvSpPr>
        <p:spPr>
          <a:xfrm flipV="1">
            <a:off x="7583588" y="1995859"/>
            <a:ext cx="2659843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843" h="1248788">
                <a:moveTo>
                  <a:pt x="2435943" y="1248788"/>
                </a:moveTo>
                <a:cubicBezTo>
                  <a:pt x="3017998" y="614846"/>
                  <a:pt x="2282152" y="767588"/>
                  <a:pt x="2274877" y="0"/>
                </a:cubicBezTo>
                <a:lnTo>
                  <a:pt x="0" y="8040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根轨迹2">
            <a:extLst>
              <a:ext uri="{FF2B5EF4-FFF2-40B4-BE49-F238E27FC236}">
                <a16:creationId xmlns:a16="http://schemas.microsoft.com/office/drawing/2014/main" id="{6A46592D-C250-1374-F902-47B849CB638F}"/>
              </a:ext>
            </a:extLst>
          </p:cNvPr>
          <p:cNvSpPr/>
          <p:nvPr/>
        </p:nvSpPr>
        <p:spPr>
          <a:xfrm>
            <a:off x="9865550" y="3238146"/>
            <a:ext cx="456212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161066 w 456212"/>
              <a:gd name="connsiteY0" fmla="*/ 1248788 h 1248788"/>
              <a:gd name="connsiteX1" fmla="*/ 0 w 456212"/>
              <a:gd name="connsiteY1" fmla="*/ 0 h 1248788"/>
              <a:gd name="connsiteX2" fmla="*/ 456212 w 456212"/>
              <a:gd name="connsiteY2" fmla="*/ 1984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212" h="1248788">
                <a:moveTo>
                  <a:pt x="161066" y="1248788"/>
                </a:moveTo>
                <a:cubicBezTo>
                  <a:pt x="743121" y="614846"/>
                  <a:pt x="7275" y="767588"/>
                  <a:pt x="0" y="0"/>
                </a:cubicBezTo>
                <a:lnTo>
                  <a:pt x="456212" y="1984"/>
                </a:ln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4" name="根轨迹3">
            <a:extLst>
              <a:ext uri="{FF2B5EF4-FFF2-40B4-BE49-F238E27FC236}">
                <a16:creationId xmlns:a16="http://schemas.microsoft.com/office/drawing/2014/main" id="{CF67877F-2102-6898-3973-0A3A034DDE85}"/>
              </a:ext>
            </a:extLst>
          </p:cNvPr>
          <p:cNvSpPr/>
          <p:nvPr/>
        </p:nvSpPr>
        <p:spPr>
          <a:xfrm flipV="1">
            <a:off x="10642726" y="1564029"/>
            <a:ext cx="911342" cy="167687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6871">
                <a:moveTo>
                  <a:pt x="134768" y="2628"/>
                </a:moveTo>
                <a:cubicBezTo>
                  <a:pt x="248240" y="-550"/>
                  <a:pt x="286879" y="-996"/>
                  <a:pt x="355208" y="2120"/>
                </a:cubicBezTo>
                <a:cubicBezTo>
                  <a:pt x="344359" y="389535"/>
                  <a:pt x="-37892" y="469474"/>
                  <a:pt x="3070" y="825318"/>
                </a:cubicBezTo>
                <a:cubicBezTo>
                  <a:pt x="50906" y="1089828"/>
                  <a:pt x="400983" y="946282"/>
                  <a:pt x="911342" y="1676871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5" name="根轨迹4">
            <a:extLst>
              <a:ext uri="{FF2B5EF4-FFF2-40B4-BE49-F238E27FC236}">
                <a16:creationId xmlns:a16="http://schemas.microsoft.com/office/drawing/2014/main" id="{9F77A562-BB95-335D-DA84-C66561C52BDE}"/>
              </a:ext>
            </a:extLst>
          </p:cNvPr>
          <p:cNvSpPr/>
          <p:nvPr/>
        </p:nvSpPr>
        <p:spPr>
          <a:xfrm>
            <a:off x="10652433" y="3238038"/>
            <a:ext cx="911342" cy="16747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589197 w 911342"/>
              <a:gd name="connsiteY0" fmla="*/ 6050 h 1674751"/>
              <a:gd name="connsiteX1" fmla="*/ 355208 w 911342"/>
              <a:gd name="connsiteY1" fmla="*/ 0 h 1674751"/>
              <a:gd name="connsiteX2" fmla="*/ 3070 w 911342"/>
              <a:gd name="connsiteY2" fmla="*/ 823198 h 1674751"/>
              <a:gd name="connsiteX3" fmla="*/ 911342 w 911342"/>
              <a:gd name="connsiteY3" fmla="*/ 1674751 h 167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4751">
                <a:moveTo>
                  <a:pt x="589197" y="6050"/>
                </a:moveTo>
                <a:lnTo>
                  <a:pt x="355208" y="0"/>
                </a:lnTo>
                <a:cubicBezTo>
                  <a:pt x="344359" y="387415"/>
                  <a:pt x="-37892" y="467354"/>
                  <a:pt x="3070" y="823198"/>
                </a:cubicBezTo>
                <a:cubicBezTo>
                  <a:pt x="50906" y="1087708"/>
                  <a:pt x="400983" y="944162"/>
                  <a:pt x="911342" y="167475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Doria-Cerezo</a:t>
            </a:r>
            <a:r>
              <a:rPr lang="en" altLang="zh-CN" sz="2800" dirty="0"/>
              <a:t>, A., &amp; </a:t>
            </a:r>
            <a:r>
              <a:rPr lang="en" altLang="zh-CN" sz="2800" dirty="0" err="1"/>
              <a:t>Bodson</a:t>
            </a:r>
            <a:r>
              <a:rPr lang="en" altLang="zh-CN" sz="2800" dirty="0"/>
              <a:t>, M. (2016). Design of controllers for electrical power systems using a complex root locus method. IEEE transactions on Industrial Electronics, 63(6), 3706-3716.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Bollinger, K., </a:t>
            </a:r>
            <a:r>
              <a:rPr lang="en" altLang="zh-CN" sz="2800" dirty="0" err="1"/>
              <a:t>Laha</a:t>
            </a:r>
            <a:r>
              <a:rPr lang="en" altLang="zh-CN" sz="2800" dirty="0"/>
              <a:t>, A., Hamilton, R., &amp; </a:t>
            </a:r>
            <a:r>
              <a:rPr lang="en" altLang="zh-CN" sz="2800" dirty="0" err="1"/>
              <a:t>Harras</a:t>
            </a:r>
            <a:r>
              <a:rPr lang="en" altLang="zh-CN" sz="2800" dirty="0"/>
              <a:t>, T. (1975). Power stabilizer design using root locus methods. IEEE Transactions on power apparatus and systems, 94(5), 1484-1488.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33AC0E3-22D3-AF39-9651-0583CE0C35A8}"/>
              </a:ext>
            </a:extLst>
          </p:cNvPr>
          <p:cNvGrpSpPr/>
          <p:nvPr/>
        </p:nvGrpSpPr>
        <p:grpSpPr>
          <a:xfrm>
            <a:off x="872763" y="1275502"/>
            <a:ext cx="10983083" cy="3731473"/>
            <a:chOff x="872763" y="1275502"/>
            <a:chExt cx="10983083" cy="3731473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9156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DR_CAN</a:t>
              </a:r>
              <a:r>
                <a:rPr lang="zh-CN" altLang="en-US" sz="2800" dirty="0"/>
                <a:t>含有初始条件的传递函数：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/video/BV13J411m7n1?share_source=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E355C61C-75AB-58D2-5232-A8A01D1AB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763" y="1429186"/>
              <a:ext cx="2070100" cy="132080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1B3AD7B-4F1C-91A5-2666-CDDCCA1D80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563" y="3292475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FB225CC-811E-1DCB-AF8F-BD8E944331F1}"/>
              </a:ext>
            </a:extLst>
          </p:cNvPr>
          <p:cNvGrpSpPr/>
          <p:nvPr/>
        </p:nvGrpSpPr>
        <p:grpSpPr>
          <a:xfrm>
            <a:off x="4654550" y="3624179"/>
            <a:ext cx="7029450" cy="2870200"/>
            <a:chOff x="4654550" y="3624179"/>
            <a:chExt cx="7029450" cy="28702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077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078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中度可信度描述已自动生成">
              <a:extLst>
                <a:ext uri="{FF2B5EF4-FFF2-40B4-BE49-F238E27FC236}">
                  <a16:creationId xmlns:a16="http://schemas.microsoft.com/office/drawing/2014/main" id="{980FC56A-6A59-98B4-55C0-E329802C9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7200" y="3624179"/>
              <a:ext cx="2336800" cy="2870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32" name="节段15">
            <a:extLst>
              <a:ext uri="{FF2B5EF4-FFF2-40B4-BE49-F238E27FC236}">
                <a16:creationId xmlns:a16="http://schemas.microsoft.com/office/drawing/2014/main" id="{AE405B31-6E3C-C2D8-2C91-C68411939EBB}"/>
              </a:ext>
            </a:extLst>
          </p:cNvPr>
          <p:cNvSpPr/>
          <p:nvPr/>
        </p:nvSpPr>
        <p:spPr bwMode="auto">
          <a:xfrm>
            <a:off x="551399" y="12913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grpSp>
        <p:nvGrpSpPr>
          <p:cNvPr id="33" name="坐标轴">
            <a:extLst>
              <a:ext uri="{FF2B5EF4-FFF2-40B4-BE49-F238E27FC236}">
                <a16:creationId xmlns:a16="http://schemas.microsoft.com/office/drawing/2014/main" id="{8020ECFF-77B0-1578-29C7-0C36622C8005}"/>
              </a:ext>
            </a:extLst>
          </p:cNvPr>
          <p:cNvGrpSpPr/>
          <p:nvPr/>
        </p:nvGrpSpPr>
        <p:grpSpPr>
          <a:xfrm>
            <a:off x="7463358" y="1124744"/>
            <a:ext cx="3958444" cy="4608512"/>
            <a:chOff x="7905396" y="1050948"/>
            <a:chExt cx="3958444" cy="4608512"/>
          </a:xfrm>
        </p:grpSpPr>
        <p:cxnSp>
          <p:nvCxnSpPr>
            <p:cNvPr id="34" name="x轴">
              <a:extLst>
                <a:ext uri="{FF2B5EF4-FFF2-40B4-BE49-F238E27FC236}">
                  <a16:creationId xmlns:a16="http://schemas.microsoft.com/office/drawing/2014/main" id="{342DD700-6408-DBB9-1B46-B36C163C956E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y轴">
              <a:extLst>
                <a:ext uri="{FF2B5EF4-FFF2-40B4-BE49-F238E27FC236}">
                  <a16:creationId xmlns:a16="http://schemas.microsoft.com/office/drawing/2014/main" id="{B8026B02-A593-9FD7-6392-69BE02FA79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j">
                  <a:extLst>
                    <a:ext uri="{FF2B5EF4-FFF2-40B4-BE49-F238E27FC236}">
                      <a16:creationId xmlns:a16="http://schemas.microsoft.com/office/drawing/2014/main" id="{0F64B44E-B441-6FC5-40AE-084F207B230D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ABE7774-F186-54DA-C376-DE31D359088B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ytick1">
              <a:extLst>
                <a:ext uri="{FF2B5EF4-FFF2-40B4-BE49-F238E27FC236}">
                  <a16:creationId xmlns:a16="http://schemas.microsoft.com/office/drawing/2014/main" id="{2F3FA38B-EE70-0A17-82E1-3F06125219C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ytick-1">
              <a:extLst>
                <a:ext uri="{FF2B5EF4-FFF2-40B4-BE49-F238E27FC236}">
                  <a16:creationId xmlns:a16="http://schemas.microsoft.com/office/drawing/2014/main" id="{509706DD-90AD-9412-CC57-7CFD50A133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ytick-2">
              <a:extLst>
                <a:ext uri="{FF2B5EF4-FFF2-40B4-BE49-F238E27FC236}">
                  <a16:creationId xmlns:a16="http://schemas.microsoft.com/office/drawing/2014/main" id="{75382F7D-DB40-C2B9-0B89-FCA1C338635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tick2">
              <a:extLst>
                <a:ext uri="{FF2B5EF4-FFF2-40B4-BE49-F238E27FC236}">
                  <a16:creationId xmlns:a16="http://schemas.microsoft.com/office/drawing/2014/main" id="{0CF7D5CC-0CEE-B09E-75A1-87C0141BE7D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xtixk-1">
              <a:extLst>
                <a:ext uri="{FF2B5EF4-FFF2-40B4-BE49-F238E27FC236}">
                  <a16:creationId xmlns:a16="http://schemas.microsoft.com/office/drawing/2014/main" id="{9F797648-F6D5-353D-851F-58A91316308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xtixk-2">
              <a:extLst>
                <a:ext uri="{FF2B5EF4-FFF2-40B4-BE49-F238E27FC236}">
                  <a16:creationId xmlns:a16="http://schemas.microsoft.com/office/drawing/2014/main" id="{22ABC963-BD1B-DCE8-873B-938BBFC84E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xtixk1">
              <a:extLst>
                <a:ext uri="{FF2B5EF4-FFF2-40B4-BE49-F238E27FC236}">
                  <a16:creationId xmlns:a16="http://schemas.microsoft.com/office/drawing/2014/main" id="{915CB0EC-4DBE-504B-AB2E-71D2BA5D75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xtixk2">
              <a:extLst>
                <a:ext uri="{FF2B5EF4-FFF2-40B4-BE49-F238E27FC236}">
                  <a16:creationId xmlns:a16="http://schemas.microsoft.com/office/drawing/2014/main" id="{9FF6C9C4-FB55-5785-A489-9E2CAC67CF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xlabel2">
                  <a:extLst>
                    <a:ext uri="{FF2B5EF4-FFF2-40B4-BE49-F238E27FC236}">
                      <a16:creationId xmlns:a16="http://schemas.microsoft.com/office/drawing/2014/main" id="{CC371ED3-8C89-70E7-DD2A-8F1357A4F025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xlabel1">
                  <a:extLst>
                    <a:ext uri="{FF2B5EF4-FFF2-40B4-BE49-F238E27FC236}">
                      <a16:creationId xmlns:a16="http://schemas.microsoft.com/office/drawing/2014/main" id="{B172050A-5048-5C2A-8E21-33F92526A3D7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xlabel-1">
                  <a:extLst>
                    <a:ext uri="{FF2B5EF4-FFF2-40B4-BE49-F238E27FC236}">
                      <a16:creationId xmlns:a16="http://schemas.microsoft.com/office/drawing/2014/main" id="{5E0BB536-FAA0-E944-2D2B-9F216D1AB25D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xlabel-2">
                  <a:extLst>
                    <a:ext uri="{FF2B5EF4-FFF2-40B4-BE49-F238E27FC236}">
                      <a16:creationId xmlns:a16="http://schemas.microsoft.com/office/drawing/2014/main" id="{3C74765E-0A07-56BE-B9C5-F4C6ECD7959D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ylabel2">
                  <a:extLst>
                    <a:ext uri="{FF2B5EF4-FFF2-40B4-BE49-F238E27FC236}">
                      <a16:creationId xmlns:a16="http://schemas.microsoft.com/office/drawing/2014/main" id="{C794B3A8-EF0C-4FB3-B792-CEBEA0B5CA81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4">
                  <a:extLst>
                    <a:ext uri="{FF2B5EF4-FFF2-40B4-BE49-F238E27FC236}">
                      <a16:creationId xmlns:a16="http://schemas.microsoft.com/office/drawing/2014/main" id="{D346BA5F-D00D-78D6-422C-FC8AB44A9AE8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ylabel-2">
                  <a:extLst>
                    <a:ext uri="{FF2B5EF4-FFF2-40B4-BE49-F238E27FC236}">
                      <a16:creationId xmlns:a16="http://schemas.microsoft.com/office/drawing/2014/main" id="{FF35A1B8-4B47-573E-2312-E65FBB776725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-4">
                  <a:extLst>
                    <a:ext uri="{FF2B5EF4-FFF2-40B4-BE49-F238E27FC236}">
                      <a16:creationId xmlns:a16="http://schemas.microsoft.com/office/drawing/2014/main" id="{4460B505-D621-4F8D-CA30-17D366FB9751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2" name="辅助线1">
            <a:extLst>
              <a:ext uri="{FF2B5EF4-FFF2-40B4-BE49-F238E27FC236}">
                <a16:creationId xmlns:a16="http://schemas.microsoft.com/office/drawing/2014/main" id="{CBC1B765-A05C-347D-6DF7-581FF02B15C9}"/>
              </a:ext>
            </a:extLst>
          </p:cNvPr>
          <p:cNvCxnSpPr>
            <a:cxnSpLocks/>
          </p:cNvCxnSpPr>
          <p:nvPr/>
        </p:nvCxnSpPr>
        <p:spPr>
          <a:xfrm flipH="1" flipV="1">
            <a:off x="9626582" y="2259961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辅助线2">
            <a:extLst>
              <a:ext uri="{FF2B5EF4-FFF2-40B4-BE49-F238E27FC236}">
                <a16:creationId xmlns:a16="http://schemas.microsoft.com/office/drawing/2014/main" id="{A545CAD8-400D-7ADA-308D-CD2813798C31}"/>
              </a:ext>
            </a:extLst>
          </p:cNvPr>
          <p:cNvCxnSpPr>
            <a:cxnSpLocks/>
            <a:stCxn id="87" idx="1"/>
          </p:cNvCxnSpPr>
          <p:nvPr/>
        </p:nvCxnSpPr>
        <p:spPr>
          <a:xfrm flipH="1" flipV="1">
            <a:off x="9640046" y="2261430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辅助线3">
            <a:extLst>
              <a:ext uri="{FF2B5EF4-FFF2-40B4-BE49-F238E27FC236}">
                <a16:creationId xmlns:a16="http://schemas.microsoft.com/office/drawing/2014/main" id="{B4CDC9E5-933D-44EE-A62E-1744E0395150}"/>
              </a:ext>
            </a:extLst>
          </p:cNvPr>
          <p:cNvCxnSpPr>
            <a:cxnSpLocks/>
            <a:stCxn id="90" idx="2"/>
          </p:cNvCxnSpPr>
          <p:nvPr/>
        </p:nvCxnSpPr>
        <p:spPr>
          <a:xfrm flipH="1" flipV="1">
            <a:off x="9630149" y="2261663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辅助线4">
            <a:extLst>
              <a:ext uri="{FF2B5EF4-FFF2-40B4-BE49-F238E27FC236}">
                <a16:creationId xmlns:a16="http://schemas.microsoft.com/office/drawing/2014/main" id="{279F9DC9-1082-6F0E-3343-51975F21352B}"/>
              </a:ext>
            </a:extLst>
          </p:cNvPr>
          <p:cNvCxnSpPr>
            <a:cxnSpLocks/>
            <a:stCxn id="91" idx="2"/>
          </p:cNvCxnSpPr>
          <p:nvPr/>
        </p:nvCxnSpPr>
        <p:spPr>
          <a:xfrm flipH="1" flipV="1">
            <a:off x="9630968" y="2253830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零极点">
            <a:extLst>
              <a:ext uri="{FF2B5EF4-FFF2-40B4-BE49-F238E27FC236}">
                <a16:creationId xmlns:a16="http://schemas.microsoft.com/office/drawing/2014/main" id="{AF534857-ED88-1F5D-1030-8F2BE726407C}"/>
              </a:ext>
            </a:extLst>
          </p:cNvPr>
          <p:cNvGrpSpPr/>
          <p:nvPr/>
        </p:nvGrpSpPr>
        <p:grpSpPr>
          <a:xfrm>
            <a:off x="9482566" y="2111497"/>
            <a:ext cx="1456153" cy="2803304"/>
            <a:chOff x="9913846" y="2759569"/>
            <a:chExt cx="1456153" cy="2803304"/>
          </a:xfrm>
        </p:grpSpPr>
        <p:sp>
          <p:nvSpPr>
            <p:cNvPr id="87" name="零点">
              <a:extLst>
                <a:ext uri="{FF2B5EF4-FFF2-40B4-BE49-F238E27FC236}">
                  <a16:creationId xmlns:a16="http://schemas.microsoft.com/office/drawing/2014/main" id="{C73CE933-1F79-CF70-D279-AE205EA2347C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极点3">
              <a:extLst>
                <a:ext uri="{FF2B5EF4-FFF2-40B4-BE49-F238E27FC236}">
                  <a16:creationId xmlns:a16="http://schemas.microsoft.com/office/drawing/2014/main" id="{49C94B61-56BA-B33A-3442-CDC90B166278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89" name="极点4">
              <a:extLst>
                <a:ext uri="{FF2B5EF4-FFF2-40B4-BE49-F238E27FC236}">
                  <a16:creationId xmlns:a16="http://schemas.microsoft.com/office/drawing/2014/main" id="{0BEC2A07-F971-EB48-FC43-4ABE0A361752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0" name="极点1">
              <a:extLst>
                <a:ext uri="{FF2B5EF4-FFF2-40B4-BE49-F238E27FC236}">
                  <a16:creationId xmlns:a16="http://schemas.microsoft.com/office/drawing/2014/main" id="{12900E91-E6EF-64EC-D0AE-8CC23ECEFFF4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2">
              <a:extLst>
                <a:ext uri="{FF2B5EF4-FFF2-40B4-BE49-F238E27FC236}">
                  <a16:creationId xmlns:a16="http://schemas.microsoft.com/office/drawing/2014/main" id="{A709C18A-338C-BBBC-A6AD-3AAAE2E684F7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92" name="渐近线1">
            <a:extLst>
              <a:ext uri="{FF2B5EF4-FFF2-40B4-BE49-F238E27FC236}">
                <a16:creationId xmlns:a16="http://schemas.microsoft.com/office/drawing/2014/main" id="{187BF438-F09C-A0E5-EB44-AA6BE457FEE0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10097813" y="3508473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渐近线2">
            <a:extLst>
              <a:ext uri="{FF2B5EF4-FFF2-40B4-BE49-F238E27FC236}">
                <a16:creationId xmlns:a16="http://schemas.microsoft.com/office/drawing/2014/main" id="{4FCCF7BB-9543-0DBC-3262-403E19801D79}"/>
              </a:ext>
            </a:extLst>
          </p:cNvPr>
          <p:cNvCxnSpPr>
            <a:cxnSpLocks/>
            <a:endCxn id="87" idx="6"/>
          </p:cNvCxnSpPr>
          <p:nvPr/>
        </p:nvCxnSpPr>
        <p:spPr>
          <a:xfrm flipH="1">
            <a:off x="10097813" y="2057893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分离点">
            <a:extLst>
              <a:ext uri="{FF2B5EF4-FFF2-40B4-BE49-F238E27FC236}">
                <a16:creationId xmlns:a16="http://schemas.microsoft.com/office/drawing/2014/main" id="{D774FB4B-9D34-6D78-BC71-F49DC3D6699D}"/>
              </a:ext>
            </a:extLst>
          </p:cNvPr>
          <p:cNvGrpSpPr/>
          <p:nvPr/>
        </p:nvGrpSpPr>
        <p:grpSpPr>
          <a:xfrm>
            <a:off x="9058327" y="2886862"/>
            <a:ext cx="2034559" cy="670025"/>
            <a:chOff x="9489607" y="3534934"/>
            <a:chExt cx="2034559" cy="670025"/>
          </a:xfrm>
        </p:grpSpPr>
        <p:sp>
          <p:nvSpPr>
            <p:cNvPr id="95" name="分离点1">
              <a:extLst>
                <a:ext uri="{FF2B5EF4-FFF2-40B4-BE49-F238E27FC236}">
                  <a16:creationId xmlns:a16="http://schemas.microsoft.com/office/drawing/2014/main" id="{DFCA9512-9395-8289-7224-3D3F10E5CA8D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分离点2">
              <a:extLst>
                <a:ext uri="{FF2B5EF4-FFF2-40B4-BE49-F238E27FC236}">
                  <a16:creationId xmlns:a16="http://schemas.microsoft.com/office/drawing/2014/main" id="{FB5D4593-31F7-3C86-0974-B151051437C5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d1">
                  <a:extLst>
                    <a:ext uri="{FF2B5EF4-FFF2-40B4-BE49-F238E27FC236}">
                      <a16:creationId xmlns:a16="http://schemas.microsoft.com/office/drawing/2014/main" id="{4D85E4B2-9D3D-3B60-1879-028E2C60DF74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d2">
                  <a:extLst>
                    <a:ext uri="{FF2B5EF4-FFF2-40B4-BE49-F238E27FC236}">
                      <a16:creationId xmlns:a16="http://schemas.microsoft.com/office/drawing/2014/main" id="{66E8CEE7-7C40-5089-FAFF-C2EA3C766C32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出射角绘图">
            <a:extLst>
              <a:ext uri="{FF2B5EF4-FFF2-40B4-BE49-F238E27FC236}">
                <a16:creationId xmlns:a16="http://schemas.microsoft.com/office/drawing/2014/main" id="{6DEE41E1-D7B3-B473-6623-A5DA438C632B}"/>
              </a:ext>
            </a:extLst>
          </p:cNvPr>
          <p:cNvGrpSpPr/>
          <p:nvPr/>
        </p:nvGrpSpPr>
        <p:grpSpPr>
          <a:xfrm>
            <a:off x="8428703" y="1708758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出射角">
                  <a:extLst>
                    <a:ext uri="{FF2B5EF4-FFF2-40B4-BE49-F238E27FC236}">
                      <a16:creationId xmlns:a16="http://schemas.microsoft.com/office/drawing/2014/main" id="{F56566A1-8AE2-B009-3580-73860AE69389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量角器">
              <a:extLst>
                <a:ext uri="{FF2B5EF4-FFF2-40B4-BE49-F238E27FC236}">
                  <a16:creationId xmlns:a16="http://schemas.microsoft.com/office/drawing/2014/main" id="{ED6E8CED-DB32-BE00-F6F0-F3C3405DF9F8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102" name="角度2">
                <a:extLst>
                  <a:ext uri="{FF2B5EF4-FFF2-40B4-BE49-F238E27FC236}">
                    <a16:creationId xmlns:a16="http://schemas.microsoft.com/office/drawing/2014/main" id="{CD23C48A-CB3C-1BF9-E67E-D28C54F936D1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角度1">
                <a:extLst>
                  <a:ext uri="{FF2B5EF4-FFF2-40B4-BE49-F238E27FC236}">
                    <a16:creationId xmlns:a16="http://schemas.microsoft.com/office/drawing/2014/main" id="{197DCE85-BEAD-94FB-22B9-13D9A67E8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角度弧">
                <a:extLst>
                  <a:ext uri="{FF2B5EF4-FFF2-40B4-BE49-F238E27FC236}">
                    <a16:creationId xmlns:a16="http://schemas.microsoft.com/office/drawing/2014/main" id="{16B8C328-7346-A486-1FD2-C9759EA15CA7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07" name="虚轴交点组合">
            <a:extLst>
              <a:ext uri="{FF2B5EF4-FFF2-40B4-BE49-F238E27FC236}">
                <a16:creationId xmlns:a16="http://schemas.microsoft.com/office/drawing/2014/main" id="{C03760AA-1738-C4F2-CFB6-9BC7781AD32D}"/>
              </a:ext>
            </a:extLst>
          </p:cNvPr>
          <p:cNvGrpSpPr/>
          <p:nvPr/>
        </p:nvGrpSpPr>
        <p:grpSpPr>
          <a:xfrm>
            <a:off x="10291228" y="2486109"/>
            <a:ext cx="103533" cy="2026601"/>
            <a:chOff x="10722508" y="3134181"/>
            <a:chExt cx="103533" cy="2026601"/>
          </a:xfrm>
        </p:grpSpPr>
        <p:sp>
          <p:nvSpPr>
            <p:cNvPr id="108" name="虚轴交点2">
              <a:extLst>
                <a:ext uri="{FF2B5EF4-FFF2-40B4-BE49-F238E27FC236}">
                  <a16:creationId xmlns:a16="http://schemas.microsoft.com/office/drawing/2014/main" id="{8E5BCEBF-8E66-9278-1FFB-82129687825E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虚轴交点1">
              <a:extLst>
                <a:ext uri="{FF2B5EF4-FFF2-40B4-BE49-F238E27FC236}">
                  <a16:creationId xmlns:a16="http://schemas.microsoft.com/office/drawing/2014/main" id="{4E84FF86-E005-B48D-3AF8-80839C0121E0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虚轴交点2">
              <a:extLst>
                <a:ext uri="{FF2B5EF4-FFF2-40B4-BE49-F238E27FC236}">
                  <a16:creationId xmlns:a16="http://schemas.microsoft.com/office/drawing/2014/main" id="{DA8E322F-3D76-F2C3-3B0B-7AD8F5008029}"/>
                </a:ext>
              </a:extLst>
            </p:cNvPr>
            <p:cNvSpPr/>
            <p:nvPr/>
          </p:nvSpPr>
          <p:spPr>
            <a:xfrm>
              <a:off x="10728048" y="506908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虚轴交点2">
              <a:extLst>
                <a:ext uri="{FF2B5EF4-FFF2-40B4-BE49-F238E27FC236}">
                  <a16:creationId xmlns:a16="http://schemas.microsoft.com/office/drawing/2014/main" id="{C2B4D19C-C520-78B6-81FA-7CD0583C7792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根轨迹1">
            <a:extLst>
              <a:ext uri="{FF2B5EF4-FFF2-40B4-BE49-F238E27FC236}">
                <a16:creationId xmlns:a16="http://schemas.microsoft.com/office/drawing/2014/main" id="{107C596C-0CDB-72EC-92C8-5A8F66BD62B8}"/>
              </a:ext>
            </a:extLst>
          </p:cNvPr>
          <p:cNvSpPr/>
          <p:nvPr/>
        </p:nvSpPr>
        <p:spPr>
          <a:xfrm flipV="1">
            <a:off x="7152308" y="2256746"/>
            <a:ext cx="2659843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843" h="1248788">
                <a:moveTo>
                  <a:pt x="2435943" y="1248788"/>
                </a:moveTo>
                <a:cubicBezTo>
                  <a:pt x="3017998" y="614846"/>
                  <a:pt x="2282152" y="767588"/>
                  <a:pt x="2274877" y="0"/>
                </a:cubicBezTo>
                <a:lnTo>
                  <a:pt x="0" y="8040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根轨迹4">
            <a:extLst>
              <a:ext uri="{FF2B5EF4-FFF2-40B4-BE49-F238E27FC236}">
                <a16:creationId xmlns:a16="http://schemas.microsoft.com/office/drawing/2014/main" id="{DF95EE91-AA44-2401-E2BB-2E9AA9BF2937}"/>
              </a:ext>
            </a:extLst>
          </p:cNvPr>
          <p:cNvSpPr/>
          <p:nvPr/>
        </p:nvSpPr>
        <p:spPr>
          <a:xfrm>
            <a:off x="10221153" y="3498925"/>
            <a:ext cx="911342" cy="16747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589197 w 911342"/>
              <a:gd name="connsiteY0" fmla="*/ 6050 h 1674751"/>
              <a:gd name="connsiteX1" fmla="*/ 355208 w 911342"/>
              <a:gd name="connsiteY1" fmla="*/ 0 h 1674751"/>
              <a:gd name="connsiteX2" fmla="*/ 3070 w 911342"/>
              <a:gd name="connsiteY2" fmla="*/ 823198 h 1674751"/>
              <a:gd name="connsiteX3" fmla="*/ 911342 w 911342"/>
              <a:gd name="connsiteY3" fmla="*/ 1674751 h 167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4751">
                <a:moveTo>
                  <a:pt x="589197" y="6050"/>
                </a:moveTo>
                <a:lnTo>
                  <a:pt x="355208" y="0"/>
                </a:lnTo>
                <a:cubicBezTo>
                  <a:pt x="344359" y="387415"/>
                  <a:pt x="-37892" y="467354"/>
                  <a:pt x="3070" y="823198"/>
                </a:cubicBezTo>
                <a:cubicBezTo>
                  <a:pt x="50906" y="1087708"/>
                  <a:pt x="400983" y="944162"/>
                  <a:pt x="911342" y="167475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根轨迹3">
            <a:extLst>
              <a:ext uri="{FF2B5EF4-FFF2-40B4-BE49-F238E27FC236}">
                <a16:creationId xmlns:a16="http://schemas.microsoft.com/office/drawing/2014/main" id="{6EB50EA2-E60C-1D40-5A22-E439CDF332CB}"/>
              </a:ext>
            </a:extLst>
          </p:cNvPr>
          <p:cNvSpPr/>
          <p:nvPr/>
        </p:nvSpPr>
        <p:spPr>
          <a:xfrm flipV="1">
            <a:off x="10211446" y="1824916"/>
            <a:ext cx="911342" cy="167687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6871">
                <a:moveTo>
                  <a:pt x="134768" y="2628"/>
                </a:moveTo>
                <a:cubicBezTo>
                  <a:pt x="248240" y="-550"/>
                  <a:pt x="286879" y="-996"/>
                  <a:pt x="355208" y="2120"/>
                </a:cubicBezTo>
                <a:cubicBezTo>
                  <a:pt x="344359" y="389535"/>
                  <a:pt x="-37892" y="469474"/>
                  <a:pt x="3070" y="825318"/>
                </a:cubicBezTo>
                <a:cubicBezTo>
                  <a:pt x="50906" y="1089828"/>
                  <a:pt x="400983" y="946282"/>
                  <a:pt x="911342" y="1676871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根轨迹2">
            <a:extLst>
              <a:ext uri="{FF2B5EF4-FFF2-40B4-BE49-F238E27FC236}">
                <a16:creationId xmlns:a16="http://schemas.microsoft.com/office/drawing/2014/main" id="{1322ECA7-ECB5-864E-0920-64098D259BBF}"/>
              </a:ext>
            </a:extLst>
          </p:cNvPr>
          <p:cNvSpPr/>
          <p:nvPr/>
        </p:nvSpPr>
        <p:spPr>
          <a:xfrm>
            <a:off x="9434270" y="3499033"/>
            <a:ext cx="456212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161066 w 456212"/>
              <a:gd name="connsiteY0" fmla="*/ 1248788 h 1248788"/>
              <a:gd name="connsiteX1" fmla="*/ 0 w 456212"/>
              <a:gd name="connsiteY1" fmla="*/ 0 h 1248788"/>
              <a:gd name="connsiteX2" fmla="*/ 456212 w 456212"/>
              <a:gd name="connsiteY2" fmla="*/ 1984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212" h="1248788">
                <a:moveTo>
                  <a:pt x="161066" y="1248788"/>
                </a:moveTo>
                <a:cubicBezTo>
                  <a:pt x="743121" y="614846"/>
                  <a:pt x="7275" y="767588"/>
                  <a:pt x="0" y="0"/>
                </a:cubicBezTo>
                <a:lnTo>
                  <a:pt x="456212" y="1984"/>
                </a:ln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1" animBg="1"/>
      <p:bldP spid="106" grpId="1" animBg="1"/>
      <p:bldP spid="114" grpId="1" animBg="1"/>
      <p:bldP spid="115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19590</TotalTime>
  <Words>782</Words>
  <Application>Microsoft Macintosh PowerPoint</Application>
  <PresentationFormat>自定义</PresentationFormat>
  <Paragraphs>167</Paragraphs>
  <Slides>16</Slides>
  <Notes>15</Notes>
  <HiddenSlides>6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568</cp:revision>
  <dcterms:created xsi:type="dcterms:W3CDTF">2012-09-21T08:06:35Z</dcterms:created>
  <dcterms:modified xsi:type="dcterms:W3CDTF">2024-04-13T02:09:50Z</dcterms:modified>
  <cp:category/>
</cp:coreProperties>
</file>